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1"/>
  </p:notesMasterIdLst>
  <p:sldIdLst>
    <p:sldId id="256" r:id="rId2"/>
    <p:sldId id="257" r:id="rId3"/>
    <p:sldId id="402" r:id="rId4"/>
    <p:sldId id="297" r:id="rId5"/>
    <p:sldId id="301" r:id="rId6"/>
    <p:sldId id="300" r:id="rId7"/>
    <p:sldId id="298" r:id="rId8"/>
    <p:sldId id="302" r:id="rId9"/>
    <p:sldId id="303" r:id="rId10"/>
    <p:sldId id="304" r:id="rId11"/>
    <p:sldId id="305" r:id="rId12"/>
    <p:sldId id="349" r:id="rId13"/>
    <p:sldId id="335" r:id="rId14"/>
    <p:sldId id="336" r:id="rId15"/>
    <p:sldId id="337" r:id="rId16"/>
    <p:sldId id="338" r:id="rId17"/>
    <p:sldId id="339" r:id="rId18"/>
    <p:sldId id="350" r:id="rId19"/>
    <p:sldId id="351" r:id="rId20"/>
    <p:sldId id="352" r:id="rId21"/>
    <p:sldId id="384" r:id="rId22"/>
    <p:sldId id="400" r:id="rId23"/>
    <p:sldId id="385" r:id="rId24"/>
    <p:sldId id="278" r:id="rId25"/>
    <p:sldId id="386" r:id="rId26"/>
    <p:sldId id="387" r:id="rId27"/>
    <p:sldId id="401" r:id="rId28"/>
    <p:sldId id="388" r:id="rId29"/>
    <p:sldId id="389" r:id="rId30"/>
    <p:sldId id="390" r:id="rId31"/>
    <p:sldId id="392" r:id="rId32"/>
    <p:sldId id="393" r:id="rId33"/>
    <p:sldId id="394" r:id="rId34"/>
    <p:sldId id="395" r:id="rId35"/>
    <p:sldId id="396" r:id="rId36"/>
    <p:sldId id="397" r:id="rId37"/>
    <p:sldId id="398" r:id="rId38"/>
    <p:sldId id="399" r:id="rId39"/>
    <p:sldId id="296" r:id="rId4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759" autoAdjust="0"/>
  </p:normalViewPr>
  <p:slideViewPr>
    <p:cSldViewPr>
      <p:cViewPr varScale="1">
        <p:scale>
          <a:sx n="70" d="100"/>
          <a:sy n="70" d="100"/>
        </p:scale>
        <p:origin x="-197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5E3356E-0210-43B6-B450-D5E449C630BF}" type="datetimeFigureOut">
              <a:rPr lang="fr-FR" smtClean="0"/>
              <a:t>12/02/2024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2E70E27-56AE-4057-9AF0-5FD8B273374A}" type="slidenum">
              <a:rPr lang="fr-FR" smtClean="0"/>
              <a:t>‹N°›</a:t>
            </a:fld>
            <a:endParaRPr lang="fr-FR"/>
          </a:p>
        </p:txBody>
      </p:sp>
    </p:spTree>
    <p:extLst>
      <p:ext uri="{BB962C8B-B14F-4D97-AF65-F5344CB8AC3E}">
        <p14:creationId xmlns:p14="http://schemas.microsoft.com/office/powerpoint/2010/main" val="3458145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xmlns="" id="{0042B783-051C-583F-3D4F-F99C7C53DB97}"/>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fld id="{E7FE6595-F025-4105-AA73-9D2147673701}" type="slidenum">
              <a:rPr lang="fr-FR" altLang="fr-FR" sz="1200"/>
              <a:pPr/>
              <a:t>24</a:t>
            </a:fld>
            <a:endParaRPr lang="fr-FR" altLang="fr-FR" sz="1200"/>
          </a:p>
        </p:txBody>
      </p:sp>
      <p:sp>
        <p:nvSpPr>
          <p:cNvPr id="115715" name="Rectangle 2">
            <a:extLst>
              <a:ext uri="{FF2B5EF4-FFF2-40B4-BE49-F238E27FC236}">
                <a16:creationId xmlns:a16="http://schemas.microsoft.com/office/drawing/2014/main" xmlns="" id="{E36E8597-C3C6-894A-46E7-CA84F2770E00}"/>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xmlns="" id="{A27C7929-CA8F-8B8C-41B6-35EFFE8A3C9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fr-FR" alt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0" i="0" dirty="0">
                <a:solidFill>
                  <a:srgbClr val="0D0D0D"/>
                </a:solidFill>
                <a:effectLst/>
                <a:latin typeface="Söhne"/>
              </a:rPr>
              <a:t>Un système formel est un cadre mathématique qui définit des règles et des structures pour manipuler des symboles selon des règles prédéfinies. Ces systèmes sont utilisés en logique, en mathématiques et en informatique pour formaliser des raisonnements, des preuves et des calculs. Un système formel se compose généralement des éléments suivants :</a:t>
            </a:r>
            <a:endParaRPr lang="fr-FR" dirty="0"/>
          </a:p>
        </p:txBody>
      </p:sp>
      <p:sp>
        <p:nvSpPr>
          <p:cNvPr id="4" name="Espace réservé du numéro de diapositive 3"/>
          <p:cNvSpPr>
            <a:spLocks noGrp="1"/>
          </p:cNvSpPr>
          <p:nvPr>
            <p:ph type="sldNum" sz="quarter" idx="5"/>
          </p:nvPr>
        </p:nvSpPr>
        <p:spPr/>
        <p:txBody>
          <a:bodyPr/>
          <a:lstStyle/>
          <a:p>
            <a:fld id="{B2E70E27-56AE-4057-9AF0-5FD8B273374A}" type="slidenum">
              <a:rPr lang="fr-FR" smtClean="0"/>
              <a:t>25</a:t>
            </a:fld>
            <a:endParaRPr lang="fr-FR"/>
          </a:p>
        </p:txBody>
      </p:sp>
    </p:spTree>
    <p:extLst>
      <p:ext uri="{BB962C8B-B14F-4D97-AF65-F5344CB8AC3E}">
        <p14:creationId xmlns:p14="http://schemas.microsoft.com/office/powerpoint/2010/main" val="1045400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2E70E27-56AE-4057-9AF0-5FD8B273374A}" type="slidenum">
              <a:rPr lang="fr-FR" smtClean="0"/>
              <a:t>30</a:t>
            </a:fld>
            <a:endParaRPr lang="fr-FR"/>
          </a:p>
        </p:txBody>
      </p:sp>
    </p:spTree>
    <p:extLst>
      <p:ext uri="{BB962C8B-B14F-4D97-AF65-F5344CB8AC3E}">
        <p14:creationId xmlns:p14="http://schemas.microsoft.com/office/powerpoint/2010/main" val="2851282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2E70E27-56AE-4057-9AF0-5FD8B273374A}" type="slidenum">
              <a:rPr lang="fr-FR" smtClean="0"/>
              <a:t>31</a:t>
            </a:fld>
            <a:endParaRPr lang="fr-FR"/>
          </a:p>
        </p:txBody>
      </p:sp>
    </p:spTree>
    <p:extLst>
      <p:ext uri="{BB962C8B-B14F-4D97-AF65-F5344CB8AC3E}">
        <p14:creationId xmlns:p14="http://schemas.microsoft.com/office/powerpoint/2010/main" val="3829834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2E70E27-56AE-4057-9AF0-5FD8B273374A}" type="slidenum">
              <a:rPr lang="fr-FR" smtClean="0"/>
              <a:t>32</a:t>
            </a:fld>
            <a:endParaRPr lang="fr-FR"/>
          </a:p>
        </p:txBody>
      </p:sp>
    </p:spTree>
    <p:extLst>
      <p:ext uri="{BB962C8B-B14F-4D97-AF65-F5344CB8AC3E}">
        <p14:creationId xmlns:p14="http://schemas.microsoft.com/office/powerpoint/2010/main" val="1143502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2E70E27-56AE-4057-9AF0-5FD8B273374A}" type="slidenum">
              <a:rPr lang="fr-FR" smtClean="0"/>
              <a:t>33</a:t>
            </a:fld>
            <a:endParaRPr lang="fr-FR"/>
          </a:p>
        </p:txBody>
      </p:sp>
    </p:spTree>
    <p:extLst>
      <p:ext uri="{BB962C8B-B14F-4D97-AF65-F5344CB8AC3E}">
        <p14:creationId xmlns:p14="http://schemas.microsoft.com/office/powerpoint/2010/main" val="3690204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2E70E27-56AE-4057-9AF0-5FD8B273374A}" type="slidenum">
              <a:rPr lang="fr-FR" smtClean="0"/>
              <a:t>34</a:t>
            </a:fld>
            <a:endParaRPr lang="fr-FR"/>
          </a:p>
        </p:txBody>
      </p:sp>
    </p:spTree>
    <p:extLst>
      <p:ext uri="{BB962C8B-B14F-4D97-AF65-F5344CB8AC3E}">
        <p14:creationId xmlns:p14="http://schemas.microsoft.com/office/powerpoint/2010/main" val="3326120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2E70E27-56AE-4057-9AF0-5FD8B273374A}" type="slidenum">
              <a:rPr lang="fr-FR" smtClean="0"/>
              <a:t>38</a:t>
            </a:fld>
            <a:endParaRPr lang="fr-FR"/>
          </a:p>
        </p:txBody>
      </p:sp>
    </p:spTree>
    <p:extLst>
      <p:ext uri="{BB962C8B-B14F-4D97-AF65-F5344CB8AC3E}">
        <p14:creationId xmlns:p14="http://schemas.microsoft.com/office/powerpoint/2010/main" val="318997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AA309A6D-C09C-4548-B29A-6CF363A7E532}" type="datetimeFigureOut">
              <a:rPr lang="fr-FR" smtClean="0"/>
              <a:t>12/02/2024</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1170119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A309A6D-C09C-4548-B29A-6CF363A7E532}" type="datetimeFigureOut">
              <a:rPr lang="fr-FR" smtClean="0"/>
              <a:t>12/02/2024</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650371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A309A6D-C09C-4548-B29A-6CF363A7E532}" type="datetimeFigureOut">
              <a:rPr lang="fr-FR" smtClean="0"/>
              <a:t>12/02/2024</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2984533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fr-FR"/>
              <a:t>Modifiez le style du titre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AA309A6D-C09C-4548-B29A-6CF363A7E532}" type="datetimeFigureOut">
              <a:rPr lang="fr-FR" smtClean="0"/>
              <a:t>12/02/2024</a:t>
            </a:fld>
            <a:endParaRPr lang="fr-BE"/>
          </a:p>
        </p:txBody>
      </p:sp>
      <p:sp>
        <p:nvSpPr>
          <p:cNvPr id="6" name="Footer Placeholder 5"/>
          <p:cNvSpPr>
            <a:spLocks noGrp="1"/>
          </p:cNvSpPr>
          <p:nvPr>
            <p:ph type="ftr" sz="quarter" idx="11"/>
          </p:nvPr>
        </p:nvSpPr>
        <p:spPr/>
        <p:txBody>
          <a:bodyPr/>
          <a:lstStyle/>
          <a:p>
            <a:endParaRPr lang="fr-BE"/>
          </a:p>
        </p:txBody>
      </p:sp>
      <p:sp>
        <p:nvSpPr>
          <p:cNvPr id="7" name="Slide Number Placeholder 6"/>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53772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AA309A6D-C09C-4548-B29A-6CF363A7E532}" type="datetimeFigureOut">
              <a:rPr lang="fr-FR" smtClean="0"/>
              <a:t>12/02/2024</a:t>
            </a:fld>
            <a:endParaRPr lang="fr-BE"/>
          </a:p>
        </p:txBody>
      </p:sp>
      <p:sp>
        <p:nvSpPr>
          <p:cNvPr id="8" name="Footer Placeholder 7"/>
          <p:cNvSpPr>
            <a:spLocks noGrp="1"/>
          </p:cNvSpPr>
          <p:nvPr>
            <p:ph type="ftr" sz="quarter" idx="11"/>
          </p:nvPr>
        </p:nvSpPr>
        <p:spPr/>
        <p:txBody>
          <a:bodyPr/>
          <a:lstStyle/>
          <a:p>
            <a:endParaRPr lang="fr-BE"/>
          </a:p>
        </p:txBody>
      </p:sp>
      <p:sp>
        <p:nvSpPr>
          <p:cNvPr id="9" name="Slide Number Placeholder 8"/>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2415081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AA309A6D-C09C-4548-B29A-6CF363A7E532}" type="datetimeFigureOut">
              <a:rPr lang="fr-FR" smtClean="0"/>
              <a:t>12/02/2024</a:t>
            </a:fld>
            <a:endParaRPr lang="fr-BE"/>
          </a:p>
        </p:txBody>
      </p:sp>
      <p:sp>
        <p:nvSpPr>
          <p:cNvPr id="4" name="Footer Placeholder 3"/>
          <p:cNvSpPr>
            <a:spLocks noGrp="1"/>
          </p:cNvSpPr>
          <p:nvPr>
            <p:ph type="ftr" sz="quarter" idx="11"/>
          </p:nvPr>
        </p:nvSpPr>
        <p:spPr/>
        <p:txBody>
          <a:bodyPr/>
          <a:lstStyle/>
          <a:p>
            <a:endParaRPr lang="fr-BE"/>
          </a:p>
        </p:txBody>
      </p:sp>
      <p:sp>
        <p:nvSpPr>
          <p:cNvPr id="5" name="Slide Number Placeholder 4"/>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1344270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309A6D-C09C-4548-B29A-6CF363A7E532}" type="datetimeFigureOut">
              <a:rPr lang="fr-FR" smtClean="0"/>
              <a:t>12/02/2024</a:t>
            </a:fld>
            <a:endParaRPr lang="fr-BE"/>
          </a:p>
        </p:txBody>
      </p:sp>
      <p:sp>
        <p:nvSpPr>
          <p:cNvPr id="3" name="Footer Placeholder 2"/>
          <p:cNvSpPr>
            <a:spLocks noGrp="1"/>
          </p:cNvSpPr>
          <p:nvPr>
            <p:ph type="ftr" sz="quarter" idx="11"/>
          </p:nvPr>
        </p:nvSpPr>
        <p:spPr/>
        <p:txBody>
          <a:bodyPr/>
          <a:lstStyle/>
          <a:p>
            <a:endParaRPr lang="fr-BE"/>
          </a:p>
        </p:txBody>
      </p:sp>
      <p:sp>
        <p:nvSpPr>
          <p:cNvPr id="4" name="Slide Number Placeholder 3"/>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1840212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AA309A6D-C09C-4548-B29A-6CF363A7E532}" type="datetimeFigureOut">
              <a:rPr lang="fr-FR" smtClean="0"/>
              <a:t>12/02/2024</a:t>
            </a:fld>
            <a:endParaRPr lang="fr-BE"/>
          </a:p>
        </p:txBody>
      </p:sp>
      <p:sp>
        <p:nvSpPr>
          <p:cNvPr id="6" name="Footer Placeholder 5"/>
          <p:cNvSpPr>
            <a:spLocks noGrp="1"/>
          </p:cNvSpPr>
          <p:nvPr>
            <p:ph type="ftr" sz="quarter" idx="11"/>
          </p:nvPr>
        </p:nvSpPr>
        <p:spPr/>
        <p:txBody>
          <a:bodyPr/>
          <a:lstStyle/>
          <a:p>
            <a:endParaRPr lang="fr-BE"/>
          </a:p>
        </p:txBody>
      </p:sp>
      <p:sp>
        <p:nvSpPr>
          <p:cNvPr id="7" name="Slide Number Placeholder 6"/>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675207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AA309A6D-C09C-4548-B29A-6CF363A7E532}" type="datetimeFigureOut">
              <a:rPr lang="fr-FR" smtClean="0"/>
              <a:t>12/02/2024</a:t>
            </a:fld>
            <a:endParaRPr lang="fr-BE"/>
          </a:p>
        </p:txBody>
      </p:sp>
      <p:sp>
        <p:nvSpPr>
          <p:cNvPr id="6" name="Footer Placeholder 5"/>
          <p:cNvSpPr>
            <a:spLocks noGrp="1"/>
          </p:cNvSpPr>
          <p:nvPr>
            <p:ph type="ftr" sz="quarter" idx="11"/>
          </p:nvPr>
        </p:nvSpPr>
        <p:spPr/>
        <p:txBody>
          <a:bodyPr/>
          <a:lstStyle/>
          <a:p>
            <a:endParaRPr lang="fr-BE"/>
          </a:p>
        </p:txBody>
      </p:sp>
      <p:sp>
        <p:nvSpPr>
          <p:cNvPr id="7" name="Slide Number Placeholder 6"/>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1281768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A309A6D-C09C-4548-B29A-6CF363A7E532}" type="datetimeFigureOut">
              <a:rPr lang="fr-FR" smtClean="0"/>
              <a:t>12/02/2024</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3291385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A309A6D-C09C-4548-B29A-6CF363A7E532}" type="datetimeFigureOut">
              <a:rPr lang="fr-FR" smtClean="0"/>
              <a:t>12/02/2024</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85023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A309A6D-C09C-4548-B29A-6CF363A7E532}" type="datetimeFigureOut">
              <a:rPr lang="fr-FR" smtClean="0"/>
              <a:t>12/02/2024</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3814829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A309A6D-C09C-4548-B29A-6CF363A7E532}" type="datetimeFigureOut">
              <a:rPr lang="fr-FR" smtClean="0"/>
              <a:t>12/02/2024</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533846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A309A6D-C09C-4548-B29A-6CF363A7E532}" type="datetimeFigureOut">
              <a:rPr lang="fr-FR" smtClean="0"/>
              <a:t>12/02/2024</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3592560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A309A6D-C09C-4548-B29A-6CF363A7E532}" type="datetimeFigureOut">
              <a:rPr lang="fr-FR" smtClean="0"/>
              <a:t>12/02/2024</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23360812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A309A6D-C09C-4548-B29A-6CF363A7E532}" type="datetimeFigureOut">
              <a:rPr lang="fr-FR" smtClean="0"/>
              <a:t>12/02/2024</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CF4668DC-857F-487D-BFFA-8C0CA5037977}" type="slidenum">
              <a:rPr lang="fr-BE" smtClean="0"/>
              <a:t>‹N°›</a:t>
            </a:fld>
            <a:endParaRPr lang="fr-BE"/>
          </a:p>
        </p:txBody>
      </p:sp>
    </p:spTree>
    <p:extLst>
      <p:ext uri="{BB962C8B-B14F-4D97-AF65-F5344CB8AC3E}">
        <p14:creationId xmlns:p14="http://schemas.microsoft.com/office/powerpoint/2010/main" val="3637477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A309A6D-C09C-4548-B29A-6CF363A7E532}" type="datetimeFigureOut">
              <a:rPr lang="fr-FR" smtClean="0"/>
              <a:t>12/02/2024</a:t>
            </a:fld>
            <a:endParaRPr lang="fr-BE"/>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BE"/>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F4668DC-857F-487D-BFFA-8C0CA5037977}" type="slidenum">
              <a:rPr lang="fr-BE" smtClean="0"/>
              <a:t>‹N°›</a:t>
            </a:fld>
            <a:endParaRPr lang="fr-BE"/>
          </a:p>
        </p:txBody>
      </p:sp>
    </p:spTree>
    <p:extLst>
      <p:ext uri="{BB962C8B-B14F-4D97-AF65-F5344CB8AC3E}">
        <p14:creationId xmlns:p14="http://schemas.microsoft.com/office/powerpoint/2010/main" val="192641104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4.wmf"/><Relationship Id="rId5" Type="http://schemas.openxmlformats.org/officeDocument/2006/relationships/oleObject" Target="../embeddings/oleObject3.bin"/><Relationship Id="rId4" Type="http://schemas.openxmlformats.org/officeDocument/2006/relationships/image" Target="../media/image3.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5.wmf"/></Relationships>
</file>

<file path=ppt/slides/_rels/slide18.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10.bin"/><Relationship Id="rId18" Type="http://schemas.openxmlformats.org/officeDocument/2006/relationships/image" Target="../media/image13.w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10.wmf"/><Relationship Id="rId17" Type="http://schemas.openxmlformats.org/officeDocument/2006/relationships/oleObject" Target="../embeddings/oleObject12.bin"/><Relationship Id="rId2" Type="http://schemas.openxmlformats.org/officeDocument/2006/relationships/slideLayout" Target="../slideLayouts/slideLayout7.xml"/><Relationship Id="rId16" Type="http://schemas.openxmlformats.org/officeDocument/2006/relationships/image" Target="../media/image12.wmf"/><Relationship Id="rId1" Type="http://schemas.openxmlformats.org/officeDocument/2006/relationships/vmlDrawing" Target="../drawings/vmlDrawing4.vml"/><Relationship Id="rId6" Type="http://schemas.openxmlformats.org/officeDocument/2006/relationships/image" Target="../media/image7.wmf"/><Relationship Id="rId11" Type="http://schemas.openxmlformats.org/officeDocument/2006/relationships/oleObject" Target="../embeddings/oleObject9.bin"/><Relationship Id="rId5" Type="http://schemas.openxmlformats.org/officeDocument/2006/relationships/oleObject" Target="../embeddings/oleObject6.bin"/><Relationship Id="rId15" Type="http://schemas.openxmlformats.org/officeDocument/2006/relationships/oleObject" Target="../embeddings/oleObject11.bin"/><Relationship Id="rId10" Type="http://schemas.openxmlformats.org/officeDocument/2006/relationships/image" Target="../media/image9.wmf"/><Relationship Id="rId4" Type="http://schemas.openxmlformats.org/officeDocument/2006/relationships/image" Target="../media/image6.wmf"/><Relationship Id="rId9" Type="http://schemas.openxmlformats.org/officeDocument/2006/relationships/oleObject" Target="../embeddings/oleObject8.bin"/><Relationship Id="rId14" Type="http://schemas.openxmlformats.org/officeDocument/2006/relationships/image" Target="../media/image11.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5.wmf"/><Relationship Id="rId5" Type="http://schemas.openxmlformats.org/officeDocument/2006/relationships/oleObject" Target="../embeddings/oleObject14.bin"/><Relationship Id="rId4" Type="http://schemas.openxmlformats.org/officeDocument/2006/relationships/image" Target="../media/image14.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a:xfrm>
            <a:off x="1259632" y="2348880"/>
            <a:ext cx="7498080" cy="1143000"/>
          </a:xfrm>
        </p:spPr>
        <p:txBody>
          <a:bodyPr>
            <a:normAutofit fontScale="90000"/>
          </a:bodyPr>
          <a:lstStyle/>
          <a:p>
            <a:pPr algn="ctr"/>
            <a:r>
              <a:rPr lang="fr-FR" b="1" i="0" dirty="0">
                <a:solidFill>
                  <a:srgbClr val="000000"/>
                </a:solidFill>
                <a:effectLst/>
                <a:latin typeface="Times New Roman" panose="02020603050405020304" pitchFamily="18" charset="0"/>
              </a:rPr>
              <a:t>Chapitre II</a:t>
            </a:r>
            <a:br>
              <a:rPr lang="fr-FR" b="1" i="0" dirty="0">
                <a:solidFill>
                  <a:srgbClr val="000000"/>
                </a:solidFill>
                <a:effectLst/>
                <a:latin typeface="Times New Roman" panose="02020603050405020304" pitchFamily="18" charset="0"/>
              </a:rPr>
            </a:br>
            <a:r>
              <a:rPr lang="fr-FR" b="1" i="0" dirty="0">
                <a:solidFill>
                  <a:srgbClr val="000000"/>
                </a:solidFill>
                <a:effectLst/>
                <a:latin typeface="Times New Roman" panose="02020603050405020304" pitchFamily="18" charset="0"/>
              </a:rPr>
              <a:t>IA symbolique : Programmation Logique</a:t>
            </a:r>
          </a:p>
        </p:txBody>
      </p:sp>
    </p:spTree>
    <p:extLst>
      <p:ext uri="{BB962C8B-B14F-4D97-AF65-F5344CB8AC3E}">
        <p14:creationId xmlns:p14="http://schemas.microsoft.com/office/powerpoint/2010/main" val="2534568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638"/>
            <a:ext cx="7498080" cy="778098"/>
          </a:xfrm>
        </p:spPr>
        <p:txBody>
          <a:bodyPr/>
          <a:lstStyle/>
          <a:p>
            <a:r>
              <a:rPr lang="fr-FR" dirty="0"/>
              <a:t>Sommaire</a:t>
            </a:r>
            <a:endParaRPr lang="fr-FR" sz="4000" dirty="0"/>
          </a:p>
        </p:txBody>
      </p:sp>
      <p:sp>
        <p:nvSpPr>
          <p:cNvPr id="3" name="Espace réservé du contenu 2"/>
          <p:cNvSpPr>
            <a:spLocks noGrp="1"/>
          </p:cNvSpPr>
          <p:nvPr>
            <p:ph idx="1"/>
          </p:nvPr>
        </p:nvSpPr>
        <p:spPr>
          <a:xfrm>
            <a:off x="899592" y="1052736"/>
            <a:ext cx="7920880" cy="5544616"/>
          </a:xfrm>
        </p:spPr>
        <p:txBody>
          <a:bodyPr>
            <a:normAutofit/>
          </a:bodyPr>
          <a:lstStyle/>
          <a:p>
            <a:r>
              <a:rPr lang="fr-FR" sz="2000" b="1" dirty="0"/>
              <a:t>Introduction à l'intelligence artificielle</a:t>
            </a:r>
          </a:p>
          <a:p>
            <a:pPr lvl="1">
              <a:lnSpc>
                <a:spcPct val="110000"/>
              </a:lnSpc>
              <a:spcBef>
                <a:spcPts val="0"/>
              </a:spcBef>
              <a:buClr>
                <a:schemeClr val="accent2"/>
              </a:buClr>
            </a:pPr>
            <a:r>
              <a:rPr lang="fr-FR" sz="1400" b="1" dirty="0">
                <a:solidFill>
                  <a:srgbClr val="FF0000"/>
                </a:solidFill>
              </a:rPr>
              <a:t>Définition de l'intelligence artificielle</a:t>
            </a:r>
          </a:p>
          <a:p>
            <a:pPr lvl="1">
              <a:lnSpc>
                <a:spcPct val="110000"/>
              </a:lnSpc>
              <a:spcBef>
                <a:spcPts val="0"/>
              </a:spcBef>
              <a:buClr>
                <a:schemeClr val="accent2"/>
              </a:buClr>
            </a:pPr>
            <a:r>
              <a:rPr lang="fr-FR" sz="1400" b="1" dirty="0">
                <a:solidFill>
                  <a:srgbClr val="FF0000"/>
                </a:solidFill>
              </a:rPr>
              <a:t>Exemples d'applications courantes de l'intelligence artificielle</a:t>
            </a:r>
          </a:p>
          <a:p>
            <a:pPr lvl="1">
              <a:lnSpc>
                <a:spcPct val="110000"/>
              </a:lnSpc>
              <a:spcBef>
                <a:spcPts val="0"/>
              </a:spcBef>
              <a:buClr>
                <a:schemeClr val="accent2"/>
              </a:buClr>
            </a:pPr>
            <a:r>
              <a:rPr lang="fr-FR" sz="1400" b="1" dirty="0">
                <a:solidFill>
                  <a:srgbClr val="FF0000"/>
                </a:solidFill>
              </a:rPr>
              <a:t>Importance de l'intelligence artificielle dans le monde moderne</a:t>
            </a:r>
          </a:p>
          <a:p>
            <a:pPr marL="365760" lvl="1" indent="-283464">
              <a:spcBef>
                <a:spcPts val="600"/>
              </a:spcBef>
              <a:buSzPct val="80000"/>
              <a:buFont typeface="Wingdings 2"/>
              <a:buChar char=""/>
            </a:pPr>
            <a:r>
              <a:rPr lang="fr-FR" sz="2000" b="1" dirty="0"/>
              <a:t>IA Symbolique </a:t>
            </a:r>
          </a:p>
          <a:p>
            <a:pPr lvl="1">
              <a:spcBef>
                <a:spcPts val="0"/>
              </a:spcBef>
              <a:buClr>
                <a:schemeClr val="accent2"/>
              </a:buClr>
            </a:pPr>
            <a:r>
              <a:rPr lang="fr-FR" sz="1400" b="1" dirty="0">
                <a:solidFill>
                  <a:srgbClr val="FF0000"/>
                </a:solidFill>
              </a:rPr>
              <a:t>Introduction</a:t>
            </a:r>
          </a:p>
          <a:p>
            <a:pPr lvl="1">
              <a:spcBef>
                <a:spcPts val="0"/>
              </a:spcBef>
              <a:buClr>
                <a:schemeClr val="accent2"/>
              </a:buClr>
            </a:pPr>
            <a:r>
              <a:rPr lang="fr-FR" sz="1400" b="1" dirty="0">
                <a:solidFill>
                  <a:srgbClr val="FF0000"/>
                </a:solidFill>
              </a:rPr>
              <a:t>Logique des propositions</a:t>
            </a:r>
          </a:p>
          <a:p>
            <a:pPr lvl="1">
              <a:spcBef>
                <a:spcPts val="0"/>
              </a:spcBef>
              <a:buClr>
                <a:schemeClr val="accent2"/>
              </a:buClr>
            </a:pPr>
            <a:r>
              <a:rPr lang="fr-FR" sz="1400" b="1" dirty="0">
                <a:solidFill>
                  <a:srgbClr val="FF0000"/>
                </a:solidFill>
              </a:rPr>
              <a:t>Logique des prédicats</a:t>
            </a:r>
          </a:p>
          <a:p>
            <a:pPr lvl="1">
              <a:spcBef>
                <a:spcPts val="0"/>
              </a:spcBef>
              <a:buClr>
                <a:schemeClr val="accent2"/>
              </a:buClr>
            </a:pPr>
            <a:r>
              <a:rPr lang="fr-FR" sz="1400" b="1" dirty="0">
                <a:solidFill>
                  <a:srgbClr val="FF0000"/>
                </a:solidFill>
              </a:rPr>
              <a:t>Prolog</a:t>
            </a:r>
          </a:p>
          <a:p>
            <a:pPr marL="365760" lvl="1" indent="-283464">
              <a:spcBef>
                <a:spcPts val="600"/>
              </a:spcBef>
              <a:buSzPct val="80000"/>
              <a:buFont typeface="Wingdings 2"/>
              <a:buChar char=""/>
            </a:pPr>
            <a:r>
              <a:rPr lang="fr-FR" sz="2000" b="1" dirty="0">
                <a:solidFill>
                  <a:schemeClr val="bg1">
                    <a:lumMod val="85000"/>
                  </a:schemeClr>
                </a:solidFill>
              </a:rPr>
              <a:t>Techniques de résolution de problèmes</a:t>
            </a:r>
          </a:p>
          <a:p>
            <a:pPr lvl="1">
              <a:lnSpc>
                <a:spcPct val="110000"/>
              </a:lnSpc>
              <a:spcBef>
                <a:spcPts val="0"/>
              </a:spcBef>
              <a:buClr>
                <a:schemeClr val="accent2"/>
              </a:buClr>
            </a:pPr>
            <a:r>
              <a:rPr lang="fr-FR" sz="1400" b="1" dirty="0">
                <a:solidFill>
                  <a:schemeClr val="bg1">
                    <a:lumMod val="85000"/>
                  </a:schemeClr>
                </a:solidFill>
              </a:rPr>
              <a:t>Introduction aux techniques de résolution de problèmes</a:t>
            </a:r>
          </a:p>
          <a:p>
            <a:pPr lvl="1">
              <a:lnSpc>
                <a:spcPct val="110000"/>
              </a:lnSpc>
              <a:spcBef>
                <a:spcPts val="0"/>
              </a:spcBef>
              <a:buClr>
                <a:schemeClr val="accent2"/>
              </a:buClr>
            </a:pPr>
            <a:r>
              <a:rPr lang="fr-FR" sz="1400" b="1" dirty="0">
                <a:solidFill>
                  <a:schemeClr val="bg1">
                    <a:lumMod val="85000"/>
                  </a:schemeClr>
                </a:solidFill>
              </a:rPr>
              <a:t> Algorithmes de recherche (aveugle, heuristique)</a:t>
            </a:r>
          </a:p>
          <a:p>
            <a:pPr lvl="1">
              <a:lnSpc>
                <a:spcPct val="110000"/>
              </a:lnSpc>
              <a:spcBef>
                <a:spcPts val="0"/>
              </a:spcBef>
              <a:buClr>
                <a:schemeClr val="accent2"/>
              </a:buClr>
            </a:pPr>
            <a:r>
              <a:rPr lang="fr-FR" sz="1400" b="1" dirty="0">
                <a:solidFill>
                  <a:schemeClr val="bg1">
                    <a:lumMod val="85000"/>
                  </a:schemeClr>
                </a:solidFill>
              </a:rPr>
              <a:t>Algorithmes des jeux</a:t>
            </a:r>
          </a:p>
          <a:p>
            <a:pPr lvl="1">
              <a:lnSpc>
                <a:spcPct val="110000"/>
              </a:lnSpc>
              <a:spcBef>
                <a:spcPts val="0"/>
              </a:spcBef>
              <a:buClr>
                <a:schemeClr val="accent2"/>
              </a:buClr>
            </a:pPr>
            <a:r>
              <a:rPr lang="fr-FR" sz="1400" b="1" dirty="0">
                <a:solidFill>
                  <a:schemeClr val="bg1">
                    <a:lumMod val="85000"/>
                  </a:schemeClr>
                </a:solidFill>
              </a:rPr>
              <a:t>Algorithmes d’optimisation (2TD, 2TP)</a:t>
            </a:r>
          </a:p>
          <a:p>
            <a:pPr lvl="1">
              <a:lnSpc>
                <a:spcPct val="110000"/>
              </a:lnSpc>
              <a:spcBef>
                <a:spcPts val="0"/>
              </a:spcBef>
              <a:buClr>
                <a:schemeClr val="accent2"/>
              </a:buClr>
            </a:pPr>
            <a:endParaRPr lang="fr-FR" sz="1400" b="1" dirty="0">
              <a:solidFill>
                <a:schemeClr val="bg1">
                  <a:lumMod val="85000"/>
                </a:schemeClr>
              </a:solidFill>
            </a:endParaRPr>
          </a:p>
          <a:p>
            <a:pPr>
              <a:spcBef>
                <a:spcPts val="0"/>
              </a:spcBef>
            </a:pPr>
            <a:r>
              <a:rPr lang="fr-FR" sz="2000" b="1" dirty="0">
                <a:solidFill>
                  <a:schemeClr val="bg1">
                    <a:lumMod val="85000"/>
                  </a:schemeClr>
                </a:solidFill>
              </a:rPr>
              <a:t>IA Connexionniste </a:t>
            </a:r>
          </a:p>
          <a:p>
            <a:pPr lvl="1">
              <a:lnSpc>
                <a:spcPct val="120000"/>
              </a:lnSpc>
              <a:spcBef>
                <a:spcPts val="0"/>
              </a:spcBef>
              <a:buClr>
                <a:schemeClr val="accent2"/>
              </a:buClr>
            </a:pPr>
            <a:r>
              <a:rPr lang="fr-FR" sz="1400" b="1" dirty="0">
                <a:solidFill>
                  <a:schemeClr val="bg1">
                    <a:lumMod val="85000"/>
                  </a:schemeClr>
                </a:solidFill>
              </a:rPr>
              <a:t>Introduction à l'IA connexionniste </a:t>
            </a:r>
          </a:p>
          <a:p>
            <a:pPr lvl="1">
              <a:lnSpc>
                <a:spcPct val="120000"/>
              </a:lnSpc>
              <a:spcBef>
                <a:spcPts val="0"/>
              </a:spcBef>
              <a:buClr>
                <a:schemeClr val="accent2"/>
              </a:buClr>
            </a:pPr>
            <a:r>
              <a:rPr lang="fr-FR" sz="1400" b="1" dirty="0">
                <a:solidFill>
                  <a:schemeClr val="bg1">
                    <a:lumMod val="85000"/>
                  </a:schemeClr>
                </a:solidFill>
              </a:rPr>
              <a:t>Le perceptron : concept et fonctionnement </a:t>
            </a:r>
          </a:p>
          <a:p>
            <a:pPr lvl="1">
              <a:lnSpc>
                <a:spcPct val="120000"/>
              </a:lnSpc>
              <a:spcBef>
                <a:spcPts val="0"/>
              </a:spcBef>
              <a:buClr>
                <a:schemeClr val="accent2"/>
              </a:buClr>
            </a:pPr>
            <a:r>
              <a:rPr lang="fr-FR" sz="1400" b="1" dirty="0">
                <a:solidFill>
                  <a:schemeClr val="bg1">
                    <a:lumMod val="85000"/>
                  </a:schemeClr>
                </a:solidFill>
              </a:rPr>
              <a:t>Applications du perceptron (2TD, 2TP)</a:t>
            </a:r>
          </a:p>
          <a:p>
            <a:pPr lvl="1">
              <a:lnSpc>
                <a:spcPct val="120000"/>
              </a:lnSpc>
              <a:spcBef>
                <a:spcPts val="0"/>
              </a:spcBef>
              <a:buClr>
                <a:schemeClr val="accent2"/>
              </a:buClr>
            </a:pPr>
            <a:endParaRPr lang="fr-FR" sz="1400" b="1" dirty="0">
              <a:solidFill>
                <a:srgbClr val="FF0000"/>
              </a:solidFill>
            </a:endParaRPr>
          </a:p>
        </p:txBody>
      </p:sp>
    </p:spTree>
    <p:extLst>
      <p:ext uri="{BB962C8B-B14F-4D97-AF65-F5344CB8AC3E}">
        <p14:creationId xmlns:p14="http://schemas.microsoft.com/office/powerpoint/2010/main" val="2756369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llipse 7">
            <a:extLst>
              <a:ext uri="{FF2B5EF4-FFF2-40B4-BE49-F238E27FC236}">
                <a16:creationId xmlns:a16="http://schemas.microsoft.com/office/drawing/2014/main" xmlns="" id="{A63D22B2-3BEA-620E-09C2-E849B1B58A7A}"/>
              </a:ext>
            </a:extLst>
          </p:cNvPr>
          <p:cNvSpPr/>
          <p:nvPr/>
        </p:nvSpPr>
        <p:spPr>
          <a:xfrm>
            <a:off x="179512" y="1988840"/>
            <a:ext cx="2736304" cy="2448272"/>
          </a:xfrm>
          <a:prstGeom prst="ellipse">
            <a:avLst/>
          </a:prstGeom>
          <a:ln/>
        </p:spPr>
        <p:style>
          <a:lnRef idx="2">
            <a:schemeClr val="accent4"/>
          </a:lnRef>
          <a:fillRef idx="1">
            <a:schemeClr val="lt1"/>
          </a:fillRef>
          <a:effectRef idx="0">
            <a:schemeClr val="accent4"/>
          </a:effectRef>
          <a:fontRef idx="minor">
            <a:schemeClr val="dk1"/>
          </a:fontRef>
        </p:style>
        <p:txBody>
          <a:bodyPr rtlCol="0" anchor="ctr"/>
          <a:lstStyle/>
          <a:p>
            <a:pPr algn="ctr"/>
            <a:endParaRPr lang="fr-FR" dirty="0"/>
          </a:p>
        </p:txBody>
      </p:sp>
      <p:pic>
        <p:nvPicPr>
          <p:cNvPr id="1026" name="Picture 2" descr="Qu'est-ce que l'IA ? - ANITI">
            <a:extLst>
              <a:ext uri="{FF2B5EF4-FFF2-40B4-BE49-F238E27FC236}">
                <a16:creationId xmlns:a16="http://schemas.microsoft.com/office/drawing/2014/main" xmlns="" id="{C152485C-237F-3C77-6367-A692481E35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635674"/>
            <a:ext cx="7272808" cy="5154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8604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F46D43A-2818-245A-E0EA-259E600CEBA7}"/>
              </a:ext>
            </a:extLst>
          </p:cNvPr>
          <p:cNvSpPr>
            <a:spLocks noGrp="1"/>
          </p:cNvSpPr>
          <p:nvPr>
            <p:ph type="title"/>
          </p:nvPr>
        </p:nvSpPr>
        <p:spPr/>
        <p:txBody>
          <a:bodyPr/>
          <a:lstStyle/>
          <a:p>
            <a:r>
              <a:rPr lang="fr-FR" dirty="0"/>
              <a:t>Sommaire</a:t>
            </a:r>
          </a:p>
        </p:txBody>
      </p:sp>
      <p:sp>
        <p:nvSpPr>
          <p:cNvPr id="3" name="Espace réservé du contenu 2">
            <a:extLst>
              <a:ext uri="{FF2B5EF4-FFF2-40B4-BE49-F238E27FC236}">
                <a16:creationId xmlns:a16="http://schemas.microsoft.com/office/drawing/2014/main" xmlns="" id="{6B3A31D8-56A2-3D53-7613-BCBF746A10EF}"/>
              </a:ext>
            </a:extLst>
          </p:cNvPr>
          <p:cNvSpPr>
            <a:spLocks noGrp="1"/>
          </p:cNvSpPr>
          <p:nvPr>
            <p:ph idx="1"/>
          </p:nvPr>
        </p:nvSpPr>
        <p:spPr>
          <a:xfrm>
            <a:off x="395536" y="2060848"/>
            <a:ext cx="8496944" cy="3880773"/>
          </a:xfrm>
        </p:spPr>
        <p:txBody>
          <a:bodyPr>
            <a:normAutofit/>
          </a:bodyPr>
          <a:lstStyle/>
          <a:p>
            <a:r>
              <a:rPr lang="fr-FR" sz="4400" dirty="0"/>
              <a:t> Introduction</a:t>
            </a:r>
          </a:p>
          <a:p>
            <a:r>
              <a:rPr lang="fr-FR" sz="4400" dirty="0"/>
              <a:t> Logique des propositions</a:t>
            </a:r>
          </a:p>
          <a:p>
            <a:r>
              <a:rPr lang="fr-FR" sz="4400" dirty="0"/>
              <a:t> Logique des prédicats</a:t>
            </a:r>
          </a:p>
          <a:p>
            <a:r>
              <a:rPr lang="fr-FR" sz="4400" dirty="0"/>
              <a:t> Prolog</a:t>
            </a:r>
          </a:p>
        </p:txBody>
      </p:sp>
    </p:spTree>
    <p:extLst>
      <p:ext uri="{BB962C8B-B14F-4D97-AF65-F5344CB8AC3E}">
        <p14:creationId xmlns:p14="http://schemas.microsoft.com/office/powerpoint/2010/main" val="2422879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F46D43A-2818-245A-E0EA-259E600CEBA7}"/>
              </a:ext>
            </a:extLst>
          </p:cNvPr>
          <p:cNvSpPr>
            <a:spLocks noGrp="1"/>
          </p:cNvSpPr>
          <p:nvPr>
            <p:ph type="title"/>
          </p:nvPr>
        </p:nvSpPr>
        <p:spPr/>
        <p:txBody>
          <a:bodyPr/>
          <a:lstStyle/>
          <a:p>
            <a:r>
              <a:rPr lang="fr-FR" dirty="0"/>
              <a:t>Sommaire</a:t>
            </a:r>
          </a:p>
        </p:txBody>
      </p:sp>
      <p:sp>
        <p:nvSpPr>
          <p:cNvPr id="3" name="Espace réservé du contenu 2">
            <a:extLst>
              <a:ext uri="{FF2B5EF4-FFF2-40B4-BE49-F238E27FC236}">
                <a16:creationId xmlns:a16="http://schemas.microsoft.com/office/drawing/2014/main" xmlns="" id="{6B3A31D8-56A2-3D53-7613-BCBF746A10EF}"/>
              </a:ext>
            </a:extLst>
          </p:cNvPr>
          <p:cNvSpPr>
            <a:spLocks noGrp="1"/>
          </p:cNvSpPr>
          <p:nvPr>
            <p:ph idx="1"/>
          </p:nvPr>
        </p:nvSpPr>
        <p:spPr>
          <a:xfrm>
            <a:off x="395536" y="2060848"/>
            <a:ext cx="8496944" cy="3880773"/>
          </a:xfrm>
        </p:spPr>
        <p:txBody>
          <a:bodyPr>
            <a:normAutofit/>
          </a:bodyPr>
          <a:lstStyle/>
          <a:p>
            <a:r>
              <a:rPr lang="fr-FR" sz="4400" dirty="0"/>
              <a:t> Introduction</a:t>
            </a:r>
          </a:p>
          <a:p>
            <a:r>
              <a:rPr lang="fr-FR" sz="4400" dirty="0">
                <a:solidFill>
                  <a:schemeClr val="bg1">
                    <a:lumMod val="85000"/>
                  </a:schemeClr>
                </a:solidFill>
              </a:rPr>
              <a:t> Logique des propositions</a:t>
            </a:r>
          </a:p>
          <a:p>
            <a:r>
              <a:rPr lang="fr-FR" sz="4400" dirty="0">
                <a:solidFill>
                  <a:schemeClr val="bg1">
                    <a:lumMod val="85000"/>
                  </a:schemeClr>
                </a:solidFill>
              </a:rPr>
              <a:t> Logique des prédicats</a:t>
            </a:r>
          </a:p>
          <a:p>
            <a:r>
              <a:rPr lang="fr-FR" sz="4400" dirty="0">
                <a:solidFill>
                  <a:schemeClr val="bg1">
                    <a:lumMod val="85000"/>
                  </a:schemeClr>
                </a:solidFill>
              </a:rPr>
              <a:t> Prolog</a:t>
            </a:r>
          </a:p>
        </p:txBody>
      </p:sp>
    </p:spTree>
    <p:extLst>
      <p:ext uri="{BB962C8B-B14F-4D97-AF65-F5344CB8AC3E}">
        <p14:creationId xmlns:p14="http://schemas.microsoft.com/office/powerpoint/2010/main" val="2587187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4A00AB46-F83D-C345-8A9E-0F1E5DFD7FFB}"/>
              </a:ext>
            </a:extLst>
          </p:cNvPr>
          <p:cNvSpPr>
            <a:spLocks noGrp="1"/>
          </p:cNvSpPr>
          <p:nvPr>
            <p:ph type="title"/>
          </p:nvPr>
        </p:nvSpPr>
        <p:spPr>
          <a:xfrm>
            <a:off x="611560" y="123822"/>
            <a:ext cx="6347714" cy="1320800"/>
          </a:xfrm>
        </p:spPr>
        <p:txBody>
          <a:bodyPr/>
          <a:lstStyle/>
          <a:p>
            <a:r>
              <a:rPr lang="fr-FR" altLang="fr-FR" dirty="0"/>
              <a:t>Classes de langage</a:t>
            </a:r>
            <a:endParaRPr lang="fr-FR" dirty="0"/>
          </a:p>
        </p:txBody>
      </p:sp>
      <p:sp>
        <p:nvSpPr>
          <p:cNvPr id="5" name="ZoneTexte 4">
            <a:extLst>
              <a:ext uri="{FF2B5EF4-FFF2-40B4-BE49-F238E27FC236}">
                <a16:creationId xmlns:a16="http://schemas.microsoft.com/office/drawing/2014/main" xmlns="" id="{E160D4F3-1B95-EEEA-72E7-CDC2552633EF}"/>
              </a:ext>
            </a:extLst>
          </p:cNvPr>
          <p:cNvSpPr txBox="1"/>
          <p:nvPr/>
        </p:nvSpPr>
        <p:spPr>
          <a:xfrm>
            <a:off x="0" y="908720"/>
            <a:ext cx="9144000" cy="5262979"/>
          </a:xfrm>
          <a:prstGeom prst="rect">
            <a:avLst/>
          </a:prstGeom>
          <a:noFill/>
        </p:spPr>
        <p:txBody>
          <a:bodyPr wrap="square" rtlCol="0">
            <a:spAutoFit/>
          </a:bodyPr>
          <a:lstStyle/>
          <a:p>
            <a:pPr marL="457200" indent="-457200" algn="l">
              <a:buFont typeface="Arial" panose="020B0604020202020204" pitchFamily="34" charset="0"/>
              <a:buChar char="•"/>
            </a:pPr>
            <a:r>
              <a:rPr lang="fr-FR" sz="2800" b="1" i="0" dirty="0">
                <a:solidFill>
                  <a:srgbClr val="0D0D0D"/>
                </a:solidFill>
                <a:effectLst/>
                <a:latin typeface="Söhne"/>
              </a:rPr>
              <a:t>Langages impératifs</a:t>
            </a:r>
            <a:r>
              <a:rPr lang="fr-FR" sz="2800" b="0" i="0" dirty="0">
                <a:solidFill>
                  <a:srgbClr val="0D0D0D"/>
                </a:solidFill>
                <a:effectLst/>
                <a:latin typeface="Söhne"/>
              </a:rPr>
              <a:t> :</a:t>
            </a:r>
          </a:p>
          <a:p>
            <a:pPr lvl="1" algn="l"/>
            <a:r>
              <a:rPr lang="fr-FR" sz="2800" b="0" i="0" dirty="0">
                <a:solidFill>
                  <a:srgbClr val="0D0D0D"/>
                </a:solidFill>
                <a:effectLst/>
                <a:latin typeface="Söhne"/>
              </a:rPr>
              <a:t>Les langages impératifs comme C, Pascal et Java sont largement utilisés dans le développement de systèmes d'exploitation, de logiciels embarqués et d'applications d'entreprise en raison de leur efficacité et de leur contrôle direct sur le matériel.</a:t>
            </a:r>
          </a:p>
          <a:p>
            <a:pPr marL="457200" indent="-457200" algn="l">
              <a:buFont typeface="Arial" panose="020B0604020202020204" pitchFamily="34" charset="0"/>
              <a:buChar char="•"/>
            </a:pPr>
            <a:r>
              <a:rPr lang="fr-FR" sz="2800" b="1" i="0" dirty="0">
                <a:solidFill>
                  <a:srgbClr val="0D0D0D"/>
                </a:solidFill>
                <a:effectLst/>
                <a:latin typeface="Söhne"/>
              </a:rPr>
              <a:t>Langages orientés objet</a:t>
            </a:r>
            <a:r>
              <a:rPr lang="fr-FR" sz="2800" b="0" i="0" dirty="0">
                <a:solidFill>
                  <a:srgbClr val="0D0D0D"/>
                </a:solidFill>
                <a:effectLst/>
                <a:latin typeface="Söhne"/>
              </a:rPr>
              <a:t> :</a:t>
            </a:r>
          </a:p>
          <a:p>
            <a:pPr lvl="1" algn="l"/>
            <a:r>
              <a:rPr lang="fr-FR" sz="2800" b="0" i="0" dirty="0">
                <a:solidFill>
                  <a:srgbClr val="0D0D0D"/>
                </a:solidFill>
                <a:effectLst/>
                <a:latin typeface="Söhne"/>
              </a:rPr>
              <a:t>Les langages orientés objet comme Java, Python et C++ sont populaires pour leur capacité à modéliser des concepts du monde réel de manière efficace, facilitant ainsi la réutilisation du code, la gestion de la complexité et la collaboration au sein des équipes de développement.</a:t>
            </a:r>
          </a:p>
        </p:txBody>
      </p:sp>
    </p:spTree>
    <p:extLst>
      <p:ext uri="{BB962C8B-B14F-4D97-AF65-F5344CB8AC3E}">
        <p14:creationId xmlns:p14="http://schemas.microsoft.com/office/powerpoint/2010/main" val="473735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4A00AB46-F83D-C345-8A9E-0F1E5DFD7FFB}"/>
              </a:ext>
            </a:extLst>
          </p:cNvPr>
          <p:cNvSpPr>
            <a:spLocks noGrp="1"/>
          </p:cNvSpPr>
          <p:nvPr>
            <p:ph type="title"/>
          </p:nvPr>
        </p:nvSpPr>
        <p:spPr>
          <a:xfrm>
            <a:off x="611560" y="123822"/>
            <a:ext cx="6347714" cy="1320800"/>
          </a:xfrm>
        </p:spPr>
        <p:txBody>
          <a:bodyPr/>
          <a:lstStyle/>
          <a:p>
            <a:r>
              <a:rPr lang="fr-FR" altLang="fr-FR" dirty="0"/>
              <a:t>Classes de langage</a:t>
            </a:r>
            <a:endParaRPr lang="fr-FR" dirty="0"/>
          </a:p>
        </p:txBody>
      </p:sp>
      <p:sp>
        <p:nvSpPr>
          <p:cNvPr id="5" name="ZoneTexte 4">
            <a:extLst>
              <a:ext uri="{FF2B5EF4-FFF2-40B4-BE49-F238E27FC236}">
                <a16:creationId xmlns:a16="http://schemas.microsoft.com/office/drawing/2014/main" xmlns="" id="{E160D4F3-1B95-EEEA-72E7-CDC2552633EF}"/>
              </a:ext>
            </a:extLst>
          </p:cNvPr>
          <p:cNvSpPr txBox="1"/>
          <p:nvPr/>
        </p:nvSpPr>
        <p:spPr>
          <a:xfrm>
            <a:off x="0" y="908720"/>
            <a:ext cx="9144000" cy="5262979"/>
          </a:xfrm>
          <a:prstGeom prst="rect">
            <a:avLst/>
          </a:prstGeom>
          <a:noFill/>
        </p:spPr>
        <p:txBody>
          <a:bodyPr wrap="square" rtlCol="0">
            <a:spAutoFit/>
          </a:bodyPr>
          <a:lstStyle/>
          <a:p>
            <a:pPr marL="457200" indent="-457200" algn="l">
              <a:buFont typeface="Arial" panose="020B0604020202020204" pitchFamily="34" charset="0"/>
              <a:buChar char="•"/>
            </a:pPr>
            <a:r>
              <a:rPr lang="fr-FR" sz="2800" b="1" i="0" dirty="0">
                <a:solidFill>
                  <a:srgbClr val="0D0D0D"/>
                </a:solidFill>
                <a:effectLst/>
                <a:latin typeface="Söhne"/>
              </a:rPr>
              <a:t>Langages fonctionnels</a:t>
            </a:r>
            <a:r>
              <a:rPr lang="fr-FR" sz="2800" b="0" i="0" dirty="0">
                <a:solidFill>
                  <a:srgbClr val="0D0D0D"/>
                </a:solidFill>
                <a:effectLst/>
                <a:latin typeface="Söhne"/>
              </a:rPr>
              <a:t> :</a:t>
            </a:r>
          </a:p>
          <a:p>
            <a:pPr lvl="1" algn="l"/>
            <a:r>
              <a:rPr lang="fr-FR" sz="2800" b="0" i="0" dirty="0">
                <a:solidFill>
                  <a:srgbClr val="0D0D0D"/>
                </a:solidFill>
                <a:effectLst/>
                <a:latin typeface="Söhne"/>
              </a:rPr>
              <a:t>Les langages fonctionnels comme Haskell, </a:t>
            </a:r>
            <a:r>
              <a:rPr lang="fr-FR" sz="2800" b="0" i="0" dirty="0">
                <a:solidFill>
                  <a:schemeClr val="accent5">
                    <a:lumMod val="60000"/>
                    <a:lumOff val="40000"/>
                  </a:schemeClr>
                </a:solidFill>
                <a:effectLst/>
                <a:latin typeface="Söhne"/>
              </a:rPr>
              <a:t>Lisp</a:t>
            </a:r>
            <a:r>
              <a:rPr lang="fr-FR" sz="2800" b="0" i="0" dirty="0">
                <a:solidFill>
                  <a:srgbClr val="0D0D0D"/>
                </a:solidFill>
                <a:effectLst/>
                <a:latin typeface="Söhne"/>
              </a:rPr>
              <a:t> et Scala gagnent en popularité en raison de leur capacité à traiter les problèmes de manière déclarative, à encourager l'immutabilité des données et à tirer parti de la programmation parallèle et distribuée.</a:t>
            </a:r>
          </a:p>
          <a:p>
            <a:pPr marL="457200" indent="-457200" algn="l">
              <a:buFont typeface="Arial" panose="020B0604020202020204" pitchFamily="34" charset="0"/>
              <a:buChar char="•"/>
            </a:pPr>
            <a:r>
              <a:rPr lang="fr-FR" sz="2800" b="1" i="0" dirty="0">
                <a:solidFill>
                  <a:srgbClr val="0D0D0D"/>
                </a:solidFill>
                <a:effectLst/>
                <a:latin typeface="Söhne"/>
              </a:rPr>
              <a:t>Langages déclaratifs</a:t>
            </a:r>
            <a:r>
              <a:rPr lang="fr-FR" sz="2800" b="0" i="0" dirty="0">
                <a:solidFill>
                  <a:srgbClr val="0D0D0D"/>
                </a:solidFill>
                <a:effectLst/>
                <a:latin typeface="Söhne"/>
              </a:rPr>
              <a:t> :</a:t>
            </a:r>
          </a:p>
          <a:p>
            <a:pPr lvl="1" algn="l"/>
            <a:r>
              <a:rPr lang="fr-FR" sz="2800" b="0" i="0" dirty="0">
                <a:solidFill>
                  <a:srgbClr val="0D0D0D"/>
                </a:solidFill>
                <a:effectLst/>
                <a:latin typeface="Söhne"/>
              </a:rPr>
              <a:t>Les langages déclaratifs tels que SQL et </a:t>
            </a:r>
            <a:r>
              <a:rPr lang="fr-FR" sz="2800" b="0" i="0" dirty="0">
                <a:solidFill>
                  <a:schemeClr val="accent5">
                    <a:lumMod val="60000"/>
                    <a:lumOff val="40000"/>
                  </a:schemeClr>
                </a:solidFill>
                <a:effectLst/>
                <a:latin typeface="Söhne"/>
              </a:rPr>
              <a:t>Prolog </a:t>
            </a:r>
            <a:r>
              <a:rPr lang="fr-FR" sz="2800" b="0" i="0" dirty="0">
                <a:solidFill>
                  <a:srgbClr val="0D0D0D"/>
                </a:solidFill>
                <a:effectLst/>
                <a:latin typeface="Söhne"/>
              </a:rPr>
              <a:t>sont largement utilisés respectivement pour la manipulation de bases de données et la programmation logique en raison de leur capacité à spécifier le résultat souhaité plutôt que la manière de l'obtenir</a:t>
            </a:r>
            <a:r>
              <a:rPr lang="fr-FR" b="0" i="0" dirty="0">
                <a:solidFill>
                  <a:srgbClr val="0D0D0D"/>
                </a:solidFill>
                <a:effectLst/>
                <a:latin typeface="Söhne"/>
              </a:rPr>
              <a:t>.</a:t>
            </a:r>
          </a:p>
        </p:txBody>
      </p:sp>
    </p:spTree>
    <p:extLst>
      <p:ext uri="{BB962C8B-B14F-4D97-AF65-F5344CB8AC3E}">
        <p14:creationId xmlns:p14="http://schemas.microsoft.com/office/powerpoint/2010/main" val="1389437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F46D43A-2818-245A-E0EA-259E600CEBA7}"/>
              </a:ext>
            </a:extLst>
          </p:cNvPr>
          <p:cNvSpPr>
            <a:spLocks noGrp="1"/>
          </p:cNvSpPr>
          <p:nvPr>
            <p:ph type="title"/>
          </p:nvPr>
        </p:nvSpPr>
        <p:spPr/>
        <p:txBody>
          <a:bodyPr/>
          <a:lstStyle/>
          <a:p>
            <a:r>
              <a:rPr lang="fr-FR" dirty="0"/>
              <a:t>Sommaire</a:t>
            </a:r>
          </a:p>
        </p:txBody>
      </p:sp>
      <p:sp>
        <p:nvSpPr>
          <p:cNvPr id="3" name="Espace réservé du contenu 2">
            <a:extLst>
              <a:ext uri="{FF2B5EF4-FFF2-40B4-BE49-F238E27FC236}">
                <a16:creationId xmlns:a16="http://schemas.microsoft.com/office/drawing/2014/main" xmlns="" id="{6B3A31D8-56A2-3D53-7613-BCBF746A10EF}"/>
              </a:ext>
            </a:extLst>
          </p:cNvPr>
          <p:cNvSpPr>
            <a:spLocks noGrp="1"/>
          </p:cNvSpPr>
          <p:nvPr>
            <p:ph idx="1"/>
          </p:nvPr>
        </p:nvSpPr>
        <p:spPr>
          <a:xfrm>
            <a:off x="395536" y="2060848"/>
            <a:ext cx="8496944" cy="3880773"/>
          </a:xfrm>
        </p:spPr>
        <p:txBody>
          <a:bodyPr>
            <a:normAutofit/>
          </a:bodyPr>
          <a:lstStyle/>
          <a:p>
            <a:r>
              <a:rPr lang="fr-FR" sz="4400" dirty="0"/>
              <a:t> </a:t>
            </a:r>
            <a:r>
              <a:rPr lang="fr-FR" sz="4400" dirty="0">
                <a:solidFill>
                  <a:schemeClr val="bg1">
                    <a:lumMod val="85000"/>
                  </a:schemeClr>
                </a:solidFill>
              </a:rPr>
              <a:t>Introduction</a:t>
            </a:r>
          </a:p>
          <a:p>
            <a:r>
              <a:rPr lang="fr-FR" sz="4400" dirty="0">
                <a:solidFill>
                  <a:schemeClr val="bg1">
                    <a:lumMod val="85000"/>
                  </a:schemeClr>
                </a:solidFill>
              </a:rPr>
              <a:t> </a:t>
            </a:r>
            <a:r>
              <a:rPr lang="fr-FR" sz="4400" dirty="0"/>
              <a:t>Logique des propositions</a:t>
            </a:r>
          </a:p>
          <a:p>
            <a:r>
              <a:rPr lang="fr-FR" sz="4400" dirty="0">
                <a:solidFill>
                  <a:schemeClr val="bg1">
                    <a:lumMod val="85000"/>
                  </a:schemeClr>
                </a:solidFill>
              </a:rPr>
              <a:t> Logique des prédicats</a:t>
            </a:r>
          </a:p>
          <a:p>
            <a:r>
              <a:rPr lang="fr-FR" sz="4400" dirty="0">
                <a:solidFill>
                  <a:schemeClr val="bg1">
                    <a:lumMod val="85000"/>
                  </a:schemeClr>
                </a:solidFill>
              </a:rPr>
              <a:t> Prolog</a:t>
            </a:r>
          </a:p>
        </p:txBody>
      </p:sp>
    </p:spTree>
    <p:extLst>
      <p:ext uri="{BB962C8B-B14F-4D97-AF65-F5344CB8AC3E}">
        <p14:creationId xmlns:p14="http://schemas.microsoft.com/office/powerpoint/2010/main" val="1529929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4A00AB46-F83D-C345-8A9E-0F1E5DFD7FFB}"/>
              </a:ext>
            </a:extLst>
          </p:cNvPr>
          <p:cNvSpPr>
            <a:spLocks noGrp="1"/>
          </p:cNvSpPr>
          <p:nvPr>
            <p:ph type="title"/>
          </p:nvPr>
        </p:nvSpPr>
        <p:spPr>
          <a:xfrm>
            <a:off x="611560" y="123822"/>
            <a:ext cx="6347714" cy="1320800"/>
          </a:xfrm>
        </p:spPr>
        <p:txBody>
          <a:bodyPr/>
          <a:lstStyle/>
          <a:p>
            <a:r>
              <a:rPr lang="fr-FR" dirty="0"/>
              <a:t>Trois aspects </a:t>
            </a:r>
          </a:p>
        </p:txBody>
      </p:sp>
      <p:sp>
        <p:nvSpPr>
          <p:cNvPr id="3" name="Rectangle 3">
            <a:extLst>
              <a:ext uri="{FF2B5EF4-FFF2-40B4-BE49-F238E27FC236}">
                <a16:creationId xmlns:a16="http://schemas.microsoft.com/office/drawing/2014/main" xmlns="" id="{D111408A-99B0-16B0-455E-0242D82F3696}"/>
              </a:ext>
            </a:extLst>
          </p:cNvPr>
          <p:cNvSpPr txBox="1">
            <a:spLocks noChangeArrowheads="1"/>
          </p:cNvSpPr>
          <p:nvPr/>
        </p:nvSpPr>
        <p:spPr>
          <a:xfrm>
            <a:off x="395537" y="1758950"/>
            <a:ext cx="8184902" cy="444023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altLang="fr-FR" sz="2800" dirty="0"/>
              <a:t>Comment écrire les formules ?</a:t>
            </a:r>
          </a:p>
          <a:p>
            <a:pPr lvl="1"/>
            <a:r>
              <a:rPr lang="fr-FR" altLang="fr-FR" sz="2400" dirty="0"/>
              <a:t>Aspects syntaxiques</a:t>
            </a:r>
          </a:p>
          <a:p>
            <a:pPr lvl="1"/>
            <a:endParaRPr lang="fr-FR" altLang="fr-FR" sz="2400" dirty="0"/>
          </a:p>
          <a:p>
            <a:r>
              <a:rPr lang="fr-FR" altLang="fr-FR" sz="2800" dirty="0"/>
              <a:t>Comment déterminer la valeur de vérité d’une formule ? </a:t>
            </a:r>
          </a:p>
          <a:p>
            <a:pPr lvl="1"/>
            <a:r>
              <a:rPr lang="fr-FR" altLang="fr-FR" sz="2400" dirty="0"/>
              <a:t>Aspects sémantiques</a:t>
            </a:r>
          </a:p>
          <a:p>
            <a:pPr lvl="1"/>
            <a:endParaRPr lang="fr-FR" altLang="fr-FR" sz="2400" dirty="0"/>
          </a:p>
          <a:p>
            <a:r>
              <a:rPr lang="fr-FR" altLang="fr-FR" sz="2800" dirty="0"/>
              <a:t>Comment démontrer de nouveaux résultats ?</a:t>
            </a:r>
          </a:p>
          <a:p>
            <a:pPr lvl="1"/>
            <a:r>
              <a:rPr lang="fr-FR" altLang="fr-FR" sz="2400" dirty="0"/>
              <a:t>Aspects déductifs</a:t>
            </a:r>
          </a:p>
        </p:txBody>
      </p:sp>
    </p:spTree>
    <p:extLst>
      <p:ext uri="{BB962C8B-B14F-4D97-AF65-F5344CB8AC3E}">
        <p14:creationId xmlns:p14="http://schemas.microsoft.com/office/powerpoint/2010/main" val="2865406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4A00AB46-F83D-C345-8A9E-0F1E5DFD7FFB}"/>
              </a:ext>
            </a:extLst>
          </p:cNvPr>
          <p:cNvSpPr>
            <a:spLocks noGrp="1"/>
          </p:cNvSpPr>
          <p:nvPr>
            <p:ph type="title"/>
          </p:nvPr>
        </p:nvSpPr>
        <p:spPr>
          <a:xfrm>
            <a:off x="611560" y="123822"/>
            <a:ext cx="6347714" cy="1320800"/>
          </a:xfrm>
        </p:spPr>
        <p:txBody>
          <a:bodyPr/>
          <a:lstStyle/>
          <a:p>
            <a:r>
              <a:rPr lang="fr-FR" dirty="0"/>
              <a:t>1er aspect </a:t>
            </a:r>
          </a:p>
        </p:txBody>
      </p:sp>
      <p:sp>
        <p:nvSpPr>
          <p:cNvPr id="3" name="Rectangle 3">
            <a:extLst>
              <a:ext uri="{FF2B5EF4-FFF2-40B4-BE49-F238E27FC236}">
                <a16:creationId xmlns:a16="http://schemas.microsoft.com/office/drawing/2014/main" xmlns="" id="{D111408A-99B0-16B0-455E-0242D82F3696}"/>
              </a:ext>
            </a:extLst>
          </p:cNvPr>
          <p:cNvSpPr txBox="1">
            <a:spLocks noChangeArrowheads="1"/>
          </p:cNvSpPr>
          <p:nvPr/>
        </p:nvSpPr>
        <p:spPr>
          <a:xfrm>
            <a:off x="395537" y="1758950"/>
            <a:ext cx="8184902" cy="444023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altLang="fr-FR" sz="2800" dirty="0"/>
              <a:t>Comment écrire les formules ?</a:t>
            </a:r>
          </a:p>
          <a:p>
            <a:pPr lvl="1"/>
            <a:r>
              <a:rPr lang="fr-FR" altLang="fr-FR" sz="2400" dirty="0"/>
              <a:t>Aspects syntaxiques</a:t>
            </a:r>
          </a:p>
          <a:p>
            <a:pPr lvl="1"/>
            <a:endParaRPr lang="fr-FR" altLang="fr-FR" sz="2400" dirty="0"/>
          </a:p>
          <a:p>
            <a:r>
              <a:rPr lang="fr-FR" altLang="fr-FR" sz="2800" dirty="0">
                <a:solidFill>
                  <a:schemeClr val="bg1">
                    <a:lumMod val="85000"/>
                  </a:schemeClr>
                </a:solidFill>
              </a:rPr>
              <a:t>Comment déterminer la valeur de vérité d’une formule ? </a:t>
            </a:r>
          </a:p>
          <a:p>
            <a:pPr lvl="1"/>
            <a:r>
              <a:rPr lang="fr-FR" altLang="fr-FR" sz="2400" dirty="0">
                <a:solidFill>
                  <a:schemeClr val="bg1">
                    <a:lumMod val="85000"/>
                  </a:schemeClr>
                </a:solidFill>
              </a:rPr>
              <a:t>Aspects sémantiques</a:t>
            </a:r>
          </a:p>
          <a:p>
            <a:pPr lvl="1"/>
            <a:endParaRPr lang="fr-FR" altLang="fr-FR" sz="2400" dirty="0">
              <a:solidFill>
                <a:schemeClr val="bg1">
                  <a:lumMod val="85000"/>
                </a:schemeClr>
              </a:solidFill>
            </a:endParaRPr>
          </a:p>
          <a:p>
            <a:r>
              <a:rPr lang="fr-FR" altLang="fr-FR" sz="2800" dirty="0">
                <a:solidFill>
                  <a:schemeClr val="bg1">
                    <a:lumMod val="85000"/>
                  </a:schemeClr>
                </a:solidFill>
              </a:rPr>
              <a:t>Comment démontrer de nouveaux résultats ?</a:t>
            </a:r>
          </a:p>
          <a:p>
            <a:pPr lvl="1"/>
            <a:r>
              <a:rPr lang="fr-FR" altLang="fr-FR" sz="2400" dirty="0">
                <a:solidFill>
                  <a:schemeClr val="bg1">
                    <a:lumMod val="85000"/>
                  </a:schemeClr>
                </a:solidFill>
              </a:rPr>
              <a:t>Aspects déductifs</a:t>
            </a:r>
          </a:p>
        </p:txBody>
      </p:sp>
    </p:spTree>
    <p:extLst>
      <p:ext uri="{BB962C8B-B14F-4D97-AF65-F5344CB8AC3E}">
        <p14:creationId xmlns:p14="http://schemas.microsoft.com/office/powerpoint/2010/main" val="920528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4A00AB46-F83D-C345-8A9E-0F1E5DFD7FFB}"/>
              </a:ext>
            </a:extLst>
          </p:cNvPr>
          <p:cNvSpPr>
            <a:spLocks noGrp="1"/>
          </p:cNvSpPr>
          <p:nvPr>
            <p:ph type="title"/>
          </p:nvPr>
        </p:nvSpPr>
        <p:spPr>
          <a:xfrm>
            <a:off x="395536" y="133450"/>
            <a:ext cx="6347714" cy="784898"/>
          </a:xfrm>
        </p:spPr>
        <p:txBody>
          <a:bodyPr/>
          <a:lstStyle/>
          <a:p>
            <a:r>
              <a:rPr lang="fr-FR" altLang="fr-FR" dirty="0"/>
              <a:t>Syntaxe d’une formule</a:t>
            </a:r>
            <a:endParaRPr lang="fr-FR" dirty="0"/>
          </a:p>
        </p:txBody>
      </p:sp>
      <p:sp>
        <p:nvSpPr>
          <p:cNvPr id="4" name="Rectangle 3">
            <a:extLst>
              <a:ext uri="{FF2B5EF4-FFF2-40B4-BE49-F238E27FC236}">
                <a16:creationId xmlns:a16="http://schemas.microsoft.com/office/drawing/2014/main" xmlns="" id="{08DDBA76-0BF4-53E5-2179-60F013C2EC4F}"/>
              </a:ext>
            </a:extLst>
          </p:cNvPr>
          <p:cNvSpPr txBox="1">
            <a:spLocks noChangeArrowheads="1"/>
          </p:cNvSpPr>
          <p:nvPr/>
        </p:nvSpPr>
        <p:spPr>
          <a:xfrm>
            <a:off x="0" y="908720"/>
            <a:ext cx="8640960" cy="444023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altLang="fr-FR" sz="2800" dirty="0">
                <a:solidFill>
                  <a:srgbClr val="C00000"/>
                </a:solidFill>
              </a:rPr>
              <a:t>Données</a:t>
            </a:r>
          </a:p>
          <a:p>
            <a:pPr lvl="1"/>
            <a:r>
              <a:rPr lang="fr-FR" altLang="fr-FR" sz="2400" dirty="0"/>
              <a:t>un ensemble </a:t>
            </a:r>
            <a:r>
              <a:rPr lang="fr-FR" altLang="fr-FR" sz="2400" b="1" dirty="0"/>
              <a:t>P</a:t>
            </a:r>
            <a:r>
              <a:rPr lang="fr-FR" altLang="fr-FR" sz="2400" dirty="0"/>
              <a:t> de variables propositionnelles</a:t>
            </a:r>
            <a:br>
              <a:rPr lang="fr-FR" altLang="fr-FR" sz="2400" dirty="0"/>
            </a:br>
            <a:r>
              <a:rPr lang="fr-FR" altLang="fr-FR" sz="2400" dirty="0"/>
              <a:t>		</a:t>
            </a:r>
            <a:r>
              <a:rPr lang="fr-FR" altLang="fr-FR" sz="2400" b="1" i="1" dirty="0">
                <a:effectLst>
                  <a:outerShdw blurRad="38100" dist="38100" dir="2700000" algn="tl">
                    <a:srgbClr val="000000">
                      <a:alpha val="43137"/>
                    </a:srgbClr>
                  </a:outerShdw>
                </a:effectLst>
              </a:rPr>
              <a:t>P</a:t>
            </a:r>
            <a:r>
              <a:rPr lang="fr-FR" altLang="fr-FR" sz="2400" b="1" dirty="0"/>
              <a:t> = { p, q, r, … }	   </a:t>
            </a:r>
            <a:r>
              <a:rPr lang="fr-FR" altLang="fr-FR" sz="2000" dirty="0">
                <a:solidFill>
                  <a:srgbClr val="C00000"/>
                </a:solidFill>
              </a:rPr>
              <a:t>énoncés élémentaires</a:t>
            </a:r>
          </a:p>
          <a:p>
            <a:pPr lvl="1"/>
            <a:r>
              <a:rPr lang="fr-FR" altLang="fr-FR" sz="2400" dirty="0"/>
              <a:t>un ensemble </a:t>
            </a:r>
            <a:r>
              <a:rPr lang="fr-FR" altLang="fr-FR" sz="2400" b="1" dirty="0"/>
              <a:t>C</a:t>
            </a:r>
            <a:r>
              <a:rPr lang="fr-FR" altLang="fr-FR" sz="2400" dirty="0"/>
              <a:t> de connecteurs (opérateurs)</a:t>
            </a:r>
            <a:br>
              <a:rPr lang="fr-FR" altLang="fr-FR" sz="2400" dirty="0"/>
            </a:br>
            <a:r>
              <a:rPr lang="fr-FR" altLang="fr-FR" sz="2400" dirty="0"/>
              <a:t>		</a:t>
            </a:r>
            <a:r>
              <a:rPr lang="fr-FR" altLang="fr-FR" sz="2400" b="1" dirty="0"/>
              <a:t>C = { </a:t>
            </a:r>
            <a:r>
              <a:rPr lang="fr-FR" altLang="fr-FR" sz="2400" b="1" dirty="0">
                <a:sym typeface="Symbol" panose="05050102010706020507" pitchFamily="18" charset="2"/>
              </a:rPr>
              <a:t> ,  ,  ,  ,  }</a:t>
            </a:r>
          </a:p>
          <a:p>
            <a:r>
              <a:rPr lang="fr-FR" altLang="fr-FR" sz="2800" dirty="0">
                <a:solidFill>
                  <a:srgbClr val="C00000"/>
                </a:solidFill>
              </a:rPr>
              <a:t>Formules</a:t>
            </a:r>
          </a:p>
          <a:p>
            <a:pPr lvl="1"/>
            <a:r>
              <a:rPr lang="fr-FR" altLang="fr-FR" sz="2400" b="1" dirty="0"/>
              <a:t>p</a:t>
            </a:r>
            <a:r>
              <a:rPr lang="fr-FR" altLang="fr-FR" sz="2400" dirty="0"/>
              <a:t> est une formule</a:t>
            </a:r>
            <a:r>
              <a:rPr lang="fr-FR" altLang="fr-FR" sz="2400" b="1" dirty="0"/>
              <a:t> </a:t>
            </a:r>
            <a:r>
              <a:rPr lang="fr-FR" altLang="fr-FR" sz="2400" dirty="0"/>
              <a:t>si </a:t>
            </a:r>
            <a:r>
              <a:rPr lang="fr-FR" altLang="fr-FR" sz="2400" b="1" dirty="0"/>
              <a:t>p</a:t>
            </a:r>
            <a:r>
              <a:rPr lang="fr-FR" altLang="fr-FR" sz="2400" dirty="0"/>
              <a:t> </a:t>
            </a:r>
            <a:r>
              <a:rPr lang="fr-FR" altLang="fr-FR" sz="3600" dirty="0">
                <a:sym typeface="Symbol" panose="05050102010706020507" pitchFamily="18" charset="2"/>
              </a:rPr>
              <a:t></a:t>
            </a:r>
            <a:r>
              <a:rPr lang="fr-FR" altLang="fr-FR" sz="2400" dirty="0">
                <a:sym typeface="Symbol" panose="05050102010706020507" pitchFamily="18" charset="2"/>
              </a:rPr>
              <a:t> </a:t>
            </a:r>
            <a:r>
              <a:rPr lang="fr-FR" altLang="fr-FR" sz="2400" b="1" i="1" dirty="0">
                <a:effectLst>
                  <a:outerShdw blurRad="38100" dist="38100" dir="2700000" algn="tl">
                    <a:srgbClr val="000000">
                      <a:alpha val="43137"/>
                    </a:srgbClr>
                  </a:outerShdw>
                </a:effectLst>
                <a:sym typeface="Symbol" panose="05050102010706020507" pitchFamily="18" charset="2"/>
              </a:rPr>
              <a:t>P</a:t>
            </a:r>
          </a:p>
          <a:p>
            <a:pPr lvl="1"/>
            <a:r>
              <a:rPr lang="fr-FR" altLang="fr-FR" sz="3200" b="1" dirty="0">
                <a:sym typeface="Symbol" panose="05050102010706020507" pitchFamily="18" charset="2"/>
              </a:rPr>
              <a:t></a:t>
            </a:r>
            <a:r>
              <a:rPr lang="fr-FR" altLang="fr-FR" sz="2400" b="1" dirty="0">
                <a:sym typeface="Symbol" panose="05050102010706020507" pitchFamily="18" charset="2"/>
              </a:rPr>
              <a:t> (H) </a:t>
            </a:r>
            <a:r>
              <a:rPr lang="fr-FR" altLang="fr-FR" sz="2400" dirty="0">
                <a:sym typeface="Symbol" panose="05050102010706020507" pitchFamily="18" charset="2"/>
              </a:rPr>
              <a:t>est une formule si </a:t>
            </a:r>
            <a:r>
              <a:rPr lang="fr-FR" altLang="fr-FR" sz="2400" b="1" dirty="0">
                <a:sym typeface="Symbol" panose="05050102010706020507" pitchFamily="18" charset="2"/>
              </a:rPr>
              <a:t>H</a:t>
            </a:r>
            <a:r>
              <a:rPr lang="fr-FR" altLang="fr-FR" sz="2400" dirty="0">
                <a:sym typeface="Symbol" panose="05050102010706020507" pitchFamily="18" charset="2"/>
              </a:rPr>
              <a:t> est une formule</a:t>
            </a:r>
          </a:p>
          <a:p>
            <a:pPr lvl="1"/>
            <a:r>
              <a:rPr lang="fr-FR" altLang="fr-FR" sz="2400" b="1" dirty="0">
                <a:sym typeface="Symbol" panose="05050102010706020507" pitchFamily="18" charset="2"/>
              </a:rPr>
              <a:t>(H)</a:t>
            </a:r>
            <a:r>
              <a:rPr lang="fr-FR" altLang="fr-FR" sz="2400" dirty="0">
                <a:sym typeface="Symbol" panose="05050102010706020507" pitchFamily="18" charset="2"/>
              </a:rPr>
              <a:t>  </a:t>
            </a:r>
            <a:r>
              <a:rPr lang="fr-FR" altLang="fr-FR" sz="2400" b="1" dirty="0">
                <a:sym typeface="Symbol" panose="05050102010706020507" pitchFamily="18" charset="2"/>
              </a:rPr>
              <a:t>(K)</a:t>
            </a:r>
            <a:r>
              <a:rPr lang="fr-FR" altLang="fr-FR" sz="2400" dirty="0">
                <a:sym typeface="Symbol" panose="05050102010706020507" pitchFamily="18" charset="2"/>
              </a:rPr>
              <a:t> est une formule si </a:t>
            </a:r>
            <a:r>
              <a:rPr lang="fr-FR" altLang="fr-FR" sz="2400" b="1" dirty="0">
                <a:sym typeface="Symbol" panose="05050102010706020507" pitchFamily="18" charset="2"/>
              </a:rPr>
              <a:t>H </a:t>
            </a:r>
            <a:r>
              <a:rPr lang="fr-FR" altLang="fr-FR" sz="2400" dirty="0">
                <a:sym typeface="Symbol" panose="05050102010706020507" pitchFamily="18" charset="2"/>
              </a:rPr>
              <a:t>et </a:t>
            </a:r>
            <a:r>
              <a:rPr lang="fr-FR" altLang="fr-FR" sz="2400" b="1" dirty="0">
                <a:sym typeface="Symbol" panose="05050102010706020507" pitchFamily="18" charset="2"/>
              </a:rPr>
              <a:t>K</a:t>
            </a:r>
            <a:r>
              <a:rPr lang="fr-FR" altLang="fr-FR" sz="2400" dirty="0">
                <a:sym typeface="Symbol" panose="05050102010706020507" pitchFamily="18" charset="2"/>
              </a:rPr>
              <a:t> sont des formules et si  </a:t>
            </a:r>
            <a:r>
              <a:rPr lang="fr-FR" altLang="fr-FR" sz="3600" dirty="0">
                <a:sym typeface="Symbol" panose="05050102010706020507" pitchFamily="18" charset="2"/>
              </a:rPr>
              <a:t> </a:t>
            </a:r>
            <a:r>
              <a:rPr lang="fr-FR" altLang="fr-FR" sz="3200" b="1" dirty="0">
                <a:sym typeface="Symbol" panose="05050102010706020507" pitchFamily="18" charset="2"/>
              </a:rPr>
              <a:t>C</a:t>
            </a:r>
          </a:p>
          <a:p>
            <a:pPr lvl="1">
              <a:buFont typeface="Monotype Sorts"/>
              <a:buNone/>
            </a:pPr>
            <a:r>
              <a:rPr lang="fr-FR" altLang="fr-FR" sz="2400" b="1" dirty="0">
                <a:sym typeface="Symbol" panose="05050102010706020507" pitchFamily="18" charset="2"/>
              </a:rPr>
              <a:t>     </a:t>
            </a:r>
            <a:r>
              <a:rPr lang="fr-FR" altLang="fr-FR" sz="2400" b="1" dirty="0">
                <a:highlight>
                  <a:srgbClr val="FFFF00"/>
                </a:highlight>
                <a:sym typeface="Symbol" panose="05050102010706020507" pitchFamily="18" charset="2"/>
              </a:rPr>
              <a:t>H=(p  q), K=(r  s), H  K, H  K, etc.</a:t>
            </a:r>
          </a:p>
        </p:txBody>
      </p:sp>
    </p:spTree>
    <p:extLst>
      <p:ext uri="{BB962C8B-B14F-4D97-AF65-F5344CB8AC3E}">
        <p14:creationId xmlns:p14="http://schemas.microsoft.com/office/powerpoint/2010/main" val="2329615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 calcmode="lin" valueType="num">
                                      <p:cBhvr additive="base">
                                        <p:cTn id="1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additive="base">
                                        <p:cTn id="15"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 calcmode="lin" valueType="num">
                                      <p:cBhvr additive="base">
                                        <p:cTn id="2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 calcmode="lin" valueType="num">
                                      <p:cBhvr additive="base">
                                        <p:cTn id="3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
                                            <p:txEl>
                                              <p:pRg st="7" end="7"/>
                                            </p:txEl>
                                          </p:spTgt>
                                        </p:tgtEl>
                                        <p:attrNameLst>
                                          <p:attrName>style.visibility</p:attrName>
                                        </p:attrNameLst>
                                      </p:cBhvr>
                                      <p:to>
                                        <p:strVal val="visible"/>
                                      </p:to>
                                    </p:set>
                                    <p:anim calcmode="lin" valueType="num">
                                      <p:cBhvr additive="base">
                                        <p:cTn id="3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4A00AB46-F83D-C345-8A9E-0F1E5DFD7FFB}"/>
              </a:ext>
            </a:extLst>
          </p:cNvPr>
          <p:cNvSpPr>
            <a:spLocks noGrp="1"/>
          </p:cNvSpPr>
          <p:nvPr>
            <p:ph type="title"/>
          </p:nvPr>
        </p:nvSpPr>
        <p:spPr>
          <a:xfrm>
            <a:off x="611560" y="123822"/>
            <a:ext cx="6347714" cy="1320800"/>
          </a:xfrm>
        </p:spPr>
        <p:txBody>
          <a:bodyPr/>
          <a:lstStyle/>
          <a:p>
            <a:r>
              <a:rPr lang="fr-FR" dirty="0"/>
              <a:t>2 </a:t>
            </a:r>
            <a:r>
              <a:rPr lang="fr-FR" dirty="0" err="1"/>
              <a:t>ème</a:t>
            </a:r>
            <a:r>
              <a:rPr lang="fr-FR" dirty="0"/>
              <a:t> aspect </a:t>
            </a:r>
          </a:p>
        </p:txBody>
      </p:sp>
      <p:sp>
        <p:nvSpPr>
          <p:cNvPr id="3" name="Rectangle 3">
            <a:extLst>
              <a:ext uri="{FF2B5EF4-FFF2-40B4-BE49-F238E27FC236}">
                <a16:creationId xmlns:a16="http://schemas.microsoft.com/office/drawing/2014/main" xmlns="" id="{D111408A-99B0-16B0-455E-0242D82F3696}"/>
              </a:ext>
            </a:extLst>
          </p:cNvPr>
          <p:cNvSpPr txBox="1">
            <a:spLocks noChangeArrowheads="1"/>
          </p:cNvSpPr>
          <p:nvPr/>
        </p:nvSpPr>
        <p:spPr>
          <a:xfrm>
            <a:off x="395537" y="1758950"/>
            <a:ext cx="8184902" cy="444023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altLang="fr-FR" sz="2800" dirty="0">
                <a:solidFill>
                  <a:schemeClr val="bg1">
                    <a:lumMod val="85000"/>
                  </a:schemeClr>
                </a:solidFill>
              </a:rPr>
              <a:t>Comment écrire les formules ?</a:t>
            </a:r>
          </a:p>
          <a:p>
            <a:pPr lvl="1"/>
            <a:r>
              <a:rPr lang="fr-FR" altLang="fr-FR" sz="2800" dirty="0">
                <a:solidFill>
                  <a:schemeClr val="bg1">
                    <a:lumMod val="85000"/>
                  </a:schemeClr>
                </a:solidFill>
              </a:rPr>
              <a:t>Aspects syntaxiques</a:t>
            </a:r>
          </a:p>
          <a:p>
            <a:pPr lvl="1"/>
            <a:endParaRPr lang="fr-FR" altLang="fr-FR" sz="2400" dirty="0"/>
          </a:p>
          <a:p>
            <a:r>
              <a:rPr lang="fr-FR" altLang="fr-FR" sz="2800" dirty="0"/>
              <a:t>Comment déterminer la valeur de vérité d’une formule ? </a:t>
            </a:r>
          </a:p>
          <a:p>
            <a:pPr lvl="1"/>
            <a:r>
              <a:rPr lang="fr-FR" altLang="fr-FR" sz="2800" dirty="0"/>
              <a:t>Aspects sémantiques</a:t>
            </a:r>
          </a:p>
          <a:p>
            <a:pPr lvl="1"/>
            <a:endParaRPr lang="fr-FR" altLang="fr-FR" sz="2400" dirty="0">
              <a:solidFill>
                <a:schemeClr val="bg1">
                  <a:lumMod val="85000"/>
                </a:schemeClr>
              </a:solidFill>
            </a:endParaRPr>
          </a:p>
          <a:p>
            <a:r>
              <a:rPr lang="fr-FR" altLang="fr-FR" sz="2800" dirty="0">
                <a:solidFill>
                  <a:schemeClr val="bg1">
                    <a:lumMod val="85000"/>
                  </a:schemeClr>
                </a:solidFill>
              </a:rPr>
              <a:t>Comment démontrer de nouveaux résultats ?</a:t>
            </a:r>
          </a:p>
          <a:p>
            <a:pPr lvl="1"/>
            <a:r>
              <a:rPr lang="fr-FR" altLang="fr-FR" sz="2400" dirty="0">
                <a:solidFill>
                  <a:schemeClr val="bg1">
                    <a:lumMod val="85000"/>
                  </a:schemeClr>
                </a:solidFill>
              </a:rPr>
              <a:t>Aspects déductifs</a:t>
            </a:r>
          </a:p>
        </p:txBody>
      </p:sp>
    </p:spTree>
    <p:extLst>
      <p:ext uri="{BB962C8B-B14F-4D97-AF65-F5344CB8AC3E}">
        <p14:creationId xmlns:p14="http://schemas.microsoft.com/office/powerpoint/2010/main" val="766240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xmlns="" id="{899F6791-F20F-5F4F-3EF9-D7BC9C8049A8}"/>
              </a:ext>
            </a:extLst>
          </p:cNvPr>
          <p:cNvSpPr txBox="1">
            <a:spLocks noChangeArrowheads="1"/>
          </p:cNvSpPr>
          <p:nvPr/>
        </p:nvSpPr>
        <p:spPr>
          <a:xfrm>
            <a:off x="395536" y="1208881"/>
            <a:ext cx="8016875" cy="444023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altLang="fr-FR" sz="2800" dirty="0"/>
              <a:t>Logique </a:t>
            </a:r>
            <a:r>
              <a:rPr lang="fr-FR" altLang="fr-FR" sz="2800" dirty="0" err="1"/>
              <a:t>booleen</a:t>
            </a:r>
            <a:endParaRPr lang="fr-FR" altLang="fr-FR" sz="2800" dirty="0"/>
          </a:p>
          <a:p>
            <a:pPr lvl="1"/>
            <a:r>
              <a:rPr lang="fr-FR" altLang="fr-FR" sz="2400" dirty="0"/>
              <a:t>faux (</a:t>
            </a:r>
            <a:r>
              <a:rPr lang="fr-FR" altLang="fr-FR" sz="2400" b="1" dirty="0"/>
              <a:t>0</a:t>
            </a:r>
            <a:r>
              <a:rPr lang="fr-FR" altLang="fr-FR" sz="2400" dirty="0"/>
              <a:t>)</a:t>
            </a:r>
          </a:p>
          <a:p>
            <a:pPr lvl="1"/>
            <a:r>
              <a:rPr lang="fr-FR" altLang="fr-FR" sz="2400" dirty="0"/>
              <a:t>vrai (</a:t>
            </a:r>
            <a:r>
              <a:rPr lang="fr-FR" altLang="fr-FR" sz="2400" b="1" dirty="0"/>
              <a:t>1</a:t>
            </a:r>
            <a:r>
              <a:rPr lang="fr-FR" altLang="fr-FR" sz="2400" dirty="0"/>
              <a:t>)</a:t>
            </a:r>
          </a:p>
          <a:p>
            <a:pPr lvl="1"/>
            <a:endParaRPr lang="fr-FR" altLang="fr-FR" sz="2400" dirty="0"/>
          </a:p>
          <a:p>
            <a:r>
              <a:rPr lang="fr-FR" altLang="fr-FR" sz="2800" dirty="0"/>
              <a:t>Notion d’</a:t>
            </a:r>
            <a:r>
              <a:rPr lang="fr-FR" altLang="fr-FR" sz="2800" b="1" dirty="0"/>
              <a:t>interprétation</a:t>
            </a:r>
          </a:p>
          <a:p>
            <a:pPr lvl="1"/>
            <a:r>
              <a:rPr lang="fr-FR" altLang="fr-FR" sz="2400" dirty="0"/>
              <a:t>Donner une valeur de vérité à une variable</a:t>
            </a:r>
          </a:p>
          <a:p>
            <a:pPr marL="457200" lvl="1" indent="0">
              <a:buNone/>
            </a:pPr>
            <a:endParaRPr lang="fr-FR" altLang="fr-FR" sz="2400" dirty="0"/>
          </a:p>
        </p:txBody>
      </p:sp>
      <p:sp>
        <p:nvSpPr>
          <p:cNvPr id="3" name="Titre 1">
            <a:extLst>
              <a:ext uri="{FF2B5EF4-FFF2-40B4-BE49-F238E27FC236}">
                <a16:creationId xmlns:a16="http://schemas.microsoft.com/office/drawing/2014/main" xmlns="" id="{1F921FAD-DD4E-72FE-DE89-15111C0E0AEF}"/>
              </a:ext>
            </a:extLst>
          </p:cNvPr>
          <p:cNvSpPr txBox="1">
            <a:spLocks/>
          </p:cNvSpPr>
          <p:nvPr/>
        </p:nvSpPr>
        <p:spPr>
          <a:xfrm>
            <a:off x="395536" y="133450"/>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Sémantique d’une formule</a:t>
            </a:r>
            <a:endParaRPr lang="fr-FR" dirty="0"/>
          </a:p>
        </p:txBody>
      </p:sp>
      <p:graphicFrame>
        <p:nvGraphicFramePr>
          <p:cNvPr id="5" name="Object 5">
            <a:extLst>
              <a:ext uri="{FF2B5EF4-FFF2-40B4-BE49-F238E27FC236}">
                <a16:creationId xmlns:a16="http://schemas.microsoft.com/office/drawing/2014/main" xmlns="" id="{8CBA4004-C1E9-4819-4B33-774890BAFC0A}"/>
              </a:ext>
            </a:extLst>
          </p:cNvPr>
          <p:cNvGraphicFramePr>
            <a:graphicFrameLocks noChangeAspect="1"/>
          </p:cNvGraphicFramePr>
          <p:nvPr>
            <p:extLst>
              <p:ext uri="{D42A27DB-BD31-4B8C-83A1-F6EECF244321}">
                <p14:modId xmlns:p14="http://schemas.microsoft.com/office/powerpoint/2010/main" val="4261390152"/>
              </p:ext>
            </p:extLst>
          </p:nvPr>
        </p:nvGraphicFramePr>
        <p:xfrm>
          <a:off x="2843808" y="4365104"/>
          <a:ext cx="2022475" cy="468313"/>
        </p:xfrm>
        <a:graphic>
          <a:graphicData uri="http://schemas.openxmlformats.org/presentationml/2006/ole">
            <mc:AlternateContent xmlns:mc="http://schemas.openxmlformats.org/markup-compatibility/2006">
              <mc:Choice xmlns:v="urn:schemas-microsoft-com:vml" Requires="v">
                <p:oleObj spid="_x0000_s1026" name="Équation" r:id="rId3" imgW="926698" imgH="215806" progId="Equation.3">
                  <p:embed/>
                </p:oleObj>
              </mc:Choice>
              <mc:Fallback>
                <p:oleObj name="Équation" r:id="rId3" imgW="926698" imgH="215806" progId="Equation.3">
                  <p:embed/>
                  <p:pic>
                    <p:nvPicPr>
                      <p:cNvPr id="20485" name="Object 5">
                        <a:extLst>
                          <a:ext uri="{FF2B5EF4-FFF2-40B4-BE49-F238E27FC236}">
                            <a16:creationId xmlns:a16="http://schemas.microsoft.com/office/drawing/2014/main" xmlns="" id="{E1C88A93-E330-60FC-F2DE-867833A408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4365104"/>
                        <a:ext cx="2022475" cy="468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88887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
            <a:extLst>
              <a:ext uri="{FF2B5EF4-FFF2-40B4-BE49-F238E27FC236}">
                <a16:creationId xmlns:a16="http://schemas.microsoft.com/office/drawing/2014/main" xmlns="" id="{7885FAB6-B2E0-D106-3379-FB3FCC40947D}"/>
              </a:ext>
            </a:extLst>
          </p:cNvPr>
          <p:cNvSpPr txBox="1">
            <a:spLocks noChangeArrowheads="1"/>
          </p:cNvSpPr>
          <p:nvPr/>
        </p:nvSpPr>
        <p:spPr bwMode="auto">
          <a:xfrm>
            <a:off x="1905000" y="2133600"/>
            <a:ext cx="36420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latin typeface="Times New Roman" panose="02020603050405020304" pitchFamily="18" charset="0"/>
              </a:rPr>
              <a:t>1</a:t>
            </a:r>
          </a:p>
          <a:p>
            <a:r>
              <a:rPr lang="fr-FR" altLang="fr-FR" sz="2800">
                <a:latin typeface="Times New Roman" panose="02020603050405020304" pitchFamily="18" charset="0"/>
              </a:rPr>
              <a:t>0</a:t>
            </a:r>
          </a:p>
        </p:txBody>
      </p:sp>
      <p:sp>
        <p:nvSpPr>
          <p:cNvPr id="3" name="Text Box 10">
            <a:extLst>
              <a:ext uri="{FF2B5EF4-FFF2-40B4-BE49-F238E27FC236}">
                <a16:creationId xmlns:a16="http://schemas.microsoft.com/office/drawing/2014/main" xmlns="" id="{F501B8C5-943F-530D-0727-BA9E7F6D0DEF}"/>
              </a:ext>
            </a:extLst>
          </p:cNvPr>
          <p:cNvSpPr txBox="1">
            <a:spLocks noChangeArrowheads="1"/>
          </p:cNvSpPr>
          <p:nvPr/>
        </p:nvSpPr>
        <p:spPr bwMode="auto">
          <a:xfrm>
            <a:off x="3981450" y="2190750"/>
            <a:ext cx="7232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latin typeface="Times New Roman" panose="02020603050405020304" pitchFamily="18" charset="0"/>
              </a:rPr>
              <a:t>0  0</a:t>
            </a:r>
          </a:p>
          <a:p>
            <a:r>
              <a:rPr lang="fr-FR" altLang="fr-FR" sz="2800">
                <a:latin typeface="Times New Roman" panose="02020603050405020304" pitchFamily="18" charset="0"/>
              </a:rPr>
              <a:t>0  1</a:t>
            </a:r>
          </a:p>
        </p:txBody>
      </p:sp>
      <p:sp>
        <p:nvSpPr>
          <p:cNvPr id="4" name="Text Box 11">
            <a:extLst>
              <a:ext uri="{FF2B5EF4-FFF2-40B4-BE49-F238E27FC236}">
                <a16:creationId xmlns:a16="http://schemas.microsoft.com/office/drawing/2014/main" xmlns="" id="{13E16772-3696-D760-FAF5-A01F903B7DCC}"/>
              </a:ext>
            </a:extLst>
          </p:cNvPr>
          <p:cNvSpPr txBox="1">
            <a:spLocks noChangeArrowheads="1"/>
          </p:cNvSpPr>
          <p:nvPr/>
        </p:nvSpPr>
        <p:spPr bwMode="auto">
          <a:xfrm>
            <a:off x="6280150" y="2197100"/>
            <a:ext cx="81304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latin typeface="Times New Roman" panose="02020603050405020304" pitchFamily="18" charset="0"/>
              </a:rPr>
              <a:t> 0  1</a:t>
            </a:r>
          </a:p>
          <a:p>
            <a:r>
              <a:rPr lang="fr-FR" altLang="fr-FR" sz="2800">
                <a:latin typeface="Times New Roman" panose="02020603050405020304" pitchFamily="18" charset="0"/>
              </a:rPr>
              <a:t> 1  1</a:t>
            </a:r>
          </a:p>
        </p:txBody>
      </p:sp>
      <p:sp>
        <p:nvSpPr>
          <p:cNvPr id="5" name="Text Box 12">
            <a:extLst>
              <a:ext uri="{FF2B5EF4-FFF2-40B4-BE49-F238E27FC236}">
                <a16:creationId xmlns:a16="http://schemas.microsoft.com/office/drawing/2014/main" xmlns="" id="{10AE5C04-D6E7-A6E6-4A72-48AFA81D4F9C}"/>
              </a:ext>
            </a:extLst>
          </p:cNvPr>
          <p:cNvSpPr txBox="1">
            <a:spLocks noChangeArrowheads="1"/>
          </p:cNvSpPr>
          <p:nvPr/>
        </p:nvSpPr>
        <p:spPr bwMode="auto">
          <a:xfrm>
            <a:off x="2965450" y="4318000"/>
            <a:ext cx="7232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latin typeface="Times New Roman" panose="02020603050405020304" pitchFamily="18" charset="0"/>
              </a:rPr>
              <a:t>1  1</a:t>
            </a:r>
          </a:p>
          <a:p>
            <a:r>
              <a:rPr lang="fr-FR" altLang="fr-FR" sz="2800">
                <a:latin typeface="Times New Roman" panose="02020603050405020304" pitchFamily="18" charset="0"/>
              </a:rPr>
              <a:t>0  1</a:t>
            </a:r>
          </a:p>
        </p:txBody>
      </p:sp>
      <p:sp>
        <p:nvSpPr>
          <p:cNvPr id="6" name="Text Box 14">
            <a:extLst>
              <a:ext uri="{FF2B5EF4-FFF2-40B4-BE49-F238E27FC236}">
                <a16:creationId xmlns:a16="http://schemas.microsoft.com/office/drawing/2014/main" xmlns="" id="{5B72E5E7-8F7A-8750-53B0-BFEA055B7AAF}"/>
              </a:ext>
            </a:extLst>
          </p:cNvPr>
          <p:cNvSpPr txBox="1">
            <a:spLocks noChangeArrowheads="1"/>
          </p:cNvSpPr>
          <p:nvPr/>
        </p:nvSpPr>
        <p:spPr bwMode="auto">
          <a:xfrm>
            <a:off x="5181600" y="4327525"/>
            <a:ext cx="7232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latin typeface="Times New Roman" panose="02020603050405020304" pitchFamily="18" charset="0"/>
              </a:rPr>
              <a:t>1  0</a:t>
            </a:r>
          </a:p>
          <a:p>
            <a:r>
              <a:rPr lang="fr-FR" altLang="fr-FR" sz="2800">
                <a:latin typeface="Times New Roman" panose="02020603050405020304" pitchFamily="18" charset="0"/>
              </a:rPr>
              <a:t>0  1</a:t>
            </a:r>
          </a:p>
        </p:txBody>
      </p:sp>
      <p:grpSp>
        <p:nvGrpSpPr>
          <p:cNvPr id="7" name="Group 17">
            <a:extLst>
              <a:ext uri="{FF2B5EF4-FFF2-40B4-BE49-F238E27FC236}">
                <a16:creationId xmlns:a16="http://schemas.microsoft.com/office/drawing/2014/main" xmlns="" id="{636BF603-5462-AAA0-E3DF-61EE7E228BF3}"/>
              </a:ext>
            </a:extLst>
          </p:cNvPr>
          <p:cNvGrpSpPr>
            <a:grpSpLocks/>
          </p:cNvGrpSpPr>
          <p:nvPr/>
        </p:nvGrpSpPr>
        <p:grpSpPr bwMode="auto">
          <a:xfrm>
            <a:off x="1219200" y="1752602"/>
            <a:ext cx="1295400" cy="1384301"/>
            <a:chOff x="768" y="1104"/>
            <a:chExt cx="816" cy="872"/>
          </a:xfrm>
        </p:grpSpPr>
        <p:sp>
          <p:nvSpPr>
            <p:cNvPr id="8" name="Text Box 4">
              <a:extLst>
                <a:ext uri="{FF2B5EF4-FFF2-40B4-BE49-F238E27FC236}">
                  <a16:creationId xmlns:a16="http://schemas.microsoft.com/office/drawing/2014/main" xmlns="" id="{D669D235-CA60-10E5-CE94-156AD744312C}"/>
                </a:ext>
              </a:extLst>
            </p:cNvPr>
            <p:cNvSpPr txBox="1">
              <a:spLocks noChangeArrowheads="1"/>
            </p:cNvSpPr>
            <p:nvPr/>
          </p:nvSpPr>
          <p:spPr bwMode="auto">
            <a:xfrm>
              <a:off x="816" y="1104"/>
              <a:ext cx="768"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i="1">
                  <a:latin typeface="Times New Roman" panose="02020603050405020304" pitchFamily="18" charset="0"/>
                </a:rPr>
                <a:t> p</a:t>
              </a:r>
              <a:r>
                <a:rPr lang="fr-FR" altLang="fr-FR" sz="2800">
                  <a:latin typeface="Times New Roman" panose="02020603050405020304" pitchFamily="18" charset="0"/>
                </a:rPr>
                <a:t>   </a:t>
              </a:r>
              <a:r>
                <a:rPr lang="fr-FR" altLang="fr-FR" sz="2800">
                  <a:latin typeface="Times New Roman" panose="02020603050405020304" pitchFamily="18" charset="0"/>
                  <a:sym typeface="Symbol" panose="05050102010706020507" pitchFamily="18" charset="2"/>
                </a:rPr>
                <a:t></a:t>
              </a:r>
              <a:r>
                <a:rPr lang="fr-FR" altLang="fr-FR" sz="2800" i="1">
                  <a:latin typeface="Times New Roman" panose="02020603050405020304" pitchFamily="18" charset="0"/>
                  <a:sym typeface="Symbol" panose="05050102010706020507" pitchFamily="18" charset="2"/>
                </a:rPr>
                <a:t>p</a:t>
              </a:r>
            </a:p>
            <a:p>
              <a:r>
                <a:rPr lang="fr-FR" altLang="fr-FR" sz="2800" i="1">
                  <a:latin typeface="Times New Roman" panose="02020603050405020304" pitchFamily="18" charset="0"/>
                  <a:sym typeface="Symbol" panose="05050102010706020507" pitchFamily="18" charset="2"/>
                </a:rPr>
                <a:t> </a:t>
              </a:r>
              <a:r>
                <a:rPr lang="fr-FR" altLang="fr-FR" sz="2800">
                  <a:latin typeface="Times New Roman" panose="02020603050405020304" pitchFamily="18" charset="0"/>
                  <a:sym typeface="Symbol" panose="05050102010706020507" pitchFamily="18" charset="2"/>
                </a:rPr>
                <a:t>0</a:t>
              </a:r>
            </a:p>
            <a:p>
              <a:r>
                <a:rPr lang="fr-FR" altLang="fr-FR" sz="2800">
                  <a:latin typeface="Times New Roman" panose="02020603050405020304" pitchFamily="18" charset="0"/>
                  <a:sym typeface="Symbol" panose="05050102010706020507" pitchFamily="18" charset="2"/>
                </a:rPr>
                <a:t> 1</a:t>
              </a:r>
              <a:endParaRPr lang="fr-FR" altLang="fr-FR" sz="2800">
                <a:latin typeface="Times New Roman" panose="02020603050405020304" pitchFamily="18" charset="0"/>
              </a:endParaRPr>
            </a:p>
          </p:txBody>
        </p:sp>
        <p:sp>
          <p:nvSpPr>
            <p:cNvPr id="9" name="Line 15">
              <a:extLst>
                <a:ext uri="{FF2B5EF4-FFF2-40B4-BE49-F238E27FC236}">
                  <a16:creationId xmlns:a16="http://schemas.microsoft.com/office/drawing/2014/main" xmlns="" id="{CFDC1307-191F-8FA1-A387-A22D5501C71F}"/>
                </a:ext>
              </a:extLst>
            </p:cNvPr>
            <p:cNvSpPr>
              <a:spLocks noChangeShapeType="1"/>
            </p:cNvSpPr>
            <p:nvPr/>
          </p:nvSpPr>
          <p:spPr bwMode="auto">
            <a:xfrm>
              <a:off x="768" y="1388"/>
              <a:ext cx="76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sp>
          <p:nvSpPr>
            <p:cNvPr id="10" name="Line 16">
              <a:extLst>
                <a:ext uri="{FF2B5EF4-FFF2-40B4-BE49-F238E27FC236}">
                  <a16:creationId xmlns:a16="http://schemas.microsoft.com/office/drawing/2014/main" xmlns="" id="{9832325F-B26C-4476-392F-5B9AB84FF8F6}"/>
                </a:ext>
              </a:extLst>
            </p:cNvPr>
            <p:cNvSpPr>
              <a:spLocks noChangeShapeType="1"/>
            </p:cNvSpPr>
            <p:nvPr/>
          </p:nvSpPr>
          <p:spPr bwMode="auto">
            <a:xfrm>
              <a:off x="1104" y="1200"/>
              <a:ext cx="0" cy="67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grpSp>
      <p:grpSp>
        <p:nvGrpSpPr>
          <p:cNvPr id="11" name="Group 26">
            <a:extLst>
              <a:ext uri="{FF2B5EF4-FFF2-40B4-BE49-F238E27FC236}">
                <a16:creationId xmlns:a16="http://schemas.microsoft.com/office/drawing/2014/main" xmlns="" id="{BA770F65-0EE3-19DE-B42B-C07EE2003F02}"/>
              </a:ext>
            </a:extLst>
          </p:cNvPr>
          <p:cNvGrpSpPr>
            <a:grpSpLocks/>
          </p:cNvGrpSpPr>
          <p:nvPr/>
        </p:nvGrpSpPr>
        <p:grpSpPr bwMode="auto">
          <a:xfrm>
            <a:off x="3657602" y="1828802"/>
            <a:ext cx="1119188" cy="1384301"/>
            <a:chOff x="2304" y="1152"/>
            <a:chExt cx="705" cy="872"/>
          </a:xfrm>
        </p:grpSpPr>
        <p:sp>
          <p:nvSpPr>
            <p:cNvPr id="12" name="Text Box 5">
              <a:extLst>
                <a:ext uri="{FF2B5EF4-FFF2-40B4-BE49-F238E27FC236}">
                  <a16:creationId xmlns:a16="http://schemas.microsoft.com/office/drawing/2014/main" xmlns="" id="{2906E074-EB44-AD68-38BF-01D1B056DE04}"/>
                </a:ext>
              </a:extLst>
            </p:cNvPr>
            <p:cNvSpPr txBox="1">
              <a:spLocks noChangeArrowheads="1"/>
            </p:cNvSpPr>
            <p:nvPr/>
          </p:nvSpPr>
          <p:spPr bwMode="auto">
            <a:xfrm>
              <a:off x="2304" y="1152"/>
              <a:ext cx="705"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latin typeface="Times New Roman" panose="02020603050405020304" pitchFamily="18" charset="0"/>
                  <a:sym typeface="Symbol" panose="05050102010706020507" pitchFamily="18" charset="2"/>
                </a:rPr>
                <a:t>  0  1</a:t>
              </a:r>
            </a:p>
            <a:p>
              <a:r>
                <a:rPr lang="fr-FR" altLang="fr-FR" sz="2800">
                  <a:latin typeface="Times New Roman" panose="02020603050405020304" pitchFamily="18" charset="0"/>
                  <a:sym typeface="Symbol" panose="05050102010706020507" pitchFamily="18" charset="2"/>
                </a:rPr>
                <a:t>0</a:t>
              </a:r>
            </a:p>
            <a:p>
              <a:r>
                <a:rPr lang="fr-FR" altLang="fr-FR" sz="2800">
                  <a:latin typeface="Times New Roman" panose="02020603050405020304" pitchFamily="18" charset="0"/>
                  <a:sym typeface="Symbol" panose="05050102010706020507" pitchFamily="18" charset="2"/>
                </a:rPr>
                <a:t>1</a:t>
              </a:r>
              <a:endParaRPr lang="fr-FR" altLang="fr-FR" sz="2800">
                <a:latin typeface="Times New Roman" panose="02020603050405020304" pitchFamily="18" charset="0"/>
              </a:endParaRPr>
            </a:p>
          </p:txBody>
        </p:sp>
        <p:sp>
          <p:nvSpPr>
            <p:cNvPr id="13" name="Line 18">
              <a:extLst>
                <a:ext uri="{FF2B5EF4-FFF2-40B4-BE49-F238E27FC236}">
                  <a16:creationId xmlns:a16="http://schemas.microsoft.com/office/drawing/2014/main" xmlns="" id="{45D85BC1-2482-743A-4679-030E43DD3170}"/>
                </a:ext>
              </a:extLst>
            </p:cNvPr>
            <p:cNvSpPr>
              <a:spLocks noChangeShapeType="1"/>
            </p:cNvSpPr>
            <p:nvPr/>
          </p:nvSpPr>
          <p:spPr bwMode="auto">
            <a:xfrm>
              <a:off x="2304" y="1408"/>
              <a:ext cx="67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sp>
          <p:nvSpPr>
            <p:cNvPr id="14" name="Line 19">
              <a:extLst>
                <a:ext uri="{FF2B5EF4-FFF2-40B4-BE49-F238E27FC236}">
                  <a16:creationId xmlns:a16="http://schemas.microsoft.com/office/drawing/2014/main" xmlns="" id="{7CEED87D-2EB6-08DB-F5CB-69A276927609}"/>
                </a:ext>
              </a:extLst>
            </p:cNvPr>
            <p:cNvSpPr>
              <a:spLocks noChangeShapeType="1"/>
            </p:cNvSpPr>
            <p:nvPr/>
          </p:nvSpPr>
          <p:spPr bwMode="auto">
            <a:xfrm>
              <a:off x="2508" y="1248"/>
              <a:ext cx="0" cy="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grpSp>
      <p:grpSp>
        <p:nvGrpSpPr>
          <p:cNvPr id="15" name="Group 27">
            <a:extLst>
              <a:ext uri="{FF2B5EF4-FFF2-40B4-BE49-F238E27FC236}">
                <a16:creationId xmlns:a16="http://schemas.microsoft.com/office/drawing/2014/main" xmlns="" id="{92F0DD41-4351-988E-8850-A7493A83B619}"/>
              </a:ext>
            </a:extLst>
          </p:cNvPr>
          <p:cNvGrpSpPr>
            <a:grpSpLocks/>
          </p:cNvGrpSpPr>
          <p:nvPr/>
        </p:nvGrpSpPr>
        <p:grpSpPr bwMode="auto">
          <a:xfrm>
            <a:off x="6019803" y="1828802"/>
            <a:ext cx="1119188" cy="1384301"/>
            <a:chOff x="3792" y="1152"/>
            <a:chExt cx="705" cy="872"/>
          </a:xfrm>
        </p:grpSpPr>
        <p:sp>
          <p:nvSpPr>
            <p:cNvPr id="16" name="Text Box 6">
              <a:extLst>
                <a:ext uri="{FF2B5EF4-FFF2-40B4-BE49-F238E27FC236}">
                  <a16:creationId xmlns:a16="http://schemas.microsoft.com/office/drawing/2014/main" xmlns="" id="{D990B0D7-0E6E-2D3C-221A-120100AB08B4}"/>
                </a:ext>
              </a:extLst>
            </p:cNvPr>
            <p:cNvSpPr txBox="1">
              <a:spLocks noChangeArrowheads="1"/>
            </p:cNvSpPr>
            <p:nvPr/>
          </p:nvSpPr>
          <p:spPr bwMode="auto">
            <a:xfrm>
              <a:off x="3792" y="1152"/>
              <a:ext cx="705"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latin typeface="Times New Roman" panose="02020603050405020304" pitchFamily="18" charset="0"/>
                  <a:sym typeface="Symbol" panose="05050102010706020507" pitchFamily="18" charset="2"/>
                </a:rPr>
                <a:t>  0  1</a:t>
              </a:r>
            </a:p>
            <a:p>
              <a:r>
                <a:rPr lang="fr-FR" altLang="fr-FR" sz="2800">
                  <a:latin typeface="Times New Roman" panose="02020603050405020304" pitchFamily="18" charset="0"/>
                  <a:sym typeface="Symbol" panose="05050102010706020507" pitchFamily="18" charset="2"/>
                </a:rPr>
                <a:t>0  </a:t>
              </a:r>
            </a:p>
            <a:p>
              <a:r>
                <a:rPr lang="fr-FR" altLang="fr-FR" sz="2800">
                  <a:latin typeface="Times New Roman" panose="02020603050405020304" pitchFamily="18" charset="0"/>
                  <a:sym typeface="Symbol" panose="05050102010706020507" pitchFamily="18" charset="2"/>
                </a:rPr>
                <a:t>1</a:t>
              </a:r>
              <a:endParaRPr lang="fr-FR" altLang="fr-FR" sz="2800">
                <a:latin typeface="Times New Roman" panose="02020603050405020304" pitchFamily="18" charset="0"/>
              </a:endParaRPr>
            </a:p>
          </p:txBody>
        </p:sp>
        <p:sp>
          <p:nvSpPr>
            <p:cNvPr id="17" name="Line 20">
              <a:extLst>
                <a:ext uri="{FF2B5EF4-FFF2-40B4-BE49-F238E27FC236}">
                  <a16:creationId xmlns:a16="http://schemas.microsoft.com/office/drawing/2014/main" xmlns="" id="{98D7E954-2B9E-6C2D-6D39-8F9A21A4318E}"/>
                </a:ext>
              </a:extLst>
            </p:cNvPr>
            <p:cNvSpPr>
              <a:spLocks noChangeShapeType="1"/>
            </p:cNvSpPr>
            <p:nvPr/>
          </p:nvSpPr>
          <p:spPr bwMode="auto">
            <a:xfrm>
              <a:off x="3792" y="1408"/>
              <a:ext cx="67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sp>
          <p:nvSpPr>
            <p:cNvPr id="18" name="Line 21">
              <a:extLst>
                <a:ext uri="{FF2B5EF4-FFF2-40B4-BE49-F238E27FC236}">
                  <a16:creationId xmlns:a16="http://schemas.microsoft.com/office/drawing/2014/main" xmlns="" id="{2071BF7B-89CC-F52B-8A79-DA53B8373ACD}"/>
                </a:ext>
              </a:extLst>
            </p:cNvPr>
            <p:cNvSpPr>
              <a:spLocks noChangeShapeType="1"/>
            </p:cNvSpPr>
            <p:nvPr/>
          </p:nvSpPr>
          <p:spPr bwMode="auto">
            <a:xfrm>
              <a:off x="3988" y="1248"/>
              <a:ext cx="0" cy="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grpSp>
      <p:grpSp>
        <p:nvGrpSpPr>
          <p:cNvPr id="19" name="Group 30">
            <a:extLst>
              <a:ext uri="{FF2B5EF4-FFF2-40B4-BE49-F238E27FC236}">
                <a16:creationId xmlns:a16="http://schemas.microsoft.com/office/drawing/2014/main" xmlns="" id="{60DC6538-0D70-5FDC-FC1B-2ACA59940E45}"/>
              </a:ext>
            </a:extLst>
          </p:cNvPr>
          <p:cNvGrpSpPr>
            <a:grpSpLocks/>
          </p:cNvGrpSpPr>
          <p:nvPr/>
        </p:nvGrpSpPr>
        <p:grpSpPr bwMode="auto">
          <a:xfrm>
            <a:off x="4724400" y="3962403"/>
            <a:ext cx="1276350" cy="1384301"/>
            <a:chOff x="2832" y="2496"/>
            <a:chExt cx="804" cy="872"/>
          </a:xfrm>
        </p:grpSpPr>
        <p:sp>
          <p:nvSpPr>
            <p:cNvPr id="20" name="Text Box 8">
              <a:extLst>
                <a:ext uri="{FF2B5EF4-FFF2-40B4-BE49-F238E27FC236}">
                  <a16:creationId xmlns:a16="http://schemas.microsoft.com/office/drawing/2014/main" xmlns="" id="{2C7F03CA-42E3-7139-D91A-49360887C3CA}"/>
                </a:ext>
              </a:extLst>
            </p:cNvPr>
            <p:cNvSpPr txBox="1">
              <a:spLocks noChangeArrowheads="1"/>
            </p:cNvSpPr>
            <p:nvPr/>
          </p:nvSpPr>
          <p:spPr bwMode="auto">
            <a:xfrm>
              <a:off x="2832" y="2496"/>
              <a:ext cx="804"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latin typeface="Times New Roman" panose="02020603050405020304" pitchFamily="18" charset="0"/>
                  <a:sym typeface="Symbol" panose="05050102010706020507" pitchFamily="18" charset="2"/>
                </a:rPr>
                <a:t>  0  1</a:t>
              </a:r>
            </a:p>
            <a:p>
              <a:r>
                <a:rPr lang="fr-FR" altLang="fr-FR" sz="2800">
                  <a:latin typeface="Times New Roman" panose="02020603050405020304" pitchFamily="18" charset="0"/>
                  <a:sym typeface="Symbol" panose="05050102010706020507" pitchFamily="18" charset="2"/>
                </a:rPr>
                <a:t>0</a:t>
              </a:r>
            </a:p>
            <a:p>
              <a:r>
                <a:rPr lang="fr-FR" altLang="fr-FR" sz="2800">
                  <a:latin typeface="Times New Roman" panose="02020603050405020304" pitchFamily="18" charset="0"/>
                  <a:sym typeface="Symbol" panose="05050102010706020507" pitchFamily="18" charset="2"/>
                </a:rPr>
                <a:t>1</a:t>
              </a:r>
              <a:endParaRPr lang="fr-FR" altLang="fr-FR" sz="2800">
                <a:latin typeface="Times New Roman" panose="02020603050405020304" pitchFamily="18" charset="0"/>
              </a:endParaRPr>
            </a:p>
          </p:txBody>
        </p:sp>
        <p:sp>
          <p:nvSpPr>
            <p:cNvPr id="21" name="Line 22">
              <a:extLst>
                <a:ext uri="{FF2B5EF4-FFF2-40B4-BE49-F238E27FC236}">
                  <a16:creationId xmlns:a16="http://schemas.microsoft.com/office/drawing/2014/main" xmlns="" id="{BA6D0D2E-9612-63A4-B8D0-BE416F3394A1}"/>
                </a:ext>
              </a:extLst>
            </p:cNvPr>
            <p:cNvSpPr>
              <a:spLocks noChangeShapeType="1"/>
            </p:cNvSpPr>
            <p:nvPr/>
          </p:nvSpPr>
          <p:spPr bwMode="auto">
            <a:xfrm>
              <a:off x="2880" y="2764"/>
              <a:ext cx="72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sp>
          <p:nvSpPr>
            <p:cNvPr id="22" name="Line 23">
              <a:extLst>
                <a:ext uri="{FF2B5EF4-FFF2-40B4-BE49-F238E27FC236}">
                  <a16:creationId xmlns:a16="http://schemas.microsoft.com/office/drawing/2014/main" xmlns="" id="{1FB8E03B-7444-BC41-B2C1-93CAC06DFCC6}"/>
                </a:ext>
              </a:extLst>
            </p:cNvPr>
            <p:cNvSpPr>
              <a:spLocks noChangeShapeType="1"/>
            </p:cNvSpPr>
            <p:nvPr/>
          </p:nvSpPr>
          <p:spPr bwMode="auto">
            <a:xfrm>
              <a:off x="3120" y="2592"/>
              <a:ext cx="0" cy="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grpSp>
      <p:grpSp>
        <p:nvGrpSpPr>
          <p:cNvPr id="23" name="Group 29">
            <a:extLst>
              <a:ext uri="{FF2B5EF4-FFF2-40B4-BE49-F238E27FC236}">
                <a16:creationId xmlns:a16="http://schemas.microsoft.com/office/drawing/2014/main" xmlns="" id="{07924D38-AC29-84CC-84A6-793C5A6B39FE}"/>
              </a:ext>
            </a:extLst>
          </p:cNvPr>
          <p:cNvGrpSpPr>
            <a:grpSpLocks/>
          </p:cNvGrpSpPr>
          <p:nvPr/>
        </p:nvGrpSpPr>
        <p:grpSpPr bwMode="auto">
          <a:xfrm>
            <a:off x="2514600" y="3962403"/>
            <a:ext cx="1257300" cy="1384301"/>
            <a:chOff x="1440" y="2496"/>
            <a:chExt cx="792" cy="872"/>
          </a:xfrm>
        </p:grpSpPr>
        <p:sp>
          <p:nvSpPr>
            <p:cNvPr id="24" name="Text Box 7">
              <a:extLst>
                <a:ext uri="{FF2B5EF4-FFF2-40B4-BE49-F238E27FC236}">
                  <a16:creationId xmlns:a16="http://schemas.microsoft.com/office/drawing/2014/main" xmlns="" id="{AAFBF9D5-F071-A014-F6E5-2FA983F7D17E}"/>
                </a:ext>
              </a:extLst>
            </p:cNvPr>
            <p:cNvSpPr txBox="1">
              <a:spLocks noChangeArrowheads="1"/>
            </p:cNvSpPr>
            <p:nvPr/>
          </p:nvSpPr>
          <p:spPr bwMode="auto">
            <a:xfrm>
              <a:off x="1440" y="2496"/>
              <a:ext cx="792"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latin typeface="Times New Roman" panose="02020603050405020304" pitchFamily="18" charset="0"/>
                  <a:sym typeface="Symbol" panose="05050102010706020507" pitchFamily="18" charset="2"/>
                </a:rPr>
                <a:t>  0  1</a:t>
              </a:r>
            </a:p>
            <a:p>
              <a:r>
                <a:rPr lang="fr-FR" altLang="fr-FR" sz="2800">
                  <a:latin typeface="Times New Roman" panose="02020603050405020304" pitchFamily="18" charset="0"/>
                  <a:sym typeface="Symbol" panose="05050102010706020507" pitchFamily="18" charset="2"/>
                </a:rPr>
                <a:t>0</a:t>
              </a:r>
            </a:p>
            <a:p>
              <a:r>
                <a:rPr lang="fr-FR" altLang="fr-FR" sz="2800">
                  <a:latin typeface="Times New Roman" panose="02020603050405020304" pitchFamily="18" charset="0"/>
                  <a:sym typeface="Symbol" panose="05050102010706020507" pitchFamily="18" charset="2"/>
                </a:rPr>
                <a:t>1</a:t>
              </a:r>
              <a:endParaRPr lang="fr-FR" altLang="fr-FR" sz="2800">
                <a:latin typeface="Times New Roman" panose="02020603050405020304" pitchFamily="18" charset="0"/>
              </a:endParaRPr>
            </a:p>
          </p:txBody>
        </p:sp>
        <p:sp>
          <p:nvSpPr>
            <p:cNvPr id="25" name="Line 24">
              <a:extLst>
                <a:ext uri="{FF2B5EF4-FFF2-40B4-BE49-F238E27FC236}">
                  <a16:creationId xmlns:a16="http://schemas.microsoft.com/office/drawing/2014/main" xmlns="" id="{36FC54BF-0443-4332-654E-43DC9511CBCB}"/>
                </a:ext>
              </a:extLst>
            </p:cNvPr>
            <p:cNvSpPr>
              <a:spLocks noChangeShapeType="1"/>
            </p:cNvSpPr>
            <p:nvPr/>
          </p:nvSpPr>
          <p:spPr bwMode="auto">
            <a:xfrm>
              <a:off x="1488" y="2752"/>
              <a:ext cx="72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sp>
          <p:nvSpPr>
            <p:cNvPr id="26" name="Line 25">
              <a:extLst>
                <a:ext uri="{FF2B5EF4-FFF2-40B4-BE49-F238E27FC236}">
                  <a16:creationId xmlns:a16="http://schemas.microsoft.com/office/drawing/2014/main" xmlns="" id="{D621D286-C03E-88B6-3DDF-9BDAFFF22F95}"/>
                </a:ext>
              </a:extLst>
            </p:cNvPr>
            <p:cNvSpPr>
              <a:spLocks noChangeShapeType="1"/>
            </p:cNvSpPr>
            <p:nvPr/>
          </p:nvSpPr>
          <p:spPr bwMode="auto">
            <a:xfrm>
              <a:off x="1728" y="2580"/>
              <a:ext cx="0" cy="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grpSp>
      <p:sp>
        <p:nvSpPr>
          <p:cNvPr id="27" name="Text Box 12">
            <a:extLst>
              <a:ext uri="{FF2B5EF4-FFF2-40B4-BE49-F238E27FC236}">
                <a16:creationId xmlns:a16="http://schemas.microsoft.com/office/drawing/2014/main" xmlns="" id="{00752F6C-BD6F-DEFB-CB68-46EF58BCE6C8}"/>
              </a:ext>
            </a:extLst>
          </p:cNvPr>
          <p:cNvSpPr txBox="1">
            <a:spLocks noChangeArrowheads="1"/>
          </p:cNvSpPr>
          <p:nvPr/>
        </p:nvSpPr>
        <p:spPr bwMode="auto">
          <a:xfrm>
            <a:off x="3033713" y="5718175"/>
            <a:ext cx="72327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solidFill>
                  <a:srgbClr val="FF0000"/>
                </a:solidFill>
                <a:latin typeface="Times New Roman" panose="02020603050405020304" pitchFamily="18" charset="0"/>
              </a:rPr>
              <a:t>1  1</a:t>
            </a:r>
          </a:p>
          <a:p>
            <a:r>
              <a:rPr lang="fr-FR" altLang="fr-FR" sz="2800">
                <a:solidFill>
                  <a:srgbClr val="FF0000"/>
                </a:solidFill>
                <a:latin typeface="Times New Roman" panose="02020603050405020304" pitchFamily="18" charset="0"/>
              </a:rPr>
              <a:t>0  1</a:t>
            </a:r>
          </a:p>
        </p:txBody>
      </p:sp>
      <p:grpSp>
        <p:nvGrpSpPr>
          <p:cNvPr id="28" name="Group 29">
            <a:extLst>
              <a:ext uri="{FF2B5EF4-FFF2-40B4-BE49-F238E27FC236}">
                <a16:creationId xmlns:a16="http://schemas.microsoft.com/office/drawing/2014/main" xmlns="" id="{30659FC1-DC6E-31D2-B542-646FD438D263}"/>
              </a:ext>
            </a:extLst>
          </p:cNvPr>
          <p:cNvGrpSpPr>
            <a:grpSpLocks/>
          </p:cNvGrpSpPr>
          <p:nvPr/>
        </p:nvGrpSpPr>
        <p:grpSpPr bwMode="auto">
          <a:xfrm>
            <a:off x="2582863" y="5362578"/>
            <a:ext cx="1219200" cy="1384301"/>
            <a:chOff x="1440" y="2496"/>
            <a:chExt cx="768" cy="872"/>
          </a:xfrm>
        </p:grpSpPr>
        <p:sp>
          <p:nvSpPr>
            <p:cNvPr id="29" name="Text Box 7">
              <a:extLst>
                <a:ext uri="{FF2B5EF4-FFF2-40B4-BE49-F238E27FC236}">
                  <a16:creationId xmlns:a16="http://schemas.microsoft.com/office/drawing/2014/main" xmlns="" id="{C8C557B0-6D08-B5EF-9649-45530390C1C4}"/>
                </a:ext>
              </a:extLst>
            </p:cNvPr>
            <p:cNvSpPr txBox="1">
              <a:spLocks noChangeArrowheads="1"/>
            </p:cNvSpPr>
            <p:nvPr/>
          </p:nvSpPr>
          <p:spPr bwMode="auto">
            <a:xfrm>
              <a:off x="1440" y="2496"/>
              <a:ext cx="762"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solidFill>
                    <a:srgbClr val="FF0000"/>
                  </a:solidFill>
                  <a:latin typeface="Times New Roman" panose="02020603050405020304" pitchFamily="18" charset="0"/>
                  <a:sym typeface="Symbol" panose="05050102010706020507" pitchFamily="18" charset="2"/>
                </a:rPr>
                <a:t>   0  1</a:t>
              </a:r>
            </a:p>
            <a:p>
              <a:r>
                <a:rPr lang="fr-FR" altLang="fr-FR" sz="2800">
                  <a:solidFill>
                    <a:srgbClr val="FF0000"/>
                  </a:solidFill>
                  <a:latin typeface="Times New Roman" panose="02020603050405020304" pitchFamily="18" charset="0"/>
                  <a:sym typeface="Symbol" panose="05050102010706020507" pitchFamily="18" charset="2"/>
                </a:rPr>
                <a:t>1</a:t>
              </a:r>
            </a:p>
            <a:p>
              <a:r>
                <a:rPr lang="fr-FR" altLang="fr-FR" sz="2800">
                  <a:solidFill>
                    <a:srgbClr val="FF0000"/>
                  </a:solidFill>
                  <a:latin typeface="Times New Roman" panose="02020603050405020304" pitchFamily="18" charset="0"/>
                  <a:sym typeface="Symbol" panose="05050102010706020507" pitchFamily="18" charset="2"/>
                </a:rPr>
                <a:t>0</a:t>
              </a:r>
              <a:endParaRPr lang="fr-FR" altLang="fr-FR" sz="2800">
                <a:solidFill>
                  <a:srgbClr val="FF0000"/>
                </a:solidFill>
                <a:latin typeface="Times New Roman" panose="02020603050405020304" pitchFamily="18" charset="0"/>
              </a:endParaRPr>
            </a:p>
          </p:txBody>
        </p:sp>
        <p:sp>
          <p:nvSpPr>
            <p:cNvPr id="30" name="Line 24">
              <a:extLst>
                <a:ext uri="{FF2B5EF4-FFF2-40B4-BE49-F238E27FC236}">
                  <a16:creationId xmlns:a16="http://schemas.microsoft.com/office/drawing/2014/main" xmlns="" id="{40BC7DF1-A255-4811-A11F-CDC6C4FF93D1}"/>
                </a:ext>
              </a:extLst>
            </p:cNvPr>
            <p:cNvSpPr>
              <a:spLocks noChangeShapeType="1"/>
            </p:cNvSpPr>
            <p:nvPr/>
          </p:nvSpPr>
          <p:spPr bwMode="auto">
            <a:xfrm>
              <a:off x="1488" y="2752"/>
              <a:ext cx="72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sp>
          <p:nvSpPr>
            <p:cNvPr id="31" name="Line 25">
              <a:extLst>
                <a:ext uri="{FF2B5EF4-FFF2-40B4-BE49-F238E27FC236}">
                  <a16:creationId xmlns:a16="http://schemas.microsoft.com/office/drawing/2014/main" xmlns="" id="{E0BE337F-5AF7-69E8-8FBF-B77A34669DEC}"/>
                </a:ext>
              </a:extLst>
            </p:cNvPr>
            <p:cNvSpPr>
              <a:spLocks noChangeShapeType="1"/>
            </p:cNvSpPr>
            <p:nvPr/>
          </p:nvSpPr>
          <p:spPr bwMode="auto">
            <a:xfrm>
              <a:off x="1728" y="2580"/>
              <a:ext cx="0" cy="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grpSp>
      <p:sp>
        <p:nvSpPr>
          <p:cNvPr id="32" name="TextBox 6">
            <a:extLst>
              <a:ext uri="{FF2B5EF4-FFF2-40B4-BE49-F238E27FC236}">
                <a16:creationId xmlns:a16="http://schemas.microsoft.com/office/drawing/2014/main" xmlns="" id="{D94CE777-9D9D-96BC-924E-94EB37233555}"/>
              </a:ext>
            </a:extLst>
          </p:cNvPr>
          <p:cNvSpPr txBox="1">
            <a:spLocks noChangeArrowheads="1"/>
          </p:cNvSpPr>
          <p:nvPr/>
        </p:nvSpPr>
        <p:spPr bwMode="auto">
          <a:xfrm>
            <a:off x="2027238" y="5854700"/>
            <a:ext cx="79851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solidFill>
                  <a:srgbClr val="FF0000"/>
                </a:solidFill>
                <a:latin typeface="Times New Roman" panose="02020603050405020304" pitchFamily="18" charset="0"/>
                <a:sym typeface="Symbol" panose="05050102010706020507" pitchFamily="18" charset="2"/>
              </a:rPr>
              <a:t></a:t>
            </a:r>
            <a:r>
              <a:rPr lang="fr-FR" altLang="fr-FR" sz="2800" i="1">
                <a:solidFill>
                  <a:srgbClr val="FF0000"/>
                </a:solidFill>
                <a:latin typeface="Times New Roman" panose="02020603050405020304" pitchFamily="18" charset="0"/>
                <a:sym typeface="Symbol" panose="05050102010706020507" pitchFamily="18" charset="2"/>
              </a:rPr>
              <a:t>p</a:t>
            </a:r>
          </a:p>
          <a:p>
            <a:endParaRPr lang="fr-FR" altLang="fr-FR" sz="2800">
              <a:solidFill>
                <a:srgbClr val="FF0000"/>
              </a:solidFill>
            </a:endParaRPr>
          </a:p>
        </p:txBody>
      </p:sp>
      <p:sp>
        <p:nvSpPr>
          <p:cNvPr id="33" name="Titre 1">
            <a:extLst>
              <a:ext uri="{FF2B5EF4-FFF2-40B4-BE49-F238E27FC236}">
                <a16:creationId xmlns:a16="http://schemas.microsoft.com/office/drawing/2014/main" xmlns="" id="{C447D361-A97B-4756-2B6D-4183889D1AAD}"/>
              </a:ext>
            </a:extLst>
          </p:cNvPr>
          <p:cNvSpPr txBox="1">
            <a:spLocks/>
          </p:cNvSpPr>
          <p:nvPr/>
        </p:nvSpPr>
        <p:spPr>
          <a:xfrm>
            <a:off x="395536" y="133450"/>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Tables de vérité : opérateurs</a:t>
            </a:r>
            <a:endParaRPr lang="fr-FR" dirty="0"/>
          </a:p>
        </p:txBody>
      </p:sp>
    </p:spTree>
    <p:extLst>
      <p:ext uri="{BB962C8B-B14F-4D97-AF65-F5344CB8AC3E}">
        <p14:creationId xmlns:p14="http://schemas.microsoft.com/office/powerpoint/2010/main" val="561168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 calcmode="lin" valueType="num">
                                      <p:cBhvr additive="base">
                                        <p:cTn id="31" dur="500" fill="hold"/>
                                        <p:tgtEl>
                                          <p:spTgt spid="15"/>
                                        </p:tgtEl>
                                        <p:attrNameLst>
                                          <p:attrName>ppt_x</p:attrName>
                                        </p:attrNameLst>
                                      </p:cBhvr>
                                      <p:tavLst>
                                        <p:tav tm="0">
                                          <p:val>
                                            <p:strVal val="#ppt_x"/>
                                          </p:val>
                                        </p:tav>
                                        <p:tav tm="100000">
                                          <p:val>
                                            <p:strVal val="#ppt_x"/>
                                          </p:val>
                                        </p:tav>
                                      </p:tavLst>
                                    </p:anim>
                                    <p:anim calcmode="lin" valueType="num">
                                      <p:cBhvr additive="base">
                                        <p:cTn id="3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500" fill="hold"/>
                                        <p:tgtEl>
                                          <p:spTgt spid="4"/>
                                        </p:tgtEl>
                                        <p:attrNameLst>
                                          <p:attrName>ppt_w</p:attrName>
                                        </p:attrNameLst>
                                      </p:cBhvr>
                                      <p:tavLst>
                                        <p:tav tm="0">
                                          <p:val>
                                            <p:fltVal val="0"/>
                                          </p:val>
                                        </p:tav>
                                        <p:tav tm="100000">
                                          <p:val>
                                            <p:strVal val="#ppt_w"/>
                                          </p:val>
                                        </p:tav>
                                      </p:tavLst>
                                    </p:anim>
                                    <p:anim calcmode="lin" valueType="num">
                                      <p:cBhvr>
                                        <p:cTn id="3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ppt_x"/>
                                          </p:val>
                                        </p:tav>
                                        <p:tav tm="100000">
                                          <p:val>
                                            <p:strVal val="#ppt_x"/>
                                          </p:val>
                                        </p:tav>
                                      </p:tavLst>
                                    </p:anim>
                                    <p:anim calcmode="lin" valueType="num">
                                      <p:cBhvr additive="base">
                                        <p:cTn id="4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p:cTn id="49" dur="500" fill="hold"/>
                                        <p:tgtEl>
                                          <p:spTgt spid="5"/>
                                        </p:tgtEl>
                                        <p:attrNameLst>
                                          <p:attrName>ppt_w</p:attrName>
                                        </p:attrNameLst>
                                      </p:cBhvr>
                                      <p:tavLst>
                                        <p:tav tm="0">
                                          <p:val>
                                            <p:fltVal val="0"/>
                                          </p:val>
                                        </p:tav>
                                        <p:tav tm="100000">
                                          <p:val>
                                            <p:strVal val="#ppt_w"/>
                                          </p:val>
                                        </p:tav>
                                      </p:tavLst>
                                    </p:anim>
                                    <p:anim calcmode="lin" valueType="num">
                                      <p:cBhvr>
                                        <p:cTn id="50"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grpId="0" nodeType="clickEffect">
                                  <p:stCondLst>
                                    <p:cond delay="0"/>
                                  </p:stCondLst>
                                  <p:childTnLst>
                                    <p:set>
                                      <p:cBhvr>
                                        <p:cTn id="60" dur="1" fill="hold">
                                          <p:stCondLst>
                                            <p:cond delay="0"/>
                                          </p:stCondLst>
                                        </p:cTn>
                                        <p:tgtEl>
                                          <p:spTgt spid="6"/>
                                        </p:tgtEl>
                                        <p:attrNameLst>
                                          <p:attrName>style.visibility</p:attrName>
                                        </p:attrNameLst>
                                      </p:cBhvr>
                                      <p:to>
                                        <p:strVal val="visible"/>
                                      </p:to>
                                    </p:set>
                                    <p:anim calcmode="lin" valueType="num">
                                      <p:cBhvr>
                                        <p:cTn id="61" dur="500" fill="hold"/>
                                        <p:tgtEl>
                                          <p:spTgt spid="6"/>
                                        </p:tgtEl>
                                        <p:attrNameLst>
                                          <p:attrName>ppt_w</p:attrName>
                                        </p:attrNameLst>
                                      </p:cBhvr>
                                      <p:tavLst>
                                        <p:tav tm="0">
                                          <p:val>
                                            <p:fltVal val="0"/>
                                          </p:val>
                                        </p:tav>
                                        <p:tav tm="100000">
                                          <p:val>
                                            <p:strVal val="#ppt_w"/>
                                          </p:val>
                                        </p:tav>
                                      </p:tavLst>
                                    </p:anim>
                                    <p:anim calcmode="lin" valueType="num">
                                      <p:cBhvr>
                                        <p:cTn id="62"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anim calcmode="lin" valueType="num">
                                      <p:cBhvr additive="base">
                                        <p:cTn id="67" dur="500" fill="hold"/>
                                        <p:tgtEl>
                                          <p:spTgt spid="28"/>
                                        </p:tgtEl>
                                        <p:attrNameLst>
                                          <p:attrName>ppt_x</p:attrName>
                                        </p:attrNameLst>
                                      </p:cBhvr>
                                      <p:tavLst>
                                        <p:tav tm="0">
                                          <p:val>
                                            <p:strVal val="#ppt_x"/>
                                          </p:val>
                                        </p:tav>
                                        <p:tav tm="100000">
                                          <p:val>
                                            <p:strVal val="#ppt_x"/>
                                          </p:val>
                                        </p:tav>
                                      </p:tavLst>
                                    </p:anim>
                                    <p:anim calcmode="lin" valueType="num">
                                      <p:cBhvr additive="base">
                                        <p:cTn id="68" dur="500" fill="hold"/>
                                        <p:tgtEl>
                                          <p:spTgt spid="28"/>
                                        </p:tgtEl>
                                        <p:attrNameLst>
                                          <p:attrName>ppt_y</p:attrName>
                                        </p:attrNameLst>
                                      </p:cBhvr>
                                      <p:tavLst>
                                        <p:tav tm="0">
                                          <p:val>
                                            <p:strVal val="1+#ppt_h/2"/>
                                          </p:val>
                                        </p:tav>
                                        <p:tav tm="100000">
                                          <p:val>
                                            <p:strVal val="#ppt_y"/>
                                          </p:val>
                                        </p:tav>
                                      </p:tavLst>
                                    </p:anim>
                                  </p:childTnLst>
                                </p:cTn>
                              </p:par>
                              <p:par>
                                <p:cTn id="69" presetID="1"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3" presetClass="entr" presetSubtype="16"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anim calcmode="lin" valueType="num">
                                      <p:cBhvr>
                                        <p:cTn id="75" dur="500" fill="hold"/>
                                        <p:tgtEl>
                                          <p:spTgt spid="27"/>
                                        </p:tgtEl>
                                        <p:attrNameLst>
                                          <p:attrName>ppt_w</p:attrName>
                                        </p:attrNameLst>
                                      </p:cBhvr>
                                      <p:tavLst>
                                        <p:tav tm="0">
                                          <p:val>
                                            <p:fltVal val="0"/>
                                          </p:val>
                                        </p:tav>
                                        <p:tav tm="100000">
                                          <p:val>
                                            <p:strVal val="#ppt_w"/>
                                          </p:val>
                                        </p:tav>
                                      </p:tavLst>
                                    </p:anim>
                                    <p:anim calcmode="lin" valueType="num">
                                      <p:cBhvr>
                                        <p:cTn id="76" dur="500" fill="hold"/>
                                        <p:tgtEl>
                                          <p:spTgt spid="2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utoUpdateAnimBg="0"/>
      <p:bldP spid="5" grpId="0" autoUpdateAnimBg="0"/>
      <p:bldP spid="6" grpId="0" autoUpdateAnimBg="0"/>
      <p:bldP spid="27" grpId="0" autoUpdateAnimBg="0"/>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0">
            <a:extLst>
              <a:ext uri="{FF2B5EF4-FFF2-40B4-BE49-F238E27FC236}">
                <a16:creationId xmlns:a16="http://schemas.microsoft.com/office/drawing/2014/main" xmlns="" id="{4607663F-64F1-4757-A881-DECBA7182ABA}"/>
              </a:ext>
            </a:extLst>
          </p:cNvPr>
          <p:cNvSpPr>
            <a:spLocks noChangeArrowheads="1"/>
          </p:cNvSpPr>
          <p:nvPr/>
        </p:nvSpPr>
        <p:spPr bwMode="auto">
          <a:xfrm>
            <a:off x="4508500" y="3841750"/>
            <a:ext cx="457200" cy="635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fr-FR" altLang="fr-FR"/>
          </a:p>
        </p:txBody>
      </p:sp>
      <p:sp>
        <p:nvSpPr>
          <p:cNvPr id="3" name="Rectangle 3">
            <a:extLst>
              <a:ext uri="{FF2B5EF4-FFF2-40B4-BE49-F238E27FC236}">
                <a16:creationId xmlns:a16="http://schemas.microsoft.com/office/drawing/2014/main" xmlns="" id="{3F6EC9B7-C6ED-4466-6FD2-7163CDA4622F}"/>
              </a:ext>
            </a:extLst>
          </p:cNvPr>
          <p:cNvSpPr txBox="1">
            <a:spLocks noChangeArrowheads="1"/>
          </p:cNvSpPr>
          <p:nvPr/>
        </p:nvSpPr>
        <p:spPr>
          <a:xfrm>
            <a:off x="563563" y="1758950"/>
            <a:ext cx="8016875" cy="1365250"/>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altLang="fr-FR" sz="2400" b="1" dirty="0"/>
              <a:t>Tautologies</a:t>
            </a:r>
            <a:r>
              <a:rPr lang="fr-FR" altLang="fr-FR" sz="2400" dirty="0"/>
              <a:t> : formules toujours vraies</a:t>
            </a:r>
          </a:p>
          <a:p>
            <a:pPr lvl="1"/>
            <a:r>
              <a:rPr lang="fr-FR" altLang="fr-FR" sz="2000" dirty="0"/>
              <a:t>La table de vérité ne contient que des 1</a:t>
            </a:r>
          </a:p>
          <a:p>
            <a:pPr lvl="1"/>
            <a:r>
              <a:rPr lang="fr-FR" altLang="fr-FR" sz="2000" dirty="0"/>
              <a:t>exemple : p </a:t>
            </a:r>
            <a:r>
              <a:rPr lang="fr-FR" altLang="fr-FR" sz="2000" dirty="0">
                <a:sym typeface="Symbol" panose="05050102010706020507" pitchFamily="18" charset="2"/>
              </a:rPr>
              <a:t>  p</a:t>
            </a:r>
            <a:endParaRPr lang="fr-FR" altLang="fr-FR" sz="2000" dirty="0"/>
          </a:p>
        </p:txBody>
      </p:sp>
      <p:grpSp>
        <p:nvGrpSpPr>
          <p:cNvPr id="4" name="Group 9">
            <a:extLst>
              <a:ext uri="{FF2B5EF4-FFF2-40B4-BE49-F238E27FC236}">
                <a16:creationId xmlns:a16="http://schemas.microsoft.com/office/drawing/2014/main" xmlns="" id="{143F0B41-AC5B-A5B7-6D76-4FF37C4AEAAB}"/>
              </a:ext>
            </a:extLst>
          </p:cNvPr>
          <p:cNvGrpSpPr>
            <a:grpSpLocks/>
          </p:cNvGrpSpPr>
          <p:nvPr/>
        </p:nvGrpSpPr>
        <p:grpSpPr bwMode="auto">
          <a:xfrm>
            <a:off x="2819400" y="3352800"/>
            <a:ext cx="2717800" cy="1187450"/>
            <a:chOff x="3792" y="1702"/>
            <a:chExt cx="1712" cy="748"/>
          </a:xfrm>
        </p:grpSpPr>
        <p:sp>
          <p:nvSpPr>
            <p:cNvPr id="5" name="Text Box 4">
              <a:extLst>
                <a:ext uri="{FF2B5EF4-FFF2-40B4-BE49-F238E27FC236}">
                  <a16:creationId xmlns:a16="http://schemas.microsoft.com/office/drawing/2014/main" xmlns="" id="{1237779F-4483-155A-21B1-B65196C92F84}"/>
                </a:ext>
              </a:extLst>
            </p:cNvPr>
            <p:cNvSpPr txBox="1">
              <a:spLocks noChangeArrowheads="1"/>
            </p:cNvSpPr>
            <p:nvPr/>
          </p:nvSpPr>
          <p:spPr bwMode="auto">
            <a:xfrm>
              <a:off x="3878" y="1702"/>
              <a:ext cx="1626"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i="1">
                  <a:latin typeface="Times New Roman" panose="02020603050405020304" pitchFamily="18" charset="0"/>
                </a:rPr>
                <a:t> p  (</a:t>
              </a:r>
              <a:r>
                <a:rPr lang="fr-FR" altLang="fr-FR" i="1">
                  <a:latin typeface="Times New Roman" panose="02020603050405020304" pitchFamily="18" charset="0"/>
                  <a:sym typeface="Symbol" panose="05050102010706020507" pitchFamily="18" charset="2"/>
                </a:rPr>
                <a:t> p)  (</a:t>
              </a:r>
              <a:r>
                <a:rPr lang="fr-FR" altLang="fr-FR" i="1">
                  <a:latin typeface="Times New Roman" panose="02020603050405020304" pitchFamily="18" charset="0"/>
                </a:rPr>
                <a:t>p </a:t>
              </a:r>
              <a:r>
                <a:rPr lang="fr-FR" altLang="fr-FR" i="1">
                  <a:latin typeface="Times New Roman" panose="02020603050405020304" pitchFamily="18" charset="0"/>
                  <a:sym typeface="Symbol" panose="05050102010706020507" pitchFamily="18" charset="2"/>
                </a:rPr>
                <a:t>  p) </a:t>
              </a:r>
            </a:p>
            <a:p>
              <a:r>
                <a:rPr lang="fr-FR" altLang="fr-FR" i="1">
                  <a:latin typeface="Times New Roman" panose="02020603050405020304" pitchFamily="18" charset="0"/>
                  <a:sym typeface="Symbol" panose="05050102010706020507" pitchFamily="18" charset="2"/>
                </a:rPr>
                <a:t>0      </a:t>
              </a:r>
            </a:p>
            <a:p>
              <a:r>
                <a:rPr lang="fr-FR" altLang="fr-FR" i="1">
                  <a:latin typeface="Times New Roman" panose="02020603050405020304" pitchFamily="18" charset="0"/>
                  <a:sym typeface="Symbol" panose="05050102010706020507" pitchFamily="18" charset="2"/>
                </a:rPr>
                <a:t>1      </a:t>
              </a:r>
            </a:p>
          </p:txBody>
        </p:sp>
        <p:sp>
          <p:nvSpPr>
            <p:cNvPr id="6" name="Line 5">
              <a:extLst>
                <a:ext uri="{FF2B5EF4-FFF2-40B4-BE49-F238E27FC236}">
                  <a16:creationId xmlns:a16="http://schemas.microsoft.com/office/drawing/2014/main" xmlns="" id="{B4D78558-8636-4D35-7F4F-2EB4AFBB9751}"/>
                </a:ext>
              </a:extLst>
            </p:cNvPr>
            <p:cNvSpPr>
              <a:spLocks noChangeShapeType="1"/>
            </p:cNvSpPr>
            <p:nvPr/>
          </p:nvSpPr>
          <p:spPr bwMode="auto">
            <a:xfrm>
              <a:off x="3792" y="1988"/>
              <a:ext cx="168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7" name="Line 6">
              <a:extLst>
                <a:ext uri="{FF2B5EF4-FFF2-40B4-BE49-F238E27FC236}">
                  <a16:creationId xmlns:a16="http://schemas.microsoft.com/office/drawing/2014/main" xmlns="" id="{5AB59204-7D22-0A46-3594-1EC76F55A9D8}"/>
                </a:ext>
              </a:extLst>
            </p:cNvPr>
            <p:cNvSpPr>
              <a:spLocks noChangeShapeType="1"/>
            </p:cNvSpPr>
            <p:nvPr/>
          </p:nvSpPr>
          <p:spPr bwMode="auto">
            <a:xfrm>
              <a:off x="4140" y="1776"/>
              <a:ext cx="0" cy="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8" name="Line 8">
              <a:extLst>
                <a:ext uri="{FF2B5EF4-FFF2-40B4-BE49-F238E27FC236}">
                  <a16:creationId xmlns:a16="http://schemas.microsoft.com/office/drawing/2014/main" xmlns="" id="{93FD6540-453C-C4ED-4D61-46718AFCAFD2}"/>
                </a:ext>
              </a:extLst>
            </p:cNvPr>
            <p:cNvSpPr>
              <a:spLocks noChangeShapeType="1"/>
            </p:cNvSpPr>
            <p:nvPr/>
          </p:nvSpPr>
          <p:spPr bwMode="auto">
            <a:xfrm>
              <a:off x="4632" y="1776"/>
              <a:ext cx="0" cy="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sp>
        <p:nvSpPr>
          <p:cNvPr id="9" name="Text Box 10">
            <a:extLst>
              <a:ext uri="{FF2B5EF4-FFF2-40B4-BE49-F238E27FC236}">
                <a16:creationId xmlns:a16="http://schemas.microsoft.com/office/drawing/2014/main" xmlns="" id="{5FEB9AEC-9749-4D80-4993-7EB87951DE97}"/>
              </a:ext>
            </a:extLst>
          </p:cNvPr>
          <p:cNvSpPr txBox="1">
            <a:spLocks noChangeArrowheads="1"/>
          </p:cNvSpPr>
          <p:nvPr/>
        </p:nvSpPr>
        <p:spPr bwMode="auto">
          <a:xfrm>
            <a:off x="3581400" y="37242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i="1">
                <a:latin typeface="Times New Roman" panose="02020603050405020304" pitchFamily="18" charset="0"/>
              </a:rPr>
              <a:t>1</a:t>
            </a:r>
            <a:endParaRPr lang="fr-FR" altLang="fr-FR">
              <a:latin typeface="Times New Roman" panose="02020603050405020304" pitchFamily="18" charset="0"/>
            </a:endParaRPr>
          </a:p>
        </p:txBody>
      </p:sp>
      <p:sp>
        <p:nvSpPr>
          <p:cNvPr id="10" name="Text Box 11">
            <a:extLst>
              <a:ext uri="{FF2B5EF4-FFF2-40B4-BE49-F238E27FC236}">
                <a16:creationId xmlns:a16="http://schemas.microsoft.com/office/drawing/2014/main" xmlns="" id="{A4634C24-D30A-3C02-AB63-C98A1941CD59}"/>
              </a:ext>
            </a:extLst>
          </p:cNvPr>
          <p:cNvSpPr txBox="1">
            <a:spLocks noChangeArrowheads="1"/>
          </p:cNvSpPr>
          <p:nvPr/>
        </p:nvSpPr>
        <p:spPr bwMode="auto">
          <a:xfrm>
            <a:off x="3562350" y="40925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i="1">
                <a:latin typeface="Times New Roman" panose="02020603050405020304" pitchFamily="18" charset="0"/>
              </a:rPr>
              <a:t>0</a:t>
            </a:r>
          </a:p>
        </p:txBody>
      </p:sp>
      <p:sp>
        <p:nvSpPr>
          <p:cNvPr id="11" name="Text Box 12">
            <a:extLst>
              <a:ext uri="{FF2B5EF4-FFF2-40B4-BE49-F238E27FC236}">
                <a16:creationId xmlns:a16="http://schemas.microsoft.com/office/drawing/2014/main" xmlns="" id="{5520E1B1-9B7E-7DA5-EF0C-416BA3ADA44F}"/>
              </a:ext>
            </a:extLst>
          </p:cNvPr>
          <p:cNvSpPr txBox="1">
            <a:spLocks noChangeArrowheads="1"/>
          </p:cNvSpPr>
          <p:nvPr/>
        </p:nvSpPr>
        <p:spPr bwMode="auto">
          <a:xfrm>
            <a:off x="4556125" y="3740150"/>
            <a:ext cx="4127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i="1">
                <a:latin typeface="Times New Roman" panose="02020603050405020304" pitchFamily="18" charset="0"/>
              </a:rPr>
              <a:t>1</a:t>
            </a:r>
          </a:p>
          <a:p>
            <a:r>
              <a:rPr lang="fr-FR" altLang="fr-FR" i="1">
                <a:latin typeface="Times New Roman" panose="02020603050405020304" pitchFamily="18" charset="0"/>
              </a:rPr>
              <a:t>1 </a:t>
            </a:r>
            <a:endParaRPr lang="fr-FR" altLang="fr-FR">
              <a:latin typeface="Times New Roman" panose="02020603050405020304" pitchFamily="18" charset="0"/>
            </a:endParaRPr>
          </a:p>
        </p:txBody>
      </p:sp>
      <p:grpSp>
        <p:nvGrpSpPr>
          <p:cNvPr id="12" name="Group 19">
            <a:extLst>
              <a:ext uri="{FF2B5EF4-FFF2-40B4-BE49-F238E27FC236}">
                <a16:creationId xmlns:a16="http://schemas.microsoft.com/office/drawing/2014/main" xmlns="" id="{7D881A4C-ECDA-1717-1F7B-48497CF418A6}"/>
              </a:ext>
            </a:extLst>
          </p:cNvPr>
          <p:cNvGrpSpPr>
            <a:grpSpLocks/>
          </p:cNvGrpSpPr>
          <p:nvPr/>
        </p:nvGrpSpPr>
        <p:grpSpPr bwMode="auto">
          <a:xfrm>
            <a:off x="3619500" y="5016500"/>
            <a:ext cx="1066800" cy="1190625"/>
            <a:chOff x="4732" y="632"/>
            <a:chExt cx="672" cy="750"/>
          </a:xfrm>
        </p:grpSpPr>
        <p:sp>
          <p:nvSpPr>
            <p:cNvPr id="13" name="Text Box 14">
              <a:extLst>
                <a:ext uri="{FF2B5EF4-FFF2-40B4-BE49-F238E27FC236}">
                  <a16:creationId xmlns:a16="http://schemas.microsoft.com/office/drawing/2014/main" xmlns="" id="{44262581-6267-4E3B-1B94-D76FADE2DEBF}"/>
                </a:ext>
              </a:extLst>
            </p:cNvPr>
            <p:cNvSpPr txBox="1">
              <a:spLocks noChangeArrowheads="1"/>
            </p:cNvSpPr>
            <p:nvPr/>
          </p:nvSpPr>
          <p:spPr bwMode="auto">
            <a:xfrm>
              <a:off x="4896" y="864"/>
              <a:ext cx="45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 0  1</a:t>
              </a:r>
            </a:p>
            <a:p>
              <a:r>
                <a:rPr lang="fr-FR" altLang="fr-FR">
                  <a:latin typeface="Times New Roman" panose="02020603050405020304" pitchFamily="18" charset="0"/>
                </a:rPr>
                <a:t> 1  1</a:t>
              </a:r>
            </a:p>
          </p:txBody>
        </p:sp>
        <p:grpSp>
          <p:nvGrpSpPr>
            <p:cNvPr id="14" name="Group 15">
              <a:extLst>
                <a:ext uri="{FF2B5EF4-FFF2-40B4-BE49-F238E27FC236}">
                  <a16:creationId xmlns:a16="http://schemas.microsoft.com/office/drawing/2014/main" xmlns="" id="{92706AF7-C74C-A475-4DCA-0BF9D1C847FF}"/>
                </a:ext>
              </a:extLst>
            </p:cNvPr>
            <p:cNvGrpSpPr>
              <a:grpSpLocks/>
            </p:cNvGrpSpPr>
            <p:nvPr/>
          </p:nvGrpSpPr>
          <p:grpSpPr bwMode="auto">
            <a:xfrm>
              <a:off x="4732" y="632"/>
              <a:ext cx="672" cy="748"/>
              <a:chOff x="3792" y="1152"/>
              <a:chExt cx="672" cy="748"/>
            </a:xfrm>
          </p:grpSpPr>
          <p:sp>
            <p:nvSpPr>
              <p:cNvPr id="15" name="Text Box 16">
                <a:extLst>
                  <a:ext uri="{FF2B5EF4-FFF2-40B4-BE49-F238E27FC236}">
                    <a16:creationId xmlns:a16="http://schemas.microsoft.com/office/drawing/2014/main" xmlns="" id="{34A831BF-7200-436F-35B8-4DBA014CE801}"/>
                  </a:ext>
                </a:extLst>
              </p:cNvPr>
              <p:cNvSpPr txBox="1">
                <a:spLocks noChangeArrowheads="1"/>
              </p:cNvSpPr>
              <p:nvPr/>
            </p:nvSpPr>
            <p:spPr bwMode="auto">
              <a:xfrm>
                <a:off x="3792" y="1152"/>
                <a:ext cx="616"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dirty="0">
                    <a:latin typeface="Times New Roman" panose="02020603050405020304" pitchFamily="18" charset="0"/>
                    <a:sym typeface="Symbol" panose="05050102010706020507" pitchFamily="18" charset="2"/>
                  </a:rPr>
                  <a:t>  0  1</a:t>
                </a:r>
              </a:p>
              <a:p>
                <a:r>
                  <a:rPr lang="fr-FR" altLang="fr-FR" dirty="0">
                    <a:latin typeface="Times New Roman" panose="02020603050405020304" pitchFamily="18" charset="0"/>
                    <a:sym typeface="Symbol" panose="05050102010706020507" pitchFamily="18" charset="2"/>
                  </a:rPr>
                  <a:t>0  </a:t>
                </a:r>
              </a:p>
              <a:p>
                <a:r>
                  <a:rPr lang="fr-FR" altLang="fr-FR" dirty="0">
                    <a:latin typeface="Times New Roman" panose="02020603050405020304" pitchFamily="18" charset="0"/>
                    <a:sym typeface="Symbol" panose="05050102010706020507" pitchFamily="18" charset="2"/>
                  </a:rPr>
                  <a:t>1</a:t>
                </a:r>
                <a:endParaRPr lang="fr-FR" altLang="fr-FR" dirty="0">
                  <a:latin typeface="Times New Roman" panose="02020603050405020304" pitchFamily="18" charset="0"/>
                </a:endParaRPr>
              </a:p>
            </p:txBody>
          </p:sp>
          <p:sp>
            <p:nvSpPr>
              <p:cNvPr id="16" name="Line 17">
                <a:extLst>
                  <a:ext uri="{FF2B5EF4-FFF2-40B4-BE49-F238E27FC236}">
                    <a16:creationId xmlns:a16="http://schemas.microsoft.com/office/drawing/2014/main" xmlns="" id="{3450CA32-00DE-3558-23F2-F223BC51C705}"/>
                  </a:ext>
                </a:extLst>
              </p:cNvPr>
              <p:cNvSpPr>
                <a:spLocks noChangeShapeType="1"/>
              </p:cNvSpPr>
              <p:nvPr/>
            </p:nvSpPr>
            <p:spPr bwMode="auto">
              <a:xfrm>
                <a:off x="3792" y="1408"/>
                <a:ext cx="67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17" name="Line 18">
                <a:extLst>
                  <a:ext uri="{FF2B5EF4-FFF2-40B4-BE49-F238E27FC236}">
                    <a16:creationId xmlns:a16="http://schemas.microsoft.com/office/drawing/2014/main" xmlns="" id="{C6C25F60-97E7-F18C-1AAD-6A6AC2FC0391}"/>
                  </a:ext>
                </a:extLst>
              </p:cNvPr>
              <p:cNvSpPr>
                <a:spLocks noChangeShapeType="1"/>
              </p:cNvSpPr>
              <p:nvPr/>
            </p:nvSpPr>
            <p:spPr bwMode="auto">
              <a:xfrm>
                <a:off x="3988" y="1248"/>
                <a:ext cx="0" cy="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grpSp>
      <p:sp>
        <p:nvSpPr>
          <p:cNvPr id="18" name="Titre 1">
            <a:extLst>
              <a:ext uri="{FF2B5EF4-FFF2-40B4-BE49-F238E27FC236}">
                <a16:creationId xmlns:a16="http://schemas.microsoft.com/office/drawing/2014/main" xmlns="" id="{196405D3-B02B-30A5-E9C8-6535614BA7F3}"/>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Formules particulières(1)</a:t>
            </a:r>
            <a:endParaRPr lang="fr-FR" dirty="0"/>
          </a:p>
        </p:txBody>
      </p:sp>
    </p:spTree>
    <p:extLst>
      <p:ext uri="{BB962C8B-B14F-4D97-AF65-F5344CB8AC3E}">
        <p14:creationId xmlns:p14="http://schemas.microsoft.com/office/powerpoint/2010/main" val="240073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500" fill="hold"/>
                                        <p:tgtEl>
                                          <p:spTgt spid="9"/>
                                        </p:tgtEl>
                                        <p:attrNameLst>
                                          <p:attrName>ppt_w</p:attrName>
                                        </p:attrNameLst>
                                      </p:cBhvr>
                                      <p:tavLst>
                                        <p:tav tm="0">
                                          <p:val>
                                            <p:fltVal val="0"/>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1+#ppt_w/2"/>
                                          </p:val>
                                        </p:tav>
                                        <p:tav tm="100000">
                                          <p:val>
                                            <p:strVal val="#ppt_x"/>
                                          </p:val>
                                        </p:tav>
                                      </p:tavLst>
                                    </p:anim>
                                    <p:anim calcmode="lin" valueType="num">
                                      <p:cBhvr additive="base">
                                        <p:cTn id="26"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ppt_w</p:attrName>
                                        </p:attrNameLst>
                                      </p:cBhvr>
                                      <p:tavLst>
                                        <p:tav tm="0">
                                          <p:val>
                                            <p:fltVal val="0"/>
                                          </p:val>
                                        </p:tav>
                                        <p:tav tm="100000">
                                          <p:val>
                                            <p:strVal val="#ppt_w"/>
                                          </p:val>
                                        </p:tav>
                                      </p:tavLst>
                                    </p:anim>
                                    <p:anim calcmode="lin" valueType="num">
                                      <p:cBhvr>
                                        <p:cTn id="32"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32"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p:cTn id="37" dur="500" fill="hold"/>
                                        <p:tgtEl>
                                          <p:spTgt spid="2"/>
                                        </p:tgtEl>
                                        <p:attrNameLst>
                                          <p:attrName>ppt_w</p:attrName>
                                        </p:attrNameLst>
                                      </p:cBhvr>
                                      <p:tavLst>
                                        <p:tav tm="0">
                                          <p:val>
                                            <p:strVal val="4*#ppt_w"/>
                                          </p:val>
                                        </p:tav>
                                        <p:tav tm="100000">
                                          <p:val>
                                            <p:strVal val="#ppt_w"/>
                                          </p:val>
                                        </p:tav>
                                      </p:tavLst>
                                    </p:anim>
                                    <p:anim calcmode="lin" valueType="num">
                                      <p:cBhvr>
                                        <p:cTn id="38" dur="500" fill="hold"/>
                                        <p:tgtEl>
                                          <p:spTgt spid="2"/>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utoUpdateAnimBg="0"/>
      <p:bldP spid="10" grpId="0" autoUpdateAnimBg="0"/>
      <p:bldP spid="11"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0">
            <a:extLst>
              <a:ext uri="{FF2B5EF4-FFF2-40B4-BE49-F238E27FC236}">
                <a16:creationId xmlns:a16="http://schemas.microsoft.com/office/drawing/2014/main" xmlns="" id="{27B92680-4E7A-51C6-A569-37357162E237}"/>
              </a:ext>
            </a:extLst>
          </p:cNvPr>
          <p:cNvSpPr>
            <a:spLocks noChangeArrowheads="1"/>
          </p:cNvSpPr>
          <p:nvPr/>
        </p:nvSpPr>
        <p:spPr bwMode="auto">
          <a:xfrm>
            <a:off x="3118048" y="4509170"/>
            <a:ext cx="3048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fr-FR" altLang="fr-FR"/>
          </a:p>
        </p:txBody>
      </p:sp>
      <p:sp>
        <p:nvSpPr>
          <p:cNvPr id="59" name="Rectangle 49">
            <a:extLst>
              <a:ext uri="{FF2B5EF4-FFF2-40B4-BE49-F238E27FC236}">
                <a16:creationId xmlns:a16="http://schemas.microsoft.com/office/drawing/2014/main" xmlns="" id="{DF95CB17-C846-C750-0741-39D9F091264C}"/>
              </a:ext>
            </a:extLst>
          </p:cNvPr>
          <p:cNvSpPr>
            <a:spLocks noChangeArrowheads="1"/>
          </p:cNvSpPr>
          <p:nvPr/>
        </p:nvSpPr>
        <p:spPr bwMode="auto">
          <a:xfrm>
            <a:off x="3118048" y="4128170"/>
            <a:ext cx="3048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fr-FR" altLang="fr-FR"/>
          </a:p>
        </p:txBody>
      </p:sp>
      <p:sp>
        <p:nvSpPr>
          <p:cNvPr id="60" name="Rectangle 48">
            <a:extLst>
              <a:ext uri="{FF2B5EF4-FFF2-40B4-BE49-F238E27FC236}">
                <a16:creationId xmlns:a16="http://schemas.microsoft.com/office/drawing/2014/main" xmlns="" id="{EDE263F5-A3D6-9772-8C54-A7561FE41297}"/>
              </a:ext>
            </a:extLst>
          </p:cNvPr>
          <p:cNvSpPr>
            <a:spLocks noChangeArrowheads="1"/>
          </p:cNvSpPr>
          <p:nvPr/>
        </p:nvSpPr>
        <p:spPr bwMode="auto">
          <a:xfrm>
            <a:off x="3118048" y="3747170"/>
            <a:ext cx="3048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fr-FR" altLang="fr-FR"/>
          </a:p>
        </p:txBody>
      </p:sp>
      <p:sp>
        <p:nvSpPr>
          <p:cNvPr id="61" name="Rectangle 47">
            <a:extLst>
              <a:ext uri="{FF2B5EF4-FFF2-40B4-BE49-F238E27FC236}">
                <a16:creationId xmlns:a16="http://schemas.microsoft.com/office/drawing/2014/main" xmlns="" id="{0AB9AED3-6548-4EF8-8F3A-1180F7CCD8E0}"/>
              </a:ext>
            </a:extLst>
          </p:cNvPr>
          <p:cNvSpPr>
            <a:spLocks noChangeArrowheads="1"/>
          </p:cNvSpPr>
          <p:nvPr/>
        </p:nvSpPr>
        <p:spPr bwMode="auto">
          <a:xfrm>
            <a:off x="3118048" y="3366170"/>
            <a:ext cx="3048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fr-FR" altLang="fr-FR"/>
          </a:p>
        </p:txBody>
      </p:sp>
      <p:sp>
        <p:nvSpPr>
          <p:cNvPr id="62" name="Rectangle 58">
            <a:extLst>
              <a:ext uri="{FF2B5EF4-FFF2-40B4-BE49-F238E27FC236}">
                <a16:creationId xmlns:a16="http://schemas.microsoft.com/office/drawing/2014/main" xmlns="" id="{60E9ED4D-A02F-E3AC-A5D8-3712940C0C43}"/>
              </a:ext>
            </a:extLst>
          </p:cNvPr>
          <p:cNvSpPr>
            <a:spLocks noChangeArrowheads="1"/>
          </p:cNvSpPr>
          <p:nvPr/>
        </p:nvSpPr>
        <p:spPr bwMode="auto">
          <a:xfrm>
            <a:off x="6261298" y="4534570"/>
            <a:ext cx="3048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fr-FR" altLang="fr-FR"/>
          </a:p>
        </p:txBody>
      </p:sp>
      <p:sp>
        <p:nvSpPr>
          <p:cNvPr id="63" name="Rectangle 57">
            <a:extLst>
              <a:ext uri="{FF2B5EF4-FFF2-40B4-BE49-F238E27FC236}">
                <a16:creationId xmlns:a16="http://schemas.microsoft.com/office/drawing/2014/main" xmlns="" id="{985BC04D-97D3-EEEA-BA40-640CD463B3AC}"/>
              </a:ext>
            </a:extLst>
          </p:cNvPr>
          <p:cNvSpPr>
            <a:spLocks noChangeArrowheads="1"/>
          </p:cNvSpPr>
          <p:nvPr/>
        </p:nvSpPr>
        <p:spPr bwMode="auto">
          <a:xfrm>
            <a:off x="6261298" y="4153570"/>
            <a:ext cx="3048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fr-FR" altLang="fr-FR"/>
          </a:p>
        </p:txBody>
      </p:sp>
      <p:sp>
        <p:nvSpPr>
          <p:cNvPr id="64" name="Rectangle 56">
            <a:extLst>
              <a:ext uri="{FF2B5EF4-FFF2-40B4-BE49-F238E27FC236}">
                <a16:creationId xmlns:a16="http://schemas.microsoft.com/office/drawing/2014/main" xmlns="" id="{6B9D5CEE-F5BC-88E5-1AF9-79ACAEC3E252}"/>
              </a:ext>
            </a:extLst>
          </p:cNvPr>
          <p:cNvSpPr>
            <a:spLocks noChangeArrowheads="1"/>
          </p:cNvSpPr>
          <p:nvPr/>
        </p:nvSpPr>
        <p:spPr bwMode="auto">
          <a:xfrm>
            <a:off x="6261298" y="3772570"/>
            <a:ext cx="3048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fr-FR" altLang="fr-FR"/>
          </a:p>
        </p:txBody>
      </p:sp>
      <p:sp>
        <p:nvSpPr>
          <p:cNvPr id="65" name="Rectangle 55">
            <a:extLst>
              <a:ext uri="{FF2B5EF4-FFF2-40B4-BE49-F238E27FC236}">
                <a16:creationId xmlns:a16="http://schemas.microsoft.com/office/drawing/2014/main" xmlns="" id="{1BB932B3-53D6-4AF0-637B-A64A938812F2}"/>
              </a:ext>
            </a:extLst>
          </p:cNvPr>
          <p:cNvSpPr>
            <a:spLocks noChangeArrowheads="1"/>
          </p:cNvSpPr>
          <p:nvPr/>
        </p:nvSpPr>
        <p:spPr bwMode="auto">
          <a:xfrm>
            <a:off x="6261298" y="3391570"/>
            <a:ext cx="304800" cy="381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fr-FR" altLang="fr-FR"/>
          </a:p>
        </p:txBody>
      </p:sp>
      <p:sp>
        <p:nvSpPr>
          <p:cNvPr id="66" name="Rectangle 59">
            <a:extLst>
              <a:ext uri="{FF2B5EF4-FFF2-40B4-BE49-F238E27FC236}">
                <a16:creationId xmlns:a16="http://schemas.microsoft.com/office/drawing/2014/main" xmlns="" id="{3A4BAA73-BD48-5BF2-AC36-1495F5661C7D}"/>
              </a:ext>
            </a:extLst>
          </p:cNvPr>
          <p:cNvSpPr>
            <a:spLocks noChangeArrowheads="1"/>
          </p:cNvSpPr>
          <p:nvPr/>
        </p:nvSpPr>
        <p:spPr bwMode="auto">
          <a:xfrm>
            <a:off x="7461448" y="3366170"/>
            <a:ext cx="381000" cy="1524000"/>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fr-FR" altLang="fr-FR"/>
          </a:p>
        </p:txBody>
      </p:sp>
      <p:sp>
        <p:nvSpPr>
          <p:cNvPr id="67" name="Rectangle 2">
            <a:extLst>
              <a:ext uri="{FF2B5EF4-FFF2-40B4-BE49-F238E27FC236}">
                <a16:creationId xmlns:a16="http://schemas.microsoft.com/office/drawing/2014/main" xmlns="" id="{C34E9C7D-C230-CF76-779E-D8315FBA80A7}"/>
              </a:ext>
            </a:extLst>
          </p:cNvPr>
          <p:cNvSpPr txBox="1">
            <a:spLocks noChangeArrowheads="1"/>
          </p:cNvSpPr>
          <p:nvPr/>
        </p:nvSpPr>
        <p:spPr>
          <a:xfrm>
            <a:off x="176411" y="908720"/>
            <a:ext cx="8158162" cy="1108075"/>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a:t>    ?  </a:t>
            </a:r>
            <a:endParaRPr lang="fr-FR" altLang="fr-FR" dirty="0"/>
          </a:p>
        </p:txBody>
      </p:sp>
      <p:grpSp>
        <p:nvGrpSpPr>
          <p:cNvPr id="68" name="Group 7">
            <a:extLst>
              <a:ext uri="{FF2B5EF4-FFF2-40B4-BE49-F238E27FC236}">
                <a16:creationId xmlns:a16="http://schemas.microsoft.com/office/drawing/2014/main" xmlns="" id="{7A8FB6F1-23A6-41FB-5829-C0D061B3078D}"/>
              </a:ext>
            </a:extLst>
          </p:cNvPr>
          <p:cNvGrpSpPr>
            <a:grpSpLocks/>
          </p:cNvGrpSpPr>
          <p:nvPr/>
        </p:nvGrpSpPr>
        <p:grpSpPr bwMode="auto">
          <a:xfrm>
            <a:off x="603448" y="1003970"/>
            <a:ext cx="152400" cy="457200"/>
            <a:chOff x="528" y="384"/>
            <a:chExt cx="96" cy="288"/>
          </a:xfrm>
        </p:grpSpPr>
        <p:sp>
          <p:nvSpPr>
            <p:cNvPr id="69" name="Line 5">
              <a:extLst>
                <a:ext uri="{FF2B5EF4-FFF2-40B4-BE49-F238E27FC236}">
                  <a16:creationId xmlns:a16="http://schemas.microsoft.com/office/drawing/2014/main" xmlns="" id="{07994A09-AF1D-18C3-C973-139A6BD6239F}"/>
                </a:ext>
              </a:extLst>
            </p:cNvPr>
            <p:cNvSpPr>
              <a:spLocks noChangeShapeType="1"/>
            </p:cNvSpPr>
            <p:nvPr/>
          </p:nvSpPr>
          <p:spPr bwMode="auto">
            <a:xfrm>
              <a:off x="528" y="384"/>
              <a:ext cx="0"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70" name="Line 6">
              <a:extLst>
                <a:ext uri="{FF2B5EF4-FFF2-40B4-BE49-F238E27FC236}">
                  <a16:creationId xmlns:a16="http://schemas.microsoft.com/office/drawing/2014/main" xmlns="" id="{FE4CBB26-DA8C-8C56-A191-1E48B98AA741}"/>
                </a:ext>
              </a:extLst>
            </p:cNvPr>
            <p:cNvSpPr>
              <a:spLocks noChangeShapeType="1"/>
            </p:cNvSpPr>
            <p:nvPr/>
          </p:nvSpPr>
          <p:spPr bwMode="auto">
            <a:xfrm>
              <a:off x="528" y="52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graphicFrame>
        <p:nvGraphicFramePr>
          <p:cNvPr id="71" name="Object 8">
            <a:extLst>
              <a:ext uri="{FF2B5EF4-FFF2-40B4-BE49-F238E27FC236}">
                <a16:creationId xmlns:a16="http://schemas.microsoft.com/office/drawing/2014/main" xmlns="" id="{EC099DE9-2AAC-7F6A-A8DD-48A1CBAC0969}"/>
              </a:ext>
            </a:extLst>
          </p:cNvPr>
          <p:cNvGraphicFramePr>
            <a:graphicFrameLocks noChangeAspect="1"/>
          </p:cNvGraphicFramePr>
          <p:nvPr>
            <p:extLst>
              <p:ext uri="{D42A27DB-BD31-4B8C-83A1-F6EECF244321}">
                <p14:modId xmlns:p14="http://schemas.microsoft.com/office/powerpoint/2010/main" val="553849820"/>
              </p:ext>
            </p:extLst>
          </p:nvPr>
        </p:nvGraphicFramePr>
        <p:xfrm>
          <a:off x="1136848" y="1003970"/>
          <a:ext cx="3276600" cy="460375"/>
        </p:xfrm>
        <a:graphic>
          <a:graphicData uri="http://schemas.openxmlformats.org/presentationml/2006/ole">
            <mc:AlternateContent xmlns:mc="http://schemas.openxmlformats.org/markup-compatibility/2006">
              <mc:Choice xmlns:v="urn:schemas-microsoft-com:vml" Requires="v">
                <p:oleObj spid="_x0000_s2050" name="Équation" r:id="rId3" imgW="1435100" imgH="203200" progId="Equation.3">
                  <p:embed/>
                </p:oleObj>
              </mc:Choice>
              <mc:Fallback>
                <p:oleObj name="Équation" r:id="rId3" imgW="1435100" imgH="203200" progId="Equation.3">
                  <p:embed/>
                  <p:pic>
                    <p:nvPicPr>
                      <p:cNvPr id="23565" name="Object 8">
                        <a:extLst>
                          <a:ext uri="{FF2B5EF4-FFF2-40B4-BE49-F238E27FC236}">
                            <a16:creationId xmlns:a16="http://schemas.microsoft.com/office/drawing/2014/main" xmlns="" id="{98693A69-6DDE-3BBB-0075-1814F6E9E9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6848" y="1003970"/>
                        <a:ext cx="3276600"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2" name="Group 60">
            <a:extLst>
              <a:ext uri="{FF2B5EF4-FFF2-40B4-BE49-F238E27FC236}">
                <a16:creationId xmlns:a16="http://schemas.microsoft.com/office/drawing/2014/main" xmlns="" id="{DA31713D-DC68-48A0-C342-BCB0D8957FCC}"/>
              </a:ext>
            </a:extLst>
          </p:cNvPr>
          <p:cNvGrpSpPr>
            <a:grpSpLocks/>
          </p:cNvGrpSpPr>
          <p:nvPr/>
        </p:nvGrpSpPr>
        <p:grpSpPr bwMode="auto">
          <a:xfrm>
            <a:off x="374848" y="2604170"/>
            <a:ext cx="7580313" cy="2362200"/>
            <a:chOff x="480" y="1296"/>
            <a:chExt cx="4775" cy="1488"/>
          </a:xfrm>
        </p:grpSpPr>
        <p:sp>
          <p:nvSpPr>
            <p:cNvPr id="73" name="Text Box 9">
              <a:extLst>
                <a:ext uri="{FF2B5EF4-FFF2-40B4-BE49-F238E27FC236}">
                  <a16:creationId xmlns:a16="http://schemas.microsoft.com/office/drawing/2014/main" xmlns="" id="{17DB59CD-75F9-87A6-94FF-480F0A61FF3A}"/>
                </a:ext>
              </a:extLst>
            </p:cNvPr>
            <p:cNvSpPr txBox="1">
              <a:spLocks noChangeArrowheads="1"/>
            </p:cNvSpPr>
            <p:nvPr/>
          </p:nvSpPr>
          <p:spPr bwMode="auto">
            <a:xfrm>
              <a:off x="528" y="1296"/>
              <a:ext cx="4727" cy="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p   q    ¬ p    ¬ q      p </a:t>
              </a:r>
              <a:r>
                <a:rPr lang="fr-FR" altLang="fr-FR">
                  <a:latin typeface="Times New Roman" panose="02020603050405020304" pitchFamily="18" charset="0"/>
                  <a:sym typeface="Symbol" panose="05050102010706020507" pitchFamily="18" charset="2"/>
                </a:rPr>
                <a:t> q      </a:t>
              </a:r>
              <a:r>
                <a:rPr lang="fr-FR" altLang="fr-FR">
                  <a:latin typeface="Times New Roman" panose="02020603050405020304" pitchFamily="18" charset="0"/>
                </a:rPr>
                <a:t>¬ ( p </a:t>
              </a:r>
              <a:r>
                <a:rPr lang="fr-FR" altLang="fr-FR">
                  <a:latin typeface="Times New Roman" panose="02020603050405020304" pitchFamily="18" charset="0"/>
                  <a:sym typeface="Symbol" panose="05050102010706020507" pitchFamily="18" charset="2"/>
                </a:rPr>
                <a:t> q )     (</a:t>
              </a:r>
              <a:r>
                <a:rPr lang="fr-FR" altLang="fr-FR">
                  <a:latin typeface="Times New Roman" panose="02020603050405020304" pitchFamily="18" charset="0"/>
                </a:rPr>
                <a:t>¬</a:t>
              </a:r>
              <a:r>
                <a:rPr lang="fr-FR" altLang="fr-FR">
                  <a:latin typeface="Times New Roman" panose="02020603050405020304" pitchFamily="18" charset="0"/>
                  <a:sym typeface="Symbol" panose="05050102010706020507" pitchFamily="18" charset="2"/>
                </a:rPr>
                <a:t> </a:t>
              </a:r>
              <a:r>
                <a:rPr lang="fr-FR" altLang="fr-FR">
                  <a:latin typeface="Times New Roman" panose="02020603050405020304" pitchFamily="18" charset="0"/>
                </a:rPr>
                <a:t>p </a:t>
              </a:r>
              <a:r>
                <a:rPr lang="fr-FR" altLang="fr-FR">
                  <a:latin typeface="Times New Roman" panose="02020603050405020304" pitchFamily="18" charset="0"/>
                  <a:sym typeface="Symbol" panose="05050102010706020507" pitchFamily="18" charset="2"/>
                </a:rPr>
                <a:t> </a:t>
              </a:r>
              <a:r>
                <a:rPr lang="fr-FR" altLang="fr-FR">
                  <a:latin typeface="Times New Roman" panose="02020603050405020304" pitchFamily="18" charset="0"/>
                </a:rPr>
                <a:t>¬</a:t>
              </a:r>
              <a:r>
                <a:rPr lang="fr-FR" altLang="fr-FR">
                  <a:latin typeface="Times New Roman" panose="02020603050405020304" pitchFamily="18" charset="0"/>
                  <a:sym typeface="Symbol" panose="05050102010706020507" pitchFamily="18" charset="2"/>
                </a:rPr>
                <a:t> q)       F  </a:t>
              </a:r>
            </a:p>
            <a:p>
              <a:endParaRPr lang="fr-FR" altLang="fr-FR">
                <a:latin typeface="Times New Roman" panose="02020603050405020304" pitchFamily="18" charset="0"/>
                <a:sym typeface="Symbol" panose="05050102010706020507" pitchFamily="18" charset="2"/>
              </a:endParaRPr>
            </a:p>
            <a:p>
              <a:r>
                <a:rPr lang="fr-FR" altLang="fr-FR">
                  <a:latin typeface="Times New Roman" panose="02020603050405020304" pitchFamily="18" charset="0"/>
                  <a:sym typeface="Symbol" panose="05050102010706020507" pitchFamily="18" charset="2"/>
                </a:rPr>
                <a:t>0   0</a:t>
              </a:r>
            </a:p>
            <a:p>
              <a:r>
                <a:rPr lang="fr-FR" altLang="fr-FR">
                  <a:latin typeface="Times New Roman" panose="02020603050405020304" pitchFamily="18" charset="0"/>
                  <a:sym typeface="Symbol" panose="05050102010706020507" pitchFamily="18" charset="2"/>
                </a:rPr>
                <a:t>0   1</a:t>
              </a:r>
            </a:p>
            <a:p>
              <a:r>
                <a:rPr lang="fr-FR" altLang="fr-FR">
                  <a:latin typeface="Times New Roman" panose="02020603050405020304" pitchFamily="18" charset="0"/>
                  <a:sym typeface="Symbol" panose="05050102010706020507" pitchFamily="18" charset="2"/>
                </a:rPr>
                <a:t>1   0</a:t>
              </a:r>
            </a:p>
            <a:p>
              <a:r>
                <a:rPr lang="fr-FR" altLang="fr-FR">
                  <a:latin typeface="Times New Roman" panose="02020603050405020304" pitchFamily="18" charset="0"/>
                  <a:sym typeface="Symbol" panose="05050102010706020507" pitchFamily="18" charset="2"/>
                </a:rPr>
                <a:t>1   1 </a:t>
              </a:r>
            </a:p>
          </p:txBody>
        </p:sp>
        <p:sp>
          <p:nvSpPr>
            <p:cNvPr id="74" name="Line 10">
              <a:extLst>
                <a:ext uri="{FF2B5EF4-FFF2-40B4-BE49-F238E27FC236}">
                  <a16:creationId xmlns:a16="http://schemas.microsoft.com/office/drawing/2014/main" xmlns="" id="{C47C3DB3-8565-99F5-D053-0FDDB74C00B8}"/>
                </a:ext>
              </a:extLst>
            </p:cNvPr>
            <p:cNvSpPr>
              <a:spLocks noChangeShapeType="1"/>
            </p:cNvSpPr>
            <p:nvPr/>
          </p:nvSpPr>
          <p:spPr bwMode="auto">
            <a:xfrm>
              <a:off x="480" y="1632"/>
              <a:ext cx="475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75" name="Line 11">
              <a:extLst>
                <a:ext uri="{FF2B5EF4-FFF2-40B4-BE49-F238E27FC236}">
                  <a16:creationId xmlns:a16="http://schemas.microsoft.com/office/drawing/2014/main" xmlns="" id="{89D8E20C-AECF-77C9-CAA3-B8D21A208EA2}"/>
                </a:ext>
              </a:extLst>
            </p:cNvPr>
            <p:cNvSpPr>
              <a:spLocks noChangeShapeType="1"/>
            </p:cNvSpPr>
            <p:nvPr/>
          </p:nvSpPr>
          <p:spPr bwMode="auto">
            <a:xfrm>
              <a:off x="768" y="1296"/>
              <a:ext cx="0" cy="14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76" name="Line 12">
              <a:extLst>
                <a:ext uri="{FF2B5EF4-FFF2-40B4-BE49-F238E27FC236}">
                  <a16:creationId xmlns:a16="http://schemas.microsoft.com/office/drawing/2014/main" xmlns="" id="{8E68BE7E-4D47-7D5D-8D2C-2821447CDF47}"/>
                </a:ext>
              </a:extLst>
            </p:cNvPr>
            <p:cNvSpPr>
              <a:spLocks noChangeShapeType="1"/>
            </p:cNvSpPr>
            <p:nvPr/>
          </p:nvSpPr>
          <p:spPr bwMode="auto">
            <a:xfrm>
              <a:off x="1056" y="1296"/>
              <a:ext cx="0" cy="14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77" name="Line 13">
              <a:extLst>
                <a:ext uri="{FF2B5EF4-FFF2-40B4-BE49-F238E27FC236}">
                  <a16:creationId xmlns:a16="http://schemas.microsoft.com/office/drawing/2014/main" xmlns="" id="{445D6586-317D-0051-A8F1-11BF5F72B8EF}"/>
                </a:ext>
              </a:extLst>
            </p:cNvPr>
            <p:cNvSpPr>
              <a:spLocks noChangeShapeType="1"/>
            </p:cNvSpPr>
            <p:nvPr/>
          </p:nvSpPr>
          <p:spPr bwMode="auto">
            <a:xfrm>
              <a:off x="1488" y="1296"/>
              <a:ext cx="0" cy="14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78" name="Line 14">
              <a:extLst>
                <a:ext uri="{FF2B5EF4-FFF2-40B4-BE49-F238E27FC236}">
                  <a16:creationId xmlns:a16="http://schemas.microsoft.com/office/drawing/2014/main" xmlns="" id="{78F3C992-1C5F-DA08-50AD-65C4C6C72E6D}"/>
                </a:ext>
              </a:extLst>
            </p:cNvPr>
            <p:cNvSpPr>
              <a:spLocks noChangeShapeType="1"/>
            </p:cNvSpPr>
            <p:nvPr/>
          </p:nvSpPr>
          <p:spPr bwMode="auto">
            <a:xfrm>
              <a:off x="1968" y="1296"/>
              <a:ext cx="0" cy="14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79" name="Line 15">
              <a:extLst>
                <a:ext uri="{FF2B5EF4-FFF2-40B4-BE49-F238E27FC236}">
                  <a16:creationId xmlns:a16="http://schemas.microsoft.com/office/drawing/2014/main" xmlns="" id="{982EA26D-35E9-5F3D-9761-A72770C84B0C}"/>
                </a:ext>
              </a:extLst>
            </p:cNvPr>
            <p:cNvSpPr>
              <a:spLocks noChangeShapeType="1"/>
            </p:cNvSpPr>
            <p:nvPr/>
          </p:nvSpPr>
          <p:spPr bwMode="auto">
            <a:xfrm>
              <a:off x="2640" y="1296"/>
              <a:ext cx="0" cy="14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80" name="Line 16">
              <a:extLst>
                <a:ext uri="{FF2B5EF4-FFF2-40B4-BE49-F238E27FC236}">
                  <a16:creationId xmlns:a16="http://schemas.microsoft.com/office/drawing/2014/main" xmlns="" id="{1C80DF92-EF63-F98F-40C0-7EFDB809DB6B}"/>
                </a:ext>
              </a:extLst>
            </p:cNvPr>
            <p:cNvSpPr>
              <a:spLocks noChangeShapeType="1"/>
            </p:cNvSpPr>
            <p:nvPr/>
          </p:nvSpPr>
          <p:spPr bwMode="auto">
            <a:xfrm>
              <a:off x="3696" y="1296"/>
              <a:ext cx="0" cy="14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81" name="Line 17">
              <a:extLst>
                <a:ext uri="{FF2B5EF4-FFF2-40B4-BE49-F238E27FC236}">
                  <a16:creationId xmlns:a16="http://schemas.microsoft.com/office/drawing/2014/main" xmlns="" id="{9C1B6896-441E-EEE9-360C-BDC062D5ED55}"/>
                </a:ext>
              </a:extLst>
            </p:cNvPr>
            <p:cNvSpPr>
              <a:spLocks noChangeShapeType="1"/>
            </p:cNvSpPr>
            <p:nvPr/>
          </p:nvSpPr>
          <p:spPr bwMode="auto">
            <a:xfrm>
              <a:off x="4800" y="1296"/>
              <a:ext cx="0" cy="14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sp>
        <p:nvSpPr>
          <p:cNvPr id="82" name="Text Box 18">
            <a:extLst>
              <a:ext uri="{FF2B5EF4-FFF2-40B4-BE49-F238E27FC236}">
                <a16:creationId xmlns:a16="http://schemas.microsoft.com/office/drawing/2014/main" xmlns="" id="{DD513C6B-0F00-41FB-9316-EDB9117AAED3}"/>
              </a:ext>
            </a:extLst>
          </p:cNvPr>
          <p:cNvSpPr txBox="1">
            <a:spLocks noChangeArrowheads="1"/>
          </p:cNvSpPr>
          <p:nvPr/>
        </p:nvSpPr>
        <p:spPr bwMode="auto">
          <a:xfrm>
            <a:off x="1451173" y="3340770"/>
            <a:ext cx="3365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1</a:t>
            </a:r>
          </a:p>
          <a:p>
            <a:r>
              <a:rPr lang="fr-FR" altLang="fr-FR">
                <a:latin typeface="Times New Roman" panose="02020603050405020304" pitchFamily="18" charset="0"/>
              </a:rPr>
              <a:t>1</a:t>
            </a:r>
          </a:p>
          <a:p>
            <a:r>
              <a:rPr lang="fr-FR" altLang="fr-FR">
                <a:latin typeface="Times New Roman" panose="02020603050405020304" pitchFamily="18" charset="0"/>
              </a:rPr>
              <a:t>0</a:t>
            </a:r>
          </a:p>
          <a:p>
            <a:r>
              <a:rPr lang="fr-FR" altLang="fr-FR">
                <a:latin typeface="Times New Roman" panose="02020603050405020304" pitchFamily="18" charset="0"/>
              </a:rPr>
              <a:t>0</a:t>
            </a:r>
          </a:p>
        </p:txBody>
      </p:sp>
      <p:sp>
        <p:nvSpPr>
          <p:cNvPr id="83" name="Text Box 19">
            <a:extLst>
              <a:ext uri="{FF2B5EF4-FFF2-40B4-BE49-F238E27FC236}">
                <a16:creationId xmlns:a16="http://schemas.microsoft.com/office/drawing/2014/main" xmlns="" id="{9C3BFAA1-1BA0-6D29-89EA-8F7E34E8EA2F}"/>
              </a:ext>
            </a:extLst>
          </p:cNvPr>
          <p:cNvSpPr txBox="1">
            <a:spLocks noChangeArrowheads="1"/>
          </p:cNvSpPr>
          <p:nvPr/>
        </p:nvSpPr>
        <p:spPr bwMode="auto">
          <a:xfrm>
            <a:off x="2203648" y="3340770"/>
            <a:ext cx="3365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1</a:t>
            </a:r>
          </a:p>
          <a:p>
            <a:r>
              <a:rPr lang="fr-FR" altLang="fr-FR">
                <a:latin typeface="Times New Roman" panose="02020603050405020304" pitchFamily="18" charset="0"/>
              </a:rPr>
              <a:t>0</a:t>
            </a:r>
          </a:p>
          <a:p>
            <a:r>
              <a:rPr lang="fr-FR" altLang="fr-FR">
                <a:latin typeface="Times New Roman" panose="02020603050405020304" pitchFamily="18" charset="0"/>
              </a:rPr>
              <a:t>1</a:t>
            </a:r>
          </a:p>
          <a:p>
            <a:r>
              <a:rPr lang="fr-FR" altLang="fr-FR">
                <a:latin typeface="Times New Roman" panose="02020603050405020304" pitchFamily="18" charset="0"/>
              </a:rPr>
              <a:t>0</a:t>
            </a:r>
          </a:p>
        </p:txBody>
      </p:sp>
      <p:grpSp>
        <p:nvGrpSpPr>
          <p:cNvPr id="84" name="Group 61">
            <a:extLst>
              <a:ext uri="{FF2B5EF4-FFF2-40B4-BE49-F238E27FC236}">
                <a16:creationId xmlns:a16="http://schemas.microsoft.com/office/drawing/2014/main" xmlns="" id="{5741FDF1-B69A-4003-517E-1217FA3A989B}"/>
              </a:ext>
            </a:extLst>
          </p:cNvPr>
          <p:cNvGrpSpPr>
            <a:grpSpLocks/>
          </p:cNvGrpSpPr>
          <p:nvPr/>
        </p:nvGrpSpPr>
        <p:grpSpPr bwMode="auto">
          <a:xfrm>
            <a:off x="2794198" y="5214020"/>
            <a:ext cx="1066800" cy="1187450"/>
            <a:chOff x="2004" y="2940"/>
            <a:chExt cx="672" cy="748"/>
          </a:xfrm>
        </p:grpSpPr>
        <p:sp>
          <p:nvSpPr>
            <p:cNvPr id="85" name="Text Box 20">
              <a:extLst>
                <a:ext uri="{FF2B5EF4-FFF2-40B4-BE49-F238E27FC236}">
                  <a16:creationId xmlns:a16="http://schemas.microsoft.com/office/drawing/2014/main" xmlns="" id="{4293CA23-9AF3-D6A7-8D57-FEAD464CDEF9}"/>
                </a:ext>
              </a:extLst>
            </p:cNvPr>
            <p:cNvSpPr txBox="1">
              <a:spLocks noChangeArrowheads="1"/>
            </p:cNvSpPr>
            <p:nvPr/>
          </p:nvSpPr>
          <p:spPr bwMode="auto">
            <a:xfrm>
              <a:off x="2208" y="3168"/>
              <a:ext cx="40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0  0</a:t>
              </a:r>
            </a:p>
            <a:p>
              <a:r>
                <a:rPr lang="fr-FR" altLang="fr-FR">
                  <a:latin typeface="Times New Roman" panose="02020603050405020304" pitchFamily="18" charset="0"/>
                </a:rPr>
                <a:t>0  1</a:t>
              </a:r>
            </a:p>
          </p:txBody>
        </p:sp>
        <p:grpSp>
          <p:nvGrpSpPr>
            <p:cNvPr id="86" name="Group 21">
              <a:extLst>
                <a:ext uri="{FF2B5EF4-FFF2-40B4-BE49-F238E27FC236}">
                  <a16:creationId xmlns:a16="http://schemas.microsoft.com/office/drawing/2014/main" xmlns="" id="{309FCA31-5885-E08B-ABC0-41FDAC0DAF86}"/>
                </a:ext>
              </a:extLst>
            </p:cNvPr>
            <p:cNvGrpSpPr>
              <a:grpSpLocks/>
            </p:cNvGrpSpPr>
            <p:nvPr/>
          </p:nvGrpSpPr>
          <p:grpSpPr bwMode="auto">
            <a:xfrm>
              <a:off x="2004" y="2940"/>
              <a:ext cx="672" cy="748"/>
              <a:chOff x="2304" y="1152"/>
              <a:chExt cx="672" cy="748"/>
            </a:xfrm>
          </p:grpSpPr>
          <p:sp>
            <p:nvSpPr>
              <p:cNvPr id="87" name="Text Box 22">
                <a:extLst>
                  <a:ext uri="{FF2B5EF4-FFF2-40B4-BE49-F238E27FC236}">
                    <a16:creationId xmlns:a16="http://schemas.microsoft.com/office/drawing/2014/main" xmlns="" id="{9AECF476-9E22-1EB5-363D-F0EE1623B4DC}"/>
                  </a:ext>
                </a:extLst>
              </p:cNvPr>
              <p:cNvSpPr txBox="1">
                <a:spLocks noChangeArrowheads="1"/>
              </p:cNvSpPr>
              <p:nvPr/>
            </p:nvSpPr>
            <p:spPr bwMode="auto">
              <a:xfrm>
                <a:off x="2304" y="1152"/>
                <a:ext cx="616"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sym typeface="Symbol" panose="05050102010706020507" pitchFamily="18" charset="2"/>
                  </a:rPr>
                  <a:t>  0  1</a:t>
                </a:r>
              </a:p>
              <a:p>
                <a:r>
                  <a:rPr lang="fr-FR" altLang="fr-FR">
                    <a:latin typeface="Times New Roman" panose="02020603050405020304" pitchFamily="18" charset="0"/>
                    <a:sym typeface="Symbol" panose="05050102010706020507" pitchFamily="18" charset="2"/>
                  </a:rPr>
                  <a:t>0</a:t>
                </a:r>
              </a:p>
              <a:p>
                <a:r>
                  <a:rPr lang="fr-FR" altLang="fr-FR">
                    <a:latin typeface="Times New Roman" panose="02020603050405020304" pitchFamily="18" charset="0"/>
                    <a:sym typeface="Symbol" panose="05050102010706020507" pitchFamily="18" charset="2"/>
                  </a:rPr>
                  <a:t>1</a:t>
                </a:r>
                <a:endParaRPr lang="fr-FR" altLang="fr-FR">
                  <a:latin typeface="Times New Roman" panose="02020603050405020304" pitchFamily="18" charset="0"/>
                </a:endParaRPr>
              </a:p>
            </p:txBody>
          </p:sp>
          <p:sp>
            <p:nvSpPr>
              <p:cNvPr id="88" name="Line 23">
                <a:extLst>
                  <a:ext uri="{FF2B5EF4-FFF2-40B4-BE49-F238E27FC236}">
                    <a16:creationId xmlns:a16="http://schemas.microsoft.com/office/drawing/2014/main" xmlns="" id="{5443304D-3EEE-C423-7709-21DA17C98033}"/>
                  </a:ext>
                </a:extLst>
              </p:cNvPr>
              <p:cNvSpPr>
                <a:spLocks noChangeShapeType="1"/>
              </p:cNvSpPr>
              <p:nvPr/>
            </p:nvSpPr>
            <p:spPr bwMode="auto">
              <a:xfrm>
                <a:off x="2304" y="1408"/>
                <a:ext cx="67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89" name="Line 24">
                <a:extLst>
                  <a:ext uri="{FF2B5EF4-FFF2-40B4-BE49-F238E27FC236}">
                    <a16:creationId xmlns:a16="http://schemas.microsoft.com/office/drawing/2014/main" xmlns="" id="{76D467B7-7E2E-6D17-1463-DEDE359FEA41}"/>
                  </a:ext>
                </a:extLst>
              </p:cNvPr>
              <p:cNvSpPr>
                <a:spLocks noChangeShapeType="1"/>
              </p:cNvSpPr>
              <p:nvPr/>
            </p:nvSpPr>
            <p:spPr bwMode="auto">
              <a:xfrm>
                <a:off x="2508" y="1248"/>
                <a:ext cx="0" cy="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grpSp>
      <p:sp>
        <p:nvSpPr>
          <p:cNvPr id="90" name="Text Box 25">
            <a:extLst>
              <a:ext uri="{FF2B5EF4-FFF2-40B4-BE49-F238E27FC236}">
                <a16:creationId xmlns:a16="http://schemas.microsoft.com/office/drawing/2014/main" xmlns="" id="{65DB5837-259D-2509-9841-343B4342FCC9}"/>
              </a:ext>
            </a:extLst>
          </p:cNvPr>
          <p:cNvSpPr txBox="1">
            <a:spLocks noChangeArrowheads="1"/>
          </p:cNvSpPr>
          <p:nvPr/>
        </p:nvSpPr>
        <p:spPr bwMode="auto">
          <a:xfrm>
            <a:off x="3098998" y="334077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0</a:t>
            </a:r>
          </a:p>
        </p:txBody>
      </p:sp>
      <p:sp>
        <p:nvSpPr>
          <p:cNvPr id="91" name="Text Box 26">
            <a:extLst>
              <a:ext uri="{FF2B5EF4-FFF2-40B4-BE49-F238E27FC236}">
                <a16:creationId xmlns:a16="http://schemas.microsoft.com/office/drawing/2014/main" xmlns="" id="{7F813432-C385-5FE4-1E28-F431E00A70CE}"/>
              </a:ext>
            </a:extLst>
          </p:cNvPr>
          <p:cNvSpPr txBox="1">
            <a:spLocks noChangeArrowheads="1"/>
          </p:cNvSpPr>
          <p:nvPr/>
        </p:nvSpPr>
        <p:spPr bwMode="auto">
          <a:xfrm>
            <a:off x="4534098" y="3350295"/>
            <a:ext cx="3365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1</a:t>
            </a:r>
          </a:p>
          <a:p>
            <a:r>
              <a:rPr lang="fr-FR" altLang="fr-FR">
                <a:latin typeface="Times New Roman" panose="02020603050405020304" pitchFamily="18" charset="0"/>
              </a:rPr>
              <a:t>1</a:t>
            </a:r>
          </a:p>
          <a:p>
            <a:r>
              <a:rPr lang="fr-FR" altLang="fr-FR">
                <a:latin typeface="Times New Roman" panose="02020603050405020304" pitchFamily="18" charset="0"/>
              </a:rPr>
              <a:t>1</a:t>
            </a:r>
          </a:p>
          <a:p>
            <a:r>
              <a:rPr lang="fr-FR" altLang="fr-FR">
                <a:latin typeface="Times New Roman" panose="02020603050405020304" pitchFamily="18" charset="0"/>
              </a:rPr>
              <a:t>0</a:t>
            </a:r>
          </a:p>
        </p:txBody>
      </p:sp>
      <p:sp>
        <p:nvSpPr>
          <p:cNvPr id="92" name="Text Box 27">
            <a:extLst>
              <a:ext uri="{FF2B5EF4-FFF2-40B4-BE49-F238E27FC236}">
                <a16:creationId xmlns:a16="http://schemas.microsoft.com/office/drawing/2014/main" xmlns="" id="{41C83C59-EE30-5A5D-EC42-3F889FE22DD6}"/>
              </a:ext>
            </a:extLst>
          </p:cNvPr>
          <p:cNvSpPr txBox="1">
            <a:spLocks noChangeArrowheads="1"/>
          </p:cNvSpPr>
          <p:nvPr/>
        </p:nvSpPr>
        <p:spPr bwMode="auto">
          <a:xfrm>
            <a:off x="5921573" y="325504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en-US" altLang="fr-FR">
              <a:latin typeface="Times New Roman" panose="02020603050405020304" pitchFamily="18" charset="0"/>
            </a:endParaRPr>
          </a:p>
        </p:txBody>
      </p:sp>
      <p:grpSp>
        <p:nvGrpSpPr>
          <p:cNvPr id="93" name="Group 28">
            <a:extLst>
              <a:ext uri="{FF2B5EF4-FFF2-40B4-BE49-F238E27FC236}">
                <a16:creationId xmlns:a16="http://schemas.microsoft.com/office/drawing/2014/main" xmlns="" id="{858DE518-2DD2-3838-BEB2-AE48B5104513}"/>
              </a:ext>
            </a:extLst>
          </p:cNvPr>
          <p:cNvGrpSpPr>
            <a:grpSpLocks/>
          </p:cNvGrpSpPr>
          <p:nvPr/>
        </p:nvGrpSpPr>
        <p:grpSpPr bwMode="auto">
          <a:xfrm>
            <a:off x="5937448" y="5194970"/>
            <a:ext cx="1066800" cy="1190625"/>
            <a:chOff x="4732" y="632"/>
            <a:chExt cx="672" cy="750"/>
          </a:xfrm>
        </p:grpSpPr>
        <p:sp>
          <p:nvSpPr>
            <p:cNvPr id="94" name="Text Box 29">
              <a:extLst>
                <a:ext uri="{FF2B5EF4-FFF2-40B4-BE49-F238E27FC236}">
                  <a16:creationId xmlns:a16="http://schemas.microsoft.com/office/drawing/2014/main" xmlns="" id="{6129969C-EC36-8739-C2F7-3C5A121E65E4}"/>
                </a:ext>
              </a:extLst>
            </p:cNvPr>
            <p:cNvSpPr txBox="1">
              <a:spLocks noChangeArrowheads="1"/>
            </p:cNvSpPr>
            <p:nvPr/>
          </p:nvSpPr>
          <p:spPr bwMode="auto">
            <a:xfrm>
              <a:off x="4896" y="864"/>
              <a:ext cx="452"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 0  1</a:t>
              </a:r>
            </a:p>
            <a:p>
              <a:r>
                <a:rPr lang="fr-FR" altLang="fr-FR">
                  <a:latin typeface="Times New Roman" panose="02020603050405020304" pitchFamily="18" charset="0"/>
                </a:rPr>
                <a:t> 1  1</a:t>
              </a:r>
            </a:p>
          </p:txBody>
        </p:sp>
        <p:grpSp>
          <p:nvGrpSpPr>
            <p:cNvPr id="95" name="Group 30">
              <a:extLst>
                <a:ext uri="{FF2B5EF4-FFF2-40B4-BE49-F238E27FC236}">
                  <a16:creationId xmlns:a16="http://schemas.microsoft.com/office/drawing/2014/main" xmlns="" id="{E09375BE-7876-1582-CD63-D57D073B13C4}"/>
                </a:ext>
              </a:extLst>
            </p:cNvPr>
            <p:cNvGrpSpPr>
              <a:grpSpLocks/>
            </p:cNvGrpSpPr>
            <p:nvPr/>
          </p:nvGrpSpPr>
          <p:grpSpPr bwMode="auto">
            <a:xfrm>
              <a:off x="4732" y="632"/>
              <a:ext cx="672" cy="748"/>
              <a:chOff x="3792" y="1152"/>
              <a:chExt cx="672" cy="748"/>
            </a:xfrm>
          </p:grpSpPr>
          <p:sp>
            <p:nvSpPr>
              <p:cNvPr id="96" name="Text Box 31">
                <a:extLst>
                  <a:ext uri="{FF2B5EF4-FFF2-40B4-BE49-F238E27FC236}">
                    <a16:creationId xmlns:a16="http://schemas.microsoft.com/office/drawing/2014/main" xmlns="" id="{D037C149-B99B-1947-C67C-3E740DCB7DFF}"/>
                  </a:ext>
                </a:extLst>
              </p:cNvPr>
              <p:cNvSpPr txBox="1">
                <a:spLocks noChangeArrowheads="1"/>
              </p:cNvSpPr>
              <p:nvPr/>
            </p:nvSpPr>
            <p:spPr bwMode="auto">
              <a:xfrm>
                <a:off x="3792" y="1152"/>
                <a:ext cx="616"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sym typeface="Symbol" panose="05050102010706020507" pitchFamily="18" charset="2"/>
                  </a:rPr>
                  <a:t>  0  1</a:t>
                </a:r>
              </a:p>
              <a:p>
                <a:r>
                  <a:rPr lang="fr-FR" altLang="fr-FR">
                    <a:latin typeface="Times New Roman" panose="02020603050405020304" pitchFamily="18" charset="0"/>
                    <a:sym typeface="Symbol" panose="05050102010706020507" pitchFamily="18" charset="2"/>
                  </a:rPr>
                  <a:t>0  </a:t>
                </a:r>
              </a:p>
              <a:p>
                <a:r>
                  <a:rPr lang="fr-FR" altLang="fr-FR">
                    <a:latin typeface="Times New Roman" panose="02020603050405020304" pitchFamily="18" charset="0"/>
                    <a:sym typeface="Symbol" panose="05050102010706020507" pitchFamily="18" charset="2"/>
                  </a:rPr>
                  <a:t>1</a:t>
                </a:r>
                <a:endParaRPr lang="fr-FR" altLang="fr-FR">
                  <a:latin typeface="Times New Roman" panose="02020603050405020304" pitchFamily="18" charset="0"/>
                </a:endParaRPr>
              </a:p>
            </p:txBody>
          </p:sp>
          <p:sp>
            <p:nvSpPr>
              <p:cNvPr id="97" name="Line 32">
                <a:extLst>
                  <a:ext uri="{FF2B5EF4-FFF2-40B4-BE49-F238E27FC236}">
                    <a16:creationId xmlns:a16="http://schemas.microsoft.com/office/drawing/2014/main" xmlns="" id="{64186F4D-8CB4-7A18-97E0-3DC29127769F}"/>
                  </a:ext>
                </a:extLst>
              </p:cNvPr>
              <p:cNvSpPr>
                <a:spLocks noChangeShapeType="1"/>
              </p:cNvSpPr>
              <p:nvPr/>
            </p:nvSpPr>
            <p:spPr bwMode="auto">
              <a:xfrm>
                <a:off x="3792" y="1408"/>
                <a:ext cx="67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98" name="Line 33">
                <a:extLst>
                  <a:ext uri="{FF2B5EF4-FFF2-40B4-BE49-F238E27FC236}">
                    <a16:creationId xmlns:a16="http://schemas.microsoft.com/office/drawing/2014/main" xmlns="" id="{A11196E3-C5AE-7BAD-2C6D-8FDD1E62765D}"/>
                  </a:ext>
                </a:extLst>
              </p:cNvPr>
              <p:cNvSpPr>
                <a:spLocks noChangeShapeType="1"/>
              </p:cNvSpPr>
              <p:nvPr/>
            </p:nvSpPr>
            <p:spPr bwMode="auto">
              <a:xfrm>
                <a:off x="3988" y="1248"/>
                <a:ext cx="0" cy="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grpSp>
      <p:sp>
        <p:nvSpPr>
          <p:cNvPr id="99" name="Text Box 34">
            <a:extLst>
              <a:ext uri="{FF2B5EF4-FFF2-40B4-BE49-F238E27FC236}">
                <a16:creationId xmlns:a16="http://schemas.microsoft.com/office/drawing/2014/main" xmlns="" id="{5A055DE8-5CE6-DEEC-0039-81542336406E}"/>
              </a:ext>
            </a:extLst>
          </p:cNvPr>
          <p:cNvSpPr txBox="1">
            <a:spLocks noChangeArrowheads="1"/>
          </p:cNvSpPr>
          <p:nvPr/>
        </p:nvSpPr>
        <p:spPr bwMode="auto">
          <a:xfrm>
            <a:off x="6242248" y="337252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1</a:t>
            </a:r>
          </a:p>
        </p:txBody>
      </p:sp>
      <p:sp>
        <p:nvSpPr>
          <p:cNvPr id="100" name="Text Box 35">
            <a:extLst>
              <a:ext uri="{FF2B5EF4-FFF2-40B4-BE49-F238E27FC236}">
                <a16:creationId xmlns:a16="http://schemas.microsoft.com/office/drawing/2014/main" xmlns="" id="{F3099B6C-6BCD-320B-00E2-E5AF7D7F7734}"/>
              </a:ext>
            </a:extLst>
          </p:cNvPr>
          <p:cNvSpPr txBox="1">
            <a:spLocks noChangeArrowheads="1"/>
          </p:cNvSpPr>
          <p:nvPr/>
        </p:nvSpPr>
        <p:spPr bwMode="auto">
          <a:xfrm>
            <a:off x="3098998" y="370272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0</a:t>
            </a:r>
          </a:p>
        </p:txBody>
      </p:sp>
      <p:sp>
        <p:nvSpPr>
          <p:cNvPr id="101" name="Text Box 36">
            <a:extLst>
              <a:ext uri="{FF2B5EF4-FFF2-40B4-BE49-F238E27FC236}">
                <a16:creationId xmlns:a16="http://schemas.microsoft.com/office/drawing/2014/main" xmlns="" id="{6C2FF9E4-DD13-AC04-EBE3-1AA4C3CB2D1A}"/>
              </a:ext>
            </a:extLst>
          </p:cNvPr>
          <p:cNvSpPr txBox="1">
            <a:spLocks noChangeArrowheads="1"/>
          </p:cNvSpPr>
          <p:nvPr/>
        </p:nvSpPr>
        <p:spPr bwMode="auto">
          <a:xfrm>
            <a:off x="3086298" y="405197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0</a:t>
            </a:r>
          </a:p>
        </p:txBody>
      </p:sp>
      <p:sp>
        <p:nvSpPr>
          <p:cNvPr id="102" name="Text Box 37">
            <a:extLst>
              <a:ext uri="{FF2B5EF4-FFF2-40B4-BE49-F238E27FC236}">
                <a16:creationId xmlns:a16="http://schemas.microsoft.com/office/drawing/2014/main" xmlns="" id="{C530E488-FA9C-67A4-0759-C9295E13DBD0}"/>
              </a:ext>
            </a:extLst>
          </p:cNvPr>
          <p:cNvSpPr txBox="1">
            <a:spLocks noChangeArrowheads="1"/>
          </p:cNvSpPr>
          <p:nvPr/>
        </p:nvSpPr>
        <p:spPr bwMode="auto">
          <a:xfrm>
            <a:off x="3092648" y="443297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1</a:t>
            </a:r>
          </a:p>
        </p:txBody>
      </p:sp>
      <p:sp>
        <p:nvSpPr>
          <p:cNvPr id="103" name="Text Box 38">
            <a:extLst>
              <a:ext uri="{FF2B5EF4-FFF2-40B4-BE49-F238E27FC236}">
                <a16:creationId xmlns:a16="http://schemas.microsoft.com/office/drawing/2014/main" xmlns="" id="{944B119E-50F3-75F6-08E9-420FDC0B79BF}"/>
              </a:ext>
            </a:extLst>
          </p:cNvPr>
          <p:cNvSpPr txBox="1">
            <a:spLocks noChangeArrowheads="1"/>
          </p:cNvSpPr>
          <p:nvPr/>
        </p:nvSpPr>
        <p:spPr bwMode="auto">
          <a:xfrm>
            <a:off x="6242248" y="410277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1</a:t>
            </a:r>
          </a:p>
        </p:txBody>
      </p:sp>
      <p:sp>
        <p:nvSpPr>
          <p:cNvPr id="104" name="Text Box 39">
            <a:extLst>
              <a:ext uri="{FF2B5EF4-FFF2-40B4-BE49-F238E27FC236}">
                <a16:creationId xmlns:a16="http://schemas.microsoft.com/office/drawing/2014/main" xmlns="" id="{60F42B23-78C9-E1B7-6B10-25022BAE07F7}"/>
              </a:ext>
            </a:extLst>
          </p:cNvPr>
          <p:cNvSpPr txBox="1">
            <a:spLocks noChangeArrowheads="1"/>
          </p:cNvSpPr>
          <p:nvPr/>
        </p:nvSpPr>
        <p:spPr bwMode="auto">
          <a:xfrm>
            <a:off x="6242248" y="372177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1</a:t>
            </a:r>
          </a:p>
        </p:txBody>
      </p:sp>
      <p:grpSp>
        <p:nvGrpSpPr>
          <p:cNvPr id="105" name="Group 62">
            <a:extLst>
              <a:ext uri="{FF2B5EF4-FFF2-40B4-BE49-F238E27FC236}">
                <a16:creationId xmlns:a16="http://schemas.microsoft.com/office/drawing/2014/main" xmlns="" id="{02DD2934-D026-46BD-CFAD-1C49BC9C8E82}"/>
              </a:ext>
            </a:extLst>
          </p:cNvPr>
          <p:cNvGrpSpPr>
            <a:grpSpLocks/>
          </p:cNvGrpSpPr>
          <p:nvPr/>
        </p:nvGrpSpPr>
        <p:grpSpPr bwMode="auto">
          <a:xfrm>
            <a:off x="7385248" y="5194970"/>
            <a:ext cx="1219200" cy="1187450"/>
            <a:chOff x="4896" y="2928"/>
            <a:chExt cx="768" cy="748"/>
          </a:xfrm>
        </p:grpSpPr>
        <p:sp>
          <p:nvSpPr>
            <p:cNvPr id="106" name="Text Box 41">
              <a:extLst>
                <a:ext uri="{FF2B5EF4-FFF2-40B4-BE49-F238E27FC236}">
                  <a16:creationId xmlns:a16="http://schemas.microsoft.com/office/drawing/2014/main" xmlns="" id="{2E16AFDF-3CCD-CA81-66D4-B90C11E96333}"/>
                </a:ext>
              </a:extLst>
            </p:cNvPr>
            <p:cNvSpPr txBox="1">
              <a:spLocks noChangeArrowheads="1"/>
            </p:cNvSpPr>
            <p:nvPr/>
          </p:nvSpPr>
          <p:spPr bwMode="auto">
            <a:xfrm>
              <a:off x="5184" y="3158"/>
              <a:ext cx="404"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1  0</a:t>
              </a:r>
            </a:p>
            <a:p>
              <a:r>
                <a:rPr lang="fr-FR" altLang="fr-FR">
                  <a:latin typeface="Times New Roman" panose="02020603050405020304" pitchFamily="18" charset="0"/>
                </a:rPr>
                <a:t>0  1</a:t>
              </a:r>
            </a:p>
          </p:txBody>
        </p:sp>
        <p:grpSp>
          <p:nvGrpSpPr>
            <p:cNvPr id="107" name="Group 42">
              <a:extLst>
                <a:ext uri="{FF2B5EF4-FFF2-40B4-BE49-F238E27FC236}">
                  <a16:creationId xmlns:a16="http://schemas.microsoft.com/office/drawing/2014/main" xmlns="" id="{9D658DAC-544A-A034-E780-45463E611703}"/>
                </a:ext>
              </a:extLst>
            </p:cNvPr>
            <p:cNvGrpSpPr>
              <a:grpSpLocks/>
            </p:cNvGrpSpPr>
            <p:nvPr/>
          </p:nvGrpSpPr>
          <p:grpSpPr bwMode="auto">
            <a:xfrm>
              <a:off x="4896" y="2928"/>
              <a:ext cx="768" cy="748"/>
              <a:chOff x="2832" y="2496"/>
              <a:chExt cx="768" cy="748"/>
            </a:xfrm>
          </p:grpSpPr>
          <p:sp>
            <p:nvSpPr>
              <p:cNvPr id="108" name="Text Box 43">
                <a:extLst>
                  <a:ext uri="{FF2B5EF4-FFF2-40B4-BE49-F238E27FC236}">
                    <a16:creationId xmlns:a16="http://schemas.microsoft.com/office/drawing/2014/main" xmlns="" id="{B094CDDD-42D7-29ED-8CE1-F06C530F8E77}"/>
                  </a:ext>
                </a:extLst>
              </p:cNvPr>
              <p:cNvSpPr txBox="1">
                <a:spLocks noChangeArrowheads="1"/>
              </p:cNvSpPr>
              <p:nvPr/>
            </p:nvSpPr>
            <p:spPr bwMode="auto">
              <a:xfrm>
                <a:off x="2832" y="2496"/>
                <a:ext cx="700" cy="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sym typeface="Symbol" panose="05050102010706020507" pitchFamily="18" charset="2"/>
                  </a:rPr>
                  <a:t>  0  1</a:t>
                </a:r>
              </a:p>
              <a:p>
                <a:r>
                  <a:rPr lang="fr-FR" altLang="fr-FR">
                    <a:latin typeface="Times New Roman" panose="02020603050405020304" pitchFamily="18" charset="0"/>
                    <a:sym typeface="Symbol" panose="05050102010706020507" pitchFamily="18" charset="2"/>
                  </a:rPr>
                  <a:t>0</a:t>
                </a:r>
              </a:p>
              <a:p>
                <a:r>
                  <a:rPr lang="fr-FR" altLang="fr-FR">
                    <a:latin typeface="Times New Roman" panose="02020603050405020304" pitchFamily="18" charset="0"/>
                    <a:sym typeface="Symbol" panose="05050102010706020507" pitchFamily="18" charset="2"/>
                  </a:rPr>
                  <a:t>1</a:t>
                </a:r>
                <a:endParaRPr lang="fr-FR" altLang="fr-FR">
                  <a:latin typeface="Times New Roman" panose="02020603050405020304" pitchFamily="18" charset="0"/>
                </a:endParaRPr>
              </a:p>
            </p:txBody>
          </p:sp>
          <p:sp>
            <p:nvSpPr>
              <p:cNvPr id="109" name="Line 44">
                <a:extLst>
                  <a:ext uri="{FF2B5EF4-FFF2-40B4-BE49-F238E27FC236}">
                    <a16:creationId xmlns:a16="http://schemas.microsoft.com/office/drawing/2014/main" xmlns="" id="{94EE7468-EBDC-297C-2C1D-CB4155725E87}"/>
                  </a:ext>
                </a:extLst>
              </p:cNvPr>
              <p:cNvSpPr>
                <a:spLocks noChangeShapeType="1"/>
              </p:cNvSpPr>
              <p:nvPr/>
            </p:nvSpPr>
            <p:spPr bwMode="auto">
              <a:xfrm>
                <a:off x="2880" y="2764"/>
                <a:ext cx="72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110" name="Line 45">
                <a:extLst>
                  <a:ext uri="{FF2B5EF4-FFF2-40B4-BE49-F238E27FC236}">
                    <a16:creationId xmlns:a16="http://schemas.microsoft.com/office/drawing/2014/main" xmlns="" id="{0829DD30-D990-C9D7-7EA8-E7F5A4870FC2}"/>
                  </a:ext>
                </a:extLst>
              </p:cNvPr>
              <p:cNvSpPr>
                <a:spLocks noChangeShapeType="1"/>
              </p:cNvSpPr>
              <p:nvPr/>
            </p:nvSpPr>
            <p:spPr bwMode="auto">
              <a:xfrm>
                <a:off x="3120" y="2592"/>
                <a:ext cx="0" cy="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grpSp>
      <p:sp>
        <p:nvSpPr>
          <p:cNvPr id="111" name="Text Box 46">
            <a:extLst>
              <a:ext uri="{FF2B5EF4-FFF2-40B4-BE49-F238E27FC236}">
                <a16:creationId xmlns:a16="http://schemas.microsoft.com/office/drawing/2014/main" xmlns="" id="{94532133-D5E6-77FE-93DB-AE721F53C0D1}"/>
              </a:ext>
            </a:extLst>
          </p:cNvPr>
          <p:cNvSpPr txBox="1">
            <a:spLocks noChangeArrowheads="1"/>
          </p:cNvSpPr>
          <p:nvPr/>
        </p:nvSpPr>
        <p:spPr bwMode="auto">
          <a:xfrm>
            <a:off x="7474148" y="3359820"/>
            <a:ext cx="3365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1</a:t>
            </a:r>
          </a:p>
          <a:p>
            <a:r>
              <a:rPr lang="fr-FR" altLang="fr-FR">
                <a:latin typeface="Times New Roman" panose="02020603050405020304" pitchFamily="18" charset="0"/>
              </a:rPr>
              <a:t>1</a:t>
            </a:r>
          </a:p>
          <a:p>
            <a:r>
              <a:rPr lang="fr-FR" altLang="fr-FR">
                <a:latin typeface="Times New Roman" panose="02020603050405020304" pitchFamily="18" charset="0"/>
              </a:rPr>
              <a:t>1</a:t>
            </a:r>
          </a:p>
          <a:p>
            <a:r>
              <a:rPr lang="fr-FR" altLang="fr-FR">
                <a:latin typeface="Times New Roman" panose="02020603050405020304" pitchFamily="18" charset="0"/>
              </a:rPr>
              <a:t>1</a:t>
            </a:r>
          </a:p>
        </p:txBody>
      </p:sp>
      <p:sp>
        <p:nvSpPr>
          <p:cNvPr id="112" name="Text Box 54">
            <a:extLst>
              <a:ext uri="{FF2B5EF4-FFF2-40B4-BE49-F238E27FC236}">
                <a16:creationId xmlns:a16="http://schemas.microsoft.com/office/drawing/2014/main" xmlns="" id="{FC2922E6-A15D-FD1F-54AC-AE3C04643A10}"/>
              </a:ext>
            </a:extLst>
          </p:cNvPr>
          <p:cNvSpPr txBox="1">
            <a:spLocks noChangeArrowheads="1"/>
          </p:cNvSpPr>
          <p:nvPr/>
        </p:nvSpPr>
        <p:spPr bwMode="auto">
          <a:xfrm>
            <a:off x="6242248" y="450917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a:latin typeface="Times New Roman" panose="02020603050405020304" pitchFamily="18" charset="0"/>
              </a:rPr>
              <a:t>0</a:t>
            </a:r>
          </a:p>
        </p:txBody>
      </p:sp>
      <p:graphicFrame>
        <p:nvGraphicFramePr>
          <p:cNvPr id="113" name="Object 58">
            <a:extLst>
              <a:ext uri="{FF2B5EF4-FFF2-40B4-BE49-F238E27FC236}">
                <a16:creationId xmlns:a16="http://schemas.microsoft.com/office/drawing/2014/main" xmlns="" id="{F07C8F7B-8C96-2AA0-26CC-87FA00CBD128}"/>
              </a:ext>
            </a:extLst>
          </p:cNvPr>
          <p:cNvGraphicFramePr>
            <a:graphicFrameLocks noChangeAspect="1"/>
          </p:cNvGraphicFramePr>
          <p:nvPr>
            <p:extLst>
              <p:ext uri="{D42A27DB-BD31-4B8C-83A1-F6EECF244321}">
                <p14:modId xmlns:p14="http://schemas.microsoft.com/office/powerpoint/2010/main" val="551437984"/>
              </p:ext>
            </p:extLst>
          </p:nvPr>
        </p:nvGraphicFramePr>
        <p:xfrm>
          <a:off x="136723" y="1888208"/>
          <a:ext cx="3884613" cy="460375"/>
        </p:xfrm>
        <a:graphic>
          <a:graphicData uri="http://schemas.openxmlformats.org/presentationml/2006/ole">
            <mc:AlternateContent xmlns:mc="http://schemas.openxmlformats.org/markup-compatibility/2006">
              <mc:Choice xmlns:v="urn:schemas-microsoft-com:vml" Requires="v">
                <p:oleObj spid="_x0000_s2051" name="Équation" r:id="rId5" imgW="1701800" imgH="203200" progId="Equation.3">
                  <p:embed/>
                </p:oleObj>
              </mc:Choice>
              <mc:Fallback>
                <p:oleObj name="Équation" r:id="rId5" imgW="1701800" imgH="203200" progId="Equation.3">
                  <p:embed/>
                  <p:pic>
                    <p:nvPicPr>
                      <p:cNvPr id="23584" name="Object 58">
                        <a:extLst>
                          <a:ext uri="{FF2B5EF4-FFF2-40B4-BE49-F238E27FC236}">
                            <a16:creationId xmlns:a16="http://schemas.microsoft.com/office/drawing/2014/main" xmlns="" id="{4C72C32E-732B-8F4E-7329-03F711440B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6723" y="1888208"/>
                        <a:ext cx="3884613" cy="460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5" name="Titre 1">
            <a:extLst>
              <a:ext uri="{FF2B5EF4-FFF2-40B4-BE49-F238E27FC236}">
                <a16:creationId xmlns:a16="http://schemas.microsoft.com/office/drawing/2014/main" xmlns="" id="{F5C06FE6-FEA8-546D-E932-6494B5C5F4E6}"/>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Formules particulières(2) </a:t>
            </a:r>
            <a:endParaRPr lang="fr-FR" dirty="0"/>
          </a:p>
        </p:txBody>
      </p:sp>
    </p:spTree>
    <p:extLst>
      <p:ext uri="{BB962C8B-B14F-4D97-AF65-F5344CB8AC3E}">
        <p14:creationId xmlns:p14="http://schemas.microsoft.com/office/powerpoint/2010/main" val="1197728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left)">
                                      <p:cBhvr>
                                        <p:cTn id="7" dur="500"/>
                                        <p:tgtEl>
                                          <p:spTgt spid="7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82"/>
                                        </p:tgtEl>
                                        <p:attrNameLst>
                                          <p:attrName>style.visibility</p:attrName>
                                        </p:attrNameLst>
                                      </p:cBhvr>
                                      <p:to>
                                        <p:strVal val="visible"/>
                                      </p:to>
                                    </p:set>
                                    <p:anim calcmode="lin" valueType="num">
                                      <p:cBhvr>
                                        <p:cTn id="12" dur="500" fill="hold"/>
                                        <p:tgtEl>
                                          <p:spTgt spid="82"/>
                                        </p:tgtEl>
                                        <p:attrNameLst>
                                          <p:attrName>ppt_w</p:attrName>
                                        </p:attrNameLst>
                                      </p:cBhvr>
                                      <p:tavLst>
                                        <p:tav tm="0">
                                          <p:val>
                                            <p:fltVal val="0"/>
                                          </p:val>
                                        </p:tav>
                                        <p:tav tm="100000">
                                          <p:val>
                                            <p:strVal val="#ppt_w"/>
                                          </p:val>
                                        </p:tav>
                                      </p:tavLst>
                                    </p:anim>
                                    <p:anim calcmode="lin" valueType="num">
                                      <p:cBhvr>
                                        <p:cTn id="13" dur="500" fill="hold"/>
                                        <p:tgtEl>
                                          <p:spTgt spid="82"/>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83"/>
                                        </p:tgtEl>
                                        <p:attrNameLst>
                                          <p:attrName>style.visibility</p:attrName>
                                        </p:attrNameLst>
                                      </p:cBhvr>
                                      <p:to>
                                        <p:strVal val="visible"/>
                                      </p:to>
                                    </p:set>
                                    <p:anim calcmode="lin" valueType="num">
                                      <p:cBhvr>
                                        <p:cTn id="18" dur="500" fill="hold"/>
                                        <p:tgtEl>
                                          <p:spTgt spid="83"/>
                                        </p:tgtEl>
                                        <p:attrNameLst>
                                          <p:attrName>ppt_w</p:attrName>
                                        </p:attrNameLst>
                                      </p:cBhvr>
                                      <p:tavLst>
                                        <p:tav tm="0">
                                          <p:val>
                                            <p:fltVal val="0"/>
                                          </p:val>
                                        </p:tav>
                                        <p:tav tm="100000">
                                          <p:val>
                                            <p:strVal val="#ppt_w"/>
                                          </p:val>
                                        </p:tav>
                                      </p:tavLst>
                                    </p:anim>
                                    <p:anim calcmode="lin" valueType="num">
                                      <p:cBhvr>
                                        <p:cTn id="19" dur="500" fill="hold"/>
                                        <p:tgtEl>
                                          <p:spTgt spid="83"/>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84"/>
                                        </p:tgtEl>
                                        <p:attrNameLst>
                                          <p:attrName>style.visibility</p:attrName>
                                        </p:attrNameLst>
                                      </p:cBhvr>
                                      <p:to>
                                        <p:strVal val="visible"/>
                                      </p:to>
                                    </p:set>
                                    <p:anim calcmode="lin" valueType="num">
                                      <p:cBhvr additive="base">
                                        <p:cTn id="24" dur="500" fill="hold"/>
                                        <p:tgtEl>
                                          <p:spTgt spid="84"/>
                                        </p:tgtEl>
                                        <p:attrNameLst>
                                          <p:attrName>ppt_x</p:attrName>
                                        </p:attrNameLst>
                                      </p:cBhvr>
                                      <p:tavLst>
                                        <p:tav tm="0">
                                          <p:val>
                                            <p:strVal val="0-#ppt_w/2"/>
                                          </p:val>
                                        </p:tav>
                                        <p:tav tm="100000">
                                          <p:val>
                                            <p:strVal val="#ppt_x"/>
                                          </p:val>
                                        </p:tav>
                                      </p:tavLst>
                                    </p:anim>
                                    <p:anim calcmode="lin" valueType="num">
                                      <p:cBhvr additive="base">
                                        <p:cTn id="25" dur="500" fill="hold"/>
                                        <p:tgtEl>
                                          <p:spTgt spid="84"/>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61"/>
                                        </p:tgtEl>
                                        <p:attrNameLst>
                                          <p:attrName>style.visibility</p:attrName>
                                        </p:attrNameLst>
                                      </p:cBhvr>
                                      <p:to>
                                        <p:strVal val="visible"/>
                                      </p:to>
                                    </p:set>
                                  </p:childTnLst>
                                  <p:subTnLst>
                                    <p:set>
                                      <p:cBhvr override="childStyle">
                                        <p:cTn dur="1" fill="hold" display="0" masterRel="nextClick" afterEffect="1"/>
                                        <p:tgtEl>
                                          <p:spTgt spid="61"/>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90"/>
                                        </p:tgtEl>
                                        <p:attrNameLst>
                                          <p:attrName>style.visibility</p:attrName>
                                        </p:attrNameLst>
                                      </p:cBhvr>
                                      <p:to>
                                        <p:strVal val="visible"/>
                                      </p:to>
                                    </p:set>
                                    <p:anim calcmode="lin" valueType="num">
                                      <p:cBhvr>
                                        <p:cTn id="34" dur="500" fill="hold"/>
                                        <p:tgtEl>
                                          <p:spTgt spid="90"/>
                                        </p:tgtEl>
                                        <p:attrNameLst>
                                          <p:attrName>ppt_w</p:attrName>
                                        </p:attrNameLst>
                                      </p:cBhvr>
                                      <p:tavLst>
                                        <p:tav tm="0">
                                          <p:val>
                                            <p:fltVal val="0"/>
                                          </p:val>
                                        </p:tav>
                                        <p:tav tm="100000">
                                          <p:val>
                                            <p:strVal val="#ppt_w"/>
                                          </p:val>
                                        </p:tav>
                                      </p:tavLst>
                                    </p:anim>
                                    <p:anim calcmode="lin" valueType="num">
                                      <p:cBhvr>
                                        <p:cTn id="35" dur="500" fill="hold"/>
                                        <p:tgtEl>
                                          <p:spTgt spid="9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60"/>
                                        </p:tgtEl>
                                        <p:attrNameLst>
                                          <p:attrName>style.visibility</p:attrName>
                                        </p:attrNameLst>
                                      </p:cBhvr>
                                      <p:to>
                                        <p:strVal val="visible"/>
                                      </p:to>
                                    </p:set>
                                  </p:childTnLst>
                                  <p:subTnLst>
                                    <p:set>
                                      <p:cBhvr override="childStyle">
                                        <p:cTn dur="1" fill="hold" display="0" masterRel="nextClick" afterEffect="1"/>
                                        <p:tgtEl>
                                          <p:spTgt spid="60"/>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23" presetClass="entr" presetSubtype="16" fill="hold" grpId="0" nodeType="clickEffect">
                                  <p:stCondLst>
                                    <p:cond delay="0"/>
                                  </p:stCondLst>
                                  <p:childTnLst>
                                    <p:set>
                                      <p:cBhvr>
                                        <p:cTn id="43" dur="1" fill="hold">
                                          <p:stCondLst>
                                            <p:cond delay="0"/>
                                          </p:stCondLst>
                                        </p:cTn>
                                        <p:tgtEl>
                                          <p:spTgt spid="100"/>
                                        </p:tgtEl>
                                        <p:attrNameLst>
                                          <p:attrName>style.visibility</p:attrName>
                                        </p:attrNameLst>
                                      </p:cBhvr>
                                      <p:to>
                                        <p:strVal val="visible"/>
                                      </p:to>
                                    </p:set>
                                    <p:anim calcmode="lin" valueType="num">
                                      <p:cBhvr>
                                        <p:cTn id="44" dur="500" fill="hold"/>
                                        <p:tgtEl>
                                          <p:spTgt spid="100"/>
                                        </p:tgtEl>
                                        <p:attrNameLst>
                                          <p:attrName>ppt_w</p:attrName>
                                        </p:attrNameLst>
                                      </p:cBhvr>
                                      <p:tavLst>
                                        <p:tav tm="0">
                                          <p:val>
                                            <p:fltVal val="0"/>
                                          </p:val>
                                        </p:tav>
                                        <p:tav tm="100000">
                                          <p:val>
                                            <p:strVal val="#ppt_w"/>
                                          </p:val>
                                        </p:tav>
                                      </p:tavLst>
                                    </p:anim>
                                    <p:anim calcmode="lin" valueType="num">
                                      <p:cBhvr>
                                        <p:cTn id="45" dur="500" fill="hold"/>
                                        <p:tgtEl>
                                          <p:spTgt spid="100"/>
                                        </p:tgtEl>
                                        <p:attrNameLst>
                                          <p:attrName>ppt_h</p:attrName>
                                        </p:attrNameLst>
                                      </p:cBhvr>
                                      <p:tavLst>
                                        <p:tav tm="0">
                                          <p:val>
                                            <p:fltVal val="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59"/>
                                        </p:tgtEl>
                                        <p:attrNameLst>
                                          <p:attrName>style.visibility</p:attrName>
                                        </p:attrNameLst>
                                      </p:cBhvr>
                                      <p:to>
                                        <p:strVal val="visible"/>
                                      </p:to>
                                    </p:set>
                                  </p:childTnLst>
                                  <p:subTnLst>
                                    <p:set>
                                      <p:cBhvr override="childStyle">
                                        <p:cTn dur="1" fill="hold" display="0" masterRel="nextClick" afterEffect="1"/>
                                        <p:tgtEl>
                                          <p:spTgt spid="59"/>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23" presetClass="entr" presetSubtype="16" fill="hold" grpId="0" nodeType="clickEffect">
                                  <p:stCondLst>
                                    <p:cond delay="0"/>
                                  </p:stCondLst>
                                  <p:childTnLst>
                                    <p:set>
                                      <p:cBhvr>
                                        <p:cTn id="53" dur="1" fill="hold">
                                          <p:stCondLst>
                                            <p:cond delay="0"/>
                                          </p:stCondLst>
                                        </p:cTn>
                                        <p:tgtEl>
                                          <p:spTgt spid="101"/>
                                        </p:tgtEl>
                                        <p:attrNameLst>
                                          <p:attrName>style.visibility</p:attrName>
                                        </p:attrNameLst>
                                      </p:cBhvr>
                                      <p:to>
                                        <p:strVal val="visible"/>
                                      </p:to>
                                    </p:set>
                                    <p:anim calcmode="lin" valueType="num">
                                      <p:cBhvr>
                                        <p:cTn id="54" dur="500" fill="hold"/>
                                        <p:tgtEl>
                                          <p:spTgt spid="101"/>
                                        </p:tgtEl>
                                        <p:attrNameLst>
                                          <p:attrName>ppt_w</p:attrName>
                                        </p:attrNameLst>
                                      </p:cBhvr>
                                      <p:tavLst>
                                        <p:tav tm="0">
                                          <p:val>
                                            <p:fltVal val="0"/>
                                          </p:val>
                                        </p:tav>
                                        <p:tav tm="100000">
                                          <p:val>
                                            <p:strVal val="#ppt_w"/>
                                          </p:val>
                                        </p:tav>
                                      </p:tavLst>
                                    </p:anim>
                                    <p:anim calcmode="lin" valueType="num">
                                      <p:cBhvr>
                                        <p:cTn id="55" dur="500" fill="hold"/>
                                        <p:tgtEl>
                                          <p:spTgt spid="101"/>
                                        </p:tgtEl>
                                        <p:attrNameLst>
                                          <p:attrName>ppt_h</p:attrName>
                                        </p:attrNameLst>
                                      </p:cBhvr>
                                      <p:tavLst>
                                        <p:tav tm="0">
                                          <p:val>
                                            <p:fltVal val="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58"/>
                                        </p:tgtEl>
                                        <p:attrNameLst>
                                          <p:attrName>style.visibility</p:attrName>
                                        </p:attrNameLst>
                                      </p:cBhvr>
                                      <p:to>
                                        <p:strVal val="visible"/>
                                      </p:to>
                                    </p:set>
                                  </p:childTnLst>
                                  <p:subTnLst>
                                    <p:set>
                                      <p:cBhvr override="childStyle">
                                        <p:cTn dur="1" fill="hold" display="0" masterRel="nextClick" afterEffect="1"/>
                                        <p:tgtEl>
                                          <p:spTgt spid="58"/>
                                        </p:tgtEl>
                                        <p:attrNameLst>
                                          <p:attrName>style.visibility</p:attrName>
                                        </p:attrNameLst>
                                      </p:cBhvr>
                                      <p:to>
                                        <p:strVal val="hidden"/>
                                      </p:to>
                                    </p:set>
                                  </p:subTnLst>
                                </p:cTn>
                              </p:par>
                            </p:childTnLst>
                          </p:cTn>
                        </p:par>
                      </p:childTnLst>
                    </p:cTn>
                  </p:par>
                  <p:par>
                    <p:cTn id="60" fill="hold">
                      <p:stCondLst>
                        <p:cond delay="indefinite"/>
                      </p:stCondLst>
                      <p:childTnLst>
                        <p:par>
                          <p:cTn id="61" fill="hold">
                            <p:stCondLst>
                              <p:cond delay="0"/>
                            </p:stCondLst>
                            <p:childTnLst>
                              <p:par>
                                <p:cTn id="62" presetID="23" presetClass="entr" presetSubtype="16" fill="hold" grpId="0" nodeType="clickEffect">
                                  <p:stCondLst>
                                    <p:cond delay="0"/>
                                  </p:stCondLst>
                                  <p:childTnLst>
                                    <p:set>
                                      <p:cBhvr>
                                        <p:cTn id="63" dur="1" fill="hold">
                                          <p:stCondLst>
                                            <p:cond delay="0"/>
                                          </p:stCondLst>
                                        </p:cTn>
                                        <p:tgtEl>
                                          <p:spTgt spid="102"/>
                                        </p:tgtEl>
                                        <p:attrNameLst>
                                          <p:attrName>style.visibility</p:attrName>
                                        </p:attrNameLst>
                                      </p:cBhvr>
                                      <p:to>
                                        <p:strVal val="visible"/>
                                      </p:to>
                                    </p:set>
                                    <p:anim calcmode="lin" valueType="num">
                                      <p:cBhvr>
                                        <p:cTn id="64" dur="500" fill="hold"/>
                                        <p:tgtEl>
                                          <p:spTgt spid="102"/>
                                        </p:tgtEl>
                                        <p:attrNameLst>
                                          <p:attrName>ppt_w</p:attrName>
                                        </p:attrNameLst>
                                      </p:cBhvr>
                                      <p:tavLst>
                                        <p:tav tm="0">
                                          <p:val>
                                            <p:fltVal val="0"/>
                                          </p:val>
                                        </p:tav>
                                        <p:tav tm="100000">
                                          <p:val>
                                            <p:strVal val="#ppt_w"/>
                                          </p:val>
                                        </p:tav>
                                      </p:tavLst>
                                    </p:anim>
                                    <p:anim calcmode="lin" valueType="num">
                                      <p:cBhvr>
                                        <p:cTn id="65" dur="500" fill="hold"/>
                                        <p:tgtEl>
                                          <p:spTgt spid="102"/>
                                        </p:tgtEl>
                                        <p:attrNameLst>
                                          <p:attrName>ppt_h</p:attrName>
                                        </p:attrNameLst>
                                      </p:cBhvr>
                                      <p:tavLst>
                                        <p:tav tm="0">
                                          <p:val>
                                            <p:fltVal val="0"/>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23" presetClass="entr" presetSubtype="16" fill="hold" grpId="0" nodeType="clickEffect">
                                  <p:stCondLst>
                                    <p:cond delay="0"/>
                                  </p:stCondLst>
                                  <p:childTnLst>
                                    <p:set>
                                      <p:cBhvr>
                                        <p:cTn id="69" dur="1" fill="hold">
                                          <p:stCondLst>
                                            <p:cond delay="0"/>
                                          </p:stCondLst>
                                        </p:cTn>
                                        <p:tgtEl>
                                          <p:spTgt spid="91"/>
                                        </p:tgtEl>
                                        <p:attrNameLst>
                                          <p:attrName>style.visibility</p:attrName>
                                        </p:attrNameLst>
                                      </p:cBhvr>
                                      <p:to>
                                        <p:strVal val="visible"/>
                                      </p:to>
                                    </p:set>
                                    <p:anim calcmode="lin" valueType="num">
                                      <p:cBhvr>
                                        <p:cTn id="70" dur="500" fill="hold"/>
                                        <p:tgtEl>
                                          <p:spTgt spid="91"/>
                                        </p:tgtEl>
                                        <p:attrNameLst>
                                          <p:attrName>ppt_w</p:attrName>
                                        </p:attrNameLst>
                                      </p:cBhvr>
                                      <p:tavLst>
                                        <p:tav tm="0">
                                          <p:val>
                                            <p:fltVal val="0"/>
                                          </p:val>
                                        </p:tav>
                                        <p:tav tm="100000">
                                          <p:val>
                                            <p:strVal val="#ppt_w"/>
                                          </p:val>
                                        </p:tav>
                                      </p:tavLst>
                                    </p:anim>
                                    <p:anim calcmode="lin" valueType="num">
                                      <p:cBhvr>
                                        <p:cTn id="71" dur="500" fill="hold"/>
                                        <p:tgtEl>
                                          <p:spTgt spid="91"/>
                                        </p:tgtEl>
                                        <p:attrNameLst>
                                          <p:attrName>ppt_h</p:attrName>
                                        </p:attrNameLst>
                                      </p:cBhvr>
                                      <p:tavLst>
                                        <p:tav tm="0">
                                          <p:val>
                                            <p:fltVal val="0"/>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8" fill="hold" nodeType="clickEffect">
                                  <p:stCondLst>
                                    <p:cond delay="0"/>
                                  </p:stCondLst>
                                  <p:childTnLst>
                                    <p:set>
                                      <p:cBhvr>
                                        <p:cTn id="75" dur="1" fill="hold">
                                          <p:stCondLst>
                                            <p:cond delay="0"/>
                                          </p:stCondLst>
                                        </p:cTn>
                                        <p:tgtEl>
                                          <p:spTgt spid="93"/>
                                        </p:tgtEl>
                                        <p:attrNameLst>
                                          <p:attrName>style.visibility</p:attrName>
                                        </p:attrNameLst>
                                      </p:cBhvr>
                                      <p:to>
                                        <p:strVal val="visible"/>
                                      </p:to>
                                    </p:set>
                                    <p:anim calcmode="lin" valueType="num">
                                      <p:cBhvr additive="base">
                                        <p:cTn id="76" dur="500" fill="hold"/>
                                        <p:tgtEl>
                                          <p:spTgt spid="93"/>
                                        </p:tgtEl>
                                        <p:attrNameLst>
                                          <p:attrName>ppt_x</p:attrName>
                                        </p:attrNameLst>
                                      </p:cBhvr>
                                      <p:tavLst>
                                        <p:tav tm="0">
                                          <p:val>
                                            <p:strVal val="0-#ppt_w/2"/>
                                          </p:val>
                                        </p:tav>
                                        <p:tav tm="100000">
                                          <p:val>
                                            <p:strVal val="#ppt_x"/>
                                          </p:val>
                                        </p:tav>
                                      </p:tavLst>
                                    </p:anim>
                                    <p:anim calcmode="lin" valueType="num">
                                      <p:cBhvr additive="base">
                                        <p:cTn id="77" dur="500" fill="hold"/>
                                        <p:tgtEl>
                                          <p:spTgt spid="93"/>
                                        </p:tgtEl>
                                        <p:attrNameLst>
                                          <p:attrName>ppt_y</p:attrName>
                                        </p:attrNameLst>
                                      </p:cBhvr>
                                      <p:tavLst>
                                        <p:tav tm="0">
                                          <p:val>
                                            <p:strVal val="#ppt_y"/>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499"/>
                                          </p:stCondLst>
                                        </p:cTn>
                                        <p:tgtEl>
                                          <p:spTgt spid="65"/>
                                        </p:tgtEl>
                                        <p:attrNameLst>
                                          <p:attrName>style.visibility</p:attrName>
                                        </p:attrNameLst>
                                      </p:cBhvr>
                                      <p:to>
                                        <p:strVal val="visible"/>
                                      </p:to>
                                    </p:set>
                                  </p:childTnLst>
                                  <p:subTnLst>
                                    <p:set>
                                      <p:cBhvr override="childStyle">
                                        <p:cTn dur="1" fill="hold" display="0" masterRel="nextClick" afterEffect="1"/>
                                        <p:tgtEl>
                                          <p:spTgt spid="65"/>
                                        </p:tgtEl>
                                        <p:attrNameLst>
                                          <p:attrName>style.visibility</p:attrName>
                                        </p:attrNameLst>
                                      </p:cBhvr>
                                      <p:to>
                                        <p:strVal val="hidden"/>
                                      </p:to>
                                    </p:set>
                                  </p:subTnLst>
                                </p:cTn>
                              </p:par>
                            </p:childTnLst>
                          </p:cTn>
                        </p:par>
                      </p:childTnLst>
                    </p:cTn>
                  </p:par>
                  <p:par>
                    <p:cTn id="82" fill="hold">
                      <p:stCondLst>
                        <p:cond delay="indefinite"/>
                      </p:stCondLst>
                      <p:childTnLst>
                        <p:par>
                          <p:cTn id="83" fill="hold">
                            <p:stCondLst>
                              <p:cond delay="0"/>
                            </p:stCondLst>
                            <p:childTnLst>
                              <p:par>
                                <p:cTn id="84" presetID="23" presetClass="entr" presetSubtype="16" fill="hold" grpId="0" nodeType="clickEffect">
                                  <p:stCondLst>
                                    <p:cond delay="0"/>
                                  </p:stCondLst>
                                  <p:childTnLst>
                                    <p:set>
                                      <p:cBhvr>
                                        <p:cTn id="85" dur="1" fill="hold">
                                          <p:stCondLst>
                                            <p:cond delay="0"/>
                                          </p:stCondLst>
                                        </p:cTn>
                                        <p:tgtEl>
                                          <p:spTgt spid="99"/>
                                        </p:tgtEl>
                                        <p:attrNameLst>
                                          <p:attrName>style.visibility</p:attrName>
                                        </p:attrNameLst>
                                      </p:cBhvr>
                                      <p:to>
                                        <p:strVal val="visible"/>
                                      </p:to>
                                    </p:set>
                                    <p:anim calcmode="lin" valueType="num">
                                      <p:cBhvr>
                                        <p:cTn id="86" dur="500" fill="hold"/>
                                        <p:tgtEl>
                                          <p:spTgt spid="99"/>
                                        </p:tgtEl>
                                        <p:attrNameLst>
                                          <p:attrName>ppt_w</p:attrName>
                                        </p:attrNameLst>
                                      </p:cBhvr>
                                      <p:tavLst>
                                        <p:tav tm="0">
                                          <p:val>
                                            <p:fltVal val="0"/>
                                          </p:val>
                                        </p:tav>
                                        <p:tav tm="100000">
                                          <p:val>
                                            <p:strVal val="#ppt_w"/>
                                          </p:val>
                                        </p:tav>
                                      </p:tavLst>
                                    </p:anim>
                                    <p:anim calcmode="lin" valueType="num">
                                      <p:cBhvr>
                                        <p:cTn id="87" dur="500" fill="hold"/>
                                        <p:tgtEl>
                                          <p:spTgt spid="99"/>
                                        </p:tgtEl>
                                        <p:attrNameLst>
                                          <p:attrName>ppt_h</p:attrName>
                                        </p:attrNameLst>
                                      </p:cBhvr>
                                      <p:tavLst>
                                        <p:tav tm="0">
                                          <p:val>
                                            <p:fltVal val="0"/>
                                          </p:val>
                                        </p:tav>
                                        <p:tav tm="100000">
                                          <p:val>
                                            <p:strVal val="#ppt_h"/>
                                          </p:val>
                                        </p:tav>
                                      </p:tavLst>
                                    </p:anim>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499"/>
                                          </p:stCondLst>
                                        </p:cTn>
                                        <p:tgtEl>
                                          <p:spTgt spid="64"/>
                                        </p:tgtEl>
                                        <p:attrNameLst>
                                          <p:attrName>style.visibility</p:attrName>
                                        </p:attrNameLst>
                                      </p:cBhvr>
                                      <p:to>
                                        <p:strVal val="visible"/>
                                      </p:to>
                                    </p:set>
                                  </p:childTnLst>
                                  <p:subTnLst>
                                    <p:set>
                                      <p:cBhvr override="childStyle">
                                        <p:cTn dur="1" fill="hold" display="0" masterRel="nextClick" afterEffect="1"/>
                                        <p:tgtEl>
                                          <p:spTgt spid="64"/>
                                        </p:tgtEl>
                                        <p:attrNameLst>
                                          <p:attrName>style.visibility</p:attrName>
                                        </p:attrNameLst>
                                      </p:cBhvr>
                                      <p:to>
                                        <p:strVal val="hidden"/>
                                      </p:to>
                                    </p:set>
                                  </p:subTnLst>
                                </p:cTn>
                              </p:par>
                            </p:childTnLst>
                          </p:cTn>
                        </p:par>
                      </p:childTnLst>
                    </p:cTn>
                  </p:par>
                  <p:par>
                    <p:cTn id="92" fill="hold">
                      <p:stCondLst>
                        <p:cond delay="indefinite"/>
                      </p:stCondLst>
                      <p:childTnLst>
                        <p:par>
                          <p:cTn id="93" fill="hold">
                            <p:stCondLst>
                              <p:cond delay="0"/>
                            </p:stCondLst>
                            <p:childTnLst>
                              <p:par>
                                <p:cTn id="94" presetID="23" presetClass="entr" presetSubtype="16" fill="hold" grpId="0" nodeType="clickEffect">
                                  <p:stCondLst>
                                    <p:cond delay="0"/>
                                  </p:stCondLst>
                                  <p:childTnLst>
                                    <p:set>
                                      <p:cBhvr>
                                        <p:cTn id="95" dur="1" fill="hold">
                                          <p:stCondLst>
                                            <p:cond delay="0"/>
                                          </p:stCondLst>
                                        </p:cTn>
                                        <p:tgtEl>
                                          <p:spTgt spid="104"/>
                                        </p:tgtEl>
                                        <p:attrNameLst>
                                          <p:attrName>style.visibility</p:attrName>
                                        </p:attrNameLst>
                                      </p:cBhvr>
                                      <p:to>
                                        <p:strVal val="visible"/>
                                      </p:to>
                                    </p:set>
                                    <p:anim calcmode="lin" valueType="num">
                                      <p:cBhvr>
                                        <p:cTn id="96" dur="500" fill="hold"/>
                                        <p:tgtEl>
                                          <p:spTgt spid="104"/>
                                        </p:tgtEl>
                                        <p:attrNameLst>
                                          <p:attrName>ppt_w</p:attrName>
                                        </p:attrNameLst>
                                      </p:cBhvr>
                                      <p:tavLst>
                                        <p:tav tm="0">
                                          <p:val>
                                            <p:fltVal val="0"/>
                                          </p:val>
                                        </p:tav>
                                        <p:tav tm="100000">
                                          <p:val>
                                            <p:strVal val="#ppt_w"/>
                                          </p:val>
                                        </p:tav>
                                      </p:tavLst>
                                    </p:anim>
                                    <p:anim calcmode="lin" valueType="num">
                                      <p:cBhvr>
                                        <p:cTn id="97" dur="500" fill="hold"/>
                                        <p:tgtEl>
                                          <p:spTgt spid="104"/>
                                        </p:tgtEl>
                                        <p:attrNameLst>
                                          <p:attrName>ppt_h</p:attrName>
                                        </p:attrNameLst>
                                      </p:cBhvr>
                                      <p:tavLst>
                                        <p:tav tm="0">
                                          <p:val>
                                            <p:fltVal val="0"/>
                                          </p:val>
                                        </p:tav>
                                        <p:tav tm="100000">
                                          <p:val>
                                            <p:strVal val="#ppt_h"/>
                                          </p:val>
                                        </p:tav>
                                      </p:tavLst>
                                    </p:anim>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499"/>
                                          </p:stCondLst>
                                        </p:cTn>
                                        <p:tgtEl>
                                          <p:spTgt spid="63"/>
                                        </p:tgtEl>
                                        <p:attrNameLst>
                                          <p:attrName>style.visibility</p:attrName>
                                        </p:attrNameLst>
                                      </p:cBhvr>
                                      <p:to>
                                        <p:strVal val="visible"/>
                                      </p:to>
                                    </p:set>
                                  </p:childTnLst>
                                  <p:subTnLst>
                                    <p:set>
                                      <p:cBhvr override="childStyle">
                                        <p:cTn dur="1" fill="hold" display="0" masterRel="nextClick" afterEffect="1"/>
                                        <p:tgtEl>
                                          <p:spTgt spid="63"/>
                                        </p:tgtEl>
                                        <p:attrNameLst>
                                          <p:attrName>style.visibility</p:attrName>
                                        </p:attrNameLst>
                                      </p:cBhvr>
                                      <p:to>
                                        <p:strVal val="hidden"/>
                                      </p:to>
                                    </p:set>
                                  </p:subTnLst>
                                </p:cTn>
                              </p:par>
                            </p:childTnLst>
                          </p:cTn>
                        </p:par>
                      </p:childTnLst>
                    </p:cTn>
                  </p:par>
                  <p:par>
                    <p:cTn id="102" fill="hold">
                      <p:stCondLst>
                        <p:cond delay="indefinite"/>
                      </p:stCondLst>
                      <p:childTnLst>
                        <p:par>
                          <p:cTn id="103" fill="hold">
                            <p:stCondLst>
                              <p:cond delay="0"/>
                            </p:stCondLst>
                            <p:childTnLst>
                              <p:par>
                                <p:cTn id="104" presetID="23" presetClass="entr" presetSubtype="16" fill="hold" grpId="0" nodeType="clickEffect">
                                  <p:stCondLst>
                                    <p:cond delay="0"/>
                                  </p:stCondLst>
                                  <p:childTnLst>
                                    <p:set>
                                      <p:cBhvr>
                                        <p:cTn id="105" dur="1" fill="hold">
                                          <p:stCondLst>
                                            <p:cond delay="0"/>
                                          </p:stCondLst>
                                        </p:cTn>
                                        <p:tgtEl>
                                          <p:spTgt spid="103"/>
                                        </p:tgtEl>
                                        <p:attrNameLst>
                                          <p:attrName>style.visibility</p:attrName>
                                        </p:attrNameLst>
                                      </p:cBhvr>
                                      <p:to>
                                        <p:strVal val="visible"/>
                                      </p:to>
                                    </p:set>
                                    <p:anim calcmode="lin" valueType="num">
                                      <p:cBhvr>
                                        <p:cTn id="106" dur="500" fill="hold"/>
                                        <p:tgtEl>
                                          <p:spTgt spid="103"/>
                                        </p:tgtEl>
                                        <p:attrNameLst>
                                          <p:attrName>ppt_w</p:attrName>
                                        </p:attrNameLst>
                                      </p:cBhvr>
                                      <p:tavLst>
                                        <p:tav tm="0">
                                          <p:val>
                                            <p:fltVal val="0"/>
                                          </p:val>
                                        </p:tav>
                                        <p:tav tm="100000">
                                          <p:val>
                                            <p:strVal val="#ppt_w"/>
                                          </p:val>
                                        </p:tav>
                                      </p:tavLst>
                                    </p:anim>
                                    <p:anim calcmode="lin" valueType="num">
                                      <p:cBhvr>
                                        <p:cTn id="107" dur="500" fill="hold"/>
                                        <p:tgtEl>
                                          <p:spTgt spid="103"/>
                                        </p:tgtEl>
                                        <p:attrNameLst>
                                          <p:attrName>ppt_h</p:attrName>
                                        </p:attrNameLst>
                                      </p:cBhvr>
                                      <p:tavLst>
                                        <p:tav tm="0">
                                          <p:val>
                                            <p:fltVal val="0"/>
                                          </p:val>
                                        </p:tav>
                                        <p:tav tm="100000">
                                          <p:val>
                                            <p:strVal val="#ppt_h"/>
                                          </p:val>
                                        </p:tav>
                                      </p:tavLst>
                                    </p:anim>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499"/>
                                          </p:stCondLst>
                                        </p:cTn>
                                        <p:tgtEl>
                                          <p:spTgt spid="62"/>
                                        </p:tgtEl>
                                        <p:attrNameLst>
                                          <p:attrName>style.visibility</p:attrName>
                                        </p:attrNameLst>
                                      </p:cBhvr>
                                      <p:to>
                                        <p:strVal val="visible"/>
                                      </p:to>
                                    </p:set>
                                  </p:childTnLst>
                                  <p:subTnLst>
                                    <p:set>
                                      <p:cBhvr override="childStyle">
                                        <p:cTn dur="1" fill="hold" display="0" masterRel="nextClick" afterEffect="1"/>
                                        <p:tgtEl>
                                          <p:spTgt spid="62"/>
                                        </p:tgtEl>
                                        <p:attrNameLst>
                                          <p:attrName>style.visibility</p:attrName>
                                        </p:attrNameLst>
                                      </p:cBhvr>
                                      <p:to>
                                        <p:strVal val="hidden"/>
                                      </p:to>
                                    </p:set>
                                  </p:subTnLst>
                                </p:cTn>
                              </p:par>
                            </p:childTnLst>
                          </p:cTn>
                        </p:par>
                      </p:childTnLst>
                    </p:cTn>
                  </p:par>
                  <p:par>
                    <p:cTn id="112" fill="hold">
                      <p:stCondLst>
                        <p:cond delay="indefinite"/>
                      </p:stCondLst>
                      <p:childTnLst>
                        <p:par>
                          <p:cTn id="113" fill="hold">
                            <p:stCondLst>
                              <p:cond delay="0"/>
                            </p:stCondLst>
                            <p:childTnLst>
                              <p:par>
                                <p:cTn id="114" presetID="23" presetClass="entr" presetSubtype="16" fill="hold" grpId="0" nodeType="clickEffect">
                                  <p:stCondLst>
                                    <p:cond delay="0"/>
                                  </p:stCondLst>
                                  <p:childTnLst>
                                    <p:set>
                                      <p:cBhvr>
                                        <p:cTn id="115" dur="1" fill="hold">
                                          <p:stCondLst>
                                            <p:cond delay="0"/>
                                          </p:stCondLst>
                                        </p:cTn>
                                        <p:tgtEl>
                                          <p:spTgt spid="112"/>
                                        </p:tgtEl>
                                        <p:attrNameLst>
                                          <p:attrName>style.visibility</p:attrName>
                                        </p:attrNameLst>
                                      </p:cBhvr>
                                      <p:to>
                                        <p:strVal val="visible"/>
                                      </p:to>
                                    </p:set>
                                    <p:anim calcmode="lin" valueType="num">
                                      <p:cBhvr>
                                        <p:cTn id="116" dur="500" fill="hold"/>
                                        <p:tgtEl>
                                          <p:spTgt spid="112"/>
                                        </p:tgtEl>
                                        <p:attrNameLst>
                                          <p:attrName>ppt_w</p:attrName>
                                        </p:attrNameLst>
                                      </p:cBhvr>
                                      <p:tavLst>
                                        <p:tav tm="0">
                                          <p:val>
                                            <p:fltVal val="0"/>
                                          </p:val>
                                        </p:tav>
                                        <p:tav tm="100000">
                                          <p:val>
                                            <p:strVal val="#ppt_w"/>
                                          </p:val>
                                        </p:tav>
                                      </p:tavLst>
                                    </p:anim>
                                    <p:anim calcmode="lin" valueType="num">
                                      <p:cBhvr>
                                        <p:cTn id="117" dur="500" fill="hold"/>
                                        <p:tgtEl>
                                          <p:spTgt spid="112"/>
                                        </p:tgtEl>
                                        <p:attrNameLst>
                                          <p:attrName>ppt_h</p:attrName>
                                        </p:attrNameLst>
                                      </p:cBhvr>
                                      <p:tavLst>
                                        <p:tav tm="0">
                                          <p:val>
                                            <p:fltVal val="0"/>
                                          </p:val>
                                        </p:tav>
                                        <p:tav tm="100000">
                                          <p:val>
                                            <p:strVal val="#ppt_h"/>
                                          </p:val>
                                        </p:tav>
                                      </p:tavLst>
                                    </p:anim>
                                  </p:childTnLst>
                                </p:cTn>
                              </p:par>
                            </p:childTnLst>
                          </p:cTn>
                        </p:par>
                      </p:childTnLst>
                    </p:cTn>
                  </p:par>
                  <p:par>
                    <p:cTn id="118" fill="hold">
                      <p:stCondLst>
                        <p:cond delay="indefinite"/>
                      </p:stCondLst>
                      <p:childTnLst>
                        <p:par>
                          <p:cTn id="119" fill="hold">
                            <p:stCondLst>
                              <p:cond delay="0"/>
                            </p:stCondLst>
                            <p:childTnLst>
                              <p:par>
                                <p:cTn id="120" presetID="2" presetClass="entr" presetSubtype="8" fill="hold" nodeType="clickEffect">
                                  <p:stCondLst>
                                    <p:cond delay="0"/>
                                  </p:stCondLst>
                                  <p:childTnLst>
                                    <p:set>
                                      <p:cBhvr>
                                        <p:cTn id="121" dur="1" fill="hold">
                                          <p:stCondLst>
                                            <p:cond delay="0"/>
                                          </p:stCondLst>
                                        </p:cTn>
                                        <p:tgtEl>
                                          <p:spTgt spid="105"/>
                                        </p:tgtEl>
                                        <p:attrNameLst>
                                          <p:attrName>style.visibility</p:attrName>
                                        </p:attrNameLst>
                                      </p:cBhvr>
                                      <p:to>
                                        <p:strVal val="visible"/>
                                      </p:to>
                                    </p:set>
                                    <p:anim calcmode="lin" valueType="num">
                                      <p:cBhvr additive="base">
                                        <p:cTn id="122" dur="500" fill="hold"/>
                                        <p:tgtEl>
                                          <p:spTgt spid="105"/>
                                        </p:tgtEl>
                                        <p:attrNameLst>
                                          <p:attrName>ppt_x</p:attrName>
                                        </p:attrNameLst>
                                      </p:cBhvr>
                                      <p:tavLst>
                                        <p:tav tm="0">
                                          <p:val>
                                            <p:strVal val="0-#ppt_w/2"/>
                                          </p:val>
                                        </p:tav>
                                        <p:tav tm="100000">
                                          <p:val>
                                            <p:strVal val="#ppt_x"/>
                                          </p:val>
                                        </p:tav>
                                      </p:tavLst>
                                    </p:anim>
                                    <p:anim calcmode="lin" valueType="num">
                                      <p:cBhvr additive="base">
                                        <p:cTn id="123" dur="500" fill="hold"/>
                                        <p:tgtEl>
                                          <p:spTgt spid="105"/>
                                        </p:tgtEl>
                                        <p:attrNameLst>
                                          <p:attrName>ppt_y</p:attrName>
                                        </p:attrNameLst>
                                      </p:cBhvr>
                                      <p:tavLst>
                                        <p:tav tm="0">
                                          <p:val>
                                            <p:strVal val="#ppt_y"/>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23" presetClass="entr" presetSubtype="16" fill="hold" grpId="0" nodeType="clickEffect">
                                  <p:stCondLst>
                                    <p:cond delay="0"/>
                                  </p:stCondLst>
                                  <p:childTnLst>
                                    <p:set>
                                      <p:cBhvr>
                                        <p:cTn id="127" dur="1" fill="hold">
                                          <p:stCondLst>
                                            <p:cond delay="0"/>
                                          </p:stCondLst>
                                        </p:cTn>
                                        <p:tgtEl>
                                          <p:spTgt spid="111"/>
                                        </p:tgtEl>
                                        <p:attrNameLst>
                                          <p:attrName>style.visibility</p:attrName>
                                        </p:attrNameLst>
                                      </p:cBhvr>
                                      <p:to>
                                        <p:strVal val="visible"/>
                                      </p:to>
                                    </p:set>
                                    <p:anim calcmode="lin" valueType="num">
                                      <p:cBhvr>
                                        <p:cTn id="128" dur="500" fill="hold"/>
                                        <p:tgtEl>
                                          <p:spTgt spid="111"/>
                                        </p:tgtEl>
                                        <p:attrNameLst>
                                          <p:attrName>ppt_w</p:attrName>
                                        </p:attrNameLst>
                                      </p:cBhvr>
                                      <p:tavLst>
                                        <p:tav tm="0">
                                          <p:val>
                                            <p:fltVal val="0"/>
                                          </p:val>
                                        </p:tav>
                                        <p:tav tm="100000">
                                          <p:val>
                                            <p:strVal val="#ppt_w"/>
                                          </p:val>
                                        </p:tav>
                                      </p:tavLst>
                                    </p:anim>
                                    <p:anim calcmode="lin" valueType="num">
                                      <p:cBhvr>
                                        <p:cTn id="129" dur="500" fill="hold"/>
                                        <p:tgtEl>
                                          <p:spTgt spid="111"/>
                                        </p:tgtEl>
                                        <p:attrNameLst>
                                          <p:attrName>ppt_h</p:attrName>
                                        </p:attrNameLst>
                                      </p:cBhvr>
                                      <p:tavLst>
                                        <p:tav tm="0">
                                          <p:val>
                                            <p:fltVal val="0"/>
                                          </p:val>
                                        </p:tav>
                                        <p:tav tm="100000">
                                          <p:val>
                                            <p:strVal val="#ppt_h"/>
                                          </p:val>
                                        </p:tav>
                                      </p:tavLst>
                                    </p:anim>
                                  </p:childTnLst>
                                </p:cTn>
                              </p:par>
                            </p:childTnLst>
                          </p:cTn>
                        </p:par>
                      </p:childTnLst>
                    </p:cTn>
                  </p:par>
                  <p:par>
                    <p:cTn id="130" fill="hold">
                      <p:stCondLst>
                        <p:cond delay="indefinite"/>
                      </p:stCondLst>
                      <p:childTnLst>
                        <p:par>
                          <p:cTn id="131" fill="hold">
                            <p:stCondLst>
                              <p:cond delay="0"/>
                            </p:stCondLst>
                            <p:childTnLst>
                              <p:par>
                                <p:cTn id="132" presetID="23" presetClass="entr" presetSubtype="32" fill="hold" grpId="0" nodeType="clickEffect">
                                  <p:stCondLst>
                                    <p:cond delay="0"/>
                                  </p:stCondLst>
                                  <p:childTnLst>
                                    <p:set>
                                      <p:cBhvr>
                                        <p:cTn id="133" dur="1" fill="hold">
                                          <p:stCondLst>
                                            <p:cond delay="0"/>
                                          </p:stCondLst>
                                        </p:cTn>
                                        <p:tgtEl>
                                          <p:spTgt spid="66"/>
                                        </p:tgtEl>
                                        <p:attrNameLst>
                                          <p:attrName>style.visibility</p:attrName>
                                        </p:attrNameLst>
                                      </p:cBhvr>
                                      <p:to>
                                        <p:strVal val="visible"/>
                                      </p:to>
                                    </p:set>
                                    <p:anim calcmode="lin" valueType="num">
                                      <p:cBhvr>
                                        <p:cTn id="134" dur="500" fill="hold"/>
                                        <p:tgtEl>
                                          <p:spTgt spid="66"/>
                                        </p:tgtEl>
                                        <p:attrNameLst>
                                          <p:attrName>ppt_w</p:attrName>
                                        </p:attrNameLst>
                                      </p:cBhvr>
                                      <p:tavLst>
                                        <p:tav tm="0">
                                          <p:val>
                                            <p:strVal val="4*#ppt_w"/>
                                          </p:val>
                                        </p:tav>
                                        <p:tav tm="100000">
                                          <p:val>
                                            <p:strVal val="#ppt_w"/>
                                          </p:val>
                                        </p:tav>
                                      </p:tavLst>
                                    </p:anim>
                                    <p:anim calcmode="lin" valueType="num">
                                      <p:cBhvr>
                                        <p:cTn id="135" dur="500" fill="hold"/>
                                        <p:tgtEl>
                                          <p:spTgt spid="66"/>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0" grpId="0" animBg="1"/>
      <p:bldP spid="61" grpId="0" animBg="1"/>
      <p:bldP spid="62" grpId="0" animBg="1"/>
      <p:bldP spid="63" grpId="0" animBg="1"/>
      <p:bldP spid="64" grpId="0" animBg="1"/>
      <p:bldP spid="65" grpId="0" animBg="1"/>
      <p:bldP spid="66" grpId="0" animBg="1"/>
      <p:bldP spid="82" grpId="0" autoUpdateAnimBg="0"/>
      <p:bldP spid="83" grpId="0" autoUpdateAnimBg="0"/>
      <p:bldP spid="90" grpId="0" autoUpdateAnimBg="0"/>
      <p:bldP spid="91" grpId="0" autoUpdateAnimBg="0"/>
      <p:bldP spid="99" grpId="0" autoUpdateAnimBg="0"/>
      <p:bldP spid="100" grpId="0" autoUpdateAnimBg="0"/>
      <p:bldP spid="101" grpId="0" autoUpdateAnimBg="0"/>
      <p:bldP spid="102" grpId="0" autoUpdateAnimBg="0"/>
      <p:bldP spid="103" grpId="0" autoUpdateAnimBg="0"/>
      <p:bldP spid="104" grpId="0" autoUpdateAnimBg="0"/>
      <p:bldP spid="111" grpId="0" autoUpdateAnimBg="0"/>
      <p:bldP spid="112"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xmlns="" id="{DEDACFB6-87AC-D63C-A69D-4FB242A5EFB8}"/>
              </a:ext>
            </a:extLst>
          </p:cNvPr>
          <p:cNvSpPr txBox="1">
            <a:spLocks noChangeArrowheads="1"/>
          </p:cNvSpPr>
          <p:nvPr/>
        </p:nvSpPr>
        <p:spPr>
          <a:xfrm>
            <a:off x="563563" y="1758950"/>
            <a:ext cx="8016875" cy="444023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altLang="fr-FR" sz="2400" b="1" dirty="0"/>
              <a:t>Formules tautologiquement équivalentes</a:t>
            </a:r>
          </a:p>
          <a:p>
            <a:pPr lvl="1"/>
            <a:r>
              <a:rPr lang="fr-FR" altLang="fr-FR" sz="2000" dirty="0"/>
              <a:t>les tables de vérité sont les mêmes</a:t>
            </a:r>
          </a:p>
          <a:p>
            <a:pPr lvl="1"/>
            <a:endParaRPr lang="fr-FR" altLang="fr-FR" sz="2000" dirty="0"/>
          </a:p>
          <a:p>
            <a:pPr lvl="1"/>
            <a:endParaRPr lang="fr-FR" altLang="fr-FR" sz="2000" dirty="0"/>
          </a:p>
          <a:p>
            <a:pPr lvl="1"/>
            <a:endParaRPr lang="fr-FR" altLang="fr-FR" sz="2000" dirty="0"/>
          </a:p>
          <a:p>
            <a:pPr lvl="1"/>
            <a:r>
              <a:rPr lang="fr-FR" altLang="fr-FR" sz="2400" dirty="0"/>
              <a:t>Condition nécessaire et suffisante :</a:t>
            </a:r>
            <a:br>
              <a:rPr lang="fr-FR" altLang="fr-FR" sz="2400" dirty="0"/>
            </a:br>
            <a:r>
              <a:rPr lang="fr-FR" altLang="fr-FR" sz="2400" dirty="0"/>
              <a:t/>
            </a:r>
            <a:br>
              <a:rPr lang="fr-FR" altLang="fr-FR" sz="2400" dirty="0"/>
            </a:br>
            <a:r>
              <a:rPr lang="fr-FR" altLang="fr-FR" sz="2400" dirty="0"/>
              <a:t>	(F) </a:t>
            </a:r>
            <a:r>
              <a:rPr lang="fr-FR" altLang="fr-FR" sz="2400" dirty="0">
                <a:sym typeface="Symbol" panose="05050102010706020507" pitchFamily="18" charset="2"/>
              </a:rPr>
              <a:t> (H) est une</a:t>
            </a:r>
            <a:r>
              <a:rPr lang="fr-FR" altLang="fr-FR" sz="2400" dirty="0">
                <a:solidFill>
                  <a:srgbClr val="C00000"/>
                </a:solidFill>
                <a:sym typeface="Symbol" panose="05050102010706020507" pitchFamily="18" charset="2"/>
              </a:rPr>
              <a:t> tautologie</a:t>
            </a:r>
            <a:r>
              <a:rPr lang="fr-FR" altLang="fr-FR" sz="1800" dirty="0">
                <a:sym typeface="Symbol" panose="05050102010706020507" pitchFamily="18" charset="2"/>
              </a:rPr>
              <a:t>	</a:t>
            </a:r>
            <a:r>
              <a:rPr lang="fr-FR" altLang="fr-FR" sz="1800" b="1" dirty="0">
                <a:sym typeface="Symbol" panose="05050102010706020507" pitchFamily="18" charset="2"/>
              </a:rPr>
              <a:t>	 </a:t>
            </a:r>
            <a:r>
              <a:rPr lang="fr-FR" altLang="fr-FR" sz="2000" b="1" dirty="0"/>
              <a:t>(F) </a:t>
            </a:r>
            <a:r>
              <a:rPr lang="fr-FR" altLang="fr-FR" sz="2000" b="1" dirty="0">
                <a:sym typeface="Symbol" panose="05050102010706020507" pitchFamily="18" charset="2"/>
              </a:rPr>
              <a:t> (H) </a:t>
            </a:r>
            <a:endParaRPr lang="fr-FR" altLang="fr-FR" sz="2000" b="1" dirty="0"/>
          </a:p>
          <a:p>
            <a:pPr lvl="1"/>
            <a:endParaRPr lang="fr-FR" altLang="fr-FR" b="1" dirty="0"/>
          </a:p>
        </p:txBody>
      </p:sp>
      <p:graphicFrame>
        <p:nvGraphicFramePr>
          <p:cNvPr id="3" name="Object 4">
            <a:extLst>
              <a:ext uri="{FF2B5EF4-FFF2-40B4-BE49-F238E27FC236}">
                <a16:creationId xmlns:a16="http://schemas.microsoft.com/office/drawing/2014/main" xmlns="" id="{C3C7E821-34B3-E61C-DC6C-C3E4D1C65FD4}"/>
              </a:ext>
            </a:extLst>
          </p:cNvPr>
          <p:cNvGraphicFramePr>
            <a:graphicFrameLocks noChangeAspect="1"/>
          </p:cNvGraphicFramePr>
          <p:nvPr/>
        </p:nvGraphicFramePr>
        <p:xfrm>
          <a:off x="3124200" y="2743200"/>
          <a:ext cx="2971800" cy="482600"/>
        </p:xfrm>
        <a:graphic>
          <a:graphicData uri="http://schemas.openxmlformats.org/presentationml/2006/ole">
            <mc:AlternateContent xmlns:mc="http://schemas.openxmlformats.org/markup-compatibility/2006">
              <mc:Choice xmlns:v="urn:schemas-microsoft-com:vml" Requires="v">
                <p:oleObj spid="_x0000_s3074" name="Équation" r:id="rId3" imgW="1244600" imgH="203200" progId="Equation.3">
                  <p:embed/>
                </p:oleObj>
              </mc:Choice>
              <mc:Fallback>
                <p:oleObj name="Équation" r:id="rId3" imgW="1244600" imgH="203200" progId="Equation.3">
                  <p:embed/>
                  <p:pic>
                    <p:nvPicPr>
                      <p:cNvPr id="25604" name="Object 4">
                        <a:extLst>
                          <a:ext uri="{FF2B5EF4-FFF2-40B4-BE49-F238E27FC236}">
                            <a16:creationId xmlns:a16="http://schemas.microsoft.com/office/drawing/2014/main" xmlns="" id="{A11456DC-6C09-060E-AF41-C32A6DC7C9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2743200"/>
                        <a:ext cx="29718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5">
            <a:extLst>
              <a:ext uri="{FF2B5EF4-FFF2-40B4-BE49-F238E27FC236}">
                <a16:creationId xmlns:a16="http://schemas.microsoft.com/office/drawing/2014/main" xmlns="" id="{D4AC9241-57AC-FD57-CFC9-FEE11D0859FC}"/>
              </a:ext>
            </a:extLst>
          </p:cNvPr>
          <p:cNvGrpSpPr>
            <a:grpSpLocks/>
          </p:cNvGrpSpPr>
          <p:nvPr/>
        </p:nvGrpSpPr>
        <p:grpSpPr bwMode="auto">
          <a:xfrm>
            <a:off x="5943600" y="4869160"/>
            <a:ext cx="152400" cy="304800"/>
            <a:chOff x="528" y="384"/>
            <a:chExt cx="96" cy="288"/>
          </a:xfrm>
        </p:grpSpPr>
        <p:sp>
          <p:nvSpPr>
            <p:cNvPr id="5" name="Line 6">
              <a:extLst>
                <a:ext uri="{FF2B5EF4-FFF2-40B4-BE49-F238E27FC236}">
                  <a16:creationId xmlns:a16="http://schemas.microsoft.com/office/drawing/2014/main" xmlns="" id="{8380E53F-9AEB-BD91-5960-0DA7ADA0FDB8}"/>
                </a:ext>
              </a:extLst>
            </p:cNvPr>
            <p:cNvSpPr>
              <a:spLocks noChangeShapeType="1"/>
            </p:cNvSpPr>
            <p:nvPr/>
          </p:nvSpPr>
          <p:spPr bwMode="auto">
            <a:xfrm>
              <a:off x="528" y="384"/>
              <a:ext cx="0"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6" name="Line 7">
              <a:extLst>
                <a:ext uri="{FF2B5EF4-FFF2-40B4-BE49-F238E27FC236}">
                  <a16:creationId xmlns:a16="http://schemas.microsoft.com/office/drawing/2014/main" xmlns="" id="{B6163038-7061-4805-56BC-FA5813F674D4}"/>
                </a:ext>
              </a:extLst>
            </p:cNvPr>
            <p:cNvSpPr>
              <a:spLocks noChangeShapeType="1"/>
            </p:cNvSpPr>
            <p:nvPr/>
          </p:nvSpPr>
          <p:spPr bwMode="auto">
            <a:xfrm>
              <a:off x="528" y="52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sp>
        <p:nvSpPr>
          <p:cNvPr id="7" name="Titre 1">
            <a:extLst>
              <a:ext uri="{FF2B5EF4-FFF2-40B4-BE49-F238E27FC236}">
                <a16:creationId xmlns:a16="http://schemas.microsoft.com/office/drawing/2014/main" xmlns="" id="{544AE44C-C2BE-CE3D-A0EE-5A0BA5C5782B}"/>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Formules particulières(3)</a:t>
            </a:r>
            <a:endParaRPr lang="fr-FR" dirty="0"/>
          </a:p>
        </p:txBody>
      </p:sp>
    </p:spTree>
    <p:extLst>
      <p:ext uri="{BB962C8B-B14F-4D97-AF65-F5344CB8AC3E}">
        <p14:creationId xmlns:p14="http://schemas.microsoft.com/office/powerpoint/2010/main" val="1874191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a:extLst>
              <a:ext uri="{FF2B5EF4-FFF2-40B4-BE49-F238E27FC236}">
                <a16:creationId xmlns:a16="http://schemas.microsoft.com/office/drawing/2014/main" xmlns="" id="{34EAEB90-47B3-8100-E689-CDF60258F930}"/>
              </a:ext>
            </a:extLst>
          </p:cNvPr>
          <p:cNvGrpSpPr>
            <a:grpSpLocks/>
          </p:cNvGrpSpPr>
          <p:nvPr/>
        </p:nvGrpSpPr>
        <p:grpSpPr bwMode="auto">
          <a:xfrm>
            <a:off x="4607768" y="3562077"/>
            <a:ext cx="3276600" cy="1235075"/>
            <a:chOff x="3408" y="1968"/>
            <a:chExt cx="2064" cy="778"/>
          </a:xfrm>
        </p:grpSpPr>
        <p:sp>
          <p:nvSpPr>
            <p:cNvPr id="3" name="Rectangle 16">
              <a:extLst>
                <a:ext uri="{FF2B5EF4-FFF2-40B4-BE49-F238E27FC236}">
                  <a16:creationId xmlns:a16="http://schemas.microsoft.com/office/drawing/2014/main" xmlns="" id="{D3A02BE4-F256-C032-02E8-B4A22EBC8605}"/>
                </a:ext>
              </a:extLst>
            </p:cNvPr>
            <p:cNvSpPr>
              <a:spLocks noChangeArrowheads="1"/>
            </p:cNvSpPr>
            <p:nvPr/>
          </p:nvSpPr>
          <p:spPr bwMode="auto">
            <a:xfrm>
              <a:off x="3408" y="1968"/>
              <a:ext cx="2064" cy="768"/>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fr-FR" altLang="fr-FR"/>
            </a:p>
          </p:txBody>
        </p:sp>
        <p:sp>
          <p:nvSpPr>
            <p:cNvPr id="4" name="Text Box 15">
              <a:extLst>
                <a:ext uri="{FF2B5EF4-FFF2-40B4-BE49-F238E27FC236}">
                  <a16:creationId xmlns:a16="http://schemas.microsoft.com/office/drawing/2014/main" xmlns="" id="{11743B87-C1C6-00A2-5C21-09085B031FBA}"/>
                </a:ext>
              </a:extLst>
            </p:cNvPr>
            <p:cNvSpPr txBox="1">
              <a:spLocks noChangeArrowheads="1"/>
            </p:cNvSpPr>
            <p:nvPr/>
          </p:nvSpPr>
          <p:spPr bwMode="auto">
            <a:xfrm>
              <a:off x="3648" y="2496"/>
              <a:ext cx="16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000"/>
                <a:t>lois de </a:t>
              </a:r>
              <a:r>
                <a:rPr lang="fr-FR" altLang="fr-FR" sz="2000" b="1"/>
                <a:t>De Morgan</a:t>
              </a:r>
              <a:endParaRPr lang="fr-FR" altLang="fr-FR" sz="2000"/>
            </a:p>
          </p:txBody>
        </p:sp>
      </p:grpSp>
      <p:sp>
        <p:nvSpPr>
          <p:cNvPr id="5" name="Rectangle 13">
            <a:extLst>
              <a:ext uri="{FF2B5EF4-FFF2-40B4-BE49-F238E27FC236}">
                <a16:creationId xmlns:a16="http://schemas.microsoft.com/office/drawing/2014/main" xmlns="" id="{C80711DF-2A95-9C4D-7F66-F0A4B60A820F}"/>
              </a:ext>
            </a:extLst>
          </p:cNvPr>
          <p:cNvSpPr txBox="1">
            <a:spLocks noChangeArrowheads="1"/>
          </p:cNvSpPr>
          <p:nvPr/>
        </p:nvSpPr>
        <p:spPr>
          <a:xfrm>
            <a:off x="524188" y="4118988"/>
            <a:ext cx="8016875" cy="2355850"/>
          </a:xfrm>
          <a:prstGeom prst="rect">
            <a:avLst/>
          </a:prstGeom>
          <a:noFill/>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altLang="fr-FR" b="1" dirty="0"/>
              <a:t>Propriétés </a:t>
            </a:r>
            <a:r>
              <a:rPr lang="fr-FR" altLang="fr-FR" dirty="0"/>
              <a:t>de</a:t>
            </a:r>
            <a:r>
              <a:rPr lang="fr-FR" altLang="fr-FR" b="1" dirty="0"/>
              <a:t> </a:t>
            </a:r>
            <a:r>
              <a:rPr lang="fr-FR" altLang="fr-FR" b="1" dirty="0">
                <a:sym typeface="Symbol" panose="05050102010706020507" pitchFamily="18" charset="2"/>
              </a:rPr>
              <a:t> </a:t>
            </a:r>
            <a:r>
              <a:rPr lang="fr-FR" altLang="fr-FR" dirty="0">
                <a:sym typeface="Symbol" panose="05050102010706020507" pitchFamily="18" charset="2"/>
              </a:rPr>
              <a:t>et</a:t>
            </a:r>
            <a:r>
              <a:rPr lang="fr-FR" altLang="fr-FR" b="1" dirty="0">
                <a:sym typeface="Symbol" panose="05050102010706020507" pitchFamily="18" charset="2"/>
              </a:rPr>
              <a:t> </a:t>
            </a:r>
          </a:p>
          <a:p>
            <a:pPr lvl="1"/>
            <a:r>
              <a:rPr lang="fr-FR" altLang="fr-FR" sz="1800" dirty="0">
                <a:sym typeface="Symbol" panose="05050102010706020507" pitchFamily="18" charset="2"/>
              </a:rPr>
              <a:t>associativité </a:t>
            </a:r>
          </a:p>
          <a:p>
            <a:pPr lvl="1"/>
            <a:r>
              <a:rPr lang="fr-FR" altLang="fr-FR" sz="1800" dirty="0">
                <a:sym typeface="Symbol" panose="05050102010706020507" pitchFamily="18" charset="2"/>
              </a:rPr>
              <a:t>distributivité (dans les 2 sens)</a:t>
            </a:r>
            <a:endParaRPr lang="fr-FR" altLang="fr-FR" sz="1800" b="1" dirty="0">
              <a:sym typeface="Symbol" panose="05050102010706020507" pitchFamily="18" charset="2"/>
            </a:endParaRPr>
          </a:p>
          <a:p>
            <a:pPr lvl="1"/>
            <a:r>
              <a:rPr lang="fr-FR" altLang="fr-FR" sz="1800" dirty="0">
                <a:sym typeface="Symbol" panose="05050102010706020507" pitchFamily="18" charset="2"/>
              </a:rPr>
              <a:t>éléments neutres (</a:t>
            </a:r>
            <a:r>
              <a:rPr lang="fr-FR" altLang="fr-FR" sz="1800" b="1" dirty="0">
                <a:sym typeface="Symbol" panose="05050102010706020507" pitchFamily="18" charset="2"/>
              </a:rPr>
              <a:t>0 </a:t>
            </a:r>
            <a:r>
              <a:rPr lang="fr-FR" altLang="fr-FR" sz="1800" dirty="0">
                <a:sym typeface="Symbol" panose="05050102010706020507" pitchFamily="18" charset="2"/>
              </a:rPr>
              <a:t>pour </a:t>
            </a:r>
            <a:r>
              <a:rPr lang="fr-FR" altLang="fr-FR" sz="1800" b="1" dirty="0">
                <a:sym typeface="Symbol" panose="05050102010706020507" pitchFamily="18" charset="2"/>
              </a:rPr>
              <a:t></a:t>
            </a:r>
            <a:r>
              <a:rPr lang="fr-FR" altLang="fr-FR" sz="1800" dirty="0">
                <a:sym typeface="Symbol" panose="05050102010706020507" pitchFamily="18" charset="2"/>
              </a:rPr>
              <a:t> et </a:t>
            </a:r>
            <a:r>
              <a:rPr lang="fr-FR" altLang="fr-FR" sz="1800" b="1" dirty="0">
                <a:sym typeface="Symbol" panose="05050102010706020507" pitchFamily="18" charset="2"/>
              </a:rPr>
              <a:t>1</a:t>
            </a:r>
            <a:r>
              <a:rPr lang="fr-FR" altLang="fr-FR" sz="1800" dirty="0">
                <a:sym typeface="Symbol" panose="05050102010706020507" pitchFamily="18" charset="2"/>
              </a:rPr>
              <a:t> pour </a:t>
            </a:r>
            <a:r>
              <a:rPr lang="fr-FR" altLang="fr-FR" sz="1800" b="1" dirty="0">
                <a:sym typeface="Symbol" panose="05050102010706020507" pitchFamily="18" charset="2"/>
              </a:rPr>
              <a:t></a:t>
            </a:r>
            <a:r>
              <a:rPr lang="fr-FR" altLang="fr-FR" sz="1800" dirty="0">
                <a:sym typeface="Symbol" panose="05050102010706020507" pitchFamily="18" charset="2"/>
              </a:rPr>
              <a:t>)</a:t>
            </a:r>
          </a:p>
          <a:p>
            <a:pPr lvl="1"/>
            <a:r>
              <a:rPr lang="fr-FR" altLang="fr-FR" sz="1800" dirty="0">
                <a:sym typeface="Symbol" panose="05050102010706020507" pitchFamily="18" charset="2"/>
              </a:rPr>
              <a:t>éléments absorbants (</a:t>
            </a:r>
            <a:r>
              <a:rPr lang="fr-FR" altLang="fr-FR" sz="1800" b="1" dirty="0">
                <a:sym typeface="Symbol" panose="05050102010706020507" pitchFamily="18" charset="2"/>
              </a:rPr>
              <a:t>1 </a:t>
            </a:r>
            <a:r>
              <a:rPr lang="fr-FR" altLang="fr-FR" sz="1800" dirty="0">
                <a:sym typeface="Symbol" panose="05050102010706020507" pitchFamily="18" charset="2"/>
              </a:rPr>
              <a:t>pour </a:t>
            </a:r>
            <a:r>
              <a:rPr lang="fr-FR" altLang="fr-FR" sz="1800" b="1" dirty="0">
                <a:sym typeface="Symbol" panose="05050102010706020507" pitchFamily="18" charset="2"/>
              </a:rPr>
              <a:t></a:t>
            </a:r>
            <a:r>
              <a:rPr lang="fr-FR" altLang="fr-FR" sz="1800" dirty="0">
                <a:sym typeface="Symbol" panose="05050102010706020507" pitchFamily="18" charset="2"/>
              </a:rPr>
              <a:t> et </a:t>
            </a:r>
            <a:r>
              <a:rPr lang="fr-FR" altLang="fr-FR" sz="1800" b="1" dirty="0">
                <a:sym typeface="Symbol" panose="05050102010706020507" pitchFamily="18" charset="2"/>
              </a:rPr>
              <a:t>0</a:t>
            </a:r>
            <a:r>
              <a:rPr lang="fr-FR" altLang="fr-FR" sz="1800" dirty="0">
                <a:sym typeface="Symbol" panose="05050102010706020507" pitchFamily="18" charset="2"/>
              </a:rPr>
              <a:t> pour </a:t>
            </a:r>
            <a:r>
              <a:rPr lang="fr-FR" altLang="fr-FR" sz="1800" b="1" dirty="0">
                <a:sym typeface="Symbol" panose="05050102010706020507" pitchFamily="18" charset="2"/>
              </a:rPr>
              <a:t></a:t>
            </a:r>
            <a:r>
              <a:rPr lang="fr-FR" altLang="fr-FR" sz="1800" dirty="0">
                <a:sym typeface="Symbol" panose="05050102010706020507" pitchFamily="18" charset="2"/>
              </a:rPr>
              <a:t>)</a:t>
            </a:r>
            <a:endParaRPr lang="fr-FR" altLang="fr-FR" sz="1800" b="1" dirty="0">
              <a:sym typeface="Symbol" panose="05050102010706020507" pitchFamily="18" charset="2"/>
            </a:endParaRPr>
          </a:p>
          <a:p>
            <a:endParaRPr lang="fr-FR" altLang="fr-FR" dirty="0"/>
          </a:p>
        </p:txBody>
      </p:sp>
      <p:graphicFrame>
        <p:nvGraphicFramePr>
          <p:cNvPr id="6" name="Object 4">
            <a:extLst>
              <a:ext uri="{FF2B5EF4-FFF2-40B4-BE49-F238E27FC236}">
                <a16:creationId xmlns:a16="http://schemas.microsoft.com/office/drawing/2014/main" xmlns="" id="{26893345-B47D-C05B-DC86-B3AE9782361D}"/>
              </a:ext>
            </a:extLst>
          </p:cNvPr>
          <p:cNvGraphicFramePr>
            <a:graphicFrameLocks noChangeAspect="1"/>
          </p:cNvGraphicFramePr>
          <p:nvPr>
            <p:extLst>
              <p:ext uri="{D42A27DB-BD31-4B8C-83A1-F6EECF244321}">
                <p14:modId xmlns:p14="http://schemas.microsoft.com/office/powerpoint/2010/main" val="1497951549"/>
              </p:ext>
            </p:extLst>
          </p:nvPr>
        </p:nvGraphicFramePr>
        <p:xfrm>
          <a:off x="609600" y="1736387"/>
          <a:ext cx="4038600" cy="396875"/>
        </p:xfrm>
        <a:graphic>
          <a:graphicData uri="http://schemas.openxmlformats.org/presentationml/2006/ole">
            <mc:AlternateContent xmlns:mc="http://schemas.openxmlformats.org/markup-compatibility/2006">
              <mc:Choice xmlns:v="urn:schemas-microsoft-com:vml" Requires="v">
                <p:oleObj spid="_x0000_s4098" name="Équation" r:id="rId3" imgW="2324100" imgH="228600" progId="Equation.3">
                  <p:embed/>
                </p:oleObj>
              </mc:Choice>
              <mc:Fallback>
                <p:oleObj name="Équation" r:id="rId3" imgW="2324100" imgH="228600" progId="Equation.3">
                  <p:embed/>
                  <p:pic>
                    <p:nvPicPr>
                      <p:cNvPr id="24580" name="Object 4">
                        <a:extLst>
                          <a:ext uri="{FF2B5EF4-FFF2-40B4-BE49-F238E27FC236}">
                            <a16:creationId xmlns:a16="http://schemas.microsoft.com/office/drawing/2014/main" xmlns="" id="{FFBC8763-D771-E9E2-5B0F-56F1CBDEDC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736387"/>
                        <a:ext cx="40386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5">
            <a:extLst>
              <a:ext uri="{FF2B5EF4-FFF2-40B4-BE49-F238E27FC236}">
                <a16:creationId xmlns:a16="http://schemas.microsoft.com/office/drawing/2014/main" xmlns="" id="{F58AF44B-D38F-9E86-739D-6206B763F9E6}"/>
              </a:ext>
            </a:extLst>
          </p:cNvPr>
          <p:cNvGraphicFramePr>
            <a:graphicFrameLocks noChangeAspect="1"/>
          </p:cNvGraphicFramePr>
          <p:nvPr>
            <p:extLst>
              <p:ext uri="{D42A27DB-BD31-4B8C-83A1-F6EECF244321}">
                <p14:modId xmlns:p14="http://schemas.microsoft.com/office/powerpoint/2010/main" val="720317549"/>
              </p:ext>
            </p:extLst>
          </p:nvPr>
        </p:nvGraphicFramePr>
        <p:xfrm>
          <a:off x="4862204" y="1917976"/>
          <a:ext cx="2670175" cy="396875"/>
        </p:xfrm>
        <a:graphic>
          <a:graphicData uri="http://schemas.openxmlformats.org/presentationml/2006/ole">
            <mc:AlternateContent xmlns:mc="http://schemas.openxmlformats.org/markup-compatibility/2006">
              <mc:Choice xmlns:v="urn:schemas-microsoft-com:vml" Requires="v">
                <p:oleObj spid="_x0000_s4099" name="Équation" r:id="rId5" imgW="1536700" imgH="228600" progId="Equation.3">
                  <p:embed/>
                </p:oleObj>
              </mc:Choice>
              <mc:Fallback>
                <p:oleObj name="Équation" r:id="rId5" imgW="1536700" imgH="228600" progId="Equation.3">
                  <p:embed/>
                  <p:pic>
                    <p:nvPicPr>
                      <p:cNvPr id="24581" name="Object 5">
                        <a:extLst>
                          <a:ext uri="{FF2B5EF4-FFF2-40B4-BE49-F238E27FC236}">
                            <a16:creationId xmlns:a16="http://schemas.microsoft.com/office/drawing/2014/main" xmlns="" id="{21F21798-5935-032B-9325-0F47EAB91F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2204" y="1917976"/>
                        <a:ext cx="267017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6">
            <a:extLst>
              <a:ext uri="{FF2B5EF4-FFF2-40B4-BE49-F238E27FC236}">
                <a16:creationId xmlns:a16="http://schemas.microsoft.com/office/drawing/2014/main" xmlns="" id="{6184C02C-C843-3FD3-C6BF-695B872F7644}"/>
              </a:ext>
            </a:extLst>
          </p:cNvPr>
          <p:cNvGraphicFramePr>
            <a:graphicFrameLocks noChangeAspect="1"/>
          </p:cNvGraphicFramePr>
          <p:nvPr/>
        </p:nvGraphicFramePr>
        <p:xfrm>
          <a:off x="609600" y="2209800"/>
          <a:ext cx="2384425" cy="396875"/>
        </p:xfrm>
        <a:graphic>
          <a:graphicData uri="http://schemas.openxmlformats.org/presentationml/2006/ole">
            <mc:AlternateContent xmlns:mc="http://schemas.openxmlformats.org/markup-compatibility/2006">
              <mc:Choice xmlns:v="urn:schemas-microsoft-com:vml" Requires="v">
                <p:oleObj spid="_x0000_s4100" name="Équation" r:id="rId7" imgW="1371600" imgH="228600" progId="Equation.3">
                  <p:embed/>
                </p:oleObj>
              </mc:Choice>
              <mc:Fallback>
                <p:oleObj name="Équation" r:id="rId7" imgW="1371600" imgH="228600" progId="Equation.3">
                  <p:embed/>
                  <p:pic>
                    <p:nvPicPr>
                      <p:cNvPr id="24582" name="Object 6">
                        <a:extLst>
                          <a:ext uri="{FF2B5EF4-FFF2-40B4-BE49-F238E27FC236}">
                            <a16:creationId xmlns:a16="http://schemas.microsoft.com/office/drawing/2014/main" xmlns="" id="{B09A5231-7AE9-267A-26AD-1F398692C0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2209800"/>
                        <a:ext cx="2384425"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7">
            <a:extLst>
              <a:ext uri="{FF2B5EF4-FFF2-40B4-BE49-F238E27FC236}">
                <a16:creationId xmlns:a16="http://schemas.microsoft.com/office/drawing/2014/main" xmlns="" id="{A5FEB0D5-9F51-75C4-AA88-CEE8FFC0754F}"/>
              </a:ext>
            </a:extLst>
          </p:cNvPr>
          <p:cNvGraphicFramePr>
            <a:graphicFrameLocks noChangeAspect="1"/>
          </p:cNvGraphicFramePr>
          <p:nvPr/>
        </p:nvGraphicFramePr>
        <p:xfrm>
          <a:off x="582613" y="2667000"/>
          <a:ext cx="2008187" cy="396875"/>
        </p:xfrm>
        <a:graphic>
          <a:graphicData uri="http://schemas.openxmlformats.org/presentationml/2006/ole">
            <mc:AlternateContent xmlns:mc="http://schemas.openxmlformats.org/markup-compatibility/2006">
              <mc:Choice xmlns:v="urn:schemas-microsoft-com:vml" Requires="v">
                <p:oleObj spid="_x0000_s4101" name="Équation" r:id="rId9" imgW="1155700" imgH="228600" progId="Equation.3">
                  <p:embed/>
                </p:oleObj>
              </mc:Choice>
              <mc:Fallback>
                <p:oleObj name="Équation" r:id="rId9" imgW="1155700" imgH="228600" progId="Equation.3">
                  <p:embed/>
                  <p:pic>
                    <p:nvPicPr>
                      <p:cNvPr id="24583" name="Object 7">
                        <a:extLst>
                          <a:ext uri="{FF2B5EF4-FFF2-40B4-BE49-F238E27FC236}">
                            <a16:creationId xmlns:a16="http://schemas.microsoft.com/office/drawing/2014/main" xmlns="" id="{0F1FAC15-165B-F1EE-277F-6D4DECD509E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2613" y="2667000"/>
                        <a:ext cx="2008187"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8">
            <a:extLst>
              <a:ext uri="{FF2B5EF4-FFF2-40B4-BE49-F238E27FC236}">
                <a16:creationId xmlns:a16="http://schemas.microsoft.com/office/drawing/2014/main" xmlns="" id="{62EC99A9-05D3-1394-380A-C995C22266F8}"/>
              </a:ext>
            </a:extLst>
          </p:cNvPr>
          <p:cNvGraphicFramePr>
            <a:graphicFrameLocks noChangeAspect="1"/>
          </p:cNvGraphicFramePr>
          <p:nvPr/>
        </p:nvGraphicFramePr>
        <p:xfrm>
          <a:off x="582613" y="3124200"/>
          <a:ext cx="2008187" cy="396875"/>
        </p:xfrm>
        <a:graphic>
          <a:graphicData uri="http://schemas.openxmlformats.org/presentationml/2006/ole">
            <mc:AlternateContent xmlns:mc="http://schemas.openxmlformats.org/markup-compatibility/2006">
              <mc:Choice xmlns:v="urn:schemas-microsoft-com:vml" Requires="v">
                <p:oleObj spid="_x0000_s4102" name="Équation" r:id="rId11" imgW="1155700" imgH="228600" progId="Equation.3">
                  <p:embed/>
                </p:oleObj>
              </mc:Choice>
              <mc:Fallback>
                <p:oleObj name="Équation" r:id="rId11" imgW="1155700" imgH="228600" progId="Equation.3">
                  <p:embed/>
                  <p:pic>
                    <p:nvPicPr>
                      <p:cNvPr id="24584" name="Object 8">
                        <a:extLst>
                          <a:ext uri="{FF2B5EF4-FFF2-40B4-BE49-F238E27FC236}">
                            <a16:creationId xmlns:a16="http://schemas.microsoft.com/office/drawing/2014/main" xmlns="" id="{23DC7475-0549-8626-23F5-B7D471D43D4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2613" y="3124200"/>
                        <a:ext cx="2008187"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9">
            <a:extLst>
              <a:ext uri="{FF2B5EF4-FFF2-40B4-BE49-F238E27FC236}">
                <a16:creationId xmlns:a16="http://schemas.microsoft.com/office/drawing/2014/main" xmlns="" id="{4B9E4102-4060-0015-0349-0360E57DDC08}"/>
              </a:ext>
            </a:extLst>
          </p:cNvPr>
          <p:cNvGraphicFramePr>
            <a:graphicFrameLocks noChangeAspect="1"/>
          </p:cNvGraphicFramePr>
          <p:nvPr>
            <p:extLst>
              <p:ext uri="{D42A27DB-BD31-4B8C-83A1-F6EECF244321}">
                <p14:modId xmlns:p14="http://schemas.microsoft.com/office/powerpoint/2010/main" val="2749962466"/>
              </p:ext>
            </p:extLst>
          </p:nvPr>
        </p:nvGraphicFramePr>
        <p:xfrm>
          <a:off x="4862204" y="2298976"/>
          <a:ext cx="2514600" cy="419100"/>
        </p:xfrm>
        <a:graphic>
          <a:graphicData uri="http://schemas.openxmlformats.org/presentationml/2006/ole">
            <mc:AlternateContent xmlns:mc="http://schemas.openxmlformats.org/markup-compatibility/2006">
              <mc:Choice xmlns:v="urn:schemas-microsoft-com:vml" Requires="v">
                <p:oleObj spid="_x0000_s4103" name="Équation" r:id="rId13" imgW="1371600" imgH="228600" progId="Equation.3">
                  <p:embed/>
                </p:oleObj>
              </mc:Choice>
              <mc:Fallback>
                <p:oleObj name="Équation" r:id="rId13" imgW="1371600" imgH="228600" progId="Equation.3">
                  <p:embed/>
                  <p:pic>
                    <p:nvPicPr>
                      <p:cNvPr id="24585" name="Object 9">
                        <a:extLst>
                          <a:ext uri="{FF2B5EF4-FFF2-40B4-BE49-F238E27FC236}">
                            <a16:creationId xmlns:a16="http://schemas.microsoft.com/office/drawing/2014/main" xmlns="" id="{8E702B68-FE8E-97DB-9A32-C2B91DFB9C7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62204" y="2298976"/>
                        <a:ext cx="25146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10">
            <a:extLst>
              <a:ext uri="{FF2B5EF4-FFF2-40B4-BE49-F238E27FC236}">
                <a16:creationId xmlns:a16="http://schemas.microsoft.com/office/drawing/2014/main" xmlns="" id="{7CA9B9E3-3A83-26DC-D83E-BE4714DC5F9D}"/>
              </a:ext>
            </a:extLst>
          </p:cNvPr>
          <p:cNvGraphicFramePr>
            <a:graphicFrameLocks noChangeAspect="1"/>
          </p:cNvGraphicFramePr>
          <p:nvPr>
            <p:extLst>
              <p:ext uri="{D42A27DB-BD31-4B8C-83A1-F6EECF244321}">
                <p14:modId xmlns:p14="http://schemas.microsoft.com/office/powerpoint/2010/main" val="2261148126"/>
              </p:ext>
            </p:extLst>
          </p:nvPr>
        </p:nvGraphicFramePr>
        <p:xfrm>
          <a:off x="4862204" y="2756176"/>
          <a:ext cx="2030413" cy="396875"/>
        </p:xfrm>
        <a:graphic>
          <a:graphicData uri="http://schemas.openxmlformats.org/presentationml/2006/ole">
            <mc:AlternateContent xmlns:mc="http://schemas.openxmlformats.org/markup-compatibility/2006">
              <mc:Choice xmlns:v="urn:schemas-microsoft-com:vml" Requires="v">
                <p:oleObj spid="_x0000_s4104" name="Équation" r:id="rId15" imgW="1168400" imgH="228600" progId="Equation.3">
                  <p:embed/>
                </p:oleObj>
              </mc:Choice>
              <mc:Fallback>
                <p:oleObj name="Équation" r:id="rId15" imgW="1168400" imgH="228600" progId="Equation.3">
                  <p:embed/>
                  <p:pic>
                    <p:nvPicPr>
                      <p:cNvPr id="24586" name="Object 10">
                        <a:extLst>
                          <a:ext uri="{FF2B5EF4-FFF2-40B4-BE49-F238E27FC236}">
                            <a16:creationId xmlns:a16="http://schemas.microsoft.com/office/drawing/2014/main" xmlns="" id="{EA0A398B-8ADE-1F5F-C965-EF0740A19DB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62204" y="2756176"/>
                        <a:ext cx="2030413"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 Box 11">
            <a:extLst>
              <a:ext uri="{FF2B5EF4-FFF2-40B4-BE49-F238E27FC236}">
                <a16:creationId xmlns:a16="http://schemas.microsoft.com/office/drawing/2014/main" xmlns="" id="{DB804BDB-6E1E-1218-5740-30EBEBC33FF6}"/>
              </a:ext>
            </a:extLst>
          </p:cNvPr>
          <p:cNvSpPr txBox="1">
            <a:spLocks noChangeArrowheads="1"/>
          </p:cNvSpPr>
          <p:nvPr/>
        </p:nvSpPr>
        <p:spPr bwMode="auto">
          <a:xfrm>
            <a:off x="517525" y="415607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en-US" altLang="fr-FR">
              <a:latin typeface="Times New Roman" panose="02020603050405020304" pitchFamily="18" charset="0"/>
            </a:endParaRPr>
          </a:p>
        </p:txBody>
      </p:sp>
      <p:graphicFrame>
        <p:nvGraphicFramePr>
          <p:cNvPr id="14" name="Object 14">
            <a:extLst>
              <a:ext uri="{FF2B5EF4-FFF2-40B4-BE49-F238E27FC236}">
                <a16:creationId xmlns:a16="http://schemas.microsoft.com/office/drawing/2014/main" xmlns="" id="{4B17F190-8912-8DB1-4560-85BFFF60C07C}"/>
              </a:ext>
            </a:extLst>
          </p:cNvPr>
          <p:cNvGraphicFramePr>
            <a:graphicFrameLocks noChangeAspect="1"/>
          </p:cNvGraphicFramePr>
          <p:nvPr>
            <p:extLst>
              <p:ext uri="{D42A27DB-BD31-4B8C-83A1-F6EECF244321}">
                <p14:modId xmlns:p14="http://schemas.microsoft.com/office/powerpoint/2010/main" val="1790620922"/>
              </p:ext>
            </p:extLst>
          </p:nvPr>
        </p:nvGraphicFramePr>
        <p:xfrm>
          <a:off x="4683968" y="3638277"/>
          <a:ext cx="3111500" cy="793750"/>
        </p:xfrm>
        <a:graphic>
          <a:graphicData uri="http://schemas.openxmlformats.org/presentationml/2006/ole">
            <mc:AlternateContent xmlns:mc="http://schemas.openxmlformats.org/markup-compatibility/2006">
              <mc:Choice xmlns:v="urn:schemas-microsoft-com:vml" Requires="v">
                <p:oleObj spid="_x0000_s4105" name="Équation" r:id="rId17" imgW="1790700" imgH="457200" progId="Equation.3">
                  <p:embed/>
                </p:oleObj>
              </mc:Choice>
              <mc:Fallback>
                <p:oleObj name="Équation" r:id="rId17" imgW="1790700" imgH="457200" progId="Equation.3">
                  <p:embed/>
                  <p:pic>
                    <p:nvPicPr>
                      <p:cNvPr id="24590" name="Object 14">
                        <a:extLst>
                          <a:ext uri="{FF2B5EF4-FFF2-40B4-BE49-F238E27FC236}">
                            <a16:creationId xmlns:a16="http://schemas.microsoft.com/office/drawing/2014/main" xmlns="" id="{BDB4F2CD-6CEF-5129-DFB3-D64FFB64486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83968" y="3638277"/>
                        <a:ext cx="3111500" cy="793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 name="Titre 1">
            <a:extLst>
              <a:ext uri="{FF2B5EF4-FFF2-40B4-BE49-F238E27FC236}">
                <a16:creationId xmlns:a16="http://schemas.microsoft.com/office/drawing/2014/main" xmlns="" id="{A62F2AAD-88E8-0164-CAD8-170525538110}"/>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Formules particulières(3)</a:t>
            </a:r>
            <a:endParaRPr lang="fr-FR" dirty="0"/>
          </a:p>
        </p:txBody>
      </p:sp>
    </p:spTree>
    <p:extLst>
      <p:ext uri="{BB962C8B-B14F-4D97-AF65-F5344CB8AC3E}">
        <p14:creationId xmlns:p14="http://schemas.microsoft.com/office/powerpoint/2010/main" val="68722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subTnLst>
                                    <p:animClr clrSpc="rgb" dir="cw">
                                      <p:cBhvr override="childStyle">
                                        <p:cTn dur="1" fill="hold" display="0" masterRel="nextClick" afterEffect="1"/>
                                        <p:tgtEl>
                                          <p:spTgt spid="6"/>
                                        </p:tgtEl>
                                        <p:attrNameLst>
                                          <p:attrName>ppt_c</p:attrName>
                                        </p:attrNameLst>
                                      </p:cBhvr>
                                      <p:to>
                                        <a:schemeClr val="hlink"/>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7"/>
                                        </p:tgtEl>
                                        <p:attrNameLst>
                                          <p:attrName>style.visibility</p:attrName>
                                        </p:attrNameLst>
                                      </p:cBhvr>
                                      <p:to>
                                        <p:strVal val="visible"/>
                                      </p:to>
                                    </p:set>
                                  </p:childTnLst>
                                  <p:subTnLst>
                                    <p:animClr clrSpc="rgb" dir="cw">
                                      <p:cBhvr override="childStyle">
                                        <p:cTn dur="1" fill="hold" display="0" masterRel="nextClick" afterEffect="1"/>
                                        <p:tgtEl>
                                          <p:spTgt spid="7"/>
                                        </p:tgtEl>
                                        <p:attrNameLst>
                                          <p:attrName>ppt_c</p:attrName>
                                        </p:attrNameLst>
                                      </p:cBhvr>
                                      <p:to>
                                        <a:schemeClr val="hlink"/>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8"/>
                                        </p:tgtEl>
                                        <p:attrNameLst>
                                          <p:attrName>style.visibility</p:attrName>
                                        </p:attrNameLst>
                                      </p:cBhvr>
                                      <p:to>
                                        <p:strVal val="visible"/>
                                      </p:to>
                                    </p:set>
                                  </p:childTnLst>
                                  <p:subTnLst>
                                    <p:animClr clrSpc="rgb" dir="cw">
                                      <p:cBhvr override="childStyle">
                                        <p:cTn dur="1" fill="hold" display="0" masterRel="nextClick" afterEffect="1"/>
                                        <p:tgtEl>
                                          <p:spTgt spid="8"/>
                                        </p:tgtEl>
                                        <p:attrNameLst>
                                          <p:attrName>ppt_c</p:attrName>
                                        </p:attrNameLst>
                                      </p:cBhvr>
                                      <p:to>
                                        <a:schemeClr val="hlink"/>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1"/>
                                        </p:tgtEl>
                                        <p:attrNameLst>
                                          <p:attrName>style.visibility</p:attrName>
                                        </p:attrNameLst>
                                      </p:cBhvr>
                                      <p:to>
                                        <p:strVal val="visible"/>
                                      </p:to>
                                    </p:set>
                                  </p:childTnLst>
                                  <p:subTnLst>
                                    <p:animClr clrSpc="rgb" dir="cw">
                                      <p:cBhvr override="childStyle">
                                        <p:cTn dur="1" fill="hold" display="0" masterRel="nextClick" afterEffect="1"/>
                                        <p:tgtEl>
                                          <p:spTgt spid="11"/>
                                        </p:tgtEl>
                                        <p:attrNameLst>
                                          <p:attrName>ppt_c</p:attrName>
                                        </p:attrNameLst>
                                      </p:cBhvr>
                                      <p:to>
                                        <a:schemeClr val="hlink"/>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9"/>
                                        </p:tgtEl>
                                        <p:attrNameLst>
                                          <p:attrName>style.visibility</p:attrName>
                                        </p:attrNameLst>
                                      </p:cBhvr>
                                      <p:to>
                                        <p:strVal val="visible"/>
                                      </p:to>
                                    </p:set>
                                  </p:childTnLst>
                                  <p:subTnLst>
                                    <p:animClr clrSpc="rgb" dir="cw">
                                      <p:cBhvr override="childStyle">
                                        <p:cTn dur="1" fill="hold" display="0" masterRel="nextClick" afterEffect="1"/>
                                        <p:tgtEl>
                                          <p:spTgt spid="9"/>
                                        </p:tgtEl>
                                        <p:attrNameLst>
                                          <p:attrName>ppt_c</p:attrName>
                                        </p:attrNameLst>
                                      </p:cBhvr>
                                      <p:to>
                                        <a:schemeClr val="hlink"/>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2"/>
                                        </p:tgtEl>
                                        <p:attrNameLst>
                                          <p:attrName>style.visibility</p:attrName>
                                        </p:attrNameLst>
                                      </p:cBhvr>
                                      <p:to>
                                        <p:strVal val="visible"/>
                                      </p:to>
                                    </p:set>
                                  </p:childTnLst>
                                  <p:subTnLst>
                                    <p:animClr clrSpc="rgb" dir="cw">
                                      <p:cBhvr override="childStyle">
                                        <p:cTn dur="1" fill="hold" display="0" masterRel="nextClick" afterEffect="1"/>
                                        <p:tgtEl>
                                          <p:spTgt spid="12"/>
                                        </p:tgtEl>
                                        <p:attrNameLst>
                                          <p:attrName>ppt_c</p:attrName>
                                        </p:attrNameLst>
                                      </p:cBhvr>
                                      <p:to>
                                        <a:schemeClr val="hlink"/>
                                      </p:to>
                                    </p:animClr>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0"/>
                                        </p:tgtEl>
                                        <p:attrNameLst>
                                          <p:attrName>style.visibility</p:attrName>
                                        </p:attrNameLst>
                                      </p:cBhvr>
                                      <p:to>
                                        <p:strVal val="visible"/>
                                      </p:to>
                                    </p:set>
                                  </p:childTnLst>
                                  <p:subTnLst>
                                    <p:animClr clrSpc="rgb" dir="cw">
                                      <p:cBhvr override="childStyle">
                                        <p:cTn dur="1" fill="hold" display="0" masterRel="nextClick" afterEffect="1"/>
                                        <p:tgtEl>
                                          <p:spTgt spid="10"/>
                                        </p:tgtEl>
                                        <p:attrNameLst>
                                          <p:attrName>ppt_c</p:attrName>
                                        </p:attrNameLst>
                                      </p:cBhvr>
                                      <p:to>
                                        <a:schemeClr val="hlink"/>
                                      </p:to>
                                    </p:animClr>
                                  </p:sub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anim calcmode="lin" valueType="num">
                                      <p:cBhvr additive="base">
                                        <p:cTn id="35"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
                                            <p:txEl>
                                              <p:pRg st="0" end="0"/>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xEl>
                                              <p:pRg st="0" end="0"/>
                                            </p:txEl>
                                          </p:spTgt>
                                        </p:tgtEl>
                                        <p:attrNameLst>
                                          <p:attrName>ppt_c</p:attrName>
                                        </p:attrNameLst>
                                      </p:cBhvr>
                                      <p:to>
                                        <a:schemeClr val="hlink"/>
                                      </p:to>
                                    </p:animClr>
                                  </p:subTnLst>
                                </p:cTn>
                              </p:par>
                              <p:par>
                                <p:cTn id="37" presetID="2" presetClass="entr" presetSubtype="4" fill="hold" grpId="0" nodeType="withEffect">
                                  <p:stCondLst>
                                    <p:cond delay="0"/>
                                  </p:stCondLst>
                                  <p:childTnLst>
                                    <p:set>
                                      <p:cBhvr>
                                        <p:cTn id="38" dur="1" fill="hold">
                                          <p:stCondLst>
                                            <p:cond delay="0"/>
                                          </p:stCondLst>
                                        </p:cTn>
                                        <p:tgtEl>
                                          <p:spTgt spid="5">
                                            <p:txEl>
                                              <p:pRg st="1" end="1"/>
                                            </p:txEl>
                                          </p:spTgt>
                                        </p:tgtEl>
                                        <p:attrNameLst>
                                          <p:attrName>style.visibility</p:attrName>
                                        </p:attrNameLst>
                                      </p:cBhvr>
                                      <p:to>
                                        <p:strVal val="visible"/>
                                      </p:to>
                                    </p:set>
                                    <p:anim calcmode="lin" valueType="num">
                                      <p:cBhvr additive="base">
                                        <p:cTn id="3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
                                            <p:txEl>
                                              <p:pRg st="1" end="1"/>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xEl>
                                              <p:pRg st="1" end="1"/>
                                            </p:txEl>
                                          </p:spTgt>
                                        </p:tgtEl>
                                        <p:attrNameLst>
                                          <p:attrName>ppt_c</p:attrName>
                                        </p:attrNameLst>
                                      </p:cBhvr>
                                      <p:to>
                                        <a:schemeClr val="hlink"/>
                                      </p:to>
                                    </p:animClr>
                                  </p:subTnLst>
                                </p:cTn>
                              </p:par>
                              <p:par>
                                <p:cTn id="41" presetID="2" presetClass="entr" presetSubtype="4" fill="hold" grpId="0" nodeType="withEffect">
                                  <p:stCondLst>
                                    <p:cond delay="0"/>
                                  </p:stCondLst>
                                  <p:childTnLst>
                                    <p:set>
                                      <p:cBhvr>
                                        <p:cTn id="42" dur="1" fill="hold">
                                          <p:stCondLst>
                                            <p:cond delay="0"/>
                                          </p:stCondLst>
                                        </p:cTn>
                                        <p:tgtEl>
                                          <p:spTgt spid="5">
                                            <p:txEl>
                                              <p:pRg st="2" end="2"/>
                                            </p:txEl>
                                          </p:spTgt>
                                        </p:tgtEl>
                                        <p:attrNameLst>
                                          <p:attrName>style.visibility</p:attrName>
                                        </p:attrNameLst>
                                      </p:cBhvr>
                                      <p:to>
                                        <p:strVal val="visible"/>
                                      </p:to>
                                    </p:set>
                                    <p:anim calcmode="lin" valueType="num">
                                      <p:cBhvr additive="base">
                                        <p:cTn id="4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2" end="2"/>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xEl>
                                              <p:pRg st="2" end="2"/>
                                            </p:txEl>
                                          </p:spTgt>
                                        </p:tgtEl>
                                        <p:attrNameLst>
                                          <p:attrName>ppt_c</p:attrName>
                                        </p:attrNameLst>
                                      </p:cBhvr>
                                      <p:to>
                                        <a:schemeClr val="hlink"/>
                                      </p:to>
                                    </p:animClr>
                                  </p:subTnLst>
                                </p:cTn>
                              </p:par>
                              <p:par>
                                <p:cTn id="45" presetID="2" presetClass="entr" presetSubtype="4" fill="hold" grpId="0" nodeType="withEffect">
                                  <p:stCondLst>
                                    <p:cond delay="0"/>
                                  </p:stCondLst>
                                  <p:childTnLst>
                                    <p:set>
                                      <p:cBhvr>
                                        <p:cTn id="46" dur="1" fill="hold">
                                          <p:stCondLst>
                                            <p:cond delay="0"/>
                                          </p:stCondLst>
                                        </p:cTn>
                                        <p:tgtEl>
                                          <p:spTgt spid="5">
                                            <p:txEl>
                                              <p:pRg st="3" end="3"/>
                                            </p:txEl>
                                          </p:spTgt>
                                        </p:tgtEl>
                                        <p:attrNameLst>
                                          <p:attrName>style.visibility</p:attrName>
                                        </p:attrNameLst>
                                      </p:cBhvr>
                                      <p:to>
                                        <p:strVal val="visible"/>
                                      </p:to>
                                    </p:set>
                                    <p:anim calcmode="lin" valueType="num">
                                      <p:cBhvr additive="base">
                                        <p:cTn id="4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5">
                                            <p:txEl>
                                              <p:pRg st="3" end="3"/>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xEl>
                                              <p:pRg st="3" end="3"/>
                                            </p:txEl>
                                          </p:spTgt>
                                        </p:tgtEl>
                                        <p:attrNameLst>
                                          <p:attrName>ppt_c</p:attrName>
                                        </p:attrNameLst>
                                      </p:cBhvr>
                                      <p:to>
                                        <a:schemeClr val="hlink"/>
                                      </p:to>
                                    </p:animClr>
                                  </p:subTnLst>
                                </p:cTn>
                              </p:par>
                              <p:par>
                                <p:cTn id="49" presetID="2" presetClass="entr" presetSubtype="4" fill="hold" grpId="0" nodeType="withEffect">
                                  <p:stCondLst>
                                    <p:cond delay="0"/>
                                  </p:stCondLst>
                                  <p:childTnLst>
                                    <p:set>
                                      <p:cBhvr>
                                        <p:cTn id="50" dur="1" fill="hold">
                                          <p:stCondLst>
                                            <p:cond delay="0"/>
                                          </p:stCondLst>
                                        </p:cTn>
                                        <p:tgtEl>
                                          <p:spTgt spid="5">
                                            <p:txEl>
                                              <p:pRg st="4" end="4"/>
                                            </p:txEl>
                                          </p:spTgt>
                                        </p:tgtEl>
                                        <p:attrNameLst>
                                          <p:attrName>style.visibility</p:attrName>
                                        </p:attrNameLst>
                                      </p:cBhvr>
                                      <p:to>
                                        <p:strVal val="visible"/>
                                      </p:to>
                                    </p:set>
                                    <p:anim calcmode="lin" valueType="num">
                                      <p:cBhvr additive="base">
                                        <p:cTn id="5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5">
                                            <p:txEl>
                                              <p:pRg st="4" end="4"/>
                                            </p:txEl>
                                          </p:spTgt>
                                        </p:tgtEl>
                                        <p:attrNameLst>
                                          <p:attrName>ppt_y</p:attrName>
                                        </p:attrNameLst>
                                      </p:cBhvr>
                                      <p:tavLst>
                                        <p:tav tm="0">
                                          <p:val>
                                            <p:strVal val="1+#ppt_h/2"/>
                                          </p:val>
                                        </p:tav>
                                        <p:tav tm="100000">
                                          <p:val>
                                            <p:strVal val="#ppt_y"/>
                                          </p:val>
                                        </p:tav>
                                      </p:tavLst>
                                    </p:anim>
                                  </p:childTnLst>
                                  <p:subTnLst>
                                    <p:animClr clrSpc="rgb" dir="cw">
                                      <p:cBhvr override="childStyle">
                                        <p:cTn dur="1" fill="hold" display="0" masterRel="nextClick" afterEffect="1"/>
                                        <p:tgtEl>
                                          <p:spTgt spid="5">
                                            <p:txEl>
                                              <p:pRg st="4" end="4"/>
                                            </p:txEl>
                                          </p:spTgt>
                                        </p:tgtEl>
                                        <p:attrNameLst>
                                          <p:attrName>ppt_c</p:attrName>
                                        </p:attrNameLst>
                                      </p:cBhvr>
                                      <p:to>
                                        <a:schemeClr val="hlink"/>
                                      </p:to>
                                    </p:animClr>
                                  </p:sub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499"/>
                                          </p:stCondLst>
                                        </p:cTn>
                                        <p:tgtEl>
                                          <p:spTgt spid="1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3" presetClass="entr" presetSubtype="32" fill="hold" nodeType="clickEffect">
                                  <p:stCondLst>
                                    <p:cond delay="0"/>
                                  </p:stCondLst>
                                  <p:childTnLst>
                                    <p:set>
                                      <p:cBhvr>
                                        <p:cTn id="60" dur="1" fill="hold">
                                          <p:stCondLst>
                                            <p:cond delay="0"/>
                                          </p:stCondLst>
                                        </p:cTn>
                                        <p:tgtEl>
                                          <p:spTgt spid="2"/>
                                        </p:tgtEl>
                                        <p:attrNameLst>
                                          <p:attrName>style.visibility</p:attrName>
                                        </p:attrNameLst>
                                      </p:cBhvr>
                                      <p:to>
                                        <p:strVal val="visible"/>
                                      </p:to>
                                    </p:set>
                                    <p:anim calcmode="lin" valueType="num">
                                      <p:cBhvr>
                                        <p:cTn id="61" dur="500" fill="hold"/>
                                        <p:tgtEl>
                                          <p:spTgt spid="2"/>
                                        </p:tgtEl>
                                        <p:attrNameLst>
                                          <p:attrName>ppt_w</p:attrName>
                                        </p:attrNameLst>
                                      </p:cBhvr>
                                      <p:tavLst>
                                        <p:tav tm="0">
                                          <p:val>
                                            <p:strVal val="4*#ppt_w"/>
                                          </p:val>
                                        </p:tav>
                                        <p:tav tm="100000">
                                          <p:val>
                                            <p:strVal val="#ppt_w"/>
                                          </p:val>
                                        </p:tav>
                                      </p:tavLst>
                                    </p:anim>
                                    <p:anim calcmode="lin" valueType="num">
                                      <p:cBhvr>
                                        <p:cTn id="62" dur="500" fill="hold"/>
                                        <p:tgtEl>
                                          <p:spTgt spid="2"/>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xmlns="" id="{0F557246-CB54-7F9A-507A-171C0A06DEFC}"/>
              </a:ext>
            </a:extLst>
          </p:cNvPr>
          <p:cNvSpPr txBox="1">
            <a:spLocks noChangeArrowheads="1"/>
          </p:cNvSpPr>
          <p:nvPr/>
        </p:nvSpPr>
        <p:spPr>
          <a:xfrm>
            <a:off x="563562" y="2060848"/>
            <a:ext cx="8016875" cy="2304256"/>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50000"/>
              </a:lnSpc>
              <a:spcAft>
                <a:spcPts val="1200"/>
              </a:spcAft>
            </a:pPr>
            <a:r>
              <a:rPr lang="fr-FR" altLang="fr-FR" sz="2400" b="1" dirty="0"/>
              <a:t>But</a:t>
            </a:r>
            <a:r>
              <a:rPr lang="fr-FR" altLang="fr-FR" sz="2400" dirty="0"/>
              <a:t> avoir une représentation uniforme des formules du calcul propositionnel</a:t>
            </a:r>
          </a:p>
          <a:p>
            <a:pPr lvl="1">
              <a:lnSpc>
                <a:spcPct val="150000"/>
              </a:lnSpc>
              <a:spcAft>
                <a:spcPts val="1200"/>
              </a:spcAft>
            </a:pPr>
            <a:r>
              <a:rPr lang="fr-FR" altLang="fr-FR" sz="2000" b="1" dirty="0"/>
              <a:t>limiter </a:t>
            </a:r>
            <a:r>
              <a:rPr lang="fr-FR" altLang="fr-FR" sz="2000" dirty="0"/>
              <a:t>le nombre de connecteurs différents utilisés</a:t>
            </a:r>
          </a:p>
          <a:p>
            <a:pPr lvl="1">
              <a:lnSpc>
                <a:spcPct val="150000"/>
              </a:lnSpc>
              <a:spcAft>
                <a:spcPts val="1200"/>
              </a:spcAft>
            </a:pPr>
            <a:r>
              <a:rPr lang="fr-FR" altLang="fr-FR" sz="2000" b="1" dirty="0"/>
              <a:t>limiter</a:t>
            </a:r>
            <a:r>
              <a:rPr lang="fr-FR" altLang="fr-FR" sz="2000" dirty="0"/>
              <a:t> l’allure des formules rencontrées</a:t>
            </a:r>
          </a:p>
          <a:p>
            <a:endParaRPr lang="fr-FR" altLang="fr-FR" b="1" dirty="0"/>
          </a:p>
        </p:txBody>
      </p:sp>
      <p:sp>
        <p:nvSpPr>
          <p:cNvPr id="3" name="Titre 1">
            <a:extLst>
              <a:ext uri="{FF2B5EF4-FFF2-40B4-BE49-F238E27FC236}">
                <a16:creationId xmlns:a16="http://schemas.microsoft.com/office/drawing/2014/main" xmlns="" id="{49899437-8C00-4C46-C237-CB47CFA6E38D}"/>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Formules particulières(3)</a:t>
            </a:r>
            <a:endParaRPr lang="fr-FR" dirty="0"/>
          </a:p>
        </p:txBody>
      </p:sp>
    </p:spTree>
    <p:extLst>
      <p:ext uri="{BB962C8B-B14F-4D97-AF65-F5344CB8AC3E}">
        <p14:creationId xmlns:p14="http://schemas.microsoft.com/office/powerpoint/2010/main" val="177575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Forme normale</a:t>
            </a:r>
            <a:endParaRPr lang="fr-FR" dirty="0"/>
          </a:p>
        </p:txBody>
      </p:sp>
      <p:grpSp>
        <p:nvGrpSpPr>
          <p:cNvPr id="3" name="Group 4">
            <a:extLst>
              <a:ext uri="{FF2B5EF4-FFF2-40B4-BE49-F238E27FC236}">
                <a16:creationId xmlns:a16="http://schemas.microsoft.com/office/drawing/2014/main" xmlns="" id="{84BD8B22-E9B5-BC15-B871-D05C0488BE6F}"/>
              </a:ext>
            </a:extLst>
          </p:cNvPr>
          <p:cNvGrpSpPr>
            <a:grpSpLocks/>
          </p:cNvGrpSpPr>
          <p:nvPr/>
        </p:nvGrpSpPr>
        <p:grpSpPr bwMode="auto">
          <a:xfrm>
            <a:off x="458788" y="1060450"/>
            <a:ext cx="8382000" cy="1006475"/>
            <a:chOff x="240" y="2160"/>
            <a:chExt cx="5280" cy="634"/>
          </a:xfrm>
        </p:grpSpPr>
        <p:sp>
          <p:nvSpPr>
            <p:cNvPr id="4" name="Rectangle 5">
              <a:extLst>
                <a:ext uri="{FF2B5EF4-FFF2-40B4-BE49-F238E27FC236}">
                  <a16:creationId xmlns:a16="http://schemas.microsoft.com/office/drawing/2014/main" xmlns="" id="{B9569493-6E3A-19EF-1EA7-C3B22411382D}"/>
                </a:ext>
              </a:extLst>
            </p:cNvPr>
            <p:cNvSpPr>
              <a:spLocks noChangeArrowheads="1"/>
            </p:cNvSpPr>
            <p:nvPr/>
          </p:nvSpPr>
          <p:spPr bwMode="auto">
            <a:xfrm>
              <a:off x="240" y="2160"/>
              <a:ext cx="5040" cy="624"/>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fr-FR" altLang="fr-FR"/>
            </a:p>
          </p:txBody>
        </p:sp>
        <p:sp>
          <p:nvSpPr>
            <p:cNvPr id="5" name="Text Box 6">
              <a:extLst>
                <a:ext uri="{FF2B5EF4-FFF2-40B4-BE49-F238E27FC236}">
                  <a16:creationId xmlns:a16="http://schemas.microsoft.com/office/drawing/2014/main" xmlns="" id="{FFD79B38-088D-ACE3-44F3-105023882DA6}"/>
                </a:ext>
              </a:extLst>
            </p:cNvPr>
            <p:cNvSpPr txBox="1">
              <a:spLocks noChangeArrowheads="1"/>
            </p:cNvSpPr>
            <p:nvPr/>
          </p:nvSpPr>
          <p:spPr bwMode="auto">
            <a:xfrm>
              <a:off x="240" y="2160"/>
              <a:ext cx="528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000"/>
                <a:t>Une formule F est dite sous </a:t>
              </a:r>
              <a:r>
                <a:rPr lang="fr-FR" altLang="fr-FR" sz="2000" b="1"/>
                <a:t>forme normale disjonctive </a:t>
              </a:r>
              <a:r>
                <a:rPr lang="fr-FR" altLang="fr-FR" sz="2000"/>
                <a:t>ssi </a:t>
              </a:r>
            </a:p>
            <a:p>
              <a:r>
                <a:rPr lang="fr-FR" altLang="fr-FR" sz="2000"/>
                <a:t>F est une </a:t>
              </a:r>
              <a:r>
                <a:rPr lang="fr-FR" altLang="fr-FR" sz="2000" i="1"/>
                <a:t>disjonction de conjonctions </a:t>
              </a:r>
              <a:r>
                <a:rPr lang="fr-FR" altLang="fr-FR" sz="2000"/>
                <a:t>de variables propositionnelles et de leur négation</a:t>
              </a:r>
              <a:r>
                <a:rPr lang="fr-FR" altLang="fr-FR" sz="2000" b="1"/>
                <a:t> </a:t>
              </a:r>
              <a:endParaRPr lang="fr-FR" altLang="fr-FR" sz="2000"/>
            </a:p>
          </p:txBody>
        </p:sp>
      </p:grpSp>
      <p:sp>
        <p:nvSpPr>
          <p:cNvPr id="6" name="Text Box 7">
            <a:extLst>
              <a:ext uri="{FF2B5EF4-FFF2-40B4-BE49-F238E27FC236}">
                <a16:creationId xmlns:a16="http://schemas.microsoft.com/office/drawing/2014/main" xmlns="" id="{56F068EF-DA45-D6BF-91F6-10636E436030}"/>
              </a:ext>
            </a:extLst>
          </p:cNvPr>
          <p:cNvSpPr txBox="1">
            <a:spLocks noChangeArrowheads="1"/>
          </p:cNvSpPr>
          <p:nvPr/>
        </p:nvSpPr>
        <p:spPr bwMode="auto">
          <a:xfrm>
            <a:off x="449263" y="2682875"/>
            <a:ext cx="82454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000" i="1"/>
              <a:t>Toute formule du calcul propositionnel est tautologiquement équivalente à une formule sous forme normale disjonctive</a:t>
            </a:r>
            <a:endParaRPr lang="fr-FR" altLang="fr-FR"/>
          </a:p>
          <a:p>
            <a:endParaRPr lang="fr-FR" altLang="fr-FR"/>
          </a:p>
        </p:txBody>
      </p:sp>
      <p:grpSp>
        <p:nvGrpSpPr>
          <p:cNvPr id="7" name="Group 14">
            <a:extLst>
              <a:ext uri="{FF2B5EF4-FFF2-40B4-BE49-F238E27FC236}">
                <a16:creationId xmlns:a16="http://schemas.microsoft.com/office/drawing/2014/main" xmlns="" id="{C3BAB65A-518B-31E0-6AD4-5C3F9853BAE6}"/>
              </a:ext>
            </a:extLst>
          </p:cNvPr>
          <p:cNvGrpSpPr>
            <a:grpSpLocks/>
          </p:cNvGrpSpPr>
          <p:nvPr/>
        </p:nvGrpSpPr>
        <p:grpSpPr bwMode="auto">
          <a:xfrm>
            <a:off x="444500" y="3632200"/>
            <a:ext cx="8382000" cy="3181350"/>
            <a:chOff x="277" y="2189"/>
            <a:chExt cx="5280" cy="2004"/>
          </a:xfrm>
        </p:grpSpPr>
        <p:grpSp>
          <p:nvGrpSpPr>
            <p:cNvPr id="8" name="Group 8">
              <a:extLst>
                <a:ext uri="{FF2B5EF4-FFF2-40B4-BE49-F238E27FC236}">
                  <a16:creationId xmlns:a16="http://schemas.microsoft.com/office/drawing/2014/main" xmlns="" id="{392467D2-4A99-7F9D-A25D-F7493788A528}"/>
                </a:ext>
              </a:extLst>
            </p:cNvPr>
            <p:cNvGrpSpPr>
              <a:grpSpLocks/>
            </p:cNvGrpSpPr>
            <p:nvPr/>
          </p:nvGrpSpPr>
          <p:grpSpPr bwMode="auto">
            <a:xfrm>
              <a:off x="277" y="2189"/>
              <a:ext cx="5280" cy="638"/>
              <a:chOff x="229" y="1853"/>
              <a:chExt cx="5280" cy="638"/>
            </a:xfrm>
          </p:grpSpPr>
          <p:sp>
            <p:nvSpPr>
              <p:cNvPr id="11" name="Rectangle 9">
                <a:extLst>
                  <a:ext uri="{FF2B5EF4-FFF2-40B4-BE49-F238E27FC236}">
                    <a16:creationId xmlns:a16="http://schemas.microsoft.com/office/drawing/2014/main" xmlns="" id="{DC0B4C42-97E0-F4FB-11A1-7A92CA7D50C1}"/>
                  </a:ext>
                </a:extLst>
              </p:cNvPr>
              <p:cNvSpPr>
                <a:spLocks noChangeArrowheads="1"/>
              </p:cNvSpPr>
              <p:nvPr/>
            </p:nvSpPr>
            <p:spPr bwMode="auto">
              <a:xfrm>
                <a:off x="252" y="1867"/>
                <a:ext cx="5040" cy="624"/>
              </a:xfrm>
              <a:prstGeom prst="rect">
                <a:avLst/>
              </a:prstGeom>
              <a:solidFill>
                <a:schemeClr val="accent1"/>
              </a:solidFill>
              <a:ln w="12700">
                <a:solidFill>
                  <a:schemeClr val="tx1"/>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fr-FR" altLang="fr-FR"/>
              </a:p>
            </p:txBody>
          </p:sp>
          <p:sp>
            <p:nvSpPr>
              <p:cNvPr id="12" name="Text Box 10">
                <a:extLst>
                  <a:ext uri="{FF2B5EF4-FFF2-40B4-BE49-F238E27FC236}">
                    <a16:creationId xmlns:a16="http://schemas.microsoft.com/office/drawing/2014/main" xmlns="" id="{50A3839A-EECD-7A64-D75A-AB7C44C2F04E}"/>
                  </a:ext>
                </a:extLst>
              </p:cNvPr>
              <p:cNvSpPr txBox="1">
                <a:spLocks noChangeArrowheads="1"/>
              </p:cNvSpPr>
              <p:nvPr/>
            </p:nvSpPr>
            <p:spPr bwMode="auto">
              <a:xfrm>
                <a:off x="229" y="1853"/>
                <a:ext cx="5280"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000"/>
                  <a:t>Une formule F est dite sous </a:t>
                </a:r>
                <a:r>
                  <a:rPr lang="fr-FR" altLang="fr-FR" sz="2000" b="1"/>
                  <a:t>forme normale conjonctive </a:t>
                </a:r>
                <a:r>
                  <a:rPr lang="fr-FR" altLang="fr-FR" sz="2000"/>
                  <a:t>ssi </a:t>
                </a:r>
              </a:p>
              <a:p>
                <a:r>
                  <a:rPr lang="fr-FR" altLang="fr-FR" sz="2000"/>
                  <a:t>F est une </a:t>
                </a:r>
                <a:r>
                  <a:rPr lang="fr-FR" altLang="fr-FR" sz="2000" i="1"/>
                  <a:t>conjonction de disjonctions </a:t>
                </a:r>
                <a:r>
                  <a:rPr lang="fr-FR" altLang="fr-FR" sz="2000"/>
                  <a:t>de variables propositionnelles et de leur négation</a:t>
                </a:r>
                <a:r>
                  <a:rPr lang="fr-FR" altLang="fr-FR" sz="2000" b="1"/>
                  <a:t> </a:t>
                </a:r>
                <a:endParaRPr lang="fr-FR" altLang="fr-FR" sz="2000"/>
              </a:p>
            </p:txBody>
          </p:sp>
        </p:grpSp>
        <p:sp>
          <p:nvSpPr>
            <p:cNvPr id="9" name="Text Box 11">
              <a:extLst>
                <a:ext uri="{FF2B5EF4-FFF2-40B4-BE49-F238E27FC236}">
                  <a16:creationId xmlns:a16="http://schemas.microsoft.com/office/drawing/2014/main" xmlns="" id="{8741AAC8-8ED2-8857-6D73-02E286471C6D}"/>
                </a:ext>
              </a:extLst>
            </p:cNvPr>
            <p:cNvSpPr txBox="1">
              <a:spLocks noChangeArrowheads="1"/>
            </p:cNvSpPr>
            <p:nvPr/>
          </p:nvSpPr>
          <p:spPr bwMode="auto">
            <a:xfrm>
              <a:off x="300" y="3521"/>
              <a:ext cx="5194" cy="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000" i="1"/>
                <a:t>Toute formule du calcul propositionnel est tautologiquement équivalente à une formule sous forme normale conjonctive</a:t>
              </a:r>
              <a:endParaRPr lang="fr-FR" altLang="fr-FR"/>
            </a:p>
            <a:p>
              <a:endParaRPr lang="fr-FR" altLang="fr-FR"/>
            </a:p>
          </p:txBody>
        </p:sp>
        <p:graphicFrame>
          <p:nvGraphicFramePr>
            <p:cNvPr id="10" name="Object 12">
              <a:extLst>
                <a:ext uri="{FF2B5EF4-FFF2-40B4-BE49-F238E27FC236}">
                  <a16:creationId xmlns:a16="http://schemas.microsoft.com/office/drawing/2014/main" xmlns="" id="{C50BF558-7CB3-5235-C624-3270620812A8}"/>
                </a:ext>
              </a:extLst>
            </p:cNvPr>
            <p:cNvGraphicFramePr>
              <a:graphicFrameLocks noChangeAspect="1"/>
            </p:cNvGraphicFramePr>
            <p:nvPr/>
          </p:nvGraphicFramePr>
          <p:xfrm>
            <a:off x="4424" y="2384"/>
            <a:ext cx="864" cy="477"/>
          </p:xfrm>
          <a:graphic>
            <a:graphicData uri="http://schemas.openxmlformats.org/presentationml/2006/ole">
              <mc:AlternateContent xmlns:mc="http://schemas.openxmlformats.org/markup-compatibility/2006">
                <mc:Choice xmlns:v="urn:schemas-microsoft-com:vml" Requires="v">
                  <p:oleObj spid="_x0000_s5122" name="Équation" r:id="rId3" imgW="253670" imgH="126835" progId="Equation.3">
                    <p:embed/>
                  </p:oleObj>
                </mc:Choice>
                <mc:Fallback>
                  <p:oleObj name="Équation" r:id="rId3" imgW="253670" imgH="126835" progId="Equation.3">
                    <p:embed/>
                    <p:pic>
                      <p:nvPicPr>
                        <p:cNvPr id="28685" name="Object 12">
                          <a:extLst>
                            <a:ext uri="{FF2B5EF4-FFF2-40B4-BE49-F238E27FC236}">
                              <a16:creationId xmlns:a16="http://schemas.microsoft.com/office/drawing/2014/main" xmlns="" id="{763DE8CA-FE4A-0706-DCF9-D34AB67D3D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4" y="2384"/>
                          <a:ext cx="864" cy="4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3" name="Object 13">
            <a:extLst>
              <a:ext uri="{FF2B5EF4-FFF2-40B4-BE49-F238E27FC236}">
                <a16:creationId xmlns:a16="http://schemas.microsoft.com/office/drawing/2014/main" xmlns="" id="{CFA9D0AD-BCF9-628C-FD19-7B923BC89B87}"/>
              </a:ext>
            </a:extLst>
          </p:cNvPr>
          <p:cNvGraphicFramePr>
            <a:graphicFrameLocks noChangeAspect="1"/>
          </p:cNvGraphicFramePr>
          <p:nvPr/>
        </p:nvGraphicFramePr>
        <p:xfrm>
          <a:off x="7054850" y="1363663"/>
          <a:ext cx="1371600" cy="757237"/>
        </p:xfrm>
        <a:graphic>
          <a:graphicData uri="http://schemas.openxmlformats.org/presentationml/2006/ole">
            <mc:AlternateContent xmlns:mc="http://schemas.openxmlformats.org/markup-compatibility/2006">
              <mc:Choice xmlns:v="urn:schemas-microsoft-com:vml" Requires="v">
                <p:oleObj spid="_x0000_s5123" name="Équation" r:id="rId5" imgW="253670" imgH="126835" progId="Equation.3">
                  <p:embed/>
                </p:oleObj>
              </mc:Choice>
              <mc:Fallback>
                <p:oleObj name="Équation" r:id="rId5" imgW="253670" imgH="126835" progId="Equation.3">
                  <p:embed/>
                  <p:pic>
                    <p:nvPicPr>
                      <p:cNvPr id="26637" name="Object 13">
                        <a:extLst>
                          <a:ext uri="{FF2B5EF4-FFF2-40B4-BE49-F238E27FC236}">
                            <a16:creationId xmlns:a16="http://schemas.microsoft.com/office/drawing/2014/main" xmlns="" id="{6CDA90EB-47B0-3629-7610-65A24A2C79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54850" y="1363663"/>
                        <a:ext cx="1371600" cy="75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 name="Rectangle 13">
            <a:extLst>
              <a:ext uri="{FF2B5EF4-FFF2-40B4-BE49-F238E27FC236}">
                <a16:creationId xmlns:a16="http://schemas.microsoft.com/office/drawing/2014/main" xmlns="" id="{3CA3A8C4-8637-E3BB-C483-FB05B73E6789}"/>
              </a:ext>
            </a:extLst>
          </p:cNvPr>
          <p:cNvSpPr>
            <a:spLocks noChangeArrowheads="1"/>
          </p:cNvSpPr>
          <p:nvPr/>
        </p:nvSpPr>
        <p:spPr bwMode="auto">
          <a:xfrm>
            <a:off x="2627313" y="2120900"/>
            <a:ext cx="3140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fr-FR" altLang="fr-FR" sz="3200" b="1">
                <a:solidFill>
                  <a:schemeClr val="accent2"/>
                </a:solidFill>
                <a:latin typeface="Arial" panose="020B0604020202020204" pitchFamily="34" charset="0"/>
                <a:cs typeface="Arial" panose="020B0604020202020204" pitchFamily="34" charset="0"/>
              </a:rPr>
              <a:t>(p </a:t>
            </a:r>
            <a:r>
              <a:rPr lang="fr-FR" altLang="fr-FR" sz="3200" b="1">
                <a:solidFill>
                  <a:srgbClr val="33CC33"/>
                </a:solidFill>
                <a:sym typeface="Symbol" panose="05050102010706020507" pitchFamily="18" charset="2"/>
              </a:rPr>
              <a:t></a:t>
            </a:r>
            <a:r>
              <a:rPr lang="fr-FR" altLang="fr-FR" sz="3200" b="1">
                <a:solidFill>
                  <a:schemeClr val="accent2"/>
                </a:solidFill>
                <a:latin typeface="Arial" panose="020B0604020202020204" pitchFamily="34" charset="0"/>
                <a:cs typeface="Arial" panose="020B0604020202020204" pitchFamily="34" charset="0"/>
              </a:rPr>
              <a:t> q) </a:t>
            </a:r>
            <a:r>
              <a:rPr lang="fr-FR" altLang="fr-FR" sz="3200" b="1">
                <a:solidFill>
                  <a:srgbClr val="FF0000"/>
                </a:solidFill>
                <a:latin typeface="Arial" panose="020B0604020202020204" pitchFamily="34" charset="0"/>
                <a:cs typeface="Arial" panose="020B0604020202020204" pitchFamily="34" charset="0"/>
              </a:rPr>
              <a:t>v </a:t>
            </a:r>
            <a:r>
              <a:rPr lang="fr-FR" altLang="fr-FR" sz="3200" b="1">
                <a:solidFill>
                  <a:schemeClr val="accent2"/>
                </a:solidFill>
                <a:latin typeface="Arial" panose="020B0604020202020204" pitchFamily="34" charset="0"/>
                <a:cs typeface="Arial" panose="020B0604020202020204" pitchFamily="34" charset="0"/>
              </a:rPr>
              <a:t>(r </a:t>
            </a:r>
            <a:r>
              <a:rPr lang="fr-FR" altLang="fr-FR" sz="3200" b="1">
                <a:solidFill>
                  <a:srgbClr val="33CC33"/>
                </a:solidFill>
                <a:sym typeface="Symbol" panose="05050102010706020507" pitchFamily="18" charset="2"/>
              </a:rPr>
              <a:t></a:t>
            </a:r>
            <a:r>
              <a:rPr lang="fr-FR" altLang="fr-FR" sz="3200" b="1">
                <a:solidFill>
                  <a:schemeClr val="accent2"/>
                </a:solidFill>
                <a:latin typeface="Arial" panose="020B0604020202020204" pitchFamily="34" charset="0"/>
                <a:cs typeface="Arial" panose="020B0604020202020204" pitchFamily="34" charset="0"/>
              </a:rPr>
              <a:t> s)</a:t>
            </a:r>
            <a:r>
              <a:rPr lang="fr-FR" altLang="fr-FR" sz="3200">
                <a:solidFill>
                  <a:schemeClr val="accent2"/>
                </a:solidFill>
                <a:latin typeface="Arial" panose="020B0604020202020204" pitchFamily="34" charset="0"/>
                <a:cs typeface="Arial" panose="020B0604020202020204" pitchFamily="34" charset="0"/>
              </a:rPr>
              <a:t> </a:t>
            </a:r>
          </a:p>
        </p:txBody>
      </p:sp>
      <p:sp>
        <p:nvSpPr>
          <p:cNvPr id="15" name="Rectangle 14">
            <a:extLst>
              <a:ext uri="{FF2B5EF4-FFF2-40B4-BE49-F238E27FC236}">
                <a16:creationId xmlns:a16="http://schemas.microsoft.com/office/drawing/2014/main" xmlns="" id="{1CA8EB4E-1618-B660-7569-74F2CAAC36B5}"/>
              </a:ext>
            </a:extLst>
          </p:cNvPr>
          <p:cNvSpPr>
            <a:spLocks noChangeArrowheads="1"/>
          </p:cNvSpPr>
          <p:nvPr/>
        </p:nvSpPr>
        <p:spPr bwMode="auto">
          <a:xfrm>
            <a:off x="2644775" y="4976813"/>
            <a:ext cx="31178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fr-FR" altLang="fr-FR" sz="3200" b="1" dirty="0">
                <a:solidFill>
                  <a:schemeClr val="accent2"/>
                </a:solidFill>
                <a:latin typeface="Arial" panose="020B0604020202020204" pitchFamily="34" charset="0"/>
                <a:cs typeface="Arial" panose="020B0604020202020204" pitchFamily="34" charset="0"/>
              </a:rPr>
              <a:t>(p </a:t>
            </a:r>
            <a:r>
              <a:rPr lang="fr-FR" altLang="fr-FR" sz="3200" b="1" dirty="0">
                <a:solidFill>
                  <a:srgbClr val="FF0000"/>
                </a:solidFill>
                <a:latin typeface="Arial" panose="020B0604020202020204" pitchFamily="34" charset="0"/>
                <a:cs typeface="Arial" panose="020B0604020202020204" pitchFamily="34" charset="0"/>
              </a:rPr>
              <a:t>v</a:t>
            </a:r>
            <a:r>
              <a:rPr lang="fr-FR" altLang="fr-FR" sz="3200" b="1" dirty="0">
                <a:solidFill>
                  <a:schemeClr val="accent2"/>
                </a:solidFill>
                <a:latin typeface="Arial" panose="020B0604020202020204" pitchFamily="34" charset="0"/>
                <a:cs typeface="Arial" panose="020B0604020202020204" pitchFamily="34" charset="0"/>
              </a:rPr>
              <a:t> q) </a:t>
            </a:r>
            <a:r>
              <a:rPr lang="fr-FR" altLang="fr-FR" sz="3200" b="1" dirty="0">
                <a:solidFill>
                  <a:srgbClr val="33CC33"/>
                </a:solidFill>
                <a:sym typeface="Symbol" panose="05050102010706020507" pitchFamily="18" charset="2"/>
              </a:rPr>
              <a:t></a:t>
            </a:r>
            <a:r>
              <a:rPr lang="fr-FR" altLang="fr-FR" sz="3200" b="1" dirty="0">
                <a:solidFill>
                  <a:srgbClr val="FF0000"/>
                </a:solidFill>
                <a:latin typeface="Arial" panose="020B0604020202020204" pitchFamily="34" charset="0"/>
                <a:cs typeface="Arial" panose="020B0604020202020204" pitchFamily="34" charset="0"/>
              </a:rPr>
              <a:t> </a:t>
            </a:r>
            <a:r>
              <a:rPr lang="fr-FR" altLang="fr-FR" sz="3200" b="1" dirty="0">
                <a:solidFill>
                  <a:schemeClr val="accent2"/>
                </a:solidFill>
                <a:latin typeface="Arial" panose="020B0604020202020204" pitchFamily="34" charset="0"/>
                <a:cs typeface="Arial" panose="020B0604020202020204" pitchFamily="34" charset="0"/>
              </a:rPr>
              <a:t>(r </a:t>
            </a:r>
            <a:r>
              <a:rPr lang="fr-FR" altLang="fr-FR" sz="3200" b="1" dirty="0">
                <a:solidFill>
                  <a:srgbClr val="FF0000"/>
                </a:solidFill>
                <a:latin typeface="Arial" panose="020B0604020202020204" pitchFamily="34" charset="0"/>
                <a:cs typeface="Arial" panose="020B0604020202020204" pitchFamily="34" charset="0"/>
              </a:rPr>
              <a:t>v </a:t>
            </a:r>
            <a:r>
              <a:rPr lang="fr-FR" altLang="fr-FR" sz="3200" b="1" dirty="0">
                <a:solidFill>
                  <a:schemeClr val="accent2"/>
                </a:solidFill>
                <a:latin typeface="Arial" panose="020B0604020202020204" pitchFamily="34" charset="0"/>
                <a:cs typeface="Arial" panose="020B0604020202020204" pitchFamily="34" charset="0"/>
              </a:rPr>
              <a:t>s)</a:t>
            </a:r>
            <a:r>
              <a:rPr lang="fr-FR" altLang="fr-FR" sz="3200" dirty="0">
                <a:solidFill>
                  <a:schemeClr val="accent2"/>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58275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childTnLst>
                                </p:cTn>
                              </p:par>
                              <p:par>
                                <p:cTn id="14" presetID="1"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499"/>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14" grpId="0"/>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dirty="0"/>
              <a:t>Exemples</a:t>
            </a:r>
          </a:p>
        </p:txBody>
      </p:sp>
      <p:sp>
        <p:nvSpPr>
          <p:cNvPr id="3" name="Rectangle 2">
            <a:extLst>
              <a:ext uri="{FF2B5EF4-FFF2-40B4-BE49-F238E27FC236}">
                <a16:creationId xmlns:a16="http://schemas.microsoft.com/office/drawing/2014/main" xmlns="" id="{A4939FBC-8A31-F916-7CD0-67AAE41C421E}"/>
              </a:ext>
            </a:extLst>
          </p:cNvPr>
          <p:cNvSpPr>
            <a:spLocks noChangeArrowheads="1"/>
          </p:cNvSpPr>
          <p:nvPr/>
        </p:nvSpPr>
        <p:spPr bwMode="auto">
          <a:xfrm>
            <a:off x="179512" y="1010591"/>
            <a:ext cx="9144000" cy="535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fr-FR" altLang="fr-FR" sz="1800" b="1" i="1" dirty="0">
                <a:latin typeface="Arial" panose="020B0604020202020204" pitchFamily="34" charset="0"/>
                <a:cs typeface="Arial" panose="020B0604020202020204" pitchFamily="34" charset="0"/>
              </a:rPr>
              <a:t>Exemples de mise en forme normale conjonctive</a:t>
            </a:r>
          </a:p>
          <a:p>
            <a:pPr eaLnBrk="1" hangingPunct="1"/>
            <a:endParaRPr lang="fr-FR" altLang="fr-FR" sz="1800" b="1" dirty="0">
              <a:latin typeface="Arial" panose="020B0604020202020204" pitchFamily="34" charset="0"/>
              <a:cs typeface="Arial" panose="020B0604020202020204" pitchFamily="34" charset="0"/>
            </a:endParaRPr>
          </a:p>
          <a:p>
            <a:pPr eaLnBrk="1" hangingPunct="1"/>
            <a:endParaRPr lang="fr-FR" altLang="fr-FR" sz="1800" dirty="0">
              <a:solidFill>
                <a:schemeClr val="accent2"/>
              </a:solidFill>
              <a:latin typeface="Arial" panose="020B0604020202020204" pitchFamily="34" charset="0"/>
              <a:cs typeface="Arial" panose="020B0604020202020204" pitchFamily="34" charset="0"/>
            </a:endParaRPr>
          </a:p>
          <a:p>
            <a:pPr eaLnBrk="1" hangingPunct="1"/>
            <a:r>
              <a:rPr lang="fr-FR" altLang="fr-FR" sz="1800" dirty="0">
                <a:latin typeface="Arial" panose="020B0604020202020204" pitchFamily="34" charset="0"/>
                <a:cs typeface="Arial" panose="020B0604020202020204" pitchFamily="34" charset="0"/>
              </a:rPr>
              <a:t>1.((p </a:t>
            </a:r>
            <a:r>
              <a:rPr lang="fr-FR" altLang="fr-FR" sz="1800" b="1" dirty="0">
                <a:sym typeface="Symbol" panose="05050102010706020507" pitchFamily="18" charset="2"/>
              </a:rPr>
              <a:t></a:t>
            </a:r>
            <a:r>
              <a:rPr lang="fr-FR" altLang="fr-FR" sz="1800" dirty="0">
                <a:latin typeface="Arial" panose="020B0604020202020204" pitchFamily="34" charset="0"/>
                <a:cs typeface="Arial" panose="020B0604020202020204" pitchFamily="34" charset="0"/>
              </a:rPr>
              <a:t> q) v r) </a:t>
            </a:r>
            <a:r>
              <a:rPr lang="fr-FR" altLang="fr-FR" sz="1800" b="1" dirty="0">
                <a:sym typeface="Symbol" panose="05050102010706020507" pitchFamily="18" charset="2"/>
              </a:rPr>
              <a:t></a:t>
            </a:r>
            <a:r>
              <a:rPr lang="fr-FR" altLang="fr-FR" sz="1800" dirty="0">
                <a:latin typeface="Arial" panose="020B0604020202020204" pitchFamily="34" charset="0"/>
                <a:cs typeface="Arial" panose="020B0604020202020204" pitchFamily="34" charset="0"/>
              </a:rPr>
              <a:t> ((p </a:t>
            </a:r>
            <a:r>
              <a:rPr lang="fr-FR" altLang="fr-FR" sz="1800" b="1" dirty="0">
                <a:sym typeface="Symbol" panose="05050102010706020507" pitchFamily="18" charset="2"/>
              </a:rPr>
              <a:t></a:t>
            </a:r>
            <a:r>
              <a:rPr lang="fr-FR" altLang="fr-FR" sz="1800" dirty="0">
                <a:latin typeface="Arial" panose="020B0604020202020204" pitchFamily="34" charset="0"/>
                <a:cs typeface="Arial" panose="020B0604020202020204" pitchFamily="34" charset="0"/>
              </a:rPr>
              <a:t> q) v s) </a:t>
            </a:r>
          </a:p>
          <a:p>
            <a:pPr eaLnBrk="1" hangingPunct="1"/>
            <a:r>
              <a:rPr lang="fr-FR" altLang="fr-FR" sz="1800" dirty="0">
                <a:latin typeface="Arial" panose="020B0604020202020204" pitchFamily="34" charset="0"/>
                <a:cs typeface="Arial" panose="020B0604020202020204" pitchFamily="34" charset="0"/>
              </a:rPr>
              <a:t>2.( p </a:t>
            </a:r>
            <a:r>
              <a:rPr lang="fr-FR" altLang="fr-FR" sz="1800" dirty="0">
                <a:solidFill>
                  <a:srgbClr val="FF0000"/>
                </a:solidFill>
                <a:latin typeface="Arial" panose="020B0604020202020204" pitchFamily="34" charset="0"/>
                <a:cs typeface="Arial" panose="020B0604020202020204" pitchFamily="34" charset="0"/>
              </a:rPr>
              <a:t>v</a:t>
            </a:r>
            <a:r>
              <a:rPr lang="fr-FR" altLang="fr-FR" sz="1800" dirty="0">
                <a:latin typeface="Arial" panose="020B0604020202020204" pitchFamily="34" charset="0"/>
                <a:cs typeface="Arial" panose="020B0604020202020204" pitchFamily="34" charset="0"/>
              </a:rPr>
              <a:t> </a:t>
            </a:r>
            <a:r>
              <a:rPr lang="fr-FR" altLang="fr-FR" sz="1800" dirty="0">
                <a:solidFill>
                  <a:srgbClr val="FFC000"/>
                </a:solidFill>
                <a:latin typeface="Arial" panose="020B0604020202020204" pitchFamily="34" charset="0"/>
                <a:cs typeface="Arial" panose="020B0604020202020204" pitchFamily="34" charset="0"/>
              </a:rPr>
              <a:t>r</a:t>
            </a:r>
            <a:r>
              <a:rPr lang="fr-FR" altLang="fr-FR" sz="1800" dirty="0">
                <a:latin typeface="Arial" panose="020B0604020202020204" pitchFamily="34" charset="0"/>
                <a:cs typeface="Arial" panose="020B0604020202020204" pitchFamily="34" charset="0"/>
              </a:rPr>
              <a:t>) </a:t>
            </a:r>
            <a:r>
              <a:rPr lang="fr-FR" altLang="fr-FR" sz="1800" b="1" dirty="0">
                <a:sym typeface="Symbol" panose="05050102010706020507" pitchFamily="18" charset="2"/>
              </a:rPr>
              <a:t></a:t>
            </a:r>
            <a:r>
              <a:rPr lang="fr-FR" altLang="fr-FR" sz="1800" dirty="0">
                <a:latin typeface="Arial" panose="020B0604020202020204" pitchFamily="34" charset="0"/>
                <a:cs typeface="Arial" panose="020B0604020202020204" pitchFamily="34" charset="0"/>
              </a:rPr>
              <a:t> ( q </a:t>
            </a:r>
            <a:r>
              <a:rPr lang="fr-FR" altLang="fr-FR" sz="1800" dirty="0">
                <a:solidFill>
                  <a:srgbClr val="FF0000"/>
                </a:solidFill>
                <a:latin typeface="Arial" panose="020B0604020202020204" pitchFamily="34" charset="0"/>
                <a:cs typeface="Arial" panose="020B0604020202020204" pitchFamily="34" charset="0"/>
              </a:rPr>
              <a:t>v</a:t>
            </a:r>
            <a:r>
              <a:rPr lang="fr-FR" altLang="fr-FR" sz="1800" dirty="0">
                <a:latin typeface="Arial" panose="020B0604020202020204" pitchFamily="34" charset="0"/>
                <a:cs typeface="Arial" panose="020B0604020202020204" pitchFamily="34" charset="0"/>
              </a:rPr>
              <a:t> </a:t>
            </a:r>
            <a:r>
              <a:rPr lang="fr-FR" altLang="fr-FR" sz="1800" dirty="0">
                <a:solidFill>
                  <a:srgbClr val="FFC000"/>
                </a:solidFill>
                <a:latin typeface="Arial" panose="020B0604020202020204" pitchFamily="34" charset="0"/>
                <a:cs typeface="Arial" panose="020B0604020202020204" pitchFamily="34" charset="0"/>
              </a:rPr>
              <a:t>r</a:t>
            </a:r>
            <a:r>
              <a:rPr lang="fr-FR" altLang="fr-FR" sz="1800" dirty="0">
                <a:latin typeface="Arial" panose="020B0604020202020204" pitchFamily="34" charset="0"/>
                <a:cs typeface="Arial" panose="020B0604020202020204" pitchFamily="34" charset="0"/>
              </a:rPr>
              <a:t>) </a:t>
            </a:r>
            <a:r>
              <a:rPr lang="fr-FR" altLang="fr-FR" sz="1800" b="1" dirty="0">
                <a:sym typeface="Symbol" panose="05050102010706020507" pitchFamily="18" charset="2"/>
              </a:rPr>
              <a:t></a:t>
            </a:r>
            <a:r>
              <a:rPr lang="fr-FR" altLang="fr-FR" sz="1800" dirty="0">
                <a:latin typeface="Arial" panose="020B0604020202020204" pitchFamily="34" charset="0"/>
                <a:cs typeface="Arial" panose="020B0604020202020204" pitchFamily="34" charset="0"/>
              </a:rPr>
              <a:t> ((p </a:t>
            </a:r>
            <a:r>
              <a:rPr lang="fr-FR" altLang="fr-FR" sz="1800" b="1" dirty="0">
                <a:sym typeface="Symbol" panose="05050102010706020507" pitchFamily="18" charset="2"/>
              </a:rPr>
              <a:t></a:t>
            </a:r>
            <a:r>
              <a:rPr lang="fr-FR" altLang="fr-FR" sz="1800" dirty="0">
                <a:latin typeface="Arial" panose="020B0604020202020204" pitchFamily="34" charset="0"/>
                <a:cs typeface="Arial" panose="020B0604020202020204" pitchFamily="34" charset="0"/>
              </a:rPr>
              <a:t> q) v s) </a:t>
            </a:r>
          </a:p>
          <a:p>
            <a:pPr eaLnBrk="1" hangingPunct="1"/>
            <a:r>
              <a:rPr lang="fr-FR" altLang="fr-FR" sz="1800" dirty="0">
                <a:latin typeface="Arial" panose="020B0604020202020204" pitchFamily="34" charset="0"/>
                <a:cs typeface="Arial" panose="020B0604020202020204" pitchFamily="34" charset="0"/>
              </a:rPr>
              <a:t>3.( p</a:t>
            </a:r>
            <a:r>
              <a:rPr lang="fr-FR" altLang="fr-FR" sz="1800" dirty="0">
                <a:solidFill>
                  <a:srgbClr val="FF0000"/>
                </a:solidFill>
                <a:latin typeface="Arial" panose="020B0604020202020204" pitchFamily="34" charset="0"/>
                <a:cs typeface="Arial" panose="020B0604020202020204" pitchFamily="34" charset="0"/>
              </a:rPr>
              <a:t> v </a:t>
            </a:r>
            <a:r>
              <a:rPr lang="fr-FR" altLang="fr-FR" sz="1800" dirty="0">
                <a:latin typeface="Arial" panose="020B0604020202020204" pitchFamily="34" charset="0"/>
                <a:cs typeface="Arial" panose="020B0604020202020204" pitchFamily="34" charset="0"/>
              </a:rPr>
              <a:t>r) </a:t>
            </a:r>
            <a:r>
              <a:rPr lang="fr-FR" altLang="fr-FR" sz="1800" b="1" dirty="0">
                <a:solidFill>
                  <a:srgbClr val="33CC33"/>
                </a:solidFill>
                <a:sym typeface="Symbol" panose="05050102010706020507" pitchFamily="18" charset="2"/>
              </a:rPr>
              <a:t></a:t>
            </a:r>
            <a:r>
              <a:rPr lang="fr-FR" altLang="fr-FR" sz="1800" dirty="0">
                <a:solidFill>
                  <a:srgbClr val="33CC33"/>
                </a:solidFill>
                <a:latin typeface="Arial" panose="020B0604020202020204" pitchFamily="34" charset="0"/>
                <a:cs typeface="Arial" panose="020B0604020202020204" pitchFamily="34" charset="0"/>
              </a:rPr>
              <a:t> </a:t>
            </a:r>
            <a:r>
              <a:rPr lang="fr-FR" altLang="fr-FR" sz="1800" dirty="0">
                <a:latin typeface="Arial" panose="020B0604020202020204" pitchFamily="34" charset="0"/>
                <a:cs typeface="Arial" panose="020B0604020202020204" pitchFamily="34" charset="0"/>
              </a:rPr>
              <a:t>( q </a:t>
            </a:r>
            <a:r>
              <a:rPr lang="fr-FR" altLang="fr-FR" sz="1800" dirty="0">
                <a:solidFill>
                  <a:srgbClr val="FF0000"/>
                </a:solidFill>
                <a:latin typeface="Arial" panose="020B0604020202020204" pitchFamily="34" charset="0"/>
                <a:cs typeface="Arial" panose="020B0604020202020204" pitchFamily="34" charset="0"/>
              </a:rPr>
              <a:t>v</a:t>
            </a:r>
            <a:r>
              <a:rPr lang="fr-FR" altLang="fr-FR" sz="1800" dirty="0">
                <a:latin typeface="Arial" panose="020B0604020202020204" pitchFamily="34" charset="0"/>
                <a:cs typeface="Arial" panose="020B0604020202020204" pitchFamily="34" charset="0"/>
              </a:rPr>
              <a:t> r) </a:t>
            </a:r>
            <a:r>
              <a:rPr lang="fr-FR" altLang="fr-FR" sz="1800" b="1" dirty="0">
                <a:solidFill>
                  <a:srgbClr val="33CC33"/>
                </a:solidFill>
                <a:sym typeface="Symbol" panose="05050102010706020507" pitchFamily="18" charset="2"/>
              </a:rPr>
              <a:t></a:t>
            </a:r>
            <a:r>
              <a:rPr lang="fr-FR" altLang="fr-FR" sz="1800" dirty="0">
                <a:solidFill>
                  <a:srgbClr val="33CC33"/>
                </a:solidFill>
                <a:latin typeface="Arial" panose="020B0604020202020204" pitchFamily="34" charset="0"/>
                <a:cs typeface="Arial" panose="020B0604020202020204" pitchFamily="34" charset="0"/>
              </a:rPr>
              <a:t> </a:t>
            </a:r>
            <a:r>
              <a:rPr lang="fr-FR" altLang="fr-FR" sz="1800" dirty="0">
                <a:latin typeface="Arial" panose="020B0604020202020204" pitchFamily="34" charset="0"/>
                <a:cs typeface="Arial" panose="020B0604020202020204" pitchFamily="34" charset="0"/>
              </a:rPr>
              <a:t>( p </a:t>
            </a:r>
            <a:r>
              <a:rPr lang="fr-FR" altLang="fr-FR" sz="1800" dirty="0">
                <a:solidFill>
                  <a:srgbClr val="FF0000"/>
                </a:solidFill>
                <a:latin typeface="Arial" panose="020B0604020202020204" pitchFamily="34" charset="0"/>
                <a:cs typeface="Arial" panose="020B0604020202020204" pitchFamily="34" charset="0"/>
              </a:rPr>
              <a:t>v</a:t>
            </a:r>
            <a:r>
              <a:rPr lang="fr-FR" altLang="fr-FR" sz="1800" dirty="0">
                <a:latin typeface="Arial" panose="020B0604020202020204" pitchFamily="34" charset="0"/>
                <a:cs typeface="Arial" panose="020B0604020202020204" pitchFamily="34" charset="0"/>
              </a:rPr>
              <a:t> </a:t>
            </a:r>
            <a:r>
              <a:rPr lang="fr-FR" altLang="fr-FR" sz="1800" dirty="0">
                <a:solidFill>
                  <a:srgbClr val="FFC000"/>
                </a:solidFill>
                <a:latin typeface="Arial" panose="020B0604020202020204" pitchFamily="34" charset="0"/>
                <a:cs typeface="Arial" panose="020B0604020202020204" pitchFamily="34" charset="0"/>
              </a:rPr>
              <a:t>s</a:t>
            </a:r>
            <a:r>
              <a:rPr lang="fr-FR" altLang="fr-FR" sz="1800" dirty="0">
                <a:latin typeface="Arial" panose="020B0604020202020204" pitchFamily="34" charset="0"/>
                <a:cs typeface="Arial" panose="020B0604020202020204" pitchFamily="34" charset="0"/>
              </a:rPr>
              <a:t>) </a:t>
            </a:r>
            <a:r>
              <a:rPr lang="fr-FR" altLang="fr-FR" sz="1800" b="1" dirty="0">
                <a:solidFill>
                  <a:srgbClr val="33CC33"/>
                </a:solidFill>
                <a:sym typeface="Symbol" panose="05050102010706020507" pitchFamily="18" charset="2"/>
              </a:rPr>
              <a:t></a:t>
            </a:r>
            <a:r>
              <a:rPr lang="fr-FR" altLang="fr-FR" sz="1800" dirty="0">
                <a:latin typeface="Arial" panose="020B0604020202020204" pitchFamily="34" charset="0"/>
                <a:cs typeface="Arial" panose="020B0604020202020204" pitchFamily="34" charset="0"/>
              </a:rPr>
              <a:t> ( q </a:t>
            </a:r>
            <a:r>
              <a:rPr lang="fr-FR" altLang="fr-FR" sz="1800" dirty="0">
                <a:solidFill>
                  <a:srgbClr val="FF0000"/>
                </a:solidFill>
                <a:latin typeface="Arial" panose="020B0604020202020204" pitchFamily="34" charset="0"/>
                <a:cs typeface="Arial" panose="020B0604020202020204" pitchFamily="34" charset="0"/>
              </a:rPr>
              <a:t>v</a:t>
            </a:r>
            <a:r>
              <a:rPr lang="fr-FR" altLang="fr-FR" sz="1800" dirty="0">
                <a:latin typeface="Arial" panose="020B0604020202020204" pitchFamily="34" charset="0"/>
                <a:cs typeface="Arial" panose="020B0604020202020204" pitchFamily="34" charset="0"/>
              </a:rPr>
              <a:t> </a:t>
            </a:r>
            <a:r>
              <a:rPr lang="fr-FR" altLang="fr-FR" sz="1800" dirty="0">
                <a:solidFill>
                  <a:srgbClr val="FFC000"/>
                </a:solidFill>
                <a:latin typeface="Arial" panose="020B0604020202020204" pitchFamily="34" charset="0"/>
                <a:cs typeface="Arial" panose="020B0604020202020204" pitchFamily="34" charset="0"/>
              </a:rPr>
              <a:t>s</a:t>
            </a:r>
            <a:r>
              <a:rPr lang="fr-FR" altLang="fr-FR" sz="1800" dirty="0">
                <a:latin typeface="Arial" panose="020B0604020202020204" pitchFamily="34" charset="0"/>
                <a:cs typeface="Arial" panose="020B0604020202020204" pitchFamily="34" charset="0"/>
              </a:rPr>
              <a:t>) </a:t>
            </a:r>
          </a:p>
          <a:p>
            <a:pPr eaLnBrk="1" hangingPunct="1"/>
            <a:endParaRPr lang="fr-FR" altLang="fr-FR" sz="1800" dirty="0">
              <a:latin typeface="Arial" panose="020B0604020202020204" pitchFamily="34" charset="0"/>
              <a:cs typeface="Arial" panose="020B0604020202020204" pitchFamily="34" charset="0"/>
            </a:endParaRPr>
          </a:p>
          <a:p>
            <a:pPr eaLnBrk="1" hangingPunct="1"/>
            <a:r>
              <a:rPr lang="fr-FR" altLang="fr-FR" sz="1800" b="1" dirty="0">
                <a:solidFill>
                  <a:srgbClr val="C00000"/>
                </a:solidFill>
                <a:latin typeface="Arial" panose="020B0604020202020204" pitchFamily="34" charset="0"/>
                <a:cs typeface="Arial" panose="020B0604020202020204" pitchFamily="34" charset="0"/>
              </a:rPr>
              <a:t>Remarquer la croissance de la longueur de la formule qui résulte de l'application de la distribution (et de la loi de De Morgan )</a:t>
            </a:r>
          </a:p>
          <a:p>
            <a:pPr eaLnBrk="1" hangingPunct="1"/>
            <a:endParaRPr lang="fr-FR" altLang="fr-FR" sz="1800" b="1" dirty="0">
              <a:latin typeface="Arial" panose="020B0604020202020204" pitchFamily="34" charset="0"/>
              <a:cs typeface="Arial" panose="020B0604020202020204" pitchFamily="34" charset="0"/>
            </a:endParaRPr>
          </a:p>
          <a:p>
            <a:pPr eaLnBrk="1" hangingPunct="1"/>
            <a:endParaRPr lang="fr-FR" altLang="fr-FR" sz="1800" b="1" dirty="0">
              <a:latin typeface="Arial" panose="020B0604020202020204" pitchFamily="34" charset="0"/>
              <a:cs typeface="Arial" panose="020B0604020202020204" pitchFamily="34" charset="0"/>
            </a:endParaRPr>
          </a:p>
          <a:p>
            <a:pPr eaLnBrk="1" hangingPunct="1"/>
            <a:r>
              <a:rPr lang="fr-FR" altLang="fr-FR" sz="1800" b="1" dirty="0">
                <a:latin typeface="Arial" panose="020B0604020202020204" pitchFamily="34" charset="0"/>
                <a:cs typeface="Arial" panose="020B0604020202020204" pitchFamily="34" charset="0"/>
              </a:rPr>
              <a:t>(p -&gt; q) -&gt; p : </a:t>
            </a:r>
          </a:p>
          <a:p>
            <a:pPr eaLnBrk="1" hangingPunct="1"/>
            <a:endParaRPr lang="fr-FR" altLang="fr-FR" sz="1800" dirty="0">
              <a:latin typeface="Arial" panose="020B0604020202020204" pitchFamily="34" charset="0"/>
              <a:cs typeface="Arial" panose="020B0604020202020204" pitchFamily="34" charset="0"/>
            </a:endParaRPr>
          </a:p>
          <a:p>
            <a:pPr eaLnBrk="1" hangingPunct="1"/>
            <a:r>
              <a:rPr lang="fr-FR" altLang="fr-FR" sz="1800" dirty="0">
                <a:latin typeface="Arial" panose="020B0604020202020204" pitchFamily="34" charset="0"/>
                <a:cs typeface="Arial" panose="020B0604020202020204" pitchFamily="34" charset="0"/>
              </a:rPr>
              <a:t>1.(</a:t>
            </a:r>
            <a:r>
              <a:rPr lang="fr-FR" altLang="fr-FR" sz="1800" dirty="0">
                <a:latin typeface="Arial" panose="020B0604020202020204" pitchFamily="34" charset="0"/>
                <a:cs typeface="Arial" panose="020B0604020202020204" pitchFamily="34" charset="0"/>
                <a:sym typeface="Symbol" panose="05050102010706020507" pitchFamily="18" charset="2"/>
              </a:rPr>
              <a:t></a:t>
            </a:r>
            <a:r>
              <a:rPr lang="fr-FR" altLang="fr-FR" sz="1800" dirty="0">
                <a:latin typeface="Arial" panose="020B0604020202020204" pitchFamily="34" charset="0"/>
                <a:cs typeface="Arial" panose="020B0604020202020204" pitchFamily="34" charset="0"/>
              </a:rPr>
              <a:t>p v q) -&gt; p </a:t>
            </a:r>
          </a:p>
          <a:p>
            <a:pPr eaLnBrk="1" hangingPunct="1"/>
            <a:r>
              <a:rPr lang="fr-FR" altLang="fr-FR" sz="1800" dirty="0">
                <a:latin typeface="Arial" panose="020B0604020202020204" pitchFamily="34" charset="0"/>
                <a:cs typeface="Arial" panose="020B0604020202020204" pitchFamily="34" charset="0"/>
              </a:rPr>
              <a:t>2.</a:t>
            </a:r>
            <a:r>
              <a:rPr lang="fr-FR" altLang="fr-FR" sz="1800" dirty="0">
                <a:latin typeface="Arial" panose="020B0604020202020204" pitchFamily="34" charset="0"/>
                <a:cs typeface="Arial" panose="020B0604020202020204" pitchFamily="34" charset="0"/>
                <a:sym typeface="Symbol" panose="05050102010706020507" pitchFamily="18" charset="2"/>
              </a:rPr>
              <a:t> </a:t>
            </a:r>
            <a:r>
              <a:rPr lang="fr-FR" altLang="fr-FR" sz="1800" dirty="0">
                <a:latin typeface="Arial" panose="020B0604020202020204" pitchFamily="34" charset="0"/>
                <a:cs typeface="Arial" panose="020B0604020202020204" pitchFamily="34" charset="0"/>
              </a:rPr>
              <a:t>(</a:t>
            </a:r>
            <a:r>
              <a:rPr lang="fr-FR" altLang="fr-FR" sz="1800" dirty="0">
                <a:latin typeface="Arial" panose="020B0604020202020204" pitchFamily="34" charset="0"/>
                <a:cs typeface="Arial" panose="020B0604020202020204" pitchFamily="34" charset="0"/>
                <a:sym typeface="Symbol" panose="05050102010706020507" pitchFamily="18" charset="2"/>
              </a:rPr>
              <a:t> </a:t>
            </a:r>
            <a:r>
              <a:rPr lang="fr-FR" altLang="fr-FR" sz="1800" dirty="0">
                <a:latin typeface="Arial" panose="020B0604020202020204" pitchFamily="34" charset="0"/>
                <a:cs typeface="Arial" panose="020B0604020202020204" pitchFamily="34" charset="0"/>
              </a:rPr>
              <a:t>p v q) v p </a:t>
            </a:r>
          </a:p>
          <a:p>
            <a:pPr eaLnBrk="1" hangingPunct="1"/>
            <a:r>
              <a:rPr lang="fr-FR" altLang="fr-FR" sz="1800" dirty="0">
                <a:latin typeface="Arial" panose="020B0604020202020204" pitchFamily="34" charset="0"/>
                <a:cs typeface="Arial" panose="020B0604020202020204" pitchFamily="34" charset="0"/>
              </a:rPr>
              <a:t>3.(</a:t>
            </a:r>
            <a:r>
              <a:rPr lang="fr-FR" altLang="fr-FR" sz="1800" dirty="0">
                <a:latin typeface="Arial" panose="020B0604020202020204" pitchFamily="34" charset="0"/>
                <a:cs typeface="Arial" panose="020B0604020202020204" pitchFamily="34" charset="0"/>
                <a:sym typeface="Symbol" panose="05050102010706020507" pitchFamily="18" charset="2"/>
              </a:rPr>
              <a:t>  </a:t>
            </a:r>
            <a:r>
              <a:rPr lang="fr-FR" altLang="fr-FR" sz="1800" dirty="0">
                <a:latin typeface="Arial" panose="020B0604020202020204" pitchFamily="34" charset="0"/>
                <a:cs typeface="Arial" panose="020B0604020202020204" pitchFamily="34" charset="0"/>
              </a:rPr>
              <a:t>p </a:t>
            </a:r>
            <a:r>
              <a:rPr lang="fr-FR" altLang="fr-FR" sz="1800" b="1" dirty="0">
                <a:sym typeface="Symbol" panose="05050102010706020507" pitchFamily="18" charset="2"/>
              </a:rPr>
              <a:t></a:t>
            </a:r>
            <a:r>
              <a:rPr lang="fr-FR" altLang="fr-FR" sz="1800" dirty="0">
                <a:latin typeface="Arial" panose="020B0604020202020204" pitchFamily="34" charset="0"/>
                <a:cs typeface="Arial" panose="020B0604020202020204" pitchFamily="34" charset="0"/>
              </a:rPr>
              <a:t> </a:t>
            </a:r>
            <a:r>
              <a:rPr lang="fr-FR" altLang="fr-FR" sz="1800" dirty="0">
                <a:latin typeface="Arial" panose="020B0604020202020204" pitchFamily="34" charset="0"/>
                <a:cs typeface="Arial" panose="020B0604020202020204" pitchFamily="34" charset="0"/>
                <a:sym typeface="Symbol" panose="05050102010706020507" pitchFamily="18" charset="2"/>
              </a:rPr>
              <a:t> </a:t>
            </a:r>
            <a:r>
              <a:rPr lang="fr-FR" altLang="fr-FR" sz="1800" dirty="0">
                <a:latin typeface="Arial" panose="020B0604020202020204" pitchFamily="34" charset="0"/>
                <a:cs typeface="Arial" panose="020B0604020202020204" pitchFamily="34" charset="0"/>
              </a:rPr>
              <a:t>q) v p </a:t>
            </a:r>
          </a:p>
          <a:p>
            <a:pPr eaLnBrk="1" hangingPunct="1"/>
            <a:r>
              <a:rPr lang="fr-FR" altLang="fr-FR" sz="1800" dirty="0">
                <a:latin typeface="Arial" panose="020B0604020202020204" pitchFamily="34" charset="0"/>
                <a:cs typeface="Arial" panose="020B0604020202020204" pitchFamily="34" charset="0"/>
              </a:rPr>
              <a:t>4.( p </a:t>
            </a:r>
            <a:r>
              <a:rPr lang="fr-FR" altLang="fr-FR" sz="1800" b="1" dirty="0">
                <a:sym typeface="Symbol" panose="05050102010706020507" pitchFamily="18" charset="2"/>
              </a:rPr>
              <a:t></a:t>
            </a:r>
            <a:r>
              <a:rPr lang="fr-FR" altLang="fr-FR" sz="1800" dirty="0">
                <a:latin typeface="Arial" panose="020B0604020202020204" pitchFamily="34" charset="0"/>
                <a:cs typeface="Arial" panose="020B0604020202020204" pitchFamily="34" charset="0"/>
              </a:rPr>
              <a:t> </a:t>
            </a:r>
            <a:r>
              <a:rPr lang="fr-FR" altLang="fr-FR" sz="1800" dirty="0">
                <a:latin typeface="Arial" panose="020B0604020202020204" pitchFamily="34" charset="0"/>
                <a:cs typeface="Arial" panose="020B0604020202020204" pitchFamily="34" charset="0"/>
                <a:sym typeface="Symbol" panose="05050102010706020507" pitchFamily="18" charset="2"/>
              </a:rPr>
              <a:t> </a:t>
            </a:r>
            <a:r>
              <a:rPr lang="fr-FR" altLang="fr-FR" sz="1800" dirty="0">
                <a:latin typeface="Arial" panose="020B0604020202020204" pitchFamily="34" charset="0"/>
                <a:cs typeface="Arial" panose="020B0604020202020204" pitchFamily="34" charset="0"/>
              </a:rPr>
              <a:t>q) v p </a:t>
            </a:r>
          </a:p>
          <a:p>
            <a:pPr eaLnBrk="1" hangingPunct="1"/>
            <a:r>
              <a:rPr lang="fr-FR" altLang="fr-FR" sz="1800" dirty="0">
                <a:latin typeface="Arial" panose="020B0604020202020204" pitchFamily="34" charset="0"/>
                <a:cs typeface="Arial" panose="020B0604020202020204" pitchFamily="34" charset="0"/>
              </a:rPr>
              <a:t>5.(p </a:t>
            </a:r>
            <a:r>
              <a:rPr lang="fr-FR" altLang="fr-FR" sz="1800" dirty="0">
                <a:solidFill>
                  <a:srgbClr val="FF0000"/>
                </a:solidFill>
                <a:latin typeface="Arial" panose="020B0604020202020204" pitchFamily="34" charset="0"/>
                <a:cs typeface="Arial" panose="020B0604020202020204" pitchFamily="34" charset="0"/>
              </a:rPr>
              <a:t>v </a:t>
            </a:r>
            <a:r>
              <a:rPr lang="fr-FR" altLang="fr-FR" sz="1800" dirty="0">
                <a:latin typeface="Arial" panose="020B0604020202020204" pitchFamily="34" charset="0"/>
                <a:cs typeface="Arial" panose="020B0604020202020204" pitchFamily="34" charset="0"/>
              </a:rPr>
              <a:t>p)</a:t>
            </a:r>
            <a:r>
              <a:rPr lang="fr-FR" altLang="fr-FR" sz="1800" dirty="0">
                <a:solidFill>
                  <a:srgbClr val="33CC33"/>
                </a:solidFill>
                <a:latin typeface="Arial" panose="020B0604020202020204" pitchFamily="34" charset="0"/>
                <a:cs typeface="Arial" panose="020B0604020202020204" pitchFamily="34" charset="0"/>
              </a:rPr>
              <a:t> </a:t>
            </a:r>
            <a:r>
              <a:rPr lang="fr-FR" altLang="fr-FR" sz="1800" b="1" dirty="0">
                <a:solidFill>
                  <a:srgbClr val="33CC33"/>
                </a:solidFill>
                <a:sym typeface="Symbol" panose="05050102010706020507" pitchFamily="18" charset="2"/>
              </a:rPr>
              <a:t></a:t>
            </a:r>
            <a:r>
              <a:rPr lang="fr-FR" altLang="fr-FR" sz="1800" dirty="0">
                <a:solidFill>
                  <a:srgbClr val="33CC33"/>
                </a:solidFill>
                <a:latin typeface="Arial" panose="020B0604020202020204" pitchFamily="34" charset="0"/>
                <a:cs typeface="Arial" panose="020B0604020202020204" pitchFamily="34" charset="0"/>
              </a:rPr>
              <a:t> </a:t>
            </a:r>
            <a:r>
              <a:rPr lang="fr-FR" altLang="fr-FR" sz="1800" dirty="0">
                <a:latin typeface="Arial" panose="020B0604020202020204" pitchFamily="34" charset="0"/>
                <a:cs typeface="Arial" panose="020B0604020202020204" pitchFamily="34" charset="0"/>
              </a:rPr>
              <a:t>(</a:t>
            </a:r>
            <a:r>
              <a:rPr lang="fr-FR" altLang="fr-FR" sz="1800" dirty="0">
                <a:latin typeface="Arial" panose="020B0604020202020204" pitchFamily="34" charset="0"/>
                <a:cs typeface="Arial" panose="020B0604020202020204" pitchFamily="34" charset="0"/>
                <a:sym typeface="Symbol" panose="05050102010706020507" pitchFamily="18" charset="2"/>
              </a:rPr>
              <a:t> </a:t>
            </a:r>
            <a:r>
              <a:rPr lang="fr-FR" altLang="fr-FR" sz="1800" dirty="0">
                <a:latin typeface="Arial" panose="020B0604020202020204" pitchFamily="34" charset="0"/>
                <a:cs typeface="Arial" panose="020B0604020202020204" pitchFamily="34" charset="0"/>
              </a:rPr>
              <a:t>q</a:t>
            </a:r>
            <a:r>
              <a:rPr lang="fr-FR" altLang="fr-FR" sz="1800" dirty="0">
                <a:solidFill>
                  <a:srgbClr val="FF0000"/>
                </a:solidFill>
                <a:latin typeface="Arial" panose="020B0604020202020204" pitchFamily="34" charset="0"/>
                <a:cs typeface="Arial" panose="020B0604020202020204" pitchFamily="34" charset="0"/>
              </a:rPr>
              <a:t> v </a:t>
            </a:r>
            <a:r>
              <a:rPr lang="fr-FR" altLang="fr-FR" sz="1800" dirty="0">
                <a:latin typeface="Arial" panose="020B0604020202020204" pitchFamily="34" charset="0"/>
                <a:cs typeface="Arial" panose="020B0604020202020204" pitchFamily="34" charset="0"/>
              </a:rPr>
              <a:t>p) </a:t>
            </a:r>
          </a:p>
          <a:p>
            <a:pPr eaLnBrk="1" hangingPunct="1"/>
            <a:endParaRPr lang="fr-FR" altLang="fr-FR" sz="1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02121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box(in)">
                                      <p:cBhvr>
                                        <p:cTn id="25" dur="500"/>
                                        <p:tgtEl>
                                          <p:spTgt spid="3">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 calcmode="lin" valueType="num">
                                      <p:cBhvr additive="base">
                                        <p:cTn id="30"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12" end="12"/>
                                            </p:txEl>
                                          </p:spTgt>
                                        </p:tgtEl>
                                        <p:attrNameLst>
                                          <p:attrName>style.visibility</p:attrName>
                                        </p:attrNameLst>
                                      </p:cBhvr>
                                      <p:to>
                                        <p:strVal val="visible"/>
                                      </p:to>
                                    </p:set>
                                    <p:anim calcmode="lin" valueType="num">
                                      <p:cBhvr additive="base">
                                        <p:cTn id="36"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13" end="13"/>
                                            </p:txEl>
                                          </p:spTgt>
                                        </p:tgtEl>
                                        <p:attrNameLst>
                                          <p:attrName>style.visibility</p:attrName>
                                        </p:attrNameLst>
                                      </p:cBhvr>
                                      <p:to>
                                        <p:strVal val="visible"/>
                                      </p:to>
                                    </p:set>
                                    <p:anim calcmode="lin" valueType="num">
                                      <p:cBhvr additive="base">
                                        <p:cTn id="42"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
                                            <p:txEl>
                                              <p:pRg st="14" end="14"/>
                                            </p:txEl>
                                          </p:spTgt>
                                        </p:tgtEl>
                                        <p:attrNameLst>
                                          <p:attrName>style.visibility</p:attrName>
                                        </p:attrNameLst>
                                      </p:cBhvr>
                                      <p:to>
                                        <p:strVal val="visible"/>
                                      </p:to>
                                    </p:set>
                                    <p:anim calcmode="lin" valueType="num">
                                      <p:cBhvr additive="base">
                                        <p:cTn id="48"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3">
                                            <p:txEl>
                                              <p:pRg st="15" end="15"/>
                                            </p:txEl>
                                          </p:spTgt>
                                        </p:tgtEl>
                                        <p:attrNameLst>
                                          <p:attrName>style.visibility</p:attrName>
                                        </p:attrNameLst>
                                      </p:cBhvr>
                                      <p:to>
                                        <p:strVal val="visible"/>
                                      </p:to>
                                    </p:set>
                                    <p:anim calcmode="lin" valueType="num">
                                      <p:cBhvr additive="base">
                                        <p:cTn id="54"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3">
                                            <p:txEl>
                                              <p:pRg st="16" end="16"/>
                                            </p:txEl>
                                          </p:spTgt>
                                        </p:tgtEl>
                                        <p:attrNameLst>
                                          <p:attrName>style.visibility</p:attrName>
                                        </p:attrNameLst>
                                      </p:cBhvr>
                                      <p:to>
                                        <p:strVal val="visible"/>
                                      </p:to>
                                    </p:set>
                                    <p:anim calcmode="lin" valueType="num">
                                      <p:cBhvr additive="base">
                                        <p:cTn id="60"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4A00AB46-F83D-C345-8A9E-0F1E5DFD7FFB}"/>
              </a:ext>
            </a:extLst>
          </p:cNvPr>
          <p:cNvSpPr>
            <a:spLocks noGrp="1"/>
          </p:cNvSpPr>
          <p:nvPr>
            <p:ph type="title"/>
          </p:nvPr>
        </p:nvSpPr>
        <p:spPr>
          <a:xfrm>
            <a:off x="611560" y="123822"/>
            <a:ext cx="6347714" cy="1320800"/>
          </a:xfrm>
        </p:spPr>
        <p:txBody>
          <a:bodyPr/>
          <a:lstStyle/>
          <a:p>
            <a:r>
              <a:rPr lang="fr-FR" dirty="0"/>
              <a:t>Troisième aspect </a:t>
            </a:r>
          </a:p>
        </p:txBody>
      </p:sp>
      <p:sp>
        <p:nvSpPr>
          <p:cNvPr id="3" name="Rectangle 3">
            <a:extLst>
              <a:ext uri="{FF2B5EF4-FFF2-40B4-BE49-F238E27FC236}">
                <a16:creationId xmlns:a16="http://schemas.microsoft.com/office/drawing/2014/main" xmlns="" id="{D111408A-99B0-16B0-455E-0242D82F3696}"/>
              </a:ext>
            </a:extLst>
          </p:cNvPr>
          <p:cNvSpPr txBox="1">
            <a:spLocks noChangeArrowheads="1"/>
          </p:cNvSpPr>
          <p:nvPr/>
        </p:nvSpPr>
        <p:spPr>
          <a:xfrm>
            <a:off x="395537" y="1758950"/>
            <a:ext cx="8184902" cy="444023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altLang="fr-FR" sz="2800" dirty="0">
                <a:solidFill>
                  <a:schemeClr val="bg1">
                    <a:lumMod val="85000"/>
                  </a:schemeClr>
                </a:solidFill>
              </a:rPr>
              <a:t>Comment écrire les formules ?</a:t>
            </a:r>
          </a:p>
          <a:p>
            <a:pPr lvl="1"/>
            <a:r>
              <a:rPr lang="fr-FR" altLang="fr-FR" sz="2400" dirty="0">
                <a:solidFill>
                  <a:schemeClr val="bg1">
                    <a:lumMod val="85000"/>
                  </a:schemeClr>
                </a:solidFill>
              </a:rPr>
              <a:t>Aspects syntaxiques</a:t>
            </a:r>
          </a:p>
          <a:p>
            <a:pPr lvl="1"/>
            <a:endParaRPr lang="fr-FR" altLang="fr-FR" sz="2400" dirty="0">
              <a:solidFill>
                <a:schemeClr val="bg1">
                  <a:lumMod val="85000"/>
                </a:schemeClr>
              </a:solidFill>
            </a:endParaRPr>
          </a:p>
          <a:p>
            <a:r>
              <a:rPr lang="fr-FR" altLang="fr-FR" sz="2800" dirty="0">
                <a:solidFill>
                  <a:schemeClr val="bg1">
                    <a:lumMod val="85000"/>
                  </a:schemeClr>
                </a:solidFill>
              </a:rPr>
              <a:t>Comment déterminer la valeur de vérité d’une formule ? </a:t>
            </a:r>
          </a:p>
          <a:p>
            <a:pPr lvl="1"/>
            <a:r>
              <a:rPr lang="fr-FR" altLang="fr-FR" sz="2400" dirty="0">
                <a:solidFill>
                  <a:schemeClr val="bg1">
                    <a:lumMod val="85000"/>
                  </a:schemeClr>
                </a:solidFill>
              </a:rPr>
              <a:t>Aspects sémantiques</a:t>
            </a:r>
          </a:p>
          <a:p>
            <a:pPr lvl="1"/>
            <a:endParaRPr lang="fr-FR" altLang="fr-FR" sz="2400" dirty="0"/>
          </a:p>
          <a:p>
            <a:r>
              <a:rPr lang="fr-FR" altLang="fr-FR" sz="2800" dirty="0"/>
              <a:t>Comment démontrer de nouveaux résultats ?</a:t>
            </a:r>
          </a:p>
          <a:p>
            <a:pPr lvl="1"/>
            <a:r>
              <a:rPr lang="fr-FR" altLang="fr-FR" sz="2400" dirty="0"/>
              <a:t>Aspects déductifs</a:t>
            </a:r>
          </a:p>
        </p:txBody>
      </p:sp>
    </p:spTree>
    <p:extLst>
      <p:ext uri="{BB962C8B-B14F-4D97-AF65-F5344CB8AC3E}">
        <p14:creationId xmlns:p14="http://schemas.microsoft.com/office/powerpoint/2010/main" val="3095831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Aspects déductifs</a:t>
            </a:r>
          </a:p>
        </p:txBody>
      </p:sp>
      <p:sp>
        <p:nvSpPr>
          <p:cNvPr id="3" name="Rectangle 3">
            <a:extLst>
              <a:ext uri="{FF2B5EF4-FFF2-40B4-BE49-F238E27FC236}">
                <a16:creationId xmlns:a16="http://schemas.microsoft.com/office/drawing/2014/main" xmlns="" id="{A64C7244-2B4E-FF4A-8C8D-F1FD6B16D538}"/>
              </a:ext>
            </a:extLst>
          </p:cNvPr>
          <p:cNvSpPr txBox="1">
            <a:spLocks noChangeArrowheads="1"/>
          </p:cNvSpPr>
          <p:nvPr/>
        </p:nvSpPr>
        <p:spPr>
          <a:xfrm>
            <a:off x="755576" y="2552700"/>
            <a:ext cx="6400800" cy="1752600"/>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Courier New" panose="02070309020205020404" pitchFamily="49" charset="0"/>
              <a:buChar char="o"/>
            </a:pPr>
            <a:r>
              <a:rPr lang="fr-FR" altLang="fr-FR" sz="2800" dirty="0"/>
              <a:t>notion de </a:t>
            </a:r>
            <a:r>
              <a:rPr lang="fr-FR" altLang="fr-FR" sz="2800" dirty="0">
                <a:solidFill>
                  <a:srgbClr val="C00000"/>
                </a:solidFill>
              </a:rPr>
              <a:t>conséquence logique</a:t>
            </a:r>
          </a:p>
          <a:p>
            <a:pPr>
              <a:buFont typeface="Courier New" panose="02070309020205020404" pitchFamily="49" charset="0"/>
              <a:buChar char="o"/>
            </a:pPr>
            <a:r>
              <a:rPr lang="fr-FR" altLang="fr-FR" sz="2800" dirty="0"/>
              <a:t>notion de </a:t>
            </a:r>
            <a:r>
              <a:rPr lang="fr-FR" altLang="fr-FR" sz="2800" dirty="0">
                <a:solidFill>
                  <a:srgbClr val="C00000"/>
                </a:solidFill>
              </a:rPr>
              <a:t>démonstration</a:t>
            </a:r>
          </a:p>
          <a:p>
            <a:pPr>
              <a:buFont typeface="Courier New" panose="02070309020205020404" pitchFamily="49" charset="0"/>
              <a:buChar char="o"/>
            </a:pPr>
            <a:r>
              <a:rPr lang="fr-FR" altLang="fr-FR" sz="2800" dirty="0"/>
              <a:t>notion de </a:t>
            </a:r>
            <a:r>
              <a:rPr lang="fr-FR" altLang="fr-FR" sz="2800" dirty="0">
                <a:solidFill>
                  <a:srgbClr val="C00000"/>
                </a:solidFill>
              </a:rPr>
              <a:t>règles de déduction</a:t>
            </a:r>
          </a:p>
        </p:txBody>
      </p:sp>
    </p:spTree>
    <p:extLst>
      <p:ext uri="{BB962C8B-B14F-4D97-AF65-F5344CB8AC3E}">
        <p14:creationId xmlns:p14="http://schemas.microsoft.com/office/powerpoint/2010/main" val="2027121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xmlns="" id="{8390D337-88F8-5342-02F4-9BE7C0E19182}"/>
              </a:ext>
            </a:extLst>
          </p:cNvPr>
          <p:cNvSpPr>
            <a:spLocks noGrp="1" noChangeArrowheads="1"/>
          </p:cNvSpPr>
          <p:nvPr>
            <p:ph type="title"/>
          </p:nvPr>
        </p:nvSpPr>
        <p:spPr/>
        <p:txBody>
          <a:bodyPr/>
          <a:lstStyle/>
          <a:p>
            <a:r>
              <a:rPr lang="fr-FR" altLang="fr-FR"/>
              <a:t>Conséquence logique</a:t>
            </a:r>
          </a:p>
        </p:txBody>
      </p:sp>
      <p:grpSp>
        <p:nvGrpSpPr>
          <p:cNvPr id="31748" name="Group 4">
            <a:extLst>
              <a:ext uri="{FF2B5EF4-FFF2-40B4-BE49-F238E27FC236}">
                <a16:creationId xmlns:a16="http://schemas.microsoft.com/office/drawing/2014/main" xmlns="" id="{03B0BE29-889E-7D16-DDE5-697E4612DCAE}"/>
              </a:ext>
            </a:extLst>
          </p:cNvPr>
          <p:cNvGrpSpPr>
            <a:grpSpLocks/>
          </p:cNvGrpSpPr>
          <p:nvPr/>
        </p:nvGrpSpPr>
        <p:grpSpPr bwMode="auto">
          <a:xfrm>
            <a:off x="3851275" y="2565400"/>
            <a:ext cx="152400" cy="304800"/>
            <a:chOff x="528" y="384"/>
            <a:chExt cx="96" cy="288"/>
          </a:xfrm>
        </p:grpSpPr>
        <p:sp>
          <p:nvSpPr>
            <p:cNvPr id="31757" name="Line 5">
              <a:extLst>
                <a:ext uri="{FF2B5EF4-FFF2-40B4-BE49-F238E27FC236}">
                  <a16:creationId xmlns:a16="http://schemas.microsoft.com/office/drawing/2014/main" xmlns="" id="{18A1376E-51E9-7CDE-5DB0-963359868CD7}"/>
                </a:ext>
              </a:extLst>
            </p:cNvPr>
            <p:cNvSpPr>
              <a:spLocks noChangeShapeType="1"/>
            </p:cNvSpPr>
            <p:nvPr/>
          </p:nvSpPr>
          <p:spPr bwMode="auto">
            <a:xfrm>
              <a:off x="528" y="384"/>
              <a:ext cx="0"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31758" name="Line 6">
              <a:extLst>
                <a:ext uri="{FF2B5EF4-FFF2-40B4-BE49-F238E27FC236}">
                  <a16:creationId xmlns:a16="http://schemas.microsoft.com/office/drawing/2014/main" xmlns="" id="{7E256EA0-413D-8622-CF46-3F23B9791136}"/>
                </a:ext>
              </a:extLst>
            </p:cNvPr>
            <p:cNvSpPr>
              <a:spLocks noChangeShapeType="1"/>
            </p:cNvSpPr>
            <p:nvPr/>
          </p:nvSpPr>
          <p:spPr bwMode="auto">
            <a:xfrm>
              <a:off x="528" y="52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grpSp>
        <p:nvGrpSpPr>
          <p:cNvPr id="31749" name="Group 7">
            <a:extLst>
              <a:ext uri="{FF2B5EF4-FFF2-40B4-BE49-F238E27FC236}">
                <a16:creationId xmlns:a16="http://schemas.microsoft.com/office/drawing/2014/main" xmlns="" id="{52836ECB-CA0A-94BA-AF72-4D51067B6BDD}"/>
              </a:ext>
            </a:extLst>
          </p:cNvPr>
          <p:cNvGrpSpPr>
            <a:grpSpLocks/>
          </p:cNvGrpSpPr>
          <p:nvPr/>
        </p:nvGrpSpPr>
        <p:grpSpPr bwMode="auto">
          <a:xfrm>
            <a:off x="2743200" y="2571750"/>
            <a:ext cx="152400" cy="304800"/>
            <a:chOff x="528" y="384"/>
            <a:chExt cx="96" cy="288"/>
          </a:xfrm>
        </p:grpSpPr>
        <p:sp>
          <p:nvSpPr>
            <p:cNvPr id="31755" name="Line 8">
              <a:extLst>
                <a:ext uri="{FF2B5EF4-FFF2-40B4-BE49-F238E27FC236}">
                  <a16:creationId xmlns:a16="http://schemas.microsoft.com/office/drawing/2014/main" xmlns="" id="{57E6A490-CB87-E9DA-8A3C-81520E68B76B}"/>
                </a:ext>
              </a:extLst>
            </p:cNvPr>
            <p:cNvSpPr>
              <a:spLocks noChangeShapeType="1"/>
            </p:cNvSpPr>
            <p:nvPr/>
          </p:nvSpPr>
          <p:spPr bwMode="auto">
            <a:xfrm>
              <a:off x="528" y="384"/>
              <a:ext cx="0"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dirty="0"/>
            </a:p>
          </p:txBody>
        </p:sp>
        <p:sp>
          <p:nvSpPr>
            <p:cNvPr id="31756" name="Line 9">
              <a:extLst>
                <a:ext uri="{FF2B5EF4-FFF2-40B4-BE49-F238E27FC236}">
                  <a16:creationId xmlns:a16="http://schemas.microsoft.com/office/drawing/2014/main" xmlns="" id="{97852FF5-C3B5-32C8-4037-1AE53F063F0F}"/>
                </a:ext>
              </a:extLst>
            </p:cNvPr>
            <p:cNvSpPr>
              <a:spLocks noChangeShapeType="1"/>
            </p:cNvSpPr>
            <p:nvPr/>
          </p:nvSpPr>
          <p:spPr bwMode="auto">
            <a:xfrm>
              <a:off x="528" y="52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grpSp>
        <p:nvGrpSpPr>
          <p:cNvPr id="31750" name="Group 12">
            <a:extLst>
              <a:ext uri="{FF2B5EF4-FFF2-40B4-BE49-F238E27FC236}">
                <a16:creationId xmlns:a16="http://schemas.microsoft.com/office/drawing/2014/main" xmlns="" id="{F685DB3C-B974-4836-96DC-D0086C5CCD81}"/>
              </a:ext>
            </a:extLst>
          </p:cNvPr>
          <p:cNvGrpSpPr>
            <a:grpSpLocks/>
          </p:cNvGrpSpPr>
          <p:nvPr/>
        </p:nvGrpSpPr>
        <p:grpSpPr bwMode="auto">
          <a:xfrm>
            <a:off x="1917700" y="4483100"/>
            <a:ext cx="152400" cy="304800"/>
            <a:chOff x="528" y="384"/>
            <a:chExt cx="96" cy="288"/>
          </a:xfrm>
        </p:grpSpPr>
        <p:sp>
          <p:nvSpPr>
            <p:cNvPr id="31753" name="Line 13">
              <a:extLst>
                <a:ext uri="{FF2B5EF4-FFF2-40B4-BE49-F238E27FC236}">
                  <a16:creationId xmlns:a16="http://schemas.microsoft.com/office/drawing/2014/main" xmlns="" id="{34360949-B3C6-ECCF-DE60-D4E4474B2384}"/>
                </a:ext>
              </a:extLst>
            </p:cNvPr>
            <p:cNvSpPr>
              <a:spLocks noChangeShapeType="1"/>
            </p:cNvSpPr>
            <p:nvPr/>
          </p:nvSpPr>
          <p:spPr bwMode="auto">
            <a:xfrm>
              <a:off x="528" y="384"/>
              <a:ext cx="0"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31754" name="Line 14">
              <a:extLst>
                <a:ext uri="{FF2B5EF4-FFF2-40B4-BE49-F238E27FC236}">
                  <a16:creationId xmlns:a16="http://schemas.microsoft.com/office/drawing/2014/main" xmlns="" id="{CAC3281E-1A9B-1916-FA1E-783376C9648A}"/>
                </a:ext>
              </a:extLst>
            </p:cNvPr>
            <p:cNvSpPr>
              <a:spLocks noChangeShapeType="1"/>
            </p:cNvSpPr>
            <p:nvPr/>
          </p:nvSpPr>
          <p:spPr bwMode="auto">
            <a:xfrm>
              <a:off x="528" y="52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sp>
        <p:nvSpPr>
          <p:cNvPr id="31751" name="Text Box 15">
            <a:extLst>
              <a:ext uri="{FF2B5EF4-FFF2-40B4-BE49-F238E27FC236}">
                <a16:creationId xmlns:a16="http://schemas.microsoft.com/office/drawing/2014/main" xmlns="" id="{BB768887-9451-96A3-71E1-A66EF95C8528}"/>
              </a:ext>
            </a:extLst>
          </p:cNvPr>
          <p:cNvSpPr txBox="1">
            <a:spLocks noChangeArrowheads="1"/>
          </p:cNvSpPr>
          <p:nvPr/>
        </p:nvSpPr>
        <p:spPr bwMode="auto">
          <a:xfrm>
            <a:off x="7369175" y="-76200"/>
            <a:ext cx="17748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1200">
                <a:solidFill>
                  <a:schemeClr val="bg1"/>
                </a:solidFill>
              </a:rPr>
              <a:t>Calcul propositionnel</a:t>
            </a:r>
            <a:endParaRPr lang="fr-FR" altLang="fr-FR">
              <a:latin typeface="Times New Roman" panose="02020603050405020304" pitchFamily="18" charset="0"/>
            </a:endParaRPr>
          </a:p>
        </p:txBody>
      </p:sp>
      <p:sp>
        <p:nvSpPr>
          <p:cNvPr id="31752" name="Rectangle 16">
            <a:extLst>
              <a:ext uri="{FF2B5EF4-FFF2-40B4-BE49-F238E27FC236}">
                <a16:creationId xmlns:a16="http://schemas.microsoft.com/office/drawing/2014/main" xmlns="" id="{7E9437F2-1F78-35BC-3D25-5F5753131F34}"/>
              </a:ext>
            </a:extLst>
          </p:cNvPr>
          <p:cNvSpPr>
            <a:spLocks noChangeArrowheads="1"/>
          </p:cNvSpPr>
          <p:nvPr/>
        </p:nvSpPr>
        <p:spPr bwMode="auto">
          <a:xfrm>
            <a:off x="0" y="44450"/>
            <a:ext cx="9144000" cy="366713"/>
          </a:xfrm>
          <a:prstGeom prst="rect">
            <a:avLst/>
          </a:prstGeom>
          <a:solidFill>
            <a:srgbClr val="3366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fr-FR" altLang="fr-FR" sz="1800">
                <a:latin typeface="Arial" panose="020B0604020202020204" pitchFamily="34" charset="0"/>
                <a:cs typeface="Arial" panose="020B0604020202020204" pitchFamily="34" charset="0"/>
              </a:rPr>
              <a:t>Intelligence Artificielle 	               Programmation en Logique		       </a:t>
            </a:r>
          </a:p>
        </p:txBody>
      </p:sp>
      <p:sp>
        <p:nvSpPr>
          <p:cNvPr id="5" name="Rectangle 3">
            <a:extLst>
              <a:ext uri="{FF2B5EF4-FFF2-40B4-BE49-F238E27FC236}">
                <a16:creationId xmlns:a16="http://schemas.microsoft.com/office/drawing/2014/main" xmlns="" id="{5A6203AC-DBD0-99A7-49E1-F7671B3018BB}"/>
              </a:ext>
            </a:extLst>
          </p:cNvPr>
          <p:cNvSpPr txBox="1">
            <a:spLocks noChangeArrowheads="1"/>
          </p:cNvSpPr>
          <p:nvPr/>
        </p:nvSpPr>
        <p:spPr bwMode="auto">
          <a:xfrm>
            <a:off x="684213" y="1773238"/>
            <a:ext cx="8321675" cy="395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4138" tIns="41275" rIns="84138" bIns="41275" numCol="1" anchor="t" anchorCtr="0" compatLnSpc="1">
            <a:prstTxWarp prst="textNoShape">
              <a:avLst/>
            </a:prstTxWarp>
          </a:bodyPr>
          <a:lstStyle>
            <a:lvl1pPr marL="312738" indent="-312738" algn="l" defTabSz="831850" rtl="0" eaLnBrk="0" fontAlgn="base" hangingPunct="0">
              <a:spcBef>
                <a:spcPct val="20000"/>
              </a:spcBef>
              <a:spcAft>
                <a:spcPct val="0"/>
              </a:spcAft>
              <a:buClr>
                <a:schemeClr val="tx1"/>
              </a:buClr>
              <a:buSzPct val="75000"/>
              <a:buFont typeface="Monotype Sorts"/>
              <a:buChar char="n"/>
              <a:defRPr sz="2400">
                <a:solidFill>
                  <a:schemeClr val="tx1"/>
                </a:solidFill>
                <a:latin typeface="+mn-lt"/>
                <a:ea typeface="+mn-ea"/>
                <a:cs typeface="+mn-cs"/>
              </a:defRPr>
            </a:lvl1pPr>
            <a:lvl2pPr marL="676275" indent="-249238" algn="l" defTabSz="831850" rtl="0" eaLnBrk="0" fontAlgn="base" hangingPunct="0">
              <a:spcBef>
                <a:spcPct val="20000"/>
              </a:spcBef>
              <a:spcAft>
                <a:spcPct val="0"/>
              </a:spcAft>
              <a:buClr>
                <a:schemeClr val="tx1"/>
              </a:buClr>
              <a:buSzPct val="75000"/>
              <a:buFont typeface="Monotype Sorts"/>
              <a:buChar char="l"/>
              <a:defRPr sz="2000" i="1">
                <a:solidFill>
                  <a:schemeClr val="tx1"/>
                </a:solidFill>
                <a:latin typeface="+mn-lt"/>
              </a:defRPr>
            </a:lvl2pPr>
            <a:lvl3pPr marL="1039813" indent="-207963" algn="l" defTabSz="831850" rtl="0" eaLnBrk="0" fontAlgn="base" hangingPunct="0">
              <a:spcBef>
                <a:spcPct val="20000"/>
              </a:spcBef>
              <a:spcAft>
                <a:spcPct val="0"/>
              </a:spcAft>
              <a:buClr>
                <a:schemeClr val="tx1"/>
              </a:buClr>
              <a:buSzPct val="100000"/>
              <a:buChar char="–"/>
              <a:defRPr sz="2400">
                <a:solidFill>
                  <a:schemeClr val="tx1"/>
                </a:solidFill>
                <a:latin typeface="+mn-lt"/>
              </a:defRPr>
            </a:lvl3pPr>
            <a:lvl4pPr marL="1455738" indent="-207963" algn="l" defTabSz="831850" rtl="0" eaLnBrk="0" fontAlgn="base" hangingPunct="0">
              <a:spcBef>
                <a:spcPct val="20000"/>
              </a:spcBef>
              <a:spcAft>
                <a:spcPct val="0"/>
              </a:spcAft>
              <a:buClr>
                <a:schemeClr val="tx1"/>
              </a:buClr>
              <a:buSzPct val="65000"/>
              <a:buFont typeface="Monotype Sorts"/>
              <a:buChar char="l"/>
              <a:defRPr sz="2000">
                <a:solidFill>
                  <a:schemeClr val="tx1"/>
                </a:solidFill>
                <a:latin typeface="+mn-lt"/>
              </a:defRPr>
            </a:lvl4pPr>
            <a:lvl5pPr marL="1871663" indent="-207963" algn="l" defTabSz="831850" rtl="0" eaLnBrk="0" fontAlgn="base" hangingPunct="0">
              <a:spcBef>
                <a:spcPct val="20000"/>
              </a:spcBef>
              <a:spcAft>
                <a:spcPct val="0"/>
              </a:spcAft>
              <a:buClr>
                <a:schemeClr val="tx1"/>
              </a:buClr>
              <a:buSzPct val="100000"/>
              <a:buChar char="»"/>
              <a:defRPr sz="2000">
                <a:solidFill>
                  <a:schemeClr val="tx1"/>
                </a:solidFill>
                <a:latin typeface="+mn-lt"/>
              </a:defRPr>
            </a:lvl5pPr>
            <a:lvl6pPr marL="23288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6pPr>
            <a:lvl7pPr marL="27860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7pPr>
            <a:lvl8pPr marL="32432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8pPr>
            <a:lvl9pPr marL="37004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9pPr>
          </a:lstStyle>
          <a:p>
            <a:pPr marR="0" lvl="0" algn="l" defTabSz="831850" rtl="0" eaLnBrk="0" fontAlgn="base" latinLnBrk="0" hangingPunct="0">
              <a:lnSpc>
                <a:spcPct val="100000"/>
              </a:lnSpc>
              <a:spcBef>
                <a:spcPct val="20000"/>
              </a:spcBef>
              <a:spcAft>
                <a:spcPct val="0"/>
              </a:spcAft>
              <a:buClr>
                <a:srgbClr val="000000"/>
              </a:buClr>
              <a:buSzPct val="75000"/>
              <a:buFont typeface="Courier New" panose="02070309020205020404" pitchFamily="49" charset="0"/>
              <a:buChar char="o"/>
              <a:tabLst/>
              <a:defRPr/>
            </a:pP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Soit </a:t>
            </a:r>
            <a:r>
              <a:rPr kumimoji="0" lang="fr-FR" altLang="fr-FR" sz="2400" b="0" i="1" u="none" strike="noStrike" kern="0" cap="none" spc="0" normalizeH="0" baseline="0" noProof="0" dirty="0">
                <a:ln>
                  <a:noFill/>
                </a:ln>
                <a:solidFill>
                  <a:srgbClr val="000000"/>
                </a:solidFill>
                <a:effectLst/>
                <a:uLnTx/>
                <a:uFillTx/>
                <a:latin typeface="Verdana"/>
                <a:ea typeface="+mn-ea"/>
                <a:cs typeface="+mn-cs"/>
              </a:rPr>
              <a:t>A = {F</a:t>
            </a:r>
            <a:r>
              <a:rPr kumimoji="0" lang="fr-FR" altLang="fr-FR" sz="2400" b="0" i="1" u="none" strike="noStrike" kern="0" cap="none" spc="0" normalizeH="0" baseline="-25000" noProof="0" dirty="0">
                <a:ln>
                  <a:noFill/>
                </a:ln>
                <a:solidFill>
                  <a:srgbClr val="000000"/>
                </a:solidFill>
                <a:effectLst/>
                <a:uLnTx/>
                <a:uFillTx/>
                <a:latin typeface="Verdana"/>
                <a:ea typeface="+mn-ea"/>
                <a:cs typeface="+mn-cs"/>
              </a:rPr>
              <a:t>1</a:t>
            </a:r>
            <a:r>
              <a:rPr kumimoji="0" lang="fr-FR" altLang="fr-FR" sz="2400" b="0" i="1" u="none" strike="noStrike" kern="0" cap="none" spc="0" normalizeH="0" baseline="0" noProof="0" dirty="0">
                <a:ln>
                  <a:noFill/>
                </a:ln>
                <a:solidFill>
                  <a:srgbClr val="000000"/>
                </a:solidFill>
                <a:effectLst/>
                <a:uLnTx/>
                <a:uFillTx/>
                <a:latin typeface="Verdana"/>
                <a:ea typeface="+mn-ea"/>
                <a:cs typeface="+mn-cs"/>
              </a:rPr>
              <a:t>, …, F</a:t>
            </a:r>
            <a:r>
              <a:rPr kumimoji="0" lang="fr-FR" altLang="fr-FR" sz="2400" b="0" i="1" u="none" strike="noStrike" kern="0" cap="none" spc="0" normalizeH="0" baseline="-25000" noProof="0" dirty="0">
                <a:ln>
                  <a:noFill/>
                </a:ln>
                <a:solidFill>
                  <a:srgbClr val="000000"/>
                </a:solidFill>
                <a:effectLst/>
                <a:uLnTx/>
                <a:uFillTx/>
                <a:latin typeface="Verdana"/>
                <a:ea typeface="+mn-ea"/>
                <a:cs typeface="+mn-cs"/>
              </a:rPr>
              <a:t>n</a:t>
            </a:r>
            <a:r>
              <a:rPr kumimoji="0" lang="fr-FR" altLang="fr-FR" sz="2400" b="0" i="1"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un ensemble de </a:t>
            </a:r>
            <a:r>
              <a:rPr kumimoji="0" lang="fr-FR" altLang="fr-FR" sz="2400" b="0" i="1" u="none" strike="noStrike" kern="0" cap="none" spc="0" normalizeH="0" baseline="0" noProof="0" dirty="0">
                <a:ln>
                  <a:noFill/>
                </a:ln>
                <a:solidFill>
                  <a:srgbClr val="000000"/>
                </a:solidFill>
                <a:effectLst/>
                <a:uLnTx/>
                <a:uFillTx/>
                <a:latin typeface="Verdana"/>
                <a:ea typeface="+mn-ea"/>
                <a:cs typeface="+mn-cs"/>
              </a:rPr>
              <a:t>n </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formules</a:t>
            </a:r>
            <a:br>
              <a:rPr kumimoji="0" lang="fr-FR" altLang="fr-FR" sz="2400" b="0" i="0" u="none" strike="noStrike" kern="0" cap="none" spc="0" normalizeH="0" baseline="0" noProof="0" dirty="0">
                <a:ln>
                  <a:noFill/>
                </a:ln>
                <a:solidFill>
                  <a:srgbClr val="000000"/>
                </a:solidFill>
                <a:effectLst/>
                <a:uLnTx/>
                <a:uFillTx/>
                <a:latin typeface="Verdana"/>
                <a:ea typeface="+mn-ea"/>
                <a:cs typeface="+mn-cs"/>
              </a:rPr>
            </a:b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r>
            <a:br>
              <a:rPr kumimoji="0" lang="fr-FR" altLang="fr-FR" sz="2400" b="0" i="0" u="none" strike="noStrike" kern="0" cap="none" spc="0" normalizeH="0" baseline="0" noProof="0" dirty="0">
                <a:ln>
                  <a:noFill/>
                </a:ln>
                <a:solidFill>
                  <a:srgbClr val="000000"/>
                </a:solidFill>
                <a:effectLst/>
                <a:uLnTx/>
                <a:uFillTx/>
                <a:latin typeface="Verdana"/>
                <a:ea typeface="+mn-ea"/>
                <a:cs typeface="+mn-cs"/>
              </a:rPr>
            </a:b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0" i="1" u="none" strike="noStrike" kern="0" cap="none" spc="0" normalizeH="0" baseline="0" noProof="0" dirty="0">
                <a:ln>
                  <a:noFill/>
                </a:ln>
                <a:solidFill>
                  <a:srgbClr val="000000"/>
                </a:solidFill>
                <a:effectLst/>
                <a:uLnTx/>
                <a:uFillTx/>
                <a:latin typeface="Verdana"/>
                <a:ea typeface="+mn-ea"/>
                <a:cs typeface="+mn-cs"/>
              </a:rPr>
              <a:t>A   G </a:t>
            </a:r>
            <a:r>
              <a:rPr kumimoji="0" lang="fr-FR" altLang="fr-FR" sz="2400" b="0" i="1" u="none" strike="noStrike" kern="0" cap="none" spc="0" normalizeH="0" baseline="0" noProof="0" dirty="0" err="1">
                <a:ln>
                  <a:noFill/>
                </a:ln>
                <a:solidFill>
                  <a:srgbClr val="000000"/>
                </a:solidFill>
                <a:effectLst/>
                <a:uLnTx/>
                <a:uFillTx/>
                <a:latin typeface="Verdana"/>
                <a:ea typeface="+mn-ea"/>
                <a:cs typeface="+mn-cs"/>
              </a:rPr>
              <a:t>ssi</a:t>
            </a:r>
            <a:r>
              <a:rPr kumimoji="0" lang="fr-FR" altLang="fr-FR" sz="2400" b="0" i="1" u="none" strike="noStrike" kern="0" cap="none" spc="0" normalizeH="0" baseline="0" noProof="0" dirty="0">
                <a:ln>
                  <a:noFill/>
                </a:ln>
                <a:solidFill>
                  <a:srgbClr val="000000"/>
                </a:solidFill>
                <a:effectLst/>
                <a:uLnTx/>
                <a:uFillTx/>
                <a:latin typeface="Verdana"/>
                <a:ea typeface="+mn-ea"/>
                <a:cs typeface="+mn-cs"/>
              </a:rPr>
              <a:t>    (F</a:t>
            </a:r>
            <a:r>
              <a:rPr kumimoji="0" lang="fr-FR" altLang="fr-FR" sz="2400" b="0" i="1" u="none" strike="noStrike" kern="0" cap="none" spc="0" normalizeH="0" baseline="-25000" noProof="0" dirty="0">
                <a:ln>
                  <a:noFill/>
                </a:ln>
                <a:solidFill>
                  <a:srgbClr val="000000"/>
                </a:solidFill>
                <a:effectLst/>
                <a:uLnTx/>
                <a:uFillTx/>
                <a:latin typeface="Verdana"/>
                <a:ea typeface="+mn-ea"/>
                <a:cs typeface="+mn-cs"/>
              </a:rPr>
              <a:t>1</a:t>
            </a:r>
            <a:r>
              <a:rPr kumimoji="0" lang="fr-FR" altLang="fr-FR" sz="2400" b="0" i="1"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0" i="1" u="none" strike="noStrike" kern="0" cap="none" spc="0" normalizeH="0" baseline="0" noProof="0" dirty="0">
                <a:ln>
                  <a:noFill/>
                </a:ln>
                <a:solidFill>
                  <a:srgbClr val="000000"/>
                </a:solidFill>
                <a:effectLst/>
                <a:uLnTx/>
                <a:uFillTx/>
                <a:latin typeface="Verdana"/>
                <a:ea typeface="+mn-ea"/>
                <a:cs typeface="+mn-cs"/>
                <a:sym typeface="Symbol" panose="05050102010706020507" pitchFamily="18" charset="2"/>
              </a:rPr>
              <a:t> </a:t>
            </a:r>
            <a:r>
              <a:rPr kumimoji="0" lang="fr-FR" altLang="fr-FR" sz="2400" b="0" i="1"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0" i="1" u="none" strike="noStrike" kern="0" cap="none" spc="0" normalizeH="0" baseline="0" noProof="0" dirty="0">
                <a:ln>
                  <a:noFill/>
                </a:ln>
                <a:solidFill>
                  <a:srgbClr val="000000"/>
                </a:solidFill>
                <a:effectLst/>
                <a:uLnTx/>
                <a:uFillTx/>
                <a:latin typeface="Verdana"/>
                <a:ea typeface="+mn-ea"/>
                <a:cs typeface="+mn-cs"/>
                <a:sym typeface="Symbol" panose="05050102010706020507" pitchFamily="18" charset="2"/>
              </a:rPr>
              <a:t> </a:t>
            </a:r>
            <a:r>
              <a:rPr kumimoji="0" lang="fr-FR" altLang="fr-FR" sz="2400" b="0" i="1" u="none" strike="noStrike" kern="0" cap="none" spc="0" normalizeH="0" baseline="0" noProof="0" dirty="0">
                <a:ln>
                  <a:noFill/>
                </a:ln>
                <a:solidFill>
                  <a:srgbClr val="000000"/>
                </a:solidFill>
                <a:effectLst/>
                <a:uLnTx/>
                <a:uFillTx/>
                <a:latin typeface="Verdana"/>
                <a:ea typeface="+mn-ea"/>
                <a:cs typeface="+mn-cs"/>
              </a:rPr>
              <a:t>F</a:t>
            </a:r>
            <a:r>
              <a:rPr kumimoji="0" lang="fr-FR" altLang="fr-FR" sz="2400" b="0" i="1" u="none" strike="noStrike" kern="0" cap="none" spc="0" normalizeH="0" baseline="-25000" noProof="0" dirty="0">
                <a:ln>
                  <a:noFill/>
                </a:ln>
                <a:solidFill>
                  <a:srgbClr val="000000"/>
                </a:solidFill>
                <a:effectLst/>
                <a:uLnTx/>
                <a:uFillTx/>
                <a:latin typeface="Verdana"/>
                <a:ea typeface="+mn-ea"/>
                <a:cs typeface="+mn-cs"/>
              </a:rPr>
              <a:t>n</a:t>
            </a:r>
            <a:r>
              <a:rPr kumimoji="0" lang="fr-FR" altLang="fr-FR" sz="2400" b="0" i="1"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0" i="1" u="none" strike="noStrike" kern="0" cap="none" spc="0" normalizeH="0" baseline="0" noProof="0" dirty="0">
                <a:ln>
                  <a:noFill/>
                </a:ln>
                <a:solidFill>
                  <a:srgbClr val="000000"/>
                </a:solidFill>
                <a:effectLst/>
                <a:uLnTx/>
                <a:uFillTx/>
                <a:latin typeface="Verdana"/>
                <a:ea typeface="+mn-ea"/>
                <a:cs typeface="+mn-cs"/>
                <a:sym typeface="Symbol" panose="05050102010706020507" pitchFamily="18" charset="2"/>
              </a:rPr>
              <a:t></a:t>
            </a:r>
            <a:r>
              <a:rPr kumimoji="0" lang="fr-FR" altLang="fr-FR" sz="2400" b="0" i="1" u="none" strike="noStrike" kern="0" cap="none" spc="0" normalizeH="0" baseline="0" noProof="0" dirty="0">
                <a:ln>
                  <a:noFill/>
                </a:ln>
                <a:solidFill>
                  <a:srgbClr val="000000"/>
                </a:solidFill>
                <a:effectLst/>
                <a:uLnTx/>
                <a:uFillTx/>
                <a:latin typeface="Verdana"/>
                <a:ea typeface="+mn-ea"/>
                <a:cs typeface="+mn-cs"/>
              </a:rPr>
              <a:t> G</a:t>
            </a:r>
          </a:p>
          <a:p>
            <a:pPr marL="312738" marR="0" lvl="0" indent="-312738" algn="l" defTabSz="831850" rtl="0" eaLnBrk="0" fontAlgn="base" latinLnBrk="0" hangingPunct="0">
              <a:lnSpc>
                <a:spcPct val="100000"/>
              </a:lnSpc>
              <a:spcBef>
                <a:spcPct val="20000"/>
              </a:spcBef>
              <a:spcAft>
                <a:spcPct val="0"/>
              </a:spcAft>
              <a:buClr>
                <a:srgbClr val="000000"/>
              </a:buClr>
              <a:buSzPct val="75000"/>
              <a:buFont typeface="Monotype Sorts"/>
              <a:buChar char="n"/>
              <a:tabLst/>
              <a:defRPr/>
            </a:pPr>
            <a:endParaRPr kumimoji="0" lang="fr-FR" altLang="fr-FR" sz="2400" b="0" i="1" u="none" strike="noStrike" kern="0" cap="none" spc="0" normalizeH="0" baseline="0" noProof="0" dirty="0">
              <a:ln>
                <a:noFill/>
              </a:ln>
              <a:solidFill>
                <a:srgbClr val="000000"/>
              </a:solidFill>
              <a:effectLst/>
              <a:uLnTx/>
              <a:uFillTx/>
              <a:latin typeface="Verdana"/>
              <a:ea typeface="+mn-ea"/>
              <a:cs typeface="+mn-cs"/>
            </a:endParaRPr>
          </a:p>
          <a:p>
            <a:pPr marR="0" lvl="0" algn="l" defTabSz="831850" rtl="0" eaLnBrk="0" fontAlgn="base" latinLnBrk="0" hangingPunct="0">
              <a:lnSpc>
                <a:spcPct val="100000"/>
              </a:lnSpc>
              <a:spcBef>
                <a:spcPct val="20000"/>
              </a:spcBef>
              <a:spcAft>
                <a:spcPct val="0"/>
              </a:spcAft>
              <a:buClr>
                <a:srgbClr val="000000"/>
              </a:buClr>
              <a:buSzPct val="75000"/>
              <a:buFont typeface="Courier New" panose="02070309020205020404" pitchFamily="49" charset="0"/>
              <a:buChar char="o"/>
              <a:tabLst/>
              <a:defRPr/>
            </a:pP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Notion de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réfutation</a:t>
            </a:r>
          </a:p>
          <a:p>
            <a:pPr marR="0" lvl="1" algn="l" defTabSz="831850" rtl="0" eaLnBrk="0" fontAlgn="base" latinLnBrk="0" hangingPunct="0">
              <a:lnSpc>
                <a:spcPct val="100000"/>
              </a:lnSpc>
              <a:spcBef>
                <a:spcPct val="20000"/>
              </a:spcBef>
              <a:spcAft>
                <a:spcPct val="0"/>
              </a:spcAft>
              <a:buClr>
                <a:srgbClr val="000000"/>
              </a:buClr>
              <a:buSzPct val="75000"/>
              <a:buFont typeface="Wingdings" panose="05000000000000000000" pitchFamily="2" charset="2"/>
              <a:buChar char="v"/>
              <a:tabLst/>
              <a:defRPr/>
            </a:pPr>
            <a:r>
              <a:rPr kumimoji="0" lang="fr-FR" altLang="fr-FR" sz="2000" b="0" i="1" u="none" strike="noStrike" kern="0" cap="none" spc="0" normalizeH="0" baseline="0" noProof="0" dirty="0">
                <a:ln>
                  <a:noFill/>
                </a:ln>
                <a:solidFill>
                  <a:srgbClr val="C00000"/>
                </a:solidFill>
                <a:effectLst/>
                <a:uLnTx/>
                <a:uFillTx/>
                <a:latin typeface="Verdana"/>
              </a:rPr>
              <a:t>démonstration par l’absurde</a:t>
            </a:r>
            <a:r>
              <a:rPr kumimoji="0" lang="fr-FR" altLang="fr-FR" sz="2000" b="0" i="1" u="none" strike="noStrike" kern="0" cap="none" spc="0" normalizeH="0" baseline="0" noProof="0" dirty="0">
                <a:ln>
                  <a:noFill/>
                </a:ln>
                <a:solidFill>
                  <a:srgbClr val="000000"/>
                </a:solidFill>
                <a:effectLst/>
                <a:uLnTx/>
                <a:uFillTx/>
                <a:latin typeface="Verdana"/>
              </a:rPr>
              <a:t/>
            </a:r>
            <a:br>
              <a:rPr kumimoji="0" lang="fr-FR" altLang="fr-FR" sz="2000" b="0" i="1" u="none" strike="noStrike" kern="0" cap="none" spc="0" normalizeH="0" baseline="0" noProof="0" dirty="0">
                <a:ln>
                  <a:noFill/>
                </a:ln>
                <a:solidFill>
                  <a:srgbClr val="000000"/>
                </a:solidFill>
                <a:effectLst/>
                <a:uLnTx/>
                <a:uFillTx/>
                <a:latin typeface="Verdana"/>
              </a:rPr>
            </a:br>
            <a:r>
              <a:rPr kumimoji="0" lang="fr-FR" altLang="fr-FR" sz="2000" b="0" i="1" u="none" strike="noStrike" kern="0" cap="none" spc="0" normalizeH="0" baseline="0" noProof="0" dirty="0">
                <a:ln>
                  <a:noFill/>
                </a:ln>
                <a:solidFill>
                  <a:srgbClr val="000000"/>
                </a:solidFill>
                <a:effectLst/>
                <a:uLnTx/>
                <a:uFillTx/>
                <a:latin typeface="Verdana"/>
              </a:rPr>
              <a:t/>
            </a:r>
            <a:br>
              <a:rPr kumimoji="0" lang="fr-FR" altLang="fr-FR" sz="2000" b="0" i="1" u="none" strike="noStrike" kern="0" cap="none" spc="0" normalizeH="0" baseline="0" noProof="0" dirty="0">
                <a:ln>
                  <a:noFill/>
                </a:ln>
                <a:solidFill>
                  <a:srgbClr val="000000"/>
                </a:solidFill>
                <a:effectLst/>
                <a:uLnTx/>
                <a:uFillTx/>
                <a:latin typeface="Verdana"/>
              </a:rPr>
            </a:br>
            <a:r>
              <a:rPr kumimoji="0" lang="fr-FR" altLang="fr-FR" sz="2000" b="0" i="1" u="none" strike="noStrike" kern="0" cap="none" spc="0" normalizeH="0" baseline="0" noProof="0" dirty="0">
                <a:ln>
                  <a:noFill/>
                </a:ln>
                <a:solidFill>
                  <a:srgbClr val="000000"/>
                </a:solidFill>
                <a:effectLst/>
                <a:uLnTx/>
                <a:uFillTx/>
                <a:latin typeface="Verdana"/>
              </a:rPr>
              <a:t>	</a:t>
            </a:r>
            <a:r>
              <a:rPr kumimoji="0" lang="fr-FR" altLang="fr-FR" sz="2400" b="0" i="1" u="none" strike="noStrike" kern="0" cap="none" spc="0" normalizeH="0" baseline="0" noProof="0" dirty="0">
                <a:ln>
                  <a:noFill/>
                </a:ln>
                <a:solidFill>
                  <a:srgbClr val="000000"/>
                </a:solidFill>
                <a:effectLst/>
                <a:uLnTx/>
                <a:uFillTx/>
                <a:latin typeface="Verdana"/>
              </a:rPr>
              <a:t>A   G </a:t>
            </a:r>
            <a:r>
              <a:rPr kumimoji="0" lang="fr-FR" altLang="fr-FR" sz="2400" b="0" i="1" u="none" strike="noStrike" kern="0" cap="none" spc="0" normalizeH="0" baseline="0" noProof="0" dirty="0" err="1">
                <a:ln>
                  <a:noFill/>
                </a:ln>
                <a:solidFill>
                  <a:srgbClr val="000000"/>
                </a:solidFill>
                <a:effectLst/>
                <a:uLnTx/>
                <a:uFillTx/>
                <a:latin typeface="Verdana"/>
              </a:rPr>
              <a:t>ssi</a:t>
            </a:r>
            <a:r>
              <a:rPr kumimoji="0" lang="fr-FR" altLang="fr-FR" sz="2400" b="0" i="1" u="none" strike="noStrike" kern="0" cap="none" spc="0" normalizeH="0" baseline="0" noProof="0" dirty="0">
                <a:ln>
                  <a:noFill/>
                </a:ln>
                <a:solidFill>
                  <a:srgbClr val="000000"/>
                </a:solidFill>
                <a:effectLst/>
                <a:uLnTx/>
                <a:uFillTx/>
                <a:latin typeface="Verdana"/>
              </a:rPr>
              <a:t>    F</a:t>
            </a:r>
            <a:r>
              <a:rPr kumimoji="0" lang="fr-FR" altLang="fr-FR" sz="2400" b="0" i="1" u="none" strike="noStrike" kern="0" cap="none" spc="0" normalizeH="0" baseline="-25000" noProof="0" dirty="0">
                <a:ln>
                  <a:noFill/>
                </a:ln>
                <a:solidFill>
                  <a:srgbClr val="000000"/>
                </a:solidFill>
                <a:effectLst/>
                <a:uLnTx/>
                <a:uFillTx/>
                <a:latin typeface="Verdana"/>
              </a:rPr>
              <a:t>1</a:t>
            </a:r>
            <a:r>
              <a:rPr kumimoji="0" lang="fr-FR" altLang="fr-FR" sz="2400" b="0" i="1" u="none" strike="noStrike" kern="0" cap="none" spc="0" normalizeH="0" baseline="0" noProof="0" dirty="0">
                <a:ln>
                  <a:noFill/>
                </a:ln>
                <a:solidFill>
                  <a:srgbClr val="000000"/>
                </a:solidFill>
                <a:effectLst/>
                <a:uLnTx/>
                <a:uFillTx/>
                <a:latin typeface="Verdana"/>
              </a:rPr>
              <a:t> </a:t>
            </a:r>
            <a:r>
              <a:rPr kumimoji="0" lang="fr-FR" altLang="fr-FR" sz="2400" b="0" i="1"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2400" b="0" i="1" u="none" strike="noStrike" kern="0" cap="none" spc="0" normalizeH="0" baseline="0" noProof="0" dirty="0">
                <a:ln>
                  <a:noFill/>
                </a:ln>
                <a:solidFill>
                  <a:srgbClr val="000000"/>
                </a:solidFill>
                <a:effectLst/>
                <a:uLnTx/>
                <a:uFillTx/>
                <a:latin typeface="Verdana"/>
              </a:rPr>
              <a:t>… </a:t>
            </a:r>
            <a:r>
              <a:rPr kumimoji="0" lang="fr-FR" altLang="fr-FR" sz="2400" b="0" i="1"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2400" b="0" i="1" u="none" strike="noStrike" kern="0" cap="none" spc="0" normalizeH="0" baseline="0" noProof="0" dirty="0">
                <a:ln>
                  <a:noFill/>
                </a:ln>
                <a:solidFill>
                  <a:srgbClr val="000000"/>
                </a:solidFill>
                <a:effectLst/>
                <a:uLnTx/>
                <a:uFillTx/>
                <a:latin typeface="Verdana"/>
              </a:rPr>
              <a:t>F</a:t>
            </a:r>
            <a:r>
              <a:rPr kumimoji="0" lang="fr-FR" altLang="fr-FR" sz="2400" b="0" i="1" u="none" strike="noStrike" kern="0" cap="none" spc="0" normalizeH="0" baseline="-25000" noProof="0" dirty="0">
                <a:ln>
                  <a:noFill/>
                </a:ln>
                <a:solidFill>
                  <a:srgbClr val="000000"/>
                </a:solidFill>
                <a:effectLst/>
                <a:uLnTx/>
                <a:uFillTx/>
                <a:latin typeface="Verdana"/>
              </a:rPr>
              <a:t>n</a:t>
            </a:r>
            <a:r>
              <a:rPr kumimoji="0" lang="fr-FR" altLang="fr-FR" sz="2400" b="0" i="1" u="none" strike="noStrike" kern="0" cap="none" spc="0" normalizeH="0" baseline="0" noProof="0" dirty="0">
                <a:ln>
                  <a:noFill/>
                </a:ln>
                <a:solidFill>
                  <a:srgbClr val="000000"/>
                </a:solidFill>
                <a:effectLst/>
                <a:uLnTx/>
                <a:uFillTx/>
                <a:latin typeface="Verdana"/>
              </a:rPr>
              <a:t> </a:t>
            </a:r>
            <a:r>
              <a:rPr kumimoji="0" lang="fr-FR" altLang="fr-FR" sz="2400" b="0" i="1" u="none" strike="noStrike" kern="0" cap="none" spc="0" normalizeH="0" baseline="0" noProof="0" dirty="0">
                <a:ln>
                  <a:noFill/>
                </a:ln>
                <a:solidFill>
                  <a:srgbClr val="000000"/>
                </a:solidFill>
                <a:effectLst/>
                <a:uLnTx/>
                <a:uFillTx/>
                <a:latin typeface="Verdana"/>
                <a:sym typeface="Symbol" panose="05050102010706020507" pitchFamily="18" charset="2"/>
              </a:rPr>
              <a:t></a:t>
            </a:r>
            <a:r>
              <a:rPr kumimoji="0" lang="fr-FR" altLang="fr-FR" sz="2400" b="0" i="1" u="none" strike="noStrike" kern="0" cap="none" spc="0" normalizeH="0" baseline="0" noProof="0" dirty="0">
                <a:ln>
                  <a:noFill/>
                </a:ln>
                <a:solidFill>
                  <a:srgbClr val="000000"/>
                </a:solidFill>
                <a:effectLst/>
                <a:uLnTx/>
                <a:uFillTx/>
                <a:latin typeface="Verdana"/>
              </a:rPr>
              <a:t> </a:t>
            </a:r>
            <a:r>
              <a:rPr kumimoji="0" lang="fr-FR" altLang="fr-FR" sz="2400" b="0" i="1"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2400" b="0" i="1" u="none" strike="noStrike" kern="0" cap="none" spc="0" normalizeH="0" baseline="0" noProof="0" dirty="0">
                <a:ln>
                  <a:noFill/>
                </a:ln>
                <a:solidFill>
                  <a:srgbClr val="000000"/>
                </a:solidFill>
                <a:effectLst/>
                <a:uLnTx/>
                <a:uFillTx/>
                <a:latin typeface="Verdana"/>
              </a:rPr>
              <a:t>G   est inconsistante</a:t>
            </a:r>
            <a:endParaRPr kumimoji="0" lang="fr-FR" altLang="fr-FR" sz="2000" b="0" i="1" u="none" strike="noStrike" kern="0" cap="none" spc="0" normalizeH="0" baseline="0" noProof="0" dirty="0">
              <a:ln>
                <a:noFill/>
              </a:ln>
              <a:solidFill>
                <a:srgbClr val="000000"/>
              </a:solidFill>
              <a:effectLst/>
              <a:uLnTx/>
              <a:uFillTx/>
              <a:latin typeface="Verdana"/>
            </a:endParaRPr>
          </a:p>
          <a:p>
            <a:pPr marL="312738" marR="0" lvl="0" indent="-312738" algn="l" defTabSz="831850" rtl="0" eaLnBrk="0" fontAlgn="base" latinLnBrk="0" hangingPunct="0">
              <a:lnSpc>
                <a:spcPct val="100000"/>
              </a:lnSpc>
              <a:spcBef>
                <a:spcPct val="20000"/>
              </a:spcBef>
              <a:spcAft>
                <a:spcPct val="0"/>
              </a:spcAft>
              <a:buClr>
                <a:srgbClr val="000000"/>
              </a:buClr>
              <a:buSzPct val="75000"/>
              <a:buFont typeface="Monotype Sorts"/>
              <a:buChar char="n"/>
              <a:tabLst/>
              <a:defRPr/>
            </a:pPr>
            <a:endParaRPr kumimoji="0" lang="fr-FR" altLang="fr-FR" sz="2400" b="0" i="0" u="none" strike="noStrike" kern="0" cap="none" spc="0" normalizeH="0" baseline="0" noProof="0" dirty="0">
              <a:ln>
                <a:noFill/>
              </a:ln>
              <a:solidFill>
                <a:srgbClr val="000000"/>
              </a:solidFill>
              <a:effectLst/>
              <a:uLnTx/>
              <a:uFillTx/>
              <a:latin typeface="Verdana"/>
              <a:ea typeface="+mn-ea"/>
              <a:cs typeface="+mn-cs"/>
            </a:endParaRPr>
          </a:p>
          <a:p>
            <a:pPr marL="676275" marR="0" lvl="1" indent="-249238" algn="l" defTabSz="831850" rtl="0" eaLnBrk="0" fontAlgn="base" latinLnBrk="0" hangingPunct="0">
              <a:lnSpc>
                <a:spcPct val="100000"/>
              </a:lnSpc>
              <a:spcBef>
                <a:spcPct val="20000"/>
              </a:spcBef>
              <a:spcAft>
                <a:spcPct val="0"/>
              </a:spcAft>
              <a:buClr>
                <a:srgbClr val="000000"/>
              </a:buClr>
              <a:buSzPct val="75000"/>
              <a:buFont typeface="Monotype Sorts"/>
              <a:buChar char="l"/>
              <a:tabLst/>
              <a:defRPr/>
            </a:pPr>
            <a:endParaRPr kumimoji="0" lang="fr-FR" altLang="fr-FR" sz="2000" b="0" i="1" u="none" strike="noStrike" kern="0" cap="none" spc="0" normalizeH="0" baseline="0" noProof="0" dirty="0">
              <a:ln>
                <a:noFill/>
              </a:ln>
              <a:solidFill>
                <a:srgbClr val="000000"/>
              </a:solidFill>
              <a:effectLst/>
              <a:uLnTx/>
              <a:uFillTx/>
              <a:latin typeface="Verdana"/>
            </a:endParaRPr>
          </a:p>
          <a:p>
            <a:pPr marL="676275" marR="0" lvl="1" indent="-249238" algn="l" defTabSz="831850" rtl="0" eaLnBrk="0" fontAlgn="base" latinLnBrk="0" hangingPunct="0">
              <a:lnSpc>
                <a:spcPct val="100000"/>
              </a:lnSpc>
              <a:spcBef>
                <a:spcPct val="20000"/>
              </a:spcBef>
              <a:spcAft>
                <a:spcPct val="0"/>
              </a:spcAft>
              <a:buClr>
                <a:srgbClr val="000000"/>
              </a:buClr>
              <a:buSzPct val="75000"/>
              <a:buFont typeface="Monotype Sorts"/>
              <a:buChar char="l"/>
              <a:tabLst/>
              <a:defRPr/>
            </a:pPr>
            <a:endParaRPr kumimoji="0" lang="fr-FR" altLang="fr-FR" sz="2000" b="0" i="0" u="none" strike="noStrike" kern="0" cap="none" spc="0" normalizeH="0" baseline="0" noProof="0" dirty="0">
              <a:ln>
                <a:noFill/>
              </a:ln>
              <a:solidFill>
                <a:srgbClr val="000000"/>
              </a:solidFill>
              <a:effectLst/>
              <a:uLnTx/>
              <a:uFillTx/>
              <a:latin typeface="Verdana"/>
            </a:endParaRPr>
          </a:p>
          <a:p>
            <a:pPr marL="312738" marR="0" lvl="0" indent="-312738" algn="l" defTabSz="831850" rtl="0" eaLnBrk="0" fontAlgn="base" latinLnBrk="0" hangingPunct="0">
              <a:lnSpc>
                <a:spcPct val="100000"/>
              </a:lnSpc>
              <a:spcBef>
                <a:spcPct val="20000"/>
              </a:spcBef>
              <a:spcAft>
                <a:spcPct val="0"/>
              </a:spcAft>
              <a:buClr>
                <a:srgbClr val="000000"/>
              </a:buClr>
              <a:buSzPct val="75000"/>
              <a:buFont typeface="Monotype Sorts"/>
              <a:buChar char="n"/>
              <a:tabLst/>
              <a:defRPr/>
            </a:pPr>
            <a:endParaRPr kumimoji="0" lang="fr-FR" altLang="fr-FR" sz="2400" b="0" i="1" u="none" strike="noStrike" kern="0" cap="none" spc="0" normalizeH="0" baseline="0" noProof="0" dirty="0">
              <a:ln>
                <a:noFill/>
              </a:ln>
              <a:solidFill>
                <a:srgbClr val="000000"/>
              </a:solidFill>
              <a:effectLst/>
              <a:uLnTx/>
              <a:uFillTx/>
              <a:latin typeface="Verdana"/>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Système formel</a:t>
            </a:r>
            <a:endParaRPr lang="fr-FR" dirty="0"/>
          </a:p>
        </p:txBody>
      </p:sp>
      <p:sp>
        <p:nvSpPr>
          <p:cNvPr id="3" name="Rectangle 3">
            <a:extLst>
              <a:ext uri="{FF2B5EF4-FFF2-40B4-BE49-F238E27FC236}">
                <a16:creationId xmlns:a16="http://schemas.microsoft.com/office/drawing/2014/main" xmlns="" id="{78179383-6E32-3102-0AD8-36D26A30A9A3}"/>
              </a:ext>
            </a:extLst>
          </p:cNvPr>
          <p:cNvSpPr txBox="1">
            <a:spLocks noChangeArrowheads="1"/>
          </p:cNvSpPr>
          <p:nvPr/>
        </p:nvSpPr>
        <p:spPr>
          <a:xfrm>
            <a:off x="388493" y="1057714"/>
            <a:ext cx="8229600" cy="444023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sz="2000" b="1" dirty="0"/>
              <a:t>Alphabet</a:t>
            </a:r>
            <a:r>
              <a:rPr lang="fr-FR" sz="2000" dirty="0"/>
              <a:t> : L'ensemble des symboles de base utilisés dans le système. Cela peut inclure des variables, des opérateurs, des constantes, etc.</a:t>
            </a:r>
          </a:p>
          <a:p>
            <a:r>
              <a:rPr lang="fr-FR" sz="2000" b="1" dirty="0"/>
              <a:t>Langage</a:t>
            </a:r>
            <a:r>
              <a:rPr lang="fr-FR" sz="2000" dirty="0"/>
              <a:t> : L'ensemble des expressions ou des phrases bien formées construites à partir de l'alphabet selon des règles syntaxiques spécifiques.</a:t>
            </a:r>
          </a:p>
          <a:p>
            <a:r>
              <a:rPr lang="fr-FR" sz="2000" b="1" dirty="0"/>
              <a:t>Axiomes</a:t>
            </a:r>
            <a:r>
              <a:rPr lang="fr-FR" sz="2000" dirty="0"/>
              <a:t> : Des énoncés de base qui sont considérés comme vrais et qui servent de points de départ pour dériver d'autres énoncés.</a:t>
            </a:r>
          </a:p>
          <a:p>
            <a:r>
              <a:rPr lang="fr-FR" sz="2000" b="1" dirty="0"/>
              <a:t>Règles d'inférence</a:t>
            </a:r>
            <a:r>
              <a:rPr lang="fr-FR" sz="2000" dirty="0"/>
              <a:t> : Des règles qui spécifient comment de nouvelles propositions peuvent être dérivées des axiomes et des propositions déjà établies dans le système.</a:t>
            </a:r>
          </a:p>
          <a:p>
            <a:r>
              <a:rPr lang="fr-FR" sz="2000" b="1" dirty="0"/>
              <a:t>Démonstration</a:t>
            </a:r>
            <a:r>
              <a:rPr lang="fr-FR" sz="2000" dirty="0"/>
              <a:t> : Une séquence d'étapes logiques utilisant les axiomes et les règles d'inférence pour dériver une proposition particulière.</a:t>
            </a:r>
          </a:p>
          <a:p>
            <a:r>
              <a:rPr lang="fr-FR" sz="2000" b="1" dirty="0"/>
              <a:t>Théorèmes</a:t>
            </a:r>
            <a:r>
              <a:rPr lang="fr-FR" sz="2000" dirty="0"/>
              <a:t> : Des énoncés qui sont prouvés à partir des axiomes et des règles d'inférence.</a:t>
            </a:r>
          </a:p>
        </p:txBody>
      </p:sp>
    </p:spTree>
    <p:extLst>
      <p:ext uri="{BB962C8B-B14F-4D97-AF65-F5344CB8AC3E}">
        <p14:creationId xmlns:p14="http://schemas.microsoft.com/office/powerpoint/2010/main" val="52370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chemeClr val="hlink"/>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1" end="1"/>
                                            </p:txEl>
                                          </p:spTgt>
                                        </p:tgtEl>
                                        <p:attrNameLst>
                                          <p:attrName>ppt_c</p:attrName>
                                        </p:attrNameLst>
                                      </p:cBhvr>
                                      <p:to>
                                        <a:schemeClr val="hlink"/>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chemeClr val="hlink"/>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3" end="3"/>
                                            </p:txEl>
                                          </p:spTgt>
                                        </p:tgtEl>
                                        <p:attrNameLst>
                                          <p:attrName>ppt_c</p:attrName>
                                        </p:attrNameLst>
                                      </p:cBhvr>
                                      <p:to>
                                        <a:schemeClr val="hlink"/>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chemeClr val="hlink"/>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5" end="5"/>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Exemple1 </a:t>
            </a:r>
          </a:p>
        </p:txBody>
      </p:sp>
      <p:sp>
        <p:nvSpPr>
          <p:cNvPr id="3" name="Rectangle 3">
            <a:extLst>
              <a:ext uri="{FF2B5EF4-FFF2-40B4-BE49-F238E27FC236}">
                <a16:creationId xmlns:a16="http://schemas.microsoft.com/office/drawing/2014/main" xmlns="" id="{4CCE5DDD-95DB-ECFA-1E72-17402154CE7A}"/>
              </a:ext>
            </a:extLst>
          </p:cNvPr>
          <p:cNvSpPr>
            <a:spLocks noChangeArrowheads="1"/>
          </p:cNvSpPr>
          <p:nvPr/>
        </p:nvSpPr>
        <p:spPr bwMode="auto">
          <a:xfrm>
            <a:off x="0" y="1125538"/>
            <a:ext cx="9144000" cy="418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endParaRPr lang="fr-FR" altLang="fr-FR" sz="3200" dirty="0"/>
          </a:p>
          <a:p>
            <a:r>
              <a:rPr lang="fr-FR" altLang="fr-FR" sz="1800" b="1" dirty="0"/>
              <a:t>Le système (G.P.), encore appelé "axiomatique de </a:t>
            </a:r>
            <a:r>
              <a:rPr lang="fr-FR" altLang="fr-FR" sz="1800" b="1" dirty="0" err="1"/>
              <a:t>Peano</a:t>
            </a:r>
            <a:r>
              <a:rPr lang="fr-FR" altLang="fr-FR" sz="1800" b="1" dirty="0"/>
              <a:t>" :</a:t>
            </a:r>
          </a:p>
          <a:p>
            <a:endParaRPr lang="fr-FR" altLang="fr-FR" sz="1800" dirty="0"/>
          </a:p>
          <a:p>
            <a:r>
              <a:rPr lang="fr-FR" altLang="fr-FR" sz="1800" dirty="0"/>
              <a:t>- </a:t>
            </a:r>
            <a:r>
              <a:rPr lang="fr-FR" altLang="fr-FR" sz="1800" dirty="0">
                <a:solidFill>
                  <a:srgbClr val="C00000"/>
                </a:solidFill>
              </a:rPr>
              <a:t>alphabet</a:t>
            </a:r>
            <a:r>
              <a:rPr lang="fr-FR" altLang="fr-FR" sz="1800" dirty="0"/>
              <a:t> : { x, y, * } </a:t>
            </a:r>
          </a:p>
          <a:p>
            <a:pPr>
              <a:buFontTx/>
              <a:buChar char="-"/>
            </a:pPr>
            <a:r>
              <a:rPr lang="fr-FR" altLang="fr-FR" sz="1800" dirty="0"/>
              <a:t> </a:t>
            </a:r>
            <a:r>
              <a:rPr lang="fr-FR" altLang="fr-FR" sz="1800" dirty="0">
                <a:solidFill>
                  <a:srgbClr val="C00000"/>
                </a:solidFill>
              </a:rPr>
              <a:t>mots</a:t>
            </a:r>
            <a:r>
              <a:rPr lang="fr-FR" altLang="fr-FR" sz="1800" dirty="0"/>
              <a:t> : S1 * S2 où S1 et S2 sont des suites quelconques de symboles x </a:t>
            </a:r>
            <a:r>
              <a:rPr lang="fr-FR" altLang="fr-FR" sz="1800" dirty="0" err="1"/>
              <a:t>ouy</a:t>
            </a:r>
            <a:r>
              <a:rPr lang="fr-FR" altLang="fr-FR" sz="1800" dirty="0"/>
              <a:t> </a:t>
            </a:r>
          </a:p>
          <a:p>
            <a:pPr>
              <a:buFontTx/>
              <a:buChar char="-"/>
            </a:pPr>
            <a:endParaRPr lang="fr-FR" altLang="fr-FR" sz="1800" dirty="0"/>
          </a:p>
          <a:p>
            <a:pPr>
              <a:buFontTx/>
              <a:buChar char="-"/>
            </a:pPr>
            <a:r>
              <a:rPr lang="fr-FR" altLang="fr-FR" sz="1800" dirty="0"/>
              <a:t>un unique </a:t>
            </a:r>
            <a:r>
              <a:rPr lang="fr-FR" altLang="fr-FR" sz="1800" dirty="0">
                <a:solidFill>
                  <a:srgbClr val="C00000"/>
                </a:solidFill>
              </a:rPr>
              <a:t>axiome</a:t>
            </a:r>
            <a:r>
              <a:rPr lang="fr-FR" altLang="fr-FR" sz="1800" dirty="0"/>
              <a:t> : x * x </a:t>
            </a:r>
          </a:p>
          <a:p>
            <a:endParaRPr lang="fr-FR" altLang="fr-FR" sz="1800" dirty="0"/>
          </a:p>
          <a:p>
            <a:pPr>
              <a:buFontTx/>
              <a:buChar char="-"/>
            </a:pPr>
            <a:r>
              <a:rPr lang="fr-FR" altLang="fr-FR" sz="1800" dirty="0"/>
              <a:t>une seule </a:t>
            </a:r>
            <a:r>
              <a:rPr lang="fr-FR" altLang="fr-FR" sz="1800" dirty="0">
                <a:solidFill>
                  <a:srgbClr val="C00000"/>
                </a:solidFill>
              </a:rPr>
              <a:t>règle</a:t>
            </a:r>
            <a:r>
              <a:rPr lang="fr-FR" altLang="fr-FR" sz="1800" dirty="0"/>
              <a:t>, qui est une règle de production : w1 * w2 </a:t>
            </a:r>
            <a:r>
              <a:rPr lang="fr-FR" altLang="fr-FR" sz="1800" dirty="0">
                <a:sym typeface="Wingdings" panose="05000000000000000000" pitchFamily="2" charset="2"/>
              </a:rPr>
              <a:t></a:t>
            </a:r>
            <a:r>
              <a:rPr lang="fr-FR" altLang="fr-FR" sz="1800" dirty="0"/>
              <a:t> y w1 * y w2 où w1 , w2 sont des mots</a:t>
            </a:r>
          </a:p>
          <a:p>
            <a:pPr>
              <a:buFontTx/>
              <a:buChar char="-"/>
            </a:pPr>
            <a:endParaRPr lang="fr-FR" altLang="fr-FR" sz="1800" dirty="0"/>
          </a:p>
          <a:p>
            <a:pPr>
              <a:buFontTx/>
              <a:buChar char="-"/>
            </a:pPr>
            <a:r>
              <a:rPr lang="fr-FR" altLang="fr-FR" sz="1800" dirty="0"/>
              <a:t> </a:t>
            </a:r>
            <a:r>
              <a:rPr lang="fr-FR" altLang="fr-FR" sz="1800" b="1" dirty="0">
                <a:solidFill>
                  <a:srgbClr val="0033CC"/>
                </a:solidFill>
              </a:rPr>
              <a:t>A3 = </a:t>
            </a:r>
            <a:r>
              <a:rPr lang="fr-FR" altLang="fr-FR" sz="1800" b="1" dirty="0" err="1">
                <a:solidFill>
                  <a:srgbClr val="0033CC"/>
                </a:solidFill>
              </a:rPr>
              <a:t>yyx</a:t>
            </a:r>
            <a:r>
              <a:rPr lang="fr-FR" altLang="fr-FR" sz="1800" b="1" dirty="0">
                <a:solidFill>
                  <a:srgbClr val="0033CC"/>
                </a:solidFill>
              </a:rPr>
              <a:t> * </a:t>
            </a:r>
            <a:r>
              <a:rPr lang="fr-FR" altLang="fr-FR" sz="1800" b="1" dirty="0" err="1">
                <a:solidFill>
                  <a:srgbClr val="0033CC"/>
                </a:solidFill>
              </a:rPr>
              <a:t>yyx</a:t>
            </a:r>
            <a:r>
              <a:rPr lang="fr-FR" altLang="fr-FR" sz="1800" b="1" dirty="0">
                <a:solidFill>
                  <a:srgbClr val="0033CC"/>
                </a:solidFill>
              </a:rPr>
              <a:t> </a:t>
            </a:r>
            <a:r>
              <a:rPr lang="fr-FR" altLang="fr-FR" sz="1800" dirty="0"/>
              <a:t>est un théorème dont la démonstration est : A1,A2,A3</a:t>
            </a:r>
          </a:p>
          <a:p>
            <a:pPr>
              <a:buFontTx/>
              <a:buChar char="-"/>
            </a:pPr>
            <a:endParaRPr lang="fr-FR" altLang="fr-FR" sz="1800" dirty="0"/>
          </a:p>
          <a:p>
            <a:r>
              <a:rPr lang="fr-FR" altLang="fr-FR" sz="1800" dirty="0"/>
              <a:t>Avec </a:t>
            </a:r>
            <a:r>
              <a:rPr lang="fr-FR" altLang="fr-FR" sz="1800" b="1" dirty="0">
                <a:solidFill>
                  <a:srgbClr val="0033CC"/>
                </a:solidFill>
              </a:rPr>
              <a:t>A1=x * x (axiome) , A2=</a:t>
            </a:r>
            <a:r>
              <a:rPr lang="fr-FR" altLang="fr-FR" sz="1800" b="1" dirty="0" err="1">
                <a:solidFill>
                  <a:srgbClr val="0033CC"/>
                </a:solidFill>
              </a:rPr>
              <a:t>yx</a:t>
            </a:r>
            <a:r>
              <a:rPr lang="fr-FR" altLang="fr-FR" sz="1800" b="1" dirty="0">
                <a:solidFill>
                  <a:srgbClr val="0033CC"/>
                </a:solidFill>
              </a:rPr>
              <a:t> * </a:t>
            </a:r>
            <a:r>
              <a:rPr lang="fr-FR" altLang="fr-FR" sz="1800" b="1" dirty="0" err="1">
                <a:solidFill>
                  <a:srgbClr val="0033CC"/>
                </a:solidFill>
              </a:rPr>
              <a:t>yx</a:t>
            </a:r>
            <a:r>
              <a:rPr lang="fr-FR" altLang="fr-FR" sz="1800" b="1" dirty="0">
                <a:solidFill>
                  <a:srgbClr val="0033CC"/>
                </a:solidFill>
              </a:rPr>
              <a:t> (règle) ,  A3 = </a:t>
            </a:r>
            <a:r>
              <a:rPr lang="fr-FR" altLang="fr-FR" sz="1800" b="1" dirty="0" err="1">
                <a:solidFill>
                  <a:srgbClr val="0033CC"/>
                </a:solidFill>
              </a:rPr>
              <a:t>yyx</a:t>
            </a:r>
            <a:r>
              <a:rPr lang="fr-FR" altLang="fr-FR" sz="1800" b="1" dirty="0">
                <a:solidFill>
                  <a:srgbClr val="0033CC"/>
                </a:solidFill>
              </a:rPr>
              <a:t> * </a:t>
            </a:r>
            <a:r>
              <a:rPr lang="fr-FR" altLang="fr-FR" sz="1800" b="1" dirty="0" err="1">
                <a:solidFill>
                  <a:srgbClr val="0033CC"/>
                </a:solidFill>
              </a:rPr>
              <a:t>yyx</a:t>
            </a:r>
            <a:r>
              <a:rPr lang="fr-FR" altLang="fr-FR" sz="1800" b="1" dirty="0">
                <a:solidFill>
                  <a:srgbClr val="0033CC"/>
                </a:solidFill>
              </a:rPr>
              <a:t> (règle)</a:t>
            </a:r>
          </a:p>
        </p:txBody>
      </p:sp>
    </p:spTree>
    <p:extLst>
      <p:ext uri="{BB962C8B-B14F-4D97-AF65-F5344CB8AC3E}">
        <p14:creationId xmlns:p14="http://schemas.microsoft.com/office/powerpoint/2010/main" val="2306358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Exemple 2 </a:t>
            </a:r>
          </a:p>
        </p:txBody>
      </p:sp>
      <p:sp>
        <p:nvSpPr>
          <p:cNvPr id="4" name="Rectangle 1">
            <a:extLst>
              <a:ext uri="{FF2B5EF4-FFF2-40B4-BE49-F238E27FC236}">
                <a16:creationId xmlns:a16="http://schemas.microsoft.com/office/drawing/2014/main" xmlns="" id="{9891D08D-7D71-E2A1-8C80-E9475BCEF8BD}"/>
              </a:ext>
            </a:extLst>
          </p:cNvPr>
          <p:cNvSpPr>
            <a:spLocks noChangeArrowheads="1"/>
          </p:cNvSpPr>
          <p:nvPr/>
        </p:nvSpPr>
        <p:spPr bwMode="auto">
          <a:xfrm>
            <a:off x="179388" y="1484313"/>
            <a:ext cx="8353425"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1800" dirty="0"/>
              <a:t>Le système (D.H.) dû à Douglas </a:t>
            </a:r>
            <a:r>
              <a:rPr lang="fr-FR" altLang="fr-FR" sz="1800" dirty="0" err="1"/>
              <a:t>Hoffstadter</a:t>
            </a:r>
            <a:r>
              <a:rPr lang="fr-FR" altLang="fr-FR" sz="1800" dirty="0"/>
              <a:t> :</a:t>
            </a:r>
          </a:p>
          <a:p>
            <a:r>
              <a:rPr lang="fr-FR" altLang="fr-FR" sz="1800" dirty="0"/>
              <a:t> </a:t>
            </a:r>
          </a:p>
          <a:p>
            <a:pPr>
              <a:buFontTx/>
              <a:buChar char="-"/>
            </a:pPr>
            <a:r>
              <a:rPr lang="fr-FR" altLang="fr-FR" sz="1800" dirty="0"/>
              <a:t>alphabet : { M, I, U } </a:t>
            </a:r>
          </a:p>
          <a:p>
            <a:endParaRPr lang="fr-FR" altLang="fr-FR" sz="1800" dirty="0"/>
          </a:p>
          <a:p>
            <a:pPr>
              <a:buFontTx/>
              <a:buChar char="-"/>
            </a:pPr>
            <a:r>
              <a:rPr lang="fr-FR" altLang="fr-FR" sz="1800" dirty="0"/>
              <a:t>mots : toute suite de lettres de l'alphabet </a:t>
            </a:r>
          </a:p>
          <a:p>
            <a:endParaRPr lang="fr-FR" altLang="fr-FR" sz="1800" dirty="0"/>
          </a:p>
          <a:p>
            <a:pPr>
              <a:buFontTx/>
              <a:buChar char="-"/>
            </a:pPr>
            <a:r>
              <a:rPr lang="fr-FR" altLang="fr-FR" sz="1800" dirty="0"/>
              <a:t>axiome : M I </a:t>
            </a:r>
          </a:p>
          <a:p>
            <a:endParaRPr lang="fr-FR" altLang="fr-FR" sz="1800" dirty="0"/>
          </a:p>
          <a:p>
            <a:r>
              <a:rPr lang="fr-FR" altLang="fr-FR" sz="1800" dirty="0"/>
              <a:t>- règles de déduction : </a:t>
            </a:r>
          </a:p>
          <a:p>
            <a:endParaRPr lang="fr-FR" altLang="fr-FR" sz="1800" dirty="0"/>
          </a:p>
          <a:p>
            <a:r>
              <a:rPr lang="fr-FR" altLang="fr-FR" sz="1800" dirty="0"/>
              <a:t>1- w I </a:t>
            </a:r>
            <a:r>
              <a:rPr lang="fr-FR" altLang="fr-FR" sz="1800" dirty="0">
                <a:sym typeface="Wingdings" panose="05000000000000000000" pitchFamily="2" charset="2"/>
              </a:rPr>
              <a:t></a:t>
            </a:r>
            <a:r>
              <a:rPr lang="fr-FR" altLang="fr-FR" sz="1800" dirty="0"/>
              <a:t> w I U où w est un mot (production) </a:t>
            </a:r>
          </a:p>
          <a:p>
            <a:r>
              <a:rPr lang="fr-FR" altLang="fr-FR" sz="1800" dirty="0"/>
              <a:t>2- </a:t>
            </a:r>
            <a:r>
              <a:rPr lang="fr-FR" altLang="fr-FR" sz="1800" dirty="0" err="1"/>
              <a:t>Mw</a:t>
            </a:r>
            <a:r>
              <a:rPr lang="fr-FR" altLang="fr-FR" sz="1800" dirty="0"/>
              <a:t> </a:t>
            </a:r>
            <a:r>
              <a:rPr lang="fr-FR" altLang="fr-FR" sz="1800" dirty="0">
                <a:sym typeface="Wingdings" panose="05000000000000000000" pitchFamily="2" charset="2"/>
              </a:rPr>
              <a:t></a:t>
            </a:r>
            <a:r>
              <a:rPr lang="fr-FR" altLang="fr-FR" sz="1800" dirty="0"/>
              <a:t> M </a:t>
            </a:r>
            <a:r>
              <a:rPr lang="fr-FR" altLang="fr-FR" sz="1800" dirty="0" err="1"/>
              <a:t>ww</a:t>
            </a:r>
            <a:r>
              <a:rPr lang="fr-FR" altLang="fr-FR" sz="1800" dirty="0"/>
              <a:t> où w est un mot (production) </a:t>
            </a:r>
          </a:p>
          <a:p>
            <a:r>
              <a:rPr lang="fr-FR" altLang="fr-FR" sz="1800" dirty="0"/>
              <a:t>3- III </a:t>
            </a:r>
            <a:r>
              <a:rPr lang="fr-FR" altLang="fr-FR" sz="1800" dirty="0">
                <a:sym typeface="Wingdings" panose="05000000000000000000" pitchFamily="2" charset="2"/>
              </a:rPr>
              <a:t></a:t>
            </a:r>
            <a:r>
              <a:rPr lang="fr-FR" altLang="fr-FR" sz="1800" dirty="0"/>
              <a:t> U (réécriture) </a:t>
            </a:r>
          </a:p>
          <a:p>
            <a:r>
              <a:rPr lang="fr-FR" altLang="fr-FR" sz="1800" dirty="0"/>
              <a:t>4- UU </a:t>
            </a:r>
            <a:r>
              <a:rPr lang="fr-FR" altLang="fr-FR" sz="1800" dirty="0">
                <a:sym typeface="Wingdings" panose="05000000000000000000" pitchFamily="2" charset="2"/>
              </a:rPr>
              <a:t></a:t>
            </a:r>
            <a:r>
              <a:rPr lang="fr-FR" altLang="fr-FR" sz="1800" dirty="0"/>
              <a:t> M   (réécriture) </a:t>
            </a:r>
          </a:p>
        </p:txBody>
      </p:sp>
      <p:sp>
        <p:nvSpPr>
          <p:cNvPr id="5" name="Rectangle 4">
            <a:extLst>
              <a:ext uri="{FF2B5EF4-FFF2-40B4-BE49-F238E27FC236}">
                <a16:creationId xmlns:a16="http://schemas.microsoft.com/office/drawing/2014/main" xmlns="" id="{AA5A4518-BB5A-59D9-F113-45841F0AD45E}"/>
              </a:ext>
            </a:extLst>
          </p:cNvPr>
          <p:cNvSpPr>
            <a:spLocks noChangeArrowheads="1"/>
          </p:cNvSpPr>
          <p:nvPr/>
        </p:nvSpPr>
        <p:spPr bwMode="auto">
          <a:xfrm>
            <a:off x="395288" y="5445125"/>
            <a:ext cx="79216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1800" dirty="0">
                <a:solidFill>
                  <a:srgbClr val="0033CC"/>
                </a:solidFill>
              </a:rPr>
              <a:t>MIIUIIU est un théorème, de démonstration: </a:t>
            </a:r>
          </a:p>
          <a:p>
            <a:endParaRPr lang="fr-FR" altLang="fr-FR" sz="1800" dirty="0">
              <a:solidFill>
                <a:srgbClr val="0033CC"/>
              </a:solidFill>
            </a:endParaRPr>
          </a:p>
          <a:p>
            <a:r>
              <a:rPr lang="fr-FR" altLang="fr-FR" sz="1800" dirty="0">
                <a:solidFill>
                  <a:srgbClr val="0033CC"/>
                </a:solidFill>
              </a:rPr>
              <a:t>MI </a:t>
            </a:r>
            <a:r>
              <a:rPr lang="fr-FR" altLang="fr-FR" sz="1800" dirty="0">
                <a:solidFill>
                  <a:srgbClr val="FF0000"/>
                </a:solidFill>
              </a:rPr>
              <a:t>(axiome)</a:t>
            </a:r>
            <a:r>
              <a:rPr lang="fr-FR" altLang="fr-FR" sz="1800" dirty="0">
                <a:solidFill>
                  <a:srgbClr val="0033CC"/>
                </a:solidFill>
              </a:rPr>
              <a:t>, MII </a:t>
            </a:r>
            <a:r>
              <a:rPr lang="fr-FR" altLang="fr-FR" sz="1800" dirty="0">
                <a:solidFill>
                  <a:srgbClr val="FF0000"/>
                </a:solidFill>
              </a:rPr>
              <a:t>(par R2)</a:t>
            </a:r>
            <a:r>
              <a:rPr lang="fr-FR" altLang="fr-FR" sz="1800" dirty="0">
                <a:solidFill>
                  <a:srgbClr val="0033CC"/>
                </a:solidFill>
              </a:rPr>
              <a:t>, MIIU </a:t>
            </a:r>
            <a:r>
              <a:rPr lang="fr-FR" altLang="fr-FR" sz="1800" dirty="0">
                <a:solidFill>
                  <a:srgbClr val="FF0000"/>
                </a:solidFill>
              </a:rPr>
              <a:t>(par R1)</a:t>
            </a:r>
            <a:r>
              <a:rPr lang="fr-FR" altLang="fr-FR" sz="1800" dirty="0">
                <a:solidFill>
                  <a:srgbClr val="0033CC"/>
                </a:solidFill>
              </a:rPr>
              <a:t>, MIIUIIU </a:t>
            </a:r>
            <a:r>
              <a:rPr lang="fr-FR" altLang="fr-FR" sz="1800" dirty="0">
                <a:solidFill>
                  <a:srgbClr val="FF0000"/>
                </a:solidFill>
              </a:rPr>
              <a:t>(par R2)</a:t>
            </a:r>
            <a:r>
              <a:rPr lang="fr-FR" altLang="fr-FR" sz="1800" dirty="0">
                <a:solidFill>
                  <a:srgbClr val="0033CC"/>
                </a:solidFill>
              </a:rPr>
              <a:t>. </a:t>
            </a:r>
          </a:p>
        </p:txBody>
      </p:sp>
    </p:spTree>
    <p:extLst>
      <p:ext uri="{BB962C8B-B14F-4D97-AF65-F5344CB8AC3E}">
        <p14:creationId xmlns:p14="http://schemas.microsoft.com/office/powerpoint/2010/main" val="1137297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Énoncé déductible</a:t>
            </a:r>
            <a:endParaRPr lang="fr-FR" dirty="0"/>
          </a:p>
        </p:txBody>
      </p:sp>
      <p:sp>
        <p:nvSpPr>
          <p:cNvPr id="3" name="Rectangle 3">
            <a:extLst>
              <a:ext uri="{FF2B5EF4-FFF2-40B4-BE49-F238E27FC236}">
                <a16:creationId xmlns:a16="http://schemas.microsoft.com/office/drawing/2014/main" xmlns="" id="{091E6E75-9826-C60A-75A5-B07ACE00AD89}"/>
              </a:ext>
            </a:extLst>
          </p:cNvPr>
          <p:cNvSpPr txBox="1">
            <a:spLocks noChangeArrowheads="1"/>
          </p:cNvSpPr>
          <p:nvPr/>
        </p:nvSpPr>
        <p:spPr>
          <a:xfrm>
            <a:off x="563563" y="1758950"/>
            <a:ext cx="8016875" cy="444023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altLang="fr-FR" sz="2400" dirty="0"/>
              <a:t>Soit </a:t>
            </a:r>
            <a:r>
              <a:rPr lang="fr-FR" altLang="fr-FR" sz="2400" b="1" dirty="0"/>
              <a:t>J</a:t>
            </a:r>
            <a:r>
              <a:rPr lang="fr-FR" altLang="fr-FR" sz="2400" b="1" i="1" dirty="0"/>
              <a:t> </a:t>
            </a:r>
            <a:r>
              <a:rPr lang="fr-FR" altLang="fr-FR" sz="2400" dirty="0"/>
              <a:t>un ensemble de formules</a:t>
            </a:r>
          </a:p>
          <a:p>
            <a:r>
              <a:rPr lang="fr-FR" altLang="fr-FR" sz="2400" dirty="0"/>
              <a:t>Un énoncé </a:t>
            </a:r>
            <a:r>
              <a:rPr lang="fr-FR" altLang="fr-FR" sz="2400" b="1" dirty="0"/>
              <a:t>A</a:t>
            </a:r>
            <a:r>
              <a:rPr lang="fr-FR" altLang="fr-FR" sz="2400" dirty="0"/>
              <a:t> est dit </a:t>
            </a:r>
            <a:r>
              <a:rPr lang="fr-FR" altLang="fr-FR" sz="2400" b="1" dirty="0"/>
              <a:t>déductible </a:t>
            </a:r>
            <a:r>
              <a:rPr lang="fr-FR" altLang="fr-FR" sz="2400" dirty="0"/>
              <a:t>sous les hypothèses </a:t>
            </a:r>
            <a:r>
              <a:rPr lang="fr-FR" altLang="fr-FR" sz="2400" b="1" dirty="0"/>
              <a:t>J </a:t>
            </a:r>
            <a:r>
              <a:rPr lang="fr-FR" altLang="fr-FR" sz="2400" dirty="0"/>
              <a:t>(noté </a:t>
            </a:r>
            <a:r>
              <a:rPr lang="fr-FR" altLang="fr-FR" sz="2400" b="1" dirty="0"/>
              <a:t>J    A</a:t>
            </a:r>
            <a:r>
              <a:rPr lang="fr-FR" altLang="fr-FR" sz="2400" dirty="0"/>
              <a:t>) </a:t>
            </a:r>
            <a:r>
              <a:rPr lang="fr-FR" altLang="fr-FR" sz="2400" dirty="0" err="1"/>
              <a:t>ssi</a:t>
            </a:r>
            <a:endParaRPr lang="fr-FR" altLang="fr-FR" sz="2400" dirty="0"/>
          </a:p>
          <a:p>
            <a:pPr lvl="1"/>
            <a:r>
              <a:rPr lang="fr-FR" altLang="fr-FR" sz="2000" dirty="0"/>
              <a:t>il existe une suite finie A</a:t>
            </a:r>
            <a:r>
              <a:rPr lang="fr-FR" altLang="fr-FR" sz="2000" baseline="-25000" dirty="0"/>
              <a:t>1</a:t>
            </a:r>
            <a:r>
              <a:rPr lang="fr-FR" altLang="fr-FR" sz="2000" dirty="0"/>
              <a:t>, …, A</a:t>
            </a:r>
            <a:r>
              <a:rPr lang="fr-FR" altLang="fr-FR" sz="2000" baseline="-25000" dirty="0"/>
              <a:t>n</a:t>
            </a:r>
            <a:r>
              <a:rPr lang="fr-FR" altLang="fr-FR" sz="2000" dirty="0"/>
              <a:t> d’énoncés telle que </a:t>
            </a:r>
          </a:p>
          <a:p>
            <a:pPr lvl="2"/>
            <a:r>
              <a:rPr lang="fr-FR" altLang="fr-FR" sz="2400" dirty="0"/>
              <a:t>A</a:t>
            </a:r>
            <a:r>
              <a:rPr lang="fr-FR" altLang="fr-FR" sz="2400" baseline="-25000" dirty="0"/>
              <a:t>n</a:t>
            </a:r>
            <a:r>
              <a:rPr lang="fr-FR" altLang="fr-FR" sz="2400" dirty="0"/>
              <a:t> = </a:t>
            </a:r>
            <a:r>
              <a:rPr lang="fr-FR" altLang="fr-FR" sz="2400" b="1" dirty="0"/>
              <a:t>A</a:t>
            </a:r>
          </a:p>
          <a:p>
            <a:pPr lvl="2"/>
            <a:r>
              <a:rPr lang="fr-FR" altLang="fr-FR" sz="2400" dirty="0"/>
              <a:t>pour tout i</a:t>
            </a:r>
          </a:p>
          <a:p>
            <a:pPr lvl="3"/>
            <a:r>
              <a:rPr lang="fr-FR" altLang="fr-FR" sz="2400" dirty="0"/>
              <a:t>A</a:t>
            </a:r>
            <a:r>
              <a:rPr lang="fr-FR" altLang="fr-FR" sz="2400" baseline="-25000" dirty="0"/>
              <a:t>i</a:t>
            </a:r>
            <a:r>
              <a:rPr lang="fr-FR" altLang="fr-FR" sz="2400" dirty="0"/>
              <a:t> est un axiome</a:t>
            </a:r>
          </a:p>
          <a:p>
            <a:pPr lvl="3"/>
            <a:r>
              <a:rPr lang="fr-FR" altLang="fr-FR" sz="2400" dirty="0"/>
              <a:t>ou A</a:t>
            </a:r>
            <a:r>
              <a:rPr lang="fr-FR" altLang="fr-FR" sz="2400" baseline="-25000" dirty="0"/>
              <a:t>i</a:t>
            </a:r>
            <a:r>
              <a:rPr lang="fr-FR" altLang="fr-FR" sz="2400" dirty="0"/>
              <a:t> </a:t>
            </a:r>
            <a:r>
              <a:rPr lang="fr-FR" altLang="fr-FR" sz="3200" dirty="0">
                <a:sym typeface="Symbol" panose="05050102010706020507" pitchFamily="18" charset="2"/>
              </a:rPr>
              <a:t> </a:t>
            </a:r>
            <a:r>
              <a:rPr lang="fr-FR" altLang="fr-FR" sz="2400" b="1" dirty="0"/>
              <a:t>J</a:t>
            </a:r>
          </a:p>
          <a:p>
            <a:pPr lvl="3"/>
            <a:r>
              <a:rPr lang="fr-FR" altLang="fr-FR" sz="2400" dirty="0"/>
              <a:t>ou A</a:t>
            </a:r>
            <a:r>
              <a:rPr lang="fr-FR" altLang="fr-FR" sz="2400" baseline="-25000" dirty="0"/>
              <a:t>i</a:t>
            </a:r>
            <a:r>
              <a:rPr lang="fr-FR" altLang="fr-FR" sz="2400" dirty="0"/>
              <a:t> découle d’énoncés précédents par application d’une règle d’inférence</a:t>
            </a:r>
          </a:p>
        </p:txBody>
      </p:sp>
    </p:spTree>
    <p:extLst>
      <p:ext uri="{BB962C8B-B14F-4D97-AF65-F5344CB8AC3E}">
        <p14:creationId xmlns:p14="http://schemas.microsoft.com/office/powerpoint/2010/main" val="1412978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388492" y="237453"/>
            <a:ext cx="6703787"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Quelques règles de déduction classiques</a:t>
            </a:r>
            <a:endParaRPr lang="fr-FR" dirty="0"/>
          </a:p>
        </p:txBody>
      </p:sp>
      <p:sp>
        <p:nvSpPr>
          <p:cNvPr id="3" name="Rectangle 3">
            <a:extLst>
              <a:ext uri="{FF2B5EF4-FFF2-40B4-BE49-F238E27FC236}">
                <a16:creationId xmlns:a16="http://schemas.microsoft.com/office/drawing/2014/main" xmlns="" id="{28E9B070-CB3F-8BAF-B958-7B9278ECD01C}"/>
              </a:ext>
            </a:extLst>
          </p:cNvPr>
          <p:cNvSpPr txBox="1">
            <a:spLocks noChangeArrowheads="1"/>
          </p:cNvSpPr>
          <p:nvPr/>
        </p:nvSpPr>
        <p:spPr>
          <a:xfrm>
            <a:off x="563563" y="1758950"/>
            <a:ext cx="8016875" cy="444023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altLang="fr-FR" sz="2800" b="1" dirty="0"/>
              <a:t>modus </a:t>
            </a:r>
            <a:r>
              <a:rPr lang="fr-FR" altLang="fr-FR" sz="2800" b="1" dirty="0" err="1"/>
              <a:t>ponens</a:t>
            </a:r>
            <a:endParaRPr lang="fr-FR" altLang="fr-FR" sz="2800" b="1" dirty="0"/>
          </a:p>
          <a:p>
            <a:pPr lvl="1"/>
            <a:r>
              <a:rPr lang="fr-FR" altLang="fr-FR" sz="2400" dirty="0"/>
              <a:t>p, p </a:t>
            </a:r>
            <a:r>
              <a:rPr lang="fr-FR" altLang="fr-FR" sz="2400" dirty="0">
                <a:sym typeface="Symbol" panose="05050102010706020507" pitchFamily="18" charset="2"/>
              </a:rPr>
              <a:t> q    </a:t>
            </a:r>
            <a:r>
              <a:rPr lang="fr-FR" altLang="fr-FR" sz="2400" dirty="0" err="1">
                <a:sym typeface="Symbol" panose="05050102010706020507" pitchFamily="18" charset="2"/>
              </a:rPr>
              <a:t>q</a:t>
            </a:r>
            <a:endParaRPr lang="fr-FR" altLang="fr-FR" sz="2400" b="1" dirty="0"/>
          </a:p>
          <a:p>
            <a:endParaRPr lang="fr-FR" altLang="fr-FR" sz="2800" b="1" dirty="0"/>
          </a:p>
          <a:p>
            <a:r>
              <a:rPr lang="fr-FR" altLang="fr-FR" sz="2800" b="1" dirty="0"/>
              <a:t>modus </a:t>
            </a:r>
            <a:r>
              <a:rPr lang="fr-FR" altLang="fr-FR" sz="2800" b="1" dirty="0" err="1"/>
              <a:t>tollens</a:t>
            </a:r>
            <a:endParaRPr lang="fr-FR" altLang="fr-FR" sz="2800" b="1" dirty="0"/>
          </a:p>
          <a:p>
            <a:pPr lvl="1"/>
            <a:r>
              <a:rPr lang="fr-FR" altLang="fr-FR" sz="2400" dirty="0"/>
              <a:t>p</a:t>
            </a:r>
            <a:r>
              <a:rPr lang="fr-FR" altLang="fr-FR" sz="2400" dirty="0">
                <a:sym typeface="Symbol" panose="05050102010706020507" pitchFamily="18" charset="2"/>
              </a:rPr>
              <a:t></a:t>
            </a:r>
            <a:r>
              <a:rPr lang="fr-FR" altLang="fr-FR" sz="2400" dirty="0"/>
              <a:t> q, </a:t>
            </a:r>
            <a:r>
              <a:rPr lang="fr-FR" altLang="fr-FR" sz="2400" dirty="0">
                <a:sym typeface="Symbol" panose="05050102010706020507" pitchFamily="18" charset="2"/>
              </a:rPr>
              <a:t> q     p</a:t>
            </a:r>
            <a:endParaRPr lang="fr-FR" altLang="fr-FR" sz="2400" b="1" dirty="0"/>
          </a:p>
          <a:p>
            <a:endParaRPr lang="fr-FR" altLang="fr-FR" sz="2800" b="1" dirty="0"/>
          </a:p>
          <a:p>
            <a:r>
              <a:rPr lang="fr-FR" altLang="fr-FR" sz="2800" b="1" dirty="0"/>
              <a:t>syllogisme</a:t>
            </a:r>
          </a:p>
          <a:p>
            <a:pPr lvl="1"/>
            <a:r>
              <a:rPr lang="fr-FR" altLang="fr-FR" sz="2400" dirty="0"/>
              <a:t>p</a:t>
            </a:r>
            <a:r>
              <a:rPr lang="fr-FR" altLang="fr-FR" sz="2400" dirty="0">
                <a:sym typeface="Symbol" panose="05050102010706020507" pitchFamily="18" charset="2"/>
              </a:rPr>
              <a:t></a:t>
            </a:r>
            <a:r>
              <a:rPr lang="fr-FR" altLang="fr-FR" sz="2400" dirty="0"/>
              <a:t> q, q</a:t>
            </a:r>
            <a:r>
              <a:rPr lang="fr-FR" altLang="fr-FR" sz="2400" dirty="0">
                <a:sym typeface="Symbol" panose="05050102010706020507" pitchFamily="18" charset="2"/>
              </a:rPr>
              <a:t></a:t>
            </a:r>
            <a:r>
              <a:rPr lang="fr-FR" altLang="fr-FR" sz="2400" dirty="0"/>
              <a:t> r    p</a:t>
            </a:r>
            <a:r>
              <a:rPr lang="fr-FR" altLang="fr-FR" sz="2400" dirty="0">
                <a:sym typeface="Symbol" panose="05050102010706020507" pitchFamily="18" charset="2"/>
              </a:rPr>
              <a:t></a:t>
            </a:r>
            <a:r>
              <a:rPr lang="fr-FR" altLang="fr-FR" sz="2400" dirty="0"/>
              <a:t> r</a:t>
            </a:r>
          </a:p>
        </p:txBody>
      </p:sp>
    </p:spTree>
    <p:extLst>
      <p:ext uri="{BB962C8B-B14F-4D97-AF65-F5344CB8AC3E}">
        <p14:creationId xmlns:p14="http://schemas.microsoft.com/office/powerpoint/2010/main" val="37897468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388492" y="237453"/>
            <a:ext cx="7279851"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Propriétés d’un système formel</a:t>
            </a:r>
            <a:endParaRPr lang="fr-FR" dirty="0"/>
          </a:p>
        </p:txBody>
      </p:sp>
      <p:sp>
        <p:nvSpPr>
          <p:cNvPr id="23" name="Rectangle 19">
            <a:extLst>
              <a:ext uri="{FF2B5EF4-FFF2-40B4-BE49-F238E27FC236}">
                <a16:creationId xmlns:a16="http://schemas.microsoft.com/office/drawing/2014/main" xmlns="" id="{65AFDE93-08C3-705C-1D6F-8EABDB024C9D}"/>
              </a:ext>
            </a:extLst>
          </p:cNvPr>
          <p:cNvSpPr>
            <a:spLocks noChangeArrowheads="1"/>
          </p:cNvSpPr>
          <p:nvPr/>
        </p:nvSpPr>
        <p:spPr bwMode="auto">
          <a:xfrm>
            <a:off x="3048000" y="4724400"/>
            <a:ext cx="3048000" cy="533400"/>
          </a:xfrm>
          <a:prstGeom prst="rect">
            <a:avLst/>
          </a:prstGeom>
          <a:solidFill>
            <a:srgbClr val="EBEBEB"/>
          </a:solidFill>
          <a:ln w="12700">
            <a:solidFill>
              <a:srgbClr val="000000"/>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altLang="fr-FR" sz="2400" b="0" i="0" u="none" strike="noStrike" kern="0" cap="none" spc="0" normalizeH="0" baseline="0" noProof="0">
              <a:ln>
                <a:noFill/>
              </a:ln>
              <a:solidFill>
                <a:srgbClr val="000000"/>
              </a:solidFill>
              <a:effectLst/>
              <a:uLnTx/>
              <a:uFillTx/>
              <a:latin typeface="Verdana" panose="020B0604030504040204" pitchFamily="34" charset="0"/>
            </a:endParaRPr>
          </a:p>
        </p:txBody>
      </p:sp>
      <p:sp>
        <p:nvSpPr>
          <p:cNvPr id="24" name="Rectangle 18">
            <a:extLst>
              <a:ext uri="{FF2B5EF4-FFF2-40B4-BE49-F238E27FC236}">
                <a16:creationId xmlns:a16="http://schemas.microsoft.com/office/drawing/2014/main" xmlns="" id="{E09C9EF4-094C-3B92-ECF1-5F03F6865438}"/>
              </a:ext>
            </a:extLst>
          </p:cNvPr>
          <p:cNvSpPr>
            <a:spLocks noChangeArrowheads="1"/>
          </p:cNvSpPr>
          <p:nvPr/>
        </p:nvSpPr>
        <p:spPr bwMode="auto">
          <a:xfrm>
            <a:off x="3048000" y="2438400"/>
            <a:ext cx="3048000" cy="609600"/>
          </a:xfrm>
          <a:prstGeom prst="rect">
            <a:avLst/>
          </a:prstGeom>
          <a:solidFill>
            <a:srgbClr val="EBEBEB"/>
          </a:solidFill>
          <a:ln w="12700">
            <a:solidFill>
              <a:srgbClr val="000000"/>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altLang="fr-FR" sz="2400" b="0" i="0" u="none" strike="noStrike" kern="0" cap="none" spc="0" normalizeH="0" baseline="0" noProof="0">
              <a:ln>
                <a:noFill/>
              </a:ln>
              <a:solidFill>
                <a:srgbClr val="000000"/>
              </a:solidFill>
              <a:effectLst/>
              <a:uLnTx/>
              <a:uFillTx/>
              <a:latin typeface="Verdana" panose="020B0604030504040204" pitchFamily="34" charset="0"/>
            </a:endParaRPr>
          </a:p>
        </p:txBody>
      </p:sp>
      <p:sp>
        <p:nvSpPr>
          <p:cNvPr id="25" name="Rectangle 3">
            <a:extLst>
              <a:ext uri="{FF2B5EF4-FFF2-40B4-BE49-F238E27FC236}">
                <a16:creationId xmlns:a16="http://schemas.microsoft.com/office/drawing/2014/main" xmlns="" id="{9583174E-D461-0FAD-C0EB-C72BC728CC7E}"/>
              </a:ext>
            </a:extLst>
          </p:cNvPr>
          <p:cNvSpPr txBox="1">
            <a:spLocks noChangeArrowheads="1"/>
          </p:cNvSpPr>
          <p:nvPr/>
        </p:nvSpPr>
        <p:spPr bwMode="auto">
          <a:xfrm>
            <a:off x="563563" y="1758950"/>
            <a:ext cx="8016875" cy="444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4138" tIns="41275" rIns="84138" bIns="41275" numCol="1" anchor="t" anchorCtr="0" compatLnSpc="1">
            <a:prstTxWarp prst="textNoShape">
              <a:avLst/>
            </a:prstTxWarp>
          </a:bodyPr>
          <a:lstStyle>
            <a:lvl1pPr marL="312738" indent="-312738" algn="l" defTabSz="831850" rtl="0" eaLnBrk="0" fontAlgn="base" hangingPunct="0">
              <a:spcBef>
                <a:spcPct val="20000"/>
              </a:spcBef>
              <a:spcAft>
                <a:spcPct val="0"/>
              </a:spcAft>
              <a:buClr>
                <a:schemeClr val="tx1"/>
              </a:buClr>
              <a:buSzPct val="75000"/>
              <a:buFont typeface="Monotype Sorts"/>
              <a:buChar char="n"/>
              <a:defRPr sz="2400">
                <a:solidFill>
                  <a:schemeClr val="tx1"/>
                </a:solidFill>
                <a:latin typeface="+mn-lt"/>
                <a:ea typeface="+mn-ea"/>
                <a:cs typeface="+mn-cs"/>
              </a:defRPr>
            </a:lvl1pPr>
            <a:lvl2pPr marL="676275" indent="-249238" algn="l" defTabSz="831850" rtl="0" eaLnBrk="0" fontAlgn="base" hangingPunct="0">
              <a:spcBef>
                <a:spcPct val="20000"/>
              </a:spcBef>
              <a:spcAft>
                <a:spcPct val="0"/>
              </a:spcAft>
              <a:buClr>
                <a:schemeClr val="tx1"/>
              </a:buClr>
              <a:buSzPct val="75000"/>
              <a:buFont typeface="Monotype Sorts"/>
              <a:buChar char="l"/>
              <a:defRPr sz="2000" i="1">
                <a:solidFill>
                  <a:schemeClr val="tx1"/>
                </a:solidFill>
                <a:latin typeface="+mn-lt"/>
              </a:defRPr>
            </a:lvl2pPr>
            <a:lvl3pPr marL="1039813" indent="-207963" algn="l" defTabSz="831850" rtl="0" eaLnBrk="0" fontAlgn="base" hangingPunct="0">
              <a:spcBef>
                <a:spcPct val="20000"/>
              </a:spcBef>
              <a:spcAft>
                <a:spcPct val="0"/>
              </a:spcAft>
              <a:buClr>
                <a:schemeClr val="tx1"/>
              </a:buClr>
              <a:buSzPct val="100000"/>
              <a:buChar char="–"/>
              <a:defRPr sz="2400">
                <a:solidFill>
                  <a:schemeClr val="tx1"/>
                </a:solidFill>
                <a:latin typeface="+mn-lt"/>
              </a:defRPr>
            </a:lvl3pPr>
            <a:lvl4pPr marL="1455738" indent="-207963" algn="l" defTabSz="831850" rtl="0" eaLnBrk="0" fontAlgn="base" hangingPunct="0">
              <a:spcBef>
                <a:spcPct val="20000"/>
              </a:spcBef>
              <a:spcAft>
                <a:spcPct val="0"/>
              </a:spcAft>
              <a:buClr>
                <a:schemeClr val="tx1"/>
              </a:buClr>
              <a:buSzPct val="65000"/>
              <a:buFont typeface="Monotype Sorts"/>
              <a:buChar char="l"/>
              <a:defRPr sz="2000">
                <a:solidFill>
                  <a:schemeClr val="tx1"/>
                </a:solidFill>
                <a:latin typeface="+mn-lt"/>
              </a:defRPr>
            </a:lvl4pPr>
            <a:lvl5pPr marL="1871663" indent="-207963" algn="l" defTabSz="831850" rtl="0" eaLnBrk="0" fontAlgn="base" hangingPunct="0">
              <a:spcBef>
                <a:spcPct val="20000"/>
              </a:spcBef>
              <a:spcAft>
                <a:spcPct val="0"/>
              </a:spcAft>
              <a:buClr>
                <a:schemeClr val="tx1"/>
              </a:buClr>
              <a:buSzPct val="100000"/>
              <a:buChar char="»"/>
              <a:defRPr sz="2000">
                <a:solidFill>
                  <a:schemeClr val="tx1"/>
                </a:solidFill>
                <a:latin typeface="+mn-lt"/>
              </a:defRPr>
            </a:lvl5pPr>
            <a:lvl6pPr marL="23288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6pPr>
            <a:lvl7pPr marL="27860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7pPr>
            <a:lvl8pPr marL="32432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8pPr>
            <a:lvl9pPr marL="37004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9pPr>
          </a:lstStyle>
          <a:p>
            <a:pPr marR="0" lvl="0" algn="l" defTabSz="831850" rtl="0" eaLnBrk="0" fontAlgn="base" latinLnBrk="0" hangingPunct="0">
              <a:lnSpc>
                <a:spcPct val="100000"/>
              </a:lnSpc>
              <a:spcBef>
                <a:spcPct val="20000"/>
              </a:spcBef>
              <a:spcAft>
                <a:spcPct val="0"/>
              </a:spcAft>
              <a:buClr>
                <a:srgbClr val="000000"/>
              </a:buClr>
              <a:buSzPct val="75000"/>
              <a:buFont typeface="Courier New" panose="02070309020205020404" pitchFamily="49" charset="0"/>
              <a:buChar char="o"/>
              <a:tabLst/>
              <a:defRPr/>
            </a:pP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Un système formel est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correct</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0" i="0" u="none" strike="noStrike" kern="0" cap="none" spc="0" normalizeH="0" baseline="0" noProof="0" dirty="0" err="1">
                <a:ln>
                  <a:noFill/>
                </a:ln>
                <a:solidFill>
                  <a:srgbClr val="000000"/>
                </a:solidFill>
                <a:effectLst/>
                <a:uLnTx/>
                <a:uFillTx/>
                <a:latin typeface="Verdana"/>
                <a:ea typeface="+mn-ea"/>
                <a:cs typeface="+mn-cs"/>
              </a:rPr>
              <a:t>ssi</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r>
            <a:br>
              <a:rPr kumimoji="0" lang="fr-FR" altLang="fr-FR" sz="2400" b="0" i="0" u="none" strike="noStrike" kern="0" cap="none" spc="0" normalizeH="0" baseline="0" noProof="0" dirty="0">
                <a:ln>
                  <a:noFill/>
                </a:ln>
                <a:solidFill>
                  <a:srgbClr val="000000"/>
                </a:solidFill>
                <a:effectLst/>
                <a:uLnTx/>
                <a:uFillTx/>
                <a:latin typeface="Verdana"/>
                <a:ea typeface="+mn-ea"/>
                <a:cs typeface="+mn-cs"/>
              </a:rPr>
            </a:b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r>
            <a:br>
              <a:rPr kumimoji="0" lang="fr-FR" altLang="fr-FR" sz="2400" b="0" i="0" u="none" strike="noStrike" kern="0" cap="none" spc="0" normalizeH="0" baseline="0" noProof="0" dirty="0">
                <a:ln>
                  <a:noFill/>
                </a:ln>
                <a:solidFill>
                  <a:srgbClr val="000000"/>
                </a:solidFill>
                <a:effectLst/>
                <a:uLnTx/>
                <a:uFillTx/>
                <a:latin typeface="Verdana"/>
                <a:ea typeface="+mn-ea"/>
                <a:cs typeface="+mn-cs"/>
              </a:rPr>
            </a:b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si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A</a:t>
            </a:r>
            <a:r>
              <a:rPr kumimoji="0" lang="fr-FR" altLang="fr-FR" sz="2400" b="1" i="1"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alors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A</a:t>
            </a:r>
          </a:p>
          <a:p>
            <a:pPr marL="676275" marR="0" lvl="1" indent="-249238" algn="l" defTabSz="831850" rtl="0" eaLnBrk="0" fontAlgn="base" latinLnBrk="0" hangingPunct="0">
              <a:lnSpc>
                <a:spcPct val="100000"/>
              </a:lnSpc>
              <a:spcBef>
                <a:spcPct val="20000"/>
              </a:spcBef>
              <a:spcAft>
                <a:spcPct val="0"/>
              </a:spcAft>
              <a:buClr>
                <a:srgbClr val="000000"/>
              </a:buClr>
              <a:buSzPct val="75000"/>
              <a:buFont typeface="Monotype Sorts"/>
              <a:buChar char="l"/>
              <a:tabLst/>
              <a:defRPr/>
            </a:pPr>
            <a:endParaRPr kumimoji="0" lang="fr-FR" altLang="fr-FR" sz="2000" b="0" i="1" u="none" strike="noStrike" kern="0" cap="none" spc="0" normalizeH="0" baseline="0" noProof="0" dirty="0">
              <a:ln>
                <a:noFill/>
              </a:ln>
              <a:solidFill>
                <a:srgbClr val="000000"/>
              </a:solidFill>
              <a:effectLst/>
              <a:uLnTx/>
              <a:uFillTx/>
              <a:latin typeface="Verdana"/>
            </a:endParaRPr>
          </a:p>
          <a:p>
            <a:pPr marR="0" lvl="1" algn="l" defTabSz="831850" rtl="0" eaLnBrk="0" fontAlgn="base" latinLnBrk="0" hangingPunct="0">
              <a:lnSpc>
                <a:spcPct val="100000"/>
              </a:lnSpc>
              <a:spcBef>
                <a:spcPct val="20000"/>
              </a:spcBef>
              <a:spcAft>
                <a:spcPct val="0"/>
              </a:spcAft>
              <a:buClr>
                <a:srgbClr val="000000"/>
              </a:buClr>
              <a:buSzPct val="75000"/>
              <a:buFont typeface="Wingdings" panose="05000000000000000000" pitchFamily="2" charset="2"/>
              <a:buChar char="v"/>
              <a:tabLst/>
              <a:defRPr/>
            </a:pPr>
            <a:r>
              <a:rPr lang="fr-FR" altLang="fr-FR" kern="0" dirty="0">
                <a:solidFill>
                  <a:srgbClr val="000000"/>
                </a:solidFill>
                <a:latin typeface="Verdana"/>
              </a:rPr>
              <a:t>T</a:t>
            </a:r>
            <a:r>
              <a:rPr kumimoji="0" lang="fr-FR" altLang="fr-FR" sz="2000" b="0" i="1" u="none" strike="noStrike" kern="0" cap="none" spc="0" normalizeH="0" baseline="0" noProof="0" dirty="0">
                <a:ln>
                  <a:noFill/>
                </a:ln>
                <a:solidFill>
                  <a:srgbClr val="000000"/>
                </a:solidFill>
                <a:effectLst/>
                <a:uLnTx/>
                <a:uFillTx/>
                <a:latin typeface="Verdana"/>
              </a:rPr>
              <a:t>out ce qui est démontrable est vrai</a:t>
            </a:r>
          </a:p>
          <a:p>
            <a:pPr marL="676275" marR="0" lvl="1" indent="-249238" algn="l" defTabSz="831850" rtl="0" eaLnBrk="0" fontAlgn="base" latinLnBrk="0" hangingPunct="0">
              <a:lnSpc>
                <a:spcPct val="100000"/>
              </a:lnSpc>
              <a:spcBef>
                <a:spcPct val="20000"/>
              </a:spcBef>
              <a:spcAft>
                <a:spcPct val="0"/>
              </a:spcAft>
              <a:buClr>
                <a:srgbClr val="000000"/>
              </a:buClr>
              <a:buSzPct val="75000"/>
              <a:buFont typeface="Monotype Sorts"/>
              <a:buChar char="l"/>
              <a:tabLst/>
              <a:defRPr/>
            </a:pPr>
            <a:endParaRPr kumimoji="0" lang="fr-FR" altLang="fr-FR" sz="2000" b="0" i="1" u="none" strike="noStrike" kern="0" cap="none" spc="0" normalizeH="0" baseline="0" noProof="0" dirty="0">
              <a:ln>
                <a:noFill/>
              </a:ln>
              <a:solidFill>
                <a:srgbClr val="000000"/>
              </a:solidFill>
              <a:effectLst/>
              <a:uLnTx/>
              <a:uFillTx/>
              <a:latin typeface="Verdana"/>
            </a:endParaRPr>
          </a:p>
          <a:p>
            <a:pPr marR="0" lvl="0" algn="l" defTabSz="831850" rtl="0" eaLnBrk="0" fontAlgn="base" latinLnBrk="0" hangingPunct="0">
              <a:lnSpc>
                <a:spcPct val="100000"/>
              </a:lnSpc>
              <a:spcBef>
                <a:spcPct val="20000"/>
              </a:spcBef>
              <a:spcAft>
                <a:spcPct val="0"/>
              </a:spcAft>
              <a:buClr>
                <a:srgbClr val="000000"/>
              </a:buClr>
              <a:buSzPct val="75000"/>
              <a:buFont typeface="Courier New" panose="02070309020205020404" pitchFamily="49" charset="0"/>
              <a:buChar char="o"/>
              <a:tabLst/>
              <a:defRPr/>
            </a:pP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Un système formel est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complet</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0" i="0" u="none" strike="noStrike" kern="0" cap="none" spc="0" normalizeH="0" baseline="0" noProof="0" dirty="0" err="1">
                <a:ln>
                  <a:noFill/>
                </a:ln>
                <a:solidFill>
                  <a:srgbClr val="000000"/>
                </a:solidFill>
                <a:effectLst/>
                <a:uLnTx/>
                <a:uFillTx/>
                <a:latin typeface="Verdana"/>
                <a:ea typeface="+mn-ea"/>
                <a:cs typeface="+mn-cs"/>
              </a:rPr>
              <a:t>ssi</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r>
            <a:br>
              <a:rPr kumimoji="0" lang="fr-FR" altLang="fr-FR" sz="2400" b="0" i="0" u="none" strike="noStrike" kern="0" cap="none" spc="0" normalizeH="0" baseline="0" noProof="0" dirty="0">
                <a:ln>
                  <a:noFill/>
                </a:ln>
                <a:solidFill>
                  <a:srgbClr val="000000"/>
                </a:solidFill>
                <a:effectLst/>
                <a:uLnTx/>
                <a:uFillTx/>
                <a:latin typeface="Verdana"/>
                <a:ea typeface="+mn-ea"/>
                <a:cs typeface="+mn-cs"/>
              </a:rPr>
            </a:b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t>
            </a:r>
            <a:br>
              <a:rPr kumimoji="0" lang="fr-FR" altLang="fr-FR" sz="2400" b="0" i="0" u="none" strike="noStrike" kern="0" cap="none" spc="0" normalizeH="0" baseline="0" noProof="0" dirty="0">
                <a:ln>
                  <a:noFill/>
                </a:ln>
                <a:solidFill>
                  <a:srgbClr val="000000"/>
                </a:solidFill>
                <a:effectLst/>
                <a:uLnTx/>
                <a:uFillTx/>
                <a:latin typeface="Verdana"/>
                <a:ea typeface="+mn-ea"/>
                <a:cs typeface="+mn-cs"/>
              </a:rPr>
            </a:b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si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A</a:t>
            </a:r>
            <a:r>
              <a:rPr kumimoji="0" lang="fr-FR" altLang="fr-FR" sz="2400" b="1" i="1"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alors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A</a:t>
            </a:r>
          </a:p>
          <a:p>
            <a:pPr marL="676275" marR="0" lvl="1" indent="-249238" algn="l" defTabSz="831850" rtl="0" eaLnBrk="0" fontAlgn="base" latinLnBrk="0" hangingPunct="0">
              <a:lnSpc>
                <a:spcPct val="100000"/>
              </a:lnSpc>
              <a:spcBef>
                <a:spcPct val="20000"/>
              </a:spcBef>
              <a:spcAft>
                <a:spcPct val="0"/>
              </a:spcAft>
              <a:buClr>
                <a:srgbClr val="000000"/>
              </a:buClr>
              <a:buSzPct val="75000"/>
              <a:buFont typeface="Monotype Sorts"/>
              <a:buChar char="l"/>
              <a:tabLst/>
              <a:defRPr/>
            </a:pPr>
            <a:endParaRPr kumimoji="0" lang="fr-FR" altLang="fr-FR" sz="2000" b="0" i="1" u="none" strike="noStrike" kern="0" cap="none" spc="0" normalizeH="0" baseline="0" noProof="0" dirty="0">
              <a:ln>
                <a:noFill/>
              </a:ln>
              <a:solidFill>
                <a:srgbClr val="000000"/>
              </a:solidFill>
              <a:effectLst/>
              <a:uLnTx/>
              <a:uFillTx/>
              <a:latin typeface="Verdana"/>
            </a:endParaRPr>
          </a:p>
          <a:p>
            <a:pPr marR="0" lvl="1" algn="l" defTabSz="831850" rtl="0" eaLnBrk="0" fontAlgn="base" latinLnBrk="0" hangingPunct="0">
              <a:lnSpc>
                <a:spcPct val="100000"/>
              </a:lnSpc>
              <a:spcBef>
                <a:spcPct val="20000"/>
              </a:spcBef>
              <a:spcAft>
                <a:spcPct val="0"/>
              </a:spcAft>
              <a:buClr>
                <a:srgbClr val="000000"/>
              </a:buClr>
              <a:buSzPct val="75000"/>
              <a:buFont typeface="Wingdings" panose="05000000000000000000" pitchFamily="2" charset="2"/>
              <a:buChar char="v"/>
              <a:tabLst/>
              <a:defRPr/>
            </a:pPr>
            <a:r>
              <a:rPr lang="fr-FR" altLang="fr-FR" kern="0" dirty="0">
                <a:solidFill>
                  <a:srgbClr val="000000"/>
                </a:solidFill>
                <a:latin typeface="Verdana"/>
              </a:rPr>
              <a:t>T</a:t>
            </a:r>
            <a:r>
              <a:rPr kumimoji="0" lang="fr-FR" altLang="fr-FR" sz="2000" b="0" i="1" u="none" strike="noStrike" kern="0" cap="none" spc="0" normalizeH="0" baseline="0" noProof="0" dirty="0">
                <a:ln>
                  <a:noFill/>
                </a:ln>
                <a:solidFill>
                  <a:srgbClr val="000000"/>
                </a:solidFill>
                <a:effectLst/>
                <a:uLnTx/>
                <a:uFillTx/>
                <a:latin typeface="Verdana"/>
              </a:rPr>
              <a:t>out ce qui est vrai est démontrable</a:t>
            </a:r>
          </a:p>
        </p:txBody>
      </p:sp>
      <p:grpSp>
        <p:nvGrpSpPr>
          <p:cNvPr id="26" name="Group 4">
            <a:extLst>
              <a:ext uri="{FF2B5EF4-FFF2-40B4-BE49-F238E27FC236}">
                <a16:creationId xmlns:a16="http://schemas.microsoft.com/office/drawing/2014/main" xmlns="" id="{51229226-CAF5-D624-5F35-C3A80FF6D609}"/>
              </a:ext>
            </a:extLst>
          </p:cNvPr>
          <p:cNvGrpSpPr>
            <a:grpSpLocks/>
          </p:cNvGrpSpPr>
          <p:nvPr/>
        </p:nvGrpSpPr>
        <p:grpSpPr bwMode="auto">
          <a:xfrm>
            <a:off x="5403850" y="2565400"/>
            <a:ext cx="152400" cy="304800"/>
            <a:chOff x="528" y="384"/>
            <a:chExt cx="96" cy="288"/>
          </a:xfrm>
        </p:grpSpPr>
        <p:sp>
          <p:nvSpPr>
            <p:cNvPr id="27" name="Line 5">
              <a:extLst>
                <a:ext uri="{FF2B5EF4-FFF2-40B4-BE49-F238E27FC236}">
                  <a16:creationId xmlns:a16="http://schemas.microsoft.com/office/drawing/2014/main" xmlns="" id="{E70C23BB-9D0B-A3DC-17B1-566C1197A188}"/>
                </a:ext>
              </a:extLst>
            </p:cNvPr>
            <p:cNvSpPr>
              <a:spLocks noChangeShapeType="1"/>
            </p:cNvSpPr>
            <p:nvPr/>
          </p:nvSpPr>
          <p:spPr bwMode="auto">
            <a:xfrm>
              <a:off x="528" y="384"/>
              <a:ext cx="0" cy="2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sp>
          <p:nvSpPr>
            <p:cNvPr id="28" name="Line 6">
              <a:extLst>
                <a:ext uri="{FF2B5EF4-FFF2-40B4-BE49-F238E27FC236}">
                  <a16:creationId xmlns:a16="http://schemas.microsoft.com/office/drawing/2014/main" xmlns="" id="{873238E9-5A52-00C7-2199-69063AE1BC0F}"/>
                </a:ext>
              </a:extLst>
            </p:cNvPr>
            <p:cNvSpPr>
              <a:spLocks noChangeShapeType="1"/>
            </p:cNvSpPr>
            <p:nvPr/>
          </p:nvSpPr>
          <p:spPr bwMode="auto">
            <a:xfrm>
              <a:off x="528" y="528"/>
              <a:ext cx="9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grpSp>
      <p:grpSp>
        <p:nvGrpSpPr>
          <p:cNvPr id="29" name="Group 7">
            <a:extLst>
              <a:ext uri="{FF2B5EF4-FFF2-40B4-BE49-F238E27FC236}">
                <a16:creationId xmlns:a16="http://schemas.microsoft.com/office/drawing/2014/main" xmlns="" id="{D852D12F-0FC4-FED0-2F9A-96A2FE07A4C3}"/>
              </a:ext>
            </a:extLst>
          </p:cNvPr>
          <p:cNvGrpSpPr>
            <a:grpSpLocks/>
          </p:cNvGrpSpPr>
          <p:nvPr/>
        </p:nvGrpSpPr>
        <p:grpSpPr bwMode="auto">
          <a:xfrm>
            <a:off x="3657600" y="4826000"/>
            <a:ext cx="152400" cy="304800"/>
            <a:chOff x="528" y="384"/>
            <a:chExt cx="96" cy="288"/>
          </a:xfrm>
        </p:grpSpPr>
        <p:sp>
          <p:nvSpPr>
            <p:cNvPr id="30" name="Line 8">
              <a:extLst>
                <a:ext uri="{FF2B5EF4-FFF2-40B4-BE49-F238E27FC236}">
                  <a16:creationId xmlns:a16="http://schemas.microsoft.com/office/drawing/2014/main" xmlns="" id="{A25AA372-B532-A416-59C4-7DA574AF4E86}"/>
                </a:ext>
              </a:extLst>
            </p:cNvPr>
            <p:cNvSpPr>
              <a:spLocks noChangeShapeType="1"/>
            </p:cNvSpPr>
            <p:nvPr/>
          </p:nvSpPr>
          <p:spPr bwMode="auto">
            <a:xfrm>
              <a:off x="528" y="384"/>
              <a:ext cx="0" cy="2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sp>
          <p:nvSpPr>
            <p:cNvPr id="31" name="Line 9">
              <a:extLst>
                <a:ext uri="{FF2B5EF4-FFF2-40B4-BE49-F238E27FC236}">
                  <a16:creationId xmlns:a16="http://schemas.microsoft.com/office/drawing/2014/main" xmlns="" id="{F72952CE-98F2-BAB6-3E36-860D46DC9A2F}"/>
                </a:ext>
              </a:extLst>
            </p:cNvPr>
            <p:cNvSpPr>
              <a:spLocks noChangeShapeType="1"/>
            </p:cNvSpPr>
            <p:nvPr/>
          </p:nvSpPr>
          <p:spPr bwMode="auto">
            <a:xfrm>
              <a:off x="528" y="528"/>
              <a:ext cx="9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grpSp>
      <p:grpSp>
        <p:nvGrpSpPr>
          <p:cNvPr id="32" name="Group 10">
            <a:extLst>
              <a:ext uri="{FF2B5EF4-FFF2-40B4-BE49-F238E27FC236}">
                <a16:creationId xmlns:a16="http://schemas.microsoft.com/office/drawing/2014/main" xmlns="" id="{75D074C0-374F-6131-E851-2F3FEAA1485F}"/>
              </a:ext>
            </a:extLst>
          </p:cNvPr>
          <p:cNvGrpSpPr>
            <a:grpSpLocks/>
          </p:cNvGrpSpPr>
          <p:nvPr/>
        </p:nvGrpSpPr>
        <p:grpSpPr bwMode="auto">
          <a:xfrm>
            <a:off x="5397500" y="4851400"/>
            <a:ext cx="146050" cy="304800"/>
            <a:chOff x="2732" y="1680"/>
            <a:chExt cx="92" cy="192"/>
          </a:xfrm>
        </p:grpSpPr>
        <p:sp>
          <p:nvSpPr>
            <p:cNvPr id="33" name="Line 11">
              <a:extLst>
                <a:ext uri="{FF2B5EF4-FFF2-40B4-BE49-F238E27FC236}">
                  <a16:creationId xmlns:a16="http://schemas.microsoft.com/office/drawing/2014/main" xmlns="" id="{903C48A9-E58C-C014-0F91-904FF19239D8}"/>
                </a:ext>
              </a:extLst>
            </p:cNvPr>
            <p:cNvSpPr>
              <a:spLocks noChangeShapeType="1"/>
            </p:cNvSpPr>
            <p:nvPr/>
          </p:nvSpPr>
          <p:spPr bwMode="auto">
            <a:xfrm>
              <a:off x="2736" y="1680"/>
              <a:ext cx="0" cy="19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sp>
          <p:nvSpPr>
            <p:cNvPr id="34" name="Line 12">
              <a:extLst>
                <a:ext uri="{FF2B5EF4-FFF2-40B4-BE49-F238E27FC236}">
                  <a16:creationId xmlns:a16="http://schemas.microsoft.com/office/drawing/2014/main" xmlns="" id="{499B5FAD-A445-572C-FA68-2A5B30CF6F7D}"/>
                </a:ext>
              </a:extLst>
            </p:cNvPr>
            <p:cNvSpPr>
              <a:spLocks noChangeShapeType="1"/>
            </p:cNvSpPr>
            <p:nvPr/>
          </p:nvSpPr>
          <p:spPr bwMode="auto">
            <a:xfrm>
              <a:off x="2736" y="1788"/>
              <a:ext cx="8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sp>
          <p:nvSpPr>
            <p:cNvPr id="35" name="Line 13">
              <a:extLst>
                <a:ext uri="{FF2B5EF4-FFF2-40B4-BE49-F238E27FC236}">
                  <a16:creationId xmlns:a16="http://schemas.microsoft.com/office/drawing/2014/main" xmlns="" id="{87E8617A-587A-8A05-67C3-2564F4EB6561}"/>
                </a:ext>
              </a:extLst>
            </p:cNvPr>
            <p:cNvSpPr>
              <a:spLocks noChangeShapeType="1"/>
            </p:cNvSpPr>
            <p:nvPr/>
          </p:nvSpPr>
          <p:spPr bwMode="auto">
            <a:xfrm>
              <a:off x="2732" y="1752"/>
              <a:ext cx="8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grpSp>
      <p:grpSp>
        <p:nvGrpSpPr>
          <p:cNvPr id="36" name="Group 14">
            <a:extLst>
              <a:ext uri="{FF2B5EF4-FFF2-40B4-BE49-F238E27FC236}">
                <a16:creationId xmlns:a16="http://schemas.microsoft.com/office/drawing/2014/main" xmlns="" id="{F61696E8-56E8-ECC3-BF07-54F610F01CE8}"/>
              </a:ext>
            </a:extLst>
          </p:cNvPr>
          <p:cNvGrpSpPr>
            <a:grpSpLocks/>
          </p:cNvGrpSpPr>
          <p:nvPr/>
        </p:nvGrpSpPr>
        <p:grpSpPr bwMode="auto">
          <a:xfrm>
            <a:off x="3657600" y="2590800"/>
            <a:ext cx="146050" cy="304800"/>
            <a:chOff x="2732" y="1680"/>
            <a:chExt cx="92" cy="192"/>
          </a:xfrm>
        </p:grpSpPr>
        <p:sp>
          <p:nvSpPr>
            <p:cNvPr id="37" name="Line 15">
              <a:extLst>
                <a:ext uri="{FF2B5EF4-FFF2-40B4-BE49-F238E27FC236}">
                  <a16:creationId xmlns:a16="http://schemas.microsoft.com/office/drawing/2014/main" xmlns="" id="{D0C601D8-1D52-2F49-D04A-ED88BAACF734}"/>
                </a:ext>
              </a:extLst>
            </p:cNvPr>
            <p:cNvSpPr>
              <a:spLocks noChangeShapeType="1"/>
            </p:cNvSpPr>
            <p:nvPr/>
          </p:nvSpPr>
          <p:spPr bwMode="auto">
            <a:xfrm>
              <a:off x="2736" y="1680"/>
              <a:ext cx="0" cy="192"/>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sp>
          <p:nvSpPr>
            <p:cNvPr id="38" name="Line 16">
              <a:extLst>
                <a:ext uri="{FF2B5EF4-FFF2-40B4-BE49-F238E27FC236}">
                  <a16:creationId xmlns:a16="http://schemas.microsoft.com/office/drawing/2014/main" xmlns="" id="{ACED61AD-B0ED-D032-4B78-A03B14220C6B}"/>
                </a:ext>
              </a:extLst>
            </p:cNvPr>
            <p:cNvSpPr>
              <a:spLocks noChangeShapeType="1"/>
            </p:cNvSpPr>
            <p:nvPr/>
          </p:nvSpPr>
          <p:spPr bwMode="auto">
            <a:xfrm>
              <a:off x="2736" y="1788"/>
              <a:ext cx="8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sp>
          <p:nvSpPr>
            <p:cNvPr id="39" name="Line 17">
              <a:extLst>
                <a:ext uri="{FF2B5EF4-FFF2-40B4-BE49-F238E27FC236}">
                  <a16:creationId xmlns:a16="http://schemas.microsoft.com/office/drawing/2014/main" xmlns="" id="{ADF9FF49-3724-CB91-68BE-8EADB8E4242E}"/>
                </a:ext>
              </a:extLst>
            </p:cNvPr>
            <p:cNvSpPr>
              <a:spLocks noChangeShapeType="1"/>
            </p:cNvSpPr>
            <p:nvPr/>
          </p:nvSpPr>
          <p:spPr bwMode="auto">
            <a:xfrm>
              <a:off x="2732" y="1752"/>
              <a:ext cx="88"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grpSp>
    </p:spTree>
    <p:extLst>
      <p:ext uri="{BB962C8B-B14F-4D97-AF65-F5344CB8AC3E}">
        <p14:creationId xmlns:p14="http://schemas.microsoft.com/office/powerpoint/2010/main" val="2826418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388492" y="237453"/>
            <a:ext cx="7927923"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Une autre règle d’inférence</a:t>
            </a:r>
          </a:p>
        </p:txBody>
      </p:sp>
      <p:sp>
        <p:nvSpPr>
          <p:cNvPr id="9" name="Rectangle 4">
            <a:extLst>
              <a:ext uri="{FF2B5EF4-FFF2-40B4-BE49-F238E27FC236}">
                <a16:creationId xmlns:a16="http://schemas.microsoft.com/office/drawing/2014/main" xmlns="" id="{F5E451A6-4C16-195D-0EFC-B9C6DCF7FF89}"/>
              </a:ext>
            </a:extLst>
          </p:cNvPr>
          <p:cNvSpPr>
            <a:spLocks noChangeArrowheads="1"/>
          </p:cNvSpPr>
          <p:nvPr/>
        </p:nvSpPr>
        <p:spPr bwMode="auto">
          <a:xfrm>
            <a:off x="3779838" y="3498850"/>
            <a:ext cx="1371600" cy="457200"/>
          </a:xfrm>
          <a:prstGeom prst="rect">
            <a:avLst/>
          </a:prstGeom>
          <a:solidFill>
            <a:srgbClr val="EBEBEB"/>
          </a:solidFill>
          <a:ln w="12700">
            <a:solidFill>
              <a:srgbClr val="000000"/>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altLang="fr-FR" sz="2400" b="0" i="0" u="none" strike="noStrike" kern="0" cap="none" spc="0" normalizeH="0" baseline="0" noProof="0">
              <a:ln>
                <a:noFill/>
              </a:ln>
              <a:solidFill>
                <a:srgbClr val="000000"/>
              </a:solidFill>
              <a:effectLst/>
              <a:uLnTx/>
              <a:uFillTx/>
              <a:latin typeface="Verdana" panose="020B0604030504040204" pitchFamily="34" charset="0"/>
            </a:endParaRPr>
          </a:p>
        </p:txBody>
      </p:sp>
      <p:sp>
        <p:nvSpPr>
          <p:cNvPr id="10" name="Rectangle 8">
            <a:extLst>
              <a:ext uri="{FF2B5EF4-FFF2-40B4-BE49-F238E27FC236}">
                <a16:creationId xmlns:a16="http://schemas.microsoft.com/office/drawing/2014/main" xmlns="" id="{35EC81AD-431A-B5AC-AF91-3EEA2B15B897}"/>
              </a:ext>
            </a:extLst>
          </p:cNvPr>
          <p:cNvSpPr>
            <a:spLocks noChangeArrowheads="1"/>
          </p:cNvSpPr>
          <p:nvPr/>
        </p:nvSpPr>
        <p:spPr bwMode="auto">
          <a:xfrm>
            <a:off x="3094038" y="4718050"/>
            <a:ext cx="4144962" cy="533400"/>
          </a:xfrm>
          <a:prstGeom prst="rect">
            <a:avLst/>
          </a:prstGeom>
          <a:solidFill>
            <a:srgbClr val="EBEBEB"/>
          </a:solidFill>
          <a:ln w="12700">
            <a:solidFill>
              <a:srgbClr val="000000"/>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altLang="fr-FR" sz="2400" b="0" i="0" u="none" strike="noStrike" kern="0" cap="none" spc="0" normalizeH="0" baseline="0" noProof="0">
              <a:ln>
                <a:noFill/>
              </a:ln>
              <a:solidFill>
                <a:srgbClr val="000000"/>
              </a:solidFill>
              <a:effectLst/>
              <a:uLnTx/>
              <a:uFillTx/>
              <a:latin typeface="Verdana" panose="020B0604030504040204" pitchFamily="34" charset="0"/>
            </a:endParaRPr>
          </a:p>
        </p:txBody>
      </p:sp>
      <p:sp>
        <p:nvSpPr>
          <p:cNvPr id="11" name="Rectangle 3">
            <a:extLst>
              <a:ext uri="{FF2B5EF4-FFF2-40B4-BE49-F238E27FC236}">
                <a16:creationId xmlns:a16="http://schemas.microsoft.com/office/drawing/2014/main" xmlns="" id="{D4478490-C8A4-1BA4-D333-A0DDF8FC97D1}"/>
              </a:ext>
            </a:extLst>
          </p:cNvPr>
          <p:cNvSpPr txBox="1">
            <a:spLocks noChangeArrowheads="1"/>
          </p:cNvSpPr>
          <p:nvPr/>
        </p:nvSpPr>
        <p:spPr bwMode="auto">
          <a:xfrm>
            <a:off x="468313" y="1557338"/>
            <a:ext cx="8891587" cy="444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4138" tIns="41275" rIns="84138" bIns="41275" numCol="1" anchor="t" anchorCtr="0" compatLnSpc="1">
            <a:prstTxWarp prst="textNoShape">
              <a:avLst/>
            </a:prstTxWarp>
          </a:bodyPr>
          <a:lstStyle>
            <a:lvl1pPr marL="312738" indent="-312738" algn="l" defTabSz="831850" rtl="0" eaLnBrk="0" fontAlgn="base" hangingPunct="0">
              <a:spcBef>
                <a:spcPct val="20000"/>
              </a:spcBef>
              <a:spcAft>
                <a:spcPct val="0"/>
              </a:spcAft>
              <a:buClr>
                <a:schemeClr val="tx1"/>
              </a:buClr>
              <a:buSzPct val="75000"/>
              <a:buFont typeface="Monotype Sorts"/>
              <a:buChar char="n"/>
              <a:defRPr sz="2400">
                <a:solidFill>
                  <a:schemeClr val="tx1"/>
                </a:solidFill>
                <a:latin typeface="+mn-lt"/>
                <a:ea typeface="+mn-ea"/>
                <a:cs typeface="+mn-cs"/>
              </a:defRPr>
            </a:lvl1pPr>
            <a:lvl2pPr marL="676275" indent="-249238" algn="l" defTabSz="831850" rtl="0" eaLnBrk="0" fontAlgn="base" hangingPunct="0">
              <a:spcBef>
                <a:spcPct val="20000"/>
              </a:spcBef>
              <a:spcAft>
                <a:spcPct val="0"/>
              </a:spcAft>
              <a:buClr>
                <a:schemeClr val="tx1"/>
              </a:buClr>
              <a:buSzPct val="75000"/>
              <a:buFont typeface="Monotype Sorts"/>
              <a:buChar char="l"/>
              <a:defRPr sz="2000" i="1">
                <a:solidFill>
                  <a:schemeClr val="tx1"/>
                </a:solidFill>
                <a:latin typeface="+mn-lt"/>
              </a:defRPr>
            </a:lvl2pPr>
            <a:lvl3pPr marL="1039813" indent="-207963" algn="l" defTabSz="831850" rtl="0" eaLnBrk="0" fontAlgn="base" hangingPunct="0">
              <a:spcBef>
                <a:spcPct val="20000"/>
              </a:spcBef>
              <a:spcAft>
                <a:spcPct val="0"/>
              </a:spcAft>
              <a:buClr>
                <a:schemeClr val="tx1"/>
              </a:buClr>
              <a:buSzPct val="100000"/>
              <a:buChar char="–"/>
              <a:defRPr sz="2400">
                <a:solidFill>
                  <a:schemeClr val="tx1"/>
                </a:solidFill>
                <a:latin typeface="+mn-lt"/>
              </a:defRPr>
            </a:lvl3pPr>
            <a:lvl4pPr marL="1455738" indent="-207963" algn="l" defTabSz="831850" rtl="0" eaLnBrk="0" fontAlgn="base" hangingPunct="0">
              <a:spcBef>
                <a:spcPct val="20000"/>
              </a:spcBef>
              <a:spcAft>
                <a:spcPct val="0"/>
              </a:spcAft>
              <a:buClr>
                <a:schemeClr val="tx1"/>
              </a:buClr>
              <a:buSzPct val="65000"/>
              <a:buFont typeface="Monotype Sorts"/>
              <a:buChar char="l"/>
              <a:defRPr sz="2000">
                <a:solidFill>
                  <a:schemeClr val="tx1"/>
                </a:solidFill>
                <a:latin typeface="+mn-lt"/>
              </a:defRPr>
            </a:lvl4pPr>
            <a:lvl5pPr marL="1871663" indent="-207963" algn="l" defTabSz="831850" rtl="0" eaLnBrk="0" fontAlgn="base" hangingPunct="0">
              <a:spcBef>
                <a:spcPct val="20000"/>
              </a:spcBef>
              <a:spcAft>
                <a:spcPct val="0"/>
              </a:spcAft>
              <a:buClr>
                <a:schemeClr val="tx1"/>
              </a:buClr>
              <a:buSzPct val="100000"/>
              <a:buChar char="»"/>
              <a:defRPr sz="2000">
                <a:solidFill>
                  <a:schemeClr val="tx1"/>
                </a:solidFill>
                <a:latin typeface="+mn-lt"/>
              </a:defRPr>
            </a:lvl5pPr>
            <a:lvl6pPr marL="23288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6pPr>
            <a:lvl7pPr marL="27860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7pPr>
            <a:lvl8pPr marL="32432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8pPr>
            <a:lvl9pPr marL="37004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9pPr>
          </a:lstStyle>
          <a:p>
            <a:pPr marR="0" lvl="0" algn="l" defTabSz="831850" rtl="0" eaLnBrk="0" fontAlgn="base" latinLnBrk="0" hangingPunct="0">
              <a:lnSpc>
                <a:spcPct val="100000"/>
              </a:lnSpc>
              <a:spcBef>
                <a:spcPct val="20000"/>
              </a:spcBef>
              <a:spcAft>
                <a:spcPct val="0"/>
              </a:spcAft>
              <a:buClr>
                <a:srgbClr val="000000"/>
              </a:buClr>
              <a:buSzPct val="75000"/>
              <a:buFont typeface="Courier New" panose="02070309020205020404" pitchFamily="49" charset="0"/>
              <a:buChar char="o"/>
              <a:tabLst/>
              <a:defRPr/>
            </a:pP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Principe de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résolution</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(Robinson)</a:t>
            </a:r>
          </a:p>
          <a:p>
            <a:pPr marR="0" lvl="1" algn="l" defTabSz="831850" rtl="0" eaLnBrk="0" fontAlgn="base" latinLnBrk="0" hangingPunct="0">
              <a:lnSpc>
                <a:spcPct val="100000"/>
              </a:lnSpc>
              <a:spcBef>
                <a:spcPct val="20000"/>
              </a:spcBef>
              <a:spcAft>
                <a:spcPct val="0"/>
              </a:spcAft>
              <a:buClr>
                <a:srgbClr val="000000"/>
              </a:buClr>
              <a:buSzPct val="75000"/>
              <a:buFont typeface="Wingdings" panose="05000000000000000000" pitchFamily="2" charset="2"/>
              <a:buChar char="q"/>
              <a:tabLst/>
              <a:defRPr/>
            </a:pPr>
            <a:r>
              <a:rPr kumimoji="0" lang="fr-FR" altLang="fr-FR" sz="2000" b="0" i="1" u="none" strike="noStrike" kern="0" cap="none" spc="0" normalizeH="0" baseline="0" noProof="0" dirty="0">
                <a:ln>
                  <a:noFill/>
                </a:ln>
                <a:solidFill>
                  <a:srgbClr val="000000"/>
                </a:solidFill>
                <a:effectLst/>
                <a:uLnTx/>
                <a:uFillTx/>
                <a:latin typeface="Verdana"/>
              </a:rPr>
              <a:t>Définitions</a:t>
            </a:r>
          </a:p>
          <a:p>
            <a:pPr marL="1039813" marR="0" lvl="2" indent="-207963" algn="l" defTabSz="831850" rtl="0" eaLnBrk="0" fontAlgn="base" latinLnBrk="0" hangingPunct="0">
              <a:lnSpc>
                <a:spcPct val="100000"/>
              </a:lnSpc>
              <a:spcBef>
                <a:spcPct val="20000"/>
              </a:spcBef>
              <a:spcAft>
                <a:spcPct val="0"/>
              </a:spcAft>
              <a:buClr>
                <a:srgbClr val="000000"/>
              </a:buClr>
              <a:buSzPct val="100000"/>
              <a:buFontTx/>
              <a:buChar char="–"/>
              <a:tabLst/>
              <a:defRPr/>
            </a:pPr>
            <a:r>
              <a:rPr kumimoji="0" lang="fr-FR" altLang="fr-FR" sz="1800" b="0" i="0" u="none" strike="noStrike" kern="0" cap="none" spc="0" normalizeH="0" baseline="0" noProof="0" dirty="0">
                <a:ln>
                  <a:noFill/>
                </a:ln>
                <a:solidFill>
                  <a:srgbClr val="000000"/>
                </a:solidFill>
                <a:effectLst/>
                <a:uLnTx/>
                <a:uFillTx/>
                <a:latin typeface="Verdana"/>
              </a:rPr>
              <a:t>littéral </a:t>
            </a:r>
            <a:r>
              <a:rPr kumimoji="0" lang="fr-FR" altLang="fr-FR" sz="1800" b="1" i="0" u="none" strike="noStrike" kern="0" cap="none" spc="0" normalizeH="0" baseline="0" noProof="0" dirty="0">
                <a:ln>
                  <a:noFill/>
                </a:ln>
                <a:solidFill>
                  <a:srgbClr val="000000"/>
                </a:solidFill>
                <a:effectLst/>
                <a:uLnTx/>
                <a:uFillTx/>
                <a:latin typeface="Verdana"/>
              </a:rPr>
              <a:t>positif </a:t>
            </a:r>
            <a:r>
              <a:rPr kumimoji="0" lang="fr-FR" altLang="fr-FR" sz="1800" b="0" i="0" u="none" strike="noStrike" kern="0" cap="none" spc="0" normalizeH="0" baseline="0" noProof="0" dirty="0">
                <a:ln>
                  <a:noFill/>
                </a:ln>
                <a:solidFill>
                  <a:srgbClr val="000000"/>
                </a:solidFill>
                <a:effectLst/>
                <a:uLnTx/>
                <a:uFillTx/>
                <a:latin typeface="Verdana"/>
              </a:rPr>
              <a:t>ou </a:t>
            </a:r>
            <a:r>
              <a:rPr kumimoji="0" lang="fr-FR" altLang="fr-FR" sz="1800" b="1" i="0" u="none" strike="noStrike" kern="0" cap="none" spc="0" normalizeH="0" baseline="0" noProof="0" dirty="0">
                <a:ln>
                  <a:noFill/>
                </a:ln>
                <a:solidFill>
                  <a:srgbClr val="000000"/>
                </a:solidFill>
                <a:effectLst/>
                <a:uLnTx/>
                <a:uFillTx/>
                <a:latin typeface="Verdana"/>
              </a:rPr>
              <a:t>négatif:  variable atomique (l ou </a:t>
            </a:r>
            <a:r>
              <a:rPr kumimoji="0" lang="fr-FR" altLang="fr-FR" sz="1800" b="1" i="0" u="none" strike="noStrike" kern="0" cap="none" spc="0" normalizeH="0" baseline="0" noProof="0" dirty="0">
                <a:ln>
                  <a:noFill/>
                </a:ln>
                <a:solidFill>
                  <a:srgbClr val="000000"/>
                </a:solidFill>
                <a:effectLst/>
                <a:uLnTx/>
                <a:uFillTx/>
                <a:latin typeface="Verdana"/>
                <a:sym typeface="Symbol" panose="05050102010706020507" pitchFamily="18" charset="2"/>
              </a:rPr>
              <a:t></a:t>
            </a:r>
            <a:r>
              <a:rPr kumimoji="0" lang="fr-FR" altLang="fr-FR" sz="1800" b="1" i="1" u="none" strike="noStrike" kern="0" cap="none" spc="0" normalizeH="0" baseline="0" noProof="0" dirty="0">
                <a:ln>
                  <a:noFill/>
                </a:ln>
                <a:solidFill>
                  <a:srgbClr val="000000"/>
                </a:solidFill>
                <a:effectLst/>
                <a:uLnTx/>
                <a:uFillTx/>
                <a:latin typeface="Verdana"/>
              </a:rPr>
              <a:t>l)</a:t>
            </a:r>
            <a:endParaRPr kumimoji="0" lang="fr-FR" altLang="fr-FR" sz="1800" b="1" i="0" u="none" strike="noStrike" kern="0" cap="none" spc="0" normalizeH="0" baseline="0" noProof="0" dirty="0">
              <a:ln>
                <a:noFill/>
              </a:ln>
              <a:solidFill>
                <a:srgbClr val="000000"/>
              </a:solidFill>
              <a:effectLst/>
              <a:uLnTx/>
              <a:uFillTx/>
              <a:latin typeface="Verdana"/>
            </a:endParaRPr>
          </a:p>
          <a:p>
            <a:pPr marL="1039813" marR="0" lvl="2" indent="-207963" algn="l" defTabSz="831850" rtl="0" eaLnBrk="0" fontAlgn="base" latinLnBrk="0" hangingPunct="0">
              <a:lnSpc>
                <a:spcPct val="100000"/>
              </a:lnSpc>
              <a:spcBef>
                <a:spcPct val="20000"/>
              </a:spcBef>
              <a:spcAft>
                <a:spcPct val="0"/>
              </a:spcAft>
              <a:buClr>
                <a:srgbClr val="000000"/>
              </a:buClr>
              <a:buSzPct val="100000"/>
              <a:buFontTx/>
              <a:buChar char="–"/>
              <a:tabLst/>
              <a:defRPr/>
            </a:pPr>
            <a:r>
              <a:rPr kumimoji="0" lang="fr-FR" altLang="fr-FR" sz="1800" b="0" i="0" u="none" strike="noStrike" kern="0" cap="none" spc="0" normalizeH="0" baseline="0" noProof="0" dirty="0">
                <a:ln>
                  <a:noFill/>
                </a:ln>
                <a:solidFill>
                  <a:srgbClr val="000000"/>
                </a:solidFill>
                <a:effectLst/>
                <a:uLnTx/>
                <a:uFillTx/>
                <a:latin typeface="Verdana"/>
              </a:rPr>
              <a:t>une </a:t>
            </a:r>
            <a:r>
              <a:rPr kumimoji="0" lang="fr-FR" altLang="fr-FR" sz="1800" b="1" i="0" u="none" strike="noStrike" kern="0" cap="none" spc="0" normalizeH="0" baseline="0" noProof="0" dirty="0">
                <a:ln>
                  <a:noFill/>
                </a:ln>
                <a:solidFill>
                  <a:srgbClr val="000000"/>
                </a:solidFill>
                <a:effectLst/>
                <a:uLnTx/>
                <a:uFillTx/>
                <a:latin typeface="Verdana"/>
              </a:rPr>
              <a:t>clause</a:t>
            </a:r>
            <a:r>
              <a:rPr kumimoji="0" lang="fr-FR" altLang="fr-FR" sz="1800" b="0" i="0" u="none" strike="noStrike" kern="0" cap="none" spc="0" normalizeH="0" baseline="0" noProof="0" dirty="0">
                <a:ln>
                  <a:noFill/>
                </a:ln>
                <a:solidFill>
                  <a:srgbClr val="000000"/>
                </a:solidFill>
                <a:effectLst/>
                <a:uLnTx/>
                <a:uFillTx/>
                <a:latin typeface="Verdana"/>
              </a:rPr>
              <a:t> est une disjonction de littéraux (l</a:t>
            </a:r>
            <a:r>
              <a:rPr kumimoji="0" lang="fr-FR" altLang="fr-FR" sz="1800" b="0" i="0" u="none" strike="noStrike" kern="0" cap="none" spc="0" normalizeH="0" baseline="-25000" noProof="0" dirty="0">
                <a:ln>
                  <a:noFill/>
                </a:ln>
                <a:solidFill>
                  <a:srgbClr val="000000"/>
                </a:solidFill>
                <a:effectLst/>
                <a:uLnTx/>
                <a:uFillTx/>
                <a:latin typeface="Verdana"/>
              </a:rPr>
              <a:t>1</a:t>
            </a:r>
            <a:r>
              <a:rPr kumimoji="0" lang="fr-FR" altLang="fr-FR" sz="1800" b="0" i="0" u="none" strike="noStrike" kern="0" cap="none" spc="0" normalizeH="0" baseline="0" noProof="0" dirty="0">
                <a:ln>
                  <a:noFill/>
                </a:ln>
                <a:solidFill>
                  <a:srgbClr val="000000"/>
                </a:solidFill>
                <a:effectLst/>
                <a:uLnTx/>
                <a:uFillTx/>
                <a:latin typeface="Verdana"/>
              </a:rPr>
              <a:t> </a:t>
            </a:r>
            <a:r>
              <a:rPr kumimoji="0" lang="fr-FR" altLang="fr-FR" sz="1800" b="0" i="1"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1800" b="0" i="0" u="none" strike="noStrike" kern="0" cap="none" spc="0" normalizeH="0" baseline="0" noProof="0" dirty="0">
                <a:ln>
                  <a:noFill/>
                </a:ln>
                <a:solidFill>
                  <a:srgbClr val="000000"/>
                </a:solidFill>
                <a:effectLst/>
                <a:uLnTx/>
                <a:uFillTx/>
                <a:latin typeface="Verdana"/>
              </a:rPr>
              <a:t>l</a:t>
            </a:r>
            <a:r>
              <a:rPr kumimoji="0" lang="fr-FR" altLang="fr-FR" sz="1800" b="0" i="0" u="none" strike="noStrike" kern="0" cap="none" spc="0" normalizeH="0" baseline="-25000" noProof="0" dirty="0">
                <a:ln>
                  <a:noFill/>
                </a:ln>
                <a:solidFill>
                  <a:srgbClr val="000000"/>
                </a:solidFill>
                <a:effectLst/>
                <a:uLnTx/>
                <a:uFillTx/>
                <a:latin typeface="Verdana"/>
              </a:rPr>
              <a:t>2</a:t>
            </a:r>
            <a:r>
              <a:rPr kumimoji="0" lang="fr-FR" altLang="fr-FR" sz="1800" b="0" i="0" u="none" strike="noStrike" kern="0" cap="none" spc="0" normalizeH="0" baseline="0" noProof="0" dirty="0">
                <a:ln>
                  <a:noFill/>
                </a:ln>
                <a:solidFill>
                  <a:srgbClr val="000000"/>
                </a:solidFill>
                <a:effectLst/>
                <a:uLnTx/>
                <a:uFillTx/>
                <a:latin typeface="Verdana"/>
              </a:rPr>
              <a:t> </a:t>
            </a:r>
            <a:r>
              <a:rPr kumimoji="0" lang="fr-FR" altLang="fr-FR" sz="1800" b="0" i="1"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1800" b="0" i="0" u="none" strike="noStrike" kern="0" cap="none" spc="0" normalizeH="0" baseline="0" noProof="0" dirty="0">
                <a:ln>
                  <a:noFill/>
                </a:ln>
                <a:solidFill>
                  <a:srgbClr val="000000"/>
                </a:solidFill>
                <a:effectLst/>
                <a:uLnTx/>
                <a:uFillTx/>
                <a:latin typeface="Verdana"/>
              </a:rPr>
              <a:t>l</a:t>
            </a:r>
            <a:r>
              <a:rPr kumimoji="0" lang="fr-FR" altLang="fr-FR" sz="1800" b="0" i="0" u="none" strike="noStrike" kern="0" cap="none" spc="0" normalizeH="0" baseline="-25000" noProof="0" dirty="0">
                <a:ln>
                  <a:noFill/>
                </a:ln>
                <a:solidFill>
                  <a:srgbClr val="000000"/>
                </a:solidFill>
                <a:effectLst/>
                <a:uLnTx/>
                <a:uFillTx/>
                <a:latin typeface="Verdana"/>
              </a:rPr>
              <a:t>3</a:t>
            </a:r>
            <a:r>
              <a:rPr kumimoji="0" lang="fr-FR" altLang="fr-FR" sz="1800" b="0" i="1" u="none" strike="noStrike" kern="0" cap="none" spc="0" normalizeH="0" baseline="0" noProof="0" dirty="0">
                <a:ln>
                  <a:noFill/>
                </a:ln>
                <a:solidFill>
                  <a:srgbClr val="000000"/>
                </a:solidFill>
                <a:effectLst/>
                <a:uLnTx/>
                <a:uFillTx/>
                <a:latin typeface="Verdana"/>
                <a:sym typeface="Symbol" panose="05050102010706020507" pitchFamily="18" charset="2"/>
              </a:rPr>
              <a:t></a:t>
            </a:r>
            <a:r>
              <a:rPr kumimoji="0" lang="fr-FR" altLang="fr-FR" sz="1800" b="0" i="0" u="none" strike="noStrike" kern="0" cap="none" spc="0" normalizeH="0" baseline="0" noProof="0" dirty="0">
                <a:ln>
                  <a:noFill/>
                </a:ln>
                <a:solidFill>
                  <a:srgbClr val="000000"/>
                </a:solidFill>
                <a:effectLst/>
                <a:uLnTx/>
                <a:uFillTx/>
                <a:latin typeface="Verdana"/>
              </a:rPr>
              <a:t> …</a:t>
            </a:r>
            <a:r>
              <a:rPr kumimoji="0" lang="fr-FR" altLang="fr-FR" sz="1800" b="0" i="1"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1800" b="0" i="0" u="none" strike="noStrike" kern="0" cap="none" spc="0" normalizeH="0" baseline="0" noProof="0" dirty="0">
                <a:ln>
                  <a:noFill/>
                </a:ln>
                <a:solidFill>
                  <a:srgbClr val="000000"/>
                </a:solidFill>
                <a:effectLst/>
                <a:uLnTx/>
                <a:uFillTx/>
                <a:latin typeface="Verdana"/>
              </a:rPr>
              <a:t>l</a:t>
            </a:r>
            <a:r>
              <a:rPr kumimoji="0" lang="fr-FR" altLang="fr-FR" sz="1800" b="0" i="0" u="none" strike="noStrike" kern="0" cap="none" spc="0" normalizeH="0" baseline="-25000" noProof="0" dirty="0">
                <a:ln>
                  <a:noFill/>
                </a:ln>
                <a:solidFill>
                  <a:srgbClr val="000000"/>
                </a:solidFill>
                <a:effectLst/>
                <a:uLnTx/>
                <a:uFillTx/>
                <a:latin typeface="Verdana"/>
              </a:rPr>
              <a:t>n</a:t>
            </a:r>
            <a:r>
              <a:rPr kumimoji="0" lang="fr-FR" altLang="fr-FR" sz="1800" b="0" i="0" u="none" strike="noStrike" kern="0" cap="none" spc="0" normalizeH="0" baseline="0" noProof="0" dirty="0">
                <a:ln>
                  <a:noFill/>
                </a:ln>
                <a:solidFill>
                  <a:srgbClr val="000000"/>
                </a:solidFill>
                <a:effectLst/>
                <a:uLnTx/>
                <a:uFillTx/>
                <a:latin typeface="Verdana"/>
              </a:rPr>
              <a:t>)</a:t>
            </a:r>
            <a:endParaRPr kumimoji="0" lang="fr-FR" altLang="fr-FR" sz="1800" b="0" i="0" u="none" strike="noStrike" kern="0" cap="none" spc="0" normalizeH="0" baseline="-25000" noProof="0" dirty="0">
              <a:ln>
                <a:noFill/>
              </a:ln>
              <a:solidFill>
                <a:srgbClr val="000000"/>
              </a:solidFill>
              <a:effectLst/>
              <a:uLnTx/>
              <a:uFillTx/>
              <a:latin typeface="Verdana"/>
            </a:endParaRPr>
          </a:p>
          <a:p>
            <a:pPr marL="1039813" marR="0" lvl="2" indent="-207963" algn="l" defTabSz="831850" rtl="0" eaLnBrk="0" fontAlgn="base" latinLnBrk="0" hangingPunct="0">
              <a:lnSpc>
                <a:spcPct val="100000"/>
              </a:lnSpc>
              <a:spcBef>
                <a:spcPct val="20000"/>
              </a:spcBef>
              <a:spcAft>
                <a:spcPct val="0"/>
              </a:spcAft>
              <a:buClr>
                <a:srgbClr val="000000"/>
              </a:buClr>
              <a:buSzPct val="100000"/>
              <a:buFontTx/>
              <a:buChar char="–"/>
              <a:tabLst/>
              <a:defRPr/>
            </a:pPr>
            <a:r>
              <a:rPr kumimoji="0" lang="fr-FR" altLang="fr-FR" sz="1800" b="0" i="0" u="none" strike="noStrike" kern="0" cap="none" spc="0" normalizeH="0" baseline="0" noProof="0" dirty="0">
                <a:ln>
                  <a:noFill/>
                </a:ln>
                <a:solidFill>
                  <a:srgbClr val="000000"/>
                </a:solidFill>
                <a:effectLst/>
                <a:uLnTx/>
                <a:uFillTx/>
                <a:latin typeface="Verdana"/>
              </a:rPr>
              <a:t>la </a:t>
            </a:r>
            <a:r>
              <a:rPr kumimoji="0" lang="fr-FR" altLang="fr-FR" sz="1800" b="1" i="0" u="none" strike="noStrike" kern="0" cap="none" spc="0" normalizeH="0" baseline="0" noProof="0" dirty="0">
                <a:ln>
                  <a:noFill/>
                </a:ln>
                <a:solidFill>
                  <a:srgbClr val="000000"/>
                </a:solidFill>
                <a:effectLst/>
                <a:uLnTx/>
                <a:uFillTx/>
                <a:latin typeface="Verdana"/>
              </a:rPr>
              <a:t>résolvante </a:t>
            </a:r>
            <a:r>
              <a:rPr kumimoji="0" lang="fr-FR" altLang="fr-FR" sz="1800" b="0" i="0" u="none" strike="noStrike" kern="0" cap="none" spc="0" normalizeH="0" baseline="0" noProof="0" dirty="0">
                <a:ln>
                  <a:noFill/>
                </a:ln>
                <a:solidFill>
                  <a:srgbClr val="000000"/>
                </a:solidFill>
                <a:effectLst/>
                <a:uLnTx/>
                <a:uFillTx/>
                <a:latin typeface="Verdana"/>
              </a:rPr>
              <a:t>de </a:t>
            </a:r>
            <a:r>
              <a:rPr kumimoji="0" lang="fr-FR" altLang="fr-FR" sz="1800" b="0" i="1" u="none" strike="noStrike" kern="0" cap="none" spc="0" normalizeH="0" baseline="0" noProof="0" dirty="0">
                <a:ln>
                  <a:noFill/>
                </a:ln>
                <a:solidFill>
                  <a:srgbClr val="000000"/>
                </a:solidFill>
                <a:effectLst/>
                <a:uLnTx/>
                <a:uFillTx/>
                <a:latin typeface="Verdana"/>
              </a:rPr>
              <a:t>C</a:t>
            </a:r>
            <a:r>
              <a:rPr kumimoji="0" lang="fr-FR" altLang="fr-FR" sz="1800" b="0" i="1" u="none" strike="noStrike" kern="0" cap="none" spc="0" normalizeH="0" baseline="-25000" noProof="0" dirty="0">
                <a:ln>
                  <a:noFill/>
                </a:ln>
                <a:solidFill>
                  <a:srgbClr val="000000"/>
                </a:solidFill>
                <a:effectLst/>
                <a:uLnTx/>
                <a:uFillTx/>
                <a:latin typeface="Verdana"/>
              </a:rPr>
              <a:t>1</a:t>
            </a:r>
            <a:r>
              <a:rPr kumimoji="0" lang="fr-FR" altLang="fr-FR" sz="1800" b="0" i="0" u="none" strike="noStrike" kern="0" cap="none" spc="0" normalizeH="0" baseline="0" noProof="0" dirty="0">
                <a:ln>
                  <a:noFill/>
                </a:ln>
                <a:solidFill>
                  <a:srgbClr val="000000"/>
                </a:solidFill>
                <a:effectLst/>
                <a:uLnTx/>
                <a:uFillTx/>
                <a:latin typeface="Verdana"/>
              </a:rPr>
              <a:t> = </a:t>
            </a:r>
            <a:r>
              <a:rPr kumimoji="0" lang="fr-FR" altLang="fr-FR" sz="1800" b="0" i="1" u="none" strike="noStrike" kern="0" cap="none" spc="0" normalizeH="0" baseline="0" noProof="0" dirty="0">
                <a:ln>
                  <a:noFill/>
                </a:ln>
                <a:solidFill>
                  <a:srgbClr val="000000"/>
                </a:solidFill>
                <a:effectLst/>
                <a:uLnTx/>
                <a:uFillTx/>
                <a:latin typeface="Verdana"/>
              </a:rPr>
              <a:t>l </a:t>
            </a:r>
            <a:r>
              <a:rPr kumimoji="0" lang="fr-FR" altLang="fr-FR" sz="1800" b="0" i="1"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1800" b="0" i="1" u="none" strike="noStrike" kern="0" cap="none" spc="0" normalizeH="0" baseline="0" noProof="0" dirty="0">
                <a:ln>
                  <a:noFill/>
                </a:ln>
                <a:solidFill>
                  <a:srgbClr val="000000"/>
                </a:solidFill>
                <a:effectLst/>
                <a:uLnTx/>
                <a:uFillTx/>
                <a:latin typeface="Verdana"/>
              </a:rPr>
              <a:t>C’</a:t>
            </a:r>
            <a:r>
              <a:rPr kumimoji="0" lang="fr-FR" altLang="fr-FR" sz="1800" b="0" i="1" u="none" strike="noStrike" kern="0" cap="none" spc="0" normalizeH="0" baseline="-25000" noProof="0" dirty="0">
                <a:ln>
                  <a:noFill/>
                </a:ln>
                <a:solidFill>
                  <a:srgbClr val="000000"/>
                </a:solidFill>
                <a:effectLst/>
                <a:uLnTx/>
                <a:uFillTx/>
                <a:latin typeface="Verdana"/>
              </a:rPr>
              <a:t>1</a:t>
            </a:r>
            <a:r>
              <a:rPr kumimoji="0" lang="fr-FR" altLang="fr-FR" sz="1800" b="0" i="1"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1800" b="0" i="0" u="none" strike="noStrike" kern="0" cap="none" spc="0" normalizeH="0" baseline="0" noProof="0" dirty="0">
                <a:ln>
                  <a:noFill/>
                </a:ln>
                <a:solidFill>
                  <a:srgbClr val="000000"/>
                </a:solidFill>
                <a:effectLst/>
                <a:uLnTx/>
                <a:uFillTx/>
                <a:latin typeface="Verdana"/>
                <a:sym typeface="Symbol" panose="05050102010706020507" pitchFamily="18" charset="2"/>
              </a:rPr>
              <a:t>et de </a:t>
            </a:r>
            <a:r>
              <a:rPr kumimoji="0" lang="fr-FR" altLang="fr-FR" sz="1800" b="0" i="1" u="none" strike="noStrike" kern="0" cap="none" spc="0" normalizeH="0" baseline="0" noProof="0" dirty="0">
                <a:ln>
                  <a:noFill/>
                </a:ln>
                <a:solidFill>
                  <a:srgbClr val="000000"/>
                </a:solidFill>
                <a:effectLst/>
                <a:uLnTx/>
                <a:uFillTx/>
                <a:latin typeface="Verdana"/>
              </a:rPr>
              <a:t>C</a:t>
            </a:r>
            <a:r>
              <a:rPr kumimoji="0" lang="fr-FR" altLang="fr-FR" sz="1800" b="0" i="1" u="none" strike="noStrike" kern="0" cap="none" spc="0" normalizeH="0" baseline="-25000" noProof="0" dirty="0">
                <a:ln>
                  <a:noFill/>
                </a:ln>
                <a:solidFill>
                  <a:srgbClr val="000000"/>
                </a:solidFill>
                <a:effectLst/>
                <a:uLnTx/>
                <a:uFillTx/>
                <a:latin typeface="Verdana"/>
              </a:rPr>
              <a:t>2</a:t>
            </a:r>
            <a:r>
              <a:rPr kumimoji="0" lang="fr-FR" altLang="fr-FR" sz="1800" b="0" i="0" u="none" strike="noStrike" kern="0" cap="none" spc="0" normalizeH="0" baseline="0" noProof="0" dirty="0">
                <a:ln>
                  <a:noFill/>
                </a:ln>
                <a:solidFill>
                  <a:srgbClr val="000000"/>
                </a:solidFill>
                <a:effectLst/>
                <a:uLnTx/>
                <a:uFillTx/>
                <a:latin typeface="Verdana"/>
              </a:rPr>
              <a:t> = </a:t>
            </a:r>
            <a:r>
              <a:rPr kumimoji="0" lang="fr-FR" altLang="fr-FR" sz="1800" b="0" i="0" u="none" strike="noStrike" kern="0" cap="none" spc="0" normalizeH="0" baseline="0" noProof="0" dirty="0">
                <a:ln>
                  <a:noFill/>
                </a:ln>
                <a:solidFill>
                  <a:srgbClr val="000000"/>
                </a:solidFill>
                <a:effectLst/>
                <a:uLnTx/>
                <a:uFillTx/>
                <a:latin typeface="Verdana"/>
                <a:sym typeface="Symbol" panose="05050102010706020507" pitchFamily="18" charset="2"/>
              </a:rPr>
              <a:t></a:t>
            </a:r>
            <a:r>
              <a:rPr kumimoji="0" lang="fr-FR" altLang="fr-FR" sz="1800" b="0" i="1" u="none" strike="noStrike" kern="0" cap="none" spc="0" normalizeH="0" baseline="0" noProof="0" dirty="0">
                <a:ln>
                  <a:noFill/>
                </a:ln>
                <a:solidFill>
                  <a:srgbClr val="000000"/>
                </a:solidFill>
                <a:effectLst/>
                <a:uLnTx/>
                <a:uFillTx/>
                <a:latin typeface="Verdana"/>
              </a:rPr>
              <a:t>l </a:t>
            </a:r>
            <a:r>
              <a:rPr kumimoji="0" lang="fr-FR" altLang="fr-FR" sz="1800" b="0" i="1"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1800" b="0" i="1" u="none" strike="noStrike" kern="0" cap="none" spc="0" normalizeH="0" baseline="0" noProof="0" dirty="0">
                <a:ln>
                  <a:noFill/>
                </a:ln>
                <a:solidFill>
                  <a:srgbClr val="000000"/>
                </a:solidFill>
                <a:effectLst/>
                <a:uLnTx/>
                <a:uFillTx/>
                <a:latin typeface="Verdana"/>
              </a:rPr>
              <a:t>C’</a:t>
            </a:r>
            <a:r>
              <a:rPr kumimoji="0" lang="fr-FR" altLang="fr-FR" sz="1800" b="0" i="1" u="none" strike="noStrike" kern="0" cap="none" spc="0" normalizeH="0" baseline="-25000" noProof="0" dirty="0">
                <a:ln>
                  <a:noFill/>
                </a:ln>
                <a:solidFill>
                  <a:srgbClr val="000000"/>
                </a:solidFill>
                <a:effectLst/>
                <a:uLnTx/>
                <a:uFillTx/>
                <a:latin typeface="Verdana"/>
              </a:rPr>
              <a:t>2</a:t>
            </a:r>
            <a:r>
              <a:rPr kumimoji="0" lang="fr-FR" altLang="fr-FR" sz="1800" b="0" i="0" u="none" strike="noStrike" kern="0" cap="none" spc="0" normalizeH="0" baseline="0" noProof="0" dirty="0">
                <a:ln>
                  <a:noFill/>
                </a:ln>
                <a:solidFill>
                  <a:srgbClr val="000000"/>
                </a:solidFill>
                <a:effectLst/>
                <a:uLnTx/>
                <a:uFillTx/>
                <a:latin typeface="Verdana"/>
                <a:sym typeface="Symbol" panose="05050102010706020507" pitchFamily="18" charset="2"/>
              </a:rPr>
              <a:t> est</a:t>
            </a:r>
            <a:br>
              <a:rPr kumimoji="0" lang="fr-FR" altLang="fr-FR" sz="1800" b="0" i="0" u="none" strike="noStrike" kern="0" cap="none" spc="0" normalizeH="0" baseline="0" noProof="0" dirty="0">
                <a:ln>
                  <a:noFill/>
                </a:ln>
                <a:solidFill>
                  <a:srgbClr val="000000"/>
                </a:solidFill>
                <a:effectLst/>
                <a:uLnTx/>
                <a:uFillTx/>
                <a:latin typeface="Verdana"/>
                <a:sym typeface="Symbol" panose="05050102010706020507" pitchFamily="18" charset="2"/>
              </a:rPr>
            </a:br>
            <a:r>
              <a:rPr kumimoji="0" lang="fr-FR" altLang="fr-FR" sz="1800" b="0" i="0" u="none" strike="noStrike" kern="0" cap="none" spc="0" normalizeH="0" baseline="0" noProof="0" dirty="0">
                <a:ln>
                  <a:noFill/>
                </a:ln>
                <a:solidFill>
                  <a:srgbClr val="000000"/>
                </a:solidFill>
                <a:effectLst/>
                <a:uLnTx/>
                <a:uFillTx/>
                <a:latin typeface="Verdana"/>
                <a:sym typeface="Symbol" panose="05050102010706020507" pitchFamily="18" charset="2"/>
              </a:rPr>
              <a:t/>
            </a:r>
            <a:br>
              <a:rPr kumimoji="0" lang="fr-FR" altLang="fr-FR" sz="1800" b="0" i="0" u="none" strike="noStrike" kern="0" cap="none" spc="0" normalizeH="0" baseline="0" noProof="0" dirty="0">
                <a:ln>
                  <a:noFill/>
                </a:ln>
                <a:solidFill>
                  <a:srgbClr val="000000"/>
                </a:solidFill>
                <a:effectLst/>
                <a:uLnTx/>
                <a:uFillTx/>
                <a:latin typeface="Verdana"/>
                <a:sym typeface="Symbol" panose="05050102010706020507" pitchFamily="18" charset="2"/>
              </a:rPr>
            </a:br>
            <a:r>
              <a:rPr kumimoji="0" lang="fr-FR" altLang="fr-FR" sz="1800" b="0" i="0"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1800" b="0" i="1" u="none" strike="noStrike" kern="0" cap="none" spc="0" normalizeH="0" baseline="0" noProof="0" dirty="0">
                <a:ln>
                  <a:noFill/>
                </a:ln>
                <a:solidFill>
                  <a:srgbClr val="000000"/>
                </a:solidFill>
                <a:effectLst/>
                <a:uLnTx/>
                <a:uFillTx/>
                <a:latin typeface="Verdana"/>
              </a:rPr>
              <a:t>C’</a:t>
            </a:r>
            <a:r>
              <a:rPr kumimoji="0" lang="fr-FR" altLang="fr-FR" sz="1800" b="0" i="1" u="none" strike="noStrike" kern="0" cap="none" spc="0" normalizeH="0" baseline="-25000" noProof="0" dirty="0">
                <a:ln>
                  <a:noFill/>
                </a:ln>
                <a:solidFill>
                  <a:srgbClr val="000000"/>
                </a:solidFill>
                <a:effectLst/>
                <a:uLnTx/>
                <a:uFillTx/>
                <a:latin typeface="Verdana"/>
              </a:rPr>
              <a:t>1</a:t>
            </a:r>
            <a:r>
              <a:rPr kumimoji="0" lang="fr-FR" altLang="fr-FR" sz="1800" b="0" i="0"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1800" b="0" i="1"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1800" b="0" i="1" u="none" strike="noStrike" kern="0" cap="none" spc="0" normalizeH="0" baseline="0" noProof="0" dirty="0">
                <a:ln>
                  <a:noFill/>
                </a:ln>
                <a:solidFill>
                  <a:srgbClr val="000000"/>
                </a:solidFill>
                <a:effectLst/>
                <a:uLnTx/>
                <a:uFillTx/>
                <a:latin typeface="Verdana"/>
              </a:rPr>
              <a:t>C’</a:t>
            </a:r>
            <a:r>
              <a:rPr kumimoji="0" lang="fr-FR" altLang="fr-FR" sz="1800" b="0" i="1" u="none" strike="noStrike" kern="0" cap="none" spc="0" normalizeH="0" baseline="-25000" noProof="0" dirty="0">
                <a:ln>
                  <a:noFill/>
                </a:ln>
                <a:solidFill>
                  <a:srgbClr val="000000"/>
                </a:solidFill>
                <a:effectLst/>
                <a:uLnTx/>
                <a:uFillTx/>
                <a:latin typeface="Verdana"/>
              </a:rPr>
              <a:t>2</a:t>
            </a:r>
          </a:p>
          <a:p>
            <a:pPr marL="676275" marR="0" lvl="1" indent="-249238" algn="l" defTabSz="831850" rtl="0" eaLnBrk="0" fontAlgn="base" latinLnBrk="0" hangingPunct="0">
              <a:lnSpc>
                <a:spcPct val="100000"/>
              </a:lnSpc>
              <a:spcBef>
                <a:spcPct val="20000"/>
              </a:spcBef>
              <a:spcAft>
                <a:spcPct val="0"/>
              </a:spcAft>
              <a:buClr>
                <a:srgbClr val="000000"/>
              </a:buClr>
              <a:buSzPct val="75000"/>
              <a:buFont typeface="Monotype Sorts"/>
              <a:buChar char="l"/>
              <a:tabLst/>
              <a:defRPr/>
            </a:pPr>
            <a:endParaRPr kumimoji="0" lang="fr-FR" altLang="fr-FR" sz="2000" b="0" i="1" u="none" strike="noStrike" kern="0" cap="none" spc="0" normalizeH="0" baseline="0" noProof="0" dirty="0">
              <a:ln>
                <a:noFill/>
              </a:ln>
              <a:solidFill>
                <a:srgbClr val="000000"/>
              </a:solidFill>
              <a:effectLst/>
              <a:uLnTx/>
              <a:uFillTx/>
              <a:latin typeface="Verdana"/>
              <a:sym typeface="Symbol" panose="05050102010706020507" pitchFamily="18" charset="2"/>
            </a:endParaRPr>
          </a:p>
          <a:p>
            <a:pPr marR="0" lvl="1" algn="l" defTabSz="831850" rtl="0" eaLnBrk="0" fontAlgn="base" latinLnBrk="0" hangingPunct="0">
              <a:lnSpc>
                <a:spcPct val="100000"/>
              </a:lnSpc>
              <a:spcBef>
                <a:spcPct val="20000"/>
              </a:spcBef>
              <a:spcAft>
                <a:spcPct val="0"/>
              </a:spcAft>
              <a:buClr>
                <a:srgbClr val="000000"/>
              </a:buClr>
              <a:buSzPct val="75000"/>
              <a:buFont typeface="Wingdings" panose="05000000000000000000" pitchFamily="2" charset="2"/>
              <a:buChar char="q"/>
              <a:tabLst/>
              <a:defRPr/>
            </a:pPr>
            <a:r>
              <a:rPr kumimoji="0" lang="fr-FR" altLang="fr-FR" sz="2000" b="0" i="1" u="none" strike="noStrike" kern="0" cap="none" spc="0" normalizeH="0" baseline="0" noProof="0" dirty="0">
                <a:ln>
                  <a:noFill/>
                </a:ln>
                <a:solidFill>
                  <a:srgbClr val="000000"/>
                </a:solidFill>
                <a:effectLst/>
                <a:uLnTx/>
                <a:uFillTx/>
                <a:latin typeface="Verdana"/>
                <a:sym typeface="Symbol" panose="05050102010706020507" pitchFamily="18" charset="2"/>
              </a:rPr>
              <a:t>Principe de résolution</a:t>
            </a:r>
            <a:br>
              <a:rPr kumimoji="0" lang="fr-FR" altLang="fr-FR" sz="2000" b="0" i="1" u="none" strike="noStrike" kern="0" cap="none" spc="0" normalizeH="0" baseline="0" noProof="0" dirty="0">
                <a:ln>
                  <a:noFill/>
                </a:ln>
                <a:solidFill>
                  <a:srgbClr val="000000"/>
                </a:solidFill>
                <a:effectLst/>
                <a:uLnTx/>
                <a:uFillTx/>
                <a:latin typeface="Verdana"/>
                <a:sym typeface="Symbol" panose="05050102010706020507" pitchFamily="18" charset="2"/>
              </a:rPr>
            </a:br>
            <a:r>
              <a:rPr kumimoji="0" lang="fr-FR" altLang="fr-FR" sz="2000" b="0" i="1" u="none" strike="noStrike" kern="0" cap="none" spc="0" normalizeH="0" baseline="0" noProof="0" dirty="0">
                <a:ln>
                  <a:noFill/>
                </a:ln>
                <a:solidFill>
                  <a:srgbClr val="000000"/>
                </a:solidFill>
                <a:effectLst/>
                <a:uLnTx/>
                <a:uFillTx/>
                <a:latin typeface="Verdana"/>
                <a:sym typeface="Symbol" panose="05050102010706020507" pitchFamily="18" charset="2"/>
              </a:rPr>
              <a:t/>
            </a:r>
            <a:br>
              <a:rPr kumimoji="0" lang="fr-FR" altLang="fr-FR" sz="2000" b="0" i="1" u="none" strike="noStrike" kern="0" cap="none" spc="0" normalizeH="0" baseline="0" noProof="0" dirty="0">
                <a:ln>
                  <a:noFill/>
                </a:ln>
                <a:solidFill>
                  <a:srgbClr val="000000"/>
                </a:solidFill>
                <a:effectLst/>
                <a:uLnTx/>
                <a:uFillTx/>
                <a:latin typeface="Verdana"/>
                <a:sym typeface="Symbol" panose="05050102010706020507" pitchFamily="18" charset="2"/>
              </a:rPr>
            </a:br>
            <a:r>
              <a:rPr kumimoji="0" lang="fr-FR" altLang="fr-FR" sz="2000" b="0" i="1"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2000" b="0" i="1" u="none" strike="noStrike" kern="0" cap="none" spc="0" normalizeH="0" baseline="0" noProof="0" dirty="0">
                <a:ln>
                  <a:noFill/>
                </a:ln>
                <a:solidFill>
                  <a:srgbClr val="000000"/>
                </a:solidFill>
                <a:effectLst/>
                <a:uLnTx/>
                <a:uFillTx/>
                <a:latin typeface="Verdana"/>
              </a:rPr>
              <a:t>l </a:t>
            </a:r>
            <a:r>
              <a:rPr kumimoji="0" lang="fr-FR" altLang="fr-FR" sz="2000" b="0" i="1"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2000" b="0" i="1" u="none" strike="noStrike" kern="0" cap="none" spc="0" normalizeH="0" baseline="0" noProof="0" dirty="0">
                <a:ln>
                  <a:noFill/>
                </a:ln>
                <a:solidFill>
                  <a:srgbClr val="000000"/>
                </a:solidFill>
                <a:effectLst/>
                <a:uLnTx/>
                <a:uFillTx/>
                <a:latin typeface="Verdana"/>
              </a:rPr>
              <a:t>C’</a:t>
            </a:r>
            <a:r>
              <a:rPr kumimoji="0" lang="fr-FR" altLang="fr-FR" sz="2000" b="0" i="1" u="none" strike="noStrike" kern="0" cap="none" spc="0" normalizeH="0" baseline="-25000" noProof="0" dirty="0">
                <a:ln>
                  <a:noFill/>
                </a:ln>
                <a:solidFill>
                  <a:srgbClr val="000000"/>
                </a:solidFill>
                <a:effectLst/>
                <a:uLnTx/>
                <a:uFillTx/>
                <a:latin typeface="Verdana"/>
              </a:rPr>
              <a:t>1 </a:t>
            </a:r>
            <a:r>
              <a:rPr kumimoji="0" lang="fr-FR" altLang="fr-FR" sz="2000" b="0" i="1" u="none" strike="noStrike" kern="0" cap="none" spc="0" normalizeH="0" baseline="0" noProof="0" dirty="0">
                <a:ln>
                  <a:noFill/>
                </a:ln>
                <a:solidFill>
                  <a:srgbClr val="000000"/>
                </a:solidFill>
                <a:effectLst/>
                <a:uLnTx/>
                <a:uFillTx/>
                <a:latin typeface="Verdana"/>
              </a:rPr>
              <a:t>, </a:t>
            </a:r>
            <a:r>
              <a:rPr kumimoji="0" lang="fr-FR" altLang="fr-FR" sz="2000" b="0" i="1" u="none" strike="noStrike" kern="0" cap="none" spc="0" normalizeH="0" baseline="0" noProof="0" dirty="0">
                <a:ln>
                  <a:noFill/>
                </a:ln>
                <a:solidFill>
                  <a:srgbClr val="000000"/>
                </a:solidFill>
                <a:effectLst/>
                <a:uLnTx/>
                <a:uFillTx/>
                <a:latin typeface="Verdana"/>
                <a:sym typeface="Symbol" panose="05050102010706020507" pitchFamily="18" charset="2"/>
              </a:rPr>
              <a:t></a:t>
            </a:r>
            <a:r>
              <a:rPr kumimoji="0" lang="fr-FR" altLang="fr-FR" sz="2000" b="0" i="1" u="none" strike="noStrike" kern="0" cap="none" spc="0" normalizeH="0" baseline="0" noProof="0" dirty="0">
                <a:ln>
                  <a:noFill/>
                </a:ln>
                <a:solidFill>
                  <a:srgbClr val="000000"/>
                </a:solidFill>
                <a:effectLst/>
                <a:uLnTx/>
                <a:uFillTx/>
                <a:latin typeface="Verdana"/>
              </a:rPr>
              <a:t> l </a:t>
            </a:r>
            <a:r>
              <a:rPr kumimoji="0" lang="fr-FR" altLang="fr-FR" sz="2000" b="0" i="1"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2000" b="0" i="1" u="none" strike="noStrike" kern="0" cap="none" spc="0" normalizeH="0" baseline="0" noProof="0" dirty="0">
                <a:ln>
                  <a:noFill/>
                </a:ln>
                <a:solidFill>
                  <a:srgbClr val="000000"/>
                </a:solidFill>
                <a:effectLst/>
                <a:uLnTx/>
                <a:uFillTx/>
                <a:latin typeface="Verdana"/>
              </a:rPr>
              <a:t>C’</a:t>
            </a:r>
            <a:r>
              <a:rPr kumimoji="0" lang="fr-FR" altLang="fr-FR" sz="2000" b="0" i="1" u="none" strike="noStrike" kern="0" cap="none" spc="0" normalizeH="0" baseline="-25000" noProof="0" dirty="0">
                <a:ln>
                  <a:noFill/>
                </a:ln>
                <a:solidFill>
                  <a:srgbClr val="000000"/>
                </a:solidFill>
                <a:effectLst/>
                <a:uLnTx/>
                <a:uFillTx/>
                <a:latin typeface="Verdana"/>
              </a:rPr>
              <a:t>2</a:t>
            </a:r>
            <a:r>
              <a:rPr kumimoji="0" lang="fr-FR" altLang="fr-FR" sz="2000" b="0" i="1" u="none" strike="noStrike" kern="0" cap="none" spc="0" normalizeH="0" baseline="0" noProof="0" dirty="0">
                <a:ln>
                  <a:noFill/>
                </a:ln>
                <a:solidFill>
                  <a:srgbClr val="000000"/>
                </a:solidFill>
                <a:effectLst/>
                <a:uLnTx/>
                <a:uFillTx/>
                <a:latin typeface="Verdana"/>
                <a:sym typeface="Symbol" panose="05050102010706020507" pitchFamily="18" charset="2"/>
              </a:rPr>
              <a:t>    </a:t>
            </a:r>
            <a:r>
              <a:rPr kumimoji="0" lang="fr-FR" altLang="fr-FR" sz="2000" b="0" i="1" u="none" strike="noStrike" kern="0" cap="none" spc="0" normalizeH="0" baseline="-25000" noProof="0" dirty="0" err="1">
                <a:ln>
                  <a:noFill/>
                </a:ln>
                <a:solidFill>
                  <a:srgbClr val="000000"/>
                </a:solidFill>
                <a:effectLst/>
                <a:uLnTx/>
                <a:uFillTx/>
                <a:latin typeface="Verdana"/>
                <a:sym typeface="Symbol" panose="05050102010706020507" pitchFamily="18" charset="2"/>
              </a:rPr>
              <a:t>réso</a:t>
            </a:r>
            <a:r>
              <a:rPr kumimoji="0" lang="fr-FR" altLang="fr-FR" sz="2000" b="0" i="1" u="none" strike="noStrike" kern="0" cap="none" spc="0" normalizeH="0" baseline="-25000" noProof="0" dirty="0">
                <a:ln>
                  <a:noFill/>
                </a:ln>
                <a:solidFill>
                  <a:srgbClr val="000000"/>
                </a:solidFill>
                <a:effectLst/>
                <a:uLnTx/>
                <a:uFillTx/>
                <a:latin typeface="Verdana"/>
                <a:sym typeface="Symbol" panose="05050102010706020507" pitchFamily="18" charset="2"/>
              </a:rPr>
              <a:t>   </a:t>
            </a:r>
            <a:r>
              <a:rPr kumimoji="0" lang="fr-FR" altLang="fr-FR" sz="2000" b="0" i="1" u="none" strike="noStrike" kern="0" cap="none" spc="0" normalizeH="0" baseline="0" noProof="0" dirty="0">
                <a:ln>
                  <a:noFill/>
                </a:ln>
                <a:solidFill>
                  <a:srgbClr val="000000"/>
                </a:solidFill>
                <a:effectLst/>
                <a:uLnTx/>
                <a:uFillTx/>
                <a:latin typeface="Verdana"/>
              </a:rPr>
              <a:t>C’</a:t>
            </a:r>
            <a:r>
              <a:rPr kumimoji="0" lang="fr-FR" altLang="fr-FR" sz="2000" b="0" i="1" u="none" strike="noStrike" kern="0" cap="none" spc="0" normalizeH="0" baseline="-25000" noProof="0" dirty="0">
                <a:ln>
                  <a:noFill/>
                </a:ln>
                <a:solidFill>
                  <a:srgbClr val="000000"/>
                </a:solidFill>
                <a:effectLst/>
                <a:uLnTx/>
                <a:uFillTx/>
                <a:latin typeface="Verdana"/>
              </a:rPr>
              <a:t>1</a:t>
            </a:r>
            <a:r>
              <a:rPr kumimoji="0" lang="fr-FR" altLang="fr-FR" sz="2000" b="0" i="1" u="none" strike="noStrike" kern="0" cap="none" spc="0" normalizeH="0" baseline="0" noProof="0" dirty="0">
                <a:ln>
                  <a:noFill/>
                </a:ln>
                <a:solidFill>
                  <a:srgbClr val="000000"/>
                </a:solidFill>
                <a:effectLst/>
                <a:uLnTx/>
                <a:uFillTx/>
                <a:latin typeface="Verdana"/>
                <a:sym typeface="Symbol" panose="05050102010706020507" pitchFamily="18" charset="2"/>
              </a:rPr>
              <a:t>  </a:t>
            </a:r>
            <a:r>
              <a:rPr kumimoji="0" lang="fr-FR" altLang="fr-FR" sz="2000" b="0" i="1" u="none" strike="noStrike" kern="0" cap="none" spc="0" normalizeH="0" baseline="0" noProof="0" dirty="0">
                <a:ln>
                  <a:noFill/>
                </a:ln>
                <a:solidFill>
                  <a:srgbClr val="000000"/>
                </a:solidFill>
                <a:effectLst/>
                <a:uLnTx/>
                <a:uFillTx/>
                <a:latin typeface="Verdana"/>
              </a:rPr>
              <a:t>C’</a:t>
            </a:r>
            <a:r>
              <a:rPr kumimoji="0" lang="fr-FR" altLang="fr-FR" sz="2000" b="0" i="1" u="none" strike="noStrike" kern="0" cap="none" spc="0" normalizeH="0" baseline="-25000" noProof="0" dirty="0">
                <a:ln>
                  <a:noFill/>
                </a:ln>
                <a:solidFill>
                  <a:srgbClr val="000000"/>
                </a:solidFill>
                <a:effectLst/>
                <a:uLnTx/>
                <a:uFillTx/>
                <a:latin typeface="Verdana"/>
              </a:rPr>
              <a:t>2</a:t>
            </a:r>
            <a:endParaRPr kumimoji="0" lang="fr-FR" altLang="fr-FR" sz="2000" b="0" i="0" u="none" strike="noStrike" kern="0" cap="none" spc="0" normalizeH="0" baseline="-25000" noProof="0" dirty="0">
              <a:ln>
                <a:noFill/>
              </a:ln>
              <a:solidFill>
                <a:srgbClr val="000000"/>
              </a:solidFill>
              <a:effectLst/>
              <a:uLnTx/>
              <a:uFillTx/>
              <a:latin typeface="Verdana"/>
            </a:endParaRPr>
          </a:p>
          <a:p>
            <a:pPr marL="1039813" marR="0" lvl="2" indent="-207963" algn="l" defTabSz="831850" rtl="0" eaLnBrk="0" fontAlgn="base" latinLnBrk="0" hangingPunct="0">
              <a:lnSpc>
                <a:spcPct val="100000"/>
              </a:lnSpc>
              <a:spcBef>
                <a:spcPct val="20000"/>
              </a:spcBef>
              <a:spcAft>
                <a:spcPct val="0"/>
              </a:spcAft>
              <a:buClr>
                <a:srgbClr val="000000"/>
              </a:buClr>
              <a:buSzPct val="100000"/>
              <a:buFontTx/>
              <a:buChar char="–"/>
              <a:tabLst/>
              <a:defRPr/>
            </a:pPr>
            <a:endParaRPr kumimoji="0" lang="fr-FR" altLang="fr-FR" sz="1800" b="0" i="1" u="none" strike="noStrike" kern="0" cap="none" spc="0" normalizeH="0" baseline="0" noProof="0" dirty="0">
              <a:ln>
                <a:noFill/>
              </a:ln>
              <a:solidFill>
                <a:srgbClr val="000000"/>
              </a:solidFill>
              <a:effectLst/>
              <a:uLnTx/>
              <a:uFillTx/>
              <a:latin typeface="Verdana"/>
            </a:endParaRPr>
          </a:p>
          <a:p>
            <a:pPr marL="1039813" marR="0" lvl="2" indent="-207963" algn="l" defTabSz="831850" rtl="0" eaLnBrk="0" fontAlgn="base" latinLnBrk="0" hangingPunct="0">
              <a:lnSpc>
                <a:spcPct val="100000"/>
              </a:lnSpc>
              <a:spcBef>
                <a:spcPct val="20000"/>
              </a:spcBef>
              <a:spcAft>
                <a:spcPct val="0"/>
              </a:spcAft>
              <a:buClr>
                <a:srgbClr val="000000"/>
              </a:buClr>
              <a:buSzPct val="100000"/>
              <a:buFontTx/>
              <a:buChar char="–"/>
              <a:tabLst/>
              <a:defRPr/>
            </a:pPr>
            <a:r>
              <a:rPr kumimoji="0" lang="fr-FR" altLang="fr-FR" sz="1800" b="0" i="1" u="none" strike="noStrike" kern="0" cap="none" spc="0" normalizeH="0" baseline="0" noProof="0" dirty="0">
                <a:ln>
                  <a:noFill/>
                </a:ln>
                <a:solidFill>
                  <a:srgbClr val="000000"/>
                </a:solidFill>
                <a:effectLst/>
                <a:uLnTx/>
                <a:uFillTx/>
                <a:latin typeface="Verdana"/>
              </a:rPr>
              <a:t>le principe de résolution est </a:t>
            </a:r>
            <a:r>
              <a:rPr kumimoji="0" lang="fr-FR" altLang="fr-FR" sz="1800" b="1" i="1" u="none" strike="noStrike" kern="0" cap="none" spc="0" normalizeH="0" baseline="0" noProof="0" dirty="0">
                <a:ln>
                  <a:noFill/>
                </a:ln>
                <a:solidFill>
                  <a:srgbClr val="000000"/>
                </a:solidFill>
                <a:effectLst/>
                <a:uLnTx/>
                <a:uFillTx/>
                <a:latin typeface="Verdana"/>
              </a:rPr>
              <a:t>valide</a:t>
            </a:r>
            <a:endParaRPr kumimoji="0" lang="fr-FR" altLang="fr-FR" sz="1800" b="0" i="1" u="none" strike="noStrike" kern="0" cap="none" spc="0" normalizeH="0" baseline="0" noProof="0" dirty="0">
              <a:ln>
                <a:noFill/>
              </a:ln>
              <a:solidFill>
                <a:srgbClr val="000000"/>
              </a:solidFill>
              <a:effectLst/>
              <a:uLnTx/>
              <a:uFillTx/>
              <a:latin typeface="Verdana"/>
            </a:endParaRPr>
          </a:p>
          <a:p>
            <a:pPr marL="1039813" marR="0" lvl="2" indent="-207963" algn="l" defTabSz="831850" rtl="0" eaLnBrk="0" fontAlgn="base" latinLnBrk="0" hangingPunct="0">
              <a:lnSpc>
                <a:spcPct val="100000"/>
              </a:lnSpc>
              <a:spcBef>
                <a:spcPct val="20000"/>
              </a:spcBef>
              <a:spcAft>
                <a:spcPct val="0"/>
              </a:spcAft>
              <a:buClr>
                <a:srgbClr val="000000"/>
              </a:buClr>
              <a:buSzPct val="100000"/>
              <a:buFontTx/>
              <a:buChar char="–"/>
              <a:tabLst/>
              <a:defRPr/>
            </a:pPr>
            <a:r>
              <a:rPr kumimoji="0" lang="fr-FR" altLang="fr-FR" sz="1800" b="0" i="1" u="none" strike="noStrike" kern="0" cap="none" spc="0" normalizeH="0" baseline="0" noProof="0" dirty="0">
                <a:ln>
                  <a:noFill/>
                </a:ln>
                <a:solidFill>
                  <a:srgbClr val="000000"/>
                </a:solidFill>
                <a:effectLst/>
                <a:uLnTx/>
                <a:uFillTx/>
                <a:latin typeface="Verdana"/>
              </a:rPr>
              <a:t>le principe de résolution généralise les autres règles</a:t>
            </a:r>
          </a:p>
        </p:txBody>
      </p:sp>
      <p:grpSp>
        <p:nvGrpSpPr>
          <p:cNvPr id="12" name="Group 5">
            <a:extLst>
              <a:ext uri="{FF2B5EF4-FFF2-40B4-BE49-F238E27FC236}">
                <a16:creationId xmlns:a16="http://schemas.microsoft.com/office/drawing/2014/main" xmlns="" id="{0951125C-CFCD-1A47-19E9-36359758F4D2}"/>
              </a:ext>
            </a:extLst>
          </p:cNvPr>
          <p:cNvGrpSpPr>
            <a:grpSpLocks/>
          </p:cNvGrpSpPr>
          <p:nvPr/>
        </p:nvGrpSpPr>
        <p:grpSpPr bwMode="auto">
          <a:xfrm>
            <a:off x="5410200" y="4845050"/>
            <a:ext cx="152400" cy="304800"/>
            <a:chOff x="528" y="384"/>
            <a:chExt cx="96" cy="288"/>
          </a:xfrm>
        </p:grpSpPr>
        <p:sp>
          <p:nvSpPr>
            <p:cNvPr id="13" name="Line 6">
              <a:extLst>
                <a:ext uri="{FF2B5EF4-FFF2-40B4-BE49-F238E27FC236}">
                  <a16:creationId xmlns:a16="http://schemas.microsoft.com/office/drawing/2014/main" xmlns="" id="{2F70DA57-F3EB-089D-3C01-99130C600E11}"/>
                </a:ext>
              </a:extLst>
            </p:cNvPr>
            <p:cNvSpPr>
              <a:spLocks noChangeShapeType="1"/>
            </p:cNvSpPr>
            <p:nvPr/>
          </p:nvSpPr>
          <p:spPr bwMode="auto">
            <a:xfrm>
              <a:off x="528" y="384"/>
              <a:ext cx="0" cy="2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sp>
          <p:nvSpPr>
            <p:cNvPr id="14" name="Line 7">
              <a:extLst>
                <a:ext uri="{FF2B5EF4-FFF2-40B4-BE49-F238E27FC236}">
                  <a16:creationId xmlns:a16="http://schemas.microsoft.com/office/drawing/2014/main" xmlns="" id="{82A9E647-AEE2-645A-DA55-50A68A0D76DA}"/>
                </a:ext>
              </a:extLst>
            </p:cNvPr>
            <p:cNvSpPr>
              <a:spLocks noChangeShapeType="1"/>
            </p:cNvSpPr>
            <p:nvPr/>
          </p:nvSpPr>
          <p:spPr bwMode="auto">
            <a:xfrm>
              <a:off x="528" y="528"/>
              <a:ext cx="9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grpSp>
    </p:spTree>
    <p:extLst>
      <p:ext uri="{BB962C8B-B14F-4D97-AF65-F5344CB8AC3E}">
        <p14:creationId xmlns:p14="http://schemas.microsoft.com/office/powerpoint/2010/main" val="33018942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Formules particulières(3)</a:t>
            </a:r>
            <a:endParaRPr lang="fr-FR" dirty="0"/>
          </a:p>
        </p:txBody>
      </p:sp>
      <p:sp>
        <p:nvSpPr>
          <p:cNvPr id="3" name="Rectangle 3">
            <a:extLst>
              <a:ext uri="{FF2B5EF4-FFF2-40B4-BE49-F238E27FC236}">
                <a16:creationId xmlns:a16="http://schemas.microsoft.com/office/drawing/2014/main" xmlns="" id="{155BED6F-371A-A9D0-EE28-138621230EE2}"/>
              </a:ext>
            </a:extLst>
          </p:cNvPr>
          <p:cNvSpPr txBox="1">
            <a:spLocks noChangeArrowheads="1"/>
          </p:cNvSpPr>
          <p:nvPr/>
        </p:nvSpPr>
        <p:spPr>
          <a:xfrm>
            <a:off x="230982" y="1037285"/>
            <a:ext cx="8016875" cy="4440238"/>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altLang="fr-FR" sz="2000" dirty="0"/>
              <a:t>Il faut montrer que :</a:t>
            </a:r>
            <a:br>
              <a:rPr lang="fr-FR" altLang="fr-FR" sz="2000" dirty="0"/>
            </a:br>
            <a:r>
              <a:rPr lang="fr-FR" altLang="fr-FR" sz="2000" dirty="0"/>
              <a:t/>
            </a:r>
            <a:br>
              <a:rPr lang="fr-FR" altLang="fr-FR" sz="2000" dirty="0"/>
            </a:br>
            <a:r>
              <a:rPr lang="fr-FR" altLang="fr-FR" sz="2000" dirty="0"/>
              <a:t>	</a:t>
            </a:r>
            <a:r>
              <a:rPr lang="fr-FR" altLang="fr-FR" sz="2000" i="1" dirty="0"/>
              <a:t>l </a:t>
            </a:r>
            <a:r>
              <a:rPr lang="fr-FR" altLang="fr-FR" sz="2000" i="1" dirty="0">
                <a:sym typeface="Symbol" panose="05050102010706020507" pitchFamily="18" charset="2"/>
              </a:rPr>
              <a:t> </a:t>
            </a:r>
            <a:r>
              <a:rPr lang="fr-FR" altLang="fr-FR" sz="2000" i="1" dirty="0"/>
              <a:t>C’</a:t>
            </a:r>
            <a:r>
              <a:rPr lang="fr-FR" altLang="fr-FR" sz="2000" i="1" baseline="-25000" dirty="0"/>
              <a:t>1 </a:t>
            </a:r>
            <a:r>
              <a:rPr lang="fr-FR" altLang="fr-FR" sz="2000" i="1" dirty="0"/>
              <a:t>, </a:t>
            </a:r>
            <a:r>
              <a:rPr lang="fr-FR" altLang="fr-FR" sz="2000" i="1" dirty="0">
                <a:sym typeface="Symbol" panose="05050102010706020507" pitchFamily="18" charset="2"/>
              </a:rPr>
              <a:t></a:t>
            </a:r>
            <a:r>
              <a:rPr lang="fr-FR" altLang="fr-FR" sz="2000" i="1" dirty="0"/>
              <a:t> l </a:t>
            </a:r>
            <a:r>
              <a:rPr lang="fr-FR" altLang="fr-FR" sz="2000" i="1" dirty="0">
                <a:sym typeface="Symbol" panose="05050102010706020507" pitchFamily="18" charset="2"/>
              </a:rPr>
              <a:t> </a:t>
            </a:r>
            <a:r>
              <a:rPr lang="fr-FR" altLang="fr-FR" sz="2000" i="1" dirty="0"/>
              <a:t>C’</a:t>
            </a:r>
            <a:r>
              <a:rPr lang="fr-FR" altLang="fr-FR" sz="2000" i="1" baseline="-25000" dirty="0"/>
              <a:t>2</a:t>
            </a:r>
            <a:r>
              <a:rPr lang="fr-FR" altLang="fr-FR" sz="2000" i="1" dirty="0">
                <a:sym typeface="Symbol" panose="05050102010706020507" pitchFamily="18" charset="2"/>
              </a:rPr>
              <a:t> </a:t>
            </a:r>
            <a:r>
              <a:rPr lang="fr-FR" altLang="fr-FR" sz="2400" i="1" dirty="0">
                <a:sym typeface="Symbol" panose="05050102010706020507" pitchFamily="18" charset="2"/>
              </a:rPr>
              <a:t> </a:t>
            </a:r>
            <a:r>
              <a:rPr lang="fr-FR" altLang="fr-FR" sz="2400" dirty="0">
                <a:latin typeface="Yu Mincho Light" panose="020B0400000000000000" pitchFamily="18" charset="-128"/>
                <a:ea typeface="Yu Mincho Light" panose="020B0400000000000000" pitchFamily="18" charset="-128"/>
                <a:sym typeface="Symbol" panose="05050102010706020507" pitchFamily="18" charset="2"/>
              </a:rPr>
              <a:t>⊢</a:t>
            </a:r>
            <a:r>
              <a:rPr lang="fr-FR" altLang="fr-FR" sz="2400" dirty="0">
                <a:sym typeface="Symbol" panose="05050102010706020507" pitchFamily="18" charset="2"/>
              </a:rPr>
              <a:t> </a:t>
            </a:r>
            <a:r>
              <a:rPr lang="fr-FR" altLang="fr-FR" sz="2000" i="1" dirty="0"/>
              <a:t>C’</a:t>
            </a:r>
            <a:r>
              <a:rPr lang="fr-FR" altLang="fr-FR" sz="2000" i="1" baseline="-25000" dirty="0"/>
              <a:t>1</a:t>
            </a:r>
            <a:r>
              <a:rPr lang="fr-FR" altLang="fr-FR" sz="2000" i="1" dirty="0">
                <a:sym typeface="Symbol" panose="05050102010706020507" pitchFamily="18" charset="2"/>
              </a:rPr>
              <a:t>  </a:t>
            </a:r>
            <a:r>
              <a:rPr lang="fr-FR" altLang="fr-FR" sz="2000" i="1" dirty="0"/>
              <a:t>C’</a:t>
            </a:r>
            <a:r>
              <a:rPr lang="fr-FR" altLang="fr-FR" sz="2000" i="1" baseline="-25000" dirty="0"/>
              <a:t>2</a:t>
            </a:r>
            <a:r>
              <a:rPr lang="fr-FR" altLang="fr-FR" sz="2000" i="1" dirty="0"/>
              <a:t> </a:t>
            </a:r>
            <a:br>
              <a:rPr lang="fr-FR" altLang="fr-FR" sz="2000" i="1" dirty="0"/>
            </a:br>
            <a:r>
              <a:rPr lang="fr-FR" altLang="fr-FR" sz="2000" dirty="0"/>
              <a:t/>
            </a:r>
            <a:br>
              <a:rPr lang="fr-FR" altLang="fr-FR" sz="2000" dirty="0"/>
            </a:br>
            <a:r>
              <a:rPr lang="fr-FR" altLang="fr-FR" sz="2000" dirty="0" err="1"/>
              <a:t>ie</a:t>
            </a:r>
            <a:r>
              <a:rPr lang="fr-FR" altLang="fr-FR" sz="2000" dirty="0"/>
              <a:t>	</a:t>
            </a:r>
            <a:r>
              <a:rPr lang="fr-FR" altLang="fr-FR" sz="2000" i="1" dirty="0"/>
              <a:t>(l </a:t>
            </a:r>
            <a:r>
              <a:rPr lang="fr-FR" altLang="fr-FR" sz="2000" i="1" dirty="0">
                <a:sym typeface="Symbol" panose="05050102010706020507" pitchFamily="18" charset="2"/>
              </a:rPr>
              <a:t> </a:t>
            </a:r>
            <a:r>
              <a:rPr lang="fr-FR" altLang="fr-FR" sz="2000" i="1" dirty="0"/>
              <a:t>C’</a:t>
            </a:r>
            <a:r>
              <a:rPr lang="fr-FR" altLang="fr-FR" sz="2000" i="1" baseline="-25000" dirty="0"/>
              <a:t>1</a:t>
            </a:r>
            <a:r>
              <a:rPr lang="fr-FR" altLang="fr-FR" sz="2000" i="1" dirty="0">
                <a:sym typeface="Symbol" panose="05050102010706020507" pitchFamily="18" charset="2"/>
              </a:rPr>
              <a:t>)  ( </a:t>
            </a:r>
            <a:r>
              <a:rPr lang="fr-FR" altLang="fr-FR" sz="2000" i="1" dirty="0"/>
              <a:t>l </a:t>
            </a:r>
            <a:r>
              <a:rPr lang="fr-FR" altLang="fr-FR" sz="2000" i="1" dirty="0">
                <a:sym typeface="Symbol" panose="05050102010706020507" pitchFamily="18" charset="2"/>
              </a:rPr>
              <a:t> </a:t>
            </a:r>
            <a:r>
              <a:rPr lang="fr-FR" altLang="fr-FR" sz="2000" i="1" dirty="0"/>
              <a:t>C’</a:t>
            </a:r>
            <a:r>
              <a:rPr lang="fr-FR" altLang="fr-FR" sz="2000" i="1" baseline="-25000" dirty="0"/>
              <a:t>2 </a:t>
            </a:r>
            <a:r>
              <a:rPr lang="fr-FR" altLang="fr-FR" sz="2000" i="1" dirty="0"/>
              <a:t>)</a:t>
            </a:r>
            <a:r>
              <a:rPr lang="fr-FR" altLang="fr-FR" sz="2000" i="1" dirty="0">
                <a:sym typeface="Symbol" panose="05050102010706020507" pitchFamily="18" charset="2"/>
              </a:rPr>
              <a:t>    (</a:t>
            </a:r>
            <a:r>
              <a:rPr lang="fr-FR" altLang="fr-FR" sz="2000" i="1" dirty="0"/>
              <a:t>C’</a:t>
            </a:r>
            <a:r>
              <a:rPr lang="fr-FR" altLang="fr-FR" sz="2000" i="1" baseline="-25000" dirty="0"/>
              <a:t>1</a:t>
            </a:r>
            <a:r>
              <a:rPr lang="fr-FR" altLang="fr-FR" sz="2000" i="1" dirty="0">
                <a:sym typeface="Symbol" panose="05050102010706020507" pitchFamily="18" charset="2"/>
              </a:rPr>
              <a:t>  </a:t>
            </a:r>
            <a:r>
              <a:rPr lang="fr-FR" altLang="fr-FR" sz="2000" i="1" dirty="0"/>
              <a:t>C’</a:t>
            </a:r>
            <a:r>
              <a:rPr lang="fr-FR" altLang="fr-FR" sz="2000" i="1" baseline="-25000" dirty="0"/>
              <a:t>2 </a:t>
            </a:r>
            <a:r>
              <a:rPr lang="fr-FR" altLang="fr-FR" sz="2000" i="1" dirty="0">
                <a:sym typeface="Symbol" panose="05050102010706020507" pitchFamily="18" charset="2"/>
              </a:rPr>
              <a:t>)</a:t>
            </a:r>
            <a:endParaRPr lang="fr-FR" altLang="fr-FR" sz="2000" dirty="0">
              <a:sym typeface="Symbol" panose="05050102010706020507" pitchFamily="18" charset="2"/>
            </a:endParaRPr>
          </a:p>
          <a:p>
            <a:endParaRPr lang="fr-FR" altLang="fr-FR" sz="2000" dirty="0">
              <a:sym typeface="Symbol" panose="05050102010706020507" pitchFamily="18" charset="2"/>
            </a:endParaRPr>
          </a:p>
          <a:p>
            <a:r>
              <a:rPr lang="fr-FR" altLang="fr-FR" sz="2000" dirty="0">
                <a:sym typeface="Symbol" panose="05050102010706020507" pitchFamily="18" charset="2"/>
              </a:rPr>
              <a:t>Il suffit de montrer que </a:t>
            </a:r>
            <a:br>
              <a:rPr lang="fr-FR" altLang="fr-FR" sz="2000" dirty="0">
                <a:sym typeface="Symbol" panose="05050102010706020507" pitchFamily="18" charset="2"/>
              </a:rPr>
            </a:br>
            <a:r>
              <a:rPr lang="fr-FR" altLang="fr-FR" sz="2000" dirty="0">
                <a:sym typeface="Symbol" panose="05050102010706020507" pitchFamily="18" charset="2"/>
              </a:rPr>
              <a:t>	si </a:t>
            </a:r>
            <a:r>
              <a:rPr lang="fr-FR" altLang="fr-FR" sz="2000" i="1" dirty="0"/>
              <a:t>(l </a:t>
            </a:r>
            <a:r>
              <a:rPr lang="fr-FR" altLang="fr-FR" sz="2000" i="1" dirty="0">
                <a:sym typeface="Symbol" panose="05050102010706020507" pitchFamily="18" charset="2"/>
              </a:rPr>
              <a:t> </a:t>
            </a:r>
            <a:r>
              <a:rPr lang="fr-FR" altLang="fr-FR" sz="2000" i="1" dirty="0"/>
              <a:t>C’</a:t>
            </a:r>
            <a:r>
              <a:rPr lang="fr-FR" altLang="fr-FR" sz="2000" i="1" baseline="-25000" dirty="0"/>
              <a:t>1</a:t>
            </a:r>
            <a:r>
              <a:rPr lang="fr-FR" altLang="fr-FR" sz="2000" i="1" dirty="0">
                <a:sym typeface="Symbol" panose="05050102010706020507" pitchFamily="18" charset="2"/>
              </a:rPr>
              <a:t>)  ( </a:t>
            </a:r>
            <a:r>
              <a:rPr lang="fr-FR" altLang="fr-FR" sz="2000" i="1" dirty="0"/>
              <a:t>l </a:t>
            </a:r>
            <a:r>
              <a:rPr lang="fr-FR" altLang="fr-FR" sz="2000" i="1" dirty="0">
                <a:sym typeface="Symbol" panose="05050102010706020507" pitchFamily="18" charset="2"/>
              </a:rPr>
              <a:t> </a:t>
            </a:r>
            <a:r>
              <a:rPr lang="fr-FR" altLang="fr-FR" sz="2000" i="1" dirty="0"/>
              <a:t>C’</a:t>
            </a:r>
            <a:r>
              <a:rPr lang="fr-FR" altLang="fr-FR" sz="2000" i="1" baseline="-25000" dirty="0"/>
              <a:t>2 </a:t>
            </a:r>
            <a:r>
              <a:rPr lang="fr-FR" altLang="fr-FR" sz="2000" i="1" dirty="0"/>
              <a:t>)</a:t>
            </a:r>
            <a:r>
              <a:rPr lang="fr-FR" altLang="fr-FR" sz="2000" dirty="0"/>
              <a:t> </a:t>
            </a:r>
            <a:r>
              <a:rPr lang="fr-FR" altLang="fr-FR" sz="2000" b="1" dirty="0"/>
              <a:t>vrai </a:t>
            </a:r>
            <a:r>
              <a:rPr lang="fr-FR" altLang="fr-FR" sz="2000" dirty="0"/>
              <a:t>alors </a:t>
            </a:r>
            <a:r>
              <a:rPr lang="fr-FR" altLang="fr-FR" sz="2000" i="1" dirty="0">
                <a:sym typeface="Symbol" panose="05050102010706020507" pitchFamily="18" charset="2"/>
              </a:rPr>
              <a:t>(</a:t>
            </a:r>
            <a:r>
              <a:rPr lang="fr-FR" altLang="fr-FR" sz="2000" i="1" dirty="0"/>
              <a:t>C’</a:t>
            </a:r>
            <a:r>
              <a:rPr lang="fr-FR" altLang="fr-FR" sz="2000" i="1" baseline="-25000" dirty="0"/>
              <a:t>1</a:t>
            </a:r>
            <a:r>
              <a:rPr lang="fr-FR" altLang="fr-FR" sz="2000" i="1" dirty="0">
                <a:sym typeface="Symbol" panose="05050102010706020507" pitchFamily="18" charset="2"/>
              </a:rPr>
              <a:t>  </a:t>
            </a:r>
            <a:r>
              <a:rPr lang="fr-FR" altLang="fr-FR" sz="2000" i="1" dirty="0"/>
              <a:t>C’</a:t>
            </a:r>
            <a:r>
              <a:rPr lang="fr-FR" altLang="fr-FR" sz="2000" i="1" baseline="-25000" dirty="0"/>
              <a:t>2 </a:t>
            </a:r>
            <a:r>
              <a:rPr lang="fr-FR" altLang="fr-FR" sz="2000" i="1" dirty="0">
                <a:sym typeface="Symbol" panose="05050102010706020507" pitchFamily="18" charset="2"/>
              </a:rPr>
              <a:t>)</a:t>
            </a:r>
            <a:r>
              <a:rPr lang="fr-FR" altLang="fr-FR" sz="2000" dirty="0">
                <a:sym typeface="Symbol" panose="05050102010706020507" pitchFamily="18" charset="2"/>
              </a:rPr>
              <a:t> n’est </a:t>
            </a:r>
            <a:r>
              <a:rPr lang="fr-FR" altLang="fr-FR" sz="2000" b="1" dirty="0">
                <a:sym typeface="Symbol" panose="05050102010706020507" pitchFamily="18" charset="2"/>
              </a:rPr>
              <a:t>pas faux</a:t>
            </a:r>
          </a:p>
          <a:p>
            <a:endParaRPr lang="fr-FR" altLang="fr-FR" sz="2000" dirty="0">
              <a:sym typeface="Symbol" panose="05050102010706020507" pitchFamily="18" charset="2"/>
            </a:endParaRPr>
          </a:p>
          <a:p>
            <a:r>
              <a:rPr lang="fr-FR" altLang="fr-FR" sz="2000" dirty="0">
                <a:sym typeface="Symbol" panose="05050102010706020507" pitchFamily="18" charset="2"/>
              </a:rPr>
              <a:t>Deux cas se présentent</a:t>
            </a:r>
          </a:p>
          <a:p>
            <a:pPr lvl="1"/>
            <a:r>
              <a:rPr lang="fr-FR" altLang="fr-FR" sz="1800" dirty="0"/>
              <a:t>l</a:t>
            </a:r>
            <a:r>
              <a:rPr lang="fr-FR" altLang="fr-FR" sz="1800" b="1" dirty="0"/>
              <a:t> </a:t>
            </a:r>
            <a:r>
              <a:rPr lang="fr-FR" altLang="fr-FR" sz="1800" dirty="0"/>
              <a:t>est vrai</a:t>
            </a:r>
          </a:p>
          <a:p>
            <a:pPr lvl="2"/>
            <a:r>
              <a:rPr lang="fr-FR" altLang="fr-FR" sz="1600" dirty="0"/>
              <a:t>nécessairement </a:t>
            </a:r>
            <a:r>
              <a:rPr lang="fr-FR" altLang="fr-FR" sz="1600" i="1" dirty="0"/>
              <a:t>C’</a:t>
            </a:r>
            <a:r>
              <a:rPr lang="fr-FR" altLang="fr-FR" sz="1600" i="1" baseline="-25000" dirty="0"/>
              <a:t>2 </a:t>
            </a:r>
            <a:r>
              <a:rPr lang="fr-FR" altLang="fr-FR" sz="1600" dirty="0"/>
              <a:t>vrai  et donc </a:t>
            </a:r>
            <a:r>
              <a:rPr lang="fr-FR" altLang="fr-FR" sz="1600" i="1" dirty="0">
                <a:sym typeface="Symbol" panose="05050102010706020507" pitchFamily="18" charset="2"/>
              </a:rPr>
              <a:t>(</a:t>
            </a:r>
            <a:r>
              <a:rPr lang="fr-FR" altLang="fr-FR" sz="1600" i="1" dirty="0"/>
              <a:t>C’</a:t>
            </a:r>
            <a:r>
              <a:rPr lang="fr-FR" altLang="fr-FR" sz="1600" i="1" baseline="-25000" dirty="0"/>
              <a:t>1</a:t>
            </a:r>
            <a:r>
              <a:rPr lang="fr-FR" altLang="fr-FR" sz="1600" i="1" dirty="0">
                <a:sym typeface="Symbol" panose="05050102010706020507" pitchFamily="18" charset="2"/>
              </a:rPr>
              <a:t>  </a:t>
            </a:r>
            <a:r>
              <a:rPr lang="fr-FR" altLang="fr-FR" sz="1600" i="1" dirty="0"/>
              <a:t>C’</a:t>
            </a:r>
            <a:r>
              <a:rPr lang="fr-FR" altLang="fr-FR" sz="1600" i="1" baseline="-25000" dirty="0"/>
              <a:t>2 </a:t>
            </a:r>
            <a:r>
              <a:rPr lang="fr-FR" altLang="fr-FR" sz="1600" i="1" dirty="0">
                <a:sym typeface="Symbol" panose="05050102010706020507" pitchFamily="18" charset="2"/>
              </a:rPr>
              <a:t>)</a:t>
            </a:r>
            <a:r>
              <a:rPr lang="fr-FR" altLang="fr-FR" sz="1600" dirty="0">
                <a:sym typeface="Symbol" panose="05050102010706020507" pitchFamily="18" charset="2"/>
              </a:rPr>
              <a:t> </a:t>
            </a:r>
            <a:r>
              <a:rPr lang="fr-FR" altLang="fr-FR" sz="1600" dirty="0"/>
              <a:t>aussi</a:t>
            </a:r>
            <a:endParaRPr lang="fr-FR" altLang="fr-FR" sz="1600" dirty="0">
              <a:sym typeface="Symbol" panose="05050102010706020507" pitchFamily="18" charset="2"/>
            </a:endParaRPr>
          </a:p>
          <a:p>
            <a:pPr lvl="1"/>
            <a:r>
              <a:rPr lang="fr-FR" altLang="fr-FR" sz="1800" dirty="0">
                <a:sym typeface="Symbol" panose="05050102010706020507" pitchFamily="18" charset="2"/>
              </a:rPr>
              <a:t> </a:t>
            </a:r>
            <a:r>
              <a:rPr lang="fr-FR" altLang="fr-FR" sz="1800" dirty="0"/>
              <a:t>l est vrai</a:t>
            </a:r>
          </a:p>
          <a:p>
            <a:pPr lvl="2"/>
            <a:r>
              <a:rPr lang="fr-FR" altLang="fr-FR" sz="1600" dirty="0"/>
              <a:t>nécessairement </a:t>
            </a:r>
            <a:r>
              <a:rPr lang="fr-FR" altLang="fr-FR" sz="1600" i="1" dirty="0"/>
              <a:t>C’</a:t>
            </a:r>
            <a:r>
              <a:rPr lang="fr-FR" altLang="fr-FR" sz="1600" i="1" baseline="-25000" dirty="0"/>
              <a:t>1</a:t>
            </a:r>
            <a:r>
              <a:rPr lang="fr-FR" altLang="fr-FR" sz="1600" dirty="0"/>
              <a:t> vrai et donc </a:t>
            </a:r>
            <a:r>
              <a:rPr lang="fr-FR" altLang="fr-FR" sz="1600" i="1" dirty="0">
                <a:sym typeface="Symbol" panose="05050102010706020507" pitchFamily="18" charset="2"/>
              </a:rPr>
              <a:t>(</a:t>
            </a:r>
            <a:r>
              <a:rPr lang="fr-FR" altLang="fr-FR" sz="1600" i="1" dirty="0"/>
              <a:t>C’</a:t>
            </a:r>
            <a:r>
              <a:rPr lang="fr-FR" altLang="fr-FR" sz="1600" i="1" baseline="-25000" dirty="0"/>
              <a:t>1</a:t>
            </a:r>
            <a:r>
              <a:rPr lang="fr-FR" altLang="fr-FR" sz="1600" i="1" dirty="0">
                <a:sym typeface="Symbol" panose="05050102010706020507" pitchFamily="18" charset="2"/>
              </a:rPr>
              <a:t>  </a:t>
            </a:r>
            <a:r>
              <a:rPr lang="fr-FR" altLang="fr-FR" sz="1600" i="1" dirty="0"/>
              <a:t>C’</a:t>
            </a:r>
            <a:r>
              <a:rPr lang="fr-FR" altLang="fr-FR" sz="1600" i="1" baseline="-25000" dirty="0"/>
              <a:t>2 </a:t>
            </a:r>
            <a:r>
              <a:rPr lang="fr-FR" altLang="fr-FR" sz="1600" i="1" dirty="0">
                <a:sym typeface="Symbol" panose="05050102010706020507" pitchFamily="18" charset="2"/>
              </a:rPr>
              <a:t>)</a:t>
            </a:r>
            <a:r>
              <a:rPr lang="fr-FR" altLang="fr-FR" sz="1600" dirty="0"/>
              <a:t> aussi</a:t>
            </a:r>
          </a:p>
          <a:p>
            <a:pPr lvl="1"/>
            <a:endParaRPr lang="fr-FR" altLang="fr-FR" dirty="0"/>
          </a:p>
          <a:p>
            <a:pPr lvl="1"/>
            <a:endParaRPr lang="fr-FR" altLang="fr-FR" dirty="0"/>
          </a:p>
        </p:txBody>
      </p:sp>
      <p:sp>
        <p:nvSpPr>
          <p:cNvPr id="4" name="WordArt 7">
            <a:extLst>
              <a:ext uri="{FF2B5EF4-FFF2-40B4-BE49-F238E27FC236}">
                <a16:creationId xmlns:a16="http://schemas.microsoft.com/office/drawing/2014/main" xmlns="" id="{10A66DC2-4761-1B5A-36D6-092556A93441}"/>
              </a:ext>
            </a:extLst>
          </p:cNvPr>
          <p:cNvSpPr>
            <a:spLocks noChangeArrowheads="1" noChangeShapeType="1" noTextEdit="1"/>
          </p:cNvSpPr>
          <p:nvPr/>
        </p:nvSpPr>
        <p:spPr bwMode="auto">
          <a:xfrm>
            <a:off x="6853225" y="5598066"/>
            <a:ext cx="822325" cy="495300"/>
          </a:xfrm>
          <a:prstGeom prst="rect">
            <a:avLst/>
          </a:prstGeom>
        </p:spPr>
        <p:txBody>
          <a:bodyPr wrap="none" fromWordArt="1">
            <a:prstTxWarp prst="textInflate">
              <a:avLst>
                <a:gd name="adj" fmla="val 13634"/>
              </a:avLst>
            </a:prstTxWarp>
          </a:bodyPr>
          <a:lstStyle/>
          <a:p>
            <a:pPr algn="ctr"/>
            <a:r>
              <a:rPr lang="fr-FR" sz="3600" kern="10" dirty="0">
                <a:ln w="9525">
                  <a:solidFill>
                    <a:srgbClr val="000000"/>
                  </a:solidFill>
                  <a:round/>
                  <a:headEnd type="none" w="sm" len="sm"/>
                  <a:tailEnd type="none" w="sm" len="sm"/>
                </a:ln>
                <a:solidFill>
                  <a:srgbClr val="000000"/>
                </a:solidFill>
                <a:latin typeface="Courier New" panose="02070309020205020404" pitchFamily="49" charset="0"/>
                <a:cs typeface="Courier New" panose="02070309020205020404" pitchFamily="49" charset="0"/>
              </a:rPr>
              <a:t>CQFD</a:t>
            </a:r>
          </a:p>
        </p:txBody>
      </p:sp>
      <p:grpSp>
        <p:nvGrpSpPr>
          <p:cNvPr id="5" name="Group 31">
            <a:extLst>
              <a:ext uri="{FF2B5EF4-FFF2-40B4-BE49-F238E27FC236}">
                <a16:creationId xmlns:a16="http://schemas.microsoft.com/office/drawing/2014/main" xmlns="" id="{2C89F087-D889-6E1B-1A97-5AA47A02C517}"/>
              </a:ext>
            </a:extLst>
          </p:cNvPr>
          <p:cNvGrpSpPr>
            <a:grpSpLocks/>
          </p:cNvGrpSpPr>
          <p:nvPr/>
        </p:nvGrpSpPr>
        <p:grpSpPr bwMode="auto">
          <a:xfrm>
            <a:off x="5220072" y="4093222"/>
            <a:ext cx="3557588" cy="1384301"/>
            <a:chOff x="1104" y="3360"/>
            <a:chExt cx="2241" cy="872"/>
          </a:xfrm>
        </p:grpSpPr>
        <p:grpSp>
          <p:nvGrpSpPr>
            <p:cNvPr id="6" name="Group 8">
              <a:extLst>
                <a:ext uri="{FF2B5EF4-FFF2-40B4-BE49-F238E27FC236}">
                  <a16:creationId xmlns:a16="http://schemas.microsoft.com/office/drawing/2014/main" xmlns="" id="{24256E59-3578-556D-F85B-DE4365FB13F5}"/>
                </a:ext>
              </a:extLst>
            </p:cNvPr>
            <p:cNvGrpSpPr>
              <a:grpSpLocks/>
            </p:cNvGrpSpPr>
            <p:nvPr/>
          </p:nvGrpSpPr>
          <p:grpSpPr bwMode="auto">
            <a:xfrm>
              <a:off x="2640" y="3360"/>
              <a:ext cx="705" cy="872"/>
              <a:chOff x="2004" y="2940"/>
              <a:chExt cx="705" cy="872"/>
            </a:xfrm>
          </p:grpSpPr>
          <p:sp>
            <p:nvSpPr>
              <p:cNvPr id="18" name="Text Box 9">
                <a:extLst>
                  <a:ext uri="{FF2B5EF4-FFF2-40B4-BE49-F238E27FC236}">
                    <a16:creationId xmlns:a16="http://schemas.microsoft.com/office/drawing/2014/main" xmlns="" id="{00561B49-E2A4-F469-EFF7-9C81C9237AD9}"/>
                  </a:ext>
                </a:extLst>
              </p:cNvPr>
              <p:cNvSpPr txBox="1">
                <a:spLocks noChangeArrowheads="1"/>
              </p:cNvSpPr>
              <p:nvPr/>
            </p:nvSpPr>
            <p:spPr bwMode="auto">
              <a:xfrm>
                <a:off x="2208" y="3168"/>
                <a:ext cx="456"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latin typeface="Times New Roman" panose="02020603050405020304" pitchFamily="18" charset="0"/>
                  </a:rPr>
                  <a:t>0  0</a:t>
                </a:r>
              </a:p>
              <a:p>
                <a:r>
                  <a:rPr lang="fr-FR" altLang="fr-FR" sz="2800">
                    <a:latin typeface="Times New Roman" panose="02020603050405020304" pitchFamily="18" charset="0"/>
                  </a:rPr>
                  <a:t>0  1</a:t>
                </a:r>
              </a:p>
            </p:txBody>
          </p:sp>
          <p:grpSp>
            <p:nvGrpSpPr>
              <p:cNvPr id="19" name="Group 10">
                <a:extLst>
                  <a:ext uri="{FF2B5EF4-FFF2-40B4-BE49-F238E27FC236}">
                    <a16:creationId xmlns:a16="http://schemas.microsoft.com/office/drawing/2014/main" xmlns="" id="{6DB31865-1276-C711-4E94-2AC01FBDF202}"/>
                  </a:ext>
                </a:extLst>
              </p:cNvPr>
              <p:cNvGrpSpPr>
                <a:grpSpLocks/>
              </p:cNvGrpSpPr>
              <p:nvPr/>
            </p:nvGrpSpPr>
            <p:grpSpPr bwMode="auto">
              <a:xfrm>
                <a:off x="2004" y="2940"/>
                <a:ext cx="705" cy="872"/>
                <a:chOff x="2304" y="1152"/>
                <a:chExt cx="705" cy="872"/>
              </a:xfrm>
            </p:grpSpPr>
            <p:sp>
              <p:nvSpPr>
                <p:cNvPr id="20" name="Text Box 11">
                  <a:extLst>
                    <a:ext uri="{FF2B5EF4-FFF2-40B4-BE49-F238E27FC236}">
                      <a16:creationId xmlns:a16="http://schemas.microsoft.com/office/drawing/2014/main" xmlns="" id="{7E7B10DB-85E0-3752-E315-A52D71273477}"/>
                    </a:ext>
                  </a:extLst>
                </p:cNvPr>
                <p:cNvSpPr txBox="1">
                  <a:spLocks noChangeArrowheads="1"/>
                </p:cNvSpPr>
                <p:nvPr/>
              </p:nvSpPr>
              <p:spPr bwMode="auto">
                <a:xfrm>
                  <a:off x="2304" y="1152"/>
                  <a:ext cx="705"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dirty="0">
                      <a:latin typeface="Times New Roman" panose="02020603050405020304" pitchFamily="18" charset="0"/>
                      <a:sym typeface="Symbol" panose="05050102010706020507" pitchFamily="18" charset="2"/>
                    </a:rPr>
                    <a:t>  0  1</a:t>
                  </a:r>
                </a:p>
                <a:p>
                  <a:r>
                    <a:rPr lang="fr-FR" altLang="fr-FR" sz="2800" dirty="0">
                      <a:latin typeface="Times New Roman" panose="02020603050405020304" pitchFamily="18" charset="0"/>
                      <a:sym typeface="Symbol" panose="05050102010706020507" pitchFamily="18" charset="2"/>
                    </a:rPr>
                    <a:t>0</a:t>
                  </a:r>
                </a:p>
                <a:p>
                  <a:r>
                    <a:rPr lang="fr-FR" altLang="fr-FR" sz="2800" dirty="0">
                      <a:latin typeface="Times New Roman" panose="02020603050405020304" pitchFamily="18" charset="0"/>
                      <a:sym typeface="Symbol" panose="05050102010706020507" pitchFamily="18" charset="2"/>
                    </a:rPr>
                    <a:t>1</a:t>
                  </a:r>
                  <a:endParaRPr lang="fr-FR" altLang="fr-FR" sz="2800" dirty="0">
                    <a:latin typeface="Times New Roman" panose="02020603050405020304" pitchFamily="18" charset="0"/>
                  </a:endParaRPr>
                </a:p>
              </p:txBody>
            </p:sp>
            <p:sp>
              <p:nvSpPr>
                <p:cNvPr id="21" name="Line 12">
                  <a:extLst>
                    <a:ext uri="{FF2B5EF4-FFF2-40B4-BE49-F238E27FC236}">
                      <a16:creationId xmlns:a16="http://schemas.microsoft.com/office/drawing/2014/main" xmlns="" id="{A769EC62-58BA-7347-B07B-1D3154B9EEA5}"/>
                    </a:ext>
                  </a:extLst>
                </p:cNvPr>
                <p:cNvSpPr>
                  <a:spLocks noChangeShapeType="1"/>
                </p:cNvSpPr>
                <p:nvPr/>
              </p:nvSpPr>
              <p:spPr bwMode="auto">
                <a:xfrm>
                  <a:off x="2304" y="1408"/>
                  <a:ext cx="67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sp>
              <p:nvSpPr>
                <p:cNvPr id="22" name="Line 13">
                  <a:extLst>
                    <a:ext uri="{FF2B5EF4-FFF2-40B4-BE49-F238E27FC236}">
                      <a16:creationId xmlns:a16="http://schemas.microsoft.com/office/drawing/2014/main" xmlns="" id="{1A71A56F-20AD-6FEB-BA68-470D6E2DB922}"/>
                    </a:ext>
                  </a:extLst>
                </p:cNvPr>
                <p:cNvSpPr>
                  <a:spLocks noChangeShapeType="1"/>
                </p:cNvSpPr>
                <p:nvPr/>
              </p:nvSpPr>
              <p:spPr bwMode="auto">
                <a:xfrm>
                  <a:off x="2508" y="1248"/>
                  <a:ext cx="0" cy="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grpSp>
        </p:grpSp>
        <p:grpSp>
          <p:nvGrpSpPr>
            <p:cNvPr id="7" name="Group 14">
              <a:extLst>
                <a:ext uri="{FF2B5EF4-FFF2-40B4-BE49-F238E27FC236}">
                  <a16:creationId xmlns:a16="http://schemas.microsoft.com/office/drawing/2014/main" xmlns="" id="{FB8D70DF-AE2B-A2F0-CE73-2A3E7F477817}"/>
                </a:ext>
              </a:extLst>
            </p:cNvPr>
            <p:cNvGrpSpPr>
              <a:grpSpLocks/>
            </p:cNvGrpSpPr>
            <p:nvPr/>
          </p:nvGrpSpPr>
          <p:grpSpPr bwMode="auto">
            <a:xfrm>
              <a:off x="1920" y="3360"/>
              <a:ext cx="705" cy="872"/>
              <a:chOff x="4732" y="632"/>
              <a:chExt cx="705" cy="872"/>
            </a:xfrm>
          </p:grpSpPr>
          <p:sp>
            <p:nvSpPr>
              <p:cNvPr id="13" name="Text Box 15">
                <a:extLst>
                  <a:ext uri="{FF2B5EF4-FFF2-40B4-BE49-F238E27FC236}">
                    <a16:creationId xmlns:a16="http://schemas.microsoft.com/office/drawing/2014/main" xmlns="" id="{0B69DABD-CC33-24E3-2E58-BE6D1AFC5D79}"/>
                  </a:ext>
                </a:extLst>
              </p:cNvPr>
              <p:cNvSpPr txBox="1">
                <a:spLocks noChangeArrowheads="1"/>
              </p:cNvSpPr>
              <p:nvPr/>
            </p:nvSpPr>
            <p:spPr bwMode="auto">
              <a:xfrm>
                <a:off x="4896" y="864"/>
                <a:ext cx="512"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latin typeface="Times New Roman" panose="02020603050405020304" pitchFamily="18" charset="0"/>
                  </a:rPr>
                  <a:t> 0  1</a:t>
                </a:r>
              </a:p>
              <a:p>
                <a:r>
                  <a:rPr lang="fr-FR" altLang="fr-FR" sz="2800">
                    <a:latin typeface="Times New Roman" panose="02020603050405020304" pitchFamily="18" charset="0"/>
                  </a:rPr>
                  <a:t> 1  1</a:t>
                </a:r>
              </a:p>
            </p:txBody>
          </p:sp>
          <p:grpSp>
            <p:nvGrpSpPr>
              <p:cNvPr id="14" name="Group 16">
                <a:extLst>
                  <a:ext uri="{FF2B5EF4-FFF2-40B4-BE49-F238E27FC236}">
                    <a16:creationId xmlns:a16="http://schemas.microsoft.com/office/drawing/2014/main" xmlns="" id="{522EACBB-751A-B35B-9EC5-07543E3A3EFE}"/>
                  </a:ext>
                </a:extLst>
              </p:cNvPr>
              <p:cNvGrpSpPr>
                <a:grpSpLocks/>
              </p:cNvGrpSpPr>
              <p:nvPr/>
            </p:nvGrpSpPr>
            <p:grpSpPr bwMode="auto">
              <a:xfrm>
                <a:off x="4732" y="632"/>
                <a:ext cx="705" cy="872"/>
                <a:chOff x="3792" y="1152"/>
                <a:chExt cx="705" cy="872"/>
              </a:xfrm>
            </p:grpSpPr>
            <p:sp>
              <p:nvSpPr>
                <p:cNvPr id="15" name="Text Box 17">
                  <a:extLst>
                    <a:ext uri="{FF2B5EF4-FFF2-40B4-BE49-F238E27FC236}">
                      <a16:creationId xmlns:a16="http://schemas.microsoft.com/office/drawing/2014/main" xmlns="" id="{C466219D-53B1-2DA7-C3E3-D2AB6652303E}"/>
                    </a:ext>
                  </a:extLst>
                </p:cNvPr>
                <p:cNvSpPr txBox="1">
                  <a:spLocks noChangeArrowheads="1"/>
                </p:cNvSpPr>
                <p:nvPr/>
              </p:nvSpPr>
              <p:spPr bwMode="auto">
                <a:xfrm>
                  <a:off x="3792" y="1152"/>
                  <a:ext cx="705"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dirty="0">
                      <a:latin typeface="Times New Roman" panose="02020603050405020304" pitchFamily="18" charset="0"/>
                      <a:sym typeface="Symbol" panose="05050102010706020507" pitchFamily="18" charset="2"/>
                    </a:rPr>
                    <a:t>  0  1</a:t>
                  </a:r>
                </a:p>
                <a:p>
                  <a:r>
                    <a:rPr lang="fr-FR" altLang="fr-FR" sz="2800" dirty="0">
                      <a:latin typeface="Times New Roman" panose="02020603050405020304" pitchFamily="18" charset="0"/>
                      <a:sym typeface="Symbol" panose="05050102010706020507" pitchFamily="18" charset="2"/>
                    </a:rPr>
                    <a:t>0  </a:t>
                  </a:r>
                </a:p>
                <a:p>
                  <a:r>
                    <a:rPr lang="fr-FR" altLang="fr-FR" sz="2800" dirty="0">
                      <a:latin typeface="Times New Roman" panose="02020603050405020304" pitchFamily="18" charset="0"/>
                      <a:sym typeface="Symbol" panose="05050102010706020507" pitchFamily="18" charset="2"/>
                    </a:rPr>
                    <a:t>1</a:t>
                  </a:r>
                  <a:endParaRPr lang="fr-FR" altLang="fr-FR" sz="2800" dirty="0">
                    <a:latin typeface="Times New Roman" panose="02020603050405020304" pitchFamily="18" charset="0"/>
                  </a:endParaRPr>
                </a:p>
              </p:txBody>
            </p:sp>
            <p:sp>
              <p:nvSpPr>
                <p:cNvPr id="16" name="Line 18">
                  <a:extLst>
                    <a:ext uri="{FF2B5EF4-FFF2-40B4-BE49-F238E27FC236}">
                      <a16:creationId xmlns:a16="http://schemas.microsoft.com/office/drawing/2014/main" xmlns="" id="{39B045ED-EBB9-17CE-6FFE-EA304FF77E01}"/>
                    </a:ext>
                  </a:extLst>
                </p:cNvPr>
                <p:cNvSpPr>
                  <a:spLocks noChangeShapeType="1"/>
                </p:cNvSpPr>
                <p:nvPr/>
              </p:nvSpPr>
              <p:spPr bwMode="auto">
                <a:xfrm>
                  <a:off x="3792" y="1408"/>
                  <a:ext cx="67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sp>
              <p:nvSpPr>
                <p:cNvPr id="17" name="Line 19">
                  <a:extLst>
                    <a:ext uri="{FF2B5EF4-FFF2-40B4-BE49-F238E27FC236}">
                      <a16:creationId xmlns:a16="http://schemas.microsoft.com/office/drawing/2014/main" xmlns="" id="{F46300BA-61F6-3A12-1670-DECCED87BD83}"/>
                    </a:ext>
                  </a:extLst>
                </p:cNvPr>
                <p:cNvSpPr>
                  <a:spLocks noChangeShapeType="1"/>
                </p:cNvSpPr>
                <p:nvPr/>
              </p:nvSpPr>
              <p:spPr bwMode="auto">
                <a:xfrm>
                  <a:off x="3988" y="1248"/>
                  <a:ext cx="0" cy="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grpSp>
        </p:grpSp>
        <p:sp>
          <p:nvSpPr>
            <p:cNvPr id="8" name="Text Box 26">
              <a:extLst>
                <a:ext uri="{FF2B5EF4-FFF2-40B4-BE49-F238E27FC236}">
                  <a16:creationId xmlns:a16="http://schemas.microsoft.com/office/drawing/2014/main" xmlns="" id="{3AAC85D3-24B9-5C28-916C-2F8A9AAA154D}"/>
                </a:ext>
              </a:extLst>
            </p:cNvPr>
            <p:cNvSpPr txBox="1">
              <a:spLocks noChangeArrowheads="1"/>
            </p:cNvSpPr>
            <p:nvPr/>
          </p:nvSpPr>
          <p:spPr bwMode="auto">
            <a:xfrm>
              <a:off x="1388" y="3584"/>
              <a:ext cx="456"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latin typeface="Times New Roman" panose="02020603050405020304" pitchFamily="18" charset="0"/>
                </a:rPr>
                <a:t>1  1</a:t>
              </a:r>
            </a:p>
            <a:p>
              <a:r>
                <a:rPr lang="fr-FR" altLang="fr-FR" sz="2800">
                  <a:latin typeface="Times New Roman" panose="02020603050405020304" pitchFamily="18" charset="0"/>
                </a:rPr>
                <a:t>0  1</a:t>
              </a:r>
            </a:p>
          </p:txBody>
        </p:sp>
        <p:grpSp>
          <p:nvGrpSpPr>
            <p:cNvPr id="9" name="Group 27">
              <a:extLst>
                <a:ext uri="{FF2B5EF4-FFF2-40B4-BE49-F238E27FC236}">
                  <a16:creationId xmlns:a16="http://schemas.microsoft.com/office/drawing/2014/main" xmlns="" id="{C352EF07-98CC-3385-A48F-A5F43FB0F74F}"/>
                </a:ext>
              </a:extLst>
            </p:cNvPr>
            <p:cNvGrpSpPr>
              <a:grpSpLocks/>
            </p:cNvGrpSpPr>
            <p:nvPr/>
          </p:nvGrpSpPr>
          <p:grpSpPr bwMode="auto">
            <a:xfrm>
              <a:off x="1104" y="3360"/>
              <a:ext cx="792" cy="872"/>
              <a:chOff x="1440" y="2496"/>
              <a:chExt cx="792" cy="872"/>
            </a:xfrm>
          </p:grpSpPr>
          <p:sp>
            <p:nvSpPr>
              <p:cNvPr id="10" name="Text Box 28">
                <a:extLst>
                  <a:ext uri="{FF2B5EF4-FFF2-40B4-BE49-F238E27FC236}">
                    <a16:creationId xmlns:a16="http://schemas.microsoft.com/office/drawing/2014/main" xmlns="" id="{DB4C93C1-9797-6C3E-98CA-40D2C95A9A3B}"/>
                  </a:ext>
                </a:extLst>
              </p:cNvPr>
              <p:cNvSpPr txBox="1">
                <a:spLocks noChangeArrowheads="1"/>
              </p:cNvSpPr>
              <p:nvPr/>
            </p:nvSpPr>
            <p:spPr bwMode="auto">
              <a:xfrm>
                <a:off x="1440" y="2496"/>
                <a:ext cx="792" cy="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FR" altLang="fr-FR" sz="2800">
                    <a:latin typeface="Times New Roman" panose="02020603050405020304" pitchFamily="18" charset="0"/>
                    <a:sym typeface="Symbol" panose="05050102010706020507" pitchFamily="18" charset="2"/>
                  </a:rPr>
                  <a:t>  0  1</a:t>
                </a:r>
              </a:p>
              <a:p>
                <a:r>
                  <a:rPr lang="fr-FR" altLang="fr-FR" sz="2800">
                    <a:latin typeface="Times New Roman" panose="02020603050405020304" pitchFamily="18" charset="0"/>
                    <a:sym typeface="Symbol" panose="05050102010706020507" pitchFamily="18" charset="2"/>
                  </a:rPr>
                  <a:t>0</a:t>
                </a:r>
              </a:p>
              <a:p>
                <a:r>
                  <a:rPr lang="fr-FR" altLang="fr-FR" sz="2800">
                    <a:latin typeface="Times New Roman" panose="02020603050405020304" pitchFamily="18" charset="0"/>
                    <a:sym typeface="Symbol" panose="05050102010706020507" pitchFamily="18" charset="2"/>
                  </a:rPr>
                  <a:t>1</a:t>
                </a:r>
                <a:endParaRPr lang="fr-FR" altLang="fr-FR" sz="2800">
                  <a:latin typeface="Times New Roman" panose="02020603050405020304" pitchFamily="18" charset="0"/>
                </a:endParaRPr>
              </a:p>
            </p:txBody>
          </p:sp>
          <p:sp>
            <p:nvSpPr>
              <p:cNvPr id="11" name="Line 29">
                <a:extLst>
                  <a:ext uri="{FF2B5EF4-FFF2-40B4-BE49-F238E27FC236}">
                    <a16:creationId xmlns:a16="http://schemas.microsoft.com/office/drawing/2014/main" xmlns="" id="{68CF4451-0F3F-0E36-7BEC-622F00D1A6FC}"/>
                  </a:ext>
                </a:extLst>
              </p:cNvPr>
              <p:cNvSpPr>
                <a:spLocks noChangeShapeType="1"/>
              </p:cNvSpPr>
              <p:nvPr/>
            </p:nvSpPr>
            <p:spPr bwMode="auto">
              <a:xfrm>
                <a:off x="1488" y="2752"/>
                <a:ext cx="72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sp>
            <p:nvSpPr>
              <p:cNvPr id="12" name="Line 30">
                <a:extLst>
                  <a:ext uri="{FF2B5EF4-FFF2-40B4-BE49-F238E27FC236}">
                    <a16:creationId xmlns:a16="http://schemas.microsoft.com/office/drawing/2014/main" xmlns="" id="{5BB8EF3E-EFC5-E33C-0B1B-A9FD4BC669E5}"/>
                  </a:ext>
                </a:extLst>
              </p:cNvPr>
              <p:cNvSpPr>
                <a:spLocks noChangeShapeType="1"/>
              </p:cNvSpPr>
              <p:nvPr/>
            </p:nvSpPr>
            <p:spPr bwMode="auto">
              <a:xfrm>
                <a:off x="1728" y="2580"/>
                <a:ext cx="0" cy="62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sz="2000"/>
              </a:p>
            </p:txBody>
          </p:sp>
        </p:grpSp>
      </p:grpSp>
    </p:spTree>
    <p:extLst>
      <p:ext uri="{BB962C8B-B14F-4D97-AF65-F5344CB8AC3E}">
        <p14:creationId xmlns:p14="http://schemas.microsoft.com/office/powerpoint/2010/main" val="2230463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36"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fill="hold"/>
                                        <p:tgtEl>
                                          <p:spTgt spid="4"/>
                                        </p:tgtEl>
                                        <p:attrNameLst>
                                          <p:attrName>ppt_w</p:attrName>
                                        </p:attrNameLst>
                                      </p:cBhvr>
                                      <p:tavLst>
                                        <p:tav tm="0">
                                          <p:val>
                                            <p:strVal val="(6*min(max(#ppt_w*#ppt_h,.3),1)-7.4)/-.7*#ppt_w"/>
                                          </p:val>
                                        </p:tav>
                                        <p:tav tm="100000">
                                          <p:val>
                                            <p:strVal val="#ppt_w"/>
                                          </p:val>
                                        </p:tav>
                                      </p:tavLst>
                                    </p:anim>
                                    <p:anim calcmode="lin" valueType="num">
                                      <p:cBhvr>
                                        <p:cTn id="34" dur="500" fill="hold"/>
                                        <p:tgtEl>
                                          <p:spTgt spid="4"/>
                                        </p:tgtEl>
                                        <p:attrNameLst>
                                          <p:attrName>ppt_h</p:attrName>
                                        </p:attrNameLst>
                                      </p:cBhvr>
                                      <p:tavLst>
                                        <p:tav tm="0">
                                          <p:val>
                                            <p:strVal val="(6*min(max(#ppt_w*#ppt_h,.3),1)-7.4)/-.7*#ppt_h"/>
                                          </p:val>
                                        </p:tav>
                                        <p:tav tm="100000">
                                          <p:val>
                                            <p:strVal val="#ppt_h"/>
                                          </p:val>
                                        </p:tav>
                                      </p:tavLst>
                                    </p:anim>
                                    <p:anim calcmode="lin" valueType="num">
                                      <p:cBhvr>
                                        <p:cTn id="35" dur="500" fill="hold"/>
                                        <p:tgtEl>
                                          <p:spTgt spid="4"/>
                                        </p:tgtEl>
                                        <p:attrNameLst>
                                          <p:attrName>ppt_x</p:attrName>
                                        </p:attrNameLst>
                                      </p:cBhvr>
                                      <p:tavLst>
                                        <p:tav tm="0">
                                          <p:val>
                                            <p:fltVal val="0.5"/>
                                          </p:val>
                                        </p:tav>
                                        <p:tav tm="100000">
                                          <p:val>
                                            <p:strVal val="#ppt_x"/>
                                          </p:val>
                                        </p:tav>
                                      </p:tavLst>
                                    </p:anim>
                                    <p:anim calcmode="lin" valueType="num">
                                      <p:cBhvr>
                                        <p:cTn id="36" dur="500" fill="hold"/>
                                        <p:tgtEl>
                                          <p:spTgt spid="4"/>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107504" y="200939"/>
            <a:ext cx="7495875"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Propriétés du calcul propositionnel</a:t>
            </a:r>
          </a:p>
        </p:txBody>
      </p:sp>
      <p:grpSp>
        <p:nvGrpSpPr>
          <p:cNvPr id="4" name="Group 4">
            <a:extLst>
              <a:ext uri="{FF2B5EF4-FFF2-40B4-BE49-F238E27FC236}">
                <a16:creationId xmlns:a16="http://schemas.microsoft.com/office/drawing/2014/main" xmlns="" id="{1F4A446B-CA99-F9E0-1107-E340FFD57DF4}"/>
              </a:ext>
            </a:extLst>
          </p:cNvPr>
          <p:cNvGrpSpPr>
            <a:grpSpLocks/>
          </p:cNvGrpSpPr>
          <p:nvPr/>
        </p:nvGrpSpPr>
        <p:grpSpPr bwMode="auto">
          <a:xfrm>
            <a:off x="1835150" y="5557838"/>
            <a:ext cx="152400" cy="304800"/>
            <a:chOff x="528" y="384"/>
            <a:chExt cx="96" cy="288"/>
          </a:xfrm>
        </p:grpSpPr>
        <p:sp>
          <p:nvSpPr>
            <p:cNvPr id="5" name="Line 5">
              <a:extLst>
                <a:ext uri="{FF2B5EF4-FFF2-40B4-BE49-F238E27FC236}">
                  <a16:creationId xmlns:a16="http://schemas.microsoft.com/office/drawing/2014/main" xmlns="" id="{494E31C0-BD7C-3B9B-60AF-8831374FF3C4}"/>
                </a:ext>
              </a:extLst>
            </p:cNvPr>
            <p:cNvSpPr>
              <a:spLocks noChangeShapeType="1"/>
            </p:cNvSpPr>
            <p:nvPr/>
          </p:nvSpPr>
          <p:spPr bwMode="auto">
            <a:xfrm>
              <a:off x="528" y="384"/>
              <a:ext cx="0"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6" name="Line 6">
              <a:extLst>
                <a:ext uri="{FF2B5EF4-FFF2-40B4-BE49-F238E27FC236}">
                  <a16:creationId xmlns:a16="http://schemas.microsoft.com/office/drawing/2014/main" xmlns="" id="{101FF652-C6E4-6D44-99F7-27C20E9E3DF2}"/>
                </a:ext>
              </a:extLst>
            </p:cNvPr>
            <p:cNvSpPr>
              <a:spLocks noChangeShapeType="1"/>
            </p:cNvSpPr>
            <p:nvPr/>
          </p:nvSpPr>
          <p:spPr bwMode="auto">
            <a:xfrm>
              <a:off x="528" y="52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grpSp>
        <p:nvGrpSpPr>
          <p:cNvPr id="7" name="Group 7">
            <a:extLst>
              <a:ext uri="{FF2B5EF4-FFF2-40B4-BE49-F238E27FC236}">
                <a16:creationId xmlns:a16="http://schemas.microsoft.com/office/drawing/2014/main" xmlns="" id="{5E38FC8D-C7A8-FE39-0373-4538778D1833}"/>
              </a:ext>
            </a:extLst>
          </p:cNvPr>
          <p:cNvGrpSpPr>
            <a:grpSpLocks/>
          </p:cNvGrpSpPr>
          <p:nvPr/>
        </p:nvGrpSpPr>
        <p:grpSpPr bwMode="auto">
          <a:xfrm>
            <a:off x="4859338" y="5567363"/>
            <a:ext cx="152400" cy="304800"/>
            <a:chOff x="528" y="384"/>
            <a:chExt cx="96" cy="288"/>
          </a:xfrm>
        </p:grpSpPr>
        <p:sp>
          <p:nvSpPr>
            <p:cNvPr id="8" name="Line 8">
              <a:extLst>
                <a:ext uri="{FF2B5EF4-FFF2-40B4-BE49-F238E27FC236}">
                  <a16:creationId xmlns:a16="http://schemas.microsoft.com/office/drawing/2014/main" xmlns="" id="{33ED094A-6CBB-686F-EE94-71BF8EB3358A}"/>
                </a:ext>
              </a:extLst>
            </p:cNvPr>
            <p:cNvSpPr>
              <a:spLocks noChangeShapeType="1"/>
            </p:cNvSpPr>
            <p:nvPr/>
          </p:nvSpPr>
          <p:spPr bwMode="auto">
            <a:xfrm>
              <a:off x="528" y="384"/>
              <a:ext cx="0"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9" name="Line 9">
              <a:extLst>
                <a:ext uri="{FF2B5EF4-FFF2-40B4-BE49-F238E27FC236}">
                  <a16:creationId xmlns:a16="http://schemas.microsoft.com/office/drawing/2014/main" xmlns="" id="{660E6960-9332-135D-933D-8023674E8947}"/>
                </a:ext>
              </a:extLst>
            </p:cNvPr>
            <p:cNvSpPr>
              <a:spLocks noChangeShapeType="1"/>
            </p:cNvSpPr>
            <p:nvPr/>
          </p:nvSpPr>
          <p:spPr bwMode="auto">
            <a:xfrm>
              <a:off x="528" y="52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grpSp>
        <p:nvGrpSpPr>
          <p:cNvPr id="10" name="Group 10">
            <a:extLst>
              <a:ext uri="{FF2B5EF4-FFF2-40B4-BE49-F238E27FC236}">
                <a16:creationId xmlns:a16="http://schemas.microsoft.com/office/drawing/2014/main" xmlns="" id="{DBF33E6B-4DE1-2356-5EAE-228363529470}"/>
              </a:ext>
            </a:extLst>
          </p:cNvPr>
          <p:cNvGrpSpPr>
            <a:grpSpLocks/>
          </p:cNvGrpSpPr>
          <p:nvPr/>
        </p:nvGrpSpPr>
        <p:grpSpPr bwMode="auto">
          <a:xfrm>
            <a:off x="3563938" y="3979863"/>
            <a:ext cx="152400" cy="304800"/>
            <a:chOff x="528" y="384"/>
            <a:chExt cx="96" cy="288"/>
          </a:xfrm>
        </p:grpSpPr>
        <p:sp>
          <p:nvSpPr>
            <p:cNvPr id="11" name="Line 11">
              <a:extLst>
                <a:ext uri="{FF2B5EF4-FFF2-40B4-BE49-F238E27FC236}">
                  <a16:creationId xmlns:a16="http://schemas.microsoft.com/office/drawing/2014/main" xmlns="" id="{052869B1-676B-88B6-010F-3349968DEDD5}"/>
                </a:ext>
              </a:extLst>
            </p:cNvPr>
            <p:cNvSpPr>
              <a:spLocks noChangeShapeType="1"/>
            </p:cNvSpPr>
            <p:nvPr/>
          </p:nvSpPr>
          <p:spPr bwMode="auto">
            <a:xfrm>
              <a:off x="528" y="384"/>
              <a:ext cx="0"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12" name="Line 12">
              <a:extLst>
                <a:ext uri="{FF2B5EF4-FFF2-40B4-BE49-F238E27FC236}">
                  <a16:creationId xmlns:a16="http://schemas.microsoft.com/office/drawing/2014/main" xmlns="" id="{7CD95A16-E6F8-23A4-DA82-2FCF5CA82AE0}"/>
                </a:ext>
              </a:extLst>
            </p:cNvPr>
            <p:cNvSpPr>
              <a:spLocks noChangeShapeType="1"/>
            </p:cNvSpPr>
            <p:nvPr/>
          </p:nvSpPr>
          <p:spPr bwMode="auto">
            <a:xfrm>
              <a:off x="528" y="52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sp>
        <p:nvSpPr>
          <p:cNvPr id="35" name="Rectangle 3">
            <a:extLst>
              <a:ext uri="{FF2B5EF4-FFF2-40B4-BE49-F238E27FC236}">
                <a16:creationId xmlns:a16="http://schemas.microsoft.com/office/drawing/2014/main" xmlns="" id="{E0B347B3-13E9-2833-7FDE-3FFE25CDC206}"/>
              </a:ext>
            </a:extLst>
          </p:cNvPr>
          <p:cNvSpPr txBox="1">
            <a:spLocks noChangeArrowheads="1"/>
          </p:cNvSpPr>
          <p:nvPr/>
        </p:nvSpPr>
        <p:spPr bwMode="auto">
          <a:xfrm>
            <a:off x="563563" y="1758950"/>
            <a:ext cx="8275637" cy="444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4138" tIns="41275" rIns="84138" bIns="41275" numCol="1" anchor="t" anchorCtr="0" compatLnSpc="1">
            <a:prstTxWarp prst="textNoShape">
              <a:avLst/>
            </a:prstTxWarp>
          </a:bodyPr>
          <a:lstStyle>
            <a:lvl1pPr marL="312738" indent="-312738" algn="l" defTabSz="831850" rtl="0" eaLnBrk="0" fontAlgn="base" hangingPunct="0">
              <a:spcBef>
                <a:spcPct val="20000"/>
              </a:spcBef>
              <a:spcAft>
                <a:spcPct val="0"/>
              </a:spcAft>
              <a:buClr>
                <a:schemeClr val="tx1"/>
              </a:buClr>
              <a:buSzPct val="75000"/>
              <a:buFont typeface="Monotype Sorts"/>
              <a:buChar char="n"/>
              <a:defRPr sz="2400">
                <a:solidFill>
                  <a:schemeClr val="tx1"/>
                </a:solidFill>
                <a:latin typeface="+mn-lt"/>
                <a:ea typeface="+mn-ea"/>
                <a:cs typeface="+mn-cs"/>
              </a:defRPr>
            </a:lvl1pPr>
            <a:lvl2pPr marL="676275" indent="-249238" algn="l" defTabSz="831850" rtl="0" eaLnBrk="0" fontAlgn="base" hangingPunct="0">
              <a:spcBef>
                <a:spcPct val="20000"/>
              </a:spcBef>
              <a:spcAft>
                <a:spcPct val="0"/>
              </a:spcAft>
              <a:buClr>
                <a:schemeClr val="tx1"/>
              </a:buClr>
              <a:buSzPct val="75000"/>
              <a:buFont typeface="Monotype Sorts"/>
              <a:buChar char="l"/>
              <a:defRPr sz="2000" i="1">
                <a:solidFill>
                  <a:schemeClr val="tx1"/>
                </a:solidFill>
                <a:latin typeface="+mn-lt"/>
              </a:defRPr>
            </a:lvl2pPr>
            <a:lvl3pPr marL="1039813" indent="-207963" algn="l" defTabSz="831850" rtl="0" eaLnBrk="0" fontAlgn="base" hangingPunct="0">
              <a:spcBef>
                <a:spcPct val="20000"/>
              </a:spcBef>
              <a:spcAft>
                <a:spcPct val="0"/>
              </a:spcAft>
              <a:buClr>
                <a:schemeClr val="tx1"/>
              </a:buClr>
              <a:buSzPct val="100000"/>
              <a:buChar char="–"/>
              <a:defRPr sz="2400">
                <a:solidFill>
                  <a:schemeClr val="tx1"/>
                </a:solidFill>
                <a:latin typeface="+mn-lt"/>
              </a:defRPr>
            </a:lvl3pPr>
            <a:lvl4pPr marL="1455738" indent="-207963" algn="l" defTabSz="831850" rtl="0" eaLnBrk="0" fontAlgn="base" hangingPunct="0">
              <a:spcBef>
                <a:spcPct val="20000"/>
              </a:spcBef>
              <a:spcAft>
                <a:spcPct val="0"/>
              </a:spcAft>
              <a:buClr>
                <a:schemeClr val="tx1"/>
              </a:buClr>
              <a:buSzPct val="65000"/>
              <a:buFont typeface="Monotype Sorts"/>
              <a:buChar char="l"/>
              <a:defRPr sz="2000">
                <a:solidFill>
                  <a:schemeClr val="tx1"/>
                </a:solidFill>
                <a:latin typeface="+mn-lt"/>
              </a:defRPr>
            </a:lvl4pPr>
            <a:lvl5pPr marL="1871663" indent="-207963" algn="l" defTabSz="831850" rtl="0" eaLnBrk="0" fontAlgn="base" hangingPunct="0">
              <a:spcBef>
                <a:spcPct val="20000"/>
              </a:spcBef>
              <a:spcAft>
                <a:spcPct val="0"/>
              </a:spcAft>
              <a:buClr>
                <a:schemeClr val="tx1"/>
              </a:buClr>
              <a:buSzPct val="100000"/>
              <a:buChar char="»"/>
              <a:defRPr sz="2000">
                <a:solidFill>
                  <a:schemeClr val="tx1"/>
                </a:solidFill>
                <a:latin typeface="+mn-lt"/>
              </a:defRPr>
            </a:lvl5pPr>
            <a:lvl6pPr marL="23288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6pPr>
            <a:lvl7pPr marL="27860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7pPr>
            <a:lvl8pPr marL="32432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8pPr>
            <a:lvl9pPr marL="3700463" indent="-207963" algn="l" defTabSz="831850" rtl="0" eaLnBrk="0" fontAlgn="base" hangingPunct="0">
              <a:spcBef>
                <a:spcPct val="20000"/>
              </a:spcBef>
              <a:spcAft>
                <a:spcPct val="0"/>
              </a:spcAft>
              <a:buClr>
                <a:schemeClr val="tx1"/>
              </a:buClr>
              <a:buSzPct val="100000"/>
              <a:buChar char="»"/>
              <a:defRPr>
                <a:solidFill>
                  <a:schemeClr val="tx1"/>
                </a:solidFill>
                <a:latin typeface="+mn-lt"/>
              </a:defRPr>
            </a:lvl9pPr>
          </a:lstStyle>
          <a:p>
            <a:pPr marR="0" lvl="0" algn="l" defTabSz="831850" rtl="0" eaLnBrk="0" fontAlgn="base" latinLnBrk="0" hangingPunct="0">
              <a:lnSpc>
                <a:spcPct val="100000"/>
              </a:lnSpc>
              <a:spcBef>
                <a:spcPct val="20000"/>
              </a:spcBef>
              <a:spcAft>
                <a:spcPct val="0"/>
              </a:spcAft>
              <a:buClr>
                <a:srgbClr val="000000"/>
              </a:buClr>
              <a:buSzPct val="75000"/>
              <a:buFont typeface="Courier New" panose="02070309020205020404" pitchFamily="49" charset="0"/>
              <a:buChar char="o"/>
              <a:tabLst/>
              <a:defRPr/>
            </a:pP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Le calcul propositionnel muni du principe de résolution est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correct</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et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complet</a:t>
            </a:r>
            <a:endParaRPr kumimoji="0" lang="fr-FR" altLang="fr-FR" sz="2400" b="0" i="0" u="none" strike="noStrike" kern="0" cap="none" spc="0" normalizeH="0" baseline="0" noProof="0" dirty="0">
              <a:ln>
                <a:noFill/>
              </a:ln>
              <a:solidFill>
                <a:srgbClr val="000000"/>
              </a:solidFill>
              <a:effectLst/>
              <a:uLnTx/>
              <a:uFillTx/>
              <a:latin typeface="Verdana"/>
              <a:ea typeface="+mn-ea"/>
              <a:cs typeface="+mn-cs"/>
            </a:endParaRPr>
          </a:p>
          <a:p>
            <a:pPr marL="312738" marR="0" lvl="0" indent="-312738" algn="l" defTabSz="831850" rtl="0" eaLnBrk="0" fontAlgn="base" latinLnBrk="0" hangingPunct="0">
              <a:lnSpc>
                <a:spcPct val="100000"/>
              </a:lnSpc>
              <a:spcBef>
                <a:spcPct val="20000"/>
              </a:spcBef>
              <a:spcAft>
                <a:spcPct val="0"/>
              </a:spcAft>
              <a:buClr>
                <a:srgbClr val="000000"/>
              </a:buClr>
              <a:buSzPct val="75000"/>
              <a:buFont typeface="Monotype Sorts"/>
              <a:buChar char="n"/>
              <a:tabLst/>
              <a:defRPr/>
            </a:pPr>
            <a:endParaRPr kumimoji="0" lang="fr-FR" altLang="fr-FR" sz="2400" b="0" i="0" u="none" strike="noStrike" kern="0" cap="none" spc="0" normalizeH="0" baseline="0" noProof="0" dirty="0">
              <a:ln>
                <a:noFill/>
              </a:ln>
              <a:solidFill>
                <a:srgbClr val="000000"/>
              </a:solidFill>
              <a:effectLst/>
              <a:uLnTx/>
              <a:uFillTx/>
              <a:latin typeface="Verdana"/>
              <a:ea typeface="+mn-ea"/>
              <a:cs typeface="+mn-cs"/>
            </a:endParaRPr>
          </a:p>
          <a:p>
            <a:pPr marR="0" lvl="0" algn="l" defTabSz="831850" rtl="0" eaLnBrk="0" fontAlgn="base" latinLnBrk="0" hangingPunct="0">
              <a:lnSpc>
                <a:spcPct val="100000"/>
              </a:lnSpc>
              <a:spcBef>
                <a:spcPct val="20000"/>
              </a:spcBef>
              <a:spcAft>
                <a:spcPct val="0"/>
              </a:spcAft>
              <a:buClr>
                <a:srgbClr val="000000"/>
              </a:buClr>
              <a:buSzPct val="75000"/>
              <a:buFont typeface="Courier New" panose="02070309020205020404" pitchFamily="49" charset="0"/>
              <a:buChar char="o"/>
              <a:tabLst/>
              <a:defRPr/>
            </a:pP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Un ensemble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S </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de clauses est </a:t>
            </a:r>
            <a:r>
              <a:rPr kumimoji="0" lang="fr-FR" altLang="fr-FR" sz="2400" b="1" i="0" u="none" strike="noStrike" kern="0" cap="none" spc="0" normalizeH="0" baseline="0" noProof="0" dirty="0" err="1">
                <a:ln>
                  <a:noFill/>
                </a:ln>
                <a:solidFill>
                  <a:srgbClr val="000000"/>
                </a:solidFill>
                <a:effectLst/>
                <a:uLnTx/>
                <a:uFillTx/>
                <a:latin typeface="Verdana"/>
                <a:ea typeface="+mn-ea"/>
                <a:cs typeface="+mn-cs"/>
              </a:rPr>
              <a:t>insatisfiable</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(ou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insatisfaisable</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0" i="0" u="none" strike="noStrike" kern="0" cap="none" spc="0" normalizeH="0" baseline="0" noProof="0" dirty="0" err="1">
                <a:ln>
                  <a:noFill/>
                </a:ln>
                <a:solidFill>
                  <a:srgbClr val="000000"/>
                </a:solidFill>
                <a:effectLst/>
                <a:uLnTx/>
                <a:uFillTx/>
                <a:latin typeface="Verdana"/>
                <a:ea typeface="+mn-ea"/>
                <a:cs typeface="+mn-cs"/>
              </a:rPr>
              <a:t>ssi</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r>
            <a:br>
              <a:rPr kumimoji="0" lang="fr-FR" altLang="fr-FR" sz="2400" b="0" i="0" u="none" strike="noStrike" kern="0" cap="none" spc="0" normalizeH="0" baseline="0" noProof="0" dirty="0">
                <a:ln>
                  <a:noFill/>
                </a:ln>
                <a:solidFill>
                  <a:srgbClr val="000000"/>
                </a:solidFill>
                <a:effectLst/>
                <a:uLnTx/>
                <a:uFillTx/>
                <a:latin typeface="Verdana"/>
                <a:ea typeface="+mn-ea"/>
                <a:cs typeface="+mn-cs"/>
              </a:rPr>
            </a:br>
            <a:r>
              <a:rPr kumimoji="0" lang="fr-FR" altLang="fr-FR" sz="1000" b="0" i="0" u="none" strike="noStrike" kern="0" cap="none" spc="0" normalizeH="0" baseline="0" noProof="0" dirty="0">
                <a:ln>
                  <a:noFill/>
                </a:ln>
                <a:solidFill>
                  <a:srgbClr val="000000"/>
                </a:solidFill>
                <a:effectLst/>
                <a:uLnTx/>
                <a:uFillTx/>
                <a:latin typeface="Verdana"/>
                <a:ea typeface="+mn-ea"/>
                <a:cs typeface="+mn-cs"/>
              </a:rPr>
              <a:t/>
            </a:r>
            <a:br>
              <a:rPr kumimoji="0" lang="fr-FR" altLang="fr-FR" sz="1000" b="0" i="0" u="none" strike="noStrike" kern="0" cap="none" spc="0" normalizeH="0" baseline="0" noProof="0" dirty="0">
                <a:ln>
                  <a:noFill/>
                </a:ln>
                <a:solidFill>
                  <a:srgbClr val="000000"/>
                </a:solidFill>
                <a:effectLst/>
                <a:uLnTx/>
                <a:uFillTx/>
                <a:latin typeface="Verdana"/>
                <a:ea typeface="+mn-ea"/>
                <a:cs typeface="+mn-cs"/>
              </a:rPr>
            </a:b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S</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0" i="0" u="none" strike="noStrike" kern="0" cap="none" spc="0" normalizeH="0" baseline="-25000" noProof="0" dirty="0" err="1">
                <a:ln>
                  <a:noFill/>
                </a:ln>
                <a:solidFill>
                  <a:srgbClr val="000000"/>
                </a:solidFill>
                <a:effectLst/>
                <a:uLnTx/>
                <a:uFillTx/>
                <a:latin typeface="Verdana"/>
                <a:ea typeface="+mn-ea"/>
                <a:cs typeface="+mn-cs"/>
              </a:rPr>
              <a:t>reso</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   (clause vide)</a:t>
            </a:r>
          </a:p>
          <a:p>
            <a:pPr marL="312738" marR="0" lvl="0" indent="-312738" algn="l" defTabSz="831850" rtl="0" eaLnBrk="0" fontAlgn="base" latinLnBrk="0" hangingPunct="0">
              <a:lnSpc>
                <a:spcPct val="100000"/>
              </a:lnSpc>
              <a:spcBef>
                <a:spcPct val="20000"/>
              </a:spcBef>
              <a:spcAft>
                <a:spcPct val="0"/>
              </a:spcAft>
              <a:buClr>
                <a:srgbClr val="000000"/>
              </a:buClr>
              <a:buSzPct val="75000"/>
              <a:buFont typeface="Monotype Sorts"/>
              <a:buChar char="n"/>
              <a:tabLst/>
              <a:defRPr/>
            </a:pPr>
            <a:endParaRPr kumimoji="0" lang="fr-FR" altLang="fr-FR" sz="2400" b="0" i="0" u="none" strike="noStrike" kern="0" cap="none" spc="0" normalizeH="0" baseline="0" noProof="0" dirty="0">
              <a:ln>
                <a:noFill/>
              </a:ln>
              <a:solidFill>
                <a:srgbClr val="000000"/>
              </a:solidFill>
              <a:effectLst/>
              <a:uLnTx/>
              <a:uFillTx/>
              <a:latin typeface="Verdana"/>
              <a:ea typeface="+mn-ea"/>
              <a:cs typeface="+mn-cs"/>
            </a:endParaRPr>
          </a:p>
          <a:p>
            <a:pPr marR="0" lvl="0" algn="l" defTabSz="831850" rtl="0" eaLnBrk="0" fontAlgn="base" latinLnBrk="0" hangingPunct="0">
              <a:lnSpc>
                <a:spcPct val="100000"/>
              </a:lnSpc>
              <a:spcBef>
                <a:spcPct val="20000"/>
              </a:spcBef>
              <a:spcAft>
                <a:spcPct val="0"/>
              </a:spcAft>
              <a:buClr>
                <a:srgbClr val="000000"/>
              </a:buClr>
              <a:buSzPct val="75000"/>
              <a:buFont typeface="Courier New" panose="02070309020205020404" pitchFamily="49" charset="0"/>
              <a:buChar char="o"/>
              <a:tabLst/>
              <a:defRPr/>
            </a:pP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Démonstration : par l’absurde</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réfutation</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
            </a:r>
            <a:br>
              <a:rPr kumimoji="0" lang="fr-FR" altLang="fr-FR" sz="2400" b="1" i="0" u="none" strike="noStrike" kern="0" cap="none" spc="0" normalizeH="0" baseline="0" noProof="0" dirty="0">
                <a:ln>
                  <a:noFill/>
                </a:ln>
                <a:solidFill>
                  <a:srgbClr val="000000"/>
                </a:solidFill>
                <a:effectLst/>
                <a:uLnTx/>
                <a:uFillTx/>
                <a:latin typeface="Verdana"/>
                <a:ea typeface="+mn-ea"/>
                <a:cs typeface="+mn-cs"/>
              </a:rPr>
            </a:b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t>
            </a:r>
            <a:br>
              <a:rPr kumimoji="0" lang="fr-FR" altLang="fr-FR" sz="2400" b="0" i="0" u="none" strike="noStrike" kern="0" cap="none" spc="0" normalizeH="0" baseline="0" noProof="0" dirty="0">
                <a:ln>
                  <a:noFill/>
                </a:ln>
                <a:solidFill>
                  <a:srgbClr val="000000"/>
                </a:solidFill>
                <a:effectLst/>
                <a:uLnTx/>
                <a:uFillTx/>
                <a:latin typeface="Verdana"/>
                <a:ea typeface="+mn-ea"/>
                <a:cs typeface="+mn-cs"/>
              </a:rPr>
            </a:b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S   C </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0" i="0" u="none" strike="noStrike" kern="0" cap="none" spc="0" normalizeH="0" baseline="0" noProof="0" dirty="0" err="1">
                <a:ln>
                  <a:noFill/>
                </a:ln>
                <a:solidFill>
                  <a:srgbClr val="000000"/>
                </a:solidFill>
                <a:effectLst/>
                <a:uLnTx/>
                <a:uFillTx/>
                <a:latin typeface="Verdana"/>
                <a:ea typeface="+mn-ea"/>
                <a:cs typeface="+mn-cs"/>
              </a:rPr>
              <a:t>ssi</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S </a:t>
            </a:r>
            <a:r>
              <a:rPr kumimoji="0" lang="fr-FR" altLang="fr-FR" sz="2400" b="1" i="0" u="none" strike="noStrike" kern="0" cap="none" spc="0" normalizeH="0" baseline="0" noProof="0" dirty="0">
                <a:ln>
                  <a:noFill/>
                </a:ln>
                <a:solidFill>
                  <a:srgbClr val="000000"/>
                </a:solidFill>
                <a:effectLst/>
                <a:uLnTx/>
                <a:uFillTx/>
                <a:latin typeface="Verdana"/>
                <a:ea typeface="+mn-ea"/>
                <a:cs typeface="+mn-cs"/>
                <a:sym typeface="Symbol" panose="05050102010706020507" pitchFamily="18" charset="2"/>
              </a:rPr>
              <a:t></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a:t>
            </a:r>
            <a:r>
              <a:rPr kumimoji="0" lang="fr-FR" altLang="fr-FR" sz="2400" b="1" i="0" u="none" strike="noStrike" kern="0" cap="none" spc="0" normalizeH="0" baseline="0" noProof="0" dirty="0">
                <a:ln>
                  <a:noFill/>
                </a:ln>
                <a:solidFill>
                  <a:srgbClr val="000000"/>
                </a:solidFill>
                <a:effectLst/>
                <a:uLnTx/>
                <a:uFillTx/>
                <a:latin typeface="Verdana"/>
                <a:ea typeface="+mn-ea"/>
                <a:cs typeface="+mn-cs"/>
                <a:sym typeface="Symbol" panose="05050102010706020507" pitchFamily="18" charset="2"/>
              </a:rPr>
              <a:t></a:t>
            </a:r>
            <a:r>
              <a:rPr kumimoji="0" lang="fr-FR" altLang="fr-FR" sz="2400" b="1" i="0" u="none" strike="noStrike" kern="0" cap="none" spc="0" normalizeH="0" baseline="0" noProof="0" dirty="0">
                <a:ln>
                  <a:noFill/>
                </a:ln>
                <a:solidFill>
                  <a:srgbClr val="000000"/>
                </a:solidFill>
                <a:effectLst/>
                <a:uLnTx/>
                <a:uFillTx/>
                <a:latin typeface="Verdana"/>
                <a:ea typeface="+mn-ea"/>
                <a:cs typeface="+mn-cs"/>
              </a:rPr>
              <a:t>C</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t>
            </a:r>
            <a:r>
              <a:rPr kumimoji="0" lang="fr-FR" altLang="fr-FR" sz="2400" b="0" i="0" u="none" strike="noStrike" kern="0" cap="none" spc="0" normalizeH="0" baseline="-25000" noProof="0" dirty="0" err="1">
                <a:ln>
                  <a:noFill/>
                </a:ln>
                <a:solidFill>
                  <a:srgbClr val="000000"/>
                </a:solidFill>
                <a:effectLst/>
                <a:uLnTx/>
                <a:uFillTx/>
                <a:latin typeface="Verdana"/>
                <a:ea typeface="+mn-ea"/>
                <a:cs typeface="+mn-cs"/>
              </a:rPr>
              <a:t>reso</a:t>
            </a:r>
            <a:r>
              <a:rPr kumimoji="0" lang="fr-FR" altLang="fr-FR" sz="2400" b="0" i="0" u="none" strike="noStrike" kern="0" cap="none" spc="0" normalizeH="0" baseline="0" noProof="0" dirty="0">
                <a:ln>
                  <a:noFill/>
                </a:ln>
                <a:solidFill>
                  <a:srgbClr val="000000"/>
                </a:solidFill>
                <a:effectLst/>
                <a:uLnTx/>
                <a:uFillTx/>
                <a:latin typeface="Verdana"/>
                <a:ea typeface="+mn-ea"/>
                <a:cs typeface="+mn-cs"/>
              </a:rPr>
              <a:t> </a:t>
            </a:r>
          </a:p>
        </p:txBody>
      </p:sp>
      <p:grpSp>
        <p:nvGrpSpPr>
          <p:cNvPr id="36" name="Group 4">
            <a:extLst>
              <a:ext uri="{FF2B5EF4-FFF2-40B4-BE49-F238E27FC236}">
                <a16:creationId xmlns:a16="http://schemas.microsoft.com/office/drawing/2014/main" xmlns="" id="{C737544A-4D62-B5CE-D197-F1BF24460D2F}"/>
              </a:ext>
            </a:extLst>
          </p:cNvPr>
          <p:cNvGrpSpPr>
            <a:grpSpLocks/>
          </p:cNvGrpSpPr>
          <p:nvPr/>
        </p:nvGrpSpPr>
        <p:grpSpPr bwMode="auto">
          <a:xfrm>
            <a:off x="1835150" y="5557838"/>
            <a:ext cx="152400" cy="304800"/>
            <a:chOff x="528" y="384"/>
            <a:chExt cx="96" cy="288"/>
          </a:xfrm>
        </p:grpSpPr>
        <p:sp>
          <p:nvSpPr>
            <p:cNvPr id="37" name="Line 5">
              <a:extLst>
                <a:ext uri="{FF2B5EF4-FFF2-40B4-BE49-F238E27FC236}">
                  <a16:creationId xmlns:a16="http://schemas.microsoft.com/office/drawing/2014/main" xmlns="" id="{5E1F6D6C-B5BF-29AB-C72E-C7D0EA572AD5}"/>
                </a:ext>
              </a:extLst>
            </p:cNvPr>
            <p:cNvSpPr>
              <a:spLocks noChangeShapeType="1"/>
            </p:cNvSpPr>
            <p:nvPr/>
          </p:nvSpPr>
          <p:spPr bwMode="auto">
            <a:xfrm>
              <a:off x="528" y="384"/>
              <a:ext cx="0" cy="2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sp>
          <p:nvSpPr>
            <p:cNvPr id="38" name="Line 6">
              <a:extLst>
                <a:ext uri="{FF2B5EF4-FFF2-40B4-BE49-F238E27FC236}">
                  <a16:creationId xmlns:a16="http://schemas.microsoft.com/office/drawing/2014/main" xmlns="" id="{833299AD-5FD6-4832-2A5E-DAEDF5FA9CB1}"/>
                </a:ext>
              </a:extLst>
            </p:cNvPr>
            <p:cNvSpPr>
              <a:spLocks noChangeShapeType="1"/>
            </p:cNvSpPr>
            <p:nvPr/>
          </p:nvSpPr>
          <p:spPr bwMode="auto">
            <a:xfrm>
              <a:off x="528" y="528"/>
              <a:ext cx="9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grpSp>
      <p:grpSp>
        <p:nvGrpSpPr>
          <p:cNvPr id="39" name="Group 7">
            <a:extLst>
              <a:ext uri="{FF2B5EF4-FFF2-40B4-BE49-F238E27FC236}">
                <a16:creationId xmlns:a16="http://schemas.microsoft.com/office/drawing/2014/main" xmlns="" id="{ADCF1B10-68BF-F649-3E27-11229A1D184A}"/>
              </a:ext>
            </a:extLst>
          </p:cNvPr>
          <p:cNvGrpSpPr>
            <a:grpSpLocks/>
          </p:cNvGrpSpPr>
          <p:nvPr/>
        </p:nvGrpSpPr>
        <p:grpSpPr bwMode="auto">
          <a:xfrm>
            <a:off x="4859338" y="5567363"/>
            <a:ext cx="152400" cy="304800"/>
            <a:chOff x="528" y="384"/>
            <a:chExt cx="96" cy="288"/>
          </a:xfrm>
        </p:grpSpPr>
        <p:sp>
          <p:nvSpPr>
            <p:cNvPr id="40" name="Line 8">
              <a:extLst>
                <a:ext uri="{FF2B5EF4-FFF2-40B4-BE49-F238E27FC236}">
                  <a16:creationId xmlns:a16="http://schemas.microsoft.com/office/drawing/2014/main" xmlns="" id="{1373583D-3781-ACD1-E5C5-E2B72D6ACA62}"/>
                </a:ext>
              </a:extLst>
            </p:cNvPr>
            <p:cNvSpPr>
              <a:spLocks noChangeShapeType="1"/>
            </p:cNvSpPr>
            <p:nvPr/>
          </p:nvSpPr>
          <p:spPr bwMode="auto">
            <a:xfrm>
              <a:off x="528" y="384"/>
              <a:ext cx="0" cy="2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sp>
          <p:nvSpPr>
            <p:cNvPr id="41" name="Line 9">
              <a:extLst>
                <a:ext uri="{FF2B5EF4-FFF2-40B4-BE49-F238E27FC236}">
                  <a16:creationId xmlns:a16="http://schemas.microsoft.com/office/drawing/2014/main" xmlns="" id="{8361AD2C-C2AC-B119-172D-30B8BC339A8F}"/>
                </a:ext>
              </a:extLst>
            </p:cNvPr>
            <p:cNvSpPr>
              <a:spLocks noChangeShapeType="1"/>
            </p:cNvSpPr>
            <p:nvPr/>
          </p:nvSpPr>
          <p:spPr bwMode="auto">
            <a:xfrm>
              <a:off x="528" y="528"/>
              <a:ext cx="9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grpSp>
      <p:grpSp>
        <p:nvGrpSpPr>
          <p:cNvPr id="42" name="Group 10">
            <a:extLst>
              <a:ext uri="{FF2B5EF4-FFF2-40B4-BE49-F238E27FC236}">
                <a16:creationId xmlns:a16="http://schemas.microsoft.com/office/drawing/2014/main" xmlns="" id="{93BF1CFB-32FB-E6EF-E1F9-B9149B523059}"/>
              </a:ext>
            </a:extLst>
          </p:cNvPr>
          <p:cNvGrpSpPr>
            <a:grpSpLocks/>
          </p:cNvGrpSpPr>
          <p:nvPr/>
        </p:nvGrpSpPr>
        <p:grpSpPr bwMode="auto">
          <a:xfrm>
            <a:off x="3563938" y="3979863"/>
            <a:ext cx="152400" cy="304800"/>
            <a:chOff x="528" y="384"/>
            <a:chExt cx="96" cy="288"/>
          </a:xfrm>
        </p:grpSpPr>
        <p:sp>
          <p:nvSpPr>
            <p:cNvPr id="43" name="Line 11">
              <a:extLst>
                <a:ext uri="{FF2B5EF4-FFF2-40B4-BE49-F238E27FC236}">
                  <a16:creationId xmlns:a16="http://schemas.microsoft.com/office/drawing/2014/main" xmlns="" id="{331A1730-1188-EAA9-84B0-3D3084F8E8A9}"/>
                </a:ext>
              </a:extLst>
            </p:cNvPr>
            <p:cNvSpPr>
              <a:spLocks noChangeShapeType="1"/>
            </p:cNvSpPr>
            <p:nvPr/>
          </p:nvSpPr>
          <p:spPr bwMode="auto">
            <a:xfrm>
              <a:off x="528" y="384"/>
              <a:ext cx="0" cy="288"/>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sp>
          <p:nvSpPr>
            <p:cNvPr id="44" name="Line 12">
              <a:extLst>
                <a:ext uri="{FF2B5EF4-FFF2-40B4-BE49-F238E27FC236}">
                  <a16:creationId xmlns:a16="http://schemas.microsoft.com/office/drawing/2014/main" xmlns="" id="{48F1A0F1-423F-111D-91A4-708ED0EDFF9C}"/>
                </a:ext>
              </a:extLst>
            </p:cNvPr>
            <p:cNvSpPr>
              <a:spLocks noChangeShapeType="1"/>
            </p:cNvSpPr>
            <p:nvPr/>
          </p:nvSpPr>
          <p:spPr bwMode="auto">
            <a:xfrm>
              <a:off x="528" y="528"/>
              <a:ext cx="96" cy="0"/>
            </a:xfrm>
            <a:prstGeom prst="line">
              <a:avLst/>
            </a:prstGeom>
            <a:noFill/>
            <a:ln w="12700">
              <a:solidFill>
                <a:srgbClr val="0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sz="2400" b="0" i="0" u="none" strike="noStrike" kern="0" cap="none" spc="0" normalizeH="0" baseline="0" noProof="0">
                <a:ln>
                  <a:noFill/>
                </a:ln>
                <a:solidFill>
                  <a:srgbClr val="000000"/>
                </a:solidFill>
                <a:effectLst/>
                <a:uLnTx/>
                <a:uFillTx/>
                <a:latin typeface="Verdana" panose="020B0604030504040204" pitchFamily="34" charset="0"/>
              </a:endParaRPr>
            </a:p>
          </p:txBody>
        </p:sp>
      </p:grpSp>
      <p:grpSp>
        <p:nvGrpSpPr>
          <p:cNvPr id="45" name="Group 17">
            <a:extLst>
              <a:ext uri="{FF2B5EF4-FFF2-40B4-BE49-F238E27FC236}">
                <a16:creationId xmlns:a16="http://schemas.microsoft.com/office/drawing/2014/main" xmlns="" id="{60AC0C1C-E2D4-07F1-6819-DF5E5256ECB6}"/>
              </a:ext>
            </a:extLst>
          </p:cNvPr>
          <p:cNvGrpSpPr>
            <a:grpSpLocks/>
          </p:cNvGrpSpPr>
          <p:nvPr/>
        </p:nvGrpSpPr>
        <p:grpSpPr bwMode="auto">
          <a:xfrm>
            <a:off x="971637" y="6134100"/>
            <a:ext cx="7200726" cy="609600"/>
            <a:chOff x="1200" y="3600"/>
            <a:chExt cx="4255" cy="384"/>
          </a:xfrm>
        </p:grpSpPr>
        <p:sp>
          <p:nvSpPr>
            <p:cNvPr id="46" name="Rectangle 16">
              <a:extLst>
                <a:ext uri="{FF2B5EF4-FFF2-40B4-BE49-F238E27FC236}">
                  <a16:creationId xmlns:a16="http://schemas.microsoft.com/office/drawing/2014/main" xmlns="" id="{A77B144A-3964-8433-42A1-A8EFC1532429}"/>
                </a:ext>
              </a:extLst>
            </p:cNvPr>
            <p:cNvSpPr>
              <a:spLocks noChangeArrowheads="1"/>
            </p:cNvSpPr>
            <p:nvPr/>
          </p:nvSpPr>
          <p:spPr bwMode="auto">
            <a:xfrm>
              <a:off x="1248" y="3600"/>
              <a:ext cx="3648" cy="384"/>
            </a:xfrm>
            <a:prstGeom prst="rect">
              <a:avLst/>
            </a:prstGeom>
            <a:solidFill>
              <a:srgbClr val="EBEBEB"/>
            </a:solidFill>
            <a:ln w="12700">
              <a:solidFill>
                <a:srgbClr val="000000"/>
              </a:solidFill>
              <a:miter lim="800000"/>
              <a:headEnd type="none" w="sm" len="sm"/>
              <a:tailEnd type="none" w="sm" len="sm"/>
            </a:ln>
          </p:spPr>
          <p:txBody>
            <a:bodyPr wrap="none" anchor="ct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fr-FR" altLang="fr-FR" sz="2400" b="0" i="0" u="none" strike="noStrike" kern="0" cap="none" spc="0" normalizeH="0" baseline="0" noProof="0">
                <a:ln>
                  <a:noFill/>
                </a:ln>
                <a:solidFill>
                  <a:srgbClr val="000000"/>
                </a:solidFill>
                <a:effectLst/>
                <a:uLnTx/>
                <a:uFillTx/>
                <a:latin typeface="Verdana" panose="020B0604030504040204" pitchFamily="34" charset="0"/>
              </a:endParaRPr>
            </a:p>
          </p:txBody>
        </p:sp>
        <p:grpSp>
          <p:nvGrpSpPr>
            <p:cNvPr id="47" name="Group 15">
              <a:extLst>
                <a:ext uri="{FF2B5EF4-FFF2-40B4-BE49-F238E27FC236}">
                  <a16:creationId xmlns:a16="http://schemas.microsoft.com/office/drawing/2014/main" xmlns="" id="{762E3525-28D2-3D54-4573-C6911A8A4C02}"/>
                </a:ext>
              </a:extLst>
            </p:cNvPr>
            <p:cNvGrpSpPr>
              <a:grpSpLocks/>
            </p:cNvGrpSpPr>
            <p:nvPr/>
          </p:nvGrpSpPr>
          <p:grpSpPr bwMode="auto">
            <a:xfrm>
              <a:off x="1200" y="3618"/>
              <a:ext cx="4255" cy="366"/>
              <a:chOff x="1200" y="3618"/>
              <a:chExt cx="4255" cy="366"/>
            </a:xfrm>
          </p:grpSpPr>
          <p:sp>
            <p:nvSpPr>
              <p:cNvPr id="48" name="Text Box 13">
                <a:extLst>
                  <a:ext uri="{FF2B5EF4-FFF2-40B4-BE49-F238E27FC236}">
                    <a16:creationId xmlns:a16="http://schemas.microsoft.com/office/drawing/2014/main" xmlns="" id="{13282F94-BD5C-0AD1-E573-5CC98A279405}"/>
                  </a:ext>
                </a:extLst>
              </p:cNvPr>
              <p:cNvSpPr txBox="1">
                <a:spLocks noChangeArrowheads="1"/>
              </p:cNvSpPr>
              <p:nvPr/>
            </p:nvSpPr>
            <p:spPr bwMode="auto">
              <a:xfrm>
                <a:off x="1974" y="3618"/>
                <a:ext cx="348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fr-FR" altLang="fr-FR" sz="1600" b="0" i="0" u="none" strike="noStrike" kern="0" cap="none" spc="0" normalizeH="0" baseline="0" noProof="0" dirty="0">
                    <a:ln>
                      <a:noFill/>
                    </a:ln>
                    <a:solidFill>
                      <a:srgbClr val="000000"/>
                    </a:solidFill>
                    <a:effectLst/>
                    <a:uLnTx/>
                    <a:uFillTx/>
                    <a:latin typeface="Verdana" panose="020B0604030504040204" pitchFamily="34" charset="0"/>
                  </a:rPr>
                  <a:t>On peut toujours se ramener à une forme normale conjonctive (forme </a:t>
                </a:r>
                <a:r>
                  <a:rPr kumimoji="0" lang="fr-FR" altLang="fr-FR" sz="1600" b="0" i="0" u="none" strike="noStrike" kern="0" cap="none" spc="0" normalizeH="0" baseline="0" noProof="0" dirty="0" err="1">
                    <a:ln>
                      <a:noFill/>
                    </a:ln>
                    <a:solidFill>
                      <a:srgbClr val="000000"/>
                    </a:solidFill>
                    <a:effectLst/>
                    <a:uLnTx/>
                    <a:uFillTx/>
                    <a:latin typeface="Verdana" panose="020B0604030504040204" pitchFamily="34" charset="0"/>
                  </a:rPr>
                  <a:t>clausale</a:t>
                </a:r>
                <a:r>
                  <a:rPr kumimoji="0" lang="fr-FR" altLang="fr-FR" sz="1600" b="0" i="0" u="none" strike="noStrike" kern="0" cap="none" spc="0" normalizeH="0" baseline="0" noProof="0" dirty="0">
                    <a:ln>
                      <a:noFill/>
                    </a:ln>
                    <a:solidFill>
                      <a:srgbClr val="000000"/>
                    </a:solidFill>
                    <a:effectLst/>
                    <a:uLnTx/>
                    <a:uFillTx/>
                    <a:latin typeface="Verdana" panose="020B0604030504040204" pitchFamily="34" charset="0"/>
                  </a:rPr>
                  <a:t>)</a:t>
                </a:r>
              </a:p>
            </p:txBody>
          </p:sp>
          <p:sp>
            <p:nvSpPr>
              <p:cNvPr id="49" name="Text Box 14">
                <a:extLst>
                  <a:ext uri="{FF2B5EF4-FFF2-40B4-BE49-F238E27FC236}">
                    <a16:creationId xmlns:a16="http://schemas.microsoft.com/office/drawing/2014/main" xmlns="" id="{5E137CD2-EFB7-D181-D60C-0F68E54DB149}"/>
                  </a:ext>
                </a:extLst>
              </p:cNvPr>
              <p:cNvSpPr txBox="1">
                <a:spLocks noChangeArrowheads="1"/>
              </p:cNvSpPr>
              <p:nvPr/>
            </p:nvSpPr>
            <p:spPr bwMode="auto">
              <a:xfrm>
                <a:off x="1200" y="3632"/>
                <a:ext cx="8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fr-FR" altLang="fr-FR" sz="2400" b="1" i="0" u="none" strike="noStrike" kern="0" cap="none" spc="0" normalizeH="0" baseline="0" noProof="0">
                    <a:ln>
                      <a:noFill/>
                    </a:ln>
                    <a:solidFill>
                      <a:srgbClr val="000000"/>
                    </a:solidFill>
                    <a:effectLst/>
                    <a:uLnTx/>
                    <a:uFillTx/>
                    <a:latin typeface="Verdana" panose="020B0604030504040204" pitchFamily="34" charset="0"/>
                  </a:rPr>
                  <a:t>Rappel</a:t>
                </a:r>
              </a:p>
            </p:txBody>
          </p:sp>
        </p:grpSp>
      </p:grpSp>
    </p:spTree>
    <p:extLst>
      <p:ext uri="{BB962C8B-B14F-4D97-AF65-F5344CB8AC3E}">
        <p14:creationId xmlns:p14="http://schemas.microsoft.com/office/powerpoint/2010/main" val="1979979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6"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p:cTn id="7" dur="500" fill="hold"/>
                                        <p:tgtEl>
                                          <p:spTgt spid="45"/>
                                        </p:tgtEl>
                                        <p:attrNameLst>
                                          <p:attrName>ppt_w</p:attrName>
                                        </p:attrNameLst>
                                      </p:cBhvr>
                                      <p:tavLst>
                                        <p:tav tm="0">
                                          <p:val>
                                            <p:strVal val="(6*min(max(#ppt_w*#ppt_h,.3),1)-7.4)/-.7*#ppt_w"/>
                                          </p:val>
                                        </p:tav>
                                        <p:tav tm="100000">
                                          <p:val>
                                            <p:strVal val="#ppt_w"/>
                                          </p:val>
                                        </p:tav>
                                      </p:tavLst>
                                    </p:anim>
                                    <p:anim calcmode="lin" valueType="num">
                                      <p:cBhvr>
                                        <p:cTn id="8" dur="500" fill="hold"/>
                                        <p:tgtEl>
                                          <p:spTgt spid="45"/>
                                        </p:tgtEl>
                                        <p:attrNameLst>
                                          <p:attrName>ppt_h</p:attrName>
                                        </p:attrNameLst>
                                      </p:cBhvr>
                                      <p:tavLst>
                                        <p:tav tm="0">
                                          <p:val>
                                            <p:strVal val="(6*min(max(#ppt_w*#ppt_h,.3),1)-7.4)/-.7*#ppt_h"/>
                                          </p:val>
                                        </p:tav>
                                        <p:tav tm="100000">
                                          <p:val>
                                            <p:strVal val="#ppt_h"/>
                                          </p:val>
                                        </p:tav>
                                      </p:tavLst>
                                    </p:anim>
                                    <p:anim calcmode="lin" valueType="num">
                                      <p:cBhvr>
                                        <p:cTn id="9" dur="500" fill="hold"/>
                                        <p:tgtEl>
                                          <p:spTgt spid="45"/>
                                        </p:tgtEl>
                                        <p:attrNameLst>
                                          <p:attrName>ppt_x</p:attrName>
                                        </p:attrNameLst>
                                      </p:cBhvr>
                                      <p:tavLst>
                                        <p:tav tm="0">
                                          <p:val>
                                            <p:fltVal val="0.5"/>
                                          </p:val>
                                        </p:tav>
                                        <p:tav tm="100000">
                                          <p:val>
                                            <p:strVal val="#ppt_x"/>
                                          </p:val>
                                        </p:tav>
                                      </p:tavLst>
                                    </p:anim>
                                    <p:anim calcmode="lin" valueType="num">
                                      <p:cBhvr>
                                        <p:cTn id="10" dur="500" fill="hold"/>
                                        <p:tgtEl>
                                          <p:spTgt spid="45"/>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539552" y="-14695"/>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eaLnBrk="1" hangingPunct="1">
              <a:defRPr/>
            </a:pPr>
            <a:r>
              <a:rPr lang="fr-FR" sz="3600" b="1" dirty="0">
                <a:solidFill>
                  <a:schemeClr val="accent2"/>
                </a:solidFill>
                <a:latin typeface="Arial" pitchFamily="34" charset="0"/>
                <a:cs typeface="Arial" pitchFamily="34" charset="0"/>
              </a:rPr>
              <a:t>Exemple </a:t>
            </a:r>
          </a:p>
        </p:txBody>
      </p:sp>
      <p:sp>
        <p:nvSpPr>
          <p:cNvPr id="3" name="Rectangle 2">
            <a:extLst>
              <a:ext uri="{FF2B5EF4-FFF2-40B4-BE49-F238E27FC236}">
                <a16:creationId xmlns:a16="http://schemas.microsoft.com/office/drawing/2014/main" xmlns="" id="{6CE8AC54-B779-AC2F-A96C-8B8593F5EFA3}"/>
              </a:ext>
            </a:extLst>
          </p:cNvPr>
          <p:cNvSpPr>
            <a:spLocks noChangeArrowheads="1"/>
          </p:cNvSpPr>
          <p:nvPr/>
        </p:nvSpPr>
        <p:spPr bwMode="auto">
          <a:xfrm>
            <a:off x="107504" y="575194"/>
            <a:ext cx="6408738" cy="6247864"/>
          </a:xfrm>
          <a:prstGeom prst="rect">
            <a:avLst/>
          </a:prstGeom>
          <a:noFill/>
          <a:ln w="9525">
            <a:noFill/>
            <a:miter lim="800000"/>
            <a:headEnd/>
            <a:tailEnd/>
          </a:ln>
        </p:spPr>
        <p:txBody>
          <a:bodyPr>
            <a:spAutoFit/>
          </a:bodyPr>
          <a:lstStyle/>
          <a:p>
            <a:pPr eaLnBrk="1" hangingPunct="1">
              <a:defRPr/>
            </a:pPr>
            <a:r>
              <a:rPr lang="fr-FR" sz="1800" b="1" dirty="0">
                <a:solidFill>
                  <a:schemeClr val="accent2"/>
                </a:solidFill>
                <a:latin typeface="Arial" pitchFamily="34" charset="0"/>
                <a:cs typeface="Arial" pitchFamily="34" charset="0"/>
              </a:rPr>
              <a:t>Soit:</a:t>
            </a:r>
          </a:p>
          <a:p>
            <a:pPr>
              <a:defRPr/>
            </a:pPr>
            <a:r>
              <a:rPr lang="fr-FR" sz="1400" b="1" dirty="0">
                <a:solidFill>
                  <a:srgbClr val="FF0000"/>
                </a:solidFill>
                <a:latin typeface="Arial" charset="0"/>
                <a:cs typeface="Arial" charset="0"/>
              </a:rPr>
              <a:t>F=</a:t>
            </a:r>
            <a:r>
              <a:rPr lang="fr-FR" sz="1400" b="1" dirty="0">
                <a:solidFill>
                  <a:schemeClr val="accent4">
                    <a:lumMod val="75000"/>
                    <a:lumOff val="25000"/>
                  </a:schemeClr>
                </a:solidFill>
                <a:latin typeface="Arial" charset="0"/>
                <a:cs typeface="Arial" charset="0"/>
              </a:rPr>
              <a:t>(P </a:t>
            </a:r>
            <a:r>
              <a:rPr lang="fr-FR" sz="1400" b="1" dirty="0">
                <a:solidFill>
                  <a:schemeClr val="accent4">
                    <a:lumMod val="75000"/>
                    <a:lumOff val="25000"/>
                  </a:schemeClr>
                </a:solidFill>
                <a:latin typeface="Arial" charset="0"/>
                <a:cs typeface="Arial" charset="0"/>
                <a:sym typeface="Symbol" pitchFamily="18" charset="2"/>
              </a:rPr>
              <a:t> </a:t>
            </a:r>
            <a:r>
              <a:rPr lang="fr-FR" sz="1400" b="1" dirty="0">
                <a:solidFill>
                  <a:schemeClr val="accent4">
                    <a:lumMod val="75000"/>
                    <a:lumOff val="25000"/>
                  </a:schemeClr>
                </a:solidFill>
                <a:latin typeface="Arial" charset="0"/>
                <a:cs typeface="Arial" charset="0"/>
              </a:rPr>
              <a:t> Q </a:t>
            </a:r>
            <a:r>
              <a:rPr lang="fr-FR" sz="1400" b="1" dirty="0">
                <a:solidFill>
                  <a:schemeClr val="accent4">
                    <a:lumMod val="75000"/>
                    <a:lumOff val="25000"/>
                  </a:schemeClr>
                </a:solidFill>
                <a:latin typeface="Arial" charset="0"/>
                <a:cs typeface="Arial" charset="0"/>
                <a:sym typeface="Symbol" pitchFamily="18" charset="2"/>
              </a:rPr>
              <a:t>  </a:t>
            </a:r>
            <a:r>
              <a:rPr lang="fr-FR" sz="1400" b="1" dirty="0">
                <a:solidFill>
                  <a:schemeClr val="accent4">
                    <a:lumMod val="75000"/>
                    <a:lumOff val="25000"/>
                  </a:schemeClr>
                </a:solidFill>
                <a:latin typeface="Arial" charset="0"/>
                <a:cs typeface="Arial" charset="0"/>
              </a:rPr>
              <a:t>R) </a:t>
            </a:r>
            <a:r>
              <a:rPr lang="fr-FR" sz="1400" b="1" dirty="0">
                <a:solidFill>
                  <a:schemeClr val="accent4">
                    <a:lumMod val="75000"/>
                    <a:lumOff val="25000"/>
                  </a:schemeClr>
                </a:solidFill>
                <a:latin typeface="Arial" charset="0"/>
                <a:cs typeface="Arial" charset="0"/>
                <a:sym typeface="Symbol" pitchFamily="18" charset="2"/>
              </a:rPr>
              <a:t></a:t>
            </a:r>
            <a:r>
              <a:rPr lang="fr-FR" sz="1400" b="1" dirty="0">
                <a:solidFill>
                  <a:schemeClr val="accent4">
                    <a:lumMod val="75000"/>
                    <a:lumOff val="25000"/>
                  </a:schemeClr>
                </a:solidFill>
                <a:latin typeface="Arial" charset="0"/>
                <a:cs typeface="Arial" charset="0"/>
              </a:rPr>
              <a:t> R</a:t>
            </a:r>
            <a:r>
              <a:rPr lang="fr-FR" sz="1400" b="1" dirty="0">
                <a:solidFill>
                  <a:schemeClr val="accent4">
                    <a:lumMod val="75000"/>
                    <a:lumOff val="25000"/>
                  </a:schemeClr>
                </a:solidFill>
                <a:latin typeface="Arial" charset="0"/>
                <a:cs typeface="Arial" charset="0"/>
                <a:sym typeface="Symbol" pitchFamily="18" charset="2"/>
              </a:rPr>
              <a:t> </a:t>
            </a:r>
            <a:r>
              <a:rPr lang="fr-FR" sz="1400" b="1" dirty="0">
                <a:solidFill>
                  <a:schemeClr val="accent4">
                    <a:lumMod val="75000"/>
                    <a:lumOff val="25000"/>
                  </a:schemeClr>
                </a:solidFill>
                <a:latin typeface="Arial" charset="0"/>
                <a:cs typeface="Arial" charset="0"/>
              </a:rPr>
              <a:t> </a:t>
            </a:r>
            <a:r>
              <a:rPr lang="fr-FR" sz="1400" b="1" dirty="0">
                <a:solidFill>
                  <a:schemeClr val="accent4">
                    <a:lumMod val="75000"/>
                    <a:lumOff val="25000"/>
                  </a:schemeClr>
                </a:solidFill>
                <a:latin typeface="Arial" charset="0"/>
                <a:cs typeface="Arial" charset="0"/>
                <a:sym typeface="Symbol" pitchFamily="18" charset="2"/>
              </a:rPr>
              <a:t> </a:t>
            </a:r>
            <a:r>
              <a:rPr lang="fr-FR" sz="1400" b="1" dirty="0">
                <a:solidFill>
                  <a:schemeClr val="accent4">
                    <a:lumMod val="75000"/>
                    <a:lumOff val="25000"/>
                  </a:schemeClr>
                </a:solidFill>
                <a:latin typeface="Arial" charset="0"/>
                <a:cs typeface="Arial" charset="0"/>
              </a:rPr>
              <a:t>P </a:t>
            </a:r>
            <a:r>
              <a:rPr lang="fr-FR" sz="1400" b="1" dirty="0">
                <a:solidFill>
                  <a:schemeClr val="accent4">
                    <a:lumMod val="75000"/>
                    <a:lumOff val="25000"/>
                  </a:schemeClr>
                </a:solidFill>
                <a:latin typeface="Arial" charset="0"/>
                <a:cs typeface="Arial" charset="0"/>
                <a:sym typeface="Symbol" pitchFamily="18" charset="2"/>
              </a:rPr>
              <a:t> (</a:t>
            </a:r>
            <a:r>
              <a:rPr lang="fr-FR" sz="1400" b="1" dirty="0">
                <a:solidFill>
                  <a:schemeClr val="accent4">
                    <a:lumMod val="75000"/>
                    <a:lumOff val="25000"/>
                  </a:schemeClr>
                </a:solidFill>
                <a:latin typeface="Arial" charset="0"/>
                <a:cs typeface="Arial" charset="0"/>
              </a:rPr>
              <a:t>T </a:t>
            </a:r>
            <a:r>
              <a:rPr lang="fr-FR" sz="1400" b="1" dirty="0">
                <a:solidFill>
                  <a:schemeClr val="accent4">
                    <a:lumMod val="75000"/>
                    <a:lumOff val="25000"/>
                  </a:schemeClr>
                </a:solidFill>
                <a:latin typeface="Arial" charset="0"/>
                <a:cs typeface="Arial" charset="0"/>
                <a:sym typeface="Symbol" pitchFamily="18" charset="2"/>
              </a:rPr>
              <a:t>  </a:t>
            </a:r>
            <a:r>
              <a:rPr lang="fr-FR" sz="1400" b="1" dirty="0">
                <a:solidFill>
                  <a:schemeClr val="accent4">
                    <a:lumMod val="75000"/>
                    <a:lumOff val="25000"/>
                  </a:schemeClr>
                </a:solidFill>
                <a:latin typeface="Arial" charset="0"/>
                <a:cs typeface="Arial" charset="0"/>
              </a:rPr>
              <a:t>Q)</a:t>
            </a:r>
            <a:r>
              <a:rPr lang="fr-FR" sz="1400" b="1" dirty="0">
                <a:solidFill>
                  <a:schemeClr val="accent4">
                    <a:lumMod val="75000"/>
                    <a:lumOff val="25000"/>
                  </a:schemeClr>
                </a:solidFill>
                <a:latin typeface="Arial" charset="0"/>
                <a:cs typeface="Arial" charset="0"/>
                <a:sym typeface="Symbol" pitchFamily="18" charset="2"/>
              </a:rPr>
              <a:t> </a:t>
            </a:r>
            <a:r>
              <a:rPr lang="fr-FR" sz="1400" b="1" dirty="0">
                <a:solidFill>
                  <a:schemeClr val="accent4">
                    <a:lumMod val="75000"/>
                    <a:lumOff val="25000"/>
                  </a:schemeClr>
                </a:solidFill>
                <a:latin typeface="Arial" charset="0"/>
                <a:cs typeface="Arial" charset="0"/>
              </a:rPr>
              <a:t> </a:t>
            </a:r>
            <a:r>
              <a:rPr lang="fr-FR" sz="1400" b="1" dirty="0">
                <a:solidFill>
                  <a:schemeClr val="accent4">
                    <a:lumMod val="75000"/>
                    <a:lumOff val="25000"/>
                  </a:schemeClr>
                </a:solidFill>
                <a:latin typeface="Arial" charset="0"/>
                <a:cs typeface="Arial" charset="0"/>
                <a:sym typeface="Symbol" pitchFamily="18" charset="2"/>
              </a:rPr>
              <a:t></a:t>
            </a:r>
            <a:r>
              <a:rPr lang="fr-FR" sz="1400" b="1" dirty="0">
                <a:solidFill>
                  <a:schemeClr val="accent4">
                    <a:lumMod val="75000"/>
                    <a:lumOff val="25000"/>
                  </a:schemeClr>
                </a:solidFill>
                <a:latin typeface="Arial" charset="0"/>
                <a:cs typeface="Arial" charset="0"/>
              </a:rPr>
              <a:t>T</a:t>
            </a:r>
          </a:p>
          <a:p>
            <a:pPr>
              <a:defRPr/>
            </a:pPr>
            <a:endParaRPr lang="fr-FR" sz="1400" dirty="0">
              <a:solidFill>
                <a:srgbClr val="FF0000"/>
              </a:solidFill>
              <a:latin typeface="Arial" charset="0"/>
              <a:cs typeface="Arial" charset="0"/>
            </a:endParaRPr>
          </a:p>
          <a:p>
            <a:pPr marL="285750" indent="-285750">
              <a:defRPr/>
            </a:pPr>
            <a:r>
              <a:rPr lang="fr-FR" sz="1400" dirty="0">
                <a:solidFill>
                  <a:srgbClr val="FF0000"/>
                </a:solidFill>
                <a:latin typeface="Arial" charset="0"/>
                <a:cs typeface="Arial" charset="0"/>
                <a:sym typeface="Symbol" pitchFamily="18" charset="2"/>
              </a:rPr>
              <a:t> </a:t>
            </a:r>
            <a:r>
              <a:rPr lang="fr-FR" sz="1400" dirty="0">
                <a:solidFill>
                  <a:srgbClr val="FF0000"/>
                </a:solidFill>
                <a:latin typeface="Arial" charset="0"/>
                <a:cs typeface="Arial" charset="0"/>
              </a:rPr>
              <a:t>F=</a:t>
            </a:r>
            <a:r>
              <a:rPr lang="fr-FR" sz="1400" dirty="0">
                <a:solidFill>
                  <a:srgbClr val="FF0000"/>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rPr>
              <a:t>(P </a:t>
            </a:r>
            <a:r>
              <a:rPr lang="fr-FR" sz="1400" dirty="0">
                <a:solidFill>
                  <a:schemeClr val="accent4">
                    <a:lumMod val="75000"/>
                    <a:lumOff val="25000"/>
                  </a:schemeClr>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rPr>
              <a:t> Q </a:t>
            </a:r>
            <a:r>
              <a:rPr lang="fr-FR" sz="1400" dirty="0">
                <a:solidFill>
                  <a:schemeClr val="accent4">
                    <a:lumMod val="75000"/>
                    <a:lumOff val="25000"/>
                  </a:schemeClr>
                </a:solidFill>
                <a:latin typeface="Arial" charset="0"/>
                <a:cs typeface="Arial" charset="0"/>
                <a:sym typeface="Symbol" pitchFamily="18" charset="2"/>
              </a:rPr>
              <a:t>  </a:t>
            </a:r>
            <a:r>
              <a:rPr lang="fr-FR" sz="1400" dirty="0">
                <a:solidFill>
                  <a:schemeClr val="accent4">
                    <a:lumMod val="75000"/>
                    <a:lumOff val="25000"/>
                  </a:schemeClr>
                </a:solidFill>
                <a:latin typeface="Arial" charset="0"/>
                <a:cs typeface="Arial" charset="0"/>
              </a:rPr>
              <a:t>R) </a:t>
            </a:r>
            <a:r>
              <a:rPr lang="fr-FR" sz="1400" dirty="0">
                <a:solidFill>
                  <a:srgbClr val="00B050"/>
                </a:solidFill>
                <a:latin typeface="Arial" charset="0"/>
                <a:cs typeface="Arial" charset="0"/>
                <a:sym typeface="Symbol" pitchFamily="18" charset="2"/>
              </a:rPr>
              <a:t></a:t>
            </a:r>
            <a:r>
              <a:rPr lang="fr-FR" sz="1400" dirty="0">
                <a:solidFill>
                  <a:srgbClr val="FF0000"/>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rPr>
              <a:t>R</a:t>
            </a:r>
            <a:r>
              <a:rPr lang="fr-FR" sz="1400" dirty="0">
                <a:solidFill>
                  <a:srgbClr val="FF0000"/>
                </a:solidFill>
                <a:latin typeface="Arial" charset="0"/>
                <a:cs typeface="Arial" charset="0"/>
                <a:sym typeface="Symbol" pitchFamily="18" charset="2"/>
              </a:rPr>
              <a:t> </a:t>
            </a:r>
            <a:r>
              <a:rPr lang="fr-FR" sz="1400" dirty="0">
                <a:solidFill>
                  <a:srgbClr val="00B050"/>
                </a:solidFill>
                <a:latin typeface="Arial" charset="0"/>
                <a:cs typeface="Arial" charset="0"/>
                <a:sym typeface="Symbol" pitchFamily="18" charset="2"/>
              </a:rPr>
              <a:t></a:t>
            </a:r>
            <a:r>
              <a:rPr lang="fr-FR" sz="1400" dirty="0">
                <a:solidFill>
                  <a:srgbClr val="FF0000"/>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rPr>
              <a:t>P</a:t>
            </a:r>
            <a:r>
              <a:rPr lang="fr-FR" sz="1400" dirty="0">
                <a:solidFill>
                  <a:srgbClr val="FF0000"/>
                </a:solidFill>
                <a:latin typeface="Arial" charset="0"/>
                <a:cs typeface="Arial" charset="0"/>
              </a:rPr>
              <a:t> </a:t>
            </a:r>
            <a:r>
              <a:rPr lang="fr-FR" sz="1400" dirty="0">
                <a:solidFill>
                  <a:srgbClr val="00B050"/>
                </a:solidFill>
                <a:latin typeface="Arial" charset="0"/>
                <a:cs typeface="Arial" charset="0"/>
                <a:sym typeface="Symbol" pitchFamily="18" charset="2"/>
              </a:rPr>
              <a:t></a:t>
            </a:r>
            <a:r>
              <a:rPr lang="fr-FR" sz="1400" dirty="0">
                <a:solidFill>
                  <a:srgbClr val="FF0000"/>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sym typeface="Symbol" pitchFamily="18" charset="2"/>
              </a:rPr>
              <a:t>(</a:t>
            </a:r>
            <a:r>
              <a:rPr lang="fr-FR" sz="1400" dirty="0">
                <a:solidFill>
                  <a:schemeClr val="accent4">
                    <a:lumMod val="75000"/>
                    <a:lumOff val="25000"/>
                  </a:schemeClr>
                </a:solidFill>
                <a:latin typeface="Arial" charset="0"/>
                <a:cs typeface="Arial" charset="0"/>
              </a:rPr>
              <a:t>T </a:t>
            </a:r>
            <a:r>
              <a:rPr lang="fr-FR" sz="1400" dirty="0">
                <a:solidFill>
                  <a:schemeClr val="accent4">
                    <a:lumMod val="75000"/>
                    <a:lumOff val="25000"/>
                  </a:schemeClr>
                </a:solidFill>
                <a:latin typeface="Arial" charset="0"/>
                <a:cs typeface="Arial" charset="0"/>
                <a:sym typeface="Symbol" pitchFamily="18" charset="2"/>
              </a:rPr>
              <a:t>  </a:t>
            </a:r>
            <a:r>
              <a:rPr lang="fr-FR" sz="1400" dirty="0">
                <a:solidFill>
                  <a:schemeClr val="accent4">
                    <a:lumMod val="75000"/>
                    <a:lumOff val="25000"/>
                  </a:schemeClr>
                </a:solidFill>
                <a:latin typeface="Arial" charset="0"/>
                <a:cs typeface="Arial" charset="0"/>
              </a:rPr>
              <a:t>Q)</a:t>
            </a:r>
            <a:r>
              <a:rPr lang="fr-FR" sz="1400" dirty="0">
                <a:solidFill>
                  <a:schemeClr val="accent4">
                    <a:lumMod val="75000"/>
                    <a:lumOff val="25000"/>
                  </a:schemeClr>
                </a:solidFill>
                <a:latin typeface="Arial" charset="0"/>
                <a:cs typeface="Arial" charset="0"/>
                <a:sym typeface="Symbol" pitchFamily="18" charset="2"/>
              </a:rPr>
              <a:t> </a:t>
            </a:r>
            <a:r>
              <a:rPr lang="fr-FR" sz="1400" dirty="0">
                <a:solidFill>
                  <a:srgbClr val="00B050"/>
                </a:solidFill>
                <a:latin typeface="Arial" charset="0"/>
                <a:cs typeface="Arial" charset="0"/>
                <a:sym typeface="Symbol" pitchFamily="18" charset="2"/>
              </a:rPr>
              <a:t></a:t>
            </a:r>
            <a:r>
              <a:rPr lang="fr-FR" sz="1400" dirty="0">
                <a:solidFill>
                  <a:srgbClr val="FF0000"/>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rPr>
              <a:t>T</a:t>
            </a:r>
          </a:p>
          <a:p>
            <a:pPr marL="285750" indent="-285750">
              <a:buFont typeface="Symbol" pitchFamily="18" charset="2"/>
              <a:buChar char="Ø"/>
              <a:defRPr/>
            </a:pPr>
            <a:endParaRPr lang="fr-FR" sz="1400" dirty="0">
              <a:solidFill>
                <a:srgbClr val="FF0000"/>
              </a:solidFill>
              <a:latin typeface="Arial" charset="0"/>
              <a:cs typeface="Arial" charset="0"/>
            </a:endParaRPr>
          </a:p>
          <a:p>
            <a:pPr>
              <a:defRPr/>
            </a:pPr>
            <a:r>
              <a:rPr lang="fr-FR" sz="1400" dirty="0">
                <a:solidFill>
                  <a:srgbClr val="FF0000"/>
                </a:solidFill>
                <a:latin typeface="Arial" charset="0"/>
                <a:cs typeface="Arial" charset="0"/>
                <a:sym typeface="Symbol" pitchFamily="18" charset="2"/>
              </a:rPr>
              <a:t> </a:t>
            </a:r>
            <a:r>
              <a:rPr lang="fr-FR" sz="1400" dirty="0">
                <a:solidFill>
                  <a:srgbClr val="FF0000"/>
                </a:solidFill>
                <a:latin typeface="Arial" charset="0"/>
                <a:cs typeface="Arial" charset="0"/>
              </a:rPr>
              <a:t>F=</a:t>
            </a:r>
            <a:r>
              <a:rPr lang="fr-FR" sz="1400" dirty="0">
                <a:solidFill>
                  <a:srgbClr val="FF0000"/>
                </a:solidFill>
                <a:latin typeface="Arial" charset="0"/>
                <a:cs typeface="Arial" charset="0"/>
                <a:sym typeface="Symbol" pitchFamily="18" charset="2"/>
              </a:rPr>
              <a:t> </a:t>
            </a:r>
            <a:r>
              <a:rPr lang="fr-FR" sz="1400" dirty="0">
                <a:solidFill>
                  <a:srgbClr val="FF0000"/>
                </a:solidFill>
                <a:latin typeface="Arial" charset="0"/>
                <a:cs typeface="Arial" charset="0"/>
              </a:rPr>
              <a:t>(</a:t>
            </a:r>
            <a:r>
              <a:rPr lang="fr-FR" sz="1400" dirty="0">
                <a:solidFill>
                  <a:schemeClr val="accent4">
                    <a:lumMod val="75000"/>
                    <a:lumOff val="25000"/>
                  </a:schemeClr>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rPr>
              <a:t>P </a:t>
            </a:r>
            <a:r>
              <a:rPr lang="fr-FR" sz="1400" dirty="0">
                <a:solidFill>
                  <a:srgbClr val="FF0000"/>
                </a:solidFill>
                <a:latin typeface="Arial" charset="0"/>
                <a:cs typeface="Arial" charset="0"/>
                <a:sym typeface="Symbol" pitchFamily="18" charset="2"/>
              </a:rPr>
              <a:t></a:t>
            </a:r>
            <a:r>
              <a:rPr lang="fr-FR" sz="1400" dirty="0">
                <a:solidFill>
                  <a:srgbClr val="FF0000"/>
                </a:solidFill>
                <a:latin typeface="Arial" charset="0"/>
                <a:cs typeface="Arial" charset="0"/>
              </a:rPr>
              <a:t> </a:t>
            </a:r>
            <a:r>
              <a:rPr lang="fr-FR" sz="1400" dirty="0">
                <a:solidFill>
                  <a:schemeClr val="accent4">
                    <a:lumMod val="75000"/>
                    <a:lumOff val="25000"/>
                  </a:schemeClr>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rPr>
              <a:t>Q </a:t>
            </a:r>
            <a:r>
              <a:rPr lang="fr-FR" sz="1400" dirty="0">
                <a:solidFill>
                  <a:srgbClr val="FF0000"/>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rPr>
              <a:t>R</a:t>
            </a:r>
            <a:r>
              <a:rPr lang="fr-FR" sz="1400" dirty="0">
                <a:solidFill>
                  <a:srgbClr val="FF0000"/>
                </a:solidFill>
                <a:latin typeface="Arial" charset="0"/>
                <a:cs typeface="Arial" charset="0"/>
              </a:rPr>
              <a:t>) </a:t>
            </a:r>
            <a:r>
              <a:rPr lang="fr-FR" sz="1400" dirty="0">
                <a:solidFill>
                  <a:srgbClr val="00B050"/>
                </a:solidFill>
                <a:latin typeface="Arial" charset="0"/>
                <a:cs typeface="Arial" charset="0"/>
                <a:sym typeface="Symbol" pitchFamily="18" charset="2"/>
              </a:rPr>
              <a:t></a:t>
            </a:r>
            <a:r>
              <a:rPr lang="fr-FR" sz="1400" dirty="0">
                <a:solidFill>
                  <a:srgbClr val="FF0000"/>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rPr>
              <a:t>R</a:t>
            </a:r>
            <a:r>
              <a:rPr lang="fr-FR" sz="1400" dirty="0">
                <a:solidFill>
                  <a:schemeClr val="accent4">
                    <a:lumMod val="75000"/>
                    <a:lumOff val="25000"/>
                  </a:schemeClr>
                </a:solidFill>
                <a:latin typeface="Arial" charset="0"/>
                <a:cs typeface="Arial" charset="0"/>
                <a:sym typeface="Symbol" pitchFamily="18" charset="2"/>
              </a:rPr>
              <a:t> </a:t>
            </a:r>
            <a:r>
              <a:rPr lang="fr-FR" sz="1400" dirty="0">
                <a:solidFill>
                  <a:srgbClr val="00B050"/>
                </a:solidFill>
                <a:latin typeface="Arial" charset="0"/>
                <a:cs typeface="Arial" charset="0"/>
                <a:sym typeface="Symbol" pitchFamily="18" charset="2"/>
              </a:rPr>
              <a:t></a:t>
            </a:r>
            <a:r>
              <a:rPr lang="fr-FR" sz="1400" dirty="0">
                <a:solidFill>
                  <a:srgbClr val="FF0000"/>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rPr>
              <a:t>P</a:t>
            </a:r>
            <a:r>
              <a:rPr lang="fr-FR" sz="1400" dirty="0">
                <a:solidFill>
                  <a:srgbClr val="FF0000"/>
                </a:solidFill>
                <a:latin typeface="Arial" charset="0"/>
                <a:cs typeface="Arial" charset="0"/>
              </a:rPr>
              <a:t> </a:t>
            </a:r>
            <a:r>
              <a:rPr lang="fr-FR" sz="1400" dirty="0">
                <a:solidFill>
                  <a:srgbClr val="00B050"/>
                </a:solidFill>
                <a:latin typeface="Arial" charset="0"/>
                <a:cs typeface="Arial" charset="0"/>
                <a:sym typeface="Symbol" pitchFamily="18" charset="2"/>
              </a:rPr>
              <a:t></a:t>
            </a:r>
            <a:r>
              <a:rPr lang="fr-FR" sz="1400" dirty="0">
                <a:solidFill>
                  <a:srgbClr val="FF0000"/>
                </a:solidFill>
                <a:latin typeface="Arial" charset="0"/>
                <a:cs typeface="Arial" charset="0"/>
                <a:sym typeface="Symbol" pitchFamily="18" charset="2"/>
              </a:rPr>
              <a:t>(</a:t>
            </a:r>
            <a:r>
              <a:rPr lang="fr-FR" sz="1400" dirty="0">
                <a:solidFill>
                  <a:schemeClr val="accent4">
                    <a:lumMod val="75000"/>
                    <a:lumOff val="25000"/>
                  </a:schemeClr>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rPr>
              <a:t>T </a:t>
            </a:r>
            <a:r>
              <a:rPr lang="fr-FR" sz="1400" dirty="0">
                <a:solidFill>
                  <a:srgbClr val="FF0000"/>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rPr>
              <a:t>Q</a:t>
            </a:r>
            <a:r>
              <a:rPr lang="fr-FR" sz="1400" dirty="0">
                <a:solidFill>
                  <a:srgbClr val="FF0000"/>
                </a:solidFill>
                <a:latin typeface="Arial" charset="0"/>
                <a:cs typeface="Arial" charset="0"/>
              </a:rPr>
              <a:t>)</a:t>
            </a:r>
            <a:r>
              <a:rPr lang="fr-FR" sz="1400" dirty="0">
                <a:solidFill>
                  <a:srgbClr val="FF0000"/>
                </a:solidFill>
                <a:latin typeface="Arial" charset="0"/>
                <a:cs typeface="Arial" charset="0"/>
                <a:sym typeface="Symbol" pitchFamily="18" charset="2"/>
              </a:rPr>
              <a:t> </a:t>
            </a:r>
            <a:r>
              <a:rPr lang="fr-FR" sz="1400" dirty="0">
                <a:solidFill>
                  <a:srgbClr val="00B050"/>
                </a:solidFill>
                <a:latin typeface="Arial" charset="0"/>
                <a:cs typeface="Arial" charset="0"/>
                <a:sym typeface="Symbol" pitchFamily="18" charset="2"/>
              </a:rPr>
              <a:t> </a:t>
            </a:r>
            <a:r>
              <a:rPr lang="fr-FR" sz="1400" dirty="0">
                <a:solidFill>
                  <a:schemeClr val="accent4">
                    <a:lumMod val="75000"/>
                    <a:lumOff val="25000"/>
                  </a:schemeClr>
                </a:solidFill>
                <a:latin typeface="Arial" charset="0"/>
                <a:cs typeface="Arial" charset="0"/>
              </a:rPr>
              <a:t>T</a:t>
            </a:r>
          </a:p>
          <a:p>
            <a:pPr eaLnBrk="1" hangingPunct="1">
              <a:defRPr/>
            </a:pPr>
            <a:endParaRPr lang="fr-FR" sz="1800" b="1" dirty="0">
              <a:solidFill>
                <a:schemeClr val="accent2"/>
              </a:solidFill>
              <a:latin typeface="Arial" pitchFamily="34" charset="0"/>
              <a:cs typeface="Arial" pitchFamily="34" charset="0"/>
            </a:endParaRPr>
          </a:p>
          <a:p>
            <a:pPr eaLnBrk="1" hangingPunct="1">
              <a:defRPr/>
            </a:pPr>
            <a:r>
              <a:rPr lang="fr-FR" sz="1400" dirty="0">
                <a:latin typeface="Arial" pitchFamily="34" charset="0"/>
                <a:cs typeface="Arial" pitchFamily="34" charset="0"/>
              </a:rPr>
              <a:t>Soit </a:t>
            </a:r>
            <a:r>
              <a:rPr lang="fr-FR" sz="1400" dirty="0">
                <a:solidFill>
                  <a:srgbClr val="FF6600"/>
                </a:solidFill>
                <a:latin typeface="Arial" pitchFamily="34" charset="0"/>
                <a:cs typeface="Arial" pitchFamily="34" charset="0"/>
              </a:rPr>
              <a:t>S</a:t>
            </a:r>
            <a:r>
              <a:rPr lang="fr-FR" sz="1400" baseline="-25000" dirty="0">
                <a:solidFill>
                  <a:srgbClr val="FF6600"/>
                </a:solidFill>
                <a:latin typeface="Arial" pitchFamily="34" charset="0"/>
                <a:cs typeface="Arial" pitchFamily="34" charset="0"/>
                <a:sym typeface="Symbol" pitchFamily="18" charset="2"/>
              </a:rPr>
              <a:t></a:t>
            </a:r>
            <a:r>
              <a:rPr lang="fr-FR" sz="1400" baseline="-25000" dirty="0">
                <a:solidFill>
                  <a:srgbClr val="FF6600"/>
                </a:solidFill>
                <a:latin typeface="Arial" pitchFamily="34" charset="0"/>
                <a:cs typeface="Arial" pitchFamily="34" charset="0"/>
              </a:rPr>
              <a:t>F</a:t>
            </a:r>
            <a:r>
              <a:rPr lang="fr-FR" sz="1400" dirty="0">
                <a:solidFill>
                  <a:srgbClr val="FF6600"/>
                </a:solidFill>
                <a:latin typeface="Arial" pitchFamily="34" charset="0"/>
                <a:cs typeface="Arial" pitchFamily="34" charset="0"/>
              </a:rPr>
              <a:t>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P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Q </a:t>
            </a:r>
            <a:r>
              <a:rPr lang="fr-FR" sz="1400" dirty="0">
                <a:solidFill>
                  <a:srgbClr val="FF6600"/>
                </a:solidFill>
                <a:latin typeface="Arial" pitchFamily="34" charset="0"/>
                <a:cs typeface="Arial" pitchFamily="34" charset="0"/>
                <a:sym typeface="Symbol" pitchFamily="18" charset="2"/>
              </a:rPr>
              <a:t> </a:t>
            </a:r>
            <a:r>
              <a:rPr lang="fr-FR" sz="1400" dirty="0">
                <a:solidFill>
                  <a:srgbClr val="FF6600"/>
                </a:solidFill>
                <a:latin typeface="Arial" pitchFamily="34" charset="0"/>
                <a:cs typeface="Arial" pitchFamily="34" charset="0"/>
              </a:rPr>
              <a:t>R,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R, P,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T </a:t>
            </a:r>
            <a:r>
              <a:rPr lang="fr-FR" sz="1400" dirty="0">
                <a:solidFill>
                  <a:srgbClr val="FF6600"/>
                </a:solidFill>
                <a:latin typeface="Arial" pitchFamily="34" charset="0"/>
                <a:cs typeface="Arial" pitchFamily="34" charset="0"/>
                <a:sym typeface="Symbol" pitchFamily="18" charset="2"/>
              </a:rPr>
              <a:t> </a:t>
            </a:r>
            <a:r>
              <a:rPr lang="fr-FR" sz="1400" dirty="0">
                <a:solidFill>
                  <a:srgbClr val="FF6600"/>
                </a:solidFill>
                <a:latin typeface="Arial" pitchFamily="34" charset="0"/>
                <a:cs typeface="Arial" pitchFamily="34" charset="0"/>
              </a:rPr>
              <a:t>Q, T}</a:t>
            </a:r>
          </a:p>
          <a:p>
            <a:pPr eaLnBrk="1" hangingPunct="1">
              <a:defRPr/>
            </a:pPr>
            <a:r>
              <a:rPr lang="fr-FR" sz="1400" dirty="0">
                <a:solidFill>
                  <a:srgbClr val="FF6600"/>
                </a:solidFill>
                <a:latin typeface="Arial" pitchFamily="34" charset="0"/>
                <a:cs typeface="Arial" pitchFamily="34" charset="0"/>
              </a:rPr>
              <a:t>	    </a:t>
            </a:r>
            <a:r>
              <a:rPr lang="fr-FR" sz="1200" dirty="0">
                <a:solidFill>
                  <a:srgbClr val="FF6600"/>
                </a:solidFill>
                <a:latin typeface="Arial" pitchFamily="34" charset="0"/>
                <a:cs typeface="Arial" pitchFamily="34" charset="0"/>
              </a:rPr>
              <a:t>C1                  C2  C3     C4    C5</a:t>
            </a:r>
            <a:endParaRPr lang="fr-FR" sz="1400" dirty="0">
              <a:solidFill>
                <a:srgbClr val="FF6600"/>
              </a:solidFill>
              <a:latin typeface="Arial" pitchFamily="34" charset="0"/>
              <a:cs typeface="Arial" pitchFamily="34" charset="0"/>
            </a:endParaRPr>
          </a:p>
          <a:p>
            <a:pPr eaLnBrk="1" hangingPunct="1">
              <a:defRPr/>
            </a:pPr>
            <a:endParaRPr lang="fr-FR" sz="1400" b="1" dirty="0">
              <a:latin typeface="Arial" pitchFamily="34" charset="0"/>
              <a:cs typeface="Arial" pitchFamily="34" charset="0"/>
            </a:endParaRPr>
          </a:p>
          <a:p>
            <a:pPr eaLnBrk="1" hangingPunct="1">
              <a:defRPr/>
            </a:pPr>
            <a:r>
              <a:rPr lang="fr-FR" sz="1400" b="1" dirty="0">
                <a:latin typeface="Arial" pitchFamily="34" charset="0"/>
                <a:cs typeface="Arial" pitchFamily="34" charset="0"/>
              </a:rPr>
              <a:t>S</a:t>
            </a:r>
            <a:r>
              <a:rPr lang="fr-FR" sz="1400" baseline="-25000" dirty="0">
                <a:latin typeface="Arial" pitchFamily="34" charset="0"/>
                <a:cs typeface="Arial" pitchFamily="34" charset="0"/>
                <a:sym typeface="Symbol" pitchFamily="18" charset="2"/>
              </a:rPr>
              <a:t></a:t>
            </a:r>
            <a:r>
              <a:rPr lang="fr-FR" sz="1400" b="1" baseline="-25000" dirty="0">
                <a:latin typeface="Arial" pitchFamily="34" charset="0"/>
                <a:cs typeface="Arial" pitchFamily="34" charset="0"/>
              </a:rPr>
              <a:t>F</a:t>
            </a:r>
            <a:r>
              <a:rPr lang="fr-FR" sz="1400" b="1" dirty="0">
                <a:latin typeface="Arial" pitchFamily="34" charset="0"/>
                <a:cs typeface="Arial" pitchFamily="34" charset="0"/>
              </a:rPr>
              <a:t> est l'ensemble des clauses d'une </a:t>
            </a:r>
            <a:r>
              <a:rPr lang="fr-FR" sz="1400" b="1" dirty="0" err="1">
                <a:latin typeface="Arial" pitchFamily="34" charset="0"/>
                <a:cs typeface="Arial" pitchFamily="34" charset="0"/>
              </a:rPr>
              <a:t>fbf</a:t>
            </a:r>
            <a:r>
              <a:rPr lang="fr-FR" sz="1400" b="1" dirty="0">
                <a:latin typeface="Arial" pitchFamily="34" charset="0"/>
                <a:cs typeface="Arial" pitchFamily="34" charset="0"/>
              </a:rPr>
              <a:t> </a:t>
            </a:r>
            <a:r>
              <a:rPr lang="fr-FR" sz="1400" dirty="0">
                <a:latin typeface="Arial" pitchFamily="34" charset="0"/>
                <a:cs typeface="Arial" pitchFamily="34" charset="0"/>
                <a:sym typeface="Symbol" pitchFamily="18" charset="2"/>
              </a:rPr>
              <a:t></a:t>
            </a:r>
            <a:r>
              <a:rPr lang="fr-FR" sz="1400" b="1" dirty="0">
                <a:latin typeface="Arial" pitchFamily="34" charset="0"/>
                <a:cs typeface="Arial" pitchFamily="34" charset="0"/>
              </a:rPr>
              <a:t>F.</a:t>
            </a:r>
          </a:p>
          <a:p>
            <a:pPr eaLnBrk="1" hangingPunct="1">
              <a:defRPr/>
            </a:pPr>
            <a:endParaRPr lang="fr-FR" sz="1400" b="1" dirty="0">
              <a:latin typeface="Arial" pitchFamily="34" charset="0"/>
              <a:cs typeface="Arial" pitchFamily="34" charset="0"/>
            </a:endParaRPr>
          </a:p>
          <a:p>
            <a:pPr eaLnBrk="1" hangingPunct="1">
              <a:defRPr/>
            </a:pPr>
            <a:r>
              <a:rPr lang="fr-FR" sz="1400" b="1" dirty="0">
                <a:latin typeface="Arial" pitchFamily="34" charset="0"/>
                <a:cs typeface="Arial" pitchFamily="34" charset="0"/>
              </a:rPr>
              <a:t>Montrons que cet ensemble est </a:t>
            </a:r>
            <a:r>
              <a:rPr lang="fr-FR" sz="1400" b="1" dirty="0" err="1">
                <a:latin typeface="Arial" pitchFamily="34" charset="0"/>
                <a:cs typeface="Arial" pitchFamily="34" charset="0"/>
              </a:rPr>
              <a:t>insatisfiable</a:t>
            </a:r>
            <a:endParaRPr lang="fr-FR" sz="1400" b="1" dirty="0">
              <a:latin typeface="Arial" pitchFamily="34" charset="0"/>
              <a:cs typeface="Arial" pitchFamily="34" charset="0"/>
            </a:endParaRPr>
          </a:p>
          <a:p>
            <a:pPr eaLnBrk="1" hangingPunct="1">
              <a:defRPr/>
            </a:pPr>
            <a:endParaRPr lang="fr-FR" sz="1400" dirty="0">
              <a:latin typeface="Arial" pitchFamily="34" charset="0"/>
              <a:cs typeface="Arial" pitchFamily="34" charset="0"/>
            </a:endParaRPr>
          </a:p>
          <a:p>
            <a:pPr eaLnBrk="1" hangingPunct="1">
              <a:defRPr/>
            </a:pPr>
            <a:r>
              <a:rPr lang="fr-FR" sz="1400" dirty="0">
                <a:solidFill>
                  <a:srgbClr val="FF6600"/>
                </a:solidFill>
                <a:latin typeface="Arial" pitchFamily="34" charset="0"/>
                <a:cs typeface="Arial" pitchFamily="34" charset="0"/>
              </a:rPr>
              <a:t>C1 =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P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Q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 R       donc ( par résolution)  </a:t>
            </a:r>
            <a:r>
              <a:rPr lang="fr-FR" sz="1400" dirty="0">
                <a:solidFill>
                  <a:srgbClr val="0033CC"/>
                </a:solidFill>
                <a:latin typeface="Arial" pitchFamily="34" charset="0"/>
                <a:cs typeface="Arial" pitchFamily="34" charset="0"/>
              </a:rPr>
              <a:t>C6 = </a:t>
            </a:r>
            <a:r>
              <a:rPr lang="fr-FR" sz="1400" dirty="0">
                <a:solidFill>
                  <a:srgbClr val="0033CC"/>
                </a:solidFill>
                <a:latin typeface="Arial" pitchFamily="34" charset="0"/>
                <a:cs typeface="Arial" pitchFamily="34" charset="0"/>
                <a:sym typeface="Symbol" pitchFamily="18" charset="2"/>
              </a:rPr>
              <a:t></a:t>
            </a:r>
            <a:r>
              <a:rPr lang="fr-FR" sz="1400" dirty="0">
                <a:solidFill>
                  <a:srgbClr val="0033CC"/>
                </a:solidFill>
                <a:latin typeface="Arial" pitchFamily="34" charset="0"/>
                <a:cs typeface="Arial" pitchFamily="34" charset="0"/>
              </a:rPr>
              <a:t>P </a:t>
            </a:r>
            <a:r>
              <a:rPr lang="fr-FR" sz="1400" dirty="0">
                <a:solidFill>
                  <a:srgbClr val="0033CC"/>
                </a:solidFill>
                <a:latin typeface="Arial" pitchFamily="34" charset="0"/>
                <a:cs typeface="Arial" pitchFamily="34" charset="0"/>
                <a:sym typeface="Symbol" pitchFamily="18" charset="2"/>
              </a:rPr>
              <a:t></a:t>
            </a:r>
            <a:r>
              <a:rPr lang="fr-FR" sz="1400" dirty="0">
                <a:solidFill>
                  <a:srgbClr val="0033CC"/>
                </a:solidFill>
                <a:latin typeface="Arial" pitchFamily="34" charset="0"/>
                <a:cs typeface="Arial" pitchFamily="34" charset="0"/>
              </a:rPr>
              <a:t> </a:t>
            </a:r>
            <a:r>
              <a:rPr lang="fr-FR" sz="1400" dirty="0">
                <a:solidFill>
                  <a:srgbClr val="0033CC"/>
                </a:solidFill>
                <a:latin typeface="Arial" pitchFamily="34" charset="0"/>
                <a:cs typeface="Arial" pitchFamily="34" charset="0"/>
                <a:sym typeface="Symbol" pitchFamily="18" charset="2"/>
              </a:rPr>
              <a:t></a:t>
            </a:r>
            <a:r>
              <a:rPr lang="fr-FR" sz="1400" dirty="0">
                <a:solidFill>
                  <a:srgbClr val="0033CC"/>
                </a:solidFill>
                <a:latin typeface="Arial" pitchFamily="34" charset="0"/>
                <a:cs typeface="Arial" pitchFamily="34" charset="0"/>
              </a:rPr>
              <a:t>Q</a:t>
            </a:r>
          </a:p>
          <a:p>
            <a:pPr eaLnBrk="1" hangingPunct="1">
              <a:defRPr/>
            </a:pPr>
            <a:r>
              <a:rPr lang="fr-FR" sz="1400" dirty="0">
                <a:solidFill>
                  <a:srgbClr val="FF6600"/>
                </a:solidFill>
                <a:latin typeface="Arial" pitchFamily="34" charset="0"/>
                <a:cs typeface="Arial" pitchFamily="34" charset="0"/>
              </a:rPr>
              <a:t>C2 = </a:t>
            </a:r>
            <a:r>
              <a:rPr lang="en-US"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R</a:t>
            </a:r>
          </a:p>
          <a:p>
            <a:pPr eaLnBrk="1" hangingPunct="1">
              <a:defRPr/>
            </a:pPr>
            <a:endParaRPr lang="fr-FR" sz="1400" dirty="0">
              <a:solidFill>
                <a:srgbClr val="FF6600"/>
              </a:solidFill>
              <a:latin typeface="Arial" pitchFamily="34" charset="0"/>
              <a:cs typeface="Arial" pitchFamily="34" charset="0"/>
            </a:endParaRPr>
          </a:p>
          <a:p>
            <a:pPr eaLnBrk="1" hangingPunct="1">
              <a:defRPr/>
            </a:pPr>
            <a:r>
              <a:rPr lang="fr-FR" sz="1400" dirty="0">
                <a:solidFill>
                  <a:srgbClr val="FF6600"/>
                </a:solidFill>
                <a:latin typeface="Arial" pitchFamily="34" charset="0"/>
                <a:cs typeface="Arial" pitchFamily="34" charset="0"/>
              </a:rPr>
              <a:t>C6 =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P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Q	donc  </a:t>
            </a:r>
            <a:r>
              <a:rPr lang="fr-FR" sz="1400" dirty="0">
                <a:solidFill>
                  <a:srgbClr val="0033CC"/>
                </a:solidFill>
                <a:latin typeface="Arial" pitchFamily="34" charset="0"/>
                <a:cs typeface="Arial" pitchFamily="34" charset="0"/>
              </a:rPr>
              <a:t>C7 = </a:t>
            </a:r>
            <a:r>
              <a:rPr lang="fr-FR" sz="1400" dirty="0">
                <a:solidFill>
                  <a:srgbClr val="0033CC"/>
                </a:solidFill>
                <a:latin typeface="Arial" pitchFamily="34" charset="0"/>
                <a:cs typeface="Arial" pitchFamily="34" charset="0"/>
                <a:sym typeface="Symbol" pitchFamily="18" charset="2"/>
              </a:rPr>
              <a:t></a:t>
            </a:r>
            <a:r>
              <a:rPr lang="fr-FR" sz="1400" dirty="0">
                <a:solidFill>
                  <a:srgbClr val="0033CC"/>
                </a:solidFill>
                <a:latin typeface="Arial" pitchFamily="34" charset="0"/>
                <a:cs typeface="Arial" pitchFamily="34" charset="0"/>
              </a:rPr>
              <a:t>Q</a:t>
            </a:r>
          </a:p>
          <a:p>
            <a:pPr eaLnBrk="1" hangingPunct="1">
              <a:defRPr/>
            </a:pPr>
            <a:r>
              <a:rPr lang="fr-FR" sz="1400" dirty="0">
                <a:solidFill>
                  <a:srgbClr val="FF6600"/>
                </a:solidFill>
                <a:latin typeface="Arial" pitchFamily="34" charset="0"/>
                <a:cs typeface="Arial" pitchFamily="34" charset="0"/>
              </a:rPr>
              <a:t>C3 = P</a:t>
            </a:r>
          </a:p>
          <a:p>
            <a:pPr eaLnBrk="1" hangingPunct="1">
              <a:defRPr/>
            </a:pPr>
            <a:endParaRPr lang="fr-FR" sz="1400" dirty="0">
              <a:solidFill>
                <a:srgbClr val="FF6600"/>
              </a:solidFill>
              <a:latin typeface="Arial" pitchFamily="34" charset="0"/>
              <a:cs typeface="Arial" pitchFamily="34" charset="0"/>
            </a:endParaRPr>
          </a:p>
          <a:p>
            <a:pPr eaLnBrk="1" hangingPunct="1">
              <a:defRPr/>
            </a:pPr>
            <a:r>
              <a:rPr lang="fr-FR" sz="1400" dirty="0">
                <a:solidFill>
                  <a:srgbClr val="FF6600"/>
                </a:solidFill>
                <a:latin typeface="Arial" pitchFamily="34" charset="0"/>
                <a:cs typeface="Arial" pitchFamily="34" charset="0"/>
              </a:rPr>
              <a:t>C7 =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Q 		donc  </a:t>
            </a:r>
            <a:r>
              <a:rPr lang="fr-FR" sz="1400" dirty="0">
                <a:solidFill>
                  <a:srgbClr val="0033CC"/>
                </a:solidFill>
                <a:latin typeface="Arial" pitchFamily="34" charset="0"/>
                <a:cs typeface="Arial" pitchFamily="34" charset="0"/>
              </a:rPr>
              <a:t>C8 = </a:t>
            </a:r>
            <a:r>
              <a:rPr lang="fr-FR" sz="1400" dirty="0">
                <a:solidFill>
                  <a:srgbClr val="0033CC"/>
                </a:solidFill>
                <a:latin typeface="Arial" pitchFamily="34" charset="0"/>
                <a:cs typeface="Arial" pitchFamily="34" charset="0"/>
                <a:sym typeface="Symbol" pitchFamily="18" charset="2"/>
              </a:rPr>
              <a:t></a:t>
            </a:r>
            <a:r>
              <a:rPr lang="fr-FR" sz="1400" dirty="0">
                <a:solidFill>
                  <a:srgbClr val="0033CC"/>
                </a:solidFill>
                <a:latin typeface="Arial" pitchFamily="34" charset="0"/>
                <a:cs typeface="Arial" pitchFamily="34" charset="0"/>
              </a:rPr>
              <a:t>T</a:t>
            </a:r>
          </a:p>
          <a:p>
            <a:pPr eaLnBrk="1" hangingPunct="1">
              <a:defRPr/>
            </a:pPr>
            <a:r>
              <a:rPr lang="fr-FR" sz="1400" dirty="0">
                <a:solidFill>
                  <a:srgbClr val="FF6600"/>
                </a:solidFill>
                <a:latin typeface="Arial" pitchFamily="34" charset="0"/>
                <a:cs typeface="Arial" pitchFamily="34" charset="0"/>
              </a:rPr>
              <a:t>C4 =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T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 Q</a:t>
            </a:r>
          </a:p>
          <a:p>
            <a:pPr eaLnBrk="1" hangingPunct="1">
              <a:defRPr/>
            </a:pPr>
            <a:endParaRPr lang="fr-FR" sz="1400" dirty="0">
              <a:solidFill>
                <a:srgbClr val="FF6600"/>
              </a:solidFill>
              <a:latin typeface="Arial" pitchFamily="34" charset="0"/>
              <a:cs typeface="Arial" pitchFamily="34" charset="0"/>
            </a:endParaRPr>
          </a:p>
          <a:p>
            <a:pPr eaLnBrk="1" hangingPunct="1">
              <a:defRPr/>
            </a:pPr>
            <a:r>
              <a:rPr lang="fr-FR" sz="1400" dirty="0">
                <a:solidFill>
                  <a:srgbClr val="FF6600"/>
                </a:solidFill>
                <a:latin typeface="Arial" pitchFamily="34" charset="0"/>
                <a:cs typeface="Arial" pitchFamily="34" charset="0"/>
              </a:rPr>
              <a:t>C8 = </a:t>
            </a:r>
            <a:r>
              <a:rPr lang="fr-FR" sz="1400" dirty="0">
                <a:solidFill>
                  <a:srgbClr val="FF6600"/>
                </a:solidFill>
                <a:latin typeface="Arial" pitchFamily="34" charset="0"/>
                <a:cs typeface="Arial" pitchFamily="34" charset="0"/>
                <a:sym typeface="Symbol" pitchFamily="18" charset="2"/>
              </a:rPr>
              <a:t></a:t>
            </a:r>
            <a:r>
              <a:rPr lang="fr-FR" sz="1400" dirty="0">
                <a:solidFill>
                  <a:srgbClr val="FF6600"/>
                </a:solidFill>
                <a:latin typeface="Arial" pitchFamily="34" charset="0"/>
                <a:cs typeface="Arial" pitchFamily="34" charset="0"/>
              </a:rPr>
              <a:t>T 		donc  </a:t>
            </a:r>
            <a:r>
              <a:rPr lang="fr-FR" sz="1400" dirty="0">
                <a:solidFill>
                  <a:srgbClr val="0033CC"/>
                </a:solidFill>
                <a:latin typeface="Arial" pitchFamily="34" charset="0"/>
                <a:cs typeface="Arial" pitchFamily="34" charset="0"/>
              </a:rPr>
              <a:t>C9 = Ø ou </a:t>
            </a:r>
            <a:r>
              <a:rPr lang="fr-FR" sz="1400" dirty="0">
                <a:solidFill>
                  <a:srgbClr val="0033CC"/>
                </a:solidFill>
                <a:latin typeface="Arial" pitchFamily="34" charset="0"/>
                <a:cs typeface="Arial" pitchFamily="34" charset="0"/>
                <a:sym typeface="Symbol" panose="05050102010706020507" pitchFamily="18" charset="2"/>
              </a:rPr>
              <a:t></a:t>
            </a:r>
            <a:endParaRPr lang="fr-FR" sz="1400" dirty="0">
              <a:solidFill>
                <a:srgbClr val="0033CC"/>
              </a:solidFill>
              <a:latin typeface="Arial" pitchFamily="34" charset="0"/>
              <a:cs typeface="Arial" pitchFamily="34" charset="0"/>
            </a:endParaRPr>
          </a:p>
          <a:p>
            <a:pPr eaLnBrk="1" hangingPunct="1">
              <a:defRPr/>
            </a:pPr>
            <a:r>
              <a:rPr lang="fr-FR" sz="1400" dirty="0">
                <a:solidFill>
                  <a:srgbClr val="FF6600"/>
                </a:solidFill>
                <a:latin typeface="Arial" pitchFamily="34" charset="0"/>
                <a:cs typeface="Arial" pitchFamily="34" charset="0"/>
              </a:rPr>
              <a:t>C5 = T</a:t>
            </a:r>
          </a:p>
          <a:p>
            <a:pPr eaLnBrk="1" hangingPunct="1">
              <a:defRPr/>
            </a:pPr>
            <a:endParaRPr lang="fr-FR" sz="1400" dirty="0">
              <a:solidFill>
                <a:srgbClr val="FF6600"/>
              </a:solidFill>
              <a:latin typeface="Arial" pitchFamily="34" charset="0"/>
              <a:cs typeface="Arial" pitchFamily="34" charset="0"/>
            </a:endParaRPr>
          </a:p>
          <a:p>
            <a:pPr eaLnBrk="1" hangingPunct="1">
              <a:defRPr/>
            </a:pPr>
            <a:r>
              <a:rPr lang="fr-FR" sz="1400" dirty="0">
                <a:latin typeface="Arial" pitchFamily="34" charset="0"/>
                <a:cs typeface="Arial" pitchFamily="34" charset="0"/>
              </a:rPr>
              <a:t>A partir de l'ensemble des clauses de la </a:t>
            </a:r>
            <a:r>
              <a:rPr lang="fr-FR" sz="1400" dirty="0" err="1">
                <a:latin typeface="Arial" pitchFamily="34" charset="0"/>
                <a:cs typeface="Arial" pitchFamily="34" charset="0"/>
              </a:rPr>
              <a:t>fbf</a:t>
            </a:r>
            <a:r>
              <a:rPr lang="fr-FR" sz="1400" dirty="0">
                <a:latin typeface="Arial" pitchFamily="34" charset="0"/>
                <a:cs typeface="Arial" pitchFamily="34" charset="0"/>
              </a:rPr>
              <a:t> </a:t>
            </a:r>
            <a:r>
              <a:rPr lang="fr-FR" sz="1400" dirty="0">
                <a:latin typeface="Arial" pitchFamily="34" charset="0"/>
                <a:cs typeface="Arial" pitchFamily="34" charset="0"/>
                <a:sym typeface="Symbol" pitchFamily="18" charset="2"/>
              </a:rPr>
              <a:t></a:t>
            </a:r>
            <a:r>
              <a:rPr lang="fr-FR" sz="1400" dirty="0">
                <a:latin typeface="Arial" pitchFamily="34" charset="0"/>
                <a:cs typeface="Arial" pitchFamily="34" charset="0"/>
              </a:rPr>
              <a:t>F on a déduit la clause vide donc</a:t>
            </a:r>
          </a:p>
          <a:p>
            <a:pPr eaLnBrk="1" hangingPunct="1">
              <a:defRPr/>
            </a:pPr>
            <a:r>
              <a:rPr lang="fr-FR" sz="1400" dirty="0">
                <a:latin typeface="Arial" pitchFamily="34" charset="0"/>
                <a:cs typeface="Arial" pitchFamily="34" charset="0"/>
              </a:rPr>
              <a:t>on peut conclure que </a:t>
            </a:r>
            <a:r>
              <a:rPr lang="fr-FR" sz="1400" dirty="0">
                <a:latin typeface="Arial" pitchFamily="34" charset="0"/>
                <a:cs typeface="Arial" pitchFamily="34" charset="0"/>
                <a:sym typeface="Symbol" pitchFamily="18" charset="2"/>
              </a:rPr>
              <a:t></a:t>
            </a:r>
            <a:r>
              <a:rPr lang="fr-FR" sz="1400" b="1" dirty="0">
                <a:latin typeface="Arial" pitchFamily="34" charset="0"/>
                <a:cs typeface="Arial" pitchFamily="34" charset="0"/>
              </a:rPr>
              <a:t>F est </a:t>
            </a:r>
            <a:r>
              <a:rPr lang="fr-FR" sz="1400" b="1" dirty="0" err="1">
                <a:latin typeface="Arial" pitchFamily="34" charset="0"/>
                <a:cs typeface="Arial" pitchFamily="34" charset="0"/>
              </a:rPr>
              <a:t>insatisfiable</a:t>
            </a:r>
            <a:r>
              <a:rPr lang="fr-FR" sz="1400" b="1" dirty="0">
                <a:latin typeface="Arial" pitchFamily="34" charset="0"/>
                <a:cs typeface="Arial" pitchFamily="34" charset="0"/>
              </a:rPr>
              <a:t> </a:t>
            </a:r>
            <a:r>
              <a:rPr lang="fr-FR" sz="1400" dirty="0">
                <a:latin typeface="Arial" pitchFamily="34" charset="0"/>
                <a:cs typeface="Arial" pitchFamily="34" charset="0"/>
              </a:rPr>
              <a:t>et donc que </a:t>
            </a:r>
            <a:r>
              <a:rPr lang="fr-FR" sz="1400" b="1" dirty="0">
                <a:latin typeface="Arial" pitchFamily="34" charset="0"/>
                <a:cs typeface="Arial" pitchFamily="34" charset="0"/>
              </a:rPr>
              <a:t>F est valide</a:t>
            </a:r>
            <a:r>
              <a:rPr lang="fr-FR" sz="1400" dirty="0">
                <a:latin typeface="Arial" pitchFamily="34" charset="0"/>
                <a:cs typeface="Arial" pitchFamily="34" charset="0"/>
              </a:rPr>
              <a:t>.</a:t>
            </a:r>
          </a:p>
        </p:txBody>
      </p:sp>
      <p:sp>
        <p:nvSpPr>
          <p:cNvPr id="4" name="Rectangle 3">
            <a:extLst>
              <a:ext uri="{FF2B5EF4-FFF2-40B4-BE49-F238E27FC236}">
                <a16:creationId xmlns:a16="http://schemas.microsoft.com/office/drawing/2014/main" xmlns="" id="{8030ADED-6391-45A7-669F-906B48A7C4C4}"/>
              </a:ext>
            </a:extLst>
          </p:cNvPr>
          <p:cNvSpPr>
            <a:spLocks noChangeArrowheads="1"/>
          </p:cNvSpPr>
          <p:nvPr/>
        </p:nvSpPr>
        <p:spPr bwMode="auto">
          <a:xfrm>
            <a:off x="4355976" y="1490663"/>
            <a:ext cx="2844800" cy="19383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r>
              <a:rPr lang="fr-FR" altLang="fr-FR">
                <a:solidFill>
                  <a:srgbClr val="FF6600"/>
                </a:solidFill>
                <a:latin typeface="Arial" panose="020B0604020202020204" pitchFamily="34" charset="0"/>
                <a:cs typeface="Arial" panose="020B0604020202020204" pitchFamily="34" charset="0"/>
                <a:sym typeface="Symbol" panose="05050102010706020507" pitchFamily="18" charset="2"/>
              </a:rPr>
              <a:t>C1=</a:t>
            </a:r>
            <a:r>
              <a:rPr lang="fr-FR" altLang="fr-FR">
                <a:solidFill>
                  <a:srgbClr val="FF6600"/>
                </a:solidFill>
                <a:latin typeface="Arial" panose="020B0604020202020204" pitchFamily="34" charset="0"/>
                <a:cs typeface="Arial" panose="020B0604020202020204" pitchFamily="34" charset="0"/>
              </a:rPr>
              <a:t>P </a:t>
            </a:r>
            <a:r>
              <a:rPr lang="fr-FR" altLang="fr-FR">
                <a:solidFill>
                  <a:srgbClr val="FF6600"/>
                </a:solidFill>
                <a:latin typeface="Arial" panose="020B0604020202020204" pitchFamily="34" charset="0"/>
                <a:cs typeface="Arial" panose="020B0604020202020204" pitchFamily="34" charset="0"/>
                <a:sym typeface="Symbol" panose="05050102010706020507" pitchFamily="18" charset="2"/>
              </a:rPr>
              <a:t></a:t>
            </a:r>
            <a:r>
              <a:rPr lang="fr-FR" altLang="fr-FR">
                <a:solidFill>
                  <a:srgbClr val="FF6600"/>
                </a:solidFill>
                <a:latin typeface="Arial" panose="020B0604020202020204" pitchFamily="34" charset="0"/>
                <a:cs typeface="Arial" panose="020B0604020202020204" pitchFamily="34" charset="0"/>
              </a:rPr>
              <a:t> </a:t>
            </a:r>
            <a:r>
              <a:rPr lang="fr-FR" altLang="fr-FR">
                <a:solidFill>
                  <a:srgbClr val="FF6600"/>
                </a:solidFill>
                <a:latin typeface="Arial" panose="020B0604020202020204" pitchFamily="34" charset="0"/>
                <a:cs typeface="Arial" panose="020B0604020202020204" pitchFamily="34" charset="0"/>
                <a:sym typeface="Symbol" panose="05050102010706020507" pitchFamily="18" charset="2"/>
              </a:rPr>
              <a:t></a:t>
            </a:r>
            <a:r>
              <a:rPr lang="fr-FR" altLang="fr-FR">
                <a:solidFill>
                  <a:srgbClr val="FF6600"/>
                </a:solidFill>
                <a:latin typeface="Arial" panose="020B0604020202020204" pitchFamily="34" charset="0"/>
                <a:cs typeface="Arial" panose="020B0604020202020204" pitchFamily="34" charset="0"/>
              </a:rPr>
              <a:t>Q </a:t>
            </a:r>
            <a:r>
              <a:rPr lang="fr-FR" altLang="fr-FR">
                <a:solidFill>
                  <a:srgbClr val="FF6600"/>
                </a:solidFill>
                <a:latin typeface="Arial" panose="020B0604020202020204" pitchFamily="34" charset="0"/>
                <a:cs typeface="Arial" panose="020B0604020202020204" pitchFamily="34" charset="0"/>
                <a:sym typeface="Symbol" panose="05050102010706020507" pitchFamily="18" charset="2"/>
              </a:rPr>
              <a:t> </a:t>
            </a:r>
            <a:r>
              <a:rPr lang="fr-FR" altLang="fr-FR">
                <a:solidFill>
                  <a:srgbClr val="FF6600"/>
                </a:solidFill>
                <a:latin typeface="Arial" panose="020B0604020202020204" pitchFamily="34" charset="0"/>
                <a:cs typeface="Arial" panose="020B0604020202020204" pitchFamily="34" charset="0"/>
              </a:rPr>
              <a:t>R</a:t>
            </a:r>
          </a:p>
          <a:p>
            <a:pPr eaLnBrk="1" hangingPunct="1"/>
            <a:r>
              <a:rPr lang="fr-FR" altLang="fr-FR">
                <a:solidFill>
                  <a:srgbClr val="FF6600"/>
                </a:solidFill>
                <a:latin typeface="Arial" panose="020B0604020202020204" pitchFamily="34" charset="0"/>
                <a:cs typeface="Arial" panose="020B0604020202020204" pitchFamily="34" charset="0"/>
              </a:rPr>
              <a:t>C2= </a:t>
            </a:r>
            <a:r>
              <a:rPr lang="fr-FR" altLang="fr-FR">
                <a:solidFill>
                  <a:srgbClr val="FF6600"/>
                </a:solidFill>
                <a:latin typeface="Arial" panose="020B0604020202020204" pitchFamily="34" charset="0"/>
                <a:cs typeface="Arial" panose="020B0604020202020204" pitchFamily="34" charset="0"/>
                <a:sym typeface="Symbol" panose="05050102010706020507" pitchFamily="18" charset="2"/>
              </a:rPr>
              <a:t></a:t>
            </a:r>
            <a:r>
              <a:rPr lang="fr-FR" altLang="fr-FR">
                <a:solidFill>
                  <a:srgbClr val="FF6600"/>
                </a:solidFill>
                <a:latin typeface="Arial" panose="020B0604020202020204" pitchFamily="34" charset="0"/>
                <a:cs typeface="Arial" panose="020B0604020202020204" pitchFamily="34" charset="0"/>
              </a:rPr>
              <a:t>R,</a:t>
            </a:r>
          </a:p>
          <a:p>
            <a:pPr eaLnBrk="1" hangingPunct="1"/>
            <a:r>
              <a:rPr lang="fr-FR" altLang="fr-FR">
                <a:solidFill>
                  <a:srgbClr val="FF6600"/>
                </a:solidFill>
                <a:latin typeface="Arial" panose="020B0604020202020204" pitchFamily="34" charset="0"/>
                <a:cs typeface="Arial" panose="020B0604020202020204" pitchFamily="34" charset="0"/>
              </a:rPr>
              <a:t>C3=P</a:t>
            </a:r>
          </a:p>
          <a:p>
            <a:pPr eaLnBrk="1" hangingPunct="1"/>
            <a:r>
              <a:rPr lang="fr-FR" altLang="fr-FR">
                <a:solidFill>
                  <a:srgbClr val="FF6600"/>
                </a:solidFill>
                <a:latin typeface="Arial" panose="020B0604020202020204" pitchFamily="34" charset="0"/>
                <a:cs typeface="Arial" panose="020B0604020202020204" pitchFamily="34" charset="0"/>
              </a:rPr>
              <a:t>C4=</a:t>
            </a:r>
            <a:r>
              <a:rPr lang="fr-FR" altLang="fr-FR">
                <a:solidFill>
                  <a:srgbClr val="FF6600"/>
                </a:solidFill>
                <a:latin typeface="Arial" panose="020B0604020202020204" pitchFamily="34" charset="0"/>
                <a:cs typeface="Arial" panose="020B0604020202020204" pitchFamily="34" charset="0"/>
                <a:sym typeface="Symbol" panose="05050102010706020507" pitchFamily="18" charset="2"/>
              </a:rPr>
              <a:t></a:t>
            </a:r>
            <a:r>
              <a:rPr lang="fr-FR" altLang="fr-FR">
                <a:solidFill>
                  <a:srgbClr val="FF6600"/>
                </a:solidFill>
                <a:latin typeface="Arial" panose="020B0604020202020204" pitchFamily="34" charset="0"/>
                <a:cs typeface="Arial" panose="020B0604020202020204" pitchFamily="34" charset="0"/>
              </a:rPr>
              <a:t>T </a:t>
            </a:r>
            <a:r>
              <a:rPr lang="fr-FR" altLang="fr-FR">
                <a:solidFill>
                  <a:srgbClr val="FF6600"/>
                </a:solidFill>
                <a:latin typeface="Arial" panose="020B0604020202020204" pitchFamily="34" charset="0"/>
                <a:cs typeface="Arial" panose="020B0604020202020204" pitchFamily="34" charset="0"/>
                <a:sym typeface="Symbol" panose="05050102010706020507" pitchFamily="18" charset="2"/>
              </a:rPr>
              <a:t> </a:t>
            </a:r>
            <a:r>
              <a:rPr lang="fr-FR" altLang="fr-FR">
                <a:solidFill>
                  <a:srgbClr val="FF6600"/>
                </a:solidFill>
                <a:latin typeface="Arial" panose="020B0604020202020204" pitchFamily="34" charset="0"/>
                <a:cs typeface="Arial" panose="020B0604020202020204" pitchFamily="34" charset="0"/>
              </a:rPr>
              <a:t>Q</a:t>
            </a:r>
          </a:p>
          <a:p>
            <a:pPr eaLnBrk="1" hangingPunct="1"/>
            <a:r>
              <a:rPr lang="fr-FR" altLang="fr-FR">
                <a:solidFill>
                  <a:srgbClr val="FF6600"/>
                </a:solidFill>
                <a:latin typeface="Arial" panose="020B0604020202020204" pitchFamily="34" charset="0"/>
                <a:cs typeface="Arial" panose="020B0604020202020204" pitchFamily="34" charset="0"/>
              </a:rPr>
              <a:t>C5=T</a:t>
            </a:r>
          </a:p>
        </p:txBody>
      </p:sp>
    </p:spTree>
    <p:extLst>
      <p:ext uri="{BB962C8B-B14F-4D97-AF65-F5344CB8AC3E}">
        <p14:creationId xmlns:p14="http://schemas.microsoft.com/office/powerpoint/2010/main" val="10323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14" end="14"/>
                                            </p:txEl>
                                          </p:spTgt>
                                        </p:tgtEl>
                                        <p:attrNameLst>
                                          <p:attrName>style.visibility</p:attrName>
                                        </p:attrNameLst>
                                      </p:cBhvr>
                                      <p:to>
                                        <p:strVal val="visible"/>
                                      </p:to>
                                    </p:set>
                                    <p:animEffect transition="in" filter="checkerboard(across)">
                                      <p:cBhvr>
                                        <p:cTn id="7" dur="500"/>
                                        <p:tgtEl>
                                          <p:spTgt spid="3">
                                            <p:txEl>
                                              <p:pRg st="14" end="14"/>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
                                            <p:txEl>
                                              <p:pRg st="15" end="15"/>
                                            </p:txEl>
                                          </p:spTgt>
                                        </p:tgtEl>
                                        <p:attrNameLst>
                                          <p:attrName>style.visibility</p:attrName>
                                        </p:attrNameLst>
                                      </p:cBhvr>
                                      <p:to>
                                        <p:strVal val="visible"/>
                                      </p:to>
                                    </p:set>
                                    <p:animEffect transition="in" filter="checkerboard(across)">
                                      <p:cBhvr>
                                        <p:cTn id="10" dur="500"/>
                                        <p:tgtEl>
                                          <p:spTgt spid="3">
                                            <p:txEl>
                                              <p:pRg st="15" end="1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3">
                                            <p:txEl>
                                              <p:pRg st="17" end="17"/>
                                            </p:txEl>
                                          </p:spTgt>
                                        </p:tgtEl>
                                        <p:attrNameLst>
                                          <p:attrName>style.visibility</p:attrName>
                                        </p:attrNameLst>
                                      </p:cBhvr>
                                      <p:to>
                                        <p:strVal val="visible"/>
                                      </p:to>
                                    </p:set>
                                    <p:animEffect transition="in" filter="checkerboard(across)">
                                      <p:cBhvr>
                                        <p:cTn id="15" dur="500"/>
                                        <p:tgtEl>
                                          <p:spTgt spid="3">
                                            <p:txEl>
                                              <p:pRg st="17" end="17"/>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3">
                                            <p:txEl>
                                              <p:pRg st="18" end="18"/>
                                            </p:txEl>
                                          </p:spTgt>
                                        </p:tgtEl>
                                        <p:attrNameLst>
                                          <p:attrName>style.visibility</p:attrName>
                                        </p:attrNameLst>
                                      </p:cBhvr>
                                      <p:to>
                                        <p:strVal val="visible"/>
                                      </p:to>
                                    </p:set>
                                    <p:animEffect transition="in" filter="checkerboard(across)">
                                      <p:cBhvr>
                                        <p:cTn id="18" dur="500"/>
                                        <p:tgtEl>
                                          <p:spTgt spid="3">
                                            <p:txEl>
                                              <p:pRg st="18" end="1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nodeType="clickEffect">
                                  <p:stCondLst>
                                    <p:cond delay="0"/>
                                  </p:stCondLst>
                                  <p:childTnLst>
                                    <p:set>
                                      <p:cBhvr>
                                        <p:cTn id="22" dur="1" fill="hold">
                                          <p:stCondLst>
                                            <p:cond delay="0"/>
                                          </p:stCondLst>
                                        </p:cTn>
                                        <p:tgtEl>
                                          <p:spTgt spid="3">
                                            <p:txEl>
                                              <p:pRg st="20" end="20"/>
                                            </p:txEl>
                                          </p:spTgt>
                                        </p:tgtEl>
                                        <p:attrNameLst>
                                          <p:attrName>style.visibility</p:attrName>
                                        </p:attrNameLst>
                                      </p:cBhvr>
                                      <p:to>
                                        <p:strVal val="visible"/>
                                      </p:to>
                                    </p:set>
                                    <p:animEffect transition="in" filter="checkerboard(across)">
                                      <p:cBhvr>
                                        <p:cTn id="23" dur="500"/>
                                        <p:tgtEl>
                                          <p:spTgt spid="3">
                                            <p:txEl>
                                              <p:pRg st="20" end="20"/>
                                            </p:txEl>
                                          </p:spTgt>
                                        </p:tgtEl>
                                      </p:cBhvr>
                                    </p:animEffect>
                                  </p:childTnLst>
                                </p:cTn>
                              </p:par>
                              <p:par>
                                <p:cTn id="24" presetID="5" presetClass="entr" presetSubtype="10" fill="hold" nodeType="withEffect">
                                  <p:stCondLst>
                                    <p:cond delay="0"/>
                                  </p:stCondLst>
                                  <p:childTnLst>
                                    <p:set>
                                      <p:cBhvr>
                                        <p:cTn id="25" dur="1" fill="hold">
                                          <p:stCondLst>
                                            <p:cond delay="0"/>
                                          </p:stCondLst>
                                        </p:cTn>
                                        <p:tgtEl>
                                          <p:spTgt spid="3">
                                            <p:txEl>
                                              <p:pRg st="21" end="21"/>
                                            </p:txEl>
                                          </p:spTgt>
                                        </p:tgtEl>
                                        <p:attrNameLst>
                                          <p:attrName>style.visibility</p:attrName>
                                        </p:attrNameLst>
                                      </p:cBhvr>
                                      <p:to>
                                        <p:strVal val="visible"/>
                                      </p:to>
                                    </p:set>
                                    <p:animEffect transition="in" filter="checkerboard(across)">
                                      <p:cBhvr>
                                        <p:cTn id="26" dur="500"/>
                                        <p:tgtEl>
                                          <p:spTgt spid="3">
                                            <p:txEl>
                                              <p:pRg st="21" end="2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3">
                                            <p:txEl>
                                              <p:pRg st="23" end="23"/>
                                            </p:txEl>
                                          </p:spTgt>
                                        </p:tgtEl>
                                        <p:attrNameLst>
                                          <p:attrName>style.visibility</p:attrName>
                                        </p:attrNameLst>
                                      </p:cBhvr>
                                      <p:to>
                                        <p:strVal val="visible"/>
                                      </p:to>
                                    </p:set>
                                    <p:animEffect transition="in" filter="checkerboard(across)">
                                      <p:cBhvr>
                                        <p:cTn id="31" dur="500"/>
                                        <p:tgtEl>
                                          <p:spTgt spid="3">
                                            <p:txEl>
                                              <p:pRg st="23" end="23"/>
                                            </p:txEl>
                                          </p:spTgt>
                                        </p:tgtEl>
                                      </p:cBhvr>
                                    </p:animEffect>
                                  </p:childTnLst>
                                </p:cTn>
                              </p:par>
                              <p:par>
                                <p:cTn id="32" presetID="5" presetClass="entr" presetSubtype="10" fill="hold" nodeType="withEffect">
                                  <p:stCondLst>
                                    <p:cond delay="0"/>
                                  </p:stCondLst>
                                  <p:childTnLst>
                                    <p:set>
                                      <p:cBhvr>
                                        <p:cTn id="33" dur="1" fill="hold">
                                          <p:stCondLst>
                                            <p:cond delay="0"/>
                                          </p:stCondLst>
                                        </p:cTn>
                                        <p:tgtEl>
                                          <p:spTgt spid="3">
                                            <p:txEl>
                                              <p:pRg st="24" end="24"/>
                                            </p:txEl>
                                          </p:spTgt>
                                        </p:tgtEl>
                                        <p:attrNameLst>
                                          <p:attrName>style.visibility</p:attrName>
                                        </p:attrNameLst>
                                      </p:cBhvr>
                                      <p:to>
                                        <p:strVal val="visible"/>
                                      </p:to>
                                    </p:set>
                                    <p:animEffect transition="in" filter="checkerboard(across)">
                                      <p:cBhvr>
                                        <p:cTn id="34" dur="500"/>
                                        <p:tgtEl>
                                          <p:spTgt spid="3">
                                            <p:txEl>
                                              <p:pRg st="24" end="2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nodeType="clickEffect">
                                  <p:stCondLst>
                                    <p:cond delay="0"/>
                                  </p:stCondLst>
                                  <p:childTnLst>
                                    <p:set>
                                      <p:cBhvr>
                                        <p:cTn id="38" dur="1" fill="hold">
                                          <p:stCondLst>
                                            <p:cond delay="0"/>
                                          </p:stCondLst>
                                        </p:cTn>
                                        <p:tgtEl>
                                          <p:spTgt spid="3">
                                            <p:txEl>
                                              <p:pRg st="26" end="26"/>
                                            </p:txEl>
                                          </p:spTgt>
                                        </p:tgtEl>
                                        <p:attrNameLst>
                                          <p:attrName>style.visibility</p:attrName>
                                        </p:attrNameLst>
                                      </p:cBhvr>
                                      <p:to>
                                        <p:strVal val="visible"/>
                                      </p:to>
                                    </p:set>
                                    <p:animEffect transition="in" filter="checkerboard(across)">
                                      <p:cBhvr>
                                        <p:cTn id="39" dur="500"/>
                                        <p:tgtEl>
                                          <p:spTgt spid="3">
                                            <p:txEl>
                                              <p:pRg st="26" end="26"/>
                                            </p:txEl>
                                          </p:spTgt>
                                        </p:tgtEl>
                                      </p:cBhvr>
                                    </p:animEffect>
                                  </p:childTnLst>
                                </p:cTn>
                              </p:par>
                              <p:par>
                                <p:cTn id="40" presetID="5" presetClass="entr" presetSubtype="10" fill="hold" nodeType="withEffect">
                                  <p:stCondLst>
                                    <p:cond delay="0"/>
                                  </p:stCondLst>
                                  <p:childTnLst>
                                    <p:set>
                                      <p:cBhvr>
                                        <p:cTn id="41" dur="1" fill="hold">
                                          <p:stCondLst>
                                            <p:cond delay="0"/>
                                          </p:stCondLst>
                                        </p:cTn>
                                        <p:tgtEl>
                                          <p:spTgt spid="3">
                                            <p:txEl>
                                              <p:pRg st="27" end="27"/>
                                            </p:txEl>
                                          </p:spTgt>
                                        </p:tgtEl>
                                        <p:attrNameLst>
                                          <p:attrName>style.visibility</p:attrName>
                                        </p:attrNameLst>
                                      </p:cBhvr>
                                      <p:to>
                                        <p:strVal val="visible"/>
                                      </p:to>
                                    </p:set>
                                    <p:animEffect transition="in" filter="checkerboard(across)">
                                      <p:cBhvr>
                                        <p:cTn id="42" dur="500"/>
                                        <p:tgtEl>
                                          <p:spTgt spid="3">
                                            <p:txEl>
                                              <p:pRg st="27" end="2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254444" y="84223"/>
            <a:ext cx="8424936"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ct val="50000"/>
              </a:spcBef>
            </a:pPr>
            <a:r>
              <a:rPr lang="fr-FR" altLang="fr-FR" dirty="0">
                <a:solidFill>
                  <a:srgbClr val="0000FF"/>
                </a:solidFill>
              </a:rPr>
              <a:t>Application du Principe de  résolution</a:t>
            </a:r>
          </a:p>
        </p:txBody>
      </p:sp>
      <p:pic>
        <p:nvPicPr>
          <p:cNvPr id="3" name="Picture 2">
            <a:extLst>
              <a:ext uri="{FF2B5EF4-FFF2-40B4-BE49-F238E27FC236}">
                <a16:creationId xmlns:a16="http://schemas.microsoft.com/office/drawing/2014/main" xmlns="" id="{F5BE9F09-5F7B-800D-539C-A7F2508DBA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154" b="536"/>
          <a:stretch>
            <a:fillRect/>
          </a:stretch>
        </p:blipFill>
        <p:spPr bwMode="auto">
          <a:xfrm>
            <a:off x="1937893" y="2829347"/>
            <a:ext cx="5329238" cy="352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3">
            <a:extLst>
              <a:ext uri="{FF2B5EF4-FFF2-40B4-BE49-F238E27FC236}">
                <a16:creationId xmlns:a16="http://schemas.microsoft.com/office/drawing/2014/main" xmlns="" id="{B99F8062-DFA8-7C9D-4D22-D75BB747345C}"/>
              </a:ext>
            </a:extLst>
          </p:cNvPr>
          <p:cNvSpPr txBox="1">
            <a:spLocks noChangeArrowheads="1"/>
          </p:cNvSpPr>
          <p:nvPr/>
        </p:nvSpPr>
        <p:spPr bwMode="auto">
          <a:xfrm>
            <a:off x="388493" y="476672"/>
            <a:ext cx="8501063"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a:spcBef>
                <a:spcPct val="50000"/>
              </a:spcBef>
            </a:pPr>
            <a:endParaRPr lang="fr-FR" altLang="fr-FR" sz="1800" b="1" dirty="0"/>
          </a:p>
          <a:p>
            <a:pPr>
              <a:spcBef>
                <a:spcPct val="50000"/>
              </a:spcBef>
            </a:pPr>
            <a:r>
              <a:rPr lang="fr-FR" altLang="fr-FR" sz="1800" b="1" dirty="0"/>
              <a:t>Pour dériver une formule F à partir d’un ensemble de formules S, il suffit de montrer l’inconsistance de S U {</a:t>
            </a:r>
            <a:r>
              <a:rPr lang="fr-FR" altLang="fr-FR" sz="1800" b="1" dirty="0">
                <a:sym typeface="Symbol" panose="05050102010706020507" pitchFamily="18" charset="2"/>
              </a:rPr>
              <a:t></a:t>
            </a:r>
            <a:r>
              <a:rPr lang="fr-FR" altLang="fr-FR" sz="1800" b="1" dirty="0"/>
              <a:t>F} </a:t>
            </a:r>
          </a:p>
          <a:p>
            <a:pPr>
              <a:spcBef>
                <a:spcPct val="50000"/>
              </a:spcBef>
            </a:pPr>
            <a:r>
              <a:rPr lang="fr-CA" altLang="fr-FR" sz="1800" b="1" dirty="0">
                <a:solidFill>
                  <a:srgbClr val="FF6600"/>
                </a:solidFill>
              </a:rPr>
              <a:t>(On dit que S démontre F ou F est déduite de S)</a:t>
            </a:r>
            <a:endParaRPr lang="fr-FR" altLang="fr-FR" sz="1800" b="1" dirty="0">
              <a:solidFill>
                <a:srgbClr val="FF6600"/>
              </a:solidFill>
            </a:endParaRPr>
          </a:p>
          <a:p>
            <a:pPr>
              <a:spcBef>
                <a:spcPct val="50000"/>
              </a:spcBef>
            </a:pPr>
            <a:r>
              <a:rPr lang="fr-FR" altLang="fr-FR" sz="1400" dirty="0">
                <a:solidFill>
                  <a:srgbClr val="0000FF"/>
                </a:solidFill>
              </a:rPr>
              <a:t>Exemple : on veut montrer que </a:t>
            </a:r>
            <a:r>
              <a:rPr lang="fr-FR" altLang="fr-FR" sz="1600" b="1" dirty="0">
                <a:solidFill>
                  <a:srgbClr val="FF0000"/>
                </a:solidFill>
              </a:rPr>
              <a:t>r</a:t>
            </a:r>
            <a:r>
              <a:rPr lang="fr-FR" altLang="fr-FR" sz="1400" dirty="0">
                <a:solidFill>
                  <a:srgbClr val="0000FF"/>
                </a:solidFill>
              </a:rPr>
              <a:t> dérive de </a:t>
            </a:r>
            <a:r>
              <a:rPr lang="fr-FR" altLang="fr-FR" sz="1600" b="1" dirty="0">
                <a:solidFill>
                  <a:srgbClr val="FF0000"/>
                </a:solidFill>
              </a:rPr>
              <a:t>S={p, (</a:t>
            </a:r>
            <a:r>
              <a:rPr lang="fr-FR" altLang="fr-FR" sz="1600" b="1" dirty="0" err="1">
                <a:solidFill>
                  <a:srgbClr val="FF0000"/>
                </a:solidFill>
              </a:rPr>
              <a:t>p</a:t>
            </a:r>
            <a:r>
              <a:rPr lang="fr-FR" altLang="fr-FR" sz="1600" b="1" dirty="0" err="1">
                <a:solidFill>
                  <a:srgbClr val="FF0000"/>
                </a:solidFill>
                <a:sym typeface="Symbol" panose="05050102010706020507" pitchFamily="18" charset="2"/>
              </a:rPr>
              <a:t></a:t>
            </a:r>
            <a:r>
              <a:rPr lang="fr-FR" altLang="fr-FR" sz="1600" b="1" dirty="0" err="1">
                <a:solidFill>
                  <a:srgbClr val="FF0000"/>
                </a:solidFill>
              </a:rPr>
              <a:t>q</a:t>
            </a:r>
            <a:r>
              <a:rPr lang="fr-FR" altLang="fr-FR" sz="1600" b="1" dirty="0">
                <a:solidFill>
                  <a:srgbClr val="FF0000"/>
                </a:solidFill>
              </a:rPr>
              <a:t>) </a:t>
            </a:r>
            <a:r>
              <a:rPr lang="fr-FR" altLang="fr-FR" sz="1600" b="1" dirty="0">
                <a:solidFill>
                  <a:srgbClr val="FF0000"/>
                </a:solidFill>
                <a:sym typeface="Symbol" panose="05050102010706020507" pitchFamily="18" charset="2"/>
              </a:rPr>
              <a:t></a:t>
            </a:r>
            <a:r>
              <a:rPr lang="fr-FR" altLang="fr-FR" sz="1600" b="1" dirty="0">
                <a:solidFill>
                  <a:srgbClr val="FF0000"/>
                </a:solidFill>
              </a:rPr>
              <a:t>r, (</a:t>
            </a:r>
            <a:r>
              <a:rPr lang="fr-FR" altLang="fr-FR" sz="1600" b="1" dirty="0" err="1">
                <a:solidFill>
                  <a:srgbClr val="FF0000"/>
                </a:solidFill>
              </a:rPr>
              <a:t>s</a:t>
            </a:r>
            <a:r>
              <a:rPr lang="fr-FR" altLang="fr-FR" sz="1600" b="1" dirty="0" err="1">
                <a:solidFill>
                  <a:srgbClr val="FF0000"/>
                </a:solidFill>
                <a:sym typeface="Symbol" panose="05050102010706020507" pitchFamily="18" charset="2"/>
              </a:rPr>
              <a:t></a:t>
            </a:r>
            <a:r>
              <a:rPr lang="fr-FR" altLang="fr-FR" sz="1600" b="1" dirty="0" err="1">
                <a:solidFill>
                  <a:srgbClr val="FF0000"/>
                </a:solidFill>
              </a:rPr>
              <a:t>t</a:t>
            </a:r>
            <a:r>
              <a:rPr lang="fr-FR" altLang="fr-FR" sz="1600" b="1" dirty="0">
                <a:solidFill>
                  <a:srgbClr val="FF0000"/>
                </a:solidFill>
              </a:rPr>
              <a:t>) </a:t>
            </a:r>
            <a:r>
              <a:rPr lang="fr-FR" altLang="fr-FR" sz="1600" b="1" dirty="0">
                <a:solidFill>
                  <a:srgbClr val="FF0000"/>
                </a:solidFill>
                <a:sym typeface="Symbol" panose="05050102010706020507" pitchFamily="18" charset="2"/>
              </a:rPr>
              <a:t></a:t>
            </a:r>
            <a:r>
              <a:rPr lang="fr-FR" altLang="fr-FR" sz="1600" b="1" dirty="0">
                <a:solidFill>
                  <a:srgbClr val="FF0000"/>
                </a:solidFill>
              </a:rPr>
              <a:t>q, t}</a:t>
            </a:r>
            <a:r>
              <a:rPr lang="fr-FR" altLang="fr-FR" sz="1600" b="1" dirty="0">
                <a:solidFill>
                  <a:srgbClr val="0000FF"/>
                </a:solidFill>
              </a:rPr>
              <a:t> </a:t>
            </a:r>
          </a:p>
        </p:txBody>
      </p:sp>
    </p:spTree>
    <p:extLst>
      <p:ext uri="{BB962C8B-B14F-4D97-AF65-F5344CB8AC3E}">
        <p14:creationId xmlns:p14="http://schemas.microsoft.com/office/powerpoint/2010/main" val="878975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UTILISATION</a:t>
            </a:r>
          </a:p>
        </p:txBody>
      </p:sp>
      <p:sp>
        <p:nvSpPr>
          <p:cNvPr id="3" name="Rectangle 2">
            <a:extLst>
              <a:ext uri="{FF2B5EF4-FFF2-40B4-BE49-F238E27FC236}">
                <a16:creationId xmlns:a16="http://schemas.microsoft.com/office/drawing/2014/main" xmlns="" id="{79272752-7DAD-63E2-2F7E-72364949E4AB}"/>
              </a:ext>
            </a:extLst>
          </p:cNvPr>
          <p:cNvSpPr>
            <a:spLocks noChangeArrowheads="1"/>
          </p:cNvSpPr>
          <p:nvPr/>
        </p:nvSpPr>
        <p:spPr bwMode="auto">
          <a:xfrm>
            <a:off x="250825" y="476250"/>
            <a:ext cx="8893175" cy="634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endParaRPr lang="fr-FR" altLang="fr-FR" sz="1400" b="1" i="1" dirty="0">
              <a:solidFill>
                <a:srgbClr val="0000FF"/>
              </a:solidFill>
              <a:latin typeface="Arial" panose="020B0604020202020204" pitchFamily="34" charset="0"/>
              <a:cs typeface="Arial" panose="020B0604020202020204" pitchFamily="34" charset="0"/>
            </a:endParaRPr>
          </a:p>
          <a:p>
            <a:pPr eaLnBrk="1" hangingPunct="1"/>
            <a:endParaRPr lang="fr-FR" altLang="fr-FR" sz="1400" b="1" i="1" dirty="0">
              <a:solidFill>
                <a:srgbClr val="0000FF"/>
              </a:solidFill>
              <a:latin typeface="Arial" panose="020B0604020202020204" pitchFamily="34" charset="0"/>
              <a:cs typeface="Arial" panose="020B0604020202020204" pitchFamily="34" charset="0"/>
            </a:endParaRPr>
          </a:p>
          <a:p>
            <a:pPr eaLnBrk="1" hangingPunct="1"/>
            <a:r>
              <a:rPr lang="fr-FR" altLang="fr-FR" sz="1400" b="1" i="1" dirty="0">
                <a:solidFill>
                  <a:srgbClr val="0000FF"/>
                </a:solidFill>
                <a:latin typeface="Arial" panose="020B0604020202020204" pitchFamily="34" charset="0"/>
                <a:cs typeface="Arial" panose="020B0604020202020204" pitchFamily="34" charset="0"/>
              </a:rPr>
              <a:t>Exemple:</a:t>
            </a:r>
          </a:p>
          <a:p>
            <a:pPr eaLnBrk="1" hangingPunct="1"/>
            <a:endParaRPr lang="fr-FR" altLang="fr-FR" sz="1400" b="1" i="1" dirty="0">
              <a:solidFill>
                <a:srgbClr val="0000FF"/>
              </a:solidFill>
              <a:latin typeface="Arial" panose="020B0604020202020204" pitchFamily="34" charset="0"/>
              <a:cs typeface="Arial" panose="020B0604020202020204" pitchFamily="34" charset="0"/>
            </a:endParaRPr>
          </a:p>
          <a:p>
            <a:pPr eaLnBrk="1" hangingPunct="1"/>
            <a:r>
              <a:rPr lang="fr-FR" altLang="fr-FR" sz="1400" dirty="0">
                <a:latin typeface="Arial" panose="020B0604020202020204" pitchFamily="34" charset="0"/>
                <a:cs typeface="Arial" panose="020B0604020202020204" pitchFamily="34" charset="0"/>
              </a:rPr>
              <a:t>1. "Si Ali n’écrit pas à Fatima, elle ne lui écrit pas non plus"</a:t>
            </a:r>
          </a:p>
          <a:p>
            <a:pPr eaLnBrk="1" hangingPunct="1"/>
            <a:r>
              <a:rPr lang="fr-FR" altLang="fr-FR" sz="1400" dirty="0">
                <a:latin typeface="Arial" panose="020B0604020202020204" pitchFamily="34" charset="0"/>
                <a:cs typeface="Arial" panose="020B0604020202020204" pitchFamily="34" charset="0"/>
              </a:rPr>
              <a:t>2. " Fatima écrit à Ali"</a:t>
            </a:r>
          </a:p>
          <a:p>
            <a:pPr eaLnBrk="1" hangingPunct="1"/>
            <a:r>
              <a:rPr lang="fr-FR" altLang="fr-FR" sz="1400" dirty="0">
                <a:latin typeface="Arial" panose="020B0604020202020204" pitchFamily="34" charset="0"/>
                <a:cs typeface="Arial" panose="020B0604020202020204" pitchFamily="34" charset="0"/>
              </a:rPr>
              <a:t>alors « Ali écrit à  Fatima" est vrai (conclusion)</a:t>
            </a:r>
          </a:p>
          <a:p>
            <a:pPr eaLnBrk="1" hangingPunct="1"/>
            <a:endParaRPr lang="fr-FR" altLang="fr-FR" sz="1400" b="1" i="1" dirty="0">
              <a:solidFill>
                <a:srgbClr val="0000FF"/>
              </a:solidFill>
              <a:latin typeface="Arial" panose="020B0604020202020204" pitchFamily="34" charset="0"/>
              <a:cs typeface="Arial" panose="020B0604020202020204" pitchFamily="34" charset="0"/>
            </a:endParaRPr>
          </a:p>
          <a:p>
            <a:pPr eaLnBrk="1" hangingPunct="1"/>
            <a:r>
              <a:rPr lang="fr-FR" altLang="fr-FR" sz="1400" b="1" i="1" dirty="0">
                <a:solidFill>
                  <a:srgbClr val="0000FF"/>
                </a:solidFill>
                <a:latin typeface="Arial" panose="020B0604020202020204" pitchFamily="34" charset="0"/>
                <a:cs typeface="Arial" panose="020B0604020202020204" pitchFamily="34" charset="0"/>
              </a:rPr>
              <a:t>prémisses:</a:t>
            </a:r>
          </a:p>
          <a:p>
            <a:pPr eaLnBrk="1" hangingPunct="1"/>
            <a:endParaRPr lang="fr-FR" altLang="fr-FR" sz="1400" b="1" i="1" dirty="0">
              <a:solidFill>
                <a:srgbClr val="0000FF"/>
              </a:solidFill>
              <a:latin typeface="Arial" panose="020B0604020202020204" pitchFamily="34" charset="0"/>
              <a:cs typeface="Arial" panose="020B0604020202020204" pitchFamily="34" charset="0"/>
            </a:endParaRPr>
          </a:p>
          <a:p>
            <a:pPr eaLnBrk="1" hangingPunct="1"/>
            <a:r>
              <a:rPr lang="fr-FR" altLang="fr-FR" sz="1400" dirty="0">
                <a:latin typeface="Arial" panose="020B0604020202020204" pitchFamily="34" charset="0"/>
                <a:cs typeface="Arial" panose="020B0604020202020204" pitchFamily="34" charset="0"/>
              </a:rPr>
              <a:t>1. "Si Ali n’écrit pas à Fatima, elle ne lui écrit pas non plus"</a:t>
            </a:r>
          </a:p>
          <a:p>
            <a:pPr eaLnBrk="1" hangingPunct="1"/>
            <a:r>
              <a:rPr lang="fr-FR" altLang="fr-FR" sz="1400" dirty="0">
                <a:latin typeface="Arial" panose="020B0604020202020204" pitchFamily="34" charset="0"/>
                <a:cs typeface="Arial" panose="020B0604020202020204" pitchFamily="34" charset="0"/>
              </a:rPr>
              <a:t>2. "Fatima écrit à Ali"</a:t>
            </a:r>
          </a:p>
          <a:p>
            <a:pPr eaLnBrk="1" hangingPunct="1"/>
            <a:endParaRPr lang="fr-FR" altLang="fr-FR" sz="1400" b="1" i="1" dirty="0">
              <a:latin typeface="Arial" panose="020B0604020202020204" pitchFamily="34" charset="0"/>
              <a:cs typeface="Arial" panose="020B0604020202020204" pitchFamily="34" charset="0"/>
            </a:endParaRPr>
          </a:p>
          <a:p>
            <a:pPr eaLnBrk="1" hangingPunct="1"/>
            <a:r>
              <a:rPr lang="fr-FR" altLang="fr-FR" sz="1400" b="1" i="1" dirty="0">
                <a:solidFill>
                  <a:srgbClr val="0000FF"/>
                </a:solidFill>
                <a:latin typeface="Arial" panose="020B0604020202020204" pitchFamily="34" charset="0"/>
                <a:cs typeface="Arial" panose="020B0604020202020204" pitchFamily="34" charset="0"/>
              </a:rPr>
              <a:t>conclusion:</a:t>
            </a:r>
          </a:p>
          <a:p>
            <a:pPr eaLnBrk="1" hangingPunct="1"/>
            <a:endParaRPr lang="fr-FR" altLang="fr-FR" sz="1400" dirty="0">
              <a:solidFill>
                <a:srgbClr val="0000FF"/>
              </a:solidFill>
              <a:latin typeface="Arial" panose="020B0604020202020204" pitchFamily="34" charset="0"/>
              <a:cs typeface="Arial" panose="020B0604020202020204" pitchFamily="34" charset="0"/>
            </a:endParaRPr>
          </a:p>
          <a:p>
            <a:pPr eaLnBrk="1" hangingPunct="1"/>
            <a:r>
              <a:rPr lang="fr-FR" altLang="fr-FR" sz="1400" dirty="0">
                <a:latin typeface="Arial" panose="020B0604020202020204" pitchFamily="34" charset="0"/>
                <a:cs typeface="Arial" panose="020B0604020202020204" pitchFamily="34" charset="0"/>
              </a:rPr>
              <a:t>alors " Ali écrit à Fatima" est vrai</a:t>
            </a:r>
          </a:p>
          <a:p>
            <a:pPr eaLnBrk="1" hangingPunct="1"/>
            <a:endParaRPr lang="fr-FR" altLang="fr-FR" sz="1400" dirty="0">
              <a:latin typeface="Arial" panose="020B0604020202020204" pitchFamily="34" charset="0"/>
              <a:cs typeface="Arial" panose="020B0604020202020204" pitchFamily="34" charset="0"/>
            </a:endParaRPr>
          </a:p>
          <a:p>
            <a:pPr eaLnBrk="1" hangingPunct="1"/>
            <a:r>
              <a:rPr lang="fr-FR" altLang="fr-FR" sz="1400" dirty="0">
                <a:latin typeface="Arial" panose="020B0604020202020204" pitchFamily="34" charset="0"/>
                <a:cs typeface="Arial" panose="020B0604020202020204" pitchFamily="34" charset="0"/>
              </a:rPr>
              <a:t>• correspondance en logique propositionnelle:</a:t>
            </a:r>
          </a:p>
          <a:p>
            <a:pPr eaLnBrk="1" hangingPunct="1"/>
            <a:endParaRPr lang="fr-FR" altLang="fr-FR" sz="1400" dirty="0">
              <a:latin typeface="Arial" panose="020B0604020202020204" pitchFamily="34" charset="0"/>
              <a:cs typeface="Arial" panose="020B0604020202020204" pitchFamily="34" charset="0"/>
            </a:endParaRPr>
          </a:p>
          <a:p>
            <a:pPr eaLnBrk="1" hangingPunct="1"/>
            <a:r>
              <a:rPr lang="fr-FR" altLang="fr-FR" sz="1400" dirty="0">
                <a:latin typeface="Arial" panose="020B0604020202020204" pitchFamily="34" charset="0"/>
                <a:cs typeface="Arial" panose="020B0604020202020204" pitchFamily="34" charset="0"/>
              </a:rPr>
              <a:t>soit </a:t>
            </a:r>
            <a:r>
              <a:rPr lang="fr-FR" altLang="fr-FR" sz="1400" dirty="0">
                <a:solidFill>
                  <a:srgbClr val="FF6600"/>
                </a:solidFill>
                <a:latin typeface="Arial" panose="020B0604020202020204" pitchFamily="34" charset="0"/>
                <a:cs typeface="Arial" panose="020B0604020202020204" pitchFamily="34" charset="0"/>
              </a:rPr>
              <a:t>P ≡ " Ali écrit à Fatima"</a:t>
            </a:r>
            <a:r>
              <a:rPr lang="fr-FR" altLang="fr-FR" sz="1400" dirty="0">
                <a:latin typeface="Arial" panose="020B0604020202020204" pitchFamily="34" charset="0"/>
                <a:cs typeface="Arial" panose="020B0604020202020204" pitchFamily="34" charset="0"/>
              </a:rPr>
              <a:t> et soit </a:t>
            </a:r>
            <a:r>
              <a:rPr lang="fr-FR" altLang="fr-FR" sz="1400" dirty="0">
                <a:solidFill>
                  <a:srgbClr val="FF6600"/>
                </a:solidFill>
                <a:latin typeface="Arial" panose="020B0604020202020204" pitchFamily="34" charset="0"/>
                <a:cs typeface="Arial" panose="020B0604020202020204" pitchFamily="34" charset="0"/>
              </a:rPr>
              <a:t>Q ≡ " Fatima écrit à Ali "</a:t>
            </a:r>
            <a:r>
              <a:rPr lang="fr-FR" altLang="fr-FR" sz="1400" dirty="0">
                <a:latin typeface="Arial" panose="020B0604020202020204" pitchFamily="34" charset="0"/>
                <a:cs typeface="Arial" panose="020B0604020202020204" pitchFamily="34" charset="0"/>
              </a:rPr>
              <a:t> </a:t>
            </a:r>
          </a:p>
          <a:p>
            <a:pPr eaLnBrk="1" hangingPunct="1"/>
            <a:endParaRPr lang="fr-CA" altLang="fr-FR" sz="1400" dirty="0">
              <a:latin typeface="Arial" panose="020B0604020202020204" pitchFamily="34" charset="0"/>
              <a:cs typeface="Arial" panose="020B0604020202020204" pitchFamily="34" charset="0"/>
            </a:endParaRPr>
          </a:p>
          <a:p>
            <a:pPr eaLnBrk="1" hangingPunct="1"/>
            <a:r>
              <a:rPr lang="fr-CA" altLang="fr-FR" sz="1400" dirty="0">
                <a:latin typeface="Arial" panose="020B0604020202020204" pitchFamily="34" charset="0"/>
                <a:cs typeface="Arial" panose="020B0604020202020204" pitchFamily="34" charset="0"/>
              </a:rPr>
              <a:t>Prémisses: </a:t>
            </a:r>
          </a:p>
          <a:p>
            <a:pPr eaLnBrk="1" hangingPunct="1"/>
            <a:r>
              <a:rPr lang="fr-CA" altLang="fr-FR" sz="1400" dirty="0">
                <a:latin typeface="Arial" panose="020B0604020202020204" pitchFamily="34" charset="0"/>
                <a:cs typeface="Arial" panose="020B0604020202020204" pitchFamily="34" charset="0"/>
              </a:rPr>
              <a:t>1. </a:t>
            </a:r>
            <a:r>
              <a:rPr lang="fr-FR" altLang="fr-FR" sz="1400" b="1" dirty="0">
                <a:sym typeface="Symbol" panose="05050102010706020507" pitchFamily="18" charset="2"/>
              </a:rPr>
              <a:t></a:t>
            </a:r>
            <a:r>
              <a:rPr lang="fr-CA" altLang="fr-FR" sz="1400" dirty="0">
                <a:latin typeface="Arial" panose="020B0604020202020204" pitchFamily="34" charset="0"/>
                <a:cs typeface="Arial" panose="020B0604020202020204" pitchFamily="34" charset="0"/>
              </a:rPr>
              <a:t> P </a:t>
            </a:r>
            <a:r>
              <a:rPr lang="fr-CA" altLang="fr-FR" sz="1400" dirty="0">
                <a:latin typeface="Arial" panose="020B0604020202020204" pitchFamily="34" charset="0"/>
                <a:cs typeface="Arial" panose="020B0604020202020204" pitchFamily="34" charset="0"/>
                <a:sym typeface="Wingdings" panose="05000000000000000000" pitchFamily="2" charset="2"/>
              </a:rPr>
              <a:t> </a:t>
            </a:r>
            <a:r>
              <a:rPr lang="fr-FR" altLang="fr-FR" sz="1400" b="1" dirty="0">
                <a:sym typeface="Symbol" panose="05050102010706020507" pitchFamily="18" charset="2"/>
              </a:rPr>
              <a:t></a:t>
            </a:r>
            <a:r>
              <a:rPr lang="fr-CA" altLang="fr-FR" sz="1400" dirty="0">
                <a:sym typeface="Wingdings" panose="05000000000000000000" pitchFamily="2" charset="2"/>
              </a:rPr>
              <a:t> </a:t>
            </a:r>
            <a:r>
              <a:rPr lang="fr-CA" altLang="fr-FR" sz="1400" dirty="0">
                <a:latin typeface="Arial" panose="020B0604020202020204" pitchFamily="34" charset="0"/>
                <a:cs typeface="Arial" panose="020B0604020202020204" pitchFamily="34" charset="0"/>
                <a:sym typeface="Wingdings" panose="05000000000000000000" pitchFamily="2" charset="2"/>
              </a:rPr>
              <a:t>Q</a:t>
            </a:r>
            <a:endParaRPr lang="fr-FR" altLang="fr-FR" sz="1400" dirty="0">
              <a:latin typeface="Arial" panose="020B0604020202020204" pitchFamily="34" charset="0"/>
              <a:cs typeface="Arial" panose="020B0604020202020204" pitchFamily="34" charset="0"/>
            </a:endParaRPr>
          </a:p>
          <a:p>
            <a:pPr eaLnBrk="1" hangingPunct="1"/>
            <a:r>
              <a:rPr lang="fr-CA" altLang="fr-FR" sz="1400" dirty="0">
                <a:latin typeface="Arial" panose="020B0604020202020204" pitchFamily="34" charset="0"/>
                <a:cs typeface="Arial" panose="020B0604020202020204" pitchFamily="34" charset="0"/>
              </a:rPr>
              <a:t>2. Q</a:t>
            </a:r>
            <a:endParaRPr lang="fr-FR" altLang="fr-FR" sz="1400" dirty="0">
              <a:latin typeface="Arial" panose="020B0604020202020204" pitchFamily="34" charset="0"/>
              <a:cs typeface="Arial" panose="020B0604020202020204" pitchFamily="34" charset="0"/>
            </a:endParaRPr>
          </a:p>
          <a:p>
            <a:pPr eaLnBrk="1" hangingPunct="1"/>
            <a:endParaRPr lang="fr-FR" altLang="fr-FR" sz="1400" dirty="0">
              <a:latin typeface="Arial" panose="020B0604020202020204" pitchFamily="34" charset="0"/>
              <a:cs typeface="Arial" panose="020B0604020202020204" pitchFamily="34" charset="0"/>
            </a:endParaRPr>
          </a:p>
          <a:p>
            <a:pPr eaLnBrk="1" hangingPunct="1"/>
            <a:r>
              <a:rPr lang="fr-CA" altLang="fr-FR" sz="1400" dirty="0">
                <a:latin typeface="Arial" panose="020B0604020202020204" pitchFamily="34" charset="0"/>
                <a:cs typeface="Arial" panose="020B0604020202020204" pitchFamily="34" charset="0"/>
              </a:rPr>
              <a:t>Conclusion</a:t>
            </a:r>
          </a:p>
          <a:p>
            <a:pPr eaLnBrk="1" hangingPunct="1"/>
            <a:r>
              <a:rPr lang="fr-CA" altLang="fr-FR" sz="1400" dirty="0">
                <a:latin typeface="Arial" panose="020B0604020202020204" pitchFamily="34" charset="0"/>
                <a:cs typeface="Arial" panose="020B0604020202020204" pitchFamily="34" charset="0"/>
              </a:rPr>
              <a:t>P.</a:t>
            </a:r>
            <a:endParaRPr lang="fr-FR" altLang="fr-FR" sz="1400" dirty="0">
              <a:latin typeface="Arial" panose="020B0604020202020204" pitchFamily="34" charset="0"/>
              <a:cs typeface="Arial" panose="020B0604020202020204" pitchFamily="34" charset="0"/>
            </a:endParaRPr>
          </a:p>
          <a:p>
            <a:pPr eaLnBrk="1" hangingPunct="1"/>
            <a:endParaRPr lang="fr-FR" altLang="fr-FR" sz="1400" dirty="0">
              <a:latin typeface="Arial" panose="020B0604020202020204" pitchFamily="34" charset="0"/>
              <a:cs typeface="Arial" panose="020B0604020202020204" pitchFamily="34" charset="0"/>
            </a:endParaRPr>
          </a:p>
          <a:p>
            <a:pPr eaLnBrk="1" hangingPunct="1"/>
            <a:endParaRPr lang="fr-FR" altLang="fr-FR" sz="1400" dirty="0">
              <a:latin typeface="Arial" panose="020B0604020202020204" pitchFamily="34" charset="0"/>
              <a:cs typeface="Arial" panose="020B0604020202020204" pitchFamily="34" charset="0"/>
            </a:endParaRPr>
          </a:p>
        </p:txBody>
      </p:sp>
      <p:sp>
        <p:nvSpPr>
          <p:cNvPr id="4" name="Text Box 5">
            <a:extLst>
              <a:ext uri="{FF2B5EF4-FFF2-40B4-BE49-F238E27FC236}">
                <a16:creationId xmlns:a16="http://schemas.microsoft.com/office/drawing/2014/main" xmlns="" id="{BC731FB0-CFB4-2CC2-11D4-D99692DBE93F}"/>
              </a:ext>
            </a:extLst>
          </p:cNvPr>
          <p:cNvSpPr txBox="1">
            <a:spLocks noChangeArrowheads="1"/>
          </p:cNvSpPr>
          <p:nvPr/>
        </p:nvSpPr>
        <p:spPr bwMode="auto">
          <a:xfrm>
            <a:off x="1908175" y="5084763"/>
            <a:ext cx="3313113" cy="136525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spcBef>
                <a:spcPct val="50000"/>
              </a:spcBef>
            </a:pPr>
            <a:r>
              <a:rPr lang="fr-FR" altLang="fr-FR" sz="1400">
                <a:latin typeface="Arial" panose="020B0604020202020204" pitchFamily="34" charset="0"/>
                <a:cs typeface="Arial" panose="020B0604020202020204" pitchFamily="34" charset="0"/>
              </a:rPr>
              <a:t>Nous avons donc les clauses:</a:t>
            </a:r>
          </a:p>
          <a:p>
            <a:pPr eaLnBrk="1" hangingPunct="1">
              <a:spcBef>
                <a:spcPct val="50000"/>
              </a:spcBef>
            </a:pPr>
            <a:r>
              <a:rPr lang="fr-FR" altLang="fr-FR" sz="1400" b="1">
                <a:latin typeface="Arial" panose="020B0604020202020204" pitchFamily="34" charset="0"/>
                <a:cs typeface="Arial" panose="020B0604020202020204" pitchFamily="34" charset="0"/>
              </a:rPr>
              <a:t>P </a:t>
            </a:r>
            <a:r>
              <a:rPr lang="fr-FR" altLang="fr-FR" sz="1400" b="1" i="1">
                <a:latin typeface="Arial" panose="020B0604020202020204" pitchFamily="34" charset="0"/>
                <a:cs typeface="Arial" panose="020B0604020202020204" pitchFamily="34" charset="0"/>
              </a:rPr>
              <a:t> </a:t>
            </a:r>
            <a:r>
              <a:rPr lang="fr-FR" altLang="fr-FR" sz="1400" b="1" i="1">
                <a:latin typeface="Arial" panose="020B0604020202020204" pitchFamily="34" charset="0"/>
                <a:cs typeface="Arial" panose="020B0604020202020204" pitchFamily="34" charset="0"/>
                <a:sym typeface="Symbol" panose="05050102010706020507" pitchFamily="18" charset="2"/>
              </a:rPr>
              <a:t></a:t>
            </a:r>
            <a:r>
              <a:rPr lang="fr-FR" altLang="fr-FR" sz="1400" b="1">
                <a:latin typeface="Arial" panose="020B0604020202020204" pitchFamily="34" charset="0"/>
                <a:cs typeface="Arial" panose="020B0604020202020204" pitchFamily="34" charset="0"/>
              </a:rPr>
              <a:t> </a:t>
            </a:r>
            <a:r>
              <a:rPr lang="fr-FR" altLang="fr-FR" sz="1400" b="1">
                <a:sym typeface="Symbol" panose="05050102010706020507" pitchFamily="18" charset="2"/>
              </a:rPr>
              <a:t></a:t>
            </a:r>
            <a:r>
              <a:rPr lang="fr-FR" altLang="fr-FR" sz="1400" b="1">
                <a:latin typeface="Arial" panose="020B0604020202020204" pitchFamily="34" charset="0"/>
                <a:cs typeface="Arial" panose="020B0604020202020204" pitchFamily="34" charset="0"/>
              </a:rPr>
              <a:t>Q  et </a:t>
            </a:r>
            <a:r>
              <a:rPr lang="fr-CA" altLang="fr-FR" sz="1400" b="1">
                <a:latin typeface="Arial" panose="020B0604020202020204" pitchFamily="34" charset="0"/>
                <a:cs typeface="Arial" panose="020B0604020202020204" pitchFamily="34" charset="0"/>
              </a:rPr>
              <a:t>Q</a:t>
            </a:r>
          </a:p>
          <a:p>
            <a:pPr eaLnBrk="1" hangingPunct="1">
              <a:spcBef>
                <a:spcPct val="50000"/>
              </a:spcBef>
            </a:pPr>
            <a:r>
              <a:rPr lang="fr-CA" altLang="fr-FR" sz="1400" b="1">
                <a:solidFill>
                  <a:srgbClr val="CC0000"/>
                </a:solidFill>
                <a:latin typeface="Arial" panose="020B0604020202020204" pitchFamily="34" charset="0"/>
                <a:cs typeface="Arial" panose="020B0604020202020204" pitchFamily="34" charset="0"/>
              </a:rPr>
              <a:t>Avec la Règle de Résolution</a:t>
            </a:r>
          </a:p>
          <a:p>
            <a:pPr eaLnBrk="1" hangingPunct="1">
              <a:spcBef>
                <a:spcPct val="50000"/>
              </a:spcBef>
            </a:pPr>
            <a:r>
              <a:rPr lang="fr-CA" altLang="fr-FR" sz="1400">
                <a:latin typeface="Arial" panose="020B0604020202020204" pitchFamily="34" charset="0"/>
                <a:cs typeface="Arial" panose="020B0604020202020204" pitchFamily="34" charset="0"/>
              </a:rPr>
              <a:t>Nous aurons </a:t>
            </a:r>
            <a:r>
              <a:rPr lang="fr-CA" altLang="fr-FR" sz="1400" b="1">
                <a:latin typeface="Arial" panose="020B0604020202020204" pitchFamily="34" charset="0"/>
                <a:cs typeface="Arial" panose="020B0604020202020204" pitchFamily="34" charset="0"/>
              </a:rPr>
              <a:t>P</a:t>
            </a:r>
            <a:r>
              <a:rPr lang="fr-CA" altLang="fr-FR" sz="1800" b="1">
                <a:latin typeface="Arial" panose="020B0604020202020204" pitchFamily="34" charset="0"/>
                <a:cs typeface="Arial" panose="020B0604020202020204" pitchFamily="34" charset="0"/>
              </a:rPr>
              <a:t> </a:t>
            </a:r>
          </a:p>
        </p:txBody>
      </p:sp>
      <p:sp>
        <p:nvSpPr>
          <p:cNvPr id="5" name="Text Box 6">
            <a:extLst>
              <a:ext uri="{FF2B5EF4-FFF2-40B4-BE49-F238E27FC236}">
                <a16:creationId xmlns:a16="http://schemas.microsoft.com/office/drawing/2014/main" xmlns="" id="{1128FAC5-F7D0-7798-8068-311C52AABC65}"/>
              </a:ext>
            </a:extLst>
          </p:cNvPr>
          <p:cNvSpPr txBox="1">
            <a:spLocks noChangeArrowheads="1"/>
          </p:cNvSpPr>
          <p:nvPr/>
        </p:nvSpPr>
        <p:spPr bwMode="auto">
          <a:xfrm>
            <a:off x="5651500" y="1341438"/>
            <a:ext cx="3313113" cy="4002087"/>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457200" indent="-457200">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pPr eaLnBrk="1" hangingPunct="1">
              <a:spcBef>
                <a:spcPct val="50000"/>
              </a:spcBef>
            </a:pPr>
            <a:r>
              <a:rPr lang="fr-FR" altLang="fr-FR" sz="1800" b="1">
                <a:latin typeface="Arial" panose="020B0604020202020204" pitchFamily="34" charset="0"/>
              </a:rPr>
              <a:t>Par la réfutation:</a:t>
            </a:r>
          </a:p>
          <a:p>
            <a:pPr eaLnBrk="1" hangingPunct="1">
              <a:spcBef>
                <a:spcPct val="50000"/>
              </a:spcBef>
            </a:pPr>
            <a:r>
              <a:rPr lang="fr-FR" altLang="fr-FR" sz="1800" b="1">
                <a:latin typeface="Arial" panose="020B0604020202020204" pitchFamily="34" charset="0"/>
              </a:rPr>
              <a:t>S</a:t>
            </a:r>
            <a:r>
              <a:rPr lang="fr-FR" altLang="fr-FR" sz="1400">
                <a:latin typeface="Arial" panose="020B0604020202020204" pitchFamily="34" charset="0"/>
              </a:rPr>
              <a:t>={P </a:t>
            </a:r>
            <a:r>
              <a:rPr lang="fr-FR" altLang="fr-FR" sz="1400" i="1">
                <a:latin typeface="Arial" panose="020B0604020202020204" pitchFamily="34" charset="0"/>
              </a:rPr>
              <a:t> </a:t>
            </a:r>
            <a:r>
              <a:rPr lang="fr-FR" altLang="fr-FR" sz="1400" i="1">
                <a:latin typeface="Arial" panose="020B0604020202020204" pitchFamily="34" charset="0"/>
                <a:sym typeface="Symbol" panose="05050102010706020507" pitchFamily="18" charset="2"/>
              </a:rPr>
              <a:t></a:t>
            </a:r>
            <a:r>
              <a:rPr lang="fr-FR" altLang="fr-FR" sz="1400">
                <a:latin typeface="Arial" panose="020B0604020202020204" pitchFamily="34" charset="0"/>
              </a:rPr>
              <a:t> </a:t>
            </a:r>
            <a:r>
              <a:rPr lang="fr-FR" altLang="fr-FR" sz="1400">
                <a:latin typeface="Arial" panose="020B0604020202020204" pitchFamily="34" charset="0"/>
                <a:sym typeface="Symbol" panose="05050102010706020507" pitchFamily="18" charset="2"/>
              </a:rPr>
              <a:t></a:t>
            </a:r>
            <a:r>
              <a:rPr lang="fr-FR" altLang="fr-FR" sz="1400">
                <a:latin typeface="Arial" panose="020B0604020202020204" pitchFamily="34" charset="0"/>
              </a:rPr>
              <a:t>Q, </a:t>
            </a:r>
            <a:r>
              <a:rPr lang="fr-CA" altLang="fr-FR" sz="1400">
                <a:latin typeface="Arial" panose="020B0604020202020204" pitchFamily="34" charset="0"/>
              </a:rPr>
              <a:t>Q} </a:t>
            </a:r>
          </a:p>
          <a:p>
            <a:pPr eaLnBrk="1" hangingPunct="1">
              <a:spcBef>
                <a:spcPct val="50000"/>
              </a:spcBef>
            </a:pPr>
            <a:r>
              <a:rPr lang="fr-CA" altLang="fr-FR" sz="1400" b="1">
                <a:latin typeface="Arial" panose="020B0604020202020204" pitchFamily="34" charset="0"/>
              </a:rPr>
              <a:t> On veut :  </a:t>
            </a:r>
            <a:r>
              <a:rPr lang="fr-CA" altLang="fr-FR" sz="1800" b="1">
                <a:latin typeface="Arial" panose="020B0604020202020204" pitchFamily="34" charset="0"/>
              </a:rPr>
              <a:t>S</a:t>
            </a:r>
            <a:r>
              <a:rPr lang="fr-CA" altLang="fr-FR" sz="1400" b="1">
                <a:latin typeface="Arial" panose="020B0604020202020204" pitchFamily="34" charset="0"/>
              </a:rPr>
              <a:t>     </a:t>
            </a:r>
            <a:r>
              <a:rPr lang="fr-CA" altLang="fr-FR" sz="1400">
                <a:latin typeface="Arial" panose="020B0604020202020204" pitchFamily="34" charset="0"/>
              </a:rPr>
              <a:t>P</a:t>
            </a:r>
          </a:p>
          <a:p>
            <a:pPr eaLnBrk="1" hangingPunct="1">
              <a:spcBef>
                <a:spcPct val="50000"/>
              </a:spcBef>
            </a:pPr>
            <a:r>
              <a:rPr lang="fr-CA" altLang="fr-FR" sz="1400" b="1">
                <a:latin typeface="Arial" panose="020B0604020202020204" pitchFamily="34" charset="0"/>
              </a:rPr>
              <a:t>On montre alors que </a:t>
            </a:r>
            <a:r>
              <a:rPr lang="fr-CA" altLang="fr-FR" sz="1800" b="1">
                <a:latin typeface="Arial" panose="020B0604020202020204" pitchFamily="34" charset="0"/>
              </a:rPr>
              <a:t>S</a:t>
            </a:r>
            <a:r>
              <a:rPr lang="fr-CA" altLang="fr-FR" sz="1400" b="1">
                <a:latin typeface="Arial" panose="020B0604020202020204" pitchFamily="34" charset="0"/>
              </a:rPr>
              <a:t> </a:t>
            </a:r>
            <a:r>
              <a:rPr lang="fr-CA" altLang="fr-FR" sz="1800">
                <a:latin typeface="Arial" panose="020B0604020202020204" pitchFamily="34" charset="0"/>
              </a:rPr>
              <a:t>U</a:t>
            </a:r>
            <a:r>
              <a:rPr lang="fr-CA" altLang="fr-FR" sz="1400" b="1">
                <a:latin typeface="Arial" panose="020B0604020202020204" pitchFamily="34" charset="0"/>
              </a:rPr>
              <a:t> </a:t>
            </a:r>
            <a:r>
              <a:rPr lang="fr-CA" altLang="fr-FR" sz="1400">
                <a:latin typeface="Arial" panose="020B0604020202020204" pitchFamily="34" charset="0"/>
              </a:rPr>
              <a:t>{</a:t>
            </a:r>
            <a:r>
              <a:rPr lang="fr-FR" altLang="fr-FR" sz="1400">
                <a:latin typeface="Arial" panose="020B0604020202020204" pitchFamily="34" charset="0"/>
                <a:sym typeface="Symbol" panose="05050102010706020507" pitchFamily="18" charset="2"/>
              </a:rPr>
              <a:t></a:t>
            </a:r>
            <a:r>
              <a:rPr lang="fr-CA" altLang="fr-FR" sz="1400">
                <a:latin typeface="Arial" panose="020B0604020202020204" pitchFamily="34" charset="0"/>
              </a:rPr>
              <a:t>P}</a:t>
            </a:r>
            <a:r>
              <a:rPr lang="fr-CA" altLang="fr-FR" sz="1400" b="1">
                <a:latin typeface="Arial" panose="020B0604020202020204" pitchFamily="34" charset="0"/>
              </a:rPr>
              <a:t> est inconsistant. Il faut dériver la clause vide par </a:t>
            </a:r>
            <a:r>
              <a:rPr lang="fr-CA" altLang="fr-FR" sz="1400" b="1">
                <a:solidFill>
                  <a:srgbClr val="CC0000"/>
                </a:solidFill>
                <a:latin typeface="Arial" panose="020B0604020202020204" pitchFamily="34" charset="0"/>
              </a:rPr>
              <a:t>la Résolution</a:t>
            </a:r>
            <a:r>
              <a:rPr lang="fr-CA" altLang="fr-FR" sz="1400" b="1">
                <a:latin typeface="Arial" panose="020B0604020202020204" pitchFamily="34" charset="0"/>
              </a:rPr>
              <a:t>.</a:t>
            </a:r>
          </a:p>
          <a:p>
            <a:pPr eaLnBrk="1" hangingPunct="1">
              <a:spcBef>
                <a:spcPct val="50000"/>
              </a:spcBef>
            </a:pPr>
            <a:r>
              <a:rPr lang="fr-CA" altLang="fr-FR" sz="1400" b="1">
                <a:latin typeface="Arial" panose="020B0604020202020204" pitchFamily="34" charset="0"/>
              </a:rPr>
              <a:t>Les clauses:</a:t>
            </a:r>
          </a:p>
          <a:p>
            <a:pPr eaLnBrk="1" hangingPunct="1">
              <a:spcBef>
                <a:spcPct val="50000"/>
              </a:spcBef>
              <a:buFontTx/>
              <a:buAutoNum type="arabicPeriod"/>
            </a:pPr>
            <a:r>
              <a:rPr lang="fr-FR" altLang="fr-FR"/>
              <a:t>P </a:t>
            </a:r>
            <a:r>
              <a:rPr lang="fr-FR" altLang="fr-FR" i="1"/>
              <a:t> </a:t>
            </a:r>
            <a:r>
              <a:rPr lang="fr-FR" altLang="fr-FR" i="1">
                <a:sym typeface="Symbol" panose="05050102010706020507" pitchFamily="18" charset="2"/>
              </a:rPr>
              <a:t></a:t>
            </a:r>
            <a:r>
              <a:rPr lang="fr-FR" altLang="fr-FR"/>
              <a:t> </a:t>
            </a:r>
            <a:r>
              <a:rPr lang="fr-FR" altLang="fr-FR">
                <a:sym typeface="Symbol" panose="05050102010706020507" pitchFamily="18" charset="2"/>
              </a:rPr>
              <a:t></a:t>
            </a:r>
            <a:r>
              <a:rPr lang="fr-FR" altLang="fr-FR"/>
              <a:t>Q</a:t>
            </a:r>
          </a:p>
          <a:p>
            <a:pPr eaLnBrk="1" hangingPunct="1">
              <a:spcBef>
                <a:spcPct val="50000"/>
              </a:spcBef>
              <a:buFontTx/>
              <a:buAutoNum type="arabicPeriod"/>
            </a:pPr>
            <a:r>
              <a:rPr lang="fr-CA" altLang="fr-FR"/>
              <a:t>Q</a:t>
            </a:r>
          </a:p>
          <a:p>
            <a:pPr eaLnBrk="1" hangingPunct="1">
              <a:spcBef>
                <a:spcPct val="50000"/>
              </a:spcBef>
              <a:buFontTx/>
              <a:buAutoNum type="arabicPeriod"/>
            </a:pPr>
            <a:r>
              <a:rPr lang="fr-FR" altLang="fr-FR">
                <a:sym typeface="Symbol" panose="05050102010706020507" pitchFamily="18" charset="2"/>
              </a:rPr>
              <a:t></a:t>
            </a:r>
            <a:r>
              <a:rPr lang="fr-CA" altLang="fr-FR"/>
              <a:t> P</a:t>
            </a:r>
            <a:endParaRPr lang="fr-CA" altLang="fr-FR">
              <a:solidFill>
                <a:srgbClr val="CC0000"/>
              </a:solidFill>
            </a:endParaRPr>
          </a:p>
        </p:txBody>
      </p:sp>
      <p:grpSp>
        <p:nvGrpSpPr>
          <p:cNvPr id="6" name="Group 7">
            <a:extLst>
              <a:ext uri="{FF2B5EF4-FFF2-40B4-BE49-F238E27FC236}">
                <a16:creationId xmlns:a16="http://schemas.microsoft.com/office/drawing/2014/main" xmlns="" id="{FF158301-FD48-EB6A-AFBA-0BACD2A783F1}"/>
              </a:ext>
            </a:extLst>
          </p:cNvPr>
          <p:cNvGrpSpPr>
            <a:grpSpLocks/>
          </p:cNvGrpSpPr>
          <p:nvPr/>
        </p:nvGrpSpPr>
        <p:grpSpPr bwMode="auto">
          <a:xfrm>
            <a:off x="6877050" y="2205038"/>
            <a:ext cx="152400" cy="304800"/>
            <a:chOff x="528" y="384"/>
            <a:chExt cx="96" cy="288"/>
          </a:xfrm>
        </p:grpSpPr>
        <p:sp>
          <p:nvSpPr>
            <p:cNvPr id="7" name="Line 8">
              <a:extLst>
                <a:ext uri="{FF2B5EF4-FFF2-40B4-BE49-F238E27FC236}">
                  <a16:creationId xmlns:a16="http://schemas.microsoft.com/office/drawing/2014/main" xmlns="" id="{1159FD41-A0C0-9880-165C-471758675E5D}"/>
                </a:ext>
              </a:extLst>
            </p:cNvPr>
            <p:cNvSpPr>
              <a:spLocks noChangeShapeType="1"/>
            </p:cNvSpPr>
            <p:nvPr/>
          </p:nvSpPr>
          <p:spPr bwMode="auto">
            <a:xfrm>
              <a:off x="528" y="384"/>
              <a:ext cx="0"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sp>
          <p:nvSpPr>
            <p:cNvPr id="8" name="Line 9">
              <a:extLst>
                <a:ext uri="{FF2B5EF4-FFF2-40B4-BE49-F238E27FC236}">
                  <a16:creationId xmlns:a16="http://schemas.microsoft.com/office/drawing/2014/main" xmlns="" id="{1F39AAD4-9289-66D4-1925-47B923BB1185}"/>
                </a:ext>
              </a:extLst>
            </p:cNvPr>
            <p:cNvSpPr>
              <a:spLocks noChangeShapeType="1"/>
            </p:cNvSpPr>
            <p:nvPr/>
          </p:nvSpPr>
          <p:spPr bwMode="auto">
            <a:xfrm>
              <a:off x="528" y="528"/>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fr-FR"/>
            </a:p>
          </p:txBody>
        </p:sp>
      </p:grpSp>
      <p:sp>
        <p:nvSpPr>
          <p:cNvPr id="9" name="Rectangle 10">
            <a:extLst>
              <a:ext uri="{FF2B5EF4-FFF2-40B4-BE49-F238E27FC236}">
                <a16:creationId xmlns:a16="http://schemas.microsoft.com/office/drawing/2014/main" xmlns="" id="{0FA0E18E-CAA5-8937-CD4A-9CB5A6E7E9F6}"/>
              </a:ext>
            </a:extLst>
          </p:cNvPr>
          <p:cNvSpPr>
            <a:spLocks noChangeArrowheads="1"/>
          </p:cNvSpPr>
          <p:nvPr/>
        </p:nvSpPr>
        <p:spPr bwMode="auto">
          <a:xfrm>
            <a:off x="5651500" y="5445125"/>
            <a:ext cx="3311525" cy="835025"/>
          </a:xfrm>
          <a:prstGeom prst="rect">
            <a:avLst/>
          </a:prstGeom>
          <a:noFill/>
          <a:ln w="12700">
            <a:solidFill>
              <a:srgbClr val="00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marL="457200" indent="-457200">
              <a:defRPr sz="2400">
                <a:solidFill>
                  <a:schemeClr val="tx1"/>
                </a:solidFill>
                <a:latin typeface="Verdana" panose="020B0604030504040204" pitchFamily="34" charset="0"/>
              </a:defRPr>
            </a:lvl1pPr>
            <a:lvl2pPr marL="742950" indent="-285750">
              <a:defRPr sz="2400">
                <a:solidFill>
                  <a:schemeClr val="tx1"/>
                </a:solidFill>
                <a:latin typeface="Verdana" panose="020B0604030504040204" pitchFamily="34" charset="0"/>
              </a:defRPr>
            </a:lvl2pPr>
            <a:lvl3pPr marL="1143000" indent="-228600">
              <a:defRPr sz="2400">
                <a:solidFill>
                  <a:schemeClr val="tx1"/>
                </a:solidFill>
                <a:latin typeface="Verdana" panose="020B0604030504040204" pitchFamily="34" charset="0"/>
              </a:defRPr>
            </a:lvl3pPr>
            <a:lvl4pPr marL="1600200" indent="-228600">
              <a:defRPr sz="2400">
                <a:solidFill>
                  <a:schemeClr val="tx1"/>
                </a:solidFill>
                <a:latin typeface="Verdana" panose="020B0604030504040204" pitchFamily="34" charset="0"/>
              </a:defRPr>
            </a:lvl4pPr>
            <a:lvl5pPr marL="2057400" indent="-228600">
              <a:defRPr sz="2400">
                <a:solidFill>
                  <a:schemeClr val="tx1"/>
                </a:solidFill>
                <a:latin typeface="Verdana" panose="020B0604030504040204" pitchFamily="34" charset="0"/>
              </a:defRPr>
            </a:lvl5pPr>
            <a:lvl6pPr marL="2514600" indent="-228600" eaLnBrk="0" fontAlgn="base" hangingPunct="0">
              <a:spcBef>
                <a:spcPct val="0"/>
              </a:spcBef>
              <a:spcAft>
                <a:spcPct val="0"/>
              </a:spcAft>
              <a:defRPr sz="2400">
                <a:solidFill>
                  <a:schemeClr val="tx1"/>
                </a:solidFill>
                <a:latin typeface="Verdana" panose="020B0604030504040204" pitchFamily="34" charset="0"/>
              </a:defRPr>
            </a:lvl6pPr>
            <a:lvl7pPr marL="2971800" indent="-228600" eaLnBrk="0" fontAlgn="base" hangingPunct="0">
              <a:spcBef>
                <a:spcPct val="0"/>
              </a:spcBef>
              <a:spcAft>
                <a:spcPct val="0"/>
              </a:spcAft>
              <a:defRPr sz="2400">
                <a:solidFill>
                  <a:schemeClr val="tx1"/>
                </a:solidFill>
                <a:latin typeface="Verdana" panose="020B0604030504040204" pitchFamily="34" charset="0"/>
              </a:defRPr>
            </a:lvl7pPr>
            <a:lvl8pPr marL="3429000" indent="-228600" eaLnBrk="0" fontAlgn="base" hangingPunct="0">
              <a:spcBef>
                <a:spcPct val="0"/>
              </a:spcBef>
              <a:spcAft>
                <a:spcPct val="0"/>
              </a:spcAft>
              <a:defRPr sz="2400">
                <a:solidFill>
                  <a:schemeClr val="tx1"/>
                </a:solidFill>
                <a:latin typeface="Verdana" panose="020B0604030504040204" pitchFamily="34" charset="0"/>
              </a:defRPr>
            </a:lvl8pPr>
            <a:lvl9pPr marL="3886200" indent="-228600" eaLnBrk="0" fontAlgn="base" hangingPunct="0">
              <a:spcBef>
                <a:spcPct val="0"/>
              </a:spcBef>
              <a:spcAft>
                <a:spcPct val="0"/>
              </a:spcAft>
              <a:defRPr sz="2400">
                <a:solidFill>
                  <a:schemeClr val="tx1"/>
                </a:solidFill>
                <a:latin typeface="Verdana" panose="020B0604030504040204" pitchFamily="34" charset="0"/>
              </a:defRPr>
            </a:lvl9pPr>
          </a:lstStyle>
          <a:p>
            <a:r>
              <a:rPr lang="fr-CA" altLang="fr-FR">
                <a:solidFill>
                  <a:srgbClr val="CC0000"/>
                </a:solidFill>
              </a:rPr>
              <a:t>4. P         ( 1et2)</a:t>
            </a:r>
          </a:p>
          <a:p>
            <a:r>
              <a:rPr lang="fr-CA" altLang="fr-FR">
                <a:solidFill>
                  <a:srgbClr val="CC0000"/>
                </a:solidFill>
              </a:rPr>
              <a:t>5. Vide    (3 et 4)</a:t>
            </a:r>
            <a:endParaRPr lang="fr-FR" altLang="fr-FR">
              <a:solidFill>
                <a:srgbClr val="CC0000"/>
              </a:solidFill>
            </a:endParaRPr>
          </a:p>
        </p:txBody>
      </p:sp>
    </p:spTree>
    <p:extLst>
      <p:ext uri="{BB962C8B-B14F-4D97-AF65-F5344CB8AC3E}">
        <p14:creationId xmlns:p14="http://schemas.microsoft.com/office/powerpoint/2010/main" val="860307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box(in)">
                                      <p:cBhvr>
                                        <p:cTn id="7" dur="500"/>
                                        <p:tgtEl>
                                          <p:spTgt spid="3">
                                            <p:txEl>
                                              <p:pRg st="8" end="8"/>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10" end="10"/>
                                            </p:txEl>
                                          </p:spTgt>
                                        </p:tgtEl>
                                        <p:attrNameLst>
                                          <p:attrName>style.visibility</p:attrName>
                                        </p:attrNameLst>
                                      </p:cBhvr>
                                      <p:to>
                                        <p:strVal val="visible"/>
                                      </p:to>
                                    </p:set>
                                    <p:animEffect transition="in" filter="box(in)">
                                      <p:cBhvr>
                                        <p:cTn id="10" dur="500"/>
                                        <p:tgtEl>
                                          <p:spTgt spid="3">
                                            <p:txEl>
                                              <p:pRg st="10" end="10"/>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animEffect transition="in" filter="box(in)">
                                      <p:cBhvr>
                                        <p:cTn id="13" dur="500"/>
                                        <p:tgtEl>
                                          <p:spTgt spid="3">
                                            <p:txEl>
                                              <p:pRg st="11" end="1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3">
                                            <p:txEl>
                                              <p:pRg st="13" end="13"/>
                                            </p:txEl>
                                          </p:spTgt>
                                        </p:tgtEl>
                                        <p:attrNameLst>
                                          <p:attrName>style.visibility</p:attrName>
                                        </p:attrNameLst>
                                      </p:cBhvr>
                                      <p:to>
                                        <p:strVal val="visible"/>
                                      </p:to>
                                    </p:set>
                                    <p:animEffect transition="in" filter="box(in)">
                                      <p:cBhvr>
                                        <p:cTn id="18" dur="500"/>
                                        <p:tgtEl>
                                          <p:spTgt spid="3">
                                            <p:txEl>
                                              <p:pRg st="13" end="13"/>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3">
                                            <p:txEl>
                                              <p:pRg st="15" end="15"/>
                                            </p:txEl>
                                          </p:spTgt>
                                        </p:tgtEl>
                                        <p:attrNameLst>
                                          <p:attrName>style.visibility</p:attrName>
                                        </p:attrNameLst>
                                      </p:cBhvr>
                                      <p:to>
                                        <p:strVal val="visible"/>
                                      </p:to>
                                    </p:set>
                                    <p:animEffect transition="in" filter="box(in)">
                                      <p:cBhvr>
                                        <p:cTn id="21" dur="500"/>
                                        <p:tgtEl>
                                          <p:spTgt spid="3">
                                            <p:txEl>
                                              <p:pRg st="15" end="1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3">
                                            <p:txEl>
                                              <p:pRg st="17" end="17"/>
                                            </p:txEl>
                                          </p:spTgt>
                                        </p:tgtEl>
                                        <p:attrNameLst>
                                          <p:attrName>style.visibility</p:attrName>
                                        </p:attrNameLst>
                                      </p:cBhvr>
                                      <p:to>
                                        <p:strVal val="visible"/>
                                      </p:to>
                                    </p:set>
                                    <p:animEffect transition="in" filter="wipe(down)">
                                      <p:cBhvr>
                                        <p:cTn id="26" dur="500"/>
                                        <p:tgtEl>
                                          <p:spTgt spid="3">
                                            <p:txEl>
                                              <p:pRg st="17" end="17"/>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3">
                                            <p:txEl>
                                              <p:pRg st="19" end="19"/>
                                            </p:txEl>
                                          </p:spTgt>
                                        </p:tgtEl>
                                        <p:attrNameLst>
                                          <p:attrName>style.visibility</p:attrName>
                                        </p:attrNameLst>
                                      </p:cBhvr>
                                      <p:to>
                                        <p:strVal val="visible"/>
                                      </p:to>
                                    </p:set>
                                    <p:animEffect transition="in" filter="wipe(down)">
                                      <p:cBhvr>
                                        <p:cTn id="29" dur="500"/>
                                        <p:tgtEl>
                                          <p:spTgt spid="3">
                                            <p:txEl>
                                              <p:pRg st="19" end="19"/>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3">
                                            <p:txEl>
                                              <p:pRg st="21" end="21"/>
                                            </p:txEl>
                                          </p:spTgt>
                                        </p:tgtEl>
                                        <p:attrNameLst>
                                          <p:attrName>style.visibility</p:attrName>
                                        </p:attrNameLst>
                                      </p:cBhvr>
                                      <p:to>
                                        <p:strVal val="visible"/>
                                      </p:to>
                                    </p:set>
                                    <p:animEffect transition="in" filter="wipe(down)">
                                      <p:cBhvr>
                                        <p:cTn id="32" dur="500"/>
                                        <p:tgtEl>
                                          <p:spTgt spid="3">
                                            <p:txEl>
                                              <p:pRg st="21" end="21"/>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3">
                                            <p:txEl>
                                              <p:pRg st="22" end="22"/>
                                            </p:txEl>
                                          </p:spTgt>
                                        </p:tgtEl>
                                        <p:attrNameLst>
                                          <p:attrName>style.visibility</p:attrName>
                                        </p:attrNameLst>
                                      </p:cBhvr>
                                      <p:to>
                                        <p:strVal val="visible"/>
                                      </p:to>
                                    </p:set>
                                    <p:animEffect transition="in" filter="wipe(down)">
                                      <p:cBhvr>
                                        <p:cTn id="35" dur="500"/>
                                        <p:tgtEl>
                                          <p:spTgt spid="3">
                                            <p:txEl>
                                              <p:pRg st="22" end="22"/>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3">
                                            <p:txEl>
                                              <p:pRg st="23" end="23"/>
                                            </p:txEl>
                                          </p:spTgt>
                                        </p:tgtEl>
                                        <p:attrNameLst>
                                          <p:attrName>style.visibility</p:attrName>
                                        </p:attrNameLst>
                                      </p:cBhvr>
                                      <p:to>
                                        <p:strVal val="visible"/>
                                      </p:to>
                                    </p:set>
                                    <p:animEffect transition="in" filter="wipe(down)">
                                      <p:cBhvr>
                                        <p:cTn id="38" dur="500"/>
                                        <p:tgtEl>
                                          <p:spTgt spid="3">
                                            <p:txEl>
                                              <p:pRg st="23" end="23"/>
                                            </p:txEl>
                                          </p:spTgt>
                                        </p:tgtEl>
                                      </p:cBhvr>
                                    </p:animEffect>
                                  </p:childTnLst>
                                </p:cTn>
                              </p:par>
                              <p:par>
                                <p:cTn id="39" presetID="22" presetClass="entr" presetSubtype="4" fill="hold" nodeType="withEffect">
                                  <p:stCondLst>
                                    <p:cond delay="0"/>
                                  </p:stCondLst>
                                  <p:childTnLst>
                                    <p:set>
                                      <p:cBhvr>
                                        <p:cTn id="40" dur="1" fill="hold">
                                          <p:stCondLst>
                                            <p:cond delay="0"/>
                                          </p:stCondLst>
                                        </p:cTn>
                                        <p:tgtEl>
                                          <p:spTgt spid="3">
                                            <p:txEl>
                                              <p:pRg st="25" end="25"/>
                                            </p:txEl>
                                          </p:spTgt>
                                        </p:tgtEl>
                                        <p:attrNameLst>
                                          <p:attrName>style.visibility</p:attrName>
                                        </p:attrNameLst>
                                      </p:cBhvr>
                                      <p:to>
                                        <p:strVal val="visible"/>
                                      </p:to>
                                    </p:set>
                                    <p:animEffect transition="in" filter="wipe(down)">
                                      <p:cBhvr>
                                        <p:cTn id="41" dur="500"/>
                                        <p:tgtEl>
                                          <p:spTgt spid="3">
                                            <p:txEl>
                                              <p:pRg st="25" end="25"/>
                                            </p:txEl>
                                          </p:spTgt>
                                        </p:tgtEl>
                                      </p:cBhvr>
                                    </p:animEffect>
                                  </p:childTnLst>
                                </p:cTn>
                              </p:par>
                              <p:par>
                                <p:cTn id="42" presetID="22" presetClass="entr" presetSubtype="4" fill="hold" nodeType="withEffect">
                                  <p:stCondLst>
                                    <p:cond delay="0"/>
                                  </p:stCondLst>
                                  <p:childTnLst>
                                    <p:set>
                                      <p:cBhvr>
                                        <p:cTn id="43" dur="1" fill="hold">
                                          <p:stCondLst>
                                            <p:cond delay="0"/>
                                          </p:stCondLst>
                                        </p:cTn>
                                        <p:tgtEl>
                                          <p:spTgt spid="3">
                                            <p:txEl>
                                              <p:pRg st="26" end="26"/>
                                            </p:txEl>
                                          </p:spTgt>
                                        </p:tgtEl>
                                        <p:attrNameLst>
                                          <p:attrName>style.visibility</p:attrName>
                                        </p:attrNameLst>
                                      </p:cBhvr>
                                      <p:to>
                                        <p:strVal val="visible"/>
                                      </p:to>
                                    </p:set>
                                    <p:animEffect transition="in" filter="wipe(down)">
                                      <p:cBhvr>
                                        <p:cTn id="44" dur="500"/>
                                        <p:tgtEl>
                                          <p:spTgt spid="3">
                                            <p:txEl>
                                              <p:pRg st="26" end="26"/>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additive="base">
                                        <p:cTn id="49" dur="500" fill="hold"/>
                                        <p:tgtEl>
                                          <p:spTgt spid="4"/>
                                        </p:tgtEl>
                                        <p:attrNameLst>
                                          <p:attrName>ppt_x</p:attrName>
                                        </p:attrNameLst>
                                      </p:cBhvr>
                                      <p:tavLst>
                                        <p:tav tm="0">
                                          <p:val>
                                            <p:strVal val="#ppt_x"/>
                                          </p:val>
                                        </p:tav>
                                        <p:tav tm="100000">
                                          <p:val>
                                            <p:strVal val="#ppt_x"/>
                                          </p:val>
                                        </p:tav>
                                      </p:tavLst>
                                    </p:anim>
                                    <p:anim calcmode="lin" valueType="num">
                                      <p:cBhvr additive="base">
                                        <p:cTn id="5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5">
                                            <p:bg/>
                                          </p:spTgt>
                                        </p:tgtEl>
                                        <p:attrNameLst>
                                          <p:attrName>style.visibility</p:attrName>
                                        </p:attrNameLst>
                                      </p:cBhvr>
                                      <p:to>
                                        <p:strVal val="visible"/>
                                      </p:to>
                                    </p:set>
                                    <p:animEffect transition="in" filter="wipe(down)">
                                      <p:cBhvr>
                                        <p:cTn id="55" dur="500"/>
                                        <p:tgtEl>
                                          <p:spTgt spid="5">
                                            <p:bg/>
                                          </p:spTgt>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5">
                                            <p:txEl>
                                              <p:pRg st="0" end="0"/>
                                            </p:txEl>
                                          </p:spTgt>
                                        </p:tgtEl>
                                        <p:attrNameLst>
                                          <p:attrName>style.visibility</p:attrName>
                                        </p:attrNameLst>
                                      </p:cBhvr>
                                      <p:to>
                                        <p:strVal val="visible"/>
                                      </p:to>
                                    </p:set>
                                    <p:animEffect transition="in" filter="wipe(down)">
                                      <p:cBhvr>
                                        <p:cTn id="58" dur="500"/>
                                        <p:tgtEl>
                                          <p:spTgt spid="5">
                                            <p:txEl>
                                              <p:pRg st="0" end="0"/>
                                            </p:txEl>
                                          </p:spTgt>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5">
                                            <p:txEl>
                                              <p:pRg st="1" end="1"/>
                                            </p:txEl>
                                          </p:spTgt>
                                        </p:tgtEl>
                                        <p:attrNameLst>
                                          <p:attrName>style.visibility</p:attrName>
                                        </p:attrNameLst>
                                      </p:cBhvr>
                                      <p:to>
                                        <p:strVal val="visible"/>
                                      </p:to>
                                    </p:set>
                                    <p:animEffect transition="in" filter="wipe(down)">
                                      <p:cBhvr>
                                        <p:cTn id="61" dur="500"/>
                                        <p:tgtEl>
                                          <p:spTgt spid="5">
                                            <p:txEl>
                                              <p:pRg st="1" end="1"/>
                                            </p:txEl>
                                          </p:spTgt>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5">
                                            <p:txEl>
                                              <p:pRg st="2" end="2"/>
                                            </p:txEl>
                                          </p:spTgt>
                                        </p:tgtEl>
                                        <p:attrNameLst>
                                          <p:attrName>style.visibility</p:attrName>
                                        </p:attrNameLst>
                                      </p:cBhvr>
                                      <p:to>
                                        <p:strVal val="visible"/>
                                      </p:to>
                                    </p:set>
                                    <p:animEffect transition="in" filter="wipe(down)">
                                      <p:cBhvr>
                                        <p:cTn id="64" dur="500"/>
                                        <p:tgtEl>
                                          <p:spTgt spid="5">
                                            <p:txEl>
                                              <p:pRg st="2" end="2"/>
                                            </p:txEl>
                                          </p:spTgt>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5">
                                            <p:txEl>
                                              <p:pRg st="3" end="3"/>
                                            </p:txEl>
                                          </p:spTgt>
                                        </p:tgtEl>
                                        <p:attrNameLst>
                                          <p:attrName>style.visibility</p:attrName>
                                        </p:attrNameLst>
                                      </p:cBhvr>
                                      <p:to>
                                        <p:strVal val="visible"/>
                                      </p:to>
                                    </p:set>
                                    <p:animEffect transition="in" filter="wipe(down)">
                                      <p:cBhvr>
                                        <p:cTn id="67" dur="500"/>
                                        <p:tgtEl>
                                          <p:spTgt spid="5">
                                            <p:txEl>
                                              <p:pRg st="3" end="3"/>
                                            </p:txEl>
                                          </p:spTgt>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5">
                                            <p:txEl>
                                              <p:pRg st="4" end="4"/>
                                            </p:txEl>
                                          </p:spTgt>
                                        </p:tgtEl>
                                        <p:attrNameLst>
                                          <p:attrName>style.visibility</p:attrName>
                                        </p:attrNameLst>
                                      </p:cBhvr>
                                      <p:to>
                                        <p:strVal val="visible"/>
                                      </p:to>
                                    </p:set>
                                    <p:animEffect transition="in" filter="wipe(down)">
                                      <p:cBhvr>
                                        <p:cTn id="70" dur="500"/>
                                        <p:tgtEl>
                                          <p:spTgt spid="5">
                                            <p:txEl>
                                              <p:pRg st="4" end="4"/>
                                            </p:txEl>
                                          </p:spTgt>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5">
                                            <p:txEl>
                                              <p:pRg st="5" end="5"/>
                                            </p:txEl>
                                          </p:spTgt>
                                        </p:tgtEl>
                                        <p:attrNameLst>
                                          <p:attrName>style.visibility</p:attrName>
                                        </p:attrNameLst>
                                      </p:cBhvr>
                                      <p:to>
                                        <p:strVal val="visible"/>
                                      </p:to>
                                    </p:set>
                                    <p:animEffect transition="in" filter="wipe(down)">
                                      <p:cBhvr>
                                        <p:cTn id="73" dur="500"/>
                                        <p:tgtEl>
                                          <p:spTgt spid="5">
                                            <p:txEl>
                                              <p:pRg st="5" end="5"/>
                                            </p:txEl>
                                          </p:spTgt>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5">
                                            <p:txEl>
                                              <p:pRg st="6" end="6"/>
                                            </p:txEl>
                                          </p:spTgt>
                                        </p:tgtEl>
                                        <p:attrNameLst>
                                          <p:attrName>style.visibility</p:attrName>
                                        </p:attrNameLst>
                                      </p:cBhvr>
                                      <p:to>
                                        <p:strVal val="visible"/>
                                      </p:to>
                                    </p:set>
                                    <p:animEffect transition="in" filter="wipe(down)">
                                      <p:cBhvr>
                                        <p:cTn id="76" dur="500"/>
                                        <p:tgtEl>
                                          <p:spTgt spid="5">
                                            <p:txEl>
                                              <p:pRg st="6" end="6"/>
                                            </p:txEl>
                                          </p:spTgt>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5">
                                            <p:txEl>
                                              <p:pRg st="7" end="7"/>
                                            </p:txEl>
                                          </p:spTgt>
                                        </p:tgtEl>
                                        <p:attrNameLst>
                                          <p:attrName>style.visibility</p:attrName>
                                        </p:attrNameLst>
                                      </p:cBhvr>
                                      <p:to>
                                        <p:strVal val="visible"/>
                                      </p:to>
                                    </p:set>
                                    <p:animEffect transition="in" filter="wipe(down)">
                                      <p:cBhvr>
                                        <p:cTn id="79" dur="500"/>
                                        <p:tgtEl>
                                          <p:spTgt spid="5">
                                            <p:txEl>
                                              <p:pRg st="7" end="7"/>
                                            </p:txEl>
                                          </p:spTgt>
                                        </p:tgtEl>
                                      </p:cBhvr>
                                    </p:animEffect>
                                  </p:childTnLst>
                                </p:cTn>
                              </p:par>
                            </p:childTnLst>
                          </p:cTn>
                        </p:par>
                        <p:par>
                          <p:cTn id="80" fill="hold">
                            <p:stCondLst>
                              <p:cond delay="500"/>
                            </p:stCondLst>
                            <p:childTnLst>
                              <p:par>
                                <p:cTn id="81" presetID="22" presetClass="entr" presetSubtype="4" fill="hold" nodeType="afterEffect">
                                  <p:stCondLst>
                                    <p:cond delay="0"/>
                                  </p:stCondLst>
                                  <p:childTnLst>
                                    <p:set>
                                      <p:cBhvr>
                                        <p:cTn id="82" dur="1" fill="hold">
                                          <p:stCondLst>
                                            <p:cond delay="0"/>
                                          </p:stCondLst>
                                        </p:cTn>
                                        <p:tgtEl>
                                          <p:spTgt spid="6"/>
                                        </p:tgtEl>
                                        <p:attrNameLst>
                                          <p:attrName>style.visibility</p:attrName>
                                        </p:attrNameLst>
                                      </p:cBhvr>
                                      <p:to>
                                        <p:strVal val="visible"/>
                                      </p:to>
                                    </p:set>
                                    <p:animEffect transition="in" filter="wipe(down)">
                                      <p:cBhvr>
                                        <p:cTn id="83" dur="500"/>
                                        <p:tgtEl>
                                          <p:spTgt spid="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4" fill="hold" nodeType="clickEffect">
                                  <p:stCondLst>
                                    <p:cond delay="0"/>
                                  </p:stCondLst>
                                  <p:childTnLst>
                                    <p:set>
                                      <p:cBhvr>
                                        <p:cTn id="87" dur="1" fill="hold">
                                          <p:stCondLst>
                                            <p:cond delay="0"/>
                                          </p:stCondLst>
                                        </p:cTn>
                                        <p:tgtEl>
                                          <p:spTgt spid="9">
                                            <p:txEl>
                                              <p:pRg st="0" end="0"/>
                                            </p:txEl>
                                          </p:spTgt>
                                        </p:tgtEl>
                                        <p:attrNameLst>
                                          <p:attrName>style.visibility</p:attrName>
                                        </p:attrNameLst>
                                      </p:cBhvr>
                                      <p:to>
                                        <p:strVal val="visible"/>
                                      </p:to>
                                    </p:set>
                                    <p:animEffect transition="in" filter="wipe(down)">
                                      <p:cBhvr>
                                        <p:cTn id="88" dur="500"/>
                                        <p:tgtEl>
                                          <p:spTgt spid="9">
                                            <p:txEl>
                                              <p:pRg st="0" end="0"/>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nodeType="clickEffect">
                                  <p:stCondLst>
                                    <p:cond delay="0"/>
                                  </p:stCondLst>
                                  <p:childTnLst>
                                    <p:set>
                                      <p:cBhvr>
                                        <p:cTn id="92" dur="1" fill="hold">
                                          <p:stCondLst>
                                            <p:cond delay="0"/>
                                          </p:stCondLst>
                                        </p:cTn>
                                        <p:tgtEl>
                                          <p:spTgt spid="9">
                                            <p:txEl>
                                              <p:pRg st="1" end="1"/>
                                            </p:txEl>
                                          </p:spTgt>
                                        </p:tgtEl>
                                        <p:attrNameLst>
                                          <p:attrName>style.visibility</p:attrName>
                                        </p:attrNameLst>
                                      </p:cBhvr>
                                      <p:to>
                                        <p:strVal val="visible"/>
                                      </p:to>
                                    </p:set>
                                    <p:animEffect transition="in" filter="wipe(down)">
                                      <p:cBhvr>
                                        <p:cTn id="93" dur="500"/>
                                        <p:tgtEl>
                                          <p:spTgt spid="9">
                                            <p:txEl>
                                              <p:pRg st="1" end="1"/>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4" fill="hold" grpId="0" nodeType="clickEffect">
                                  <p:stCondLst>
                                    <p:cond delay="0"/>
                                  </p:stCondLst>
                                  <p:childTnLst>
                                    <p:set>
                                      <p:cBhvr>
                                        <p:cTn id="97" dur="1" fill="hold">
                                          <p:stCondLst>
                                            <p:cond delay="0"/>
                                          </p:stCondLst>
                                        </p:cTn>
                                        <p:tgtEl>
                                          <p:spTgt spid="9">
                                            <p:bg/>
                                          </p:spTgt>
                                        </p:tgtEl>
                                        <p:attrNameLst>
                                          <p:attrName>style.visibility</p:attrName>
                                        </p:attrNameLst>
                                      </p:cBhvr>
                                      <p:to>
                                        <p:strVal val="visible"/>
                                      </p:to>
                                    </p:set>
                                    <p:animEffect transition="in" filter="wipe(down)">
                                      <p:cBhvr>
                                        <p:cTn id="98" dur="500"/>
                                        <p:tgtEl>
                                          <p:spTgt spid="9">
                                            <p:bg/>
                                          </p:spTgt>
                                        </p:tgtEl>
                                      </p:cBhvr>
                                    </p:animEffect>
                                  </p:childTnLst>
                                </p:cTn>
                              </p:par>
                              <p:par>
                                <p:cTn id="99" presetID="22" presetClass="entr" presetSubtype="4" fill="hold" grpId="0" nodeType="withEffect">
                                  <p:stCondLst>
                                    <p:cond delay="0"/>
                                  </p:stCondLst>
                                  <p:childTnLst>
                                    <p:set>
                                      <p:cBhvr>
                                        <p:cTn id="100" dur="1" fill="hold">
                                          <p:stCondLst>
                                            <p:cond delay="0"/>
                                          </p:stCondLst>
                                        </p:cTn>
                                        <p:tgtEl>
                                          <p:spTgt spid="9">
                                            <p:txEl>
                                              <p:pRg st="0" end="0"/>
                                            </p:txEl>
                                          </p:spTgt>
                                        </p:tgtEl>
                                        <p:attrNameLst>
                                          <p:attrName>style.visibility</p:attrName>
                                        </p:attrNameLst>
                                      </p:cBhvr>
                                      <p:to>
                                        <p:strVal val="visible"/>
                                      </p:to>
                                    </p:set>
                                    <p:animEffect transition="in" filter="wipe(down)">
                                      <p:cBhvr>
                                        <p:cTn id="101" dur="500"/>
                                        <p:tgtEl>
                                          <p:spTgt spid="9">
                                            <p:txEl>
                                              <p:pRg st="0" end="0"/>
                                            </p:txEl>
                                          </p:spTgt>
                                        </p:tgtEl>
                                      </p:cBhvr>
                                    </p:animEffect>
                                  </p:childTnLst>
                                </p:cTn>
                              </p:par>
                              <p:par>
                                <p:cTn id="102" presetID="22" presetClass="entr" presetSubtype="4" fill="hold" grpId="0" nodeType="withEffect">
                                  <p:stCondLst>
                                    <p:cond delay="0"/>
                                  </p:stCondLst>
                                  <p:childTnLst>
                                    <p:set>
                                      <p:cBhvr>
                                        <p:cTn id="103" dur="1" fill="hold">
                                          <p:stCondLst>
                                            <p:cond delay="0"/>
                                          </p:stCondLst>
                                        </p:cTn>
                                        <p:tgtEl>
                                          <p:spTgt spid="9">
                                            <p:txEl>
                                              <p:pRg st="1" end="1"/>
                                            </p:txEl>
                                          </p:spTgt>
                                        </p:tgtEl>
                                        <p:attrNameLst>
                                          <p:attrName>style.visibility</p:attrName>
                                        </p:attrNameLst>
                                      </p:cBhvr>
                                      <p:to>
                                        <p:strVal val="visible"/>
                                      </p:to>
                                    </p:set>
                                    <p:animEffect transition="in" filter="wipe(down)">
                                      <p:cBhvr>
                                        <p:cTn id="104"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uild="allAtOnce" animBg="1"/>
      <p:bldP spid="9" grpId="0" build="allAtOnce"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Ce qu’il faut retenir</a:t>
            </a:r>
            <a:endParaRPr lang="fr-FR" dirty="0"/>
          </a:p>
        </p:txBody>
      </p:sp>
      <p:sp>
        <p:nvSpPr>
          <p:cNvPr id="3" name="Rectangle 3">
            <a:extLst>
              <a:ext uri="{FF2B5EF4-FFF2-40B4-BE49-F238E27FC236}">
                <a16:creationId xmlns:a16="http://schemas.microsoft.com/office/drawing/2014/main" xmlns="" id="{3BCD9358-215B-84E3-4F35-8746D4B42F14}"/>
              </a:ext>
            </a:extLst>
          </p:cNvPr>
          <p:cNvSpPr txBox="1">
            <a:spLocks noChangeArrowheads="1"/>
          </p:cNvSpPr>
          <p:nvPr/>
        </p:nvSpPr>
        <p:spPr>
          <a:xfrm>
            <a:off x="544513" y="1633538"/>
            <a:ext cx="8016875" cy="4440237"/>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defRPr/>
            </a:pPr>
            <a:r>
              <a:rPr lang="fr-FR" altLang="fr-FR" dirty="0"/>
              <a:t>Intérêt d’une </a:t>
            </a:r>
            <a:r>
              <a:rPr lang="fr-FR" altLang="fr-FR" b="1" dirty="0"/>
              <a:t>forme normale</a:t>
            </a:r>
            <a:endParaRPr lang="fr-FR" altLang="fr-FR" dirty="0"/>
          </a:p>
          <a:p>
            <a:pPr>
              <a:defRPr/>
            </a:pPr>
            <a:endParaRPr lang="fr-FR" altLang="fr-FR" dirty="0"/>
          </a:p>
          <a:p>
            <a:pPr>
              <a:defRPr/>
            </a:pPr>
            <a:endParaRPr lang="fr-FR" altLang="fr-FR" dirty="0"/>
          </a:p>
          <a:p>
            <a:pPr>
              <a:defRPr/>
            </a:pPr>
            <a:r>
              <a:rPr lang="fr-FR" altLang="fr-FR" b="1" dirty="0"/>
              <a:t>Conséquence logique</a:t>
            </a:r>
            <a:r>
              <a:rPr lang="fr-FR" altLang="fr-FR" dirty="0"/>
              <a:t> vs </a:t>
            </a:r>
            <a:r>
              <a:rPr lang="fr-FR" altLang="fr-FR" b="1" dirty="0"/>
              <a:t>démonstration</a:t>
            </a:r>
            <a:endParaRPr lang="fr-FR" altLang="fr-FR" dirty="0"/>
          </a:p>
          <a:p>
            <a:pPr marL="0" indent="0">
              <a:buFont typeface="Monotype Sorts"/>
              <a:buNone/>
              <a:defRPr/>
            </a:pPr>
            <a:r>
              <a:rPr lang="fr-FR" altLang="fr-FR" i="1" dirty="0">
                <a:solidFill>
                  <a:srgbClr val="FF0000"/>
                </a:solidFill>
              </a:rPr>
              <a:t>A</a:t>
            </a:r>
            <a:r>
              <a:rPr lang="fr-FR" altLang="fr-FR" i="1" dirty="0">
                <a:solidFill>
                  <a:srgbClr val="FF0000"/>
                </a:solidFill>
                <a:latin typeface="Century Gothic" panose="020B0502020202020204" pitchFamily="34" charset="0"/>
                <a:sym typeface="Symbol" panose="05050102010706020507" pitchFamily="18" charset="2"/>
              </a:rPr>
              <a:t>├ </a:t>
            </a:r>
            <a:r>
              <a:rPr lang="fr-FR" altLang="fr-FR" i="1" dirty="0">
                <a:solidFill>
                  <a:srgbClr val="FF0000"/>
                </a:solidFill>
              </a:rPr>
              <a:t>G </a:t>
            </a:r>
            <a:r>
              <a:rPr lang="fr-FR" altLang="fr-FR" i="1" dirty="0" err="1">
                <a:solidFill>
                  <a:srgbClr val="FF0000"/>
                </a:solidFill>
              </a:rPr>
              <a:t>ssi</a:t>
            </a:r>
            <a:r>
              <a:rPr lang="fr-FR" altLang="fr-FR" i="1" dirty="0">
                <a:solidFill>
                  <a:srgbClr val="FF0000"/>
                </a:solidFill>
              </a:rPr>
              <a:t> </a:t>
            </a:r>
            <a:r>
              <a:rPr lang="fr-FR" altLang="fr-FR" i="1" dirty="0">
                <a:solidFill>
                  <a:srgbClr val="FF0000"/>
                </a:solidFill>
                <a:latin typeface="Century Gothic" panose="020B0502020202020204" pitchFamily="34" charset="0"/>
                <a:sym typeface="Symbol" panose="05050102010706020507" pitchFamily="18" charset="2"/>
              </a:rPr>
              <a:t>├</a:t>
            </a:r>
            <a:r>
              <a:rPr lang="fr-FR" altLang="fr-FR" i="1" dirty="0">
                <a:solidFill>
                  <a:srgbClr val="FF0000"/>
                </a:solidFill>
              </a:rPr>
              <a:t>   </a:t>
            </a:r>
            <a:r>
              <a:rPr lang="fr-FR" altLang="fr-FR" i="1" dirty="0">
                <a:solidFill>
                  <a:srgbClr val="FF0000"/>
                </a:solidFill>
                <a:sym typeface="Symbol" panose="05050102010706020507" pitchFamily="18" charset="2"/>
              </a:rPr>
              <a:t>A</a:t>
            </a:r>
            <a:r>
              <a:rPr lang="fr-FR" altLang="fr-FR" i="1" dirty="0">
                <a:solidFill>
                  <a:srgbClr val="FF0000"/>
                </a:solidFill>
              </a:rPr>
              <a:t> </a:t>
            </a:r>
            <a:r>
              <a:rPr lang="fr-FR" altLang="fr-FR" i="1" dirty="0">
                <a:solidFill>
                  <a:srgbClr val="FF0000"/>
                </a:solidFill>
                <a:sym typeface="Symbol" panose="05050102010706020507" pitchFamily="18" charset="2"/>
              </a:rPr>
              <a:t></a:t>
            </a:r>
            <a:r>
              <a:rPr lang="fr-FR" altLang="fr-FR" i="1" dirty="0">
                <a:solidFill>
                  <a:srgbClr val="FF0000"/>
                </a:solidFill>
              </a:rPr>
              <a:t> G</a:t>
            </a:r>
            <a:endParaRPr lang="fr-FR" altLang="fr-FR" dirty="0">
              <a:solidFill>
                <a:srgbClr val="FF0000"/>
              </a:solidFill>
            </a:endParaRPr>
          </a:p>
          <a:p>
            <a:pPr>
              <a:defRPr/>
            </a:pPr>
            <a:endParaRPr lang="fr-FR" altLang="fr-FR" dirty="0"/>
          </a:p>
          <a:p>
            <a:pPr>
              <a:defRPr/>
            </a:pPr>
            <a:r>
              <a:rPr lang="fr-FR" altLang="fr-FR" dirty="0"/>
              <a:t>Principe de </a:t>
            </a:r>
            <a:r>
              <a:rPr lang="fr-FR" altLang="fr-FR" b="1" dirty="0"/>
              <a:t>résolution</a:t>
            </a:r>
          </a:p>
          <a:p>
            <a:pPr marL="0" indent="0">
              <a:buFont typeface="Monotype Sorts"/>
              <a:buNone/>
              <a:defRPr/>
            </a:pPr>
            <a:r>
              <a:rPr lang="fr-FR" altLang="fr-FR" dirty="0">
                <a:solidFill>
                  <a:srgbClr val="FF0000"/>
                </a:solidFill>
              </a:rPr>
              <a:t>l </a:t>
            </a:r>
            <a:r>
              <a:rPr lang="fr-FR" altLang="fr-FR" dirty="0">
                <a:solidFill>
                  <a:srgbClr val="FF0000"/>
                </a:solidFill>
                <a:sym typeface="Symbol" panose="05050102010706020507" pitchFamily="18" charset="2"/>
              </a:rPr>
              <a:t> </a:t>
            </a:r>
            <a:r>
              <a:rPr lang="fr-FR" altLang="fr-FR" dirty="0">
                <a:solidFill>
                  <a:srgbClr val="FF0000"/>
                </a:solidFill>
              </a:rPr>
              <a:t>C’</a:t>
            </a:r>
            <a:r>
              <a:rPr lang="fr-FR" altLang="fr-FR" baseline="-25000" dirty="0">
                <a:solidFill>
                  <a:srgbClr val="FF0000"/>
                </a:solidFill>
              </a:rPr>
              <a:t>1 </a:t>
            </a:r>
            <a:r>
              <a:rPr lang="fr-FR" altLang="fr-FR" dirty="0">
                <a:solidFill>
                  <a:srgbClr val="FF0000"/>
                </a:solidFill>
              </a:rPr>
              <a:t>, </a:t>
            </a:r>
            <a:r>
              <a:rPr lang="fr-FR" altLang="fr-FR" dirty="0">
                <a:solidFill>
                  <a:srgbClr val="FF0000"/>
                </a:solidFill>
                <a:sym typeface="Symbol" panose="05050102010706020507" pitchFamily="18" charset="2"/>
              </a:rPr>
              <a:t></a:t>
            </a:r>
            <a:r>
              <a:rPr lang="fr-FR" altLang="fr-FR" dirty="0">
                <a:solidFill>
                  <a:srgbClr val="FF0000"/>
                </a:solidFill>
              </a:rPr>
              <a:t> l </a:t>
            </a:r>
            <a:r>
              <a:rPr lang="fr-FR" altLang="fr-FR" dirty="0">
                <a:solidFill>
                  <a:srgbClr val="FF0000"/>
                </a:solidFill>
                <a:sym typeface="Symbol" panose="05050102010706020507" pitchFamily="18" charset="2"/>
              </a:rPr>
              <a:t> </a:t>
            </a:r>
            <a:r>
              <a:rPr lang="fr-FR" altLang="fr-FR" dirty="0">
                <a:solidFill>
                  <a:srgbClr val="FF0000"/>
                </a:solidFill>
              </a:rPr>
              <a:t>C’</a:t>
            </a:r>
            <a:r>
              <a:rPr lang="fr-FR" altLang="fr-FR" baseline="-25000" dirty="0">
                <a:solidFill>
                  <a:srgbClr val="FF0000"/>
                </a:solidFill>
              </a:rPr>
              <a:t>2</a:t>
            </a:r>
            <a:r>
              <a:rPr lang="fr-FR" altLang="fr-FR" dirty="0">
                <a:solidFill>
                  <a:srgbClr val="FF0000"/>
                </a:solidFill>
                <a:sym typeface="Symbol" panose="05050102010706020507" pitchFamily="18" charset="2"/>
              </a:rPr>
              <a:t> </a:t>
            </a:r>
            <a:r>
              <a:rPr lang="fr-FR" altLang="fr-FR" i="1" dirty="0">
                <a:solidFill>
                  <a:srgbClr val="FF0000"/>
                </a:solidFill>
                <a:latin typeface="Century Gothic" panose="020B0502020202020204" pitchFamily="34" charset="0"/>
                <a:sym typeface="Symbol" panose="05050102010706020507" pitchFamily="18" charset="2"/>
              </a:rPr>
              <a:t>├</a:t>
            </a:r>
            <a:r>
              <a:rPr lang="fr-FR" altLang="fr-FR" dirty="0">
                <a:solidFill>
                  <a:srgbClr val="FF0000"/>
                </a:solidFill>
                <a:sym typeface="Symbol" panose="05050102010706020507" pitchFamily="18" charset="2"/>
              </a:rPr>
              <a:t> </a:t>
            </a:r>
            <a:r>
              <a:rPr lang="fr-FR" altLang="fr-FR" baseline="-25000" dirty="0" err="1">
                <a:solidFill>
                  <a:srgbClr val="FF0000"/>
                </a:solidFill>
                <a:sym typeface="Symbol" panose="05050102010706020507" pitchFamily="18" charset="2"/>
              </a:rPr>
              <a:t>réso</a:t>
            </a:r>
            <a:r>
              <a:rPr lang="fr-FR" altLang="fr-FR" baseline="-25000" dirty="0">
                <a:solidFill>
                  <a:srgbClr val="FF0000"/>
                </a:solidFill>
                <a:sym typeface="Symbol" panose="05050102010706020507" pitchFamily="18" charset="2"/>
              </a:rPr>
              <a:t>   </a:t>
            </a:r>
            <a:r>
              <a:rPr lang="fr-FR" altLang="fr-FR" dirty="0">
                <a:solidFill>
                  <a:srgbClr val="FF0000"/>
                </a:solidFill>
              </a:rPr>
              <a:t>C’</a:t>
            </a:r>
            <a:r>
              <a:rPr lang="fr-FR" altLang="fr-FR" baseline="-25000" dirty="0">
                <a:solidFill>
                  <a:srgbClr val="FF0000"/>
                </a:solidFill>
              </a:rPr>
              <a:t>1</a:t>
            </a:r>
            <a:r>
              <a:rPr lang="fr-FR" altLang="fr-FR" dirty="0">
                <a:solidFill>
                  <a:srgbClr val="FF0000"/>
                </a:solidFill>
                <a:sym typeface="Symbol" panose="05050102010706020507" pitchFamily="18" charset="2"/>
              </a:rPr>
              <a:t>  </a:t>
            </a:r>
            <a:r>
              <a:rPr lang="fr-FR" altLang="fr-FR" dirty="0">
                <a:solidFill>
                  <a:srgbClr val="FF0000"/>
                </a:solidFill>
              </a:rPr>
              <a:t>C’</a:t>
            </a:r>
            <a:r>
              <a:rPr lang="fr-FR" altLang="fr-FR" baseline="-25000" dirty="0">
                <a:solidFill>
                  <a:srgbClr val="FF0000"/>
                </a:solidFill>
              </a:rPr>
              <a:t>2</a:t>
            </a:r>
            <a:endParaRPr lang="fr-FR" altLang="fr-FR" dirty="0">
              <a:solidFill>
                <a:srgbClr val="FF0000"/>
              </a:solidFill>
            </a:endParaRPr>
          </a:p>
          <a:p>
            <a:pPr>
              <a:defRPr/>
            </a:pPr>
            <a:endParaRPr lang="fr-FR" altLang="fr-FR" dirty="0"/>
          </a:p>
          <a:p>
            <a:pPr>
              <a:defRPr/>
            </a:pPr>
            <a:r>
              <a:rPr lang="fr-FR" altLang="fr-FR" dirty="0"/>
              <a:t>Preuve par </a:t>
            </a:r>
            <a:r>
              <a:rPr lang="fr-FR" altLang="fr-FR" b="1" dirty="0"/>
              <a:t>réfutation</a:t>
            </a:r>
          </a:p>
          <a:p>
            <a:pPr marL="0" indent="0">
              <a:buFont typeface="Monotype Sorts"/>
              <a:buNone/>
              <a:defRPr/>
            </a:pPr>
            <a:r>
              <a:rPr lang="fr-FR" altLang="fr-FR" dirty="0">
                <a:solidFill>
                  <a:srgbClr val="FF0000"/>
                </a:solidFill>
              </a:rPr>
              <a:t>A </a:t>
            </a:r>
            <a:r>
              <a:rPr lang="fr-FR" altLang="fr-FR" i="1" dirty="0">
                <a:solidFill>
                  <a:srgbClr val="FF0000"/>
                </a:solidFill>
                <a:latin typeface="Century Gothic" panose="020B0502020202020204" pitchFamily="34" charset="0"/>
                <a:sym typeface="Symbol" panose="05050102010706020507" pitchFamily="18" charset="2"/>
              </a:rPr>
              <a:t>├</a:t>
            </a:r>
            <a:r>
              <a:rPr lang="fr-FR" altLang="fr-FR" dirty="0">
                <a:solidFill>
                  <a:srgbClr val="FF0000"/>
                </a:solidFill>
              </a:rPr>
              <a:t>  G </a:t>
            </a:r>
            <a:r>
              <a:rPr lang="fr-FR" altLang="fr-FR" dirty="0" err="1">
                <a:solidFill>
                  <a:srgbClr val="FF0000"/>
                </a:solidFill>
              </a:rPr>
              <a:t>ssi</a:t>
            </a:r>
            <a:r>
              <a:rPr lang="fr-FR" altLang="fr-FR" dirty="0">
                <a:solidFill>
                  <a:srgbClr val="FF0000"/>
                </a:solidFill>
              </a:rPr>
              <a:t>    A </a:t>
            </a:r>
            <a:r>
              <a:rPr lang="fr-FR" altLang="fr-FR" dirty="0">
                <a:solidFill>
                  <a:srgbClr val="FF0000"/>
                </a:solidFill>
                <a:sym typeface="Symbol" panose="05050102010706020507" pitchFamily="18" charset="2"/>
              </a:rPr>
              <a:t></a:t>
            </a:r>
            <a:r>
              <a:rPr lang="fr-FR" altLang="fr-FR" dirty="0">
                <a:solidFill>
                  <a:srgbClr val="FF0000"/>
                </a:solidFill>
              </a:rPr>
              <a:t> </a:t>
            </a:r>
            <a:r>
              <a:rPr lang="fr-FR" altLang="fr-FR" dirty="0">
                <a:solidFill>
                  <a:srgbClr val="FF0000"/>
                </a:solidFill>
                <a:sym typeface="Symbol" panose="05050102010706020507" pitchFamily="18" charset="2"/>
              </a:rPr>
              <a:t> </a:t>
            </a:r>
            <a:r>
              <a:rPr lang="fr-FR" altLang="fr-FR" dirty="0">
                <a:solidFill>
                  <a:srgbClr val="FF0000"/>
                </a:solidFill>
              </a:rPr>
              <a:t>G   est inconsistante</a:t>
            </a:r>
          </a:p>
          <a:p>
            <a:pPr>
              <a:defRPr/>
            </a:pPr>
            <a:endParaRPr lang="fr-FR" altLang="fr-FR" dirty="0"/>
          </a:p>
          <a:p>
            <a:pPr>
              <a:defRPr/>
            </a:pPr>
            <a:endParaRPr lang="fr-FR" altLang="fr-FR" dirty="0"/>
          </a:p>
        </p:txBody>
      </p:sp>
    </p:spTree>
    <p:extLst>
      <p:ext uri="{BB962C8B-B14F-4D97-AF65-F5344CB8AC3E}">
        <p14:creationId xmlns:p14="http://schemas.microsoft.com/office/powerpoint/2010/main" val="2042643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anim calcmode="lin" valueType="num">
                                      <p:cBhvr additive="base">
                                        <p:cTn id="4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80AD53B7-1FCE-5BE0-DFBA-985110DE5C42}"/>
              </a:ext>
            </a:extLst>
          </p:cNvPr>
          <p:cNvSpPr txBox="1">
            <a:spLocks/>
          </p:cNvSpPr>
          <p:nvPr/>
        </p:nvSpPr>
        <p:spPr>
          <a:xfrm>
            <a:off x="388493" y="237453"/>
            <a:ext cx="6347714" cy="784898"/>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r-FR" altLang="fr-FR" dirty="0"/>
              <a:t>Formes normales</a:t>
            </a:r>
          </a:p>
        </p:txBody>
      </p:sp>
      <p:sp>
        <p:nvSpPr>
          <p:cNvPr id="3" name="Rectangle 4">
            <a:extLst>
              <a:ext uri="{FF2B5EF4-FFF2-40B4-BE49-F238E27FC236}">
                <a16:creationId xmlns:a16="http://schemas.microsoft.com/office/drawing/2014/main" xmlns="" id="{6070889F-0B54-AA18-6466-03CED482F73A}"/>
              </a:ext>
            </a:extLst>
          </p:cNvPr>
          <p:cNvSpPr>
            <a:spLocks noChangeArrowheads="1"/>
          </p:cNvSpPr>
          <p:nvPr/>
        </p:nvSpPr>
        <p:spPr bwMode="auto">
          <a:xfrm>
            <a:off x="-36513" y="1014016"/>
            <a:ext cx="9144001" cy="5542756"/>
          </a:xfrm>
          <a:prstGeom prst="rect">
            <a:avLst/>
          </a:prstGeom>
          <a:noFill/>
          <a:ln>
            <a:noFill/>
          </a:ln>
        </p:spPr>
        <p:txBody>
          <a:bodyPr lIns="142830" tIns="155526" bIns="182505" anchor="ctr">
            <a:spAutoFit/>
          </a:bodyPr>
          <a:lstStyle/>
          <a:p>
            <a:pPr indent="128588" eaLnBrk="1" hangingPunct="1">
              <a:defRPr/>
            </a:pPr>
            <a:endParaRPr lang="fr-FR" b="1" dirty="0">
              <a:solidFill>
                <a:srgbClr val="0000FF"/>
              </a:solidFill>
              <a:latin typeface="Arial" charset="0"/>
              <a:cs typeface="Arial" charset="0"/>
            </a:endParaRPr>
          </a:p>
          <a:p>
            <a:pPr indent="128588" eaLnBrk="1" hangingPunct="1">
              <a:buFontTx/>
              <a:buChar char="-"/>
              <a:defRPr/>
            </a:pPr>
            <a:r>
              <a:rPr lang="fr-FR" b="1" dirty="0">
                <a:solidFill>
                  <a:srgbClr val="0000FF"/>
                </a:solidFill>
                <a:latin typeface="Arial" charset="0"/>
                <a:cs typeface="Arial" charset="0"/>
              </a:rPr>
              <a:t>Littéral ( positif / négatif)</a:t>
            </a:r>
          </a:p>
          <a:p>
            <a:pPr indent="128588" eaLnBrk="1" hangingPunct="1">
              <a:defRPr/>
            </a:pPr>
            <a:r>
              <a:rPr lang="fr-FR" sz="2000" b="1" dirty="0">
                <a:latin typeface="Arial" charset="0"/>
                <a:cs typeface="Arial" charset="0"/>
              </a:rPr>
              <a:t>Un littéral </a:t>
            </a:r>
            <a:r>
              <a:rPr lang="fr-FR" sz="2000" b="1" dirty="0">
                <a:solidFill>
                  <a:srgbClr val="FF0000"/>
                </a:solidFill>
                <a:latin typeface="Arial" charset="0"/>
                <a:cs typeface="Arial" charset="0"/>
              </a:rPr>
              <a:t>l</a:t>
            </a:r>
            <a:r>
              <a:rPr lang="fr-FR" sz="2000" b="1" dirty="0">
                <a:latin typeface="Arial" charset="0"/>
                <a:cs typeface="Arial" charset="0"/>
              </a:rPr>
              <a:t> est un atome (formule atomique </a:t>
            </a:r>
            <a:r>
              <a:rPr lang="fr-FR" sz="2000" b="1" dirty="0" err="1">
                <a:latin typeface="Arial" charset="0"/>
                <a:cs typeface="Arial" charset="0"/>
              </a:rPr>
              <a:t>i.e</a:t>
            </a:r>
            <a:r>
              <a:rPr lang="fr-FR" sz="2000" b="1" dirty="0">
                <a:latin typeface="Arial" charset="0"/>
                <a:cs typeface="Arial" charset="0"/>
              </a:rPr>
              <a:t> : </a:t>
            </a:r>
            <a:r>
              <a:rPr lang="fr-FR" sz="2000" b="1" dirty="0">
                <a:solidFill>
                  <a:srgbClr val="FF0000"/>
                </a:solidFill>
                <a:latin typeface="Arial" charset="0"/>
                <a:cs typeface="Arial" charset="0"/>
              </a:rPr>
              <a:t>p</a:t>
            </a:r>
            <a:r>
              <a:rPr lang="fr-FR" sz="2000" b="1" dirty="0">
                <a:latin typeface="Arial" charset="0"/>
                <a:cs typeface="Arial" charset="0"/>
              </a:rPr>
              <a:t>)</a:t>
            </a:r>
          </a:p>
          <a:p>
            <a:pPr indent="128588" eaLnBrk="1" hangingPunct="1">
              <a:defRPr/>
            </a:pPr>
            <a:r>
              <a:rPr lang="fr-FR" sz="2000" b="1" dirty="0">
                <a:latin typeface="Arial" charset="0"/>
                <a:cs typeface="Arial" charset="0"/>
              </a:rPr>
              <a:t>	Positif noté </a:t>
            </a:r>
            <a:r>
              <a:rPr lang="fr-FR" sz="2000" b="1" dirty="0">
                <a:solidFill>
                  <a:srgbClr val="FF0000"/>
                </a:solidFill>
                <a:latin typeface="Arial" charset="0"/>
                <a:cs typeface="Arial" charset="0"/>
              </a:rPr>
              <a:t>p</a:t>
            </a:r>
          </a:p>
          <a:p>
            <a:pPr indent="128588" eaLnBrk="1" hangingPunct="1">
              <a:defRPr/>
            </a:pPr>
            <a:r>
              <a:rPr lang="fr-FR" sz="2000" b="1" dirty="0">
                <a:latin typeface="Arial" charset="0"/>
                <a:cs typeface="Arial" charset="0"/>
              </a:rPr>
              <a:t>	Négatif noté  </a:t>
            </a:r>
            <a:r>
              <a:rPr lang="fr-FR" sz="2000" b="1" dirty="0">
                <a:solidFill>
                  <a:srgbClr val="FF0000"/>
                </a:solidFill>
                <a:latin typeface="Arial" charset="0"/>
                <a:cs typeface="Arial" charset="0"/>
                <a:sym typeface="Symbol" pitchFamily="18" charset="2"/>
              </a:rPr>
              <a:t> p</a:t>
            </a:r>
            <a:endParaRPr lang="fr-FR" sz="2000" b="1" dirty="0">
              <a:solidFill>
                <a:srgbClr val="FF0000"/>
              </a:solidFill>
              <a:latin typeface="Arial" charset="0"/>
              <a:cs typeface="Arial" charset="0"/>
            </a:endParaRPr>
          </a:p>
          <a:p>
            <a:pPr indent="128588" eaLnBrk="1" hangingPunct="1">
              <a:buFontTx/>
              <a:buChar char="-"/>
              <a:defRPr/>
            </a:pPr>
            <a:r>
              <a:rPr lang="fr-FR" b="1" dirty="0">
                <a:solidFill>
                  <a:srgbClr val="0000FF"/>
                </a:solidFill>
                <a:latin typeface="Arial" charset="0"/>
                <a:cs typeface="Arial" charset="0"/>
              </a:rPr>
              <a:t>Clause est une disjonction de littéraux</a:t>
            </a:r>
          </a:p>
          <a:p>
            <a:pPr eaLnBrk="1" hangingPunct="1">
              <a:defRPr/>
            </a:pPr>
            <a:r>
              <a:rPr lang="fr-FR" b="1" dirty="0">
                <a:solidFill>
                  <a:srgbClr val="0000FF"/>
                </a:solidFill>
                <a:latin typeface="Arial" charset="0"/>
                <a:cs typeface="Arial" charset="0"/>
              </a:rPr>
              <a:t>	</a:t>
            </a:r>
            <a:r>
              <a:rPr lang="fr-FR" b="1" dirty="0">
                <a:solidFill>
                  <a:srgbClr val="FFC000"/>
                </a:solidFill>
                <a:latin typeface="Arial" charset="0"/>
                <a:cs typeface="Arial" charset="0"/>
              </a:rPr>
              <a:t>C</a:t>
            </a:r>
            <a:r>
              <a:rPr lang="fr-FR" b="1" dirty="0">
                <a:solidFill>
                  <a:srgbClr val="FF0000"/>
                </a:solidFill>
                <a:latin typeface="Arial" charset="0"/>
                <a:cs typeface="Arial" charset="0"/>
              </a:rPr>
              <a:t>=</a:t>
            </a:r>
            <a:r>
              <a:rPr lang="fr-FR" b="1" dirty="0">
                <a:solidFill>
                  <a:srgbClr val="0000FF"/>
                </a:solidFill>
                <a:latin typeface="Arial" charset="0"/>
                <a:cs typeface="Arial" charset="0"/>
              </a:rPr>
              <a:t>(</a:t>
            </a:r>
            <a:r>
              <a:rPr lang="fr-FR" b="1" dirty="0">
                <a:solidFill>
                  <a:srgbClr val="FF0000"/>
                </a:solidFill>
                <a:latin typeface="Arial" charset="0"/>
                <a:cs typeface="Arial" charset="0"/>
              </a:rPr>
              <a:t>l</a:t>
            </a:r>
            <a:r>
              <a:rPr lang="fr-FR" b="1" baseline="-25000" dirty="0">
                <a:solidFill>
                  <a:srgbClr val="FF0000"/>
                </a:solidFill>
                <a:latin typeface="Arial" charset="0"/>
                <a:cs typeface="Arial" charset="0"/>
              </a:rPr>
              <a:t>1</a:t>
            </a:r>
            <a:r>
              <a:rPr lang="fr-FR" b="1" dirty="0">
                <a:solidFill>
                  <a:srgbClr val="0000FF"/>
                </a:solidFill>
                <a:latin typeface="Arial" charset="0"/>
                <a:cs typeface="Arial" charset="0"/>
              </a:rPr>
              <a:t> </a:t>
            </a:r>
            <a:r>
              <a:rPr lang="fr-FR" b="1" dirty="0">
                <a:solidFill>
                  <a:srgbClr val="0080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a:t>
            </a:r>
            <a:r>
              <a:rPr lang="fr-FR" b="1" dirty="0">
                <a:solidFill>
                  <a:srgbClr val="FF0000"/>
                </a:solidFill>
                <a:latin typeface="Arial" charset="0"/>
                <a:cs typeface="Arial" charset="0"/>
                <a:sym typeface="Symbol" pitchFamily="18" charset="2"/>
              </a:rPr>
              <a:t>l</a:t>
            </a:r>
            <a:r>
              <a:rPr lang="fr-FR" b="1" baseline="-25000" dirty="0">
                <a:solidFill>
                  <a:srgbClr val="FF0000"/>
                </a:solidFill>
                <a:latin typeface="Arial" charset="0"/>
                <a:cs typeface="Arial" charset="0"/>
                <a:sym typeface="Symbol" pitchFamily="18" charset="2"/>
              </a:rPr>
              <a:t>2</a:t>
            </a:r>
            <a:r>
              <a:rPr lang="fr-FR" b="1" dirty="0">
                <a:solidFill>
                  <a:srgbClr val="0000FF"/>
                </a:solidFill>
                <a:latin typeface="Arial" charset="0"/>
                <a:cs typeface="Arial" charset="0"/>
                <a:sym typeface="Symbol" pitchFamily="18" charset="2"/>
              </a:rPr>
              <a:t> … </a:t>
            </a:r>
            <a:r>
              <a:rPr lang="fr-FR" b="1" dirty="0">
                <a:solidFill>
                  <a:srgbClr val="0080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a:t>
            </a:r>
            <a:r>
              <a:rPr lang="fr-FR" b="1" dirty="0">
                <a:solidFill>
                  <a:srgbClr val="FF0000"/>
                </a:solidFill>
                <a:latin typeface="Arial" charset="0"/>
                <a:cs typeface="Arial" charset="0"/>
                <a:sym typeface="Symbol" pitchFamily="18" charset="2"/>
              </a:rPr>
              <a:t>l</a:t>
            </a:r>
            <a:r>
              <a:rPr lang="fr-FR" b="1" baseline="-25000" dirty="0">
                <a:solidFill>
                  <a:srgbClr val="FF0000"/>
                </a:solidFill>
                <a:latin typeface="Arial" charset="0"/>
                <a:cs typeface="Arial" charset="0"/>
                <a:sym typeface="Symbol" pitchFamily="18" charset="2"/>
              </a:rPr>
              <a:t>n</a:t>
            </a:r>
            <a:r>
              <a:rPr lang="fr-FR" b="1" dirty="0">
                <a:solidFill>
                  <a:srgbClr val="0000FF"/>
                </a:solidFill>
                <a:latin typeface="Arial" charset="0"/>
                <a:cs typeface="Arial" charset="0"/>
                <a:sym typeface="Symbol" pitchFamily="18" charset="2"/>
              </a:rPr>
              <a:t>)</a:t>
            </a:r>
            <a:endParaRPr lang="fr-FR" b="1" dirty="0">
              <a:solidFill>
                <a:srgbClr val="0000FF"/>
              </a:solidFill>
              <a:latin typeface="Arial" charset="0"/>
              <a:cs typeface="Arial" charset="0"/>
            </a:endParaRPr>
          </a:p>
          <a:p>
            <a:pPr indent="128588" eaLnBrk="1" hangingPunct="1">
              <a:buFontTx/>
              <a:buChar char="-"/>
              <a:defRPr/>
            </a:pPr>
            <a:endParaRPr lang="fr-FR" b="1" dirty="0">
              <a:solidFill>
                <a:srgbClr val="0000FF"/>
              </a:solidFill>
              <a:latin typeface="Arial" charset="0"/>
              <a:cs typeface="Arial" charset="0"/>
            </a:endParaRPr>
          </a:p>
          <a:p>
            <a:pPr indent="128588" eaLnBrk="1" hangingPunct="1">
              <a:buFontTx/>
              <a:buChar char="-"/>
              <a:defRPr/>
            </a:pPr>
            <a:r>
              <a:rPr lang="fr-FR" b="1" dirty="0">
                <a:solidFill>
                  <a:srgbClr val="0000FF"/>
                </a:solidFill>
                <a:latin typeface="Arial" charset="0"/>
                <a:cs typeface="Arial" charset="0"/>
              </a:rPr>
              <a:t>Forme normale conjonctive</a:t>
            </a:r>
          </a:p>
          <a:p>
            <a:pPr indent="128588" eaLnBrk="1" hangingPunct="1">
              <a:defRPr/>
            </a:pPr>
            <a:r>
              <a:rPr lang="fr-FR" sz="2000" b="1" dirty="0">
                <a:latin typeface="Arial" charset="0"/>
                <a:cs typeface="Arial" charset="0"/>
              </a:rPr>
              <a:t>Une forme conjonctive est une conjonction de disjonctions de littéraux (ou conjonction de clauses):</a:t>
            </a:r>
          </a:p>
          <a:p>
            <a:pPr indent="128588" eaLnBrk="1" hangingPunct="1">
              <a:defRPr/>
            </a:pPr>
            <a:r>
              <a:rPr lang="fr-FR" b="1" dirty="0">
                <a:solidFill>
                  <a:srgbClr val="FFC000"/>
                </a:solidFill>
                <a:latin typeface="Arial" charset="0"/>
                <a:cs typeface="Arial" charset="0"/>
              </a:rPr>
              <a:t>F</a:t>
            </a:r>
            <a:r>
              <a:rPr lang="fr-FR" b="1" dirty="0">
                <a:solidFill>
                  <a:srgbClr val="0000FF"/>
                </a:solidFill>
                <a:latin typeface="Arial" charset="0"/>
                <a:cs typeface="Arial" charset="0"/>
              </a:rPr>
              <a:t> </a:t>
            </a:r>
            <a:r>
              <a:rPr lang="fr-FR" b="1" dirty="0">
                <a:solidFill>
                  <a:srgbClr val="FFC000"/>
                </a:solidFill>
                <a:latin typeface="Arial" charset="0"/>
                <a:cs typeface="Arial" charset="0"/>
              </a:rPr>
              <a:t>=</a:t>
            </a:r>
            <a:r>
              <a:rPr lang="fr-FR" b="1" dirty="0">
                <a:solidFill>
                  <a:srgbClr val="0000FF"/>
                </a:solidFill>
                <a:latin typeface="Arial" charset="0"/>
                <a:cs typeface="Arial" charset="0"/>
              </a:rPr>
              <a:t> (</a:t>
            </a:r>
            <a:r>
              <a:rPr lang="fr-FR" b="1" dirty="0">
                <a:solidFill>
                  <a:srgbClr val="FF0000"/>
                </a:solidFill>
                <a:latin typeface="Arial" charset="0"/>
                <a:cs typeface="Arial" charset="0"/>
              </a:rPr>
              <a:t>l</a:t>
            </a:r>
            <a:r>
              <a:rPr lang="fr-FR" b="1" baseline="-25000" dirty="0">
                <a:solidFill>
                  <a:srgbClr val="FF0000"/>
                </a:solidFill>
                <a:latin typeface="Arial" charset="0"/>
                <a:cs typeface="Arial" charset="0"/>
              </a:rPr>
              <a:t>1</a:t>
            </a:r>
            <a:r>
              <a:rPr lang="fr-FR" b="1" dirty="0">
                <a:solidFill>
                  <a:srgbClr val="0000FF"/>
                </a:solidFill>
                <a:latin typeface="Arial" charset="0"/>
                <a:cs typeface="Arial" charset="0"/>
              </a:rPr>
              <a:t> </a:t>
            </a:r>
            <a:r>
              <a:rPr lang="fr-FR" b="1" dirty="0">
                <a:solidFill>
                  <a:srgbClr val="0080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a:t>
            </a:r>
            <a:r>
              <a:rPr lang="fr-FR" b="1" dirty="0">
                <a:solidFill>
                  <a:srgbClr val="FF0000"/>
                </a:solidFill>
                <a:latin typeface="Arial" charset="0"/>
                <a:cs typeface="Arial" charset="0"/>
                <a:sym typeface="Symbol" pitchFamily="18" charset="2"/>
              </a:rPr>
              <a:t>l</a:t>
            </a:r>
            <a:r>
              <a:rPr lang="fr-FR" b="1" baseline="-25000" dirty="0">
                <a:solidFill>
                  <a:srgbClr val="FF0000"/>
                </a:solidFill>
                <a:latin typeface="Arial" charset="0"/>
                <a:cs typeface="Arial" charset="0"/>
                <a:sym typeface="Symbol" pitchFamily="18" charset="2"/>
              </a:rPr>
              <a:t>2</a:t>
            </a:r>
            <a:r>
              <a:rPr lang="fr-FR" b="1" dirty="0">
                <a:solidFill>
                  <a:srgbClr val="0000FF"/>
                </a:solidFill>
                <a:latin typeface="Arial" charset="0"/>
                <a:cs typeface="Arial" charset="0"/>
                <a:sym typeface="Symbol" pitchFamily="18" charset="2"/>
              </a:rPr>
              <a:t> … </a:t>
            </a:r>
            <a:r>
              <a:rPr lang="fr-FR" b="1" dirty="0">
                <a:solidFill>
                  <a:srgbClr val="0080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a:t>
            </a:r>
            <a:r>
              <a:rPr lang="fr-FR" b="1" dirty="0">
                <a:solidFill>
                  <a:srgbClr val="FF0000"/>
                </a:solidFill>
                <a:latin typeface="Arial" charset="0"/>
                <a:cs typeface="Arial" charset="0"/>
                <a:sym typeface="Symbol" pitchFamily="18" charset="2"/>
              </a:rPr>
              <a:t>l</a:t>
            </a:r>
            <a:r>
              <a:rPr lang="fr-FR" b="1" baseline="-25000" dirty="0">
                <a:solidFill>
                  <a:srgbClr val="FF0000"/>
                </a:solidFill>
                <a:latin typeface="Arial" charset="0"/>
                <a:cs typeface="Arial" charset="0"/>
                <a:sym typeface="Symbol" pitchFamily="18" charset="2"/>
              </a:rPr>
              <a:t>n</a:t>
            </a:r>
            <a:r>
              <a:rPr lang="fr-FR" b="1" dirty="0">
                <a:solidFill>
                  <a:srgbClr val="0000FF"/>
                </a:solidFill>
                <a:latin typeface="Arial" charset="0"/>
                <a:cs typeface="Arial" charset="0"/>
                <a:sym typeface="Symbol" pitchFamily="18" charset="2"/>
              </a:rPr>
              <a:t>) </a:t>
            </a:r>
            <a:r>
              <a:rPr lang="fr-FR" b="1" dirty="0">
                <a:solidFill>
                  <a:srgbClr val="FF66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  </a:t>
            </a:r>
            <a:r>
              <a:rPr lang="fr-FR" b="1" dirty="0">
                <a:solidFill>
                  <a:srgbClr val="FF66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a:t>
            </a:r>
            <a:r>
              <a:rPr lang="fr-FR" b="1" dirty="0">
                <a:solidFill>
                  <a:srgbClr val="0000FF"/>
                </a:solidFill>
                <a:latin typeface="Arial" charset="0"/>
                <a:cs typeface="Arial" charset="0"/>
              </a:rPr>
              <a:t>(</a:t>
            </a:r>
            <a:r>
              <a:rPr lang="fr-FR" b="1" dirty="0">
                <a:solidFill>
                  <a:srgbClr val="FF0000"/>
                </a:solidFill>
                <a:latin typeface="Arial" charset="0"/>
                <a:cs typeface="Arial" charset="0"/>
              </a:rPr>
              <a:t>l’</a:t>
            </a:r>
            <a:r>
              <a:rPr lang="fr-FR" b="1" baseline="-25000" dirty="0">
                <a:solidFill>
                  <a:srgbClr val="FF0000"/>
                </a:solidFill>
                <a:latin typeface="Arial" charset="0"/>
                <a:cs typeface="Arial" charset="0"/>
              </a:rPr>
              <a:t>1</a:t>
            </a:r>
            <a:r>
              <a:rPr lang="fr-FR" b="1" dirty="0">
                <a:solidFill>
                  <a:srgbClr val="0000FF"/>
                </a:solidFill>
                <a:latin typeface="Arial" charset="0"/>
                <a:cs typeface="Arial" charset="0"/>
              </a:rPr>
              <a:t> </a:t>
            </a:r>
            <a:r>
              <a:rPr lang="fr-FR" b="1" dirty="0">
                <a:solidFill>
                  <a:srgbClr val="0080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a:t>
            </a:r>
            <a:r>
              <a:rPr lang="fr-FR" b="1" dirty="0">
                <a:solidFill>
                  <a:srgbClr val="FF0000"/>
                </a:solidFill>
                <a:latin typeface="Arial" charset="0"/>
                <a:cs typeface="Arial" charset="0"/>
                <a:sym typeface="Symbol" pitchFamily="18" charset="2"/>
              </a:rPr>
              <a:t>l’</a:t>
            </a:r>
            <a:r>
              <a:rPr lang="fr-FR" b="1" baseline="-25000" dirty="0">
                <a:solidFill>
                  <a:srgbClr val="FF0000"/>
                </a:solidFill>
                <a:latin typeface="Arial" charset="0"/>
                <a:cs typeface="Arial" charset="0"/>
                <a:sym typeface="Symbol" pitchFamily="18" charset="2"/>
              </a:rPr>
              <a:t>2</a:t>
            </a:r>
            <a:r>
              <a:rPr lang="fr-FR" b="1" dirty="0">
                <a:solidFill>
                  <a:srgbClr val="0000FF"/>
                </a:solidFill>
                <a:latin typeface="Arial" charset="0"/>
                <a:cs typeface="Arial" charset="0"/>
                <a:sym typeface="Symbol" pitchFamily="18" charset="2"/>
              </a:rPr>
              <a:t> … </a:t>
            </a:r>
            <a:r>
              <a:rPr lang="fr-FR" b="1" dirty="0">
                <a:solidFill>
                  <a:srgbClr val="0080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a:t>
            </a:r>
            <a:r>
              <a:rPr lang="fr-FR" b="1" dirty="0">
                <a:solidFill>
                  <a:srgbClr val="FF0000"/>
                </a:solidFill>
                <a:latin typeface="Arial" charset="0"/>
                <a:cs typeface="Arial" charset="0"/>
                <a:sym typeface="Symbol" pitchFamily="18" charset="2"/>
              </a:rPr>
              <a:t>l’</a:t>
            </a:r>
            <a:r>
              <a:rPr lang="fr-FR" b="1" baseline="-25000" dirty="0">
                <a:solidFill>
                  <a:srgbClr val="FF0000"/>
                </a:solidFill>
                <a:latin typeface="Arial" charset="0"/>
                <a:cs typeface="Arial" charset="0"/>
                <a:sym typeface="Symbol" pitchFamily="18" charset="2"/>
              </a:rPr>
              <a:t>m</a:t>
            </a:r>
            <a:r>
              <a:rPr lang="fr-FR" b="1" dirty="0">
                <a:solidFill>
                  <a:srgbClr val="0000FF"/>
                </a:solidFill>
                <a:latin typeface="Arial" charset="0"/>
                <a:cs typeface="Arial" charset="0"/>
                <a:sym typeface="Symbol" pitchFamily="18" charset="2"/>
              </a:rPr>
              <a:t>) </a:t>
            </a:r>
            <a:endParaRPr lang="fr-FR" b="1" dirty="0">
              <a:solidFill>
                <a:srgbClr val="0000FF"/>
              </a:solidFill>
              <a:latin typeface="Arial" charset="0"/>
              <a:cs typeface="Arial" charset="0"/>
            </a:endParaRPr>
          </a:p>
          <a:p>
            <a:pPr indent="128588" eaLnBrk="1" hangingPunct="1">
              <a:defRPr/>
            </a:pPr>
            <a:r>
              <a:rPr lang="fr-FR" b="1" dirty="0">
                <a:solidFill>
                  <a:srgbClr val="FFC000"/>
                </a:solidFill>
                <a:latin typeface="Arial" charset="0"/>
                <a:cs typeface="Arial" charset="0"/>
              </a:rPr>
              <a:t>F</a:t>
            </a:r>
            <a:r>
              <a:rPr lang="fr-FR" b="1" dirty="0">
                <a:solidFill>
                  <a:srgbClr val="0000FF"/>
                </a:solidFill>
                <a:latin typeface="Arial" charset="0"/>
                <a:cs typeface="Arial" charset="0"/>
              </a:rPr>
              <a:t> </a:t>
            </a:r>
            <a:r>
              <a:rPr lang="fr-FR" b="1" dirty="0">
                <a:solidFill>
                  <a:srgbClr val="FFC000"/>
                </a:solidFill>
                <a:latin typeface="Arial" charset="0"/>
                <a:cs typeface="Arial" charset="0"/>
              </a:rPr>
              <a:t>=</a:t>
            </a:r>
            <a:r>
              <a:rPr lang="fr-FR" b="1" dirty="0">
                <a:solidFill>
                  <a:srgbClr val="0000FF"/>
                </a:solidFill>
                <a:latin typeface="Arial" charset="0"/>
                <a:cs typeface="Arial" charset="0"/>
              </a:rPr>
              <a:t> </a:t>
            </a:r>
            <a:r>
              <a:rPr lang="fr-FR" b="1" dirty="0">
                <a:solidFill>
                  <a:srgbClr val="FF0000"/>
                </a:solidFill>
                <a:latin typeface="Arial" charset="0"/>
                <a:cs typeface="Arial" charset="0"/>
              </a:rPr>
              <a:t>C </a:t>
            </a:r>
            <a:r>
              <a:rPr lang="fr-FR" b="1" dirty="0">
                <a:solidFill>
                  <a:srgbClr val="FF66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  </a:t>
            </a:r>
            <a:r>
              <a:rPr lang="fr-FR" b="1" dirty="0">
                <a:solidFill>
                  <a:srgbClr val="FF66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a:t>
            </a:r>
            <a:r>
              <a:rPr lang="fr-FR" b="1" dirty="0">
                <a:solidFill>
                  <a:srgbClr val="FF0000"/>
                </a:solidFill>
                <a:latin typeface="Arial" charset="0"/>
                <a:cs typeface="Arial" charset="0"/>
              </a:rPr>
              <a:t>C’   </a:t>
            </a:r>
            <a:r>
              <a:rPr lang="fr-FR" sz="2000" b="1" dirty="0">
                <a:latin typeface="Arial" charset="0"/>
                <a:cs typeface="Arial" charset="0"/>
              </a:rPr>
              <a:t>notée également </a:t>
            </a:r>
            <a:r>
              <a:rPr lang="fr-FR" b="1" dirty="0">
                <a:solidFill>
                  <a:srgbClr val="FFC000"/>
                </a:solidFill>
                <a:latin typeface="Arial" charset="0"/>
                <a:cs typeface="Arial" charset="0"/>
              </a:rPr>
              <a:t>F</a:t>
            </a:r>
            <a:r>
              <a:rPr lang="fr-FR" b="1" dirty="0">
                <a:solidFill>
                  <a:srgbClr val="0000FF"/>
                </a:solidFill>
                <a:latin typeface="Arial" charset="0"/>
                <a:cs typeface="Arial" charset="0"/>
              </a:rPr>
              <a:t> </a:t>
            </a:r>
            <a:r>
              <a:rPr lang="fr-FR" b="1" dirty="0">
                <a:solidFill>
                  <a:srgbClr val="FFC000"/>
                </a:solidFill>
                <a:latin typeface="Arial" charset="0"/>
                <a:cs typeface="Arial" charset="0"/>
              </a:rPr>
              <a:t>=</a:t>
            </a:r>
            <a:r>
              <a:rPr lang="fr-FR" b="1" dirty="0">
                <a:solidFill>
                  <a:srgbClr val="0000FF"/>
                </a:solidFill>
                <a:latin typeface="Arial" charset="0"/>
                <a:cs typeface="Arial" charset="0"/>
              </a:rPr>
              <a:t> {</a:t>
            </a:r>
            <a:r>
              <a:rPr lang="fr-FR" b="1" dirty="0">
                <a:solidFill>
                  <a:srgbClr val="FF0000"/>
                </a:solidFill>
                <a:latin typeface="Arial" charset="0"/>
                <a:cs typeface="Arial" charset="0"/>
              </a:rPr>
              <a:t>C,</a:t>
            </a:r>
            <a:r>
              <a:rPr lang="fr-FR" b="1" dirty="0">
                <a:solidFill>
                  <a:srgbClr val="0033CC"/>
                </a:solidFill>
                <a:latin typeface="Arial" charset="0"/>
                <a:cs typeface="Arial" charset="0"/>
              </a:rPr>
              <a:t>…</a:t>
            </a:r>
            <a:r>
              <a:rPr lang="fr-FR" b="1" dirty="0">
                <a:solidFill>
                  <a:srgbClr val="FF0000"/>
                </a:solidFill>
                <a:latin typeface="Arial" charset="0"/>
                <a:cs typeface="Arial" charset="0"/>
              </a:rPr>
              <a:t>,C’</a:t>
            </a:r>
            <a:r>
              <a:rPr lang="fr-FR" b="1" dirty="0">
                <a:solidFill>
                  <a:srgbClr val="0033CC"/>
                </a:solidFill>
                <a:latin typeface="Arial" charset="0"/>
                <a:cs typeface="Arial" charset="0"/>
              </a:rPr>
              <a:t>}</a:t>
            </a:r>
            <a:r>
              <a:rPr lang="fr-FR" b="1" dirty="0">
                <a:solidFill>
                  <a:srgbClr val="FF0000"/>
                </a:solidFill>
                <a:latin typeface="Arial" charset="0"/>
                <a:cs typeface="Arial" charset="0"/>
              </a:rPr>
              <a:t> </a:t>
            </a:r>
            <a:endParaRPr lang="fr-FR" b="1" dirty="0">
              <a:solidFill>
                <a:srgbClr val="0000FF"/>
              </a:solidFill>
              <a:latin typeface="Arial" charset="0"/>
              <a:cs typeface="Arial" charset="0"/>
            </a:endParaRPr>
          </a:p>
          <a:p>
            <a:pPr eaLnBrk="1" hangingPunct="1">
              <a:defRPr/>
            </a:pPr>
            <a:endParaRPr lang="fr-FR" b="1" dirty="0">
              <a:solidFill>
                <a:srgbClr val="0000FF"/>
              </a:solidFill>
              <a:latin typeface="Arial" charset="0"/>
              <a:cs typeface="Arial" charset="0"/>
            </a:endParaRPr>
          </a:p>
          <a:p>
            <a:pPr indent="128588" eaLnBrk="1" hangingPunct="1">
              <a:buFontTx/>
              <a:buChar char="-"/>
              <a:defRPr/>
            </a:pPr>
            <a:r>
              <a:rPr lang="fr-FR" b="1" dirty="0">
                <a:solidFill>
                  <a:srgbClr val="0000FF"/>
                </a:solidFill>
                <a:latin typeface="Arial" charset="0"/>
                <a:cs typeface="Arial" charset="0"/>
              </a:rPr>
              <a:t>Forme normale disjonctive</a:t>
            </a:r>
          </a:p>
          <a:p>
            <a:pPr indent="128588" eaLnBrk="1" hangingPunct="1">
              <a:defRPr/>
            </a:pPr>
            <a:r>
              <a:rPr lang="fr-FR" sz="2000" b="1" dirty="0">
                <a:latin typeface="Arial" charset="0"/>
                <a:cs typeface="Arial" charset="0"/>
              </a:rPr>
              <a:t>Une forme disjonctive est disjonction de conjonctions littéraux:</a:t>
            </a:r>
          </a:p>
          <a:p>
            <a:pPr indent="128588" eaLnBrk="1" hangingPunct="1">
              <a:defRPr/>
            </a:pPr>
            <a:r>
              <a:rPr lang="fr-FR" b="1" dirty="0">
                <a:solidFill>
                  <a:srgbClr val="FFC000"/>
                </a:solidFill>
                <a:latin typeface="Arial" charset="0"/>
                <a:cs typeface="Arial" charset="0"/>
              </a:rPr>
              <a:t>F</a:t>
            </a:r>
            <a:r>
              <a:rPr lang="fr-FR" b="1" dirty="0">
                <a:solidFill>
                  <a:srgbClr val="0000FF"/>
                </a:solidFill>
                <a:latin typeface="Arial" charset="0"/>
                <a:cs typeface="Arial" charset="0"/>
              </a:rPr>
              <a:t> </a:t>
            </a:r>
            <a:r>
              <a:rPr lang="fr-FR" b="1" dirty="0">
                <a:solidFill>
                  <a:srgbClr val="FFC000"/>
                </a:solidFill>
                <a:latin typeface="Arial" charset="0"/>
                <a:cs typeface="Arial" charset="0"/>
              </a:rPr>
              <a:t>=</a:t>
            </a:r>
            <a:r>
              <a:rPr lang="fr-FR" b="1" dirty="0">
                <a:solidFill>
                  <a:srgbClr val="0000FF"/>
                </a:solidFill>
                <a:latin typeface="Arial" charset="0"/>
                <a:cs typeface="Arial" charset="0"/>
              </a:rPr>
              <a:t> (</a:t>
            </a:r>
            <a:r>
              <a:rPr lang="fr-FR" b="1" dirty="0">
                <a:solidFill>
                  <a:srgbClr val="FF0000"/>
                </a:solidFill>
                <a:latin typeface="Arial" charset="0"/>
                <a:cs typeface="Arial" charset="0"/>
              </a:rPr>
              <a:t>l</a:t>
            </a:r>
            <a:r>
              <a:rPr lang="fr-FR" b="1" baseline="-25000" dirty="0">
                <a:solidFill>
                  <a:srgbClr val="FF0000"/>
                </a:solidFill>
                <a:latin typeface="Arial" charset="0"/>
                <a:cs typeface="Arial" charset="0"/>
              </a:rPr>
              <a:t>1</a:t>
            </a:r>
            <a:r>
              <a:rPr lang="fr-FR" b="1" dirty="0">
                <a:solidFill>
                  <a:srgbClr val="0000FF"/>
                </a:solidFill>
                <a:latin typeface="Arial" charset="0"/>
                <a:cs typeface="Arial" charset="0"/>
              </a:rPr>
              <a:t> </a:t>
            </a:r>
            <a:r>
              <a:rPr lang="fr-FR" b="1" dirty="0">
                <a:solidFill>
                  <a:srgbClr val="FF66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a:t>
            </a:r>
            <a:r>
              <a:rPr lang="fr-FR" b="1" dirty="0">
                <a:solidFill>
                  <a:srgbClr val="FF0000"/>
                </a:solidFill>
                <a:latin typeface="Arial" charset="0"/>
                <a:cs typeface="Arial" charset="0"/>
                <a:sym typeface="Symbol" pitchFamily="18" charset="2"/>
              </a:rPr>
              <a:t>l</a:t>
            </a:r>
            <a:r>
              <a:rPr lang="fr-FR" b="1" baseline="-25000" dirty="0">
                <a:solidFill>
                  <a:srgbClr val="FF0000"/>
                </a:solidFill>
                <a:latin typeface="Arial" charset="0"/>
                <a:cs typeface="Arial" charset="0"/>
                <a:sym typeface="Symbol" pitchFamily="18" charset="2"/>
              </a:rPr>
              <a:t>2</a:t>
            </a:r>
            <a:r>
              <a:rPr lang="fr-FR" b="1" dirty="0">
                <a:solidFill>
                  <a:srgbClr val="0000FF"/>
                </a:solidFill>
                <a:latin typeface="Arial" charset="0"/>
                <a:cs typeface="Arial" charset="0"/>
                <a:sym typeface="Symbol" pitchFamily="18" charset="2"/>
              </a:rPr>
              <a:t> … </a:t>
            </a:r>
            <a:r>
              <a:rPr lang="fr-FR" b="1" dirty="0">
                <a:solidFill>
                  <a:srgbClr val="FF66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a:t>
            </a:r>
            <a:r>
              <a:rPr lang="fr-FR" b="1" dirty="0" err="1">
                <a:solidFill>
                  <a:srgbClr val="FF0000"/>
                </a:solidFill>
                <a:latin typeface="Arial" charset="0"/>
                <a:cs typeface="Arial" charset="0"/>
                <a:sym typeface="Symbol" pitchFamily="18" charset="2"/>
              </a:rPr>
              <a:t>l</a:t>
            </a:r>
            <a:r>
              <a:rPr lang="fr-FR" b="1" baseline="-25000" dirty="0" err="1">
                <a:solidFill>
                  <a:srgbClr val="FF0000"/>
                </a:solidFill>
                <a:latin typeface="Arial" charset="0"/>
                <a:cs typeface="Arial" charset="0"/>
                <a:sym typeface="Symbol" pitchFamily="18" charset="2"/>
              </a:rPr>
              <a:t>p</a:t>
            </a:r>
            <a:r>
              <a:rPr lang="fr-FR" b="1" dirty="0">
                <a:solidFill>
                  <a:srgbClr val="0000FF"/>
                </a:solidFill>
                <a:latin typeface="Arial" charset="0"/>
                <a:cs typeface="Arial" charset="0"/>
                <a:sym typeface="Symbol" pitchFamily="18" charset="2"/>
              </a:rPr>
              <a:t>) </a:t>
            </a:r>
            <a:r>
              <a:rPr lang="fr-FR" b="1" dirty="0">
                <a:solidFill>
                  <a:srgbClr val="0080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 </a:t>
            </a:r>
            <a:r>
              <a:rPr lang="fr-FR" b="1" dirty="0">
                <a:solidFill>
                  <a:srgbClr val="0080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a:t>
            </a:r>
            <a:r>
              <a:rPr lang="fr-FR" b="1" dirty="0">
                <a:solidFill>
                  <a:srgbClr val="0000FF"/>
                </a:solidFill>
                <a:latin typeface="Arial" charset="0"/>
                <a:cs typeface="Arial" charset="0"/>
              </a:rPr>
              <a:t>(</a:t>
            </a:r>
            <a:r>
              <a:rPr lang="fr-FR" b="1" dirty="0">
                <a:solidFill>
                  <a:srgbClr val="FF0000"/>
                </a:solidFill>
                <a:latin typeface="Arial" charset="0"/>
                <a:cs typeface="Arial" charset="0"/>
              </a:rPr>
              <a:t>l’</a:t>
            </a:r>
            <a:r>
              <a:rPr lang="fr-FR" b="1" baseline="-25000" dirty="0">
                <a:solidFill>
                  <a:srgbClr val="FF0000"/>
                </a:solidFill>
                <a:latin typeface="Arial" charset="0"/>
                <a:cs typeface="Arial" charset="0"/>
              </a:rPr>
              <a:t>1</a:t>
            </a:r>
            <a:r>
              <a:rPr lang="fr-FR" b="1" dirty="0">
                <a:solidFill>
                  <a:srgbClr val="0000FF"/>
                </a:solidFill>
                <a:latin typeface="Arial" charset="0"/>
                <a:cs typeface="Arial" charset="0"/>
              </a:rPr>
              <a:t> </a:t>
            </a:r>
            <a:r>
              <a:rPr lang="fr-FR" b="1" dirty="0">
                <a:solidFill>
                  <a:srgbClr val="FF66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a:t>
            </a:r>
            <a:r>
              <a:rPr lang="fr-FR" b="1" dirty="0">
                <a:solidFill>
                  <a:srgbClr val="FF0000"/>
                </a:solidFill>
                <a:latin typeface="Arial" charset="0"/>
                <a:cs typeface="Arial" charset="0"/>
                <a:sym typeface="Symbol" pitchFamily="18" charset="2"/>
              </a:rPr>
              <a:t>l’</a:t>
            </a:r>
            <a:r>
              <a:rPr lang="fr-FR" b="1" baseline="-25000" dirty="0">
                <a:solidFill>
                  <a:srgbClr val="FF0000"/>
                </a:solidFill>
                <a:latin typeface="Arial" charset="0"/>
                <a:cs typeface="Arial" charset="0"/>
                <a:sym typeface="Symbol" pitchFamily="18" charset="2"/>
              </a:rPr>
              <a:t>2</a:t>
            </a:r>
            <a:r>
              <a:rPr lang="fr-FR" b="1" dirty="0">
                <a:solidFill>
                  <a:srgbClr val="0000FF"/>
                </a:solidFill>
                <a:latin typeface="Arial" charset="0"/>
                <a:cs typeface="Arial" charset="0"/>
                <a:sym typeface="Symbol" pitchFamily="18" charset="2"/>
              </a:rPr>
              <a:t> … </a:t>
            </a:r>
            <a:r>
              <a:rPr lang="fr-FR" b="1" dirty="0">
                <a:solidFill>
                  <a:srgbClr val="FF6600"/>
                </a:solidFill>
                <a:latin typeface="Arial" charset="0"/>
                <a:cs typeface="Arial" charset="0"/>
                <a:sym typeface="Symbol" pitchFamily="18" charset="2"/>
              </a:rPr>
              <a:t></a:t>
            </a:r>
            <a:r>
              <a:rPr lang="fr-FR" b="1" dirty="0">
                <a:solidFill>
                  <a:srgbClr val="0000FF"/>
                </a:solidFill>
                <a:latin typeface="Arial" charset="0"/>
                <a:cs typeface="Arial" charset="0"/>
                <a:sym typeface="Symbol" pitchFamily="18" charset="2"/>
              </a:rPr>
              <a:t> </a:t>
            </a:r>
            <a:r>
              <a:rPr lang="fr-FR" b="1" dirty="0">
                <a:solidFill>
                  <a:srgbClr val="FF0000"/>
                </a:solidFill>
                <a:latin typeface="Arial" charset="0"/>
                <a:cs typeface="Arial" charset="0"/>
                <a:sym typeface="Symbol" pitchFamily="18" charset="2"/>
              </a:rPr>
              <a:t>l’</a:t>
            </a:r>
            <a:r>
              <a:rPr lang="fr-FR" b="1" baseline="-25000" dirty="0">
                <a:solidFill>
                  <a:srgbClr val="FF0000"/>
                </a:solidFill>
                <a:latin typeface="Arial" charset="0"/>
                <a:cs typeface="Arial" charset="0"/>
                <a:sym typeface="Symbol" pitchFamily="18" charset="2"/>
              </a:rPr>
              <a:t>q</a:t>
            </a:r>
            <a:r>
              <a:rPr lang="fr-FR" b="1" dirty="0">
                <a:solidFill>
                  <a:srgbClr val="0000FF"/>
                </a:solidFill>
                <a:latin typeface="Arial" charset="0"/>
                <a:cs typeface="Arial" charset="0"/>
                <a:sym typeface="Symbol" pitchFamily="18" charset="2"/>
              </a:rPr>
              <a:t>)</a:t>
            </a:r>
            <a:endParaRPr lang="fr-FR" b="1" dirty="0">
              <a:solidFill>
                <a:srgbClr val="0000FF"/>
              </a:solidFill>
              <a:latin typeface="Arial" charset="0"/>
              <a:cs typeface="Arial" charset="0"/>
            </a:endParaRPr>
          </a:p>
          <a:p>
            <a:pPr indent="128588" eaLnBrk="1" hangingPunct="1">
              <a:buFontTx/>
              <a:buChar char="-"/>
              <a:defRPr/>
            </a:pPr>
            <a:endParaRPr lang="fr-FR" b="1" dirty="0">
              <a:solidFill>
                <a:srgbClr val="0000FF"/>
              </a:solidFill>
              <a:latin typeface="Arial" charset="0"/>
              <a:cs typeface="Arial" charset="0"/>
            </a:endParaRPr>
          </a:p>
        </p:txBody>
      </p:sp>
    </p:spTree>
    <p:extLst>
      <p:ext uri="{BB962C8B-B14F-4D97-AF65-F5344CB8AC3E}">
        <p14:creationId xmlns:p14="http://schemas.microsoft.com/office/powerpoint/2010/main" val="3593345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520" y="3284984"/>
            <a:ext cx="7498080" cy="1143000"/>
          </a:xfrm>
        </p:spPr>
        <p:txBody>
          <a:bodyPr>
            <a:normAutofit/>
          </a:bodyPr>
          <a:lstStyle/>
          <a:p>
            <a:pPr algn="ctr"/>
            <a:r>
              <a:rPr lang="fr-FR" sz="4400" dirty="0"/>
              <a:t>FIN</a:t>
            </a:r>
          </a:p>
        </p:txBody>
      </p:sp>
    </p:spTree>
    <p:extLst>
      <p:ext uri="{BB962C8B-B14F-4D97-AF65-F5344CB8AC3E}">
        <p14:creationId xmlns:p14="http://schemas.microsoft.com/office/powerpoint/2010/main" val="2602577635"/>
      </p:ext>
    </p:extLst>
  </p:cSld>
  <p:clrMapOvr>
    <a:masterClrMapping/>
  </p:clrMapOvr>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1763</TotalTime>
  <Words>2180</Words>
  <Application>Microsoft Office PowerPoint</Application>
  <PresentationFormat>Affichage à l'écran (4:3)</PresentationFormat>
  <Paragraphs>481</Paragraphs>
  <Slides>39</Slides>
  <Notes>8</Notes>
  <HiddenSlides>0</HiddenSlides>
  <MMClips>0</MMClips>
  <ScaleCrop>false</ScaleCrop>
  <HeadingPairs>
    <vt:vector size="6" baseType="variant">
      <vt:variant>
        <vt:lpstr>Thème</vt:lpstr>
      </vt:variant>
      <vt:variant>
        <vt:i4>1</vt:i4>
      </vt:variant>
      <vt:variant>
        <vt:lpstr>Serveurs OLE incorporés</vt:lpstr>
      </vt:variant>
      <vt:variant>
        <vt:i4>1</vt:i4>
      </vt:variant>
      <vt:variant>
        <vt:lpstr>Titres des diapositives</vt:lpstr>
      </vt:variant>
      <vt:variant>
        <vt:i4>39</vt:i4>
      </vt:variant>
    </vt:vector>
  </HeadingPairs>
  <TitlesOfParts>
    <vt:vector size="41" baseType="lpstr">
      <vt:lpstr>Facette</vt:lpstr>
      <vt:lpstr>Équation</vt:lpstr>
      <vt:lpstr>Chapitre II IA symbolique : Programmation Logique</vt:lpstr>
      <vt:lpstr>Sommaire</vt:lpstr>
      <vt:lpstr>Présentation PowerPoint</vt:lpstr>
      <vt:lpstr>Sommaire</vt:lpstr>
      <vt:lpstr>Sommaire</vt:lpstr>
      <vt:lpstr>Classes de langage</vt:lpstr>
      <vt:lpstr>Classes de langage</vt:lpstr>
      <vt:lpstr>Sommaire</vt:lpstr>
      <vt:lpstr>Trois aspects </vt:lpstr>
      <vt:lpstr>1er aspect </vt:lpstr>
      <vt:lpstr>Syntaxe d’une formule</vt:lpstr>
      <vt:lpstr>2 ème aspect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Troisième aspect </vt:lpstr>
      <vt:lpstr>Présentation PowerPoint</vt:lpstr>
      <vt:lpstr>Conséquence logique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FIN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du cours</dc:title>
  <dc:creator>flashcard</dc:creator>
  <cp:lastModifiedBy>um6u</cp:lastModifiedBy>
  <cp:revision>33</cp:revision>
  <dcterms:created xsi:type="dcterms:W3CDTF">2024-02-08T10:23:41Z</dcterms:created>
  <dcterms:modified xsi:type="dcterms:W3CDTF">2024-02-12T12:12:43Z</dcterms:modified>
</cp:coreProperties>
</file>