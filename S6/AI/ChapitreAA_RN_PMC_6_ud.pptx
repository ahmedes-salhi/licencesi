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notesMasterIdLst>
    <p:notesMasterId r:id="rId50"/>
  </p:notesMasterIdLst>
  <p:sldIdLst>
    <p:sldId id="512" r:id="rId2"/>
    <p:sldId id="520" r:id="rId3"/>
    <p:sldId id="522" r:id="rId4"/>
    <p:sldId id="521" r:id="rId5"/>
    <p:sldId id="524" r:id="rId6"/>
    <p:sldId id="523" r:id="rId7"/>
    <p:sldId id="529" r:id="rId8"/>
    <p:sldId id="531" r:id="rId9"/>
    <p:sldId id="530" r:id="rId10"/>
    <p:sldId id="532" r:id="rId11"/>
    <p:sldId id="533" r:id="rId12"/>
    <p:sldId id="568" r:id="rId13"/>
    <p:sldId id="537" r:id="rId14"/>
    <p:sldId id="534" r:id="rId15"/>
    <p:sldId id="535" r:id="rId16"/>
    <p:sldId id="536" r:id="rId17"/>
    <p:sldId id="538" r:id="rId18"/>
    <p:sldId id="566" r:id="rId19"/>
    <p:sldId id="539" r:id="rId20"/>
    <p:sldId id="540" r:id="rId21"/>
    <p:sldId id="541" r:id="rId22"/>
    <p:sldId id="542" r:id="rId23"/>
    <p:sldId id="543" r:id="rId24"/>
    <p:sldId id="544" r:id="rId25"/>
    <p:sldId id="545" r:id="rId26"/>
    <p:sldId id="555" r:id="rId27"/>
    <p:sldId id="556" r:id="rId28"/>
    <p:sldId id="557" r:id="rId29"/>
    <p:sldId id="558" r:id="rId30"/>
    <p:sldId id="559" r:id="rId31"/>
    <p:sldId id="560" r:id="rId32"/>
    <p:sldId id="561" r:id="rId33"/>
    <p:sldId id="562" r:id="rId34"/>
    <p:sldId id="257" r:id="rId35"/>
    <p:sldId id="365" r:id="rId36"/>
    <p:sldId id="366" r:id="rId37"/>
    <p:sldId id="367" r:id="rId38"/>
    <p:sldId id="368" r:id="rId39"/>
    <p:sldId id="369" r:id="rId40"/>
    <p:sldId id="563" r:id="rId41"/>
    <p:sldId id="546" r:id="rId42"/>
    <p:sldId id="548" r:id="rId43"/>
    <p:sldId id="549" r:id="rId44"/>
    <p:sldId id="547" r:id="rId45"/>
    <p:sldId id="550" r:id="rId46"/>
    <p:sldId id="564" r:id="rId47"/>
    <p:sldId id="567" r:id="rId48"/>
    <p:sldId id="565" r:id="rId49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6" d="100"/>
          <a:sy n="86" d="100"/>
        </p:scale>
        <p:origin x="562" y="5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538D6AB-FEA6-40B3-854E-0880FB594D32}" type="datetimeFigureOut">
              <a:rPr lang="fr-FR" smtClean="0"/>
              <a:pPr/>
              <a:t>17/03/2024</a:t>
            </a:fld>
            <a:endParaRPr lang="fr-F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8DB63F1-B53C-44A5-9FB1-CC6D52FEB1C9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932134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1">
            <a:extLst>
              <a:ext uri="{FF2B5EF4-FFF2-40B4-BE49-F238E27FC236}">
                <a16:creationId xmlns:a16="http://schemas.microsoft.com/office/drawing/2014/main" id="{3DD804D7-3002-46B1-9099-1CE9A2814C5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3" name="Rectangle 2">
            <a:extLst>
              <a:ext uri="{FF2B5EF4-FFF2-40B4-BE49-F238E27FC236}">
                <a16:creationId xmlns:a16="http://schemas.microsoft.com/office/drawing/2014/main" id="{19D3F276-5DA8-43E9-8284-B8E9DA085672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>
          <a:xfrm>
            <a:off x="987425" y="3228975"/>
            <a:ext cx="7899400" cy="30607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fr-FR" altLang="fr-FR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>
            <a:extLst>
              <a:ext uri="{FF2B5EF4-FFF2-40B4-BE49-F238E27FC236}">
                <a16:creationId xmlns:a16="http://schemas.microsoft.com/office/drawing/2014/main" id="{1AB963D0-5102-4443-B503-DE5460DF55E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5299" name="Rectangle 3">
            <a:extLst>
              <a:ext uri="{FF2B5EF4-FFF2-40B4-BE49-F238E27FC236}">
                <a16:creationId xmlns:a16="http://schemas.microsoft.com/office/drawing/2014/main" id="{0574F9BC-EF01-4442-9423-35620AF9C7C3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fr-FR" altLang="fr-FR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">
            <a:extLst>
              <a:ext uri="{FF2B5EF4-FFF2-40B4-BE49-F238E27FC236}">
                <a16:creationId xmlns:a16="http://schemas.microsoft.com/office/drawing/2014/main" id="{C171BB65-93E6-48D4-942C-14F0734F957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7347" name="Rectangle 3">
            <a:extLst>
              <a:ext uri="{FF2B5EF4-FFF2-40B4-BE49-F238E27FC236}">
                <a16:creationId xmlns:a16="http://schemas.microsoft.com/office/drawing/2014/main" id="{DDDA8679-00B6-41D5-8834-953919E54A51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fr-FR" altLang="fr-FR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>
            <a:extLst>
              <a:ext uri="{FF2B5EF4-FFF2-40B4-BE49-F238E27FC236}">
                <a16:creationId xmlns:a16="http://schemas.microsoft.com/office/drawing/2014/main" id="{C5AD53C9-1A76-4D4C-B1BE-BDFE45EFB3E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9395" name="Rectangle 3">
            <a:extLst>
              <a:ext uri="{FF2B5EF4-FFF2-40B4-BE49-F238E27FC236}">
                <a16:creationId xmlns:a16="http://schemas.microsoft.com/office/drawing/2014/main" id="{4C2FFD8B-6981-40B4-ACF0-CD771ADA3BA1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fr-FR" altLang="fr-FR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>
            <a:extLst>
              <a:ext uri="{FF2B5EF4-FFF2-40B4-BE49-F238E27FC236}">
                <a16:creationId xmlns:a16="http://schemas.microsoft.com/office/drawing/2014/main" id="{FEB8CB1F-964B-4C27-96FA-902053E80EA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43" name="Rectangle 3">
            <a:extLst>
              <a:ext uri="{FF2B5EF4-FFF2-40B4-BE49-F238E27FC236}">
                <a16:creationId xmlns:a16="http://schemas.microsoft.com/office/drawing/2014/main" id="{4F7553D3-96E6-493D-BBB9-892C17D52B02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fr-FR" altLang="fr-FR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>
            <a:extLst>
              <a:ext uri="{FF2B5EF4-FFF2-40B4-BE49-F238E27FC236}">
                <a16:creationId xmlns:a16="http://schemas.microsoft.com/office/drawing/2014/main" id="{BAC55C67-903A-4F7D-919A-095222EAFCA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3491" name="Rectangle 3">
            <a:extLst>
              <a:ext uri="{FF2B5EF4-FFF2-40B4-BE49-F238E27FC236}">
                <a16:creationId xmlns:a16="http://schemas.microsoft.com/office/drawing/2014/main" id="{909E2903-CADC-431D-9A32-D8FBA26EBDFE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fr-FR" altLang="fr-FR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>
            <a:extLst>
              <a:ext uri="{FF2B5EF4-FFF2-40B4-BE49-F238E27FC236}">
                <a16:creationId xmlns:a16="http://schemas.microsoft.com/office/drawing/2014/main" id="{702FED28-5830-4CEF-8871-B0E0C577C17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5539" name="Rectangle 3">
            <a:extLst>
              <a:ext uri="{FF2B5EF4-FFF2-40B4-BE49-F238E27FC236}">
                <a16:creationId xmlns:a16="http://schemas.microsoft.com/office/drawing/2014/main" id="{07651F59-2E03-484C-8A93-68A512ACD7A9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fr-FR" altLang="fr-FR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2">
            <a:extLst>
              <a:ext uri="{FF2B5EF4-FFF2-40B4-BE49-F238E27FC236}">
                <a16:creationId xmlns:a16="http://schemas.microsoft.com/office/drawing/2014/main" id="{43BD7733-9217-446B-A3D6-F2AAB4DFD54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7587" name="Rectangle 3">
            <a:extLst>
              <a:ext uri="{FF2B5EF4-FFF2-40B4-BE49-F238E27FC236}">
                <a16:creationId xmlns:a16="http://schemas.microsoft.com/office/drawing/2014/main" id="{6E2A16B4-C502-43E8-BFA4-76F503941F50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fr-FR" altLang="fr-FR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2">
            <a:extLst>
              <a:ext uri="{FF2B5EF4-FFF2-40B4-BE49-F238E27FC236}">
                <a16:creationId xmlns:a16="http://schemas.microsoft.com/office/drawing/2014/main" id="{D705A77B-9308-4B99-AF8E-6CA29A6625B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9635" name="Rectangle 3">
            <a:extLst>
              <a:ext uri="{FF2B5EF4-FFF2-40B4-BE49-F238E27FC236}">
                <a16:creationId xmlns:a16="http://schemas.microsoft.com/office/drawing/2014/main" id="{75B9CD08-2087-497C-92B2-8374C1260839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fr-FR" altLang="fr-FR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>
            <a:extLst>
              <a:ext uri="{FF2B5EF4-FFF2-40B4-BE49-F238E27FC236}">
                <a16:creationId xmlns:a16="http://schemas.microsoft.com/office/drawing/2014/main" id="{E018489D-0D0B-4340-89E4-7508D2EBB83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1683" name="Rectangle 3">
            <a:extLst>
              <a:ext uri="{FF2B5EF4-FFF2-40B4-BE49-F238E27FC236}">
                <a16:creationId xmlns:a16="http://schemas.microsoft.com/office/drawing/2014/main" id="{58D4FD19-1272-44C4-B0D7-6CD91BA0E5A5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fr-FR" altLang="fr-FR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>
            <a:extLst>
              <a:ext uri="{FF2B5EF4-FFF2-40B4-BE49-F238E27FC236}">
                <a16:creationId xmlns:a16="http://schemas.microsoft.com/office/drawing/2014/main" id="{E018489D-0D0B-4340-89E4-7508D2EBB83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1683" name="Rectangle 3">
            <a:extLst>
              <a:ext uri="{FF2B5EF4-FFF2-40B4-BE49-F238E27FC236}">
                <a16:creationId xmlns:a16="http://schemas.microsoft.com/office/drawing/2014/main" id="{58D4FD19-1272-44C4-B0D7-6CD91BA0E5A5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fr-FR" altLang="fr-FR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914400" y="2130430"/>
            <a:ext cx="10363200" cy="1470025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6FA739-2F73-42CA-AE03-349EAFF948DC}" type="datetime1">
              <a:rPr lang="fr-FR" smtClean="0"/>
              <a:pPr/>
              <a:t>17/03/2024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06AE51-5606-4246-9C72-66A40F31299F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25857340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6FA739-2F73-42CA-AE03-349EAFF948DC}" type="datetime1">
              <a:rPr lang="fr-FR" smtClean="0"/>
              <a:pPr/>
              <a:t>17/03/2024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06AE51-5606-4246-9C72-66A40F31299F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85013936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963084" y="4406905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6FA739-2F73-42CA-AE03-349EAFF948DC}" type="datetime1">
              <a:rPr lang="fr-FR" smtClean="0"/>
              <a:pPr/>
              <a:t>17/03/2024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06AE51-5606-4246-9C72-66A40F31299F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99030586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812800" y="1600205"/>
            <a:ext cx="7213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8229600" y="1600205"/>
            <a:ext cx="7213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6FA739-2F73-42CA-AE03-349EAFF948DC}" type="datetime1">
              <a:rPr lang="fr-FR" smtClean="0"/>
              <a:pPr/>
              <a:t>17/03/2024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06AE51-5606-4246-9C72-66A40F31299F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18423592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6193370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193370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6FA739-2F73-42CA-AE03-349EAFF948DC}" type="datetime1">
              <a:rPr lang="fr-FR" smtClean="0"/>
              <a:pPr/>
              <a:t>17/03/2024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06AE51-5606-4246-9C72-66A40F31299F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86703469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6FA739-2F73-42CA-AE03-349EAFF948DC}" type="datetime1">
              <a:rPr lang="fr-FR" smtClean="0"/>
              <a:pPr/>
              <a:t>17/03/2024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06AE51-5606-4246-9C72-66A40F31299F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82466996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6FA739-2F73-42CA-AE03-349EAFF948DC}" type="datetime1">
              <a:rPr lang="fr-FR" smtClean="0"/>
              <a:pPr/>
              <a:t>17/03/2024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06AE51-5606-4246-9C72-66A40F31299F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40504883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3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766733" y="273055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609603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6FA739-2F73-42CA-AE03-349EAFF948DC}" type="datetime1">
              <a:rPr lang="fr-FR" smtClean="0"/>
              <a:pPr/>
              <a:t>17/03/2024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06AE51-5606-4246-9C72-66A40F31299F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49003521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6FA739-2F73-42CA-AE03-349EAFF948DC}" type="datetime1">
              <a:rPr lang="fr-FR" smtClean="0"/>
              <a:pPr/>
              <a:t>17/03/2024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06AE51-5606-4246-9C72-66A40F31299F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81005473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6FA739-2F73-42CA-AE03-349EAFF948DC}" type="datetime1">
              <a:rPr lang="fr-FR" smtClean="0"/>
              <a:pPr/>
              <a:t>17/03/2024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06AE51-5606-4246-9C72-66A40F31299F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98147874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11785600" y="274643"/>
            <a:ext cx="3657600" cy="5851525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812800" y="274643"/>
            <a:ext cx="10769600" cy="5851525"/>
          </a:xfrm>
        </p:spPr>
        <p:txBody>
          <a:bodyPr vert="eaVert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6FA739-2F73-42CA-AE03-349EAFF948DC}" type="datetime1">
              <a:rPr lang="fr-FR" smtClean="0"/>
              <a:pPr/>
              <a:t>17/03/2024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06AE51-5606-4246-9C72-66A40F31299F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39342207"/>
      </p:ext>
    </p:extLst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609600" y="1600205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609600" y="6356355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6FA739-2F73-42CA-AE03-349EAFF948DC}" type="datetime1">
              <a:rPr lang="fr-FR" smtClean="0"/>
              <a:pPr/>
              <a:t>17/03/2024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4165600" y="6356355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8737600" y="6356355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706AE51-5606-4246-9C72-66A40F31299F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309629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wmf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7" Type="http://schemas.openxmlformats.org/officeDocument/2006/relationships/image" Target="../media/image30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4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ext Box 1">
            <a:extLst>
              <a:ext uri="{FF2B5EF4-FFF2-40B4-BE49-F238E27FC236}">
                <a16:creationId xmlns:a16="http://schemas.microsoft.com/office/drawing/2014/main" id="{E79C5E41-4FC9-4042-9A9E-0A170AE94A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55141" y="1130157"/>
            <a:ext cx="5824521" cy="11803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spcBef>
                <a:spcPts val="7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ts val="6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ts val="5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96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GB" altLang="fr-FR" sz="3600" dirty="0">
                <a:solidFill>
                  <a:schemeClr val="tx1"/>
                </a:solidFill>
              </a:rPr>
              <a:t>Intelligence </a:t>
            </a:r>
            <a:r>
              <a:rPr lang="en-GB" altLang="fr-FR" sz="3600" dirty="0" err="1">
                <a:solidFill>
                  <a:schemeClr val="tx1"/>
                </a:solidFill>
              </a:rPr>
              <a:t>Artificielle</a:t>
            </a:r>
            <a:endParaRPr lang="en-GB" altLang="fr-FR" sz="3600" dirty="0">
              <a:solidFill>
                <a:schemeClr val="tx1"/>
              </a:solidFill>
            </a:endParaRPr>
          </a:p>
          <a:p>
            <a:pPr algn="ctr"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GB" altLang="fr-FR" sz="3600" dirty="0" err="1">
                <a:solidFill>
                  <a:schemeClr val="tx1"/>
                </a:solidFill>
              </a:rPr>
              <a:t>Apprentissage</a:t>
            </a:r>
            <a:r>
              <a:rPr lang="en-GB" altLang="fr-FR" sz="3600" dirty="0">
                <a:solidFill>
                  <a:schemeClr val="tx1"/>
                </a:solidFill>
              </a:rPr>
              <a:t> </a:t>
            </a:r>
            <a:r>
              <a:rPr lang="en-GB" altLang="fr-FR" sz="3600" dirty="0" err="1">
                <a:solidFill>
                  <a:schemeClr val="tx1"/>
                </a:solidFill>
              </a:rPr>
              <a:t>Automatique</a:t>
            </a:r>
            <a:endParaRPr lang="en-GB" altLang="fr-FR" sz="3600" dirty="0">
              <a:solidFill>
                <a:schemeClr val="tx1"/>
              </a:solidFill>
            </a:endParaRPr>
          </a:p>
        </p:txBody>
      </p:sp>
      <p:grpSp>
        <p:nvGrpSpPr>
          <p:cNvPr id="4099" name="Group 2">
            <a:extLst>
              <a:ext uri="{FF2B5EF4-FFF2-40B4-BE49-F238E27FC236}">
                <a16:creationId xmlns:a16="http://schemas.microsoft.com/office/drawing/2014/main" id="{ACBA6E1B-1E57-44C1-BF8D-327D6B225B5B}"/>
              </a:ext>
            </a:extLst>
          </p:cNvPr>
          <p:cNvGrpSpPr>
            <a:grpSpLocks/>
          </p:cNvGrpSpPr>
          <p:nvPr/>
        </p:nvGrpSpPr>
        <p:grpSpPr bwMode="auto">
          <a:xfrm>
            <a:off x="1524001" y="44451"/>
            <a:ext cx="9142413" cy="365125"/>
            <a:chOff x="0" y="28"/>
            <a:chExt cx="5759" cy="230"/>
          </a:xfrm>
        </p:grpSpPr>
        <p:sp>
          <p:nvSpPr>
            <p:cNvPr id="4100" name="AutoShape 3">
              <a:extLst>
                <a:ext uri="{FF2B5EF4-FFF2-40B4-BE49-F238E27FC236}">
                  <a16:creationId xmlns:a16="http://schemas.microsoft.com/office/drawing/2014/main" id="{5DAC29AB-52F7-4D56-983E-73B9D513C40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28"/>
              <a:ext cx="5760" cy="231"/>
            </a:xfrm>
            <a:prstGeom prst="roundRect">
              <a:avLst>
                <a:gd name="adj" fmla="val 431"/>
              </a:avLst>
            </a:prstGeom>
            <a:solidFill>
              <a:srgbClr val="3366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ts val="788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•"/>
                <a:defRPr sz="32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ts val="688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–"/>
                <a:defRPr sz="28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ts val="588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•"/>
                <a:defRPr sz="2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ts val="488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–"/>
                <a:defRPr sz="20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ts val="488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ts val="488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ts val="488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ts val="488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ts val="488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fr-FR" altLang="fr-FR" sz="1800">
                <a:latin typeface="Times New Roman" panose="02020603050405020304" pitchFamily="18" charset="0"/>
              </a:endParaRPr>
            </a:p>
          </p:txBody>
        </p:sp>
        <p:sp>
          <p:nvSpPr>
            <p:cNvPr id="4101" name="Text Box 4">
              <a:extLst>
                <a:ext uri="{FF2B5EF4-FFF2-40B4-BE49-F238E27FC236}">
                  <a16:creationId xmlns:a16="http://schemas.microsoft.com/office/drawing/2014/main" id="{6E9BC03C-BD64-4EC0-8B8F-747EDD82C50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0" y="28"/>
              <a:ext cx="576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000" tIns="46800" rIns="90000" bIns="46800">
              <a:spAutoFit/>
            </a:bodyPr>
            <a:lstStyle>
              <a:lvl1pPr>
                <a:spcBef>
                  <a:spcPts val="788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•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32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ts val="688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–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8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ts val="588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•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ts val="488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–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ts val="488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ts val="488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ts val="488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ts val="488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ts val="488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96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r>
                <a:rPr lang="en-GB" altLang="fr-FR" sz="1800" dirty="0">
                  <a:solidFill>
                    <a:schemeClr val="tx1"/>
                  </a:solidFill>
                </a:rPr>
                <a:t>Intelligence </a:t>
              </a:r>
              <a:r>
                <a:rPr lang="en-GB" altLang="fr-FR" sz="1800" dirty="0" err="1">
                  <a:solidFill>
                    <a:schemeClr val="tx1"/>
                  </a:solidFill>
                </a:rPr>
                <a:t>Artificielle</a:t>
              </a:r>
              <a:r>
                <a:rPr lang="en-GB" altLang="fr-FR" sz="1800" dirty="0">
                  <a:solidFill>
                    <a:schemeClr val="tx1"/>
                  </a:solidFill>
                </a:rPr>
                <a:t> 		</a:t>
              </a:r>
              <a:r>
                <a:rPr lang="en-GB" altLang="fr-FR" sz="1800" dirty="0" err="1">
                  <a:solidFill>
                    <a:schemeClr val="tx1"/>
                  </a:solidFill>
                </a:rPr>
                <a:t>Apprentissage</a:t>
              </a:r>
              <a:r>
                <a:rPr lang="en-GB" altLang="fr-FR" sz="1800" dirty="0">
                  <a:solidFill>
                    <a:schemeClr val="tx1"/>
                  </a:solidFill>
                </a:rPr>
                <a:t>			</a:t>
              </a:r>
            </a:p>
          </p:txBody>
        </p:sp>
      </p:grp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7D16168-740E-4AD7-A02A-81DDC4395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06AE51-5606-4246-9C72-66A40F31299F}" type="slidenum">
              <a:rPr lang="fr-FR" smtClean="0"/>
              <a:pPr/>
              <a:t>1</a:t>
            </a:fld>
            <a:endParaRPr lang="fr-FR"/>
          </a:p>
        </p:txBody>
      </p:sp>
      <p:sp>
        <p:nvSpPr>
          <p:cNvPr id="7" name="Text Box 1">
            <a:extLst>
              <a:ext uri="{FF2B5EF4-FFF2-40B4-BE49-F238E27FC236}">
                <a16:creationId xmlns:a16="http://schemas.microsoft.com/office/drawing/2014/main" id="{9A8FF2C6-AC4D-4E01-8701-0C3CB889CD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85551" y="3240111"/>
            <a:ext cx="7820900" cy="11581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46800">
            <a:spAutoFit/>
          </a:bodyPr>
          <a:lstStyle>
            <a:lvl1pPr>
              <a:spcBef>
                <a:spcPts val="7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ts val="6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ts val="5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96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GB" altLang="fr-FR" sz="3600" dirty="0" err="1">
                <a:solidFill>
                  <a:schemeClr val="tx1"/>
                </a:solidFill>
              </a:rPr>
              <a:t>Réseaux</a:t>
            </a:r>
            <a:r>
              <a:rPr lang="en-GB" altLang="fr-FR" sz="3600" dirty="0">
                <a:solidFill>
                  <a:schemeClr val="tx1"/>
                </a:solidFill>
              </a:rPr>
              <a:t> de Neurones</a:t>
            </a:r>
          </a:p>
          <a:p>
            <a:pPr algn="ctr">
              <a:lnSpc>
                <a:spcPct val="96000"/>
              </a:lnSpc>
              <a:spcBef>
                <a:spcPct val="0"/>
              </a:spcBef>
              <a:buNone/>
            </a:pPr>
            <a:r>
              <a:rPr lang="en-GB" altLang="fr-FR" sz="3600" dirty="0" err="1">
                <a:solidFill>
                  <a:schemeClr val="tx1"/>
                </a:solidFill>
              </a:rPr>
              <a:t>Partie</a:t>
            </a:r>
            <a:r>
              <a:rPr lang="en-GB" altLang="fr-FR" sz="3600" dirty="0">
                <a:solidFill>
                  <a:schemeClr val="tx1"/>
                </a:solidFill>
              </a:rPr>
              <a:t> II : Perceptron </a:t>
            </a:r>
            <a:r>
              <a:rPr lang="en-GB" altLang="fr-FR" sz="3600" dirty="0" err="1">
                <a:solidFill>
                  <a:schemeClr val="tx1"/>
                </a:solidFill>
              </a:rPr>
              <a:t>multicouche</a:t>
            </a:r>
            <a:endParaRPr lang="en-GB" altLang="fr-FR" sz="36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87092683"/>
      </p:ext>
    </p:extLst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13509" y="201902"/>
            <a:ext cx="10972800" cy="826798"/>
          </a:xfrm>
          <a:solidFill>
            <a:srgbClr val="3366FF"/>
          </a:solidFill>
          <a:ln>
            <a:noFill/>
          </a:ln>
        </p:spPr>
        <p:txBody>
          <a:bodyPr wrap="none" anchor="ctr">
            <a:normAutofit/>
          </a:bodyPr>
          <a:lstStyle/>
          <a:p>
            <a:r>
              <a:rPr lang="fr-FR" sz="3200" b="1" dirty="0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Arial" panose="020B0604020202020204" pitchFamily="34" charset="0"/>
              </a:rPr>
              <a:t>Limite des modèles linéaires 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40773" y="1485905"/>
            <a:ext cx="10972800" cy="4525963"/>
          </a:xfrm>
        </p:spPr>
        <p:txBody>
          <a:bodyPr/>
          <a:lstStyle/>
          <a:p>
            <a:r>
              <a:rPr lang="fr-FR" dirty="0"/>
              <a:t>Le perceptron permet de trouver une solution “parfaite” aux problèmes de classification binaires lorsque les données sont linéairement séparables. </a:t>
            </a:r>
          </a:p>
          <a:p>
            <a:r>
              <a:rPr lang="fr-FR" dirty="0"/>
              <a:t>Souvent, ce n’est pas le cas!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06AE51-5606-4246-9C72-66A40F31299F}" type="slidenum">
              <a:rPr lang="fr-FR" smtClean="0"/>
              <a:pPr/>
              <a:t>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496691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13509" y="201902"/>
            <a:ext cx="10972800" cy="826798"/>
          </a:xfrm>
          <a:solidFill>
            <a:srgbClr val="3366FF"/>
          </a:solidFill>
          <a:ln>
            <a:noFill/>
          </a:ln>
        </p:spPr>
        <p:txBody>
          <a:bodyPr wrap="none" anchor="ctr">
            <a:normAutofit/>
          </a:bodyPr>
          <a:lstStyle/>
          <a:p>
            <a:r>
              <a:rPr lang="fr-FR" sz="3200" dirty="0"/>
              <a:t>L’exemple du XOR </a:t>
            </a:r>
            <a:endParaRPr lang="fr-FR" sz="3200" b="1" dirty="0">
              <a:solidFill>
                <a:srgbClr val="000000"/>
              </a:solidFill>
              <a:latin typeface="Times New Roman" panose="02020603050405020304" pitchFamily="18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06AE51-5606-4246-9C72-66A40F31299F}" type="slidenum">
              <a:rPr lang="fr-FR" smtClean="0"/>
              <a:pPr/>
              <a:t>3</a:t>
            </a:fld>
            <a:endParaRPr lang="fr-FR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1220" y="1297564"/>
            <a:ext cx="9712589" cy="53526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8242309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solidFill>
            <a:srgbClr val="3366FF"/>
          </a:solidFill>
          <a:ln>
            <a:noFill/>
          </a:ln>
        </p:spPr>
        <p:txBody>
          <a:bodyPr vert="horz" wrap="none" lIns="91440" tIns="45720" rIns="91440" bIns="45720" rtlCol="0" anchor="ctr">
            <a:normAutofit/>
          </a:bodyPr>
          <a:lstStyle/>
          <a:p>
            <a:r>
              <a:rPr lang="fr-FR" sz="3200" dirty="0"/>
              <a:t>L’exemple du XOR 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06AE51-5606-4246-9C72-66A40F31299F}" type="slidenum">
              <a:rPr lang="fr-FR" smtClean="0"/>
              <a:pPr/>
              <a:t>4</a:t>
            </a:fld>
            <a:endParaRPr lang="fr-FR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9091" y="1492393"/>
            <a:ext cx="9528030" cy="5114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4599590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solidFill>
            <a:srgbClr val="3366FF"/>
          </a:solidFill>
          <a:ln>
            <a:noFill/>
          </a:ln>
        </p:spPr>
        <p:txBody>
          <a:bodyPr vert="horz" wrap="none" lIns="91440" tIns="45720" rIns="91440" bIns="45720" rtlCol="0" anchor="ctr">
            <a:normAutofit/>
          </a:bodyPr>
          <a:lstStyle/>
          <a:p>
            <a:r>
              <a:rPr lang="fr-FR" sz="3200" dirty="0"/>
              <a:t>L’exemple du XOR 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06AE51-5606-4246-9C72-66A40F31299F}" type="slidenum">
              <a:rPr lang="fr-FR" smtClean="0"/>
              <a:pPr/>
              <a:t>5</a:t>
            </a:fld>
            <a:endParaRPr lang="fr-FR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9091" y="1492393"/>
            <a:ext cx="9528030" cy="5114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2102903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solidFill>
            <a:srgbClr val="3366FF"/>
          </a:solidFill>
          <a:ln>
            <a:noFill/>
          </a:ln>
        </p:spPr>
        <p:txBody>
          <a:bodyPr vert="horz" wrap="none" lIns="91440" tIns="45720" rIns="91440" bIns="45720" rtlCol="0" anchor="ctr">
            <a:normAutofit/>
          </a:bodyPr>
          <a:lstStyle/>
          <a:p>
            <a:r>
              <a:rPr lang="fr-FR" sz="3200" dirty="0"/>
              <a:t>Perceptron multicouche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06AE51-5606-4246-9C72-66A40F31299F}" type="slidenum">
              <a:rPr lang="fr-FR" smtClean="0"/>
              <a:pPr/>
              <a:t>6</a:t>
            </a:fld>
            <a:endParaRPr lang="fr-FR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3661" y="1518796"/>
            <a:ext cx="9481271" cy="50898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Rectangle 4"/>
          <p:cNvSpPr/>
          <p:nvPr/>
        </p:nvSpPr>
        <p:spPr>
          <a:xfrm>
            <a:off x="1201232" y="5893266"/>
            <a:ext cx="8846127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buClr>
                <a:srgbClr val="C00000"/>
              </a:buClr>
            </a:pPr>
            <a:r>
              <a:rPr lang="fr-FR" sz="2800" dirty="0"/>
              <a:t>On peut voir les neurones du perceptron multicouches comme une multitude de perceptron connectés entre eux.</a:t>
            </a:r>
          </a:p>
        </p:txBody>
      </p:sp>
    </p:spTree>
    <p:extLst>
      <p:ext uri="{BB962C8B-B14F-4D97-AF65-F5344CB8AC3E}">
        <p14:creationId xmlns:p14="http://schemas.microsoft.com/office/powerpoint/2010/main" val="22102903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06AE51-5606-4246-9C72-66A40F31299F}" type="slidenum">
              <a:rPr lang="fr-FR" smtClean="0"/>
              <a:pPr/>
              <a:t>7</a:t>
            </a:fld>
            <a:endParaRPr lang="fr-FR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64069" y="1555171"/>
            <a:ext cx="9167984" cy="47521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Titre 1"/>
          <p:cNvSpPr txBox="1">
            <a:spLocks/>
          </p:cNvSpPr>
          <p:nvPr/>
        </p:nvSpPr>
        <p:spPr>
          <a:xfrm>
            <a:off x="609600" y="274638"/>
            <a:ext cx="10972800" cy="1143000"/>
          </a:xfrm>
          <a:prstGeom prst="rect">
            <a:avLst/>
          </a:prstGeom>
          <a:solidFill>
            <a:srgbClr val="3366FF"/>
          </a:solidFill>
          <a:ln>
            <a:noFill/>
          </a:ln>
        </p:spPr>
        <p:txBody>
          <a:bodyPr vert="horz" wrap="none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3200"/>
              <a:t>Perceptron multicouche</a:t>
            </a:r>
            <a:endParaRPr lang="fr-FR" sz="3200" dirty="0"/>
          </a:p>
        </p:txBody>
      </p:sp>
    </p:spTree>
    <p:extLst>
      <p:ext uri="{BB962C8B-B14F-4D97-AF65-F5344CB8AC3E}">
        <p14:creationId xmlns:p14="http://schemas.microsoft.com/office/powerpoint/2010/main" val="33209975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06AE51-5606-4246-9C72-66A40F31299F}" type="slidenum">
              <a:rPr lang="fr-FR" smtClean="0"/>
              <a:pPr/>
              <a:t>8</a:t>
            </a:fld>
            <a:endParaRPr lang="fr-FR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2512" y="1224192"/>
            <a:ext cx="9941069" cy="5304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Titre 1"/>
          <p:cNvSpPr txBox="1">
            <a:spLocks/>
          </p:cNvSpPr>
          <p:nvPr/>
        </p:nvSpPr>
        <p:spPr>
          <a:xfrm>
            <a:off x="609600" y="164319"/>
            <a:ext cx="10972800" cy="947508"/>
          </a:xfrm>
          <a:prstGeom prst="rect">
            <a:avLst/>
          </a:prstGeom>
          <a:solidFill>
            <a:srgbClr val="3366FF"/>
          </a:solidFill>
          <a:ln>
            <a:noFill/>
          </a:ln>
        </p:spPr>
        <p:txBody>
          <a:bodyPr vert="horz" wrap="none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3200"/>
              <a:t>Perceptron multicouche</a:t>
            </a:r>
            <a:endParaRPr lang="fr-FR" sz="3200" dirty="0"/>
          </a:p>
        </p:txBody>
      </p:sp>
    </p:spTree>
    <p:extLst>
      <p:ext uri="{BB962C8B-B14F-4D97-AF65-F5344CB8AC3E}">
        <p14:creationId xmlns:p14="http://schemas.microsoft.com/office/powerpoint/2010/main" val="10381622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06AE51-5606-4246-9C72-66A40F31299F}" type="slidenum">
              <a:rPr lang="fr-FR" smtClean="0"/>
              <a:pPr/>
              <a:t>9</a:t>
            </a:fld>
            <a:endParaRPr lang="fr-FR"/>
          </a:p>
        </p:txBody>
      </p:sp>
      <p:sp>
        <p:nvSpPr>
          <p:cNvPr id="3" name="Rectangle 2"/>
          <p:cNvSpPr/>
          <p:nvPr/>
        </p:nvSpPr>
        <p:spPr>
          <a:xfrm>
            <a:off x="883227" y="233854"/>
            <a:ext cx="10837718" cy="910797"/>
          </a:xfrm>
          <a:prstGeom prst="rect">
            <a:avLst/>
          </a:prstGeom>
          <a:solidFill>
            <a:srgbClr val="3366FF"/>
          </a:solidFill>
          <a:ln>
            <a:noFill/>
          </a:ln>
        </p:spPr>
        <p:txBody>
          <a:bodyPr vert="horz" wrap="none" lIns="91440" tIns="45720" rIns="91440" bIns="45720" rtlCol="0" anchor="ctr">
            <a:normAutofit/>
          </a:bodyPr>
          <a:lstStyle/>
          <a:p>
            <a:pPr algn="ctr">
              <a:spcBef>
                <a:spcPct val="0"/>
              </a:spcBef>
            </a:pPr>
            <a:r>
              <a:rPr lang="fr-FR" sz="3200" dirty="0">
                <a:latin typeface="+mj-lt"/>
                <a:ea typeface="+mj-ea"/>
                <a:cs typeface="+mj-cs"/>
              </a:rPr>
              <a:t>Rétro-propagation du gradient</a:t>
            </a:r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6699" y="1144652"/>
            <a:ext cx="9915092" cy="50470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3561024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06AE51-5606-4246-9C72-66A40F31299F}" type="slidenum">
              <a:rPr lang="fr-FR" smtClean="0"/>
              <a:pPr/>
              <a:t>10</a:t>
            </a:fld>
            <a:endParaRPr lang="fr-FR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4955" y="1385888"/>
            <a:ext cx="8663420" cy="47045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Rectangle 4"/>
          <p:cNvSpPr/>
          <p:nvPr/>
        </p:nvSpPr>
        <p:spPr>
          <a:xfrm>
            <a:off x="883227" y="233854"/>
            <a:ext cx="10837718" cy="910797"/>
          </a:xfrm>
          <a:prstGeom prst="rect">
            <a:avLst/>
          </a:prstGeom>
          <a:solidFill>
            <a:srgbClr val="3366FF"/>
          </a:solidFill>
          <a:ln>
            <a:noFill/>
          </a:ln>
        </p:spPr>
        <p:txBody>
          <a:bodyPr vert="horz" wrap="none" lIns="91440" tIns="45720" rIns="91440" bIns="45720" rtlCol="0" anchor="ctr">
            <a:normAutofit/>
          </a:bodyPr>
          <a:lstStyle/>
          <a:p>
            <a:pPr algn="ctr">
              <a:spcBef>
                <a:spcPct val="0"/>
              </a:spcBef>
            </a:pPr>
            <a:r>
              <a:rPr lang="fr-FR" sz="3200" dirty="0">
                <a:latin typeface="+mj-lt"/>
                <a:ea typeface="+mj-ea"/>
                <a:cs typeface="+mj-cs"/>
              </a:rPr>
              <a:t>Rétro-propagation du gradient</a:t>
            </a:r>
          </a:p>
        </p:txBody>
      </p:sp>
    </p:spTree>
    <p:extLst>
      <p:ext uri="{BB962C8B-B14F-4D97-AF65-F5344CB8AC3E}">
        <p14:creationId xmlns:p14="http://schemas.microsoft.com/office/powerpoint/2010/main" val="12546815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06AE51-5606-4246-9C72-66A40F31299F}" type="slidenum">
              <a:rPr lang="fr-FR" smtClean="0"/>
              <a:pPr/>
              <a:t>11</a:t>
            </a:fld>
            <a:endParaRPr lang="fr-FR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65091" y="959444"/>
            <a:ext cx="9562236" cy="52530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Rectangle 3"/>
          <p:cNvSpPr/>
          <p:nvPr/>
        </p:nvSpPr>
        <p:spPr>
          <a:xfrm>
            <a:off x="883227" y="48647"/>
            <a:ext cx="10837718" cy="910797"/>
          </a:xfrm>
          <a:prstGeom prst="rect">
            <a:avLst/>
          </a:prstGeom>
          <a:solidFill>
            <a:srgbClr val="3366FF"/>
          </a:solidFill>
          <a:ln>
            <a:noFill/>
          </a:ln>
        </p:spPr>
        <p:txBody>
          <a:bodyPr vert="horz" wrap="none" lIns="91440" tIns="45720" rIns="91440" bIns="45720" rtlCol="0" anchor="ctr">
            <a:normAutofit/>
          </a:bodyPr>
          <a:lstStyle/>
          <a:p>
            <a:pPr algn="ctr">
              <a:spcBef>
                <a:spcPct val="0"/>
              </a:spcBef>
            </a:pPr>
            <a:r>
              <a:rPr lang="fr-FR" sz="3200" dirty="0">
                <a:latin typeface="+mj-lt"/>
                <a:ea typeface="+mj-ea"/>
                <a:cs typeface="+mj-cs"/>
              </a:rPr>
              <a:t>Rétro-propagation du gradient</a:t>
            </a:r>
          </a:p>
        </p:txBody>
      </p:sp>
    </p:spTree>
    <p:extLst>
      <p:ext uri="{BB962C8B-B14F-4D97-AF65-F5344CB8AC3E}">
        <p14:creationId xmlns:p14="http://schemas.microsoft.com/office/powerpoint/2010/main" val="37323365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05B3EEBE-4E72-03F0-2DA7-EFA649AB9B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06AE51-5606-4246-9C72-66A40F31299F}" type="slidenum">
              <a:rPr lang="fr-FR" smtClean="0"/>
              <a:pPr/>
              <a:t>12</a:t>
            </a:fld>
            <a:endParaRPr lang="fr-FR"/>
          </a:p>
        </p:txBody>
      </p:sp>
      <p:sp>
        <p:nvSpPr>
          <p:cNvPr id="3" name="TextBox 5">
            <a:extLst>
              <a:ext uri="{FF2B5EF4-FFF2-40B4-BE49-F238E27FC236}">
                <a16:creationId xmlns:a16="http://schemas.microsoft.com/office/drawing/2014/main" id="{1799D096-2BDD-67DC-DC2F-2F28A69C6939}"/>
              </a:ext>
            </a:extLst>
          </p:cNvPr>
          <p:cNvSpPr txBox="1"/>
          <p:nvPr/>
        </p:nvSpPr>
        <p:spPr>
          <a:xfrm>
            <a:off x="396188" y="1804332"/>
            <a:ext cx="6594905" cy="33239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J : function </a:t>
            </a:r>
            <a:r>
              <a:rPr lang="en-US" sz="2000" b="1" dirty="0" err="1"/>
              <a:t>erreur</a:t>
            </a:r>
            <a:r>
              <a:rPr lang="en-US" sz="2000" b="1" dirty="0"/>
              <a:t> ( Loss)</a:t>
            </a:r>
          </a:p>
          <a:p>
            <a:r>
              <a:rPr lang="fr-FR" sz="2000" dirty="0"/>
              <a:t>Par exemple on peut prendre J(w) comme la somme des erreurs quadratiques (SSE: </a:t>
            </a:r>
            <a:r>
              <a:rPr lang="en-US" sz="2000" i="1" dirty="0"/>
              <a:t>sum of squared errors</a:t>
            </a:r>
            <a:r>
              <a:rPr lang="fr-FR" sz="2000" dirty="0"/>
              <a:t>)</a:t>
            </a:r>
          </a:p>
          <a:p>
            <a:r>
              <a:rPr lang="en-US" sz="2000" b="1" dirty="0"/>
              <a:t>J(w)=1/2</a:t>
            </a:r>
            <a:r>
              <a:rPr lang="en-US" sz="3200" b="1" dirty="0"/>
              <a:t>∑</a:t>
            </a:r>
            <a:r>
              <a:rPr lang="en-US" sz="3200" b="1" baseline="-25000" dirty="0"/>
              <a:t>i</a:t>
            </a:r>
            <a:r>
              <a:rPr lang="en-US" sz="2000" b="1" dirty="0"/>
              <a:t>(t</a:t>
            </a:r>
            <a:r>
              <a:rPr lang="en-US" sz="2000" b="1" baseline="30000" dirty="0"/>
              <a:t>(</a:t>
            </a:r>
            <a:r>
              <a:rPr lang="en-US" sz="2000" b="1" baseline="30000" dirty="0" err="1"/>
              <a:t>i</a:t>
            </a:r>
            <a:r>
              <a:rPr lang="en-US" sz="2000" b="1" baseline="30000" dirty="0"/>
              <a:t>)</a:t>
            </a:r>
            <a:r>
              <a:rPr lang="en-US" sz="2000" b="1" dirty="0"/>
              <a:t>−o</a:t>
            </a:r>
            <a:r>
              <a:rPr lang="en-US" sz="2000" b="1" baseline="30000" dirty="0"/>
              <a:t>(</a:t>
            </a:r>
            <a:r>
              <a:rPr lang="en-US" sz="2000" b="1" baseline="30000" dirty="0" err="1"/>
              <a:t>i</a:t>
            </a:r>
            <a:r>
              <a:rPr lang="en-US" sz="2000" b="1" baseline="30000" dirty="0"/>
              <a:t>)</a:t>
            </a:r>
            <a:r>
              <a:rPr lang="en-US" sz="2000" b="1" dirty="0"/>
              <a:t>)</a:t>
            </a:r>
            <a:r>
              <a:rPr lang="en-US" sz="2000" b="1" baseline="30000" dirty="0"/>
              <a:t>2</a:t>
            </a:r>
            <a:endParaRPr lang="fr-FR" sz="2000" b="1" dirty="0"/>
          </a:p>
          <a:p>
            <a:endParaRPr lang="en-US" sz="2000" dirty="0"/>
          </a:p>
          <a:p>
            <a:r>
              <a:rPr lang="en-US" sz="2000" dirty="0"/>
              <a:t>La correction des </a:t>
            </a:r>
            <a:r>
              <a:rPr lang="en-US" sz="2000" dirty="0" err="1"/>
              <a:t>poinds</a:t>
            </a:r>
            <a:r>
              <a:rPr lang="en-US" sz="2000" dirty="0"/>
              <a:t> </a:t>
            </a:r>
            <a:r>
              <a:rPr lang="en-US" sz="2000" dirty="0" err="1"/>
              <a:t>est</a:t>
            </a:r>
            <a:r>
              <a:rPr lang="en-US" sz="2000" dirty="0"/>
              <a:t> </a:t>
            </a:r>
            <a:r>
              <a:rPr lang="en-US" sz="2000" dirty="0" err="1"/>
              <a:t>l’opposé</a:t>
            </a:r>
            <a:r>
              <a:rPr lang="en-US" sz="2000" dirty="0"/>
              <a:t> du gradient de J:</a:t>
            </a:r>
          </a:p>
          <a:p>
            <a:r>
              <a:rPr lang="en-US" sz="2000" b="1" dirty="0" err="1"/>
              <a:t>Δw</a:t>
            </a:r>
            <a:r>
              <a:rPr lang="en-US" sz="2000" b="1" dirty="0"/>
              <a:t>=−</a:t>
            </a:r>
            <a:r>
              <a:rPr lang="en-US" sz="2000" b="1" dirty="0" err="1"/>
              <a:t>η∇J</a:t>
            </a:r>
            <a:r>
              <a:rPr lang="en-US" sz="2000" b="1" dirty="0"/>
              <a:t>(w)</a:t>
            </a:r>
          </a:p>
          <a:p>
            <a:r>
              <a:rPr lang="en-US" sz="2000" dirty="0" err="1"/>
              <a:t>Donc</a:t>
            </a:r>
            <a:r>
              <a:rPr lang="en-US" sz="2000" dirty="0"/>
              <a:t> pour les </a:t>
            </a:r>
            <a:r>
              <a:rPr lang="en-US" sz="2000" dirty="0" err="1"/>
              <a:t>valeurs</a:t>
            </a:r>
            <a:r>
              <a:rPr lang="en-US" sz="2000" dirty="0"/>
              <a:t> du </a:t>
            </a:r>
            <a:r>
              <a:rPr lang="en-US" sz="2000" dirty="0" err="1"/>
              <a:t>vecteur</a:t>
            </a:r>
            <a:r>
              <a:rPr lang="en-US" sz="2000" dirty="0"/>
              <a:t> </a:t>
            </a:r>
            <a:r>
              <a:rPr lang="en-US" sz="2000" b="1" dirty="0" err="1"/>
              <a:t>Δw</a:t>
            </a:r>
            <a:r>
              <a:rPr lang="en-US" sz="2000" b="1" dirty="0"/>
              <a:t> </a:t>
            </a:r>
            <a:r>
              <a:rPr lang="en-US" sz="2000" dirty="0"/>
              <a:t>:</a:t>
            </a:r>
          </a:p>
          <a:p>
            <a:r>
              <a:rPr lang="en-US" sz="2000" dirty="0"/>
              <a:t> </a:t>
            </a:r>
            <a:r>
              <a:rPr lang="en-US" sz="2000" b="1" dirty="0" err="1"/>
              <a:t>Δw</a:t>
            </a:r>
            <a:r>
              <a:rPr lang="en-US" sz="2000" b="1" baseline="-25000" dirty="0" err="1"/>
              <a:t>j</a:t>
            </a:r>
            <a:r>
              <a:rPr lang="en-US" sz="2000" b="1" dirty="0"/>
              <a:t>=−</a:t>
            </a:r>
            <a:r>
              <a:rPr lang="en-US" sz="2000" b="1" dirty="0" err="1"/>
              <a:t>η∂J</a:t>
            </a:r>
            <a:r>
              <a:rPr lang="en-US" sz="2000" b="1" dirty="0"/>
              <a:t>/∂</a:t>
            </a:r>
            <a:r>
              <a:rPr lang="en-US" sz="2000" b="1" dirty="0" err="1"/>
              <a:t>w</a:t>
            </a:r>
            <a:r>
              <a:rPr lang="en-US" sz="2000" b="1" baseline="-25000" dirty="0" err="1"/>
              <a:t>j</a:t>
            </a:r>
            <a:endParaRPr lang="en-US" sz="2000" b="1" baseline="-25000" dirty="0"/>
          </a:p>
          <a:p>
            <a:endParaRPr lang="en-US" b="1" dirty="0"/>
          </a:p>
        </p:txBody>
      </p:sp>
      <p:pic>
        <p:nvPicPr>
          <p:cNvPr id="4" name="Picture 4">
            <a:extLst>
              <a:ext uri="{FF2B5EF4-FFF2-40B4-BE49-F238E27FC236}">
                <a16:creationId xmlns:a16="http://schemas.microsoft.com/office/drawing/2014/main" id="{F5215B36-9E2C-AE02-752E-6497A12CA3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6864" y="2093631"/>
            <a:ext cx="4167107" cy="27453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405A7B54-40E0-4563-C059-9BC2B629591B}"/>
              </a:ext>
            </a:extLst>
          </p:cNvPr>
          <p:cNvSpPr/>
          <p:nvPr/>
        </p:nvSpPr>
        <p:spPr>
          <a:xfrm>
            <a:off x="883227" y="48647"/>
            <a:ext cx="10837718" cy="910797"/>
          </a:xfrm>
          <a:prstGeom prst="rect">
            <a:avLst/>
          </a:prstGeom>
          <a:solidFill>
            <a:srgbClr val="3366FF"/>
          </a:solidFill>
          <a:ln>
            <a:noFill/>
          </a:ln>
        </p:spPr>
        <p:txBody>
          <a:bodyPr vert="horz" wrap="none" lIns="91440" tIns="45720" rIns="91440" bIns="45720" rtlCol="0" anchor="ctr">
            <a:normAutofit/>
          </a:bodyPr>
          <a:lstStyle/>
          <a:p>
            <a:pPr algn="ctr">
              <a:spcBef>
                <a:spcPct val="0"/>
              </a:spcBef>
            </a:pPr>
            <a:r>
              <a:rPr lang="fr-FR" sz="3200" dirty="0">
                <a:latin typeface="+mj-lt"/>
                <a:ea typeface="+mj-ea"/>
                <a:cs typeface="+mj-cs"/>
              </a:rPr>
              <a:t>Rétro-propagation du gradient</a:t>
            </a:r>
          </a:p>
        </p:txBody>
      </p:sp>
      <p:sp>
        <p:nvSpPr>
          <p:cNvPr id="6" name="TextBox 19">
            <a:extLst>
              <a:ext uri="{FF2B5EF4-FFF2-40B4-BE49-F238E27FC236}">
                <a16:creationId xmlns:a16="http://schemas.microsoft.com/office/drawing/2014/main" id="{39B805B2-6E78-0049-FBDF-7B4F3C58CDBA}"/>
              </a:ext>
            </a:extLst>
          </p:cNvPr>
          <p:cNvSpPr txBox="1"/>
          <p:nvPr/>
        </p:nvSpPr>
        <p:spPr>
          <a:xfrm>
            <a:off x="263268" y="5128318"/>
            <a:ext cx="11014331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fr-FR" sz="2000" dirty="0"/>
              <a:t>Comme illustré dans la figure ci-contre, nous pouvons décrire le principe de </a:t>
            </a:r>
            <a:r>
              <a:rPr lang="fr-FR" sz="2000" dirty="0">
                <a:solidFill>
                  <a:schemeClr val="accent2">
                    <a:lumMod val="75000"/>
                  </a:schemeClr>
                </a:solidFill>
              </a:rPr>
              <a:t>descente de gradient </a:t>
            </a:r>
            <a:r>
              <a:rPr lang="fr-FR" sz="2000" dirty="0"/>
              <a:t>comme «descendre une colline» jusqu'à ce qu'un minimum local ou global soit atteint. </a:t>
            </a:r>
            <a:r>
              <a:rPr lang="fr-FR" sz="2000" b="1" dirty="0"/>
              <a:t>L'amplitude et la direction de la mise à jour du poids sont calculées en effectuant un pas dans la direction opposée du gradient.</a:t>
            </a:r>
          </a:p>
        </p:txBody>
      </p:sp>
    </p:spTree>
    <p:extLst>
      <p:ext uri="{BB962C8B-B14F-4D97-AF65-F5344CB8AC3E}">
        <p14:creationId xmlns:p14="http://schemas.microsoft.com/office/powerpoint/2010/main" val="27356385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06AE51-5606-4246-9C72-66A40F31299F}" type="slidenum">
              <a:rPr lang="fr-FR" smtClean="0"/>
              <a:pPr/>
              <a:t>13</a:t>
            </a:fld>
            <a:endParaRPr lang="fr-FR"/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7298" y="1032539"/>
            <a:ext cx="10328563" cy="53509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Rectangle 4"/>
          <p:cNvSpPr/>
          <p:nvPr/>
        </p:nvSpPr>
        <p:spPr>
          <a:xfrm>
            <a:off x="883227" y="48647"/>
            <a:ext cx="10837718" cy="910797"/>
          </a:xfrm>
          <a:prstGeom prst="rect">
            <a:avLst/>
          </a:prstGeom>
          <a:solidFill>
            <a:srgbClr val="3366FF"/>
          </a:solidFill>
          <a:ln>
            <a:noFill/>
          </a:ln>
        </p:spPr>
        <p:txBody>
          <a:bodyPr vert="horz" wrap="none" lIns="91440" tIns="45720" rIns="91440" bIns="45720" rtlCol="0" anchor="ctr">
            <a:normAutofit/>
          </a:bodyPr>
          <a:lstStyle/>
          <a:p>
            <a:pPr algn="ctr">
              <a:spcBef>
                <a:spcPct val="0"/>
              </a:spcBef>
            </a:pPr>
            <a:r>
              <a:rPr lang="fr-FR" sz="3200" dirty="0">
                <a:latin typeface="+mj-lt"/>
                <a:ea typeface="+mj-ea"/>
                <a:cs typeface="+mj-cs"/>
              </a:rPr>
              <a:t>Rétro-propagation du gradient</a:t>
            </a:r>
          </a:p>
        </p:txBody>
      </p:sp>
      <p:pic>
        <p:nvPicPr>
          <p:cNvPr id="921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96597" y="3209247"/>
            <a:ext cx="292867" cy="3106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24455357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06AE51-5606-4246-9C72-66A40F31299F}" type="slidenum">
              <a:rPr lang="fr-FR" smtClean="0"/>
              <a:pPr/>
              <a:t>14</a:t>
            </a:fld>
            <a:endParaRPr lang="fr-FR"/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4874" y="1012863"/>
            <a:ext cx="10026362" cy="52073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Rectangle 3"/>
          <p:cNvSpPr/>
          <p:nvPr/>
        </p:nvSpPr>
        <p:spPr>
          <a:xfrm>
            <a:off x="883227" y="48647"/>
            <a:ext cx="10837718" cy="910797"/>
          </a:xfrm>
          <a:prstGeom prst="rect">
            <a:avLst/>
          </a:prstGeom>
          <a:solidFill>
            <a:srgbClr val="3366FF"/>
          </a:solidFill>
          <a:ln>
            <a:noFill/>
          </a:ln>
        </p:spPr>
        <p:txBody>
          <a:bodyPr vert="horz" wrap="none" lIns="91440" tIns="45720" rIns="91440" bIns="45720" rtlCol="0" anchor="ctr">
            <a:normAutofit/>
          </a:bodyPr>
          <a:lstStyle/>
          <a:p>
            <a:pPr algn="ctr">
              <a:spcBef>
                <a:spcPct val="0"/>
              </a:spcBef>
            </a:pPr>
            <a:r>
              <a:rPr lang="fr-FR" sz="3200" dirty="0">
                <a:latin typeface="+mj-lt"/>
                <a:ea typeface="+mj-ea"/>
                <a:cs typeface="+mj-cs"/>
              </a:rPr>
              <a:t>Rétro-propagation du gradient</a:t>
            </a:r>
          </a:p>
        </p:txBody>
      </p:sp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31579" y="2898631"/>
            <a:ext cx="292867" cy="3106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7323365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06AE51-5606-4246-9C72-66A40F31299F}" type="slidenum">
              <a:rPr lang="fr-FR" smtClean="0"/>
              <a:pPr/>
              <a:t>15</a:t>
            </a:fld>
            <a:endParaRPr lang="fr-FR"/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4008" y="919976"/>
            <a:ext cx="10505209" cy="53595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Rectangle 3"/>
          <p:cNvSpPr/>
          <p:nvPr/>
        </p:nvSpPr>
        <p:spPr>
          <a:xfrm>
            <a:off x="883227" y="48647"/>
            <a:ext cx="10837718" cy="910797"/>
          </a:xfrm>
          <a:prstGeom prst="rect">
            <a:avLst/>
          </a:prstGeom>
          <a:solidFill>
            <a:srgbClr val="3366FF"/>
          </a:solidFill>
          <a:ln>
            <a:noFill/>
          </a:ln>
        </p:spPr>
        <p:txBody>
          <a:bodyPr vert="horz" wrap="none" lIns="91440" tIns="45720" rIns="91440" bIns="45720" rtlCol="0" anchor="ctr">
            <a:normAutofit/>
          </a:bodyPr>
          <a:lstStyle/>
          <a:p>
            <a:pPr algn="ctr">
              <a:spcBef>
                <a:spcPct val="0"/>
              </a:spcBef>
            </a:pPr>
            <a:r>
              <a:rPr lang="fr-FR" sz="3200" dirty="0">
                <a:latin typeface="+mj-lt"/>
                <a:ea typeface="+mj-ea"/>
                <a:cs typeface="+mj-cs"/>
              </a:rPr>
              <a:t>Rétro-propagation du gradient</a:t>
            </a:r>
          </a:p>
        </p:txBody>
      </p:sp>
    </p:spTree>
    <p:extLst>
      <p:ext uri="{BB962C8B-B14F-4D97-AF65-F5344CB8AC3E}">
        <p14:creationId xmlns:p14="http://schemas.microsoft.com/office/powerpoint/2010/main" val="37323365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06AE51-5606-4246-9C72-66A40F31299F}" type="slidenum">
              <a:rPr lang="fr-FR" smtClean="0"/>
              <a:pPr/>
              <a:t>16</a:t>
            </a:fld>
            <a:endParaRPr lang="fr-FR"/>
          </a:p>
        </p:txBody>
      </p:sp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5800" y="1215785"/>
            <a:ext cx="10706155" cy="49771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Rectangle 4"/>
          <p:cNvSpPr/>
          <p:nvPr/>
        </p:nvSpPr>
        <p:spPr>
          <a:xfrm>
            <a:off x="883227" y="233854"/>
            <a:ext cx="10837718" cy="910797"/>
          </a:xfrm>
          <a:prstGeom prst="rect">
            <a:avLst/>
          </a:prstGeom>
          <a:solidFill>
            <a:srgbClr val="3366FF"/>
          </a:solidFill>
          <a:ln>
            <a:noFill/>
          </a:ln>
        </p:spPr>
        <p:txBody>
          <a:bodyPr vert="horz" wrap="none" lIns="91440" tIns="45720" rIns="91440" bIns="45720" rtlCol="0" anchor="ctr">
            <a:normAutofit/>
          </a:bodyPr>
          <a:lstStyle/>
          <a:p>
            <a:pPr algn="ctr">
              <a:spcBef>
                <a:spcPct val="0"/>
              </a:spcBef>
            </a:pPr>
            <a:r>
              <a:rPr lang="fr-FR" sz="3200" dirty="0">
                <a:latin typeface="+mj-lt"/>
                <a:ea typeface="+mj-ea"/>
                <a:cs typeface="+mj-cs"/>
              </a:rPr>
              <a:t>Rétro-propagation du gradient</a:t>
            </a:r>
          </a:p>
        </p:txBody>
      </p:sp>
    </p:spTree>
    <p:extLst>
      <p:ext uri="{BB962C8B-B14F-4D97-AF65-F5344CB8AC3E}">
        <p14:creationId xmlns:p14="http://schemas.microsoft.com/office/powerpoint/2010/main" val="37323365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06AE51-5606-4246-9C72-66A40F31299F}" type="slidenum">
              <a:rPr lang="fr-FR" smtClean="0"/>
              <a:pPr/>
              <a:t>17</a:t>
            </a:fld>
            <a:endParaRPr lang="fr-FR"/>
          </a:p>
        </p:txBody>
      </p:sp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5182" y="1056802"/>
            <a:ext cx="10058400" cy="53200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Rectangle 3"/>
          <p:cNvSpPr/>
          <p:nvPr/>
        </p:nvSpPr>
        <p:spPr>
          <a:xfrm>
            <a:off x="883227" y="0"/>
            <a:ext cx="10837718" cy="910797"/>
          </a:xfrm>
          <a:prstGeom prst="rect">
            <a:avLst/>
          </a:prstGeom>
          <a:solidFill>
            <a:srgbClr val="3366FF"/>
          </a:solidFill>
          <a:ln>
            <a:noFill/>
          </a:ln>
        </p:spPr>
        <p:txBody>
          <a:bodyPr vert="horz" wrap="none" lIns="91440" tIns="45720" rIns="91440" bIns="45720" rtlCol="0" anchor="ctr">
            <a:normAutofit/>
          </a:bodyPr>
          <a:lstStyle/>
          <a:p>
            <a:pPr algn="ctr">
              <a:spcBef>
                <a:spcPct val="0"/>
              </a:spcBef>
            </a:pPr>
            <a:r>
              <a:rPr lang="fr-FR" sz="3200" dirty="0">
                <a:latin typeface="+mj-lt"/>
                <a:ea typeface="+mj-ea"/>
                <a:cs typeface="+mj-cs"/>
              </a:rPr>
              <a:t>Rétro-propagation du gradient</a:t>
            </a:r>
          </a:p>
        </p:txBody>
      </p:sp>
    </p:spTree>
    <p:extLst>
      <p:ext uri="{BB962C8B-B14F-4D97-AF65-F5344CB8AC3E}">
        <p14:creationId xmlns:p14="http://schemas.microsoft.com/office/powerpoint/2010/main" val="327303467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06AE51-5606-4246-9C72-66A40F31299F}" type="slidenum">
              <a:rPr lang="fr-FR" smtClean="0"/>
              <a:pPr/>
              <a:t>18</a:t>
            </a:fld>
            <a:endParaRPr lang="fr-FR"/>
          </a:p>
        </p:txBody>
      </p:sp>
      <p:pic>
        <p:nvPicPr>
          <p:cNvPr id="3" name="Picture 58">
            <a:extLst>
              <a:ext uri="{FF2B5EF4-FFF2-40B4-BE49-F238E27FC236}">
                <a16:creationId xmlns:a16="http://schemas.microsoft.com/office/drawing/2014/main" id="{DBFEB0A4-EA34-4573-8619-9BEEA5C482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9089" y="709359"/>
            <a:ext cx="9060873" cy="58108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ZoneTexte 3"/>
          <p:cNvSpPr txBox="1"/>
          <p:nvPr/>
        </p:nvSpPr>
        <p:spPr>
          <a:xfrm>
            <a:off x="3875807" y="6341883"/>
            <a:ext cx="650470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Activation : on utilise ici Fonction </a:t>
            </a:r>
            <a:r>
              <a:rPr lang="fr-FR" sz="1600" i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sigmoide</a:t>
            </a:r>
            <a:r>
              <a:rPr lang="fr-FR" sz="160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4564216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06AE51-5606-4246-9C72-66A40F31299F}" type="slidenum">
              <a:rPr lang="fr-FR" smtClean="0"/>
              <a:pPr/>
              <a:t>19</a:t>
            </a:fld>
            <a:endParaRPr lang="fr-FR"/>
          </a:p>
        </p:txBody>
      </p:sp>
      <p:pic>
        <p:nvPicPr>
          <p:cNvPr id="1433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1593" y="1812044"/>
            <a:ext cx="10416452" cy="34587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Rectangle 3"/>
          <p:cNvSpPr/>
          <p:nvPr/>
        </p:nvSpPr>
        <p:spPr>
          <a:xfrm>
            <a:off x="883227" y="0"/>
            <a:ext cx="10837718" cy="910797"/>
          </a:xfrm>
          <a:prstGeom prst="rect">
            <a:avLst/>
          </a:prstGeom>
          <a:solidFill>
            <a:srgbClr val="3366FF"/>
          </a:solidFill>
          <a:ln>
            <a:noFill/>
          </a:ln>
        </p:spPr>
        <p:txBody>
          <a:bodyPr vert="horz" wrap="none" lIns="91440" tIns="45720" rIns="91440" bIns="45720" rtlCol="0" anchor="ctr">
            <a:normAutofit/>
          </a:bodyPr>
          <a:lstStyle/>
          <a:p>
            <a:pPr algn="ctr">
              <a:spcBef>
                <a:spcPct val="0"/>
              </a:spcBef>
            </a:pPr>
            <a:r>
              <a:rPr lang="fr-FR" sz="3200" dirty="0">
                <a:latin typeface="+mj-lt"/>
                <a:ea typeface="+mj-ea"/>
                <a:cs typeface="+mj-cs"/>
              </a:rPr>
              <a:t>Rétro-propagation du gradient</a:t>
            </a:r>
          </a:p>
        </p:txBody>
      </p:sp>
    </p:spTree>
    <p:extLst>
      <p:ext uri="{BB962C8B-B14F-4D97-AF65-F5344CB8AC3E}">
        <p14:creationId xmlns:p14="http://schemas.microsoft.com/office/powerpoint/2010/main" val="421426195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06AE51-5606-4246-9C72-66A40F31299F}" type="slidenum">
              <a:rPr lang="fr-FR" smtClean="0"/>
              <a:pPr/>
              <a:t>20</a:t>
            </a:fld>
            <a:endParaRPr lang="fr-FR"/>
          </a:p>
        </p:txBody>
      </p:sp>
      <p:sp>
        <p:nvSpPr>
          <p:cNvPr id="3" name="Rectangle 2"/>
          <p:cNvSpPr/>
          <p:nvPr/>
        </p:nvSpPr>
        <p:spPr>
          <a:xfrm>
            <a:off x="883227" y="0"/>
            <a:ext cx="10837718" cy="910797"/>
          </a:xfrm>
          <a:prstGeom prst="rect">
            <a:avLst/>
          </a:prstGeom>
          <a:solidFill>
            <a:srgbClr val="3366FF"/>
          </a:solidFill>
          <a:ln>
            <a:noFill/>
          </a:ln>
        </p:spPr>
        <p:txBody>
          <a:bodyPr vert="horz" wrap="none" lIns="91440" tIns="45720" rIns="91440" bIns="45720" rtlCol="0" anchor="ctr">
            <a:normAutofit/>
          </a:bodyPr>
          <a:lstStyle/>
          <a:p>
            <a:pPr algn="ctr">
              <a:spcBef>
                <a:spcPct val="0"/>
              </a:spcBef>
            </a:pPr>
            <a:r>
              <a:rPr lang="fr-FR" sz="3200" dirty="0">
                <a:latin typeface="+mj-lt"/>
                <a:ea typeface="+mj-ea"/>
                <a:cs typeface="+mj-cs"/>
              </a:rPr>
              <a:t>Rétro-propagation du gradient</a:t>
            </a:r>
          </a:p>
        </p:txBody>
      </p:sp>
      <p:pic>
        <p:nvPicPr>
          <p:cNvPr id="1536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43012" y="1350818"/>
            <a:ext cx="10589089" cy="49772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9214042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06AE51-5606-4246-9C72-66A40F31299F}" type="slidenum">
              <a:rPr lang="fr-FR" smtClean="0"/>
              <a:pPr/>
              <a:t>21</a:t>
            </a:fld>
            <a:endParaRPr lang="fr-FR"/>
          </a:p>
        </p:txBody>
      </p:sp>
      <p:pic>
        <p:nvPicPr>
          <p:cNvPr id="1638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1959" y="1271588"/>
            <a:ext cx="9920779" cy="48902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Rectangle 3"/>
          <p:cNvSpPr/>
          <p:nvPr/>
        </p:nvSpPr>
        <p:spPr>
          <a:xfrm>
            <a:off x="883227" y="0"/>
            <a:ext cx="10837718" cy="910797"/>
          </a:xfrm>
          <a:prstGeom prst="rect">
            <a:avLst/>
          </a:prstGeom>
          <a:solidFill>
            <a:srgbClr val="3366FF"/>
          </a:solidFill>
          <a:ln>
            <a:noFill/>
          </a:ln>
        </p:spPr>
        <p:txBody>
          <a:bodyPr vert="horz" wrap="none" lIns="91440" tIns="45720" rIns="91440" bIns="45720" rtlCol="0" anchor="ctr">
            <a:normAutofit/>
          </a:bodyPr>
          <a:lstStyle/>
          <a:p>
            <a:pPr algn="ctr">
              <a:spcBef>
                <a:spcPct val="0"/>
              </a:spcBef>
            </a:pPr>
            <a:r>
              <a:rPr lang="fr-FR" sz="3200" dirty="0">
                <a:latin typeface="+mj-lt"/>
                <a:ea typeface="+mj-ea"/>
                <a:cs typeface="+mj-cs"/>
              </a:rPr>
              <a:t>Rétro-propagation du gradient</a:t>
            </a:r>
          </a:p>
        </p:txBody>
      </p:sp>
    </p:spTree>
    <p:extLst>
      <p:ext uri="{BB962C8B-B14F-4D97-AF65-F5344CB8AC3E}">
        <p14:creationId xmlns:p14="http://schemas.microsoft.com/office/powerpoint/2010/main" val="49214042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06AE51-5606-4246-9C72-66A40F31299F}" type="slidenum">
              <a:rPr lang="fr-FR" smtClean="0"/>
              <a:pPr/>
              <a:t>22</a:t>
            </a:fld>
            <a:endParaRPr lang="fr-FR"/>
          </a:p>
        </p:txBody>
      </p:sp>
      <p:pic>
        <p:nvPicPr>
          <p:cNvPr id="1741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6450" y="1175778"/>
            <a:ext cx="10019867" cy="53302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Rectangle 3"/>
          <p:cNvSpPr/>
          <p:nvPr/>
        </p:nvSpPr>
        <p:spPr>
          <a:xfrm>
            <a:off x="883227" y="0"/>
            <a:ext cx="10837718" cy="910797"/>
          </a:xfrm>
          <a:prstGeom prst="rect">
            <a:avLst/>
          </a:prstGeom>
          <a:solidFill>
            <a:srgbClr val="3366FF"/>
          </a:solidFill>
          <a:ln>
            <a:noFill/>
          </a:ln>
        </p:spPr>
        <p:txBody>
          <a:bodyPr vert="horz" wrap="none" lIns="91440" tIns="45720" rIns="91440" bIns="45720" rtlCol="0" anchor="ctr">
            <a:normAutofit/>
          </a:bodyPr>
          <a:lstStyle/>
          <a:p>
            <a:pPr algn="ctr">
              <a:spcBef>
                <a:spcPct val="0"/>
              </a:spcBef>
            </a:pPr>
            <a:r>
              <a:rPr lang="fr-FR" sz="3200" dirty="0">
                <a:latin typeface="+mj-lt"/>
                <a:ea typeface="+mj-ea"/>
                <a:cs typeface="+mj-cs"/>
              </a:rPr>
              <a:t>Rétro-propagation du gradient</a:t>
            </a:r>
          </a:p>
        </p:txBody>
      </p:sp>
    </p:spTree>
    <p:extLst>
      <p:ext uri="{BB962C8B-B14F-4D97-AF65-F5344CB8AC3E}">
        <p14:creationId xmlns:p14="http://schemas.microsoft.com/office/powerpoint/2010/main" val="49214042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06AE51-5606-4246-9C72-66A40F31299F}" type="slidenum">
              <a:rPr lang="fr-FR" smtClean="0"/>
              <a:pPr/>
              <a:t>23</a:t>
            </a:fld>
            <a:endParaRPr lang="fr-FR"/>
          </a:p>
        </p:txBody>
      </p:sp>
      <p:pic>
        <p:nvPicPr>
          <p:cNvPr id="1843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3335" y="928371"/>
            <a:ext cx="10028681" cy="53789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Rectangle 3"/>
          <p:cNvSpPr/>
          <p:nvPr/>
        </p:nvSpPr>
        <p:spPr>
          <a:xfrm>
            <a:off x="883227" y="0"/>
            <a:ext cx="10837718" cy="910797"/>
          </a:xfrm>
          <a:prstGeom prst="rect">
            <a:avLst/>
          </a:prstGeom>
          <a:solidFill>
            <a:srgbClr val="3366FF"/>
          </a:solidFill>
          <a:ln>
            <a:noFill/>
          </a:ln>
        </p:spPr>
        <p:txBody>
          <a:bodyPr vert="horz" wrap="none" lIns="91440" tIns="45720" rIns="91440" bIns="45720" rtlCol="0" anchor="ctr">
            <a:normAutofit/>
          </a:bodyPr>
          <a:lstStyle/>
          <a:p>
            <a:pPr algn="ctr">
              <a:spcBef>
                <a:spcPct val="0"/>
              </a:spcBef>
            </a:pPr>
            <a:r>
              <a:rPr lang="fr-FR" sz="3200" dirty="0">
                <a:latin typeface="+mj-lt"/>
                <a:ea typeface="+mj-ea"/>
                <a:cs typeface="+mj-cs"/>
              </a:rPr>
              <a:t>Rétro-propagation du gradient</a:t>
            </a:r>
          </a:p>
        </p:txBody>
      </p:sp>
    </p:spTree>
    <p:extLst>
      <p:ext uri="{BB962C8B-B14F-4D97-AF65-F5344CB8AC3E}">
        <p14:creationId xmlns:p14="http://schemas.microsoft.com/office/powerpoint/2010/main" val="255079985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06AE51-5606-4246-9C72-66A40F31299F}" type="slidenum">
              <a:rPr lang="fr-FR" smtClean="0"/>
              <a:pPr/>
              <a:t>24</a:t>
            </a:fld>
            <a:endParaRPr lang="fr-FR"/>
          </a:p>
        </p:txBody>
      </p:sp>
      <p:pic>
        <p:nvPicPr>
          <p:cNvPr id="1945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2470" y="1178413"/>
            <a:ext cx="10253230" cy="50154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Rectangle 3"/>
          <p:cNvSpPr/>
          <p:nvPr/>
        </p:nvSpPr>
        <p:spPr>
          <a:xfrm>
            <a:off x="883227" y="0"/>
            <a:ext cx="10837718" cy="910797"/>
          </a:xfrm>
          <a:prstGeom prst="rect">
            <a:avLst/>
          </a:prstGeom>
          <a:solidFill>
            <a:srgbClr val="3366FF"/>
          </a:solidFill>
          <a:ln>
            <a:noFill/>
          </a:ln>
        </p:spPr>
        <p:txBody>
          <a:bodyPr vert="horz" wrap="none" lIns="91440" tIns="45720" rIns="91440" bIns="45720" rtlCol="0" anchor="ctr">
            <a:normAutofit/>
          </a:bodyPr>
          <a:lstStyle/>
          <a:p>
            <a:pPr algn="ctr">
              <a:spcBef>
                <a:spcPct val="0"/>
              </a:spcBef>
            </a:pPr>
            <a:r>
              <a:rPr lang="fr-FR" sz="3200" dirty="0">
                <a:latin typeface="+mj-lt"/>
                <a:ea typeface="+mj-ea"/>
                <a:cs typeface="+mj-cs"/>
              </a:rPr>
              <a:t>Rétro-propagation du gradient</a:t>
            </a:r>
          </a:p>
        </p:txBody>
      </p:sp>
    </p:spTree>
    <p:extLst>
      <p:ext uri="{BB962C8B-B14F-4D97-AF65-F5344CB8AC3E}">
        <p14:creationId xmlns:p14="http://schemas.microsoft.com/office/powerpoint/2010/main" val="120490433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06AE51-5606-4246-9C72-66A40F31299F}" type="slidenum">
              <a:rPr lang="fr-FR" smtClean="0"/>
              <a:pPr/>
              <a:t>25</a:t>
            </a:fld>
            <a:endParaRPr lang="fr-FR"/>
          </a:p>
        </p:txBody>
      </p:sp>
      <p:pic>
        <p:nvPicPr>
          <p:cNvPr id="2048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2958" y="764388"/>
            <a:ext cx="9684760" cy="53523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Rectangle 3"/>
          <p:cNvSpPr/>
          <p:nvPr/>
        </p:nvSpPr>
        <p:spPr>
          <a:xfrm>
            <a:off x="883227" y="0"/>
            <a:ext cx="10837718" cy="910797"/>
          </a:xfrm>
          <a:prstGeom prst="rect">
            <a:avLst/>
          </a:prstGeom>
          <a:solidFill>
            <a:srgbClr val="3366FF"/>
          </a:solidFill>
          <a:ln>
            <a:noFill/>
          </a:ln>
        </p:spPr>
        <p:txBody>
          <a:bodyPr vert="horz" wrap="none" lIns="91440" tIns="45720" rIns="91440" bIns="45720" rtlCol="0" anchor="ctr">
            <a:normAutofit/>
          </a:bodyPr>
          <a:lstStyle/>
          <a:p>
            <a:pPr algn="ctr">
              <a:spcBef>
                <a:spcPct val="0"/>
              </a:spcBef>
            </a:pPr>
            <a:r>
              <a:rPr lang="fr-FR" sz="3200" dirty="0">
                <a:latin typeface="+mj-lt"/>
                <a:ea typeface="+mj-ea"/>
                <a:cs typeface="+mj-cs"/>
              </a:rPr>
              <a:t>Rétro-propagation du gradient</a:t>
            </a:r>
          </a:p>
        </p:txBody>
      </p:sp>
    </p:spTree>
    <p:extLst>
      <p:ext uri="{BB962C8B-B14F-4D97-AF65-F5344CB8AC3E}">
        <p14:creationId xmlns:p14="http://schemas.microsoft.com/office/powerpoint/2010/main" val="120490433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Text Box 2">
            <a:extLst>
              <a:ext uri="{FF2B5EF4-FFF2-40B4-BE49-F238E27FC236}">
                <a16:creationId xmlns:a16="http://schemas.microsoft.com/office/drawing/2014/main" id="{C45DD32E-D693-4A2A-A329-8563C2B7C2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55788" y="574676"/>
            <a:ext cx="818515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7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3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ts val="6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ts val="5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fr-CA" altLang="fr-FR" sz="20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Exemple 2. </a:t>
            </a:r>
            <a:r>
              <a:rPr lang="fr-CA" altLang="fr-FR" sz="2000" dirty="0">
                <a:solidFill>
                  <a:schemeClr val="tx1"/>
                </a:solidFill>
                <a:latin typeface="Times New Roman" panose="02020603050405020304" pitchFamily="18" charset="0"/>
              </a:rPr>
              <a:t>Trouver les nouveaux poids du réseau de la figure ci-dessous si on présente le vecteur d’apprentissage (0,1), t=1 et </a:t>
            </a:r>
            <a:r>
              <a:rPr lang="fr-CA" altLang="fr-FR" sz="2000" dirty="0">
                <a:solidFill>
                  <a:schemeClr val="tx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=0,25.</a:t>
            </a:r>
            <a:endParaRPr lang="en-CA" altLang="fr-FR" sz="2000" dirty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54275" name="Text Box 30">
            <a:extLst>
              <a:ext uri="{FF2B5EF4-FFF2-40B4-BE49-F238E27FC236}">
                <a16:creationId xmlns:a16="http://schemas.microsoft.com/office/drawing/2014/main" id="{CBF9EB2A-1711-4E27-8454-D735E7CD0D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27726" y="1211264"/>
            <a:ext cx="29051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7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3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ts val="6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ts val="5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fr-CA" altLang="fr-FR" sz="2000" b="1">
                <a:solidFill>
                  <a:schemeClr val="tx1"/>
                </a:solidFill>
                <a:latin typeface="Times New Roman" panose="02020603050405020304" pitchFamily="18" charset="0"/>
              </a:rPr>
              <a:t>1. Net</a:t>
            </a:r>
            <a:r>
              <a:rPr lang="fr-CA" altLang="fr-FR" sz="2000">
                <a:solidFill>
                  <a:schemeClr val="tx1"/>
                </a:solidFill>
                <a:latin typeface="Times New Roman" panose="02020603050405020304" pitchFamily="18" charset="0"/>
              </a:rPr>
              <a:t> de la couche cachée</a:t>
            </a:r>
            <a:endParaRPr lang="en-CA" altLang="fr-FR" sz="20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79903" name="Text Box 31">
            <a:extLst>
              <a:ext uri="{FF2B5EF4-FFF2-40B4-BE49-F238E27FC236}">
                <a16:creationId xmlns:a16="http://schemas.microsoft.com/office/drawing/2014/main" id="{CFD20E0F-4152-4C7D-AFBB-8C639E2BF3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40464" y="1793876"/>
            <a:ext cx="3792537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7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3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ts val="6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ts val="5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fr-CA" altLang="fr-FR" sz="1600">
                <a:solidFill>
                  <a:schemeClr val="tx1"/>
                </a:solidFill>
                <a:latin typeface="Times New Roman" panose="02020603050405020304" pitchFamily="18" charset="0"/>
              </a:rPr>
              <a:t>z_in</a:t>
            </a:r>
            <a:r>
              <a:rPr lang="fr-CA" altLang="fr-FR" sz="1600" baseline="-25000">
                <a:solidFill>
                  <a:schemeClr val="tx1"/>
                </a:solidFill>
                <a:latin typeface="Times New Roman" panose="02020603050405020304" pitchFamily="18" charset="0"/>
              </a:rPr>
              <a:t>1</a:t>
            </a:r>
            <a:r>
              <a:rPr lang="fr-CA" altLang="fr-FR" sz="1600">
                <a:solidFill>
                  <a:schemeClr val="tx1"/>
                </a:solidFill>
                <a:latin typeface="Times New Roman" panose="02020603050405020304" pitchFamily="18" charset="0"/>
              </a:rPr>
              <a:t> = 0.4 + (0.0) (0.7) + (1.0) (-0.2) = 0.2 </a:t>
            </a:r>
            <a:endParaRPr lang="en-CA" altLang="fr-FR" sz="16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79904" name="Text Box 32">
            <a:extLst>
              <a:ext uri="{FF2B5EF4-FFF2-40B4-BE49-F238E27FC236}">
                <a16:creationId xmlns:a16="http://schemas.microsoft.com/office/drawing/2014/main" id="{A71D6AC5-0C6A-4F2D-8080-1B0C00F633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40464" y="2370139"/>
            <a:ext cx="3792537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7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3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ts val="6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ts val="5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fr-CA" altLang="fr-FR" sz="1600">
                <a:solidFill>
                  <a:schemeClr val="tx1"/>
                </a:solidFill>
                <a:latin typeface="Times New Roman" panose="02020603050405020304" pitchFamily="18" charset="0"/>
              </a:rPr>
              <a:t>z_in</a:t>
            </a:r>
            <a:r>
              <a:rPr lang="fr-CA" altLang="fr-FR" sz="1600" baseline="-25000">
                <a:solidFill>
                  <a:schemeClr val="tx1"/>
                </a:solidFill>
                <a:latin typeface="Times New Roman" panose="02020603050405020304" pitchFamily="18" charset="0"/>
              </a:rPr>
              <a:t>2</a:t>
            </a:r>
            <a:r>
              <a:rPr lang="fr-CA" altLang="fr-FR" sz="1600">
                <a:solidFill>
                  <a:schemeClr val="tx1"/>
                </a:solidFill>
                <a:latin typeface="Times New Roman" panose="02020603050405020304" pitchFamily="18" charset="0"/>
              </a:rPr>
              <a:t> = 0.6 + (0.0) (-0.4) + (1.0) (0.3) = 0.9 </a:t>
            </a:r>
            <a:endParaRPr lang="en-CA" altLang="fr-FR" sz="16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54278" name="Oval 34">
            <a:extLst>
              <a:ext uri="{FF2B5EF4-FFF2-40B4-BE49-F238E27FC236}">
                <a16:creationId xmlns:a16="http://schemas.microsoft.com/office/drawing/2014/main" id="{5BF9FFD7-FE71-43CC-A438-A69E1B6C82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94188" y="4159250"/>
            <a:ext cx="315912" cy="1143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ts val="7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3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ts val="6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ts val="5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fr-FR" altLang="fr-FR" sz="1800">
              <a:latin typeface="Times New Roman" panose="02020603050405020304" pitchFamily="18" charset="0"/>
            </a:endParaRPr>
          </a:p>
        </p:txBody>
      </p:sp>
      <p:sp>
        <p:nvSpPr>
          <p:cNvPr id="54279" name="Text Box 35">
            <a:extLst>
              <a:ext uri="{FF2B5EF4-FFF2-40B4-BE49-F238E27FC236}">
                <a16:creationId xmlns:a16="http://schemas.microsoft.com/office/drawing/2014/main" id="{E0926CD0-112D-4884-B98A-606683BBE0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94025" y="1638301"/>
            <a:ext cx="19939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7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3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ts val="6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ts val="5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fr-CA" altLang="fr-FR" sz="1800" b="1">
                <a:solidFill>
                  <a:schemeClr val="tx1"/>
                </a:solidFill>
                <a:latin typeface="Times New Roman" panose="02020603050405020304" pitchFamily="18" charset="0"/>
              </a:rPr>
              <a:t>Propagation avant</a:t>
            </a:r>
            <a:endParaRPr lang="en-CA" altLang="fr-FR" sz="1800" b="1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54280" name="Group 36">
            <a:extLst>
              <a:ext uri="{FF2B5EF4-FFF2-40B4-BE49-F238E27FC236}">
                <a16:creationId xmlns:a16="http://schemas.microsoft.com/office/drawing/2014/main" id="{E6423208-1B15-4123-B4E2-8CAF6367718A}"/>
              </a:ext>
            </a:extLst>
          </p:cNvPr>
          <p:cNvGrpSpPr>
            <a:grpSpLocks/>
          </p:cNvGrpSpPr>
          <p:nvPr/>
        </p:nvGrpSpPr>
        <p:grpSpPr bwMode="auto">
          <a:xfrm>
            <a:off x="1524001" y="44451"/>
            <a:ext cx="9142413" cy="365125"/>
            <a:chOff x="0" y="28"/>
            <a:chExt cx="5759" cy="230"/>
          </a:xfrm>
        </p:grpSpPr>
        <p:sp>
          <p:nvSpPr>
            <p:cNvPr id="54312" name="AutoShape 37">
              <a:extLst>
                <a:ext uri="{FF2B5EF4-FFF2-40B4-BE49-F238E27FC236}">
                  <a16:creationId xmlns:a16="http://schemas.microsoft.com/office/drawing/2014/main" id="{F3E256DC-5326-420B-9E70-F854CB7962E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28"/>
              <a:ext cx="5760" cy="231"/>
            </a:xfrm>
            <a:prstGeom prst="roundRect">
              <a:avLst>
                <a:gd name="adj" fmla="val 431"/>
              </a:avLst>
            </a:prstGeom>
            <a:solidFill>
              <a:srgbClr val="3366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ts val="788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•"/>
                <a:defRPr sz="32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ts val="688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–"/>
                <a:defRPr sz="28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ts val="588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•"/>
                <a:defRPr sz="2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ts val="488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–"/>
                <a:defRPr sz="20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ts val="488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ts val="488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ts val="488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ts val="488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ts val="488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fr-FR" altLang="fr-FR" sz="1800">
                <a:latin typeface="Times New Roman" panose="02020603050405020304" pitchFamily="18" charset="0"/>
              </a:endParaRPr>
            </a:p>
          </p:txBody>
        </p:sp>
        <p:sp>
          <p:nvSpPr>
            <p:cNvPr id="54313" name="Text Box 38">
              <a:extLst>
                <a:ext uri="{FF2B5EF4-FFF2-40B4-BE49-F238E27FC236}">
                  <a16:creationId xmlns:a16="http://schemas.microsoft.com/office/drawing/2014/main" id="{09D60887-36B6-4240-AF76-E181F5806C7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0" y="28"/>
              <a:ext cx="576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000" tIns="46800" rIns="90000" bIns="46800">
              <a:spAutoFit/>
            </a:bodyPr>
            <a:lstStyle>
              <a:lvl1pPr>
                <a:spcBef>
                  <a:spcPts val="788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•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32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ts val="688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–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8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ts val="588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•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ts val="488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–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ts val="488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ts val="488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ts val="488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ts val="488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ts val="488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96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r>
                <a:rPr lang="en-GB" altLang="fr-FR" sz="1800" dirty="0">
                  <a:solidFill>
                    <a:schemeClr val="tx1"/>
                  </a:solidFill>
                </a:rPr>
                <a:t>Intelligence </a:t>
              </a:r>
              <a:r>
                <a:rPr lang="en-GB" altLang="fr-FR" sz="1800" dirty="0" err="1">
                  <a:solidFill>
                    <a:schemeClr val="tx1"/>
                  </a:solidFill>
                </a:rPr>
                <a:t>Artificielle</a:t>
              </a:r>
              <a:r>
                <a:rPr lang="en-GB" altLang="fr-FR" sz="1800" dirty="0">
                  <a:solidFill>
                    <a:schemeClr val="tx1"/>
                  </a:solidFill>
                </a:rPr>
                <a:t> 		</a:t>
              </a:r>
              <a:r>
                <a:rPr lang="en-GB" altLang="fr-FR" sz="1800" dirty="0" err="1">
                  <a:solidFill>
                    <a:schemeClr val="tx1"/>
                  </a:solidFill>
                </a:rPr>
                <a:t>Apprentissage</a:t>
              </a:r>
              <a:r>
                <a:rPr lang="en-GB" altLang="fr-FR" sz="1800" dirty="0">
                  <a:solidFill>
                    <a:schemeClr val="tx1"/>
                  </a:solidFill>
                </a:rPr>
                <a:t>			</a:t>
              </a:r>
            </a:p>
          </p:txBody>
        </p:sp>
      </p:grpSp>
      <p:sp>
        <p:nvSpPr>
          <p:cNvPr id="54281" name="Rectangle 39">
            <a:extLst>
              <a:ext uri="{FF2B5EF4-FFF2-40B4-BE49-F238E27FC236}">
                <a16:creationId xmlns:a16="http://schemas.microsoft.com/office/drawing/2014/main" id="{5105CE59-BEAA-4F11-890D-B3D293BD93A6}"/>
              </a:ext>
            </a:extLst>
          </p:cNvPr>
          <p:cNvSpPr>
            <a:spLocks noChangeArrowheads="1"/>
          </p:cNvSpPr>
          <p:nvPr/>
        </p:nvSpPr>
        <p:spPr bwMode="auto">
          <a:xfrm rot="16200000">
            <a:off x="2051844" y="2369344"/>
            <a:ext cx="3951288" cy="3352800"/>
          </a:xfrm>
          <a:prstGeom prst="rect">
            <a:avLst/>
          </a:prstGeom>
          <a:solidFill>
            <a:srgbClr val="E2E2E2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ts val="7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3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ts val="6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ts val="5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fr-FR" altLang="fr-FR" sz="1800">
              <a:latin typeface="Times New Roman" panose="02020603050405020304" pitchFamily="18" charset="0"/>
            </a:endParaRPr>
          </a:p>
        </p:txBody>
      </p:sp>
      <p:sp>
        <p:nvSpPr>
          <p:cNvPr id="54282" name="Oval 40">
            <a:extLst>
              <a:ext uri="{FF2B5EF4-FFF2-40B4-BE49-F238E27FC236}">
                <a16:creationId xmlns:a16="http://schemas.microsoft.com/office/drawing/2014/main" id="{14675261-93C6-4632-960B-FDB7AF3FE9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44964" y="3716338"/>
            <a:ext cx="573087" cy="588962"/>
          </a:xfrm>
          <a:prstGeom prst="ellipse">
            <a:avLst/>
          </a:prstGeom>
          <a:solidFill>
            <a:srgbClr val="E2E2E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ts val="7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3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ts val="6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ts val="5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fr-CA" altLang="fr-FR" sz="1800" b="1">
                <a:solidFill>
                  <a:schemeClr val="tx1"/>
                </a:solidFill>
                <a:latin typeface="Times New Roman" panose="02020603050405020304" pitchFamily="18" charset="0"/>
              </a:rPr>
              <a:t>Z</a:t>
            </a:r>
            <a:r>
              <a:rPr lang="fr-CA" altLang="fr-FR" sz="1600" b="1" baseline="-25000">
                <a:solidFill>
                  <a:schemeClr val="tx1"/>
                </a:solidFill>
                <a:latin typeface="Times New Roman" panose="02020603050405020304" pitchFamily="18" charset="0"/>
              </a:rPr>
              <a:t>2</a:t>
            </a:r>
            <a:endParaRPr lang="en-US" altLang="fr-FR" sz="1800" b="1" baseline="-250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54283" name="Oval 41">
            <a:extLst>
              <a:ext uri="{FF2B5EF4-FFF2-40B4-BE49-F238E27FC236}">
                <a16:creationId xmlns:a16="http://schemas.microsoft.com/office/drawing/2014/main" id="{AC81E8DC-EACD-4A51-B0AE-C150380205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68663" y="3767139"/>
            <a:ext cx="576262" cy="585787"/>
          </a:xfrm>
          <a:prstGeom prst="ellipse">
            <a:avLst/>
          </a:prstGeom>
          <a:solidFill>
            <a:srgbClr val="E2E2E2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>
            <a:lvl1pPr>
              <a:spcBef>
                <a:spcPts val="7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3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ts val="6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ts val="5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fr-CA" altLang="fr-FR" sz="1800" b="1">
                <a:solidFill>
                  <a:schemeClr val="tx1"/>
                </a:solidFill>
                <a:latin typeface="Times New Roman" panose="02020603050405020304" pitchFamily="18" charset="0"/>
              </a:rPr>
              <a:t>Z</a:t>
            </a:r>
            <a:r>
              <a:rPr lang="fr-CA" altLang="fr-FR" sz="1600" b="1" baseline="-25000">
                <a:solidFill>
                  <a:schemeClr val="tx1"/>
                </a:solidFill>
                <a:latin typeface="Times New Roman" panose="02020603050405020304" pitchFamily="18" charset="0"/>
              </a:rPr>
              <a:t>1</a:t>
            </a:r>
            <a:endParaRPr lang="en-US" altLang="fr-FR" sz="1800" b="1" baseline="-250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54284" name="Oval 42">
            <a:extLst>
              <a:ext uri="{FF2B5EF4-FFF2-40B4-BE49-F238E27FC236}">
                <a16:creationId xmlns:a16="http://schemas.microsoft.com/office/drawing/2014/main" id="{46F5197E-4B63-42A1-8FF4-B4A0224A23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06825" y="2546350"/>
            <a:ext cx="477838" cy="490538"/>
          </a:xfrm>
          <a:prstGeom prst="ellipse">
            <a:avLst/>
          </a:prstGeom>
          <a:solidFill>
            <a:srgbClr val="E2E2E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ts val="7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3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ts val="6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ts val="5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fr-FR" sz="1800" b="1">
                <a:solidFill>
                  <a:schemeClr val="tx1"/>
                </a:solidFill>
                <a:latin typeface="Times New Roman" panose="02020603050405020304" pitchFamily="18" charset="0"/>
              </a:rPr>
              <a:t>Y</a:t>
            </a:r>
          </a:p>
        </p:txBody>
      </p:sp>
      <p:sp>
        <p:nvSpPr>
          <p:cNvPr id="54285" name="Oval 43">
            <a:extLst>
              <a:ext uri="{FF2B5EF4-FFF2-40B4-BE49-F238E27FC236}">
                <a16:creationId xmlns:a16="http://schemas.microsoft.com/office/drawing/2014/main" id="{9E9E1A2A-D272-4C6D-98E8-52086D1BA9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27550" y="5311775"/>
            <a:ext cx="585788" cy="585788"/>
          </a:xfrm>
          <a:prstGeom prst="ellipse">
            <a:avLst/>
          </a:prstGeom>
          <a:solidFill>
            <a:srgbClr val="E2E2E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ts val="7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3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ts val="6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ts val="5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fr-CA" altLang="fr-FR" sz="1800" b="1">
                <a:solidFill>
                  <a:schemeClr val="tx1"/>
                </a:solidFill>
                <a:latin typeface="Times New Roman" panose="02020603050405020304" pitchFamily="18" charset="0"/>
              </a:rPr>
              <a:t>X</a:t>
            </a:r>
            <a:r>
              <a:rPr lang="fr-CA" altLang="fr-FR" sz="1400" b="1" baseline="-25000">
                <a:solidFill>
                  <a:schemeClr val="tx1"/>
                </a:solidFill>
                <a:latin typeface="Times New Roman" panose="02020603050405020304" pitchFamily="18" charset="0"/>
              </a:rPr>
              <a:t>2</a:t>
            </a:r>
            <a:endParaRPr lang="en-US" altLang="fr-FR" sz="1800" b="1" baseline="-250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54286" name="Oval 44">
            <a:extLst>
              <a:ext uri="{FF2B5EF4-FFF2-40B4-BE49-F238E27FC236}">
                <a16:creationId xmlns:a16="http://schemas.microsoft.com/office/drawing/2014/main" id="{DD9EF8FC-1ECB-4181-8894-E3A95D92A9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68625" y="5311775"/>
            <a:ext cx="585788" cy="585788"/>
          </a:xfrm>
          <a:prstGeom prst="ellipse">
            <a:avLst/>
          </a:prstGeom>
          <a:solidFill>
            <a:srgbClr val="E2E2E2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>
            <a:lvl1pPr>
              <a:spcBef>
                <a:spcPts val="7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3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ts val="6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ts val="5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fr-CA" altLang="fr-FR" sz="1800" b="1">
                <a:solidFill>
                  <a:schemeClr val="tx1"/>
                </a:solidFill>
                <a:latin typeface="Times New Roman" panose="02020603050405020304" pitchFamily="18" charset="0"/>
              </a:rPr>
              <a:t>X</a:t>
            </a:r>
            <a:r>
              <a:rPr lang="fr-CA" altLang="fr-FR" sz="1400" b="1" baseline="-25000">
                <a:solidFill>
                  <a:schemeClr val="tx1"/>
                </a:solidFill>
                <a:latin typeface="Times New Roman" panose="02020603050405020304" pitchFamily="18" charset="0"/>
              </a:rPr>
              <a:t>1</a:t>
            </a:r>
            <a:endParaRPr lang="en-US" altLang="fr-FR" sz="1800" b="1" baseline="-250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cxnSp>
        <p:nvCxnSpPr>
          <p:cNvPr id="54287" name="AutoShape 45">
            <a:extLst>
              <a:ext uri="{FF2B5EF4-FFF2-40B4-BE49-F238E27FC236}">
                <a16:creationId xmlns:a16="http://schemas.microsoft.com/office/drawing/2014/main" id="{9C0A5570-1AB5-47C6-9596-BC6F7D40DD62}"/>
              </a:ext>
            </a:extLst>
          </p:cNvPr>
          <p:cNvCxnSpPr>
            <a:cxnSpLocks noChangeShapeType="1"/>
            <a:stCxn id="54286" idx="0"/>
            <a:endCxn id="54283" idx="4"/>
          </p:cNvCxnSpPr>
          <p:nvPr/>
        </p:nvCxnSpPr>
        <p:spPr bwMode="auto">
          <a:xfrm flipV="1">
            <a:off x="3262314" y="4352925"/>
            <a:ext cx="295275" cy="95885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4288" name="AutoShape 46">
            <a:extLst>
              <a:ext uri="{FF2B5EF4-FFF2-40B4-BE49-F238E27FC236}">
                <a16:creationId xmlns:a16="http://schemas.microsoft.com/office/drawing/2014/main" id="{564730D8-CCF4-4BDE-9384-48446B876D59}"/>
              </a:ext>
            </a:extLst>
          </p:cNvPr>
          <p:cNvCxnSpPr>
            <a:cxnSpLocks noChangeShapeType="1"/>
            <a:stCxn id="54286" idx="7"/>
            <a:endCxn id="54282" idx="3"/>
          </p:cNvCxnSpPr>
          <p:nvPr/>
        </p:nvCxnSpPr>
        <p:spPr bwMode="auto">
          <a:xfrm flipV="1">
            <a:off x="3468688" y="4219576"/>
            <a:ext cx="760412" cy="1177925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4289" name="AutoShape 47">
            <a:extLst>
              <a:ext uri="{FF2B5EF4-FFF2-40B4-BE49-F238E27FC236}">
                <a16:creationId xmlns:a16="http://schemas.microsoft.com/office/drawing/2014/main" id="{A87D1EBD-738F-4E03-BD4F-8A8B6E52FA6D}"/>
              </a:ext>
            </a:extLst>
          </p:cNvPr>
          <p:cNvCxnSpPr>
            <a:cxnSpLocks noChangeShapeType="1"/>
            <a:stCxn id="54283" idx="0"/>
            <a:endCxn id="54284" idx="3"/>
          </p:cNvCxnSpPr>
          <p:nvPr/>
        </p:nvCxnSpPr>
        <p:spPr bwMode="auto">
          <a:xfrm flipV="1">
            <a:off x="3557589" y="2965450"/>
            <a:ext cx="319087" cy="801688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4290" name="AutoShape 48">
            <a:extLst>
              <a:ext uri="{FF2B5EF4-FFF2-40B4-BE49-F238E27FC236}">
                <a16:creationId xmlns:a16="http://schemas.microsoft.com/office/drawing/2014/main" id="{A47853EA-16C5-4A07-A1A9-A7D62BA78D6B}"/>
              </a:ext>
            </a:extLst>
          </p:cNvPr>
          <p:cNvCxnSpPr>
            <a:cxnSpLocks noChangeShapeType="1"/>
            <a:stCxn id="54282" idx="0"/>
            <a:endCxn id="54284" idx="5"/>
          </p:cNvCxnSpPr>
          <p:nvPr/>
        </p:nvCxnSpPr>
        <p:spPr bwMode="auto">
          <a:xfrm flipH="1" flipV="1">
            <a:off x="4214814" y="2965450"/>
            <a:ext cx="217487" cy="750888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4291" name="AutoShape 49">
            <a:extLst>
              <a:ext uri="{FF2B5EF4-FFF2-40B4-BE49-F238E27FC236}">
                <a16:creationId xmlns:a16="http://schemas.microsoft.com/office/drawing/2014/main" id="{BBEC34C4-F473-4571-B678-0C20E9EEE475}"/>
              </a:ext>
            </a:extLst>
          </p:cNvPr>
          <p:cNvCxnSpPr>
            <a:cxnSpLocks noChangeShapeType="1"/>
            <a:stCxn id="54285" idx="1"/>
            <a:endCxn id="54283" idx="5"/>
          </p:cNvCxnSpPr>
          <p:nvPr/>
        </p:nvCxnSpPr>
        <p:spPr bwMode="auto">
          <a:xfrm flipH="1" flipV="1">
            <a:off x="3760789" y="4267200"/>
            <a:ext cx="852487" cy="113030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4292" name="AutoShape 50">
            <a:extLst>
              <a:ext uri="{FF2B5EF4-FFF2-40B4-BE49-F238E27FC236}">
                <a16:creationId xmlns:a16="http://schemas.microsoft.com/office/drawing/2014/main" id="{D176F252-DF22-4295-90F9-3CE053489045}"/>
              </a:ext>
            </a:extLst>
          </p:cNvPr>
          <p:cNvCxnSpPr>
            <a:cxnSpLocks noChangeShapeType="1"/>
            <a:stCxn id="54285" idx="0"/>
            <a:endCxn id="54282" idx="4"/>
          </p:cNvCxnSpPr>
          <p:nvPr/>
        </p:nvCxnSpPr>
        <p:spPr bwMode="auto">
          <a:xfrm flipH="1" flipV="1">
            <a:off x="4432300" y="4305301"/>
            <a:ext cx="388938" cy="1006475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54293" name="Oval 51">
            <a:extLst>
              <a:ext uri="{FF2B5EF4-FFF2-40B4-BE49-F238E27FC236}">
                <a16:creationId xmlns:a16="http://schemas.microsoft.com/office/drawing/2014/main" id="{1E2F91A3-548F-4BB4-9DA1-637EC6B4F4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24464" y="4876800"/>
            <a:ext cx="236537" cy="236538"/>
          </a:xfrm>
          <a:prstGeom prst="ellipse">
            <a:avLst/>
          </a:prstGeom>
          <a:solidFill>
            <a:srgbClr val="E2E2E2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ts val="7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3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ts val="6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ts val="5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fr-CA" altLang="fr-FR" sz="1800">
                <a:solidFill>
                  <a:schemeClr val="tx1"/>
                </a:solidFill>
                <a:latin typeface="Times New Roman" panose="02020603050405020304" pitchFamily="18" charset="0"/>
              </a:rPr>
              <a:t>1</a:t>
            </a:r>
            <a:endParaRPr lang="en-CA" altLang="fr-FR" sz="18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54294" name="Oval 52">
            <a:extLst>
              <a:ext uri="{FF2B5EF4-FFF2-40B4-BE49-F238E27FC236}">
                <a16:creationId xmlns:a16="http://schemas.microsoft.com/office/drawing/2014/main" id="{F43A3AAB-FBF8-4A09-9DA9-B851ED5B70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47939" y="4876800"/>
            <a:ext cx="236537" cy="236538"/>
          </a:xfrm>
          <a:prstGeom prst="ellipse">
            <a:avLst/>
          </a:prstGeom>
          <a:solidFill>
            <a:srgbClr val="E2E2E2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ts val="7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3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ts val="6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ts val="5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fr-CA" altLang="fr-FR" sz="1800">
                <a:solidFill>
                  <a:schemeClr val="tx1"/>
                </a:solidFill>
                <a:latin typeface="Times New Roman" panose="02020603050405020304" pitchFamily="18" charset="0"/>
              </a:rPr>
              <a:t>1</a:t>
            </a:r>
            <a:endParaRPr lang="en-CA" altLang="fr-FR" sz="18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54295" name="Oval 53">
            <a:extLst>
              <a:ext uri="{FF2B5EF4-FFF2-40B4-BE49-F238E27FC236}">
                <a16:creationId xmlns:a16="http://schemas.microsoft.com/office/drawing/2014/main" id="{3F136291-D629-4746-A1B8-0D6DBDCF07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40050" y="3327400"/>
            <a:ext cx="236538" cy="236538"/>
          </a:xfrm>
          <a:prstGeom prst="ellipse">
            <a:avLst/>
          </a:prstGeom>
          <a:solidFill>
            <a:srgbClr val="E2E2E2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ts val="7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3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ts val="6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ts val="5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fr-CA" altLang="fr-FR" sz="1800">
                <a:solidFill>
                  <a:schemeClr val="tx1"/>
                </a:solidFill>
                <a:latin typeface="Times New Roman" panose="02020603050405020304" pitchFamily="18" charset="0"/>
              </a:rPr>
              <a:t>1</a:t>
            </a:r>
            <a:endParaRPr lang="en-CA" altLang="fr-FR" sz="18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cxnSp>
        <p:nvCxnSpPr>
          <p:cNvPr id="54296" name="AutoShape 54">
            <a:extLst>
              <a:ext uri="{FF2B5EF4-FFF2-40B4-BE49-F238E27FC236}">
                <a16:creationId xmlns:a16="http://schemas.microsoft.com/office/drawing/2014/main" id="{510EF06A-97AA-4C90-8975-F7EE962C7A7A}"/>
              </a:ext>
            </a:extLst>
          </p:cNvPr>
          <p:cNvCxnSpPr>
            <a:cxnSpLocks noChangeShapeType="1"/>
            <a:stCxn id="54293" idx="0"/>
            <a:endCxn id="54282" idx="6"/>
          </p:cNvCxnSpPr>
          <p:nvPr/>
        </p:nvCxnSpPr>
        <p:spPr bwMode="auto">
          <a:xfrm rot="16200000" flipV="1">
            <a:off x="4598195" y="4131470"/>
            <a:ext cx="865187" cy="625475"/>
          </a:xfrm>
          <a:prstGeom prst="curvedConnector2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4297" name="AutoShape 55">
            <a:extLst>
              <a:ext uri="{FF2B5EF4-FFF2-40B4-BE49-F238E27FC236}">
                <a16:creationId xmlns:a16="http://schemas.microsoft.com/office/drawing/2014/main" id="{AC6B60C0-B30B-4518-8AFC-047E96AC5E09}"/>
              </a:ext>
            </a:extLst>
          </p:cNvPr>
          <p:cNvCxnSpPr>
            <a:cxnSpLocks noChangeShapeType="1"/>
            <a:stCxn id="54295" idx="0"/>
            <a:endCxn id="54284" idx="2"/>
          </p:cNvCxnSpPr>
          <p:nvPr/>
        </p:nvCxnSpPr>
        <p:spPr bwMode="auto">
          <a:xfrm rot="16200000">
            <a:off x="3165476" y="2686051"/>
            <a:ext cx="534987" cy="747712"/>
          </a:xfrm>
          <a:prstGeom prst="curvedConnector2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54298" name="Rectangle 56">
            <a:extLst>
              <a:ext uri="{FF2B5EF4-FFF2-40B4-BE49-F238E27FC236}">
                <a16:creationId xmlns:a16="http://schemas.microsoft.com/office/drawing/2014/main" id="{5C1CCB65-6DBE-4F2C-8527-721C654215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71850" y="3289300"/>
            <a:ext cx="744538" cy="274638"/>
          </a:xfrm>
          <a:prstGeom prst="rect">
            <a:avLst/>
          </a:prstGeom>
          <a:solidFill>
            <a:srgbClr val="E2E2E2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7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3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ts val="6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ts val="5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fr-CA" altLang="fr-FR" sz="1200">
                <a:solidFill>
                  <a:schemeClr val="tx1"/>
                </a:solidFill>
                <a:latin typeface="Times New Roman" panose="02020603050405020304" pitchFamily="18" charset="0"/>
              </a:rPr>
              <a:t>W</a:t>
            </a:r>
            <a:r>
              <a:rPr lang="fr-CA" altLang="fr-FR" sz="1200" baseline="-25000">
                <a:solidFill>
                  <a:schemeClr val="tx1"/>
                </a:solidFill>
                <a:latin typeface="Times New Roman" panose="02020603050405020304" pitchFamily="18" charset="0"/>
              </a:rPr>
              <a:t>11</a:t>
            </a:r>
            <a:r>
              <a:rPr lang="fr-CA" altLang="fr-FR" sz="1200">
                <a:solidFill>
                  <a:schemeClr val="tx1"/>
                </a:solidFill>
                <a:latin typeface="Times New Roman" panose="02020603050405020304" pitchFamily="18" charset="0"/>
              </a:rPr>
              <a:t>= 0.5</a:t>
            </a:r>
            <a:endParaRPr lang="en-CA" altLang="fr-FR" sz="1200" baseline="-250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54299" name="Rectangle 57">
            <a:extLst>
              <a:ext uri="{FF2B5EF4-FFF2-40B4-BE49-F238E27FC236}">
                <a16:creationId xmlns:a16="http://schemas.microsoft.com/office/drawing/2014/main" id="{E9490467-D247-4633-A64F-9151A52CF7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4513" y="4562475"/>
            <a:ext cx="671512" cy="274638"/>
          </a:xfrm>
          <a:prstGeom prst="rect">
            <a:avLst/>
          </a:prstGeom>
          <a:solidFill>
            <a:srgbClr val="E2E2E2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7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3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ts val="6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ts val="5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fr-CA" altLang="fr-FR" sz="1200">
                <a:solidFill>
                  <a:schemeClr val="tx1"/>
                </a:solidFill>
                <a:latin typeface="Times New Roman" panose="02020603050405020304" pitchFamily="18" charset="0"/>
              </a:rPr>
              <a:t>V</a:t>
            </a:r>
            <a:r>
              <a:rPr lang="fr-CA" altLang="fr-FR" sz="1200" baseline="-25000">
                <a:solidFill>
                  <a:schemeClr val="tx1"/>
                </a:solidFill>
                <a:latin typeface="Times New Roman" panose="02020603050405020304" pitchFamily="18" charset="0"/>
              </a:rPr>
              <a:t>11</a:t>
            </a:r>
            <a:r>
              <a:rPr lang="fr-CA" altLang="fr-FR" sz="1200">
                <a:solidFill>
                  <a:schemeClr val="tx1"/>
                </a:solidFill>
                <a:latin typeface="Times New Roman" panose="02020603050405020304" pitchFamily="18" charset="0"/>
              </a:rPr>
              <a:t>=0.7</a:t>
            </a:r>
            <a:endParaRPr lang="en-CA" altLang="fr-FR" sz="1200" baseline="-250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54300" name="Rectangle 58">
            <a:extLst>
              <a:ext uri="{FF2B5EF4-FFF2-40B4-BE49-F238E27FC236}">
                <a16:creationId xmlns:a16="http://schemas.microsoft.com/office/drawing/2014/main" id="{698AD549-8C3A-4DA6-9623-F5C5A88AAC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71851" y="4837114"/>
            <a:ext cx="722313" cy="274637"/>
          </a:xfrm>
          <a:prstGeom prst="rect">
            <a:avLst/>
          </a:prstGeom>
          <a:solidFill>
            <a:srgbClr val="E2E2E2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7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3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ts val="6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ts val="5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fr-CA" altLang="fr-FR" sz="1200">
                <a:solidFill>
                  <a:schemeClr val="tx1"/>
                </a:solidFill>
                <a:latin typeface="Times New Roman" panose="02020603050405020304" pitchFamily="18" charset="0"/>
              </a:rPr>
              <a:t>V</a:t>
            </a:r>
            <a:r>
              <a:rPr lang="fr-CA" altLang="fr-FR" sz="1200" baseline="-25000">
                <a:solidFill>
                  <a:schemeClr val="tx1"/>
                </a:solidFill>
                <a:latin typeface="Times New Roman" panose="02020603050405020304" pitchFamily="18" charset="0"/>
              </a:rPr>
              <a:t>12</a:t>
            </a:r>
            <a:r>
              <a:rPr lang="fr-CA" altLang="fr-FR" sz="1200">
                <a:solidFill>
                  <a:schemeClr val="tx1"/>
                </a:solidFill>
                <a:latin typeface="Times New Roman" panose="02020603050405020304" pitchFamily="18" charset="0"/>
              </a:rPr>
              <a:t>=-0.4</a:t>
            </a:r>
            <a:endParaRPr lang="en-CA" altLang="fr-FR" sz="1200" baseline="-250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54301" name="Rectangle 59">
            <a:extLst>
              <a:ext uri="{FF2B5EF4-FFF2-40B4-BE49-F238E27FC236}">
                <a16:creationId xmlns:a16="http://schemas.microsoft.com/office/drawing/2014/main" id="{31C68C89-4A46-45AB-8F49-6BD48EA0BF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17963" y="5057775"/>
            <a:ext cx="722312" cy="274638"/>
          </a:xfrm>
          <a:prstGeom prst="rect">
            <a:avLst/>
          </a:prstGeom>
          <a:solidFill>
            <a:srgbClr val="E2E2E2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7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3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ts val="6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ts val="5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fr-CA" altLang="fr-FR" sz="1200">
                <a:solidFill>
                  <a:schemeClr val="tx1"/>
                </a:solidFill>
                <a:latin typeface="Times New Roman" panose="02020603050405020304" pitchFamily="18" charset="0"/>
              </a:rPr>
              <a:t>V</a:t>
            </a:r>
            <a:r>
              <a:rPr lang="fr-CA" altLang="fr-FR" sz="1200" baseline="-25000">
                <a:solidFill>
                  <a:schemeClr val="tx1"/>
                </a:solidFill>
                <a:latin typeface="Times New Roman" panose="02020603050405020304" pitchFamily="18" charset="0"/>
              </a:rPr>
              <a:t>21</a:t>
            </a:r>
            <a:r>
              <a:rPr lang="fr-CA" altLang="fr-FR" sz="1200">
                <a:solidFill>
                  <a:schemeClr val="tx1"/>
                </a:solidFill>
                <a:latin typeface="Times New Roman" panose="02020603050405020304" pitchFamily="18" charset="0"/>
              </a:rPr>
              <a:t>=-0.2</a:t>
            </a:r>
            <a:endParaRPr lang="en-CA" altLang="fr-FR" sz="1200" baseline="-250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54302" name="Rectangle 60">
            <a:extLst>
              <a:ext uri="{FF2B5EF4-FFF2-40B4-BE49-F238E27FC236}">
                <a16:creationId xmlns:a16="http://schemas.microsoft.com/office/drawing/2014/main" id="{62EC5BA5-FBDD-483F-BB4B-24F2282A3D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37038" y="4562475"/>
            <a:ext cx="671512" cy="274638"/>
          </a:xfrm>
          <a:prstGeom prst="rect">
            <a:avLst/>
          </a:prstGeom>
          <a:solidFill>
            <a:srgbClr val="E2E2E2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7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3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ts val="6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ts val="5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fr-CA" altLang="fr-FR" sz="1200">
                <a:solidFill>
                  <a:schemeClr val="tx1"/>
                </a:solidFill>
                <a:latin typeface="Times New Roman" panose="02020603050405020304" pitchFamily="18" charset="0"/>
              </a:rPr>
              <a:t>V</a:t>
            </a:r>
            <a:r>
              <a:rPr lang="fr-CA" altLang="fr-FR" sz="1200" baseline="-25000">
                <a:solidFill>
                  <a:schemeClr val="tx1"/>
                </a:solidFill>
                <a:latin typeface="Times New Roman" panose="02020603050405020304" pitchFamily="18" charset="0"/>
              </a:rPr>
              <a:t>22</a:t>
            </a:r>
            <a:r>
              <a:rPr lang="fr-CA" altLang="fr-FR" sz="1200">
                <a:solidFill>
                  <a:schemeClr val="tx1"/>
                </a:solidFill>
                <a:latin typeface="Times New Roman" panose="02020603050405020304" pitchFamily="18" charset="0"/>
              </a:rPr>
              <a:t>=0.3</a:t>
            </a:r>
            <a:endParaRPr lang="en-CA" altLang="fr-FR" sz="1200" baseline="-250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54303" name="Rectangle 61">
            <a:extLst>
              <a:ext uri="{FF2B5EF4-FFF2-40B4-BE49-F238E27FC236}">
                <a16:creationId xmlns:a16="http://schemas.microsoft.com/office/drawing/2014/main" id="{85BD0DDB-B3AF-49CD-B603-CC511912D0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16400" y="3289300"/>
            <a:ext cx="744538" cy="274638"/>
          </a:xfrm>
          <a:prstGeom prst="rect">
            <a:avLst/>
          </a:prstGeom>
          <a:solidFill>
            <a:srgbClr val="E2E2E2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7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3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ts val="6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ts val="5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fr-CA" altLang="fr-FR" sz="1200">
                <a:solidFill>
                  <a:schemeClr val="tx1"/>
                </a:solidFill>
                <a:latin typeface="Times New Roman" panose="02020603050405020304" pitchFamily="18" charset="0"/>
              </a:rPr>
              <a:t>W</a:t>
            </a:r>
            <a:r>
              <a:rPr lang="fr-CA" altLang="fr-FR" sz="1200" baseline="-25000">
                <a:solidFill>
                  <a:schemeClr val="tx1"/>
                </a:solidFill>
                <a:latin typeface="Times New Roman" panose="02020603050405020304" pitchFamily="18" charset="0"/>
              </a:rPr>
              <a:t>21</a:t>
            </a:r>
            <a:r>
              <a:rPr lang="fr-CA" altLang="fr-FR" sz="1200">
                <a:solidFill>
                  <a:schemeClr val="tx1"/>
                </a:solidFill>
                <a:latin typeface="Times New Roman" panose="02020603050405020304" pitchFamily="18" charset="0"/>
              </a:rPr>
              <a:t>= 0.1</a:t>
            </a:r>
            <a:endParaRPr lang="en-CA" altLang="fr-FR" sz="1200" baseline="-250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54304" name="Rectangle 62">
            <a:extLst>
              <a:ext uri="{FF2B5EF4-FFF2-40B4-BE49-F238E27FC236}">
                <a16:creationId xmlns:a16="http://schemas.microsoft.com/office/drawing/2014/main" id="{6526101D-8CFB-4BD1-A70F-9156DA6891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68614" y="2827339"/>
            <a:ext cx="795337" cy="274637"/>
          </a:xfrm>
          <a:prstGeom prst="rect">
            <a:avLst/>
          </a:prstGeom>
          <a:solidFill>
            <a:srgbClr val="E2E2E2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7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3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ts val="6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ts val="5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fr-CA" altLang="fr-FR" sz="1200">
                <a:solidFill>
                  <a:schemeClr val="tx1"/>
                </a:solidFill>
                <a:latin typeface="Times New Roman" panose="02020603050405020304" pitchFamily="18" charset="0"/>
              </a:rPr>
              <a:t>W</a:t>
            </a:r>
            <a:r>
              <a:rPr lang="fr-CA" altLang="fr-FR" sz="1200" baseline="-25000">
                <a:solidFill>
                  <a:schemeClr val="tx1"/>
                </a:solidFill>
                <a:latin typeface="Times New Roman" panose="02020603050405020304" pitchFamily="18" charset="0"/>
              </a:rPr>
              <a:t>01</a:t>
            </a:r>
            <a:r>
              <a:rPr lang="fr-CA" altLang="fr-FR" sz="1200">
                <a:solidFill>
                  <a:schemeClr val="tx1"/>
                </a:solidFill>
                <a:latin typeface="Times New Roman" panose="02020603050405020304" pitchFamily="18" charset="0"/>
              </a:rPr>
              <a:t>= -0.3</a:t>
            </a:r>
            <a:endParaRPr lang="en-CA" altLang="fr-FR" sz="1200" baseline="-250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54305" name="Rectangle 63">
            <a:extLst>
              <a:ext uri="{FF2B5EF4-FFF2-40B4-BE49-F238E27FC236}">
                <a16:creationId xmlns:a16="http://schemas.microsoft.com/office/drawing/2014/main" id="{6F4E6434-3A06-494F-B81B-7F6665829C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84738" y="4324350"/>
            <a:ext cx="671512" cy="274638"/>
          </a:xfrm>
          <a:prstGeom prst="rect">
            <a:avLst/>
          </a:prstGeom>
          <a:solidFill>
            <a:srgbClr val="E2E2E2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7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3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ts val="6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ts val="5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fr-CA" altLang="fr-FR" sz="1200">
                <a:solidFill>
                  <a:schemeClr val="tx1"/>
                </a:solidFill>
                <a:latin typeface="Times New Roman" panose="02020603050405020304" pitchFamily="18" charset="0"/>
              </a:rPr>
              <a:t>V</a:t>
            </a:r>
            <a:r>
              <a:rPr lang="fr-CA" altLang="fr-FR" sz="1200" baseline="-25000">
                <a:solidFill>
                  <a:schemeClr val="tx1"/>
                </a:solidFill>
                <a:latin typeface="Times New Roman" panose="02020603050405020304" pitchFamily="18" charset="0"/>
              </a:rPr>
              <a:t>02</a:t>
            </a:r>
            <a:r>
              <a:rPr lang="fr-CA" altLang="fr-FR" sz="1200">
                <a:solidFill>
                  <a:schemeClr val="tx1"/>
                </a:solidFill>
                <a:latin typeface="Times New Roman" panose="02020603050405020304" pitchFamily="18" charset="0"/>
              </a:rPr>
              <a:t>=0.6</a:t>
            </a:r>
            <a:endParaRPr lang="en-CA" altLang="fr-FR" sz="1200" baseline="-250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cxnSp>
        <p:nvCxnSpPr>
          <p:cNvPr id="54306" name="AutoShape 64">
            <a:extLst>
              <a:ext uri="{FF2B5EF4-FFF2-40B4-BE49-F238E27FC236}">
                <a16:creationId xmlns:a16="http://schemas.microsoft.com/office/drawing/2014/main" id="{2F8169EB-7684-4884-B88C-93E27D3EF2A4}"/>
              </a:ext>
            </a:extLst>
          </p:cNvPr>
          <p:cNvCxnSpPr>
            <a:cxnSpLocks noChangeShapeType="1"/>
            <a:stCxn id="54294" idx="0"/>
            <a:endCxn id="54283" idx="2"/>
          </p:cNvCxnSpPr>
          <p:nvPr/>
        </p:nvCxnSpPr>
        <p:spPr bwMode="auto">
          <a:xfrm rot="16200000">
            <a:off x="2559845" y="4167982"/>
            <a:ext cx="815975" cy="601663"/>
          </a:xfrm>
          <a:prstGeom prst="curvedConnector2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54307" name="Rectangle 65">
            <a:extLst>
              <a:ext uri="{FF2B5EF4-FFF2-40B4-BE49-F238E27FC236}">
                <a16:creationId xmlns:a16="http://schemas.microsoft.com/office/drawing/2014/main" id="{CDD4DF9F-F692-40E0-86EB-F5F2D0BE95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63788" y="4287839"/>
            <a:ext cx="671512" cy="274637"/>
          </a:xfrm>
          <a:prstGeom prst="rect">
            <a:avLst/>
          </a:prstGeom>
          <a:solidFill>
            <a:srgbClr val="E2E2E2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7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3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ts val="6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ts val="5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fr-CA" altLang="fr-FR" sz="1200">
                <a:solidFill>
                  <a:schemeClr val="tx1"/>
                </a:solidFill>
                <a:latin typeface="Times New Roman" panose="02020603050405020304" pitchFamily="18" charset="0"/>
              </a:rPr>
              <a:t>V</a:t>
            </a:r>
            <a:r>
              <a:rPr lang="fr-CA" altLang="fr-FR" sz="1200" baseline="-25000">
                <a:solidFill>
                  <a:schemeClr val="tx1"/>
                </a:solidFill>
                <a:latin typeface="Times New Roman" panose="02020603050405020304" pitchFamily="18" charset="0"/>
              </a:rPr>
              <a:t>01</a:t>
            </a:r>
            <a:r>
              <a:rPr lang="fr-CA" altLang="fr-FR" sz="1200">
                <a:solidFill>
                  <a:schemeClr val="tx1"/>
                </a:solidFill>
                <a:latin typeface="Times New Roman" panose="02020603050405020304" pitchFamily="18" charset="0"/>
              </a:rPr>
              <a:t>=0.4</a:t>
            </a:r>
            <a:endParaRPr lang="en-CA" altLang="fr-FR" sz="1200" baseline="-250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54308" name="Oval 33">
            <a:extLst>
              <a:ext uri="{FF2B5EF4-FFF2-40B4-BE49-F238E27FC236}">
                <a16:creationId xmlns:a16="http://schemas.microsoft.com/office/drawing/2014/main" id="{081627E1-FC2F-4F2E-911E-1831B39D68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03601" y="4230688"/>
            <a:ext cx="315913" cy="1143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ts val="7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3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ts val="6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ts val="5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fr-FR" altLang="fr-FR" sz="1800">
              <a:latin typeface="Times New Roman" panose="02020603050405020304" pitchFamily="18" charset="0"/>
            </a:endParaRPr>
          </a:p>
        </p:txBody>
      </p:sp>
      <p:sp>
        <p:nvSpPr>
          <p:cNvPr id="54309" name="Oval 67">
            <a:extLst>
              <a:ext uri="{FF2B5EF4-FFF2-40B4-BE49-F238E27FC236}">
                <a16:creationId xmlns:a16="http://schemas.microsoft.com/office/drawing/2014/main" id="{75BE0F0F-675A-416D-995D-335731EE3C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67201" y="4230688"/>
            <a:ext cx="315913" cy="1143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ts val="7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3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ts val="6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ts val="5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fr-FR" altLang="fr-FR" sz="1800">
              <a:latin typeface="Times New Roman" panose="02020603050405020304" pitchFamily="18" charset="0"/>
            </a:endParaRPr>
          </a:p>
        </p:txBody>
      </p:sp>
      <p:sp>
        <p:nvSpPr>
          <p:cNvPr id="40" name="Text Box 31">
            <a:extLst>
              <a:ext uri="{FF2B5EF4-FFF2-40B4-BE49-F238E27FC236}">
                <a16:creationId xmlns:a16="http://schemas.microsoft.com/office/drawing/2014/main" id="{72A8B153-BAC4-4387-A79D-43C2E4ED12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62688" y="1484314"/>
            <a:ext cx="2919412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7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3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ts val="6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ts val="5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fr-CA" altLang="fr-FR" sz="1600" b="1">
                <a:solidFill>
                  <a:srgbClr val="FF0000"/>
                </a:solidFill>
                <a:latin typeface="Times New Roman" panose="02020603050405020304" pitchFamily="18" charset="0"/>
              </a:rPr>
              <a:t>z_in</a:t>
            </a:r>
            <a:r>
              <a:rPr lang="fr-CA" altLang="fr-FR" sz="1600" b="1" baseline="-25000">
                <a:solidFill>
                  <a:srgbClr val="FF0000"/>
                </a:solidFill>
                <a:latin typeface="Times New Roman" panose="02020603050405020304" pitchFamily="18" charset="0"/>
              </a:rPr>
              <a:t>1</a:t>
            </a:r>
            <a:r>
              <a:rPr lang="fr-CA" altLang="fr-FR" sz="1600" b="1">
                <a:solidFill>
                  <a:srgbClr val="FF0000"/>
                </a:solidFill>
                <a:latin typeface="Times New Roman" panose="02020603050405020304" pitchFamily="18" charset="0"/>
              </a:rPr>
              <a:t> = 1.V</a:t>
            </a:r>
            <a:r>
              <a:rPr lang="fr-CA" altLang="fr-FR" sz="1600" b="1" baseline="-25000">
                <a:solidFill>
                  <a:srgbClr val="FF0000"/>
                </a:solidFill>
                <a:latin typeface="Times New Roman" panose="02020603050405020304" pitchFamily="18" charset="0"/>
              </a:rPr>
              <a:t>01</a:t>
            </a:r>
            <a:r>
              <a:rPr lang="fr-CA" altLang="fr-FR" sz="1600" b="1">
                <a:solidFill>
                  <a:srgbClr val="FF0000"/>
                </a:solidFill>
                <a:latin typeface="Times New Roman" panose="02020603050405020304" pitchFamily="18" charset="0"/>
              </a:rPr>
              <a:t> + X</a:t>
            </a:r>
            <a:r>
              <a:rPr lang="fr-CA" altLang="fr-FR" sz="1600" b="1" baseline="-25000">
                <a:solidFill>
                  <a:srgbClr val="FF0000"/>
                </a:solidFill>
                <a:latin typeface="Times New Roman" panose="02020603050405020304" pitchFamily="18" charset="0"/>
              </a:rPr>
              <a:t>1</a:t>
            </a:r>
            <a:r>
              <a:rPr lang="fr-CA" altLang="fr-FR" sz="1600" b="1">
                <a:solidFill>
                  <a:srgbClr val="FF0000"/>
                </a:solidFill>
                <a:latin typeface="Times New Roman" panose="02020603050405020304" pitchFamily="18" charset="0"/>
              </a:rPr>
              <a:t>.V</a:t>
            </a:r>
            <a:r>
              <a:rPr lang="fr-CA" altLang="fr-FR" sz="1600" b="1" baseline="-25000">
                <a:solidFill>
                  <a:srgbClr val="FF0000"/>
                </a:solidFill>
                <a:latin typeface="Times New Roman" panose="02020603050405020304" pitchFamily="18" charset="0"/>
              </a:rPr>
              <a:t>11</a:t>
            </a:r>
            <a:r>
              <a:rPr lang="fr-CA" altLang="fr-FR" sz="1600" b="1">
                <a:solidFill>
                  <a:srgbClr val="FF0000"/>
                </a:solidFill>
                <a:latin typeface="Times New Roman" panose="02020603050405020304" pitchFamily="18" charset="0"/>
              </a:rPr>
              <a:t> + X</a:t>
            </a:r>
            <a:r>
              <a:rPr lang="fr-CA" altLang="fr-FR" sz="1600" b="1" baseline="-25000">
                <a:solidFill>
                  <a:srgbClr val="FF0000"/>
                </a:solidFill>
                <a:latin typeface="Times New Roman" panose="02020603050405020304" pitchFamily="18" charset="0"/>
              </a:rPr>
              <a:t>2</a:t>
            </a:r>
            <a:r>
              <a:rPr lang="fr-CA" altLang="fr-FR" sz="1600" b="1">
                <a:solidFill>
                  <a:srgbClr val="FF0000"/>
                </a:solidFill>
                <a:latin typeface="Times New Roman" panose="02020603050405020304" pitchFamily="18" charset="0"/>
              </a:rPr>
              <a:t>.V</a:t>
            </a:r>
            <a:r>
              <a:rPr lang="fr-CA" altLang="fr-FR" sz="1600" b="1" baseline="-25000">
                <a:solidFill>
                  <a:srgbClr val="FF0000"/>
                </a:solidFill>
                <a:latin typeface="Times New Roman" panose="02020603050405020304" pitchFamily="18" charset="0"/>
              </a:rPr>
              <a:t>21</a:t>
            </a:r>
            <a:r>
              <a:rPr lang="fr-CA" altLang="fr-FR" sz="1600" b="1">
                <a:solidFill>
                  <a:srgbClr val="FF0000"/>
                </a:solidFill>
                <a:latin typeface="Times New Roman" panose="02020603050405020304" pitchFamily="18" charset="0"/>
              </a:rPr>
              <a:t>  </a:t>
            </a:r>
            <a:endParaRPr lang="en-CA" altLang="fr-FR" sz="1600" b="1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41" name="Text Box 31">
            <a:extLst>
              <a:ext uri="{FF2B5EF4-FFF2-40B4-BE49-F238E27FC236}">
                <a16:creationId xmlns:a16="http://schemas.microsoft.com/office/drawing/2014/main" id="{4679E02E-BAF4-4FE9-AD43-70198130C5C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40464" y="2133600"/>
            <a:ext cx="2892425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7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3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ts val="6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ts val="5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fr-CA" altLang="fr-FR" sz="1600" b="1">
                <a:solidFill>
                  <a:srgbClr val="FF0000"/>
                </a:solidFill>
                <a:latin typeface="Times New Roman" panose="02020603050405020304" pitchFamily="18" charset="0"/>
              </a:rPr>
              <a:t>z_in</a:t>
            </a:r>
            <a:r>
              <a:rPr lang="fr-CA" altLang="fr-FR" sz="1600" b="1" baseline="-25000">
                <a:solidFill>
                  <a:srgbClr val="FF0000"/>
                </a:solidFill>
                <a:latin typeface="Times New Roman" panose="02020603050405020304" pitchFamily="18" charset="0"/>
              </a:rPr>
              <a:t>2</a:t>
            </a:r>
            <a:r>
              <a:rPr lang="fr-CA" altLang="fr-FR" sz="1600" b="1">
                <a:solidFill>
                  <a:srgbClr val="FF0000"/>
                </a:solidFill>
                <a:latin typeface="Times New Roman" panose="02020603050405020304" pitchFamily="18" charset="0"/>
              </a:rPr>
              <a:t> = 1.V</a:t>
            </a:r>
            <a:r>
              <a:rPr lang="fr-CA" altLang="fr-FR" sz="1600" b="1" baseline="-25000">
                <a:solidFill>
                  <a:srgbClr val="FF0000"/>
                </a:solidFill>
                <a:latin typeface="Times New Roman" panose="02020603050405020304" pitchFamily="18" charset="0"/>
              </a:rPr>
              <a:t>02</a:t>
            </a:r>
            <a:r>
              <a:rPr lang="fr-CA" altLang="fr-FR" sz="1600" b="1">
                <a:solidFill>
                  <a:srgbClr val="FF0000"/>
                </a:solidFill>
                <a:latin typeface="Times New Roman" panose="02020603050405020304" pitchFamily="18" charset="0"/>
              </a:rPr>
              <a:t> + X</a:t>
            </a:r>
            <a:r>
              <a:rPr lang="fr-CA" altLang="fr-FR" sz="1600" b="1" baseline="-25000">
                <a:solidFill>
                  <a:srgbClr val="FF0000"/>
                </a:solidFill>
                <a:latin typeface="Times New Roman" panose="02020603050405020304" pitchFamily="18" charset="0"/>
              </a:rPr>
              <a:t>1</a:t>
            </a:r>
            <a:r>
              <a:rPr lang="fr-CA" altLang="fr-FR" sz="1600" b="1">
                <a:solidFill>
                  <a:srgbClr val="FF0000"/>
                </a:solidFill>
                <a:latin typeface="Times New Roman" panose="02020603050405020304" pitchFamily="18" charset="0"/>
              </a:rPr>
              <a:t>.V</a:t>
            </a:r>
            <a:r>
              <a:rPr lang="fr-CA" altLang="fr-FR" sz="1600" b="1" baseline="-25000">
                <a:solidFill>
                  <a:srgbClr val="FF0000"/>
                </a:solidFill>
                <a:latin typeface="Times New Roman" panose="02020603050405020304" pitchFamily="18" charset="0"/>
              </a:rPr>
              <a:t>12</a:t>
            </a:r>
            <a:r>
              <a:rPr lang="fr-CA" altLang="fr-FR" sz="1600" b="1">
                <a:solidFill>
                  <a:srgbClr val="FF0000"/>
                </a:solidFill>
                <a:latin typeface="Times New Roman" panose="02020603050405020304" pitchFamily="18" charset="0"/>
              </a:rPr>
              <a:t> + X</a:t>
            </a:r>
            <a:r>
              <a:rPr lang="fr-CA" altLang="fr-FR" sz="1600" b="1" baseline="-25000">
                <a:solidFill>
                  <a:srgbClr val="FF0000"/>
                </a:solidFill>
                <a:latin typeface="Times New Roman" panose="02020603050405020304" pitchFamily="18" charset="0"/>
              </a:rPr>
              <a:t>2</a:t>
            </a:r>
            <a:r>
              <a:rPr lang="fr-CA" altLang="fr-FR" sz="1600" b="1">
                <a:solidFill>
                  <a:srgbClr val="FF0000"/>
                </a:solidFill>
                <a:latin typeface="Times New Roman" panose="02020603050405020304" pitchFamily="18" charset="0"/>
              </a:rPr>
              <a:t>.V</a:t>
            </a:r>
            <a:r>
              <a:rPr lang="fr-CA" altLang="fr-FR" sz="1600" b="1" baseline="-25000">
                <a:solidFill>
                  <a:srgbClr val="FF0000"/>
                </a:solidFill>
                <a:latin typeface="Times New Roman" panose="02020603050405020304" pitchFamily="18" charset="0"/>
              </a:rPr>
              <a:t>22</a:t>
            </a:r>
            <a:endParaRPr lang="en-CA" altLang="fr-FR" sz="1600" b="1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604C3A5-A742-4974-9A32-D5F0A268AD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06AE51-5606-4246-9C72-66A40F31299F}" type="slidenum">
              <a:rPr lang="fr-FR" smtClean="0"/>
              <a:pPr/>
              <a:t>26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33557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74464" presetClass="entr" presetSubtype="810234159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274464" presetClass="entr" presetSubtype="810234159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99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274464" presetClass="entr" presetSubtype="810234159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274464" presetClass="entr" presetSubtype="810234159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99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9903" grpId="0" autoUpdateAnimBg="0"/>
      <p:bldP spid="79904" grpId="0" autoUpdateAnimBg="0"/>
      <p:bldP spid="40" grpId="0" autoUpdateAnimBg="0"/>
      <p:bldP spid="41" grpId="0" autoUpdateAnimBg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Text Box 2">
            <a:extLst>
              <a:ext uri="{FF2B5EF4-FFF2-40B4-BE49-F238E27FC236}">
                <a16:creationId xmlns:a16="http://schemas.microsoft.com/office/drawing/2014/main" id="{3A519FAD-9880-4203-8F5B-9EBB3FC5C4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55788" y="574676"/>
            <a:ext cx="818515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7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3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ts val="6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ts val="5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fr-CA" altLang="fr-FR" sz="20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Exemple 2. </a:t>
            </a:r>
            <a:r>
              <a:rPr lang="fr-CA" altLang="fr-FR" sz="2000" dirty="0">
                <a:solidFill>
                  <a:schemeClr val="tx1"/>
                </a:solidFill>
                <a:latin typeface="Times New Roman" panose="02020603050405020304" pitchFamily="18" charset="0"/>
              </a:rPr>
              <a:t>Trouver les nouveaux poids du réseau de la figure ci-dessous si on présente le vecteur d’apprentissage (0,1). t=1 et </a:t>
            </a:r>
            <a:r>
              <a:rPr lang="fr-CA" altLang="fr-FR" sz="2000" dirty="0">
                <a:solidFill>
                  <a:schemeClr val="tx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=0,25.</a:t>
            </a:r>
            <a:endParaRPr lang="en-CA" altLang="fr-FR" sz="2000" dirty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56323" name="Rectangle 3">
            <a:extLst>
              <a:ext uri="{FF2B5EF4-FFF2-40B4-BE49-F238E27FC236}">
                <a16:creationId xmlns:a16="http://schemas.microsoft.com/office/drawing/2014/main" id="{626B9DB6-8768-46A6-B729-DE752199864F}"/>
              </a:ext>
            </a:extLst>
          </p:cNvPr>
          <p:cNvSpPr>
            <a:spLocks noChangeArrowheads="1"/>
          </p:cNvSpPr>
          <p:nvPr/>
        </p:nvSpPr>
        <p:spPr bwMode="auto">
          <a:xfrm rot="16200000">
            <a:off x="2039144" y="2337594"/>
            <a:ext cx="3951288" cy="3352800"/>
          </a:xfrm>
          <a:prstGeom prst="rect">
            <a:avLst/>
          </a:prstGeom>
          <a:solidFill>
            <a:srgbClr val="E2E2E2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ts val="7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3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ts val="6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ts val="5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fr-FR" altLang="fr-FR" sz="1800">
              <a:latin typeface="Times New Roman" panose="02020603050405020304" pitchFamily="18" charset="0"/>
            </a:endParaRPr>
          </a:p>
        </p:txBody>
      </p:sp>
      <p:sp>
        <p:nvSpPr>
          <p:cNvPr id="56324" name="Oval 4">
            <a:extLst>
              <a:ext uri="{FF2B5EF4-FFF2-40B4-BE49-F238E27FC236}">
                <a16:creationId xmlns:a16="http://schemas.microsoft.com/office/drawing/2014/main" id="{319742A5-7BD9-4408-B257-6129308FD6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79875" y="3703638"/>
            <a:ext cx="573088" cy="588962"/>
          </a:xfrm>
          <a:prstGeom prst="ellipse">
            <a:avLst/>
          </a:prstGeom>
          <a:solidFill>
            <a:srgbClr val="E2E2E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ts val="7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3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ts val="6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ts val="5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fr-CA" altLang="fr-FR" sz="1800" b="1">
                <a:solidFill>
                  <a:schemeClr val="tx1"/>
                </a:solidFill>
                <a:latin typeface="Times New Roman" panose="02020603050405020304" pitchFamily="18" charset="0"/>
              </a:rPr>
              <a:t>Z</a:t>
            </a:r>
            <a:r>
              <a:rPr lang="fr-CA" altLang="fr-FR" sz="1600" b="1" baseline="-25000">
                <a:solidFill>
                  <a:schemeClr val="tx1"/>
                </a:solidFill>
                <a:latin typeface="Times New Roman" panose="02020603050405020304" pitchFamily="18" charset="0"/>
              </a:rPr>
              <a:t>2</a:t>
            </a:r>
            <a:endParaRPr lang="en-US" altLang="fr-FR" sz="1800" b="1" baseline="-250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56325" name="Oval 5">
            <a:extLst>
              <a:ext uri="{FF2B5EF4-FFF2-40B4-BE49-F238E27FC236}">
                <a16:creationId xmlns:a16="http://schemas.microsoft.com/office/drawing/2014/main" id="{B9250AED-A24F-43E4-91BB-90F93020D7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27388" y="3735389"/>
            <a:ext cx="633412" cy="585787"/>
          </a:xfrm>
          <a:prstGeom prst="ellipse">
            <a:avLst/>
          </a:prstGeom>
          <a:solidFill>
            <a:srgbClr val="E2E2E2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>
            <a:lvl1pPr>
              <a:spcBef>
                <a:spcPts val="7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3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ts val="6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ts val="5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fr-CA" altLang="fr-FR" sz="1800" b="1">
                <a:solidFill>
                  <a:schemeClr val="tx1"/>
                </a:solidFill>
                <a:latin typeface="Times New Roman" panose="02020603050405020304" pitchFamily="18" charset="0"/>
              </a:rPr>
              <a:t>Z</a:t>
            </a:r>
            <a:r>
              <a:rPr lang="fr-CA" altLang="fr-FR" sz="1600" b="1" baseline="-25000">
                <a:solidFill>
                  <a:schemeClr val="tx1"/>
                </a:solidFill>
                <a:latin typeface="Times New Roman" panose="02020603050405020304" pitchFamily="18" charset="0"/>
              </a:rPr>
              <a:t>1</a:t>
            </a:r>
            <a:endParaRPr lang="en-US" altLang="fr-FR" sz="1800" b="1" baseline="-250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56326" name="Oval 6">
            <a:extLst>
              <a:ext uri="{FF2B5EF4-FFF2-40B4-BE49-F238E27FC236}">
                <a16:creationId xmlns:a16="http://schemas.microsoft.com/office/drawing/2014/main" id="{6A123F6B-4A94-46E2-829A-E62765F083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94125" y="2514600"/>
            <a:ext cx="477838" cy="490538"/>
          </a:xfrm>
          <a:prstGeom prst="ellipse">
            <a:avLst/>
          </a:prstGeom>
          <a:solidFill>
            <a:srgbClr val="E2E2E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ts val="7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3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ts val="6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ts val="5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fr-FR" sz="1800" b="1">
                <a:solidFill>
                  <a:schemeClr val="tx1"/>
                </a:solidFill>
                <a:latin typeface="Times New Roman" panose="02020603050405020304" pitchFamily="18" charset="0"/>
              </a:rPr>
              <a:t>Y</a:t>
            </a:r>
          </a:p>
        </p:txBody>
      </p:sp>
      <p:sp>
        <p:nvSpPr>
          <p:cNvPr id="56327" name="Oval 7">
            <a:extLst>
              <a:ext uri="{FF2B5EF4-FFF2-40B4-BE49-F238E27FC236}">
                <a16:creationId xmlns:a16="http://schemas.microsoft.com/office/drawing/2014/main" id="{812E0EE6-A9E4-4E4F-9FBF-D121CA56C1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14850" y="5280025"/>
            <a:ext cx="585788" cy="585788"/>
          </a:xfrm>
          <a:prstGeom prst="ellipse">
            <a:avLst/>
          </a:prstGeom>
          <a:solidFill>
            <a:srgbClr val="E2E2E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ts val="7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3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ts val="6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ts val="5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fr-CA" altLang="fr-FR" sz="1800" b="1">
                <a:solidFill>
                  <a:schemeClr val="tx1"/>
                </a:solidFill>
                <a:latin typeface="Times New Roman" panose="02020603050405020304" pitchFamily="18" charset="0"/>
              </a:rPr>
              <a:t>X</a:t>
            </a:r>
            <a:r>
              <a:rPr lang="fr-CA" altLang="fr-FR" sz="1400" b="1" baseline="-25000">
                <a:solidFill>
                  <a:schemeClr val="tx1"/>
                </a:solidFill>
                <a:latin typeface="Times New Roman" panose="02020603050405020304" pitchFamily="18" charset="0"/>
              </a:rPr>
              <a:t>2</a:t>
            </a:r>
            <a:endParaRPr lang="en-US" altLang="fr-FR" sz="1800" b="1" baseline="-250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56328" name="Oval 8">
            <a:extLst>
              <a:ext uri="{FF2B5EF4-FFF2-40B4-BE49-F238E27FC236}">
                <a16:creationId xmlns:a16="http://schemas.microsoft.com/office/drawing/2014/main" id="{EC55B565-DA98-4521-BDE0-D18043421B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55925" y="5280025"/>
            <a:ext cx="585788" cy="585788"/>
          </a:xfrm>
          <a:prstGeom prst="ellipse">
            <a:avLst/>
          </a:prstGeom>
          <a:solidFill>
            <a:srgbClr val="E2E2E2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>
            <a:lvl1pPr>
              <a:spcBef>
                <a:spcPts val="7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3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ts val="6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ts val="5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fr-CA" altLang="fr-FR" sz="1800" b="1">
                <a:solidFill>
                  <a:schemeClr val="tx1"/>
                </a:solidFill>
                <a:latin typeface="Times New Roman" panose="02020603050405020304" pitchFamily="18" charset="0"/>
              </a:rPr>
              <a:t>X</a:t>
            </a:r>
            <a:r>
              <a:rPr lang="fr-CA" altLang="fr-FR" sz="1400" b="1" baseline="-25000">
                <a:solidFill>
                  <a:schemeClr val="tx1"/>
                </a:solidFill>
                <a:latin typeface="Times New Roman" panose="02020603050405020304" pitchFamily="18" charset="0"/>
              </a:rPr>
              <a:t>1</a:t>
            </a:r>
            <a:endParaRPr lang="en-US" altLang="fr-FR" sz="1800" b="1" baseline="-250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cxnSp>
        <p:nvCxnSpPr>
          <p:cNvPr id="56329" name="AutoShape 9">
            <a:extLst>
              <a:ext uri="{FF2B5EF4-FFF2-40B4-BE49-F238E27FC236}">
                <a16:creationId xmlns:a16="http://schemas.microsoft.com/office/drawing/2014/main" id="{555B42FF-0888-4DBF-9B52-4E3370FD001E}"/>
              </a:ext>
            </a:extLst>
          </p:cNvPr>
          <p:cNvCxnSpPr>
            <a:cxnSpLocks noChangeShapeType="1"/>
            <a:stCxn id="56328" idx="0"/>
            <a:endCxn id="56325" idx="4"/>
          </p:cNvCxnSpPr>
          <p:nvPr/>
        </p:nvCxnSpPr>
        <p:spPr bwMode="auto">
          <a:xfrm flipV="1">
            <a:off x="3249614" y="4321175"/>
            <a:ext cx="295275" cy="95885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6330" name="AutoShape 10">
            <a:extLst>
              <a:ext uri="{FF2B5EF4-FFF2-40B4-BE49-F238E27FC236}">
                <a16:creationId xmlns:a16="http://schemas.microsoft.com/office/drawing/2014/main" id="{C02977E7-D9FB-4B76-B895-C6B8CCE5FAA3}"/>
              </a:ext>
            </a:extLst>
          </p:cNvPr>
          <p:cNvCxnSpPr>
            <a:cxnSpLocks noChangeShapeType="1"/>
            <a:stCxn id="56328" idx="7"/>
            <a:endCxn id="56324" idx="3"/>
          </p:cNvCxnSpPr>
          <p:nvPr/>
        </p:nvCxnSpPr>
        <p:spPr bwMode="auto">
          <a:xfrm flipV="1">
            <a:off x="3455989" y="4206876"/>
            <a:ext cx="708025" cy="1158875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6331" name="AutoShape 11">
            <a:extLst>
              <a:ext uri="{FF2B5EF4-FFF2-40B4-BE49-F238E27FC236}">
                <a16:creationId xmlns:a16="http://schemas.microsoft.com/office/drawing/2014/main" id="{60F78E6F-19E0-4B61-B14E-2AD82D0F5278}"/>
              </a:ext>
            </a:extLst>
          </p:cNvPr>
          <p:cNvCxnSpPr>
            <a:cxnSpLocks noChangeShapeType="1"/>
            <a:stCxn id="56325" idx="0"/>
            <a:endCxn id="56326" idx="3"/>
          </p:cNvCxnSpPr>
          <p:nvPr/>
        </p:nvCxnSpPr>
        <p:spPr bwMode="auto">
          <a:xfrm flipV="1">
            <a:off x="3544889" y="2933700"/>
            <a:ext cx="319087" cy="801688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6332" name="AutoShape 12">
            <a:extLst>
              <a:ext uri="{FF2B5EF4-FFF2-40B4-BE49-F238E27FC236}">
                <a16:creationId xmlns:a16="http://schemas.microsoft.com/office/drawing/2014/main" id="{1FC6762D-8597-4D1F-B33A-7881AEF5CFFE}"/>
              </a:ext>
            </a:extLst>
          </p:cNvPr>
          <p:cNvCxnSpPr>
            <a:cxnSpLocks noChangeShapeType="1"/>
            <a:stCxn id="56324" idx="0"/>
            <a:endCxn id="56326" idx="5"/>
          </p:cNvCxnSpPr>
          <p:nvPr/>
        </p:nvCxnSpPr>
        <p:spPr bwMode="auto">
          <a:xfrm flipH="1" flipV="1">
            <a:off x="4202113" y="2933700"/>
            <a:ext cx="163512" cy="769938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6333" name="AutoShape 13">
            <a:extLst>
              <a:ext uri="{FF2B5EF4-FFF2-40B4-BE49-F238E27FC236}">
                <a16:creationId xmlns:a16="http://schemas.microsoft.com/office/drawing/2014/main" id="{AF194D1B-AF89-4B3B-9CCD-DF7320B5B49B}"/>
              </a:ext>
            </a:extLst>
          </p:cNvPr>
          <p:cNvCxnSpPr>
            <a:cxnSpLocks noChangeShapeType="1"/>
            <a:stCxn id="56327" idx="1"/>
            <a:endCxn id="56325" idx="5"/>
          </p:cNvCxnSpPr>
          <p:nvPr/>
        </p:nvCxnSpPr>
        <p:spPr bwMode="auto">
          <a:xfrm flipH="1" flipV="1">
            <a:off x="3768725" y="4235450"/>
            <a:ext cx="831850" cy="113030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6334" name="AutoShape 14">
            <a:extLst>
              <a:ext uri="{FF2B5EF4-FFF2-40B4-BE49-F238E27FC236}">
                <a16:creationId xmlns:a16="http://schemas.microsoft.com/office/drawing/2014/main" id="{595A47DD-CEED-4FFB-B518-6D7288A796BF}"/>
              </a:ext>
            </a:extLst>
          </p:cNvPr>
          <p:cNvCxnSpPr>
            <a:cxnSpLocks noChangeShapeType="1"/>
            <a:stCxn id="56327" idx="0"/>
            <a:endCxn id="56324" idx="4"/>
          </p:cNvCxnSpPr>
          <p:nvPr/>
        </p:nvCxnSpPr>
        <p:spPr bwMode="auto">
          <a:xfrm flipH="1" flipV="1">
            <a:off x="4365626" y="4292601"/>
            <a:ext cx="442913" cy="987425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56335" name="Oval 15">
            <a:extLst>
              <a:ext uri="{FF2B5EF4-FFF2-40B4-BE49-F238E27FC236}">
                <a16:creationId xmlns:a16="http://schemas.microsoft.com/office/drawing/2014/main" id="{A9B9DB04-3EC1-4413-8CCB-CBF2901483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11764" y="4845050"/>
            <a:ext cx="236537" cy="236538"/>
          </a:xfrm>
          <a:prstGeom prst="ellipse">
            <a:avLst/>
          </a:prstGeom>
          <a:solidFill>
            <a:srgbClr val="E2E2E2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ts val="7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3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ts val="6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ts val="5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fr-CA" altLang="fr-FR" sz="1800">
                <a:solidFill>
                  <a:schemeClr val="tx1"/>
                </a:solidFill>
                <a:latin typeface="Times New Roman" panose="02020603050405020304" pitchFamily="18" charset="0"/>
              </a:rPr>
              <a:t>1</a:t>
            </a:r>
            <a:endParaRPr lang="en-CA" altLang="fr-FR" sz="18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56336" name="Oval 16">
            <a:extLst>
              <a:ext uri="{FF2B5EF4-FFF2-40B4-BE49-F238E27FC236}">
                <a16:creationId xmlns:a16="http://schemas.microsoft.com/office/drawing/2014/main" id="{173679F1-92D7-4C91-AB13-F8E2334AD4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35239" y="4845050"/>
            <a:ext cx="236537" cy="236538"/>
          </a:xfrm>
          <a:prstGeom prst="ellipse">
            <a:avLst/>
          </a:prstGeom>
          <a:solidFill>
            <a:srgbClr val="E2E2E2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ts val="7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3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ts val="6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ts val="5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fr-CA" altLang="fr-FR" sz="1800">
                <a:solidFill>
                  <a:schemeClr val="tx1"/>
                </a:solidFill>
                <a:latin typeface="Times New Roman" panose="02020603050405020304" pitchFamily="18" charset="0"/>
              </a:rPr>
              <a:t>1</a:t>
            </a:r>
            <a:endParaRPr lang="en-CA" altLang="fr-FR" sz="18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56337" name="Oval 17">
            <a:extLst>
              <a:ext uri="{FF2B5EF4-FFF2-40B4-BE49-F238E27FC236}">
                <a16:creationId xmlns:a16="http://schemas.microsoft.com/office/drawing/2014/main" id="{4DCC4C75-D8F3-4B42-A414-8E0733AF34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27350" y="3295650"/>
            <a:ext cx="236538" cy="236538"/>
          </a:xfrm>
          <a:prstGeom prst="ellipse">
            <a:avLst/>
          </a:prstGeom>
          <a:solidFill>
            <a:srgbClr val="E2E2E2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ts val="7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3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ts val="6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ts val="5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fr-CA" altLang="fr-FR" sz="1800">
                <a:solidFill>
                  <a:schemeClr val="tx1"/>
                </a:solidFill>
                <a:latin typeface="Times New Roman" panose="02020603050405020304" pitchFamily="18" charset="0"/>
              </a:rPr>
              <a:t>1</a:t>
            </a:r>
            <a:endParaRPr lang="en-CA" altLang="fr-FR" sz="18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cxnSp>
        <p:nvCxnSpPr>
          <p:cNvPr id="56338" name="AutoShape 18">
            <a:extLst>
              <a:ext uri="{FF2B5EF4-FFF2-40B4-BE49-F238E27FC236}">
                <a16:creationId xmlns:a16="http://schemas.microsoft.com/office/drawing/2014/main" id="{01A61A05-BAAD-457A-877C-F7BF71C3F769}"/>
              </a:ext>
            </a:extLst>
          </p:cNvPr>
          <p:cNvCxnSpPr>
            <a:cxnSpLocks noChangeShapeType="1"/>
            <a:stCxn id="56335" idx="0"/>
            <a:endCxn id="56324" idx="6"/>
          </p:cNvCxnSpPr>
          <p:nvPr/>
        </p:nvCxnSpPr>
        <p:spPr bwMode="auto">
          <a:xfrm rot="16200000" flipV="1">
            <a:off x="4568826" y="4083051"/>
            <a:ext cx="846137" cy="677862"/>
          </a:xfrm>
          <a:prstGeom prst="curvedConnector2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6339" name="AutoShape 19">
            <a:extLst>
              <a:ext uri="{FF2B5EF4-FFF2-40B4-BE49-F238E27FC236}">
                <a16:creationId xmlns:a16="http://schemas.microsoft.com/office/drawing/2014/main" id="{B466DBE6-115C-4D26-8A18-3FC2132C8A1B}"/>
              </a:ext>
            </a:extLst>
          </p:cNvPr>
          <p:cNvCxnSpPr>
            <a:cxnSpLocks noChangeShapeType="1"/>
            <a:stCxn id="56337" idx="0"/>
            <a:endCxn id="56326" idx="2"/>
          </p:cNvCxnSpPr>
          <p:nvPr/>
        </p:nvCxnSpPr>
        <p:spPr bwMode="auto">
          <a:xfrm rot="16200000">
            <a:off x="3152776" y="2654301"/>
            <a:ext cx="534987" cy="747712"/>
          </a:xfrm>
          <a:prstGeom prst="curvedConnector2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56340" name="Rectangle 20">
            <a:extLst>
              <a:ext uri="{FF2B5EF4-FFF2-40B4-BE49-F238E27FC236}">
                <a16:creationId xmlns:a16="http://schemas.microsoft.com/office/drawing/2014/main" id="{98F9AD74-3E10-4BA5-8D7B-51DAA89140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713" y="3257550"/>
            <a:ext cx="374650" cy="274638"/>
          </a:xfrm>
          <a:prstGeom prst="rect">
            <a:avLst/>
          </a:prstGeom>
          <a:solidFill>
            <a:srgbClr val="E2E2E2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7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3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ts val="6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ts val="5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fr-CA" altLang="fr-FR" sz="1200">
                <a:solidFill>
                  <a:schemeClr val="tx1"/>
                </a:solidFill>
                <a:latin typeface="Times New Roman" panose="02020603050405020304" pitchFamily="18" charset="0"/>
              </a:rPr>
              <a:t>0.5</a:t>
            </a:r>
            <a:endParaRPr lang="en-CA" altLang="fr-FR" sz="1200" baseline="-250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56341" name="Rectangle 21">
            <a:extLst>
              <a:ext uri="{FF2B5EF4-FFF2-40B4-BE49-F238E27FC236}">
                <a16:creationId xmlns:a16="http://schemas.microsoft.com/office/drawing/2014/main" id="{2DE4EA6F-914D-4EDF-98F9-76B7712967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49613" y="4530725"/>
            <a:ext cx="374650" cy="274638"/>
          </a:xfrm>
          <a:prstGeom prst="rect">
            <a:avLst/>
          </a:prstGeom>
          <a:solidFill>
            <a:srgbClr val="E2E2E2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7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3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ts val="6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ts val="5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fr-CA" altLang="fr-FR" sz="1200">
                <a:solidFill>
                  <a:schemeClr val="tx1"/>
                </a:solidFill>
                <a:latin typeface="Times New Roman" panose="02020603050405020304" pitchFamily="18" charset="0"/>
              </a:rPr>
              <a:t>0.7</a:t>
            </a:r>
            <a:endParaRPr lang="en-CA" altLang="fr-FR" sz="1200" baseline="-250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56342" name="Rectangle 22">
            <a:extLst>
              <a:ext uri="{FF2B5EF4-FFF2-40B4-BE49-F238E27FC236}">
                <a16:creationId xmlns:a16="http://schemas.microsoft.com/office/drawing/2014/main" id="{1E1F8AD5-7015-48EA-B6C3-5A27F07C40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65525" y="4805364"/>
            <a:ext cx="425450" cy="274637"/>
          </a:xfrm>
          <a:prstGeom prst="rect">
            <a:avLst/>
          </a:prstGeom>
          <a:solidFill>
            <a:srgbClr val="E2E2E2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7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3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ts val="6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ts val="5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fr-CA" altLang="fr-FR" sz="1200">
                <a:solidFill>
                  <a:schemeClr val="tx1"/>
                </a:solidFill>
                <a:latin typeface="Times New Roman" panose="02020603050405020304" pitchFamily="18" charset="0"/>
              </a:rPr>
              <a:t>-0.4</a:t>
            </a:r>
            <a:endParaRPr lang="en-CA" altLang="fr-FR" sz="1200" baseline="-250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56343" name="Rectangle 23">
            <a:extLst>
              <a:ext uri="{FF2B5EF4-FFF2-40B4-BE49-F238E27FC236}">
                <a16:creationId xmlns:a16="http://schemas.microsoft.com/office/drawing/2014/main" id="{0EE7D348-6F99-44E3-9415-1420625ABE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73525" y="4786314"/>
            <a:ext cx="425450" cy="274637"/>
          </a:xfrm>
          <a:prstGeom prst="rect">
            <a:avLst/>
          </a:prstGeom>
          <a:solidFill>
            <a:srgbClr val="E2E2E2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7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3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ts val="6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ts val="5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fr-CA" altLang="fr-FR" sz="1200">
                <a:solidFill>
                  <a:schemeClr val="tx1"/>
                </a:solidFill>
                <a:latin typeface="Times New Roman" panose="02020603050405020304" pitchFamily="18" charset="0"/>
              </a:rPr>
              <a:t>-0.2</a:t>
            </a:r>
            <a:endParaRPr lang="en-CA" altLang="fr-FR" sz="1200" baseline="-250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56344" name="Rectangle 24">
            <a:extLst>
              <a:ext uri="{FF2B5EF4-FFF2-40B4-BE49-F238E27FC236}">
                <a16:creationId xmlns:a16="http://schemas.microsoft.com/office/drawing/2014/main" id="{4ADEB548-55E7-4EA6-A84A-0165F28B07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9600" y="4530725"/>
            <a:ext cx="374650" cy="274638"/>
          </a:xfrm>
          <a:prstGeom prst="rect">
            <a:avLst/>
          </a:prstGeom>
          <a:solidFill>
            <a:srgbClr val="E2E2E2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7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3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ts val="6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ts val="5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fr-CA" altLang="fr-FR" sz="1200">
                <a:solidFill>
                  <a:schemeClr val="tx1"/>
                </a:solidFill>
                <a:latin typeface="Times New Roman" panose="02020603050405020304" pitchFamily="18" charset="0"/>
              </a:rPr>
              <a:t>0.3</a:t>
            </a:r>
            <a:endParaRPr lang="en-CA" altLang="fr-FR" sz="1200" baseline="-250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56345" name="Rectangle 25">
            <a:extLst>
              <a:ext uri="{FF2B5EF4-FFF2-40B4-BE49-F238E27FC236}">
                <a16:creationId xmlns:a16="http://schemas.microsoft.com/office/drawing/2014/main" id="{CB9E9307-D973-46FA-863E-33D74147EB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03700" y="3257550"/>
            <a:ext cx="374650" cy="274638"/>
          </a:xfrm>
          <a:prstGeom prst="rect">
            <a:avLst/>
          </a:prstGeom>
          <a:solidFill>
            <a:srgbClr val="E2E2E2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7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3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ts val="6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ts val="5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fr-CA" altLang="fr-FR" sz="1200">
                <a:solidFill>
                  <a:schemeClr val="tx1"/>
                </a:solidFill>
                <a:latin typeface="Times New Roman" panose="02020603050405020304" pitchFamily="18" charset="0"/>
              </a:rPr>
              <a:t>0.1</a:t>
            </a:r>
            <a:endParaRPr lang="en-CA" altLang="fr-FR" sz="1200" baseline="-250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56346" name="Rectangle 26">
            <a:extLst>
              <a:ext uri="{FF2B5EF4-FFF2-40B4-BE49-F238E27FC236}">
                <a16:creationId xmlns:a16="http://schemas.microsoft.com/office/drawing/2014/main" id="{12800745-99AA-472A-A9E2-DDF7788968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63888" y="2795589"/>
            <a:ext cx="425450" cy="274637"/>
          </a:xfrm>
          <a:prstGeom prst="rect">
            <a:avLst/>
          </a:prstGeom>
          <a:solidFill>
            <a:srgbClr val="E2E2E2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7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3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ts val="6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ts val="5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fr-CA" altLang="fr-FR" sz="1200">
                <a:solidFill>
                  <a:schemeClr val="tx1"/>
                </a:solidFill>
                <a:latin typeface="Times New Roman" panose="02020603050405020304" pitchFamily="18" charset="0"/>
              </a:rPr>
              <a:t>-0.3</a:t>
            </a:r>
            <a:endParaRPr lang="en-CA" altLang="fr-FR" sz="1200" baseline="-250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56347" name="Rectangle 27">
            <a:extLst>
              <a:ext uri="{FF2B5EF4-FFF2-40B4-BE49-F238E27FC236}">
                <a16:creationId xmlns:a16="http://schemas.microsoft.com/office/drawing/2014/main" id="{F0D65338-90AC-4C47-95B9-7F14688C4A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56188" y="4292600"/>
            <a:ext cx="374650" cy="274638"/>
          </a:xfrm>
          <a:prstGeom prst="rect">
            <a:avLst/>
          </a:prstGeom>
          <a:solidFill>
            <a:srgbClr val="E2E2E2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7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3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ts val="6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ts val="5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fr-CA" altLang="fr-FR" sz="1200">
                <a:solidFill>
                  <a:schemeClr val="tx1"/>
                </a:solidFill>
                <a:latin typeface="Times New Roman" panose="02020603050405020304" pitchFamily="18" charset="0"/>
              </a:rPr>
              <a:t>0.6</a:t>
            </a:r>
            <a:endParaRPr lang="en-CA" altLang="fr-FR" sz="1200" baseline="-250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cxnSp>
        <p:nvCxnSpPr>
          <p:cNvPr id="56348" name="AutoShape 28">
            <a:extLst>
              <a:ext uri="{FF2B5EF4-FFF2-40B4-BE49-F238E27FC236}">
                <a16:creationId xmlns:a16="http://schemas.microsoft.com/office/drawing/2014/main" id="{289204BF-D1C3-4B67-9BF1-3FE35E5068AC}"/>
              </a:ext>
            </a:extLst>
          </p:cNvPr>
          <p:cNvCxnSpPr>
            <a:cxnSpLocks noChangeShapeType="1"/>
            <a:stCxn id="56336" idx="0"/>
            <a:endCxn id="56325" idx="2"/>
          </p:cNvCxnSpPr>
          <p:nvPr/>
        </p:nvCxnSpPr>
        <p:spPr bwMode="auto">
          <a:xfrm rot="5400000" flipH="1" flipV="1">
            <a:off x="2532064" y="4149726"/>
            <a:ext cx="815975" cy="574675"/>
          </a:xfrm>
          <a:prstGeom prst="curvedConnector2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56349" name="Rectangle 29">
            <a:extLst>
              <a:ext uri="{FF2B5EF4-FFF2-40B4-BE49-F238E27FC236}">
                <a16:creationId xmlns:a16="http://schemas.microsoft.com/office/drawing/2014/main" id="{737D6AC2-BCDE-4999-923E-5078D798ED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16200" y="4256089"/>
            <a:ext cx="374650" cy="274637"/>
          </a:xfrm>
          <a:prstGeom prst="rect">
            <a:avLst/>
          </a:prstGeom>
          <a:solidFill>
            <a:srgbClr val="E2E2E2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7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3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ts val="6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ts val="5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fr-CA" altLang="fr-FR" sz="1200">
                <a:solidFill>
                  <a:schemeClr val="tx1"/>
                </a:solidFill>
                <a:latin typeface="Times New Roman" panose="02020603050405020304" pitchFamily="18" charset="0"/>
              </a:rPr>
              <a:t>0.4</a:t>
            </a:r>
            <a:endParaRPr lang="en-CA" altLang="fr-FR" sz="1200" baseline="-250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56350" name="Text Box 30">
            <a:extLst>
              <a:ext uri="{FF2B5EF4-FFF2-40B4-BE49-F238E27FC236}">
                <a16:creationId xmlns:a16="http://schemas.microsoft.com/office/drawing/2014/main" id="{6B148E8D-4175-4B5E-89A2-E5484A0343A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27725" y="2651126"/>
            <a:ext cx="2946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7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3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ts val="6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ts val="5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fr-CA" altLang="fr-FR" sz="2000" b="1">
                <a:solidFill>
                  <a:schemeClr val="tx1"/>
                </a:solidFill>
                <a:latin typeface="Times New Roman" panose="02020603050405020304" pitchFamily="18" charset="0"/>
              </a:rPr>
              <a:t>2. Out</a:t>
            </a:r>
            <a:r>
              <a:rPr lang="fr-CA" altLang="fr-FR" sz="2000">
                <a:solidFill>
                  <a:schemeClr val="tx1"/>
                </a:solidFill>
                <a:latin typeface="Times New Roman" panose="02020603050405020304" pitchFamily="18" charset="0"/>
              </a:rPr>
              <a:t> de la couche cachée</a:t>
            </a:r>
            <a:endParaRPr lang="en-CA" altLang="fr-FR" sz="20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80927" name="Text Box 31">
            <a:extLst>
              <a:ext uri="{FF2B5EF4-FFF2-40B4-BE49-F238E27FC236}">
                <a16:creationId xmlns:a16="http://schemas.microsoft.com/office/drawing/2014/main" id="{3BDA6D96-53F1-4975-B793-2331F277D1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88088" y="3111501"/>
            <a:ext cx="3306762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7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3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ts val="6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ts val="5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fr-CA" altLang="fr-FR" sz="1800">
                <a:solidFill>
                  <a:schemeClr val="tx1"/>
                </a:solidFill>
                <a:latin typeface="Times New Roman" panose="02020603050405020304" pitchFamily="18" charset="0"/>
              </a:rPr>
              <a:t>z</a:t>
            </a:r>
            <a:r>
              <a:rPr lang="fr-CA" altLang="fr-FR" sz="1800" baseline="-25000">
                <a:solidFill>
                  <a:schemeClr val="tx1"/>
                </a:solidFill>
                <a:latin typeface="Times New Roman" panose="02020603050405020304" pitchFamily="18" charset="0"/>
              </a:rPr>
              <a:t>1</a:t>
            </a:r>
            <a:r>
              <a:rPr lang="fr-CA" altLang="fr-FR" sz="1800">
                <a:solidFill>
                  <a:schemeClr val="tx1"/>
                </a:solidFill>
                <a:latin typeface="Times New Roman" panose="02020603050405020304" pitchFamily="18" charset="0"/>
              </a:rPr>
              <a:t> = 1 </a:t>
            </a:r>
            <a:r>
              <a:rPr lang="fr-CA" altLang="fr-FR" sz="18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fr-CA" altLang="fr-FR" sz="1800">
                <a:solidFill>
                  <a:schemeClr val="tx1"/>
                </a:solidFill>
                <a:latin typeface="Times New Roman" panose="02020603050405020304" pitchFamily="18" charset="0"/>
              </a:rPr>
              <a:t> (1+ exp (- z_in</a:t>
            </a:r>
            <a:r>
              <a:rPr lang="fr-CA" altLang="fr-FR" sz="1800" baseline="-25000">
                <a:solidFill>
                  <a:schemeClr val="tx1"/>
                </a:solidFill>
                <a:latin typeface="Times New Roman" panose="02020603050405020304" pitchFamily="18" charset="0"/>
              </a:rPr>
              <a:t>1</a:t>
            </a:r>
            <a:r>
              <a:rPr lang="fr-CA" altLang="fr-FR" sz="1800">
                <a:solidFill>
                  <a:schemeClr val="tx1"/>
                </a:solidFill>
                <a:latin typeface="Times New Roman" panose="02020603050405020304" pitchFamily="18" charset="0"/>
              </a:rPr>
              <a:t>)) = 0.550 </a:t>
            </a:r>
            <a:endParaRPr lang="en-CA" altLang="fr-FR" sz="18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80928" name="Text Box 32">
            <a:extLst>
              <a:ext uri="{FF2B5EF4-FFF2-40B4-BE49-F238E27FC236}">
                <a16:creationId xmlns:a16="http://schemas.microsoft.com/office/drawing/2014/main" id="{FA3966D5-1391-4516-99B6-627ADD888EA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88088" y="3541713"/>
            <a:ext cx="3840162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7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3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ts val="6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ts val="5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fr-CA" altLang="fr-FR" sz="1800">
                <a:solidFill>
                  <a:schemeClr val="tx1"/>
                </a:solidFill>
                <a:latin typeface="Times New Roman" panose="02020603050405020304" pitchFamily="18" charset="0"/>
              </a:rPr>
              <a:t>z</a:t>
            </a:r>
            <a:r>
              <a:rPr lang="fr-CA" altLang="fr-FR" sz="1800" baseline="-25000">
                <a:solidFill>
                  <a:schemeClr val="tx1"/>
                </a:solidFill>
                <a:latin typeface="Times New Roman" panose="02020603050405020304" pitchFamily="18" charset="0"/>
              </a:rPr>
              <a:t>2</a:t>
            </a:r>
            <a:r>
              <a:rPr lang="fr-CA" altLang="fr-FR" sz="1800">
                <a:solidFill>
                  <a:schemeClr val="tx1"/>
                </a:solidFill>
                <a:latin typeface="Times New Roman" panose="02020603050405020304" pitchFamily="18" charset="0"/>
              </a:rPr>
              <a:t> = 1 </a:t>
            </a:r>
            <a:r>
              <a:rPr lang="fr-CA" altLang="fr-FR" sz="18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fr-CA" altLang="fr-FR" sz="1800">
                <a:solidFill>
                  <a:schemeClr val="tx1"/>
                </a:solidFill>
                <a:latin typeface="Times New Roman" panose="02020603050405020304" pitchFamily="18" charset="0"/>
              </a:rPr>
              <a:t> (1+ exp (- z_in</a:t>
            </a:r>
            <a:r>
              <a:rPr lang="fr-CA" altLang="fr-FR" sz="1800" baseline="-25000">
                <a:solidFill>
                  <a:schemeClr val="tx1"/>
                </a:solidFill>
                <a:latin typeface="Times New Roman" panose="02020603050405020304" pitchFamily="18" charset="0"/>
              </a:rPr>
              <a:t>2</a:t>
            </a:r>
            <a:r>
              <a:rPr lang="fr-CA" altLang="fr-FR" sz="1800">
                <a:solidFill>
                  <a:schemeClr val="tx1"/>
                </a:solidFill>
                <a:latin typeface="Times New Roman" panose="02020603050405020304" pitchFamily="18" charset="0"/>
              </a:rPr>
              <a:t>)) = 0.711 </a:t>
            </a:r>
            <a:endParaRPr lang="en-CA" altLang="fr-FR" sz="18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56353" name="Oval 33">
            <a:extLst>
              <a:ext uri="{FF2B5EF4-FFF2-40B4-BE49-F238E27FC236}">
                <a16:creationId xmlns:a16="http://schemas.microsoft.com/office/drawing/2014/main" id="{8878FC66-F31D-4AF7-B126-7A89D8B56B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86138" y="3735388"/>
            <a:ext cx="315912" cy="1143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ts val="7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3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ts val="6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ts val="5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fr-FR" altLang="fr-FR" sz="1800">
              <a:latin typeface="Times New Roman" panose="02020603050405020304" pitchFamily="18" charset="0"/>
            </a:endParaRPr>
          </a:p>
        </p:txBody>
      </p:sp>
      <p:sp>
        <p:nvSpPr>
          <p:cNvPr id="56354" name="Oval 34">
            <a:extLst>
              <a:ext uri="{FF2B5EF4-FFF2-40B4-BE49-F238E27FC236}">
                <a16:creationId xmlns:a16="http://schemas.microsoft.com/office/drawing/2014/main" id="{443B34A9-8191-43A8-97D4-4CCE691A77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65613" y="3706813"/>
            <a:ext cx="315912" cy="1143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ts val="7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3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ts val="6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ts val="5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fr-FR" altLang="fr-FR" sz="1800">
              <a:latin typeface="Times New Roman" panose="02020603050405020304" pitchFamily="18" charset="0"/>
            </a:endParaRPr>
          </a:p>
        </p:txBody>
      </p:sp>
      <p:sp>
        <p:nvSpPr>
          <p:cNvPr id="56355" name="Text Box 35">
            <a:extLst>
              <a:ext uri="{FF2B5EF4-FFF2-40B4-BE49-F238E27FC236}">
                <a16:creationId xmlns:a16="http://schemas.microsoft.com/office/drawing/2014/main" id="{592B2F0D-DC6E-4944-95B3-05730154C8A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94025" y="1638301"/>
            <a:ext cx="19939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7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3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ts val="6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ts val="5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fr-CA" altLang="fr-FR" sz="1800" b="1">
                <a:solidFill>
                  <a:schemeClr val="tx1"/>
                </a:solidFill>
                <a:latin typeface="Times New Roman" panose="02020603050405020304" pitchFamily="18" charset="0"/>
              </a:rPr>
              <a:t>Propagation avant</a:t>
            </a:r>
            <a:endParaRPr lang="en-CA" altLang="fr-FR" sz="1800" b="1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56356" name="Group 36">
            <a:extLst>
              <a:ext uri="{FF2B5EF4-FFF2-40B4-BE49-F238E27FC236}">
                <a16:creationId xmlns:a16="http://schemas.microsoft.com/office/drawing/2014/main" id="{1B2339B4-4766-4726-A9CA-9A60D31B5439}"/>
              </a:ext>
            </a:extLst>
          </p:cNvPr>
          <p:cNvGrpSpPr>
            <a:grpSpLocks/>
          </p:cNvGrpSpPr>
          <p:nvPr/>
        </p:nvGrpSpPr>
        <p:grpSpPr bwMode="auto">
          <a:xfrm>
            <a:off x="1524001" y="44451"/>
            <a:ext cx="9142413" cy="365125"/>
            <a:chOff x="0" y="28"/>
            <a:chExt cx="5759" cy="230"/>
          </a:xfrm>
        </p:grpSpPr>
        <p:sp>
          <p:nvSpPr>
            <p:cNvPr id="56357" name="AutoShape 37">
              <a:extLst>
                <a:ext uri="{FF2B5EF4-FFF2-40B4-BE49-F238E27FC236}">
                  <a16:creationId xmlns:a16="http://schemas.microsoft.com/office/drawing/2014/main" id="{9CFAC2C1-530A-485B-A65A-E0ED42E0B66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28"/>
              <a:ext cx="5760" cy="231"/>
            </a:xfrm>
            <a:prstGeom prst="roundRect">
              <a:avLst>
                <a:gd name="adj" fmla="val 431"/>
              </a:avLst>
            </a:prstGeom>
            <a:solidFill>
              <a:srgbClr val="3366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ts val="788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•"/>
                <a:defRPr sz="32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ts val="688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–"/>
                <a:defRPr sz="28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ts val="588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•"/>
                <a:defRPr sz="2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ts val="488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–"/>
                <a:defRPr sz="20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ts val="488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ts val="488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ts val="488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ts val="488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ts val="488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fr-FR" altLang="fr-FR" sz="1800">
                <a:latin typeface="Times New Roman" panose="02020603050405020304" pitchFamily="18" charset="0"/>
              </a:endParaRPr>
            </a:p>
          </p:txBody>
        </p:sp>
        <p:sp>
          <p:nvSpPr>
            <p:cNvPr id="56358" name="Text Box 38">
              <a:extLst>
                <a:ext uri="{FF2B5EF4-FFF2-40B4-BE49-F238E27FC236}">
                  <a16:creationId xmlns:a16="http://schemas.microsoft.com/office/drawing/2014/main" id="{152BEEE4-1523-49BA-B690-3D68DAF7A9D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0" y="28"/>
              <a:ext cx="576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000" tIns="46800" rIns="90000" bIns="46800">
              <a:spAutoFit/>
            </a:bodyPr>
            <a:lstStyle>
              <a:lvl1pPr>
                <a:spcBef>
                  <a:spcPts val="788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•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32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ts val="688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–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8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ts val="588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•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ts val="488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–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ts val="488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ts val="488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ts val="488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ts val="488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ts val="488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96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r>
                <a:rPr lang="en-GB" altLang="fr-FR" sz="1800">
                  <a:solidFill>
                    <a:schemeClr val="tx1"/>
                  </a:solidFill>
                </a:rPr>
                <a:t>Intelligence Artificielle 		Apprentissage			</a:t>
              </a:r>
            </a:p>
          </p:txBody>
        </p:sp>
      </p:grp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A1EC601-704D-4645-B81A-2049EF0DF0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06AE51-5606-4246-9C72-66A40F31299F}" type="slidenum">
              <a:rPr lang="fr-FR" smtClean="0"/>
              <a:pPr/>
              <a:t>27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507433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74464" presetClass="entr" presetSubtype="810234159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09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274464" presetClass="entr" presetSubtype="810234159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09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0927" grpId="0" autoUpdateAnimBg="0"/>
      <p:bldP spid="80928" grpId="0" autoUpdateAnimBg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Text Box 2">
            <a:extLst>
              <a:ext uri="{FF2B5EF4-FFF2-40B4-BE49-F238E27FC236}">
                <a16:creationId xmlns:a16="http://schemas.microsoft.com/office/drawing/2014/main" id="{2878EBF3-865A-48FD-9B11-1F24AB6F90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55788" y="574676"/>
            <a:ext cx="818515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7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3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ts val="6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ts val="5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fr-CA" altLang="fr-FR" sz="20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Exemple 2. </a:t>
            </a:r>
            <a:r>
              <a:rPr lang="fr-CA" altLang="fr-FR" sz="2000" dirty="0">
                <a:solidFill>
                  <a:schemeClr val="tx1"/>
                </a:solidFill>
                <a:latin typeface="Times New Roman" panose="02020603050405020304" pitchFamily="18" charset="0"/>
              </a:rPr>
              <a:t>Trouver les nouveaux poids du réseau de la figure ci-dessous si on présente le vecteur d’apprentissage (0,1). t=1 et </a:t>
            </a:r>
            <a:r>
              <a:rPr lang="fr-CA" altLang="fr-FR" sz="2000" dirty="0">
                <a:solidFill>
                  <a:schemeClr val="tx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=0,25.</a:t>
            </a:r>
            <a:endParaRPr lang="en-CA" altLang="fr-FR" sz="2000" dirty="0">
              <a:solidFill>
                <a:schemeClr val="tx1"/>
              </a:solidFill>
              <a:latin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58371" name="Rectangle 3">
            <a:extLst>
              <a:ext uri="{FF2B5EF4-FFF2-40B4-BE49-F238E27FC236}">
                <a16:creationId xmlns:a16="http://schemas.microsoft.com/office/drawing/2014/main" id="{87B51F83-13E0-4B97-B0D2-C0F7FCCC9850}"/>
              </a:ext>
            </a:extLst>
          </p:cNvPr>
          <p:cNvSpPr>
            <a:spLocks noChangeArrowheads="1"/>
          </p:cNvSpPr>
          <p:nvPr/>
        </p:nvSpPr>
        <p:spPr bwMode="auto">
          <a:xfrm rot="16200000">
            <a:off x="2039144" y="2337594"/>
            <a:ext cx="3951288" cy="3352800"/>
          </a:xfrm>
          <a:prstGeom prst="rect">
            <a:avLst/>
          </a:prstGeom>
          <a:solidFill>
            <a:srgbClr val="E2E2E2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ts val="7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3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ts val="6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ts val="5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fr-FR" altLang="fr-FR" sz="1800">
              <a:latin typeface="Times New Roman" panose="02020603050405020304" pitchFamily="18" charset="0"/>
            </a:endParaRPr>
          </a:p>
        </p:txBody>
      </p:sp>
      <p:sp>
        <p:nvSpPr>
          <p:cNvPr id="58372" name="Oval 4">
            <a:extLst>
              <a:ext uri="{FF2B5EF4-FFF2-40B4-BE49-F238E27FC236}">
                <a16:creationId xmlns:a16="http://schemas.microsoft.com/office/drawing/2014/main" id="{50E84F83-3837-4212-8998-FECCA097DC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32264" y="3703638"/>
            <a:ext cx="573087" cy="588962"/>
          </a:xfrm>
          <a:prstGeom prst="ellipse">
            <a:avLst/>
          </a:prstGeom>
          <a:solidFill>
            <a:srgbClr val="E2E2E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ts val="7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3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ts val="6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ts val="5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fr-CA" altLang="fr-FR" sz="1800" b="1">
                <a:solidFill>
                  <a:schemeClr val="tx1"/>
                </a:solidFill>
                <a:latin typeface="Times New Roman" panose="02020603050405020304" pitchFamily="18" charset="0"/>
              </a:rPr>
              <a:t>Z</a:t>
            </a:r>
            <a:r>
              <a:rPr lang="fr-CA" altLang="fr-FR" sz="1600" b="1" baseline="-25000">
                <a:solidFill>
                  <a:schemeClr val="tx1"/>
                </a:solidFill>
                <a:latin typeface="Times New Roman" panose="02020603050405020304" pitchFamily="18" charset="0"/>
              </a:rPr>
              <a:t>2</a:t>
            </a:r>
            <a:endParaRPr lang="en-US" altLang="fr-FR" sz="1800" b="1" baseline="-250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58373" name="Oval 5">
            <a:extLst>
              <a:ext uri="{FF2B5EF4-FFF2-40B4-BE49-F238E27FC236}">
                <a16:creationId xmlns:a16="http://schemas.microsoft.com/office/drawing/2014/main" id="{AD8929D3-40AA-4F76-9217-90C63CB69A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55963" y="3735389"/>
            <a:ext cx="576262" cy="585787"/>
          </a:xfrm>
          <a:prstGeom prst="ellipse">
            <a:avLst/>
          </a:prstGeom>
          <a:solidFill>
            <a:srgbClr val="E2E2E2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>
            <a:lvl1pPr>
              <a:spcBef>
                <a:spcPts val="7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3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ts val="6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ts val="5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fr-CA" altLang="fr-FR" sz="1800" b="1">
                <a:solidFill>
                  <a:schemeClr val="tx1"/>
                </a:solidFill>
                <a:latin typeface="Times New Roman" panose="02020603050405020304" pitchFamily="18" charset="0"/>
              </a:rPr>
              <a:t>Z</a:t>
            </a:r>
            <a:r>
              <a:rPr lang="fr-CA" altLang="fr-FR" sz="1600" b="1" baseline="-25000">
                <a:solidFill>
                  <a:schemeClr val="tx1"/>
                </a:solidFill>
                <a:latin typeface="Times New Roman" panose="02020603050405020304" pitchFamily="18" charset="0"/>
              </a:rPr>
              <a:t>1</a:t>
            </a:r>
            <a:endParaRPr lang="en-US" altLang="fr-FR" sz="1800" b="1" baseline="-250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58374" name="Oval 6">
            <a:extLst>
              <a:ext uri="{FF2B5EF4-FFF2-40B4-BE49-F238E27FC236}">
                <a16:creationId xmlns:a16="http://schemas.microsoft.com/office/drawing/2014/main" id="{7C5A1290-3DE6-40B9-BFF5-F2E4DAED3A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94125" y="2514600"/>
            <a:ext cx="477838" cy="490538"/>
          </a:xfrm>
          <a:prstGeom prst="ellipse">
            <a:avLst/>
          </a:prstGeom>
          <a:solidFill>
            <a:srgbClr val="E2E2E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ts val="7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3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ts val="6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ts val="5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fr-FR" sz="1800" b="1">
                <a:solidFill>
                  <a:schemeClr val="tx1"/>
                </a:solidFill>
                <a:latin typeface="Times New Roman" panose="02020603050405020304" pitchFamily="18" charset="0"/>
              </a:rPr>
              <a:t>Y</a:t>
            </a:r>
          </a:p>
        </p:txBody>
      </p:sp>
      <p:sp>
        <p:nvSpPr>
          <p:cNvPr id="58375" name="Oval 7">
            <a:extLst>
              <a:ext uri="{FF2B5EF4-FFF2-40B4-BE49-F238E27FC236}">
                <a16:creationId xmlns:a16="http://schemas.microsoft.com/office/drawing/2014/main" id="{130805A7-F959-4645-A977-901B79FAC9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14850" y="5280025"/>
            <a:ext cx="585788" cy="585788"/>
          </a:xfrm>
          <a:prstGeom prst="ellipse">
            <a:avLst/>
          </a:prstGeom>
          <a:solidFill>
            <a:srgbClr val="E2E2E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ts val="7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3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ts val="6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ts val="5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fr-CA" altLang="fr-FR" sz="1800" b="1">
                <a:solidFill>
                  <a:schemeClr val="tx1"/>
                </a:solidFill>
                <a:latin typeface="Times New Roman" panose="02020603050405020304" pitchFamily="18" charset="0"/>
              </a:rPr>
              <a:t>X</a:t>
            </a:r>
            <a:r>
              <a:rPr lang="fr-CA" altLang="fr-FR" sz="1400" b="1" baseline="-25000">
                <a:solidFill>
                  <a:schemeClr val="tx1"/>
                </a:solidFill>
                <a:latin typeface="Times New Roman" panose="02020603050405020304" pitchFamily="18" charset="0"/>
              </a:rPr>
              <a:t>2</a:t>
            </a:r>
            <a:endParaRPr lang="en-US" altLang="fr-FR" sz="1800" b="1" baseline="-250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58376" name="Oval 8">
            <a:extLst>
              <a:ext uri="{FF2B5EF4-FFF2-40B4-BE49-F238E27FC236}">
                <a16:creationId xmlns:a16="http://schemas.microsoft.com/office/drawing/2014/main" id="{7F5E23FF-3FFE-419A-8772-28A8114A6D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55925" y="5280025"/>
            <a:ext cx="585788" cy="585788"/>
          </a:xfrm>
          <a:prstGeom prst="ellipse">
            <a:avLst/>
          </a:prstGeom>
          <a:solidFill>
            <a:srgbClr val="E2E2E2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>
            <a:lvl1pPr>
              <a:spcBef>
                <a:spcPts val="7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3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ts val="6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ts val="5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fr-CA" altLang="fr-FR" sz="1800" b="1">
                <a:solidFill>
                  <a:schemeClr val="tx1"/>
                </a:solidFill>
                <a:latin typeface="Times New Roman" panose="02020603050405020304" pitchFamily="18" charset="0"/>
              </a:rPr>
              <a:t>X</a:t>
            </a:r>
            <a:r>
              <a:rPr lang="fr-CA" altLang="fr-FR" sz="1400" b="1" baseline="-25000">
                <a:solidFill>
                  <a:schemeClr val="tx1"/>
                </a:solidFill>
                <a:latin typeface="Times New Roman" panose="02020603050405020304" pitchFamily="18" charset="0"/>
              </a:rPr>
              <a:t>1</a:t>
            </a:r>
            <a:endParaRPr lang="en-US" altLang="fr-FR" sz="1800" b="1" baseline="-250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cxnSp>
        <p:nvCxnSpPr>
          <p:cNvPr id="58377" name="AutoShape 9">
            <a:extLst>
              <a:ext uri="{FF2B5EF4-FFF2-40B4-BE49-F238E27FC236}">
                <a16:creationId xmlns:a16="http://schemas.microsoft.com/office/drawing/2014/main" id="{9DC35A8A-11C2-4313-92E3-D6053928A2B5}"/>
              </a:ext>
            </a:extLst>
          </p:cNvPr>
          <p:cNvCxnSpPr>
            <a:cxnSpLocks noChangeShapeType="1"/>
            <a:stCxn id="58376" idx="0"/>
            <a:endCxn id="58373" idx="4"/>
          </p:cNvCxnSpPr>
          <p:nvPr/>
        </p:nvCxnSpPr>
        <p:spPr bwMode="auto">
          <a:xfrm flipV="1">
            <a:off x="3249614" y="4321175"/>
            <a:ext cx="295275" cy="95885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8378" name="AutoShape 10">
            <a:extLst>
              <a:ext uri="{FF2B5EF4-FFF2-40B4-BE49-F238E27FC236}">
                <a16:creationId xmlns:a16="http://schemas.microsoft.com/office/drawing/2014/main" id="{7DDFE19E-87D7-4FDC-8A40-7A3A8CB58392}"/>
              </a:ext>
            </a:extLst>
          </p:cNvPr>
          <p:cNvCxnSpPr>
            <a:cxnSpLocks noChangeShapeType="1"/>
            <a:stCxn id="58376" idx="7"/>
            <a:endCxn id="58372" idx="3"/>
          </p:cNvCxnSpPr>
          <p:nvPr/>
        </p:nvCxnSpPr>
        <p:spPr bwMode="auto">
          <a:xfrm flipV="1">
            <a:off x="3455988" y="4206876"/>
            <a:ext cx="760412" cy="1158875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8379" name="AutoShape 11">
            <a:extLst>
              <a:ext uri="{FF2B5EF4-FFF2-40B4-BE49-F238E27FC236}">
                <a16:creationId xmlns:a16="http://schemas.microsoft.com/office/drawing/2014/main" id="{4333E2FD-1B70-4E9B-9A47-71CF6B5D751D}"/>
              </a:ext>
            </a:extLst>
          </p:cNvPr>
          <p:cNvCxnSpPr>
            <a:cxnSpLocks noChangeShapeType="1"/>
            <a:stCxn id="58373" idx="0"/>
            <a:endCxn id="58374" idx="3"/>
          </p:cNvCxnSpPr>
          <p:nvPr/>
        </p:nvCxnSpPr>
        <p:spPr bwMode="auto">
          <a:xfrm flipV="1">
            <a:off x="3544889" y="2933700"/>
            <a:ext cx="319087" cy="801688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8380" name="AutoShape 12">
            <a:extLst>
              <a:ext uri="{FF2B5EF4-FFF2-40B4-BE49-F238E27FC236}">
                <a16:creationId xmlns:a16="http://schemas.microsoft.com/office/drawing/2014/main" id="{3D53C678-2153-44A1-9076-A93F8E9E92C8}"/>
              </a:ext>
            </a:extLst>
          </p:cNvPr>
          <p:cNvCxnSpPr>
            <a:cxnSpLocks noChangeShapeType="1"/>
            <a:stCxn id="58372" idx="0"/>
            <a:endCxn id="58374" idx="5"/>
          </p:cNvCxnSpPr>
          <p:nvPr/>
        </p:nvCxnSpPr>
        <p:spPr bwMode="auto">
          <a:xfrm flipH="1" flipV="1">
            <a:off x="4202114" y="2933700"/>
            <a:ext cx="217487" cy="769938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8381" name="AutoShape 13">
            <a:extLst>
              <a:ext uri="{FF2B5EF4-FFF2-40B4-BE49-F238E27FC236}">
                <a16:creationId xmlns:a16="http://schemas.microsoft.com/office/drawing/2014/main" id="{578C9E37-5494-40E6-9B83-CBBA2F0B3882}"/>
              </a:ext>
            </a:extLst>
          </p:cNvPr>
          <p:cNvCxnSpPr>
            <a:cxnSpLocks noChangeShapeType="1"/>
            <a:stCxn id="58375" idx="1"/>
            <a:endCxn id="58373" idx="5"/>
          </p:cNvCxnSpPr>
          <p:nvPr/>
        </p:nvCxnSpPr>
        <p:spPr bwMode="auto">
          <a:xfrm flipH="1" flipV="1">
            <a:off x="3748089" y="4235450"/>
            <a:ext cx="852487" cy="113030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8382" name="AutoShape 14">
            <a:extLst>
              <a:ext uri="{FF2B5EF4-FFF2-40B4-BE49-F238E27FC236}">
                <a16:creationId xmlns:a16="http://schemas.microsoft.com/office/drawing/2014/main" id="{ACF2789E-6400-4D75-BEA3-0C4A756A48B2}"/>
              </a:ext>
            </a:extLst>
          </p:cNvPr>
          <p:cNvCxnSpPr>
            <a:cxnSpLocks noChangeShapeType="1"/>
            <a:stCxn id="58375" idx="0"/>
            <a:endCxn id="58372" idx="4"/>
          </p:cNvCxnSpPr>
          <p:nvPr/>
        </p:nvCxnSpPr>
        <p:spPr bwMode="auto">
          <a:xfrm flipH="1" flipV="1">
            <a:off x="4419600" y="4292601"/>
            <a:ext cx="388938" cy="987425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58383" name="Oval 15">
            <a:extLst>
              <a:ext uri="{FF2B5EF4-FFF2-40B4-BE49-F238E27FC236}">
                <a16:creationId xmlns:a16="http://schemas.microsoft.com/office/drawing/2014/main" id="{952EBCA0-C469-435F-B45A-2BBD9F7C69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11764" y="4845050"/>
            <a:ext cx="236537" cy="236538"/>
          </a:xfrm>
          <a:prstGeom prst="ellipse">
            <a:avLst/>
          </a:prstGeom>
          <a:solidFill>
            <a:srgbClr val="E2E2E2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ts val="7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3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ts val="6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ts val="5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fr-CA" altLang="fr-FR" sz="1800">
                <a:solidFill>
                  <a:schemeClr val="tx1"/>
                </a:solidFill>
                <a:latin typeface="Times New Roman" panose="02020603050405020304" pitchFamily="18" charset="0"/>
              </a:rPr>
              <a:t>1</a:t>
            </a:r>
            <a:endParaRPr lang="en-CA" altLang="fr-FR" sz="18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58384" name="Oval 16">
            <a:extLst>
              <a:ext uri="{FF2B5EF4-FFF2-40B4-BE49-F238E27FC236}">
                <a16:creationId xmlns:a16="http://schemas.microsoft.com/office/drawing/2014/main" id="{5FEBD88A-BB6C-4B67-9383-EA92B6CDFB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35239" y="4845050"/>
            <a:ext cx="236537" cy="236538"/>
          </a:xfrm>
          <a:prstGeom prst="ellipse">
            <a:avLst/>
          </a:prstGeom>
          <a:solidFill>
            <a:srgbClr val="E2E2E2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ts val="7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3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ts val="6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ts val="5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fr-CA" altLang="fr-FR" sz="1800">
                <a:solidFill>
                  <a:schemeClr val="tx1"/>
                </a:solidFill>
                <a:latin typeface="Times New Roman" panose="02020603050405020304" pitchFamily="18" charset="0"/>
              </a:rPr>
              <a:t>1</a:t>
            </a:r>
            <a:endParaRPr lang="en-CA" altLang="fr-FR" sz="18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58385" name="Oval 17">
            <a:extLst>
              <a:ext uri="{FF2B5EF4-FFF2-40B4-BE49-F238E27FC236}">
                <a16:creationId xmlns:a16="http://schemas.microsoft.com/office/drawing/2014/main" id="{B3E5E57B-F780-44F4-9497-7FA4E5139D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27350" y="3295650"/>
            <a:ext cx="236538" cy="236538"/>
          </a:xfrm>
          <a:prstGeom prst="ellipse">
            <a:avLst/>
          </a:prstGeom>
          <a:solidFill>
            <a:srgbClr val="E2E2E2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ts val="7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3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ts val="6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ts val="5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fr-CA" altLang="fr-FR" sz="1800">
                <a:solidFill>
                  <a:schemeClr val="tx1"/>
                </a:solidFill>
                <a:latin typeface="Times New Roman" panose="02020603050405020304" pitchFamily="18" charset="0"/>
              </a:rPr>
              <a:t>1</a:t>
            </a:r>
            <a:endParaRPr lang="en-CA" altLang="fr-FR" sz="18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cxnSp>
        <p:nvCxnSpPr>
          <p:cNvPr id="58386" name="AutoShape 18">
            <a:extLst>
              <a:ext uri="{FF2B5EF4-FFF2-40B4-BE49-F238E27FC236}">
                <a16:creationId xmlns:a16="http://schemas.microsoft.com/office/drawing/2014/main" id="{179C4091-B89D-447D-972E-B15A83D7D419}"/>
              </a:ext>
            </a:extLst>
          </p:cNvPr>
          <p:cNvCxnSpPr>
            <a:cxnSpLocks noChangeShapeType="1"/>
            <a:stCxn id="58383" idx="0"/>
            <a:endCxn id="58372" idx="6"/>
          </p:cNvCxnSpPr>
          <p:nvPr/>
        </p:nvCxnSpPr>
        <p:spPr bwMode="auto">
          <a:xfrm rot="5400000" flipH="1">
            <a:off x="4595020" y="4109245"/>
            <a:ext cx="846137" cy="625475"/>
          </a:xfrm>
          <a:prstGeom prst="curvedConnector2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8387" name="AutoShape 19">
            <a:extLst>
              <a:ext uri="{FF2B5EF4-FFF2-40B4-BE49-F238E27FC236}">
                <a16:creationId xmlns:a16="http://schemas.microsoft.com/office/drawing/2014/main" id="{B600C321-29CD-4791-9A7B-2E905D7D48ED}"/>
              </a:ext>
            </a:extLst>
          </p:cNvPr>
          <p:cNvCxnSpPr>
            <a:cxnSpLocks noChangeShapeType="1"/>
            <a:stCxn id="58385" idx="0"/>
            <a:endCxn id="58374" idx="2"/>
          </p:cNvCxnSpPr>
          <p:nvPr/>
        </p:nvCxnSpPr>
        <p:spPr bwMode="auto">
          <a:xfrm rot="16200000">
            <a:off x="3152776" y="2654301"/>
            <a:ext cx="534987" cy="747712"/>
          </a:xfrm>
          <a:prstGeom prst="curvedConnector2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58388" name="Rectangle 20">
            <a:extLst>
              <a:ext uri="{FF2B5EF4-FFF2-40B4-BE49-F238E27FC236}">
                <a16:creationId xmlns:a16="http://schemas.microsoft.com/office/drawing/2014/main" id="{8F97F727-7881-41B6-ABD8-F7A32E95D1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59150" y="3257550"/>
            <a:ext cx="744538" cy="274638"/>
          </a:xfrm>
          <a:prstGeom prst="rect">
            <a:avLst/>
          </a:prstGeom>
          <a:solidFill>
            <a:srgbClr val="E2E2E2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7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3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ts val="6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ts val="5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fr-CA" altLang="fr-FR" sz="1200">
                <a:solidFill>
                  <a:schemeClr val="tx1"/>
                </a:solidFill>
                <a:latin typeface="Times New Roman" panose="02020603050405020304" pitchFamily="18" charset="0"/>
              </a:rPr>
              <a:t>W</a:t>
            </a:r>
            <a:r>
              <a:rPr lang="fr-CA" altLang="fr-FR" sz="1200" baseline="-25000">
                <a:solidFill>
                  <a:schemeClr val="tx1"/>
                </a:solidFill>
                <a:latin typeface="Times New Roman" panose="02020603050405020304" pitchFamily="18" charset="0"/>
              </a:rPr>
              <a:t>11</a:t>
            </a:r>
            <a:r>
              <a:rPr lang="fr-CA" altLang="fr-FR" sz="1200">
                <a:solidFill>
                  <a:schemeClr val="tx1"/>
                </a:solidFill>
                <a:latin typeface="Times New Roman" panose="02020603050405020304" pitchFamily="18" charset="0"/>
              </a:rPr>
              <a:t>= 0.5</a:t>
            </a:r>
            <a:endParaRPr lang="en-CA" altLang="fr-FR" sz="1200" baseline="-250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58389" name="Rectangle 21">
            <a:extLst>
              <a:ext uri="{FF2B5EF4-FFF2-40B4-BE49-F238E27FC236}">
                <a16:creationId xmlns:a16="http://schemas.microsoft.com/office/drawing/2014/main" id="{5B0B870E-8536-45FB-A1A9-F7EC605D34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71813" y="4530725"/>
            <a:ext cx="671512" cy="274638"/>
          </a:xfrm>
          <a:prstGeom prst="rect">
            <a:avLst/>
          </a:prstGeom>
          <a:solidFill>
            <a:srgbClr val="E2E2E2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7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3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ts val="6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ts val="5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fr-CA" altLang="fr-FR" sz="1200">
                <a:solidFill>
                  <a:schemeClr val="tx1"/>
                </a:solidFill>
                <a:latin typeface="Times New Roman" panose="02020603050405020304" pitchFamily="18" charset="0"/>
              </a:rPr>
              <a:t>V</a:t>
            </a:r>
            <a:r>
              <a:rPr lang="fr-CA" altLang="fr-FR" sz="1200" baseline="-25000">
                <a:solidFill>
                  <a:schemeClr val="tx1"/>
                </a:solidFill>
                <a:latin typeface="Times New Roman" panose="02020603050405020304" pitchFamily="18" charset="0"/>
              </a:rPr>
              <a:t>11</a:t>
            </a:r>
            <a:r>
              <a:rPr lang="fr-CA" altLang="fr-FR" sz="1200">
                <a:solidFill>
                  <a:schemeClr val="tx1"/>
                </a:solidFill>
                <a:latin typeface="Times New Roman" panose="02020603050405020304" pitchFamily="18" charset="0"/>
              </a:rPr>
              <a:t>=0.7</a:t>
            </a:r>
            <a:endParaRPr lang="en-CA" altLang="fr-FR" sz="1200" baseline="-250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58390" name="Rectangle 22">
            <a:extLst>
              <a:ext uri="{FF2B5EF4-FFF2-40B4-BE49-F238E27FC236}">
                <a16:creationId xmlns:a16="http://schemas.microsoft.com/office/drawing/2014/main" id="{0554A1A4-22E4-4E7C-8409-3E9203959F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59151" y="4805364"/>
            <a:ext cx="722313" cy="274637"/>
          </a:xfrm>
          <a:prstGeom prst="rect">
            <a:avLst/>
          </a:prstGeom>
          <a:solidFill>
            <a:srgbClr val="E2E2E2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7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3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ts val="6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ts val="5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fr-CA" altLang="fr-FR" sz="1200">
                <a:solidFill>
                  <a:schemeClr val="tx1"/>
                </a:solidFill>
                <a:latin typeface="Times New Roman" panose="02020603050405020304" pitchFamily="18" charset="0"/>
              </a:rPr>
              <a:t>V</a:t>
            </a:r>
            <a:r>
              <a:rPr lang="fr-CA" altLang="fr-FR" sz="1200" baseline="-25000">
                <a:solidFill>
                  <a:schemeClr val="tx1"/>
                </a:solidFill>
                <a:latin typeface="Times New Roman" panose="02020603050405020304" pitchFamily="18" charset="0"/>
              </a:rPr>
              <a:t>12</a:t>
            </a:r>
            <a:r>
              <a:rPr lang="fr-CA" altLang="fr-FR" sz="1200">
                <a:solidFill>
                  <a:schemeClr val="tx1"/>
                </a:solidFill>
                <a:latin typeface="Times New Roman" panose="02020603050405020304" pitchFamily="18" charset="0"/>
              </a:rPr>
              <a:t>=-0.4</a:t>
            </a:r>
            <a:endParaRPr lang="en-CA" altLang="fr-FR" sz="1200" baseline="-250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58391" name="Rectangle 23">
            <a:extLst>
              <a:ext uri="{FF2B5EF4-FFF2-40B4-BE49-F238E27FC236}">
                <a16:creationId xmlns:a16="http://schemas.microsoft.com/office/drawing/2014/main" id="{7570DC8A-145A-42BD-9375-FEA052931D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05263" y="5026025"/>
            <a:ext cx="722312" cy="274638"/>
          </a:xfrm>
          <a:prstGeom prst="rect">
            <a:avLst/>
          </a:prstGeom>
          <a:solidFill>
            <a:srgbClr val="E2E2E2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7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3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ts val="6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ts val="5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fr-CA" altLang="fr-FR" sz="1200">
                <a:solidFill>
                  <a:schemeClr val="tx1"/>
                </a:solidFill>
                <a:latin typeface="Times New Roman" panose="02020603050405020304" pitchFamily="18" charset="0"/>
              </a:rPr>
              <a:t>V</a:t>
            </a:r>
            <a:r>
              <a:rPr lang="fr-CA" altLang="fr-FR" sz="1200" baseline="-25000">
                <a:solidFill>
                  <a:schemeClr val="tx1"/>
                </a:solidFill>
                <a:latin typeface="Times New Roman" panose="02020603050405020304" pitchFamily="18" charset="0"/>
              </a:rPr>
              <a:t>21</a:t>
            </a:r>
            <a:r>
              <a:rPr lang="fr-CA" altLang="fr-FR" sz="1200">
                <a:solidFill>
                  <a:schemeClr val="tx1"/>
                </a:solidFill>
                <a:latin typeface="Times New Roman" panose="02020603050405020304" pitchFamily="18" charset="0"/>
              </a:rPr>
              <a:t>=-0.2</a:t>
            </a:r>
            <a:endParaRPr lang="en-CA" altLang="fr-FR" sz="1200" baseline="-250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58392" name="Rectangle 24">
            <a:extLst>
              <a:ext uri="{FF2B5EF4-FFF2-40B4-BE49-F238E27FC236}">
                <a16:creationId xmlns:a16="http://schemas.microsoft.com/office/drawing/2014/main" id="{1F7EE654-6D91-4E9B-855D-3854C2E6EF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24338" y="4530725"/>
            <a:ext cx="671512" cy="274638"/>
          </a:xfrm>
          <a:prstGeom prst="rect">
            <a:avLst/>
          </a:prstGeom>
          <a:solidFill>
            <a:srgbClr val="E2E2E2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7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3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ts val="6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ts val="5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fr-CA" altLang="fr-FR" sz="1200">
                <a:solidFill>
                  <a:schemeClr val="tx1"/>
                </a:solidFill>
                <a:latin typeface="Times New Roman" panose="02020603050405020304" pitchFamily="18" charset="0"/>
              </a:rPr>
              <a:t>V</a:t>
            </a:r>
            <a:r>
              <a:rPr lang="fr-CA" altLang="fr-FR" sz="1200" baseline="-25000">
                <a:solidFill>
                  <a:schemeClr val="tx1"/>
                </a:solidFill>
                <a:latin typeface="Times New Roman" panose="02020603050405020304" pitchFamily="18" charset="0"/>
              </a:rPr>
              <a:t>22</a:t>
            </a:r>
            <a:r>
              <a:rPr lang="fr-CA" altLang="fr-FR" sz="1200">
                <a:solidFill>
                  <a:schemeClr val="tx1"/>
                </a:solidFill>
                <a:latin typeface="Times New Roman" panose="02020603050405020304" pitchFamily="18" charset="0"/>
              </a:rPr>
              <a:t>=0.3</a:t>
            </a:r>
            <a:endParaRPr lang="en-CA" altLang="fr-FR" sz="1200" baseline="-250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58393" name="Rectangle 25">
            <a:extLst>
              <a:ext uri="{FF2B5EF4-FFF2-40B4-BE49-F238E27FC236}">
                <a16:creationId xmlns:a16="http://schemas.microsoft.com/office/drawing/2014/main" id="{82D5C734-28C0-459F-96C8-B425AC21C4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03700" y="3257550"/>
            <a:ext cx="744538" cy="274638"/>
          </a:xfrm>
          <a:prstGeom prst="rect">
            <a:avLst/>
          </a:prstGeom>
          <a:solidFill>
            <a:srgbClr val="E2E2E2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7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3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ts val="6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ts val="5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fr-CA" altLang="fr-FR" sz="1200">
                <a:solidFill>
                  <a:schemeClr val="tx1"/>
                </a:solidFill>
                <a:latin typeface="Times New Roman" panose="02020603050405020304" pitchFamily="18" charset="0"/>
              </a:rPr>
              <a:t>W</a:t>
            </a:r>
            <a:r>
              <a:rPr lang="fr-CA" altLang="fr-FR" sz="1200" baseline="-25000">
                <a:solidFill>
                  <a:schemeClr val="tx1"/>
                </a:solidFill>
                <a:latin typeface="Times New Roman" panose="02020603050405020304" pitchFamily="18" charset="0"/>
              </a:rPr>
              <a:t>21</a:t>
            </a:r>
            <a:r>
              <a:rPr lang="fr-CA" altLang="fr-FR" sz="1200">
                <a:solidFill>
                  <a:schemeClr val="tx1"/>
                </a:solidFill>
                <a:latin typeface="Times New Roman" panose="02020603050405020304" pitchFamily="18" charset="0"/>
              </a:rPr>
              <a:t>= 0.1</a:t>
            </a:r>
            <a:endParaRPr lang="en-CA" altLang="fr-FR" sz="1200" baseline="-250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58394" name="Rectangle 26">
            <a:extLst>
              <a:ext uri="{FF2B5EF4-FFF2-40B4-BE49-F238E27FC236}">
                <a16:creationId xmlns:a16="http://schemas.microsoft.com/office/drawing/2014/main" id="{E8EBA9CA-6D3A-45F8-A47A-7BFE6C7A8A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55914" y="2795589"/>
            <a:ext cx="795337" cy="274637"/>
          </a:xfrm>
          <a:prstGeom prst="rect">
            <a:avLst/>
          </a:prstGeom>
          <a:solidFill>
            <a:srgbClr val="E2E2E2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7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3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ts val="6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ts val="5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fr-CA" altLang="fr-FR" sz="1200">
                <a:solidFill>
                  <a:schemeClr val="tx1"/>
                </a:solidFill>
                <a:latin typeface="Times New Roman" panose="02020603050405020304" pitchFamily="18" charset="0"/>
              </a:rPr>
              <a:t>W</a:t>
            </a:r>
            <a:r>
              <a:rPr lang="fr-CA" altLang="fr-FR" sz="1200" baseline="-25000">
                <a:solidFill>
                  <a:schemeClr val="tx1"/>
                </a:solidFill>
                <a:latin typeface="Times New Roman" panose="02020603050405020304" pitchFamily="18" charset="0"/>
              </a:rPr>
              <a:t>01</a:t>
            </a:r>
            <a:r>
              <a:rPr lang="fr-CA" altLang="fr-FR" sz="1200">
                <a:solidFill>
                  <a:schemeClr val="tx1"/>
                </a:solidFill>
                <a:latin typeface="Times New Roman" panose="02020603050405020304" pitchFamily="18" charset="0"/>
              </a:rPr>
              <a:t>= -0.3</a:t>
            </a:r>
            <a:endParaRPr lang="en-CA" altLang="fr-FR" sz="1200" baseline="-250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58395" name="Rectangle 27">
            <a:extLst>
              <a:ext uri="{FF2B5EF4-FFF2-40B4-BE49-F238E27FC236}">
                <a16:creationId xmlns:a16="http://schemas.microsoft.com/office/drawing/2014/main" id="{93117C54-3C7A-469D-ADD0-4BDBCE679F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72038" y="4292600"/>
            <a:ext cx="671512" cy="274638"/>
          </a:xfrm>
          <a:prstGeom prst="rect">
            <a:avLst/>
          </a:prstGeom>
          <a:solidFill>
            <a:srgbClr val="E2E2E2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7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3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ts val="6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ts val="5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fr-CA" altLang="fr-FR" sz="1200">
                <a:solidFill>
                  <a:schemeClr val="tx1"/>
                </a:solidFill>
                <a:latin typeface="Times New Roman" panose="02020603050405020304" pitchFamily="18" charset="0"/>
              </a:rPr>
              <a:t>V</a:t>
            </a:r>
            <a:r>
              <a:rPr lang="fr-CA" altLang="fr-FR" sz="1200" baseline="-25000">
                <a:solidFill>
                  <a:schemeClr val="tx1"/>
                </a:solidFill>
                <a:latin typeface="Times New Roman" panose="02020603050405020304" pitchFamily="18" charset="0"/>
              </a:rPr>
              <a:t>02</a:t>
            </a:r>
            <a:r>
              <a:rPr lang="fr-CA" altLang="fr-FR" sz="1200">
                <a:solidFill>
                  <a:schemeClr val="tx1"/>
                </a:solidFill>
                <a:latin typeface="Times New Roman" panose="02020603050405020304" pitchFamily="18" charset="0"/>
              </a:rPr>
              <a:t>=0.6</a:t>
            </a:r>
            <a:endParaRPr lang="en-CA" altLang="fr-FR" sz="1200" baseline="-250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cxnSp>
        <p:nvCxnSpPr>
          <p:cNvPr id="58396" name="AutoShape 28">
            <a:extLst>
              <a:ext uri="{FF2B5EF4-FFF2-40B4-BE49-F238E27FC236}">
                <a16:creationId xmlns:a16="http://schemas.microsoft.com/office/drawing/2014/main" id="{20D2B5B1-7BB4-46C8-9F7B-ED8E7E2F9644}"/>
              </a:ext>
            </a:extLst>
          </p:cNvPr>
          <p:cNvCxnSpPr>
            <a:cxnSpLocks noChangeShapeType="1"/>
            <a:stCxn id="58384" idx="0"/>
            <a:endCxn id="58373" idx="2"/>
          </p:cNvCxnSpPr>
          <p:nvPr/>
        </p:nvCxnSpPr>
        <p:spPr bwMode="auto">
          <a:xfrm rot="16200000">
            <a:off x="2547145" y="4136232"/>
            <a:ext cx="815975" cy="601663"/>
          </a:xfrm>
          <a:prstGeom prst="curvedConnector2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58397" name="Rectangle 29">
            <a:extLst>
              <a:ext uri="{FF2B5EF4-FFF2-40B4-BE49-F238E27FC236}">
                <a16:creationId xmlns:a16="http://schemas.microsoft.com/office/drawing/2014/main" id="{4FA61A8E-F0CA-4DDB-A068-8736850AC1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51088" y="4256089"/>
            <a:ext cx="671512" cy="274637"/>
          </a:xfrm>
          <a:prstGeom prst="rect">
            <a:avLst/>
          </a:prstGeom>
          <a:solidFill>
            <a:srgbClr val="E2E2E2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7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3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ts val="6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ts val="5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fr-CA" altLang="fr-FR" sz="1200">
                <a:solidFill>
                  <a:schemeClr val="tx1"/>
                </a:solidFill>
                <a:latin typeface="Times New Roman" panose="02020603050405020304" pitchFamily="18" charset="0"/>
              </a:rPr>
              <a:t>V</a:t>
            </a:r>
            <a:r>
              <a:rPr lang="fr-CA" altLang="fr-FR" sz="1200" baseline="-25000">
                <a:solidFill>
                  <a:schemeClr val="tx1"/>
                </a:solidFill>
                <a:latin typeface="Times New Roman" panose="02020603050405020304" pitchFamily="18" charset="0"/>
              </a:rPr>
              <a:t>01</a:t>
            </a:r>
            <a:r>
              <a:rPr lang="fr-CA" altLang="fr-FR" sz="1200">
                <a:solidFill>
                  <a:schemeClr val="tx1"/>
                </a:solidFill>
                <a:latin typeface="Times New Roman" panose="02020603050405020304" pitchFamily="18" charset="0"/>
              </a:rPr>
              <a:t>=0.4</a:t>
            </a:r>
            <a:endParaRPr lang="en-CA" altLang="fr-FR" sz="1200" baseline="-250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58398" name="Rectangle 30">
            <a:extLst>
              <a:ext uri="{FF2B5EF4-FFF2-40B4-BE49-F238E27FC236}">
                <a16:creationId xmlns:a16="http://schemas.microsoft.com/office/drawing/2014/main" id="{15C44FDB-6177-4D6D-8033-74EB685548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27725" y="4029076"/>
            <a:ext cx="30797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7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3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ts val="6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ts val="5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fr-CA" altLang="fr-FR" sz="2000" b="1">
                <a:solidFill>
                  <a:schemeClr val="tx1"/>
                </a:solidFill>
                <a:latin typeface="Times New Roman" panose="02020603050405020304" pitchFamily="18" charset="0"/>
              </a:rPr>
              <a:t>3. Net</a:t>
            </a:r>
            <a:r>
              <a:rPr lang="fr-CA" altLang="fr-FR" sz="2000">
                <a:solidFill>
                  <a:schemeClr val="tx1"/>
                </a:solidFill>
                <a:latin typeface="Times New Roman" panose="02020603050405020304" pitchFamily="18" charset="0"/>
              </a:rPr>
              <a:t> de la couche de sortie</a:t>
            </a:r>
            <a:endParaRPr lang="en-CA" altLang="fr-FR" sz="20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81951" name="Rectangle 31">
            <a:extLst>
              <a:ext uri="{FF2B5EF4-FFF2-40B4-BE49-F238E27FC236}">
                <a16:creationId xmlns:a16="http://schemas.microsoft.com/office/drawing/2014/main" id="{384E4B83-D76B-4497-9F42-FF90CF698A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88088" y="4478338"/>
            <a:ext cx="460895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7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3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ts val="6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ts val="5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fr-CA" altLang="fr-FR" sz="1800" dirty="0" err="1">
                <a:solidFill>
                  <a:schemeClr val="tx1"/>
                </a:solidFill>
                <a:latin typeface="Times New Roman" panose="02020603050405020304" pitchFamily="18" charset="0"/>
              </a:rPr>
              <a:t>y_in</a:t>
            </a:r>
            <a:r>
              <a:rPr lang="fr-CA" altLang="fr-FR" sz="1800" dirty="0">
                <a:solidFill>
                  <a:schemeClr val="tx1"/>
                </a:solidFill>
                <a:latin typeface="Times New Roman" panose="02020603050405020304" pitchFamily="18" charset="0"/>
              </a:rPr>
              <a:t> = (1)(-0.3) + (z</a:t>
            </a:r>
            <a:r>
              <a:rPr lang="fr-CA" altLang="fr-FR" sz="1800" baseline="-25000" dirty="0">
                <a:solidFill>
                  <a:schemeClr val="tx1"/>
                </a:solidFill>
                <a:latin typeface="Times New Roman" panose="02020603050405020304" pitchFamily="18" charset="0"/>
              </a:rPr>
              <a:t>1</a:t>
            </a:r>
            <a:r>
              <a:rPr lang="fr-CA" altLang="fr-FR" sz="1800" dirty="0">
                <a:solidFill>
                  <a:schemeClr val="tx1"/>
                </a:solidFill>
                <a:latin typeface="Times New Roman" panose="02020603050405020304" pitchFamily="18" charset="0"/>
              </a:rPr>
              <a:t>) (0.5) + (z</a:t>
            </a:r>
            <a:r>
              <a:rPr lang="fr-CA" altLang="fr-FR" sz="1800" baseline="-25000" dirty="0">
                <a:solidFill>
                  <a:schemeClr val="tx1"/>
                </a:solidFill>
                <a:latin typeface="Times New Roman" panose="02020603050405020304" pitchFamily="18" charset="0"/>
              </a:rPr>
              <a:t>2</a:t>
            </a:r>
            <a:r>
              <a:rPr lang="fr-CA" altLang="fr-FR" sz="1800" dirty="0">
                <a:solidFill>
                  <a:schemeClr val="tx1"/>
                </a:solidFill>
                <a:latin typeface="Times New Roman" panose="02020603050405020304" pitchFamily="18" charset="0"/>
              </a:rPr>
              <a:t>) (0.1) = 0.046 </a:t>
            </a:r>
            <a:endParaRPr lang="en-CA" altLang="fr-FR" sz="1800" dirty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58400" name="Oval 32">
            <a:extLst>
              <a:ext uri="{FF2B5EF4-FFF2-40B4-BE49-F238E27FC236}">
                <a16:creationId xmlns:a16="http://schemas.microsoft.com/office/drawing/2014/main" id="{DB585E25-1B01-4DB6-9767-7103CF987B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7788" y="2890838"/>
            <a:ext cx="315912" cy="1143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ts val="7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3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ts val="6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ts val="5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fr-FR" altLang="fr-FR" sz="1800">
              <a:latin typeface="Times New Roman" panose="02020603050405020304" pitchFamily="18" charset="0"/>
            </a:endParaRPr>
          </a:p>
        </p:txBody>
      </p:sp>
      <p:sp>
        <p:nvSpPr>
          <p:cNvPr id="58401" name="Text Box 33">
            <a:extLst>
              <a:ext uri="{FF2B5EF4-FFF2-40B4-BE49-F238E27FC236}">
                <a16:creationId xmlns:a16="http://schemas.microsoft.com/office/drawing/2014/main" id="{ED844896-6CCC-428E-84ED-9F6BCBA48C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94025" y="1638301"/>
            <a:ext cx="19939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7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3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ts val="6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ts val="5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fr-CA" altLang="fr-FR" sz="1800" b="1">
                <a:solidFill>
                  <a:schemeClr val="tx1"/>
                </a:solidFill>
                <a:latin typeface="Times New Roman" panose="02020603050405020304" pitchFamily="18" charset="0"/>
              </a:rPr>
              <a:t>Propagation avant</a:t>
            </a:r>
            <a:endParaRPr lang="en-CA" altLang="fr-FR" sz="1800" b="1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58402" name="Group 34">
            <a:extLst>
              <a:ext uri="{FF2B5EF4-FFF2-40B4-BE49-F238E27FC236}">
                <a16:creationId xmlns:a16="http://schemas.microsoft.com/office/drawing/2014/main" id="{4474C041-0F4E-4B8B-8CA7-843278A77290}"/>
              </a:ext>
            </a:extLst>
          </p:cNvPr>
          <p:cNvGrpSpPr>
            <a:grpSpLocks/>
          </p:cNvGrpSpPr>
          <p:nvPr/>
        </p:nvGrpSpPr>
        <p:grpSpPr bwMode="auto">
          <a:xfrm>
            <a:off x="1524001" y="44451"/>
            <a:ext cx="9142413" cy="365125"/>
            <a:chOff x="0" y="28"/>
            <a:chExt cx="5759" cy="230"/>
          </a:xfrm>
        </p:grpSpPr>
        <p:sp>
          <p:nvSpPr>
            <p:cNvPr id="58403" name="AutoShape 35">
              <a:extLst>
                <a:ext uri="{FF2B5EF4-FFF2-40B4-BE49-F238E27FC236}">
                  <a16:creationId xmlns:a16="http://schemas.microsoft.com/office/drawing/2014/main" id="{FEA54FED-ECF5-49D9-A7E5-1D8510DDE80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28"/>
              <a:ext cx="5760" cy="231"/>
            </a:xfrm>
            <a:prstGeom prst="roundRect">
              <a:avLst>
                <a:gd name="adj" fmla="val 431"/>
              </a:avLst>
            </a:prstGeom>
            <a:solidFill>
              <a:srgbClr val="3366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ts val="788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•"/>
                <a:defRPr sz="32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ts val="688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–"/>
                <a:defRPr sz="28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ts val="588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•"/>
                <a:defRPr sz="2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ts val="488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–"/>
                <a:defRPr sz="20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ts val="488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ts val="488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ts val="488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ts val="488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ts val="488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fr-FR" altLang="fr-FR" sz="1800">
                <a:latin typeface="Times New Roman" panose="02020603050405020304" pitchFamily="18" charset="0"/>
              </a:endParaRPr>
            </a:p>
          </p:txBody>
        </p:sp>
        <p:sp>
          <p:nvSpPr>
            <p:cNvPr id="58404" name="Text Box 36">
              <a:extLst>
                <a:ext uri="{FF2B5EF4-FFF2-40B4-BE49-F238E27FC236}">
                  <a16:creationId xmlns:a16="http://schemas.microsoft.com/office/drawing/2014/main" id="{7331DBD2-4EE3-4053-B31B-ACBA6ABFE0D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0" y="28"/>
              <a:ext cx="576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000" tIns="46800" rIns="90000" bIns="46800">
              <a:spAutoFit/>
            </a:bodyPr>
            <a:lstStyle>
              <a:lvl1pPr>
                <a:spcBef>
                  <a:spcPts val="788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•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32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ts val="688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–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8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ts val="588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•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ts val="488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–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ts val="488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ts val="488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ts val="488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ts val="488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ts val="488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96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r>
                <a:rPr lang="en-GB" altLang="fr-FR" sz="1800">
                  <a:solidFill>
                    <a:schemeClr val="tx1"/>
                  </a:solidFill>
                </a:rPr>
                <a:t>Intelligence Artificielle 		Apprentissage			</a:t>
              </a:r>
            </a:p>
          </p:txBody>
        </p:sp>
      </p:grp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4472901-79F5-403C-9D74-D29951F740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06AE51-5606-4246-9C72-66A40F31299F}" type="slidenum">
              <a:rPr lang="fr-FR" smtClean="0"/>
              <a:pPr/>
              <a:t>28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274136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74464" presetClass="entr" presetSubtype="810234159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19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951" grpId="0" autoUpdateAnimBg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Text Box 2">
            <a:extLst>
              <a:ext uri="{FF2B5EF4-FFF2-40B4-BE49-F238E27FC236}">
                <a16:creationId xmlns:a16="http://schemas.microsoft.com/office/drawing/2014/main" id="{7AAAD061-C263-403B-87F6-7B34FDAF29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55788" y="574676"/>
            <a:ext cx="818515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7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3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ts val="6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ts val="5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fr-CA" altLang="fr-FR" sz="20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Exemple 2. </a:t>
            </a:r>
            <a:r>
              <a:rPr lang="fr-CA" altLang="fr-FR" sz="2000" dirty="0">
                <a:solidFill>
                  <a:schemeClr val="tx1"/>
                </a:solidFill>
                <a:latin typeface="Times New Roman" panose="02020603050405020304" pitchFamily="18" charset="0"/>
              </a:rPr>
              <a:t>Trouver les nouveaux poids du réseau de la figure ci-dessous si on présente le vecteur d’apprentissage (0,1). t=1 et </a:t>
            </a:r>
            <a:r>
              <a:rPr lang="fr-CA" altLang="fr-FR" sz="2000" dirty="0">
                <a:solidFill>
                  <a:schemeClr val="tx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=0,25.</a:t>
            </a:r>
            <a:endParaRPr lang="en-CA" altLang="fr-FR" sz="2000" dirty="0">
              <a:solidFill>
                <a:schemeClr val="tx1"/>
              </a:solidFill>
              <a:latin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60419" name="Rectangle 3">
            <a:extLst>
              <a:ext uri="{FF2B5EF4-FFF2-40B4-BE49-F238E27FC236}">
                <a16:creationId xmlns:a16="http://schemas.microsoft.com/office/drawing/2014/main" id="{F49E270A-3018-4917-8FDD-401C1906028C}"/>
              </a:ext>
            </a:extLst>
          </p:cNvPr>
          <p:cNvSpPr>
            <a:spLocks noChangeArrowheads="1"/>
          </p:cNvSpPr>
          <p:nvPr/>
        </p:nvSpPr>
        <p:spPr bwMode="auto">
          <a:xfrm rot="16200000">
            <a:off x="2039144" y="2337594"/>
            <a:ext cx="3951288" cy="3352800"/>
          </a:xfrm>
          <a:prstGeom prst="rect">
            <a:avLst/>
          </a:prstGeom>
          <a:solidFill>
            <a:srgbClr val="E2E2E2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ts val="7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3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ts val="6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ts val="5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fr-FR" altLang="fr-FR" sz="1800">
              <a:latin typeface="Times New Roman" panose="02020603050405020304" pitchFamily="18" charset="0"/>
            </a:endParaRPr>
          </a:p>
        </p:txBody>
      </p:sp>
      <p:sp>
        <p:nvSpPr>
          <p:cNvPr id="60420" name="Oval 4">
            <a:extLst>
              <a:ext uri="{FF2B5EF4-FFF2-40B4-BE49-F238E27FC236}">
                <a16:creationId xmlns:a16="http://schemas.microsoft.com/office/drawing/2014/main" id="{53A2D3A8-EC62-426B-B98C-88ACEB21B7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32264" y="3703638"/>
            <a:ext cx="573087" cy="588962"/>
          </a:xfrm>
          <a:prstGeom prst="ellipse">
            <a:avLst/>
          </a:prstGeom>
          <a:solidFill>
            <a:srgbClr val="E2E2E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ts val="7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3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ts val="6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ts val="5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fr-CA" altLang="fr-FR" sz="1800" b="1">
                <a:solidFill>
                  <a:schemeClr val="tx1"/>
                </a:solidFill>
                <a:latin typeface="Times New Roman" panose="02020603050405020304" pitchFamily="18" charset="0"/>
              </a:rPr>
              <a:t>Z</a:t>
            </a:r>
            <a:r>
              <a:rPr lang="fr-CA" altLang="fr-FR" sz="1600" b="1" baseline="-25000">
                <a:solidFill>
                  <a:schemeClr val="tx1"/>
                </a:solidFill>
                <a:latin typeface="Times New Roman" panose="02020603050405020304" pitchFamily="18" charset="0"/>
              </a:rPr>
              <a:t>2</a:t>
            </a:r>
            <a:endParaRPr lang="en-US" altLang="fr-FR" sz="1800" b="1" baseline="-250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60421" name="Oval 5">
            <a:extLst>
              <a:ext uri="{FF2B5EF4-FFF2-40B4-BE49-F238E27FC236}">
                <a16:creationId xmlns:a16="http://schemas.microsoft.com/office/drawing/2014/main" id="{DFD9A480-40F2-4BC1-9749-B9EF4BD5D6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55963" y="3735389"/>
            <a:ext cx="576262" cy="585787"/>
          </a:xfrm>
          <a:prstGeom prst="ellipse">
            <a:avLst/>
          </a:prstGeom>
          <a:solidFill>
            <a:srgbClr val="E2E2E2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>
            <a:lvl1pPr>
              <a:spcBef>
                <a:spcPts val="7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3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ts val="6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ts val="5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fr-CA" altLang="fr-FR" sz="1800" b="1">
                <a:solidFill>
                  <a:schemeClr val="tx1"/>
                </a:solidFill>
                <a:latin typeface="Times New Roman" panose="02020603050405020304" pitchFamily="18" charset="0"/>
              </a:rPr>
              <a:t>Z</a:t>
            </a:r>
            <a:r>
              <a:rPr lang="fr-CA" altLang="fr-FR" sz="1600" b="1" baseline="-25000">
                <a:solidFill>
                  <a:schemeClr val="tx1"/>
                </a:solidFill>
                <a:latin typeface="Times New Roman" panose="02020603050405020304" pitchFamily="18" charset="0"/>
              </a:rPr>
              <a:t>1</a:t>
            </a:r>
            <a:endParaRPr lang="en-US" altLang="fr-FR" sz="1800" b="1" baseline="-250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60422" name="Oval 6">
            <a:extLst>
              <a:ext uri="{FF2B5EF4-FFF2-40B4-BE49-F238E27FC236}">
                <a16:creationId xmlns:a16="http://schemas.microsoft.com/office/drawing/2014/main" id="{4F37C6C7-3298-404D-BA33-0FFE5E3C24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94125" y="2514600"/>
            <a:ext cx="477838" cy="490538"/>
          </a:xfrm>
          <a:prstGeom prst="ellipse">
            <a:avLst/>
          </a:prstGeom>
          <a:solidFill>
            <a:srgbClr val="E2E2E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ts val="7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3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ts val="6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ts val="5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fr-FR" sz="1800" b="1">
                <a:solidFill>
                  <a:schemeClr val="tx1"/>
                </a:solidFill>
                <a:latin typeface="Times New Roman" panose="02020603050405020304" pitchFamily="18" charset="0"/>
              </a:rPr>
              <a:t>Y</a:t>
            </a:r>
          </a:p>
        </p:txBody>
      </p:sp>
      <p:sp>
        <p:nvSpPr>
          <p:cNvPr id="60423" name="Oval 7">
            <a:extLst>
              <a:ext uri="{FF2B5EF4-FFF2-40B4-BE49-F238E27FC236}">
                <a16:creationId xmlns:a16="http://schemas.microsoft.com/office/drawing/2014/main" id="{418568A7-E3A9-40F9-B347-5456BF9154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14850" y="5280025"/>
            <a:ext cx="585788" cy="585788"/>
          </a:xfrm>
          <a:prstGeom prst="ellipse">
            <a:avLst/>
          </a:prstGeom>
          <a:solidFill>
            <a:srgbClr val="E2E2E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ts val="7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3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ts val="6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ts val="5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fr-CA" altLang="fr-FR" sz="1800" b="1">
                <a:solidFill>
                  <a:schemeClr val="tx1"/>
                </a:solidFill>
                <a:latin typeface="Times New Roman" panose="02020603050405020304" pitchFamily="18" charset="0"/>
              </a:rPr>
              <a:t>X</a:t>
            </a:r>
            <a:r>
              <a:rPr lang="fr-CA" altLang="fr-FR" sz="1400" b="1" baseline="-25000">
                <a:solidFill>
                  <a:schemeClr val="tx1"/>
                </a:solidFill>
                <a:latin typeface="Times New Roman" panose="02020603050405020304" pitchFamily="18" charset="0"/>
              </a:rPr>
              <a:t>2</a:t>
            </a:r>
            <a:endParaRPr lang="en-US" altLang="fr-FR" sz="1800" b="1" baseline="-250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60424" name="Oval 8">
            <a:extLst>
              <a:ext uri="{FF2B5EF4-FFF2-40B4-BE49-F238E27FC236}">
                <a16:creationId xmlns:a16="http://schemas.microsoft.com/office/drawing/2014/main" id="{E137FEED-97FC-462B-B1CB-A43080ED6A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55925" y="5280025"/>
            <a:ext cx="585788" cy="585788"/>
          </a:xfrm>
          <a:prstGeom prst="ellipse">
            <a:avLst/>
          </a:prstGeom>
          <a:solidFill>
            <a:srgbClr val="E2E2E2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>
            <a:lvl1pPr>
              <a:spcBef>
                <a:spcPts val="7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3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ts val="6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ts val="5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fr-CA" altLang="fr-FR" sz="1800" b="1">
                <a:solidFill>
                  <a:schemeClr val="tx1"/>
                </a:solidFill>
                <a:latin typeface="Times New Roman" panose="02020603050405020304" pitchFamily="18" charset="0"/>
              </a:rPr>
              <a:t>X</a:t>
            </a:r>
            <a:r>
              <a:rPr lang="fr-CA" altLang="fr-FR" sz="1400" b="1" baseline="-25000">
                <a:solidFill>
                  <a:schemeClr val="tx1"/>
                </a:solidFill>
                <a:latin typeface="Times New Roman" panose="02020603050405020304" pitchFamily="18" charset="0"/>
              </a:rPr>
              <a:t>1</a:t>
            </a:r>
            <a:endParaRPr lang="en-US" altLang="fr-FR" sz="1800" b="1" baseline="-250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cxnSp>
        <p:nvCxnSpPr>
          <p:cNvPr id="60425" name="AutoShape 9">
            <a:extLst>
              <a:ext uri="{FF2B5EF4-FFF2-40B4-BE49-F238E27FC236}">
                <a16:creationId xmlns:a16="http://schemas.microsoft.com/office/drawing/2014/main" id="{56252DE6-D660-4C8E-B6B4-34C4B22F6AED}"/>
              </a:ext>
            </a:extLst>
          </p:cNvPr>
          <p:cNvCxnSpPr>
            <a:cxnSpLocks noChangeShapeType="1"/>
            <a:stCxn id="60424" idx="0"/>
            <a:endCxn id="60421" idx="4"/>
          </p:cNvCxnSpPr>
          <p:nvPr/>
        </p:nvCxnSpPr>
        <p:spPr bwMode="auto">
          <a:xfrm flipV="1">
            <a:off x="3249614" y="4321175"/>
            <a:ext cx="295275" cy="95885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60426" name="AutoShape 10">
            <a:extLst>
              <a:ext uri="{FF2B5EF4-FFF2-40B4-BE49-F238E27FC236}">
                <a16:creationId xmlns:a16="http://schemas.microsoft.com/office/drawing/2014/main" id="{FC66195E-423B-4892-8CB5-C00EA887F30F}"/>
              </a:ext>
            </a:extLst>
          </p:cNvPr>
          <p:cNvCxnSpPr>
            <a:cxnSpLocks noChangeShapeType="1"/>
            <a:stCxn id="60424" idx="7"/>
            <a:endCxn id="60420" idx="3"/>
          </p:cNvCxnSpPr>
          <p:nvPr/>
        </p:nvCxnSpPr>
        <p:spPr bwMode="auto">
          <a:xfrm flipV="1">
            <a:off x="3455988" y="4206876"/>
            <a:ext cx="760412" cy="1158875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60427" name="AutoShape 11">
            <a:extLst>
              <a:ext uri="{FF2B5EF4-FFF2-40B4-BE49-F238E27FC236}">
                <a16:creationId xmlns:a16="http://schemas.microsoft.com/office/drawing/2014/main" id="{E18924B5-679A-4078-8E0D-148675467A60}"/>
              </a:ext>
            </a:extLst>
          </p:cNvPr>
          <p:cNvCxnSpPr>
            <a:cxnSpLocks noChangeShapeType="1"/>
            <a:stCxn id="60421" idx="0"/>
            <a:endCxn id="60422" idx="3"/>
          </p:cNvCxnSpPr>
          <p:nvPr/>
        </p:nvCxnSpPr>
        <p:spPr bwMode="auto">
          <a:xfrm flipV="1">
            <a:off x="3544889" y="2933700"/>
            <a:ext cx="319087" cy="801688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60428" name="AutoShape 12">
            <a:extLst>
              <a:ext uri="{FF2B5EF4-FFF2-40B4-BE49-F238E27FC236}">
                <a16:creationId xmlns:a16="http://schemas.microsoft.com/office/drawing/2014/main" id="{E2F28B5D-F2B9-4D15-BC77-756C7225595D}"/>
              </a:ext>
            </a:extLst>
          </p:cNvPr>
          <p:cNvCxnSpPr>
            <a:cxnSpLocks noChangeShapeType="1"/>
            <a:stCxn id="60420" idx="0"/>
            <a:endCxn id="60422" idx="5"/>
          </p:cNvCxnSpPr>
          <p:nvPr/>
        </p:nvCxnSpPr>
        <p:spPr bwMode="auto">
          <a:xfrm flipH="1" flipV="1">
            <a:off x="4202114" y="2933700"/>
            <a:ext cx="217487" cy="769938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60429" name="AutoShape 13">
            <a:extLst>
              <a:ext uri="{FF2B5EF4-FFF2-40B4-BE49-F238E27FC236}">
                <a16:creationId xmlns:a16="http://schemas.microsoft.com/office/drawing/2014/main" id="{EAD2B5F3-D1C1-416D-AD10-B3205F7CA1E5}"/>
              </a:ext>
            </a:extLst>
          </p:cNvPr>
          <p:cNvCxnSpPr>
            <a:cxnSpLocks noChangeShapeType="1"/>
            <a:stCxn id="60423" idx="1"/>
            <a:endCxn id="60421" idx="5"/>
          </p:cNvCxnSpPr>
          <p:nvPr/>
        </p:nvCxnSpPr>
        <p:spPr bwMode="auto">
          <a:xfrm flipH="1" flipV="1">
            <a:off x="3748089" y="4235450"/>
            <a:ext cx="852487" cy="113030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60430" name="AutoShape 14">
            <a:extLst>
              <a:ext uri="{FF2B5EF4-FFF2-40B4-BE49-F238E27FC236}">
                <a16:creationId xmlns:a16="http://schemas.microsoft.com/office/drawing/2014/main" id="{D090D151-5B82-4E0E-8483-8D8A9939C831}"/>
              </a:ext>
            </a:extLst>
          </p:cNvPr>
          <p:cNvCxnSpPr>
            <a:cxnSpLocks noChangeShapeType="1"/>
            <a:stCxn id="60423" idx="0"/>
            <a:endCxn id="60420" idx="4"/>
          </p:cNvCxnSpPr>
          <p:nvPr/>
        </p:nvCxnSpPr>
        <p:spPr bwMode="auto">
          <a:xfrm flipH="1" flipV="1">
            <a:off x="4419600" y="4292601"/>
            <a:ext cx="388938" cy="987425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60431" name="Oval 15">
            <a:extLst>
              <a:ext uri="{FF2B5EF4-FFF2-40B4-BE49-F238E27FC236}">
                <a16:creationId xmlns:a16="http://schemas.microsoft.com/office/drawing/2014/main" id="{4C401AF0-7CB8-492B-9F81-959A7A6695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11764" y="4845050"/>
            <a:ext cx="236537" cy="236538"/>
          </a:xfrm>
          <a:prstGeom prst="ellipse">
            <a:avLst/>
          </a:prstGeom>
          <a:solidFill>
            <a:srgbClr val="E2E2E2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ts val="7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3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ts val="6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ts val="5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fr-CA" altLang="fr-FR" sz="1800">
                <a:solidFill>
                  <a:schemeClr val="tx1"/>
                </a:solidFill>
                <a:latin typeface="Times New Roman" panose="02020603050405020304" pitchFamily="18" charset="0"/>
              </a:rPr>
              <a:t>1</a:t>
            </a:r>
            <a:endParaRPr lang="en-CA" altLang="fr-FR" sz="18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60432" name="Oval 16">
            <a:extLst>
              <a:ext uri="{FF2B5EF4-FFF2-40B4-BE49-F238E27FC236}">
                <a16:creationId xmlns:a16="http://schemas.microsoft.com/office/drawing/2014/main" id="{FD5BEAE2-ECE3-45FD-A885-88E595896E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35239" y="4845050"/>
            <a:ext cx="236537" cy="236538"/>
          </a:xfrm>
          <a:prstGeom prst="ellipse">
            <a:avLst/>
          </a:prstGeom>
          <a:solidFill>
            <a:srgbClr val="E2E2E2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ts val="7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3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ts val="6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ts val="5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fr-CA" altLang="fr-FR" sz="1800">
                <a:solidFill>
                  <a:schemeClr val="tx1"/>
                </a:solidFill>
                <a:latin typeface="Times New Roman" panose="02020603050405020304" pitchFamily="18" charset="0"/>
              </a:rPr>
              <a:t>1</a:t>
            </a:r>
            <a:endParaRPr lang="en-CA" altLang="fr-FR" sz="18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60433" name="Oval 17">
            <a:extLst>
              <a:ext uri="{FF2B5EF4-FFF2-40B4-BE49-F238E27FC236}">
                <a16:creationId xmlns:a16="http://schemas.microsoft.com/office/drawing/2014/main" id="{74022B9E-E2F2-41F5-88DB-7E88B7E0DA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27350" y="3295650"/>
            <a:ext cx="236538" cy="236538"/>
          </a:xfrm>
          <a:prstGeom prst="ellipse">
            <a:avLst/>
          </a:prstGeom>
          <a:solidFill>
            <a:srgbClr val="E2E2E2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ts val="7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3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ts val="6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ts val="5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fr-CA" altLang="fr-FR" sz="1800">
                <a:solidFill>
                  <a:schemeClr val="tx1"/>
                </a:solidFill>
                <a:latin typeface="Times New Roman" panose="02020603050405020304" pitchFamily="18" charset="0"/>
              </a:rPr>
              <a:t>1</a:t>
            </a:r>
            <a:endParaRPr lang="en-CA" altLang="fr-FR" sz="18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cxnSp>
        <p:nvCxnSpPr>
          <p:cNvPr id="60434" name="AutoShape 18">
            <a:extLst>
              <a:ext uri="{FF2B5EF4-FFF2-40B4-BE49-F238E27FC236}">
                <a16:creationId xmlns:a16="http://schemas.microsoft.com/office/drawing/2014/main" id="{1D56E830-E5EC-4748-AC9B-0C04D7FAC23F}"/>
              </a:ext>
            </a:extLst>
          </p:cNvPr>
          <p:cNvCxnSpPr>
            <a:cxnSpLocks noChangeShapeType="1"/>
            <a:stCxn id="60431" idx="0"/>
            <a:endCxn id="60420" idx="6"/>
          </p:cNvCxnSpPr>
          <p:nvPr/>
        </p:nvCxnSpPr>
        <p:spPr bwMode="auto">
          <a:xfrm rot="5400000" flipH="1">
            <a:off x="4595020" y="4109245"/>
            <a:ext cx="846137" cy="625475"/>
          </a:xfrm>
          <a:prstGeom prst="curvedConnector2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60435" name="AutoShape 19">
            <a:extLst>
              <a:ext uri="{FF2B5EF4-FFF2-40B4-BE49-F238E27FC236}">
                <a16:creationId xmlns:a16="http://schemas.microsoft.com/office/drawing/2014/main" id="{0EA66AFB-F02F-4C18-9EB6-4C3B94292869}"/>
              </a:ext>
            </a:extLst>
          </p:cNvPr>
          <p:cNvCxnSpPr>
            <a:cxnSpLocks noChangeShapeType="1"/>
            <a:stCxn id="60433" idx="0"/>
            <a:endCxn id="60422" idx="2"/>
          </p:cNvCxnSpPr>
          <p:nvPr/>
        </p:nvCxnSpPr>
        <p:spPr bwMode="auto">
          <a:xfrm rot="16200000">
            <a:off x="3152776" y="2654301"/>
            <a:ext cx="534987" cy="747712"/>
          </a:xfrm>
          <a:prstGeom prst="curvedConnector2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60436" name="Rectangle 20">
            <a:extLst>
              <a:ext uri="{FF2B5EF4-FFF2-40B4-BE49-F238E27FC236}">
                <a16:creationId xmlns:a16="http://schemas.microsoft.com/office/drawing/2014/main" id="{2C82DD8E-2AB1-4A8E-8B60-7F469F710F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713" y="3257550"/>
            <a:ext cx="374650" cy="274638"/>
          </a:xfrm>
          <a:prstGeom prst="rect">
            <a:avLst/>
          </a:prstGeom>
          <a:solidFill>
            <a:srgbClr val="E2E2E2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7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3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ts val="6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ts val="5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fr-CA" altLang="fr-FR" sz="1200">
                <a:solidFill>
                  <a:schemeClr val="tx1"/>
                </a:solidFill>
                <a:latin typeface="Times New Roman" panose="02020603050405020304" pitchFamily="18" charset="0"/>
              </a:rPr>
              <a:t>0.5</a:t>
            </a:r>
            <a:endParaRPr lang="en-CA" altLang="fr-FR" sz="1200" baseline="-250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60437" name="Rectangle 21">
            <a:extLst>
              <a:ext uri="{FF2B5EF4-FFF2-40B4-BE49-F238E27FC236}">
                <a16:creationId xmlns:a16="http://schemas.microsoft.com/office/drawing/2014/main" id="{43168B2E-AC73-47FD-A267-167A498DBE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49613" y="4530725"/>
            <a:ext cx="374650" cy="274638"/>
          </a:xfrm>
          <a:prstGeom prst="rect">
            <a:avLst/>
          </a:prstGeom>
          <a:solidFill>
            <a:srgbClr val="E2E2E2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7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3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ts val="6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ts val="5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fr-CA" altLang="fr-FR" sz="1200">
                <a:solidFill>
                  <a:schemeClr val="tx1"/>
                </a:solidFill>
                <a:latin typeface="Times New Roman" panose="02020603050405020304" pitchFamily="18" charset="0"/>
              </a:rPr>
              <a:t>0.7</a:t>
            </a:r>
            <a:endParaRPr lang="en-CA" altLang="fr-FR" sz="1200" baseline="-250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60438" name="Rectangle 22">
            <a:extLst>
              <a:ext uri="{FF2B5EF4-FFF2-40B4-BE49-F238E27FC236}">
                <a16:creationId xmlns:a16="http://schemas.microsoft.com/office/drawing/2014/main" id="{AB41D4B4-3699-4254-B2B9-5184CAFE4C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65525" y="4805364"/>
            <a:ext cx="425450" cy="274637"/>
          </a:xfrm>
          <a:prstGeom prst="rect">
            <a:avLst/>
          </a:prstGeom>
          <a:solidFill>
            <a:srgbClr val="E2E2E2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7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3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ts val="6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ts val="5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fr-CA" altLang="fr-FR" sz="1200">
                <a:solidFill>
                  <a:schemeClr val="tx1"/>
                </a:solidFill>
                <a:latin typeface="Times New Roman" panose="02020603050405020304" pitchFamily="18" charset="0"/>
              </a:rPr>
              <a:t>-0.4</a:t>
            </a:r>
            <a:endParaRPr lang="en-CA" altLang="fr-FR" sz="1200" baseline="-250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60439" name="Rectangle 23">
            <a:extLst>
              <a:ext uri="{FF2B5EF4-FFF2-40B4-BE49-F238E27FC236}">
                <a16:creationId xmlns:a16="http://schemas.microsoft.com/office/drawing/2014/main" id="{43653CC8-8441-4A8C-9541-EB831E57B2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73525" y="4786314"/>
            <a:ext cx="425450" cy="274637"/>
          </a:xfrm>
          <a:prstGeom prst="rect">
            <a:avLst/>
          </a:prstGeom>
          <a:solidFill>
            <a:srgbClr val="E2E2E2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7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3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ts val="6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ts val="5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fr-CA" altLang="fr-FR" sz="1200">
                <a:solidFill>
                  <a:schemeClr val="tx1"/>
                </a:solidFill>
                <a:latin typeface="Times New Roman" panose="02020603050405020304" pitchFamily="18" charset="0"/>
              </a:rPr>
              <a:t>-0.2</a:t>
            </a:r>
            <a:endParaRPr lang="en-CA" altLang="fr-FR" sz="1200" baseline="-250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60440" name="Rectangle 24">
            <a:extLst>
              <a:ext uri="{FF2B5EF4-FFF2-40B4-BE49-F238E27FC236}">
                <a16:creationId xmlns:a16="http://schemas.microsoft.com/office/drawing/2014/main" id="{A2E37421-8DA3-4870-AB61-0B525B31AC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9600" y="4530725"/>
            <a:ext cx="374650" cy="274638"/>
          </a:xfrm>
          <a:prstGeom prst="rect">
            <a:avLst/>
          </a:prstGeom>
          <a:solidFill>
            <a:srgbClr val="E2E2E2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7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3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ts val="6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ts val="5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fr-CA" altLang="fr-FR" sz="1200">
                <a:solidFill>
                  <a:schemeClr val="tx1"/>
                </a:solidFill>
                <a:latin typeface="Times New Roman" panose="02020603050405020304" pitchFamily="18" charset="0"/>
              </a:rPr>
              <a:t>0.3</a:t>
            </a:r>
            <a:endParaRPr lang="en-CA" altLang="fr-FR" sz="1200" baseline="-250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60441" name="Rectangle 25">
            <a:extLst>
              <a:ext uri="{FF2B5EF4-FFF2-40B4-BE49-F238E27FC236}">
                <a16:creationId xmlns:a16="http://schemas.microsoft.com/office/drawing/2014/main" id="{301323B8-222C-4C81-A1B1-814F3EBF47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03700" y="3257550"/>
            <a:ext cx="374650" cy="274638"/>
          </a:xfrm>
          <a:prstGeom prst="rect">
            <a:avLst/>
          </a:prstGeom>
          <a:solidFill>
            <a:srgbClr val="E2E2E2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7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3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ts val="6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ts val="5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fr-CA" altLang="fr-FR" sz="1200">
                <a:solidFill>
                  <a:schemeClr val="tx1"/>
                </a:solidFill>
                <a:latin typeface="Times New Roman" panose="02020603050405020304" pitchFamily="18" charset="0"/>
              </a:rPr>
              <a:t>0.1</a:t>
            </a:r>
            <a:endParaRPr lang="en-CA" altLang="fr-FR" sz="1200" baseline="-250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60442" name="Rectangle 26">
            <a:extLst>
              <a:ext uri="{FF2B5EF4-FFF2-40B4-BE49-F238E27FC236}">
                <a16:creationId xmlns:a16="http://schemas.microsoft.com/office/drawing/2014/main" id="{4C49EE48-2DAF-4953-A7D8-2F083EA26F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63888" y="2795589"/>
            <a:ext cx="425450" cy="274637"/>
          </a:xfrm>
          <a:prstGeom prst="rect">
            <a:avLst/>
          </a:prstGeom>
          <a:solidFill>
            <a:srgbClr val="E2E2E2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7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3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ts val="6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ts val="5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fr-CA" altLang="fr-FR" sz="1200" dirty="0">
                <a:solidFill>
                  <a:schemeClr val="tx1"/>
                </a:solidFill>
                <a:latin typeface="Times New Roman" panose="02020603050405020304" pitchFamily="18" charset="0"/>
              </a:rPr>
              <a:t>-0.3</a:t>
            </a:r>
            <a:endParaRPr lang="en-CA" altLang="fr-FR" sz="1200" baseline="-25000" dirty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60443" name="Rectangle 27">
            <a:extLst>
              <a:ext uri="{FF2B5EF4-FFF2-40B4-BE49-F238E27FC236}">
                <a16:creationId xmlns:a16="http://schemas.microsoft.com/office/drawing/2014/main" id="{02041E18-CEC9-4FF2-ACF0-596E154F8E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56188" y="4292600"/>
            <a:ext cx="374650" cy="274638"/>
          </a:xfrm>
          <a:prstGeom prst="rect">
            <a:avLst/>
          </a:prstGeom>
          <a:solidFill>
            <a:srgbClr val="E2E2E2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7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3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ts val="6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ts val="5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fr-CA" altLang="fr-FR" sz="1200">
                <a:solidFill>
                  <a:schemeClr val="tx1"/>
                </a:solidFill>
                <a:latin typeface="Times New Roman" panose="02020603050405020304" pitchFamily="18" charset="0"/>
              </a:rPr>
              <a:t>0.6</a:t>
            </a:r>
            <a:endParaRPr lang="en-CA" altLang="fr-FR" sz="1200" baseline="-250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cxnSp>
        <p:nvCxnSpPr>
          <p:cNvPr id="60444" name="AutoShape 28">
            <a:extLst>
              <a:ext uri="{FF2B5EF4-FFF2-40B4-BE49-F238E27FC236}">
                <a16:creationId xmlns:a16="http://schemas.microsoft.com/office/drawing/2014/main" id="{6E413204-B734-43C8-8F2F-F11CB993A4EB}"/>
              </a:ext>
            </a:extLst>
          </p:cNvPr>
          <p:cNvCxnSpPr>
            <a:cxnSpLocks noChangeShapeType="1"/>
            <a:stCxn id="60432" idx="0"/>
            <a:endCxn id="60421" idx="2"/>
          </p:cNvCxnSpPr>
          <p:nvPr/>
        </p:nvCxnSpPr>
        <p:spPr bwMode="auto">
          <a:xfrm rot="16200000">
            <a:off x="2547145" y="4136232"/>
            <a:ext cx="815975" cy="601663"/>
          </a:xfrm>
          <a:prstGeom prst="curvedConnector2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60445" name="Rectangle 29">
            <a:extLst>
              <a:ext uri="{FF2B5EF4-FFF2-40B4-BE49-F238E27FC236}">
                <a16:creationId xmlns:a16="http://schemas.microsoft.com/office/drawing/2014/main" id="{9107E147-2C30-4755-8E03-9F73EBF2E4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16200" y="4256089"/>
            <a:ext cx="374650" cy="274637"/>
          </a:xfrm>
          <a:prstGeom prst="rect">
            <a:avLst/>
          </a:prstGeom>
          <a:solidFill>
            <a:srgbClr val="E2E2E2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7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3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ts val="6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ts val="5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fr-CA" altLang="fr-FR" sz="1200">
                <a:solidFill>
                  <a:schemeClr val="tx1"/>
                </a:solidFill>
                <a:latin typeface="Times New Roman" panose="02020603050405020304" pitchFamily="18" charset="0"/>
              </a:rPr>
              <a:t>0.4</a:t>
            </a:r>
            <a:endParaRPr lang="en-CA" altLang="fr-FR" sz="1200" baseline="-250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60446" name="Text Box 30">
            <a:extLst>
              <a:ext uri="{FF2B5EF4-FFF2-40B4-BE49-F238E27FC236}">
                <a16:creationId xmlns:a16="http://schemas.microsoft.com/office/drawing/2014/main" id="{0C8630E0-95F7-4C3A-B7FF-86AB59AE67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27726" y="1211264"/>
            <a:ext cx="29051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7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3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ts val="6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ts val="5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fr-CA" altLang="fr-FR" sz="2000" b="1">
                <a:solidFill>
                  <a:schemeClr val="tx1"/>
                </a:solidFill>
                <a:latin typeface="Times New Roman" panose="02020603050405020304" pitchFamily="18" charset="0"/>
              </a:rPr>
              <a:t>1. Net</a:t>
            </a:r>
            <a:r>
              <a:rPr lang="fr-CA" altLang="fr-FR" sz="2000">
                <a:solidFill>
                  <a:schemeClr val="tx1"/>
                </a:solidFill>
                <a:latin typeface="Times New Roman" panose="02020603050405020304" pitchFamily="18" charset="0"/>
              </a:rPr>
              <a:t> de la couche cachée</a:t>
            </a:r>
            <a:endParaRPr lang="en-CA" altLang="fr-FR" sz="20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60447" name="Text Box 31">
            <a:extLst>
              <a:ext uri="{FF2B5EF4-FFF2-40B4-BE49-F238E27FC236}">
                <a16:creationId xmlns:a16="http://schemas.microsoft.com/office/drawing/2014/main" id="{EBB09AF7-F2DD-4058-9D91-9F4BF09807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88088" y="1671638"/>
            <a:ext cx="41973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7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3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ts val="6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ts val="5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fr-CA" altLang="fr-FR" sz="1800">
                <a:solidFill>
                  <a:schemeClr val="tx1"/>
                </a:solidFill>
                <a:latin typeface="Times New Roman" panose="02020603050405020304" pitchFamily="18" charset="0"/>
              </a:rPr>
              <a:t>z_in</a:t>
            </a:r>
            <a:r>
              <a:rPr lang="fr-CA" altLang="fr-FR" sz="1800" baseline="-25000">
                <a:solidFill>
                  <a:schemeClr val="tx1"/>
                </a:solidFill>
                <a:latin typeface="Times New Roman" panose="02020603050405020304" pitchFamily="18" charset="0"/>
              </a:rPr>
              <a:t>1</a:t>
            </a:r>
            <a:r>
              <a:rPr lang="fr-CA" altLang="fr-FR" sz="1800">
                <a:solidFill>
                  <a:schemeClr val="tx1"/>
                </a:solidFill>
                <a:latin typeface="Times New Roman" panose="02020603050405020304" pitchFamily="18" charset="0"/>
              </a:rPr>
              <a:t> = 0.4 + (0.0) (0.7) + (1.0) (-0.2) = 0.2 </a:t>
            </a:r>
            <a:endParaRPr lang="en-CA" altLang="fr-FR" sz="18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60448" name="Text Box 32">
            <a:extLst>
              <a:ext uri="{FF2B5EF4-FFF2-40B4-BE49-F238E27FC236}">
                <a16:creationId xmlns:a16="http://schemas.microsoft.com/office/drawing/2014/main" id="{D83C31F3-BB73-4F05-9AFC-B4DB6F5EE6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88088" y="2101851"/>
            <a:ext cx="41973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7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3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ts val="6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ts val="5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fr-CA" altLang="fr-FR" sz="1800">
                <a:solidFill>
                  <a:schemeClr val="tx1"/>
                </a:solidFill>
                <a:latin typeface="Times New Roman" panose="02020603050405020304" pitchFamily="18" charset="0"/>
              </a:rPr>
              <a:t>z_in</a:t>
            </a:r>
            <a:r>
              <a:rPr lang="fr-CA" altLang="fr-FR" sz="1800" baseline="-25000">
                <a:solidFill>
                  <a:schemeClr val="tx1"/>
                </a:solidFill>
                <a:latin typeface="Times New Roman" panose="02020603050405020304" pitchFamily="18" charset="0"/>
              </a:rPr>
              <a:t>2</a:t>
            </a:r>
            <a:r>
              <a:rPr lang="fr-CA" altLang="fr-FR" sz="1800">
                <a:solidFill>
                  <a:schemeClr val="tx1"/>
                </a:solidFill>
                <a:latin typeface="Times New Roman" panose="02020603050405020304" pitchFamily="18" charset="0"/>
              </a:rPr>
              <a:t> = 0.6 + (0.0) (-0.4) + (1.0) (0.3) = 0.9 </a:t>
            </a:r>
            <a:endParaRPr lang="en-CA" altLang="fr-FR" sz="18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60449" name="Text Box 33">
            <a:extLst>
              <a:ext uri="{FF2B5EF4-FFF2-40B4-BE49-F238E27FC236}">
                <a16:creationId xmlns:a16="http://schemas.microsoft.com/office/drawing/2014/main" id="{2C6819EC-FAB9-47BC-8DA8-C0D43DBB21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27725" y="2651126"/>
            <a:ext cx="2946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7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3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ts val="6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ts val="5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fr-CA" altLang="fr-FR" sz="2000" b="1">
                <a:solidFill>
                  <a:schemeClr val="tx1"/>
                </a:solidFill>
                <a:latin typeface="Times New Roman" panose="02020603050405020304" pitchFamily="18" charset="0"/>
              </a:rPr>
              <a:t>2. Out</a:t>
            </a:r>
            <a:r>
              <a:rPr lang="fr-CA" altLang="fr-FR" sz="2000">
                <a:solidFill>
                  <a:schemeClr val="tx1"/>
                </a:solidFill>
                <a:latin typeface="Times New Roman" panose="02020603050405020304" pitchFamily="18" charset="0"/>
              </a:rPr>
              <a:t> de la couche cachée</a:t>
            </a:r>
            <a:endParaRPr lang="en-CA" altLang="fr-FR" sz="20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60450" name="Text Box 34">
            <a:extLst>
              <a:ext uri="{FF2B5EF4-FFF2-40B4-BE49-F238E27FC236}">
                <a16:creationId xmlns:a16="http://schemas.microsoft.com/office/drawing/2014/main" id="{BA59783D-98DA-4245-86C9-3E2DEF25815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88088" y="3111501"/>
            <a:ext cx="3306762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7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3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ts val="6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ts val="5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fr-CA" altLang="fr-FR" sz="1800">
                <a:solidFill>
                  <a:schemeClr val="tx1"/>
                </a:solidFill>
                <a:latin typeface="Times New Roman" panose="02020603050405020304" pitchFamily="18" charset="0"/>
              </a:rPr>
              <a:t>z</a:t>
            </a:r>
            <a:r>
              <a:rPr lang="fr-CA" altLang="fr-FR" sz="1800" baseline="-25000">
                <a:solidFill>
                  <a:schemeClr val="tx1"/>
                </a:solidFill>
                <a:latin typeface="Times New Roman" panose="02020603050405020304" pitchFamily="18" charset="0"/>
              </a:rPr>
              <a:t>1</a:t>
            </a:r>
            <a:r>
              <a:rPr lang="fr-CA" altLang="fr-FR" sz="1800">
                <a:solidFill>
                  <a:schemeClr val="tx1"/>
                </a:solidFill>
                <a:latin typeface="Times New Roman" panose="02020603050405020304" pitchFamily="18" charset="0"/>
              </a:rPr>
              <a:t> = 1 </a:t>
            </a:r>
            <a:r>
              <a:rPr lang="fr-CA" altLang="fr-FR" sz="18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fr-CA" altLang="fr-FR" sz="1800">
                <a:solidFill>
                  <a:schemeClr val="tx1"/>
                </a:solidFill>
                <a:latin typeface="Times New Roman" panose="02020603050405020304" pitchFamily="18" charset="0"/>
              </a:rPr>
              <a:t> (1+ exp (- z_in</a:t>
            </a:r>
            <a:r>
              <a:rPr lang="fr-CA" altLang="fr-FR" sz="1800" baseline="-25000">
                <a:solidFill>
                  <a:schemeClr val="tx1"/>
                </a:solidFill>
                <a:latin typeface="Times New Roman" panose="02020603050405020304" pitchFamily="18" charset="0"/>
              </a:rPr>
              <a:t>1</a:t>
            </a:r>
            <a:r>
              <a:rPr lang="fr-CA" altLang="fr-FR" sz="1800">
                <a:solidFill>
                  <a:schemeClr val="tx1"/>
                </a:solidFill>
                <a:latin typeface="Times New Roman" panose="02020603050405020304" pitchFamily="18" charset="0"/>
              </a:rPr>
              <a:t>)) = 0.550 </a:t>
            </a:r>
            <a:endParaRPr lang="en-CA" altLang="fr-FR" sz="18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60451" name="Text Box 35">
            <a:extLst>
              <a:ext uri="{FF2B5EF4-FFF2-40B4-BE49-F238E27FC236}">
                <a16:creationId xmlns:a16="http://schemas.microsoft.com/office/drawing/2014/main" id="{54BDEA0F-71A2-46E5-B2B6-A74007D505D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88088" y="3541713"/>
            <a:ext cx="3840162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7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3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ts val="6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ts val="5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fr-CA" altLang="fr-FR" sz="1800">
                <a:solidFill>
                  <a:schemeClr val="tx1"/>
                </a:solidFill>
                <a:latin typeface="Times New Roman" panose="02020603050405020304" pitchFamily="18" charset="0"/>
              </a:rPr>
              <a:t>z</a:t>
            </a:r>
            <a:r>
              <a:rPr lang="fr-CA" altLang="fr-FR" sz="1800" baseline="-25000">
                <a:solidFill>
                  <a:schemeClr val="tx1"/>
                </a:solidFill>
                <a:latin typeface="Times New Roman" panose="02020603050405020304" pitchFamily="18" charset="0"/>
              </a:rPr>
              <a:t>2</a:t>
            </a:r>
            <a:r>
              <a:rPr lang="fr-CA" altLang="fr-FR" sz="1800">
                <a:solidFill>
                  <a:schemeClr val="tx1"/>
                </a:solidFill>
                <a:latin typeface="Times New Roman" panose="02020603050405020304" pitchFamily="18" charset="0"/>
              </a:rPr>
              <a:t> = 1 </a:t>
            </a:r>
            <a:r>
              <a:rPr lang="fr-CA" altLang="fr-FR" sz="18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fr-CA" altLang="fr-FR" sz="1800">
                <a:solidFill>
                  <a:schemeClr val="tx1"/>
                </a:solidFill>
                <a:latin typeface="Times New Roman" panose="02020603050405020304" pitchFamily="18" charset="0"/>
              </a:rPr>
              <a:t> (1+ exp (- z_in</a:t>
            </a:r>
            <a:r>
              <a:rPr lang="fr-CA" altLang="fr-FR" sz="1800" baseline="-25000">
                <a:solidFill>
                  <a:schemeClr val="tx1"/>
                </a:solidFill>
                <a:latin typeface="Times New Roman" panose="02020603050405020304" pitchFamily="18" charset="0"/>
              </a:rPr>
              <a:t>2</a:t>
            </a:r>
            <a:r>
              <a:rPr lang="fr-CA" altLang="fr-FR" sz="1800">
                <a:solidFill>
                  <a:schemeClr val="tx1"/>
                </a:solidFill>
                <a:latin typeface="Times New Roman" panose="02020603050405020304" pitchFamily="18" charset="0"/>
              </a:rPr>
              <a:t>)) = 0.711 </a:t>
            </a:r>
            <a:endParaRPr lang="en-CA" altLang="fr-FR" sz="18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60452" name="Rectangle 36">
            <a:extLst>
              <a:ext uri="{FF2B5EF4-FFF2-40B4-BE49-F238E27FC236}">
                <a16:creationId xmlns:a16="http://schemas.microsoft.com/office/drawing/2014/main" id="{C9AB66E4-B00F-4151-967D-36A8C4CD26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27725" y="4029076"/>
            <a:ext cx="30797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7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3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ts val="6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ts val="5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fr-CA" altLang="fr-FR" sz="2000" b="1">
                <a:solidFill>
                  <a:schemeClr val="tx1"/>
                </a:solidFill>
                <a:latin typeface="Times New Roman" panose="02020603050405020304" pitchFamily="18" charset="0"/>
              </a:rPr>
              <a:t>3. Net</a:t>
            </a:r>
            <a:r>
              <a:rPr lang="fr-CA" altLang="fr-FR" sz="2000">
                <a:solidFill>
                  <a:schemeClr val="tx1"/>
                </a:solidFill>
                <a:latin typeface="Times New Roman" panose="02020603050405020304" pitchFamily="18" charset="0"/>
              </a:rPr>
              <a:t> de la couche de sortie</a:t>
            </a:r>
            <a:endParaRPr lang="en-CA" altLang="fr-FR" sz="20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60453" name="Rectangle 37">
            <a:extLst>
              <a:ext uri="{FF2B5EF4-FFF2-40B4-BE49-F238E27FC236}">
                <a16:creationId xmlns:a16="http://schemas.microsoft.com/office/drawing/2014/main" id="{A040C668-379E-46AF-9001-4FF0B44C25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88088" y="4478338"/>
            <a:ext cx="41465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7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3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ts val="6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ts val="5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fr-CA" altLang="fr-FR" sz="1800">
                <a:solidFill>
                  <a:schemeClr val="tx1"/>
                </a:solidFill>
                <a:latin typeface="Times New Roman" panose="02020603050405020304" pitchFamily="18" charset="0"/>
              </a:rPr>
              <a:t>y_in = -0.3 + (z</a:t>
            </a:r>
            <a:r>
              <a:rPr lang="fr-CA" altLang="fr-FR" sz="1800" baseline="-25000">
                <a:solidFill>
                  <a:schemeClr val="tx1"/>
                </a:solidFill>
                <a:latin typeface="Times New Roman" panose="02020603050405020304" pitchFamily="18" charset="0"/>
              </a:rPr>
              <a:t>1</a:t>
            </a:r>
            <a:r>
              <a:rPr lang="fr-CA" altLang="fr-FR" sz="1800">
                <a:solidFill>
                  <a:schemeClr val="tx1"/>
                </a:solidFill>
                <a:latin typeface="Times New Roman" panose="02020603050405020304" pitchFamily="18" charset="0"/>
              </a:rPr>
              <a:t>) (0.5) + (z</a:t>
            </a:r>
            <a:r>
              <a:rPr lang="fr-CA" altLang="fr-FR" sz="1800" baseline="-25000">
                <a:solidFill>
                  <a:schemeClr val="tx1"/>
                </a:solidFill>
                <a:latin typeface="Times New Roman" panose="02020603050405020304" pitchFamily="18" charset="0"/>
              </a:rPr>
              <a:t>2</a:t>
            </a:r>
            <a:r>
              <a:rPr lang="fr-CA" altLang="fr-FR" sz="1800">
                <a:solidFill>
                  <a:schemeClr val="tx1"/>
                </a:solidFill>
                <a:latin typeface="Times New Roman" panose="02020603050405020304" pitchFamily="18" charset="0"/>
              </a:rPr>
              <a:t>) (0.1) = 0.046 </a:t>
            </a:r>
            <a:endParaRPr lang="en-CA" altLang="fr-FR" sz="18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60454" name="Rectangle 38">
            <a:extLst>
              <a:ext uri="{FF2B5EF4-FFF2-40B4-BE49-F238E27FC236}">
                <a16:creationId xmlns:a16="http://schemas.microsoft.com/office/drawing/2014/main" id="{F6D4D4F9-7658-41CF-9E77-8C07F62ACE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27726" y="4968876"/>
            <a:ext cx="31210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7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3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ts val="6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ts val="5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fr-CA" altLang="fr-FR" sz="2000" b="1">
                <a:solidFill>
                  <a:schemeClr val="tx1"/>
                </a:solidFill>
                <a:latin typeface="Times New Roman" panose="02020603050405020304" pitchFamily="18" charset="0"/>
              </a:rPr>
              <a:t>4. Out </a:t>
            </a:r>
            <a:r>
              <a:rPr lang="fr-CA" altLang="fr-FR" sz="2000">
                <a:solidFill>
                  <a:schemeClr val="tx1"/>
                </a:solidFill>
                <a:latin typeface="Times New Roman" panose="02020603050405020304" pitchFamily="18" charset="0"/>
              </a:rPr>
              <a:t>de la couche de sortie</a:t>
            </a:r>
            <a:endParaRPr lang="en-CA" altLang="fr-FR" sz="20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60455" name="Text Box 39">
            <a:extLst>
              <a:ext uri="{FF2B5EF4-FFF2-40B4-BE49-F238E27FC236}">
                <a16:creationId xmlns:a16="http://schemas.microsoft.com/office/drawing/2014/main" id="{3F15E22C-65A2-4E28-80C8-FAD69B8099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88088" y="5526088"/>
            <a:ext cx="1841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7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3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ts val="6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ts val="5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CA" altLang="fr-FR" sz="24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82984" name="Text Box 40">
            <a:extLst>
              <a:ext uri="{FF2B5EF4-FFF2-40B4-BE49-F238E27FC236}">
                <a16:creationId xmlns:a16="http://schemas.microsoft.com/office/drawing/2014/main" id="{3B28D8B8-07E7-4CD3-BA06-09AF244F72D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88088" y="5499101"/>
            <a:ext cx="3179762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7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3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ts val="6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ts val="5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fr-CA" altLang="fr-FR" sz="1800">
                <a:solidFill>
                  <a:schemeClr val="tx1"/>
                </a:solidFill>
                <a:latin typeface="Times New Roman" panose="02020603050405020304" pitchFamily="18" charset="0"/>
              </a:rPr>
              <a:t>y = 1 </a:t>
            </a:r>
            <a:r>
              <a:rPr lang="fr-CA" altLang="fr-FR" sz="18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fr-CA" altLang="fr-FR" sz="1800">
                <a:solidFill>
                  <a:schemeClr val="tx1"/>
                </a:solidFill>
                <a:latin typeface="Times New Roman" panose="02020603050405020304" pitchFamily="18" charset="0"/>
              </a:rPr>
              <a:t> (1+ exp (- y_in)) = 0.511 </a:t>
            </a:r>
            <a:endParaRPr lang="en-CA" altLang="fr-FR" sz="18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60457" name="Oval 41">
            <a:extLst>
              <a:ext uri="{FF2B5EF4-FFF2-40B4-BE49-F238E27FC236}">
                <a16:creationId xmlns:a16="http://schemas.microsoft.com/office/drawing/2014/main" id="{EC6661FA-123D-46BE-9015-7E0731B168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7788" y="2514600"/>
            <a:ext cx="315912" cy="1143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ts val="7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3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ts val="6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ts val="5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fr-FR" altLang="fr-FR" sz="1800">
              <a:latin typeface="Times New Roman" panose="02020603050405020304" pitchFamily="18" charset="0"/>
            </a:endParaRPr>
          </a:p>
        </p:txBody>
      </p:sp>
      <p:sp>
        <p:nvSpPr>
          <p:cNvPr id="60458" name="Text Box 42">
            <a:extLst>
              <a:ext uri="{FF2B5EF4-FFF2-40B4-BE49-F238E27FC236}">
                <a16:creationId xmlns:a16="http://schemas.microsoft.com/office/drawing/2014/main" id="{76A98EAE-C1F7-4D5D-BB43-0F9F594336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94025" y="1638301"/>
            <a:ext cx="19939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7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3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ts val="6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ts val="5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fr-CA" altLang="fr-FR" sz="1800" b="1">
                <a:solidFill>
                  <a:schemeClr val="tx1"/>
                </a:solidFill>
                <a:latin typeface="Times New Roman" panose="02020603050405020304" pitchFamily="18" charset="0"/>
              </a:rPr>
              <a:t>Propagation avant</a:t>
            </a:r>
            <a:endParaRPr lang="en-CA" altLang="fr-FR" sz="1800" b="1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60459" name="Group 43">
            <a:extLst>
              <a:ext uri="{FF2B5EF4-FFF2-40B4-BE49-F238E27FC236}">
                <a16:creationId xmlns:a16="http://schemas.microsoft.com/office/drawing/2014/main" id="{13C07029-379B-4890-ACE3-DF43730AEE95}"/>
              </a:ext>
            </a:extLst>
          </p:cNvPr>
          <p:cNvGrpSpPr>
            <a:grpSpLocks/>
          </p:cNvGrpSpPr>
          <p:nvPr/>
        </p:nvGrpSpPr>
        <p:grpSpPr bwMode="auto">
          <a:xfrm>
            <a:off x="1524001" y="44451"/>
            <a:ext cx="9142413" cy="365125"/>
            <a:chOff x="0" y="28"/>
            <a:chExt cx="5759" cy="230"/>
          </a:xfrm>
        </p:grpSpPr>
        <p:sp>
          <p:nvSpPr>
            <p:cNvPr id="60460" name="AutoShape 44">
              <a:extLst>
                <a:ext uri="{FF2B5EF4-FFF2-40B4-BE49-F238E27FC236}">
                  <a16:creationId xmlns:a16="http://schemas.microsoft.com/office/drawing/2014/main" id="{341C4120-E4CF-4C7F-B936-58E7E3B073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28"/>
              <a:ext cx="5760" cy="231"/>
            </a:xfrm>
            <a:prstGeom prst="roundRect">
              <a:avLst>
                <a:gd name="adj" fmla="val 431"/>
              </a:avLst>
            </a:prstGeom>
            <a:solidFill>
              <a:srgbClr val="3366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ts val="788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•"/>
                <a:defRPr sz="32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ts val="688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–"/>
                <a:defRPr sz="28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ts val="588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•"/>
                <a:defRPr sz="2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ts val="488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–"/>
                <a:defRPr sz="20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ts val="488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ts val="488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ts val="488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ts val="488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ts val="488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fr-FR" altLang="fr-FR" sz="1800">
                <a:latin typeface="Times New Roman" panose="02020603050405020304" pitchFamily="18" charset="0"/>
              </a:endParaRPr>
            </a:p>
          </p:txBody>
        </p:sp>
        <p:sp>
          <p:nvSpPr>
            <p:cNvPr id="60461" name="Text Box 45">
              <a:extLst>
                <a:ext uri="{FF2B5EF4-FFF2-40B4-BE49-F238E27FC236}">
                  <a16:creationId xmlns:a16="http://schemas.microsoft.com/office/drawing/2014/main" id="{8BD9828A-AEDD-4924-8334-3A9D4EC1FA9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0" y="28"/>
              <a:ext cx="576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000" tIns="46800" rIns="90000" bIns="46800">
              <a:spAutoFit/>
            </a:bodyPr>
            <a:lstStyle>
              <a:lvl1pPr>
                <a:spcBef>
                  <a:spcPts val="788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•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32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ts val="688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–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8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ts val="588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•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ts val="488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–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ts val="488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ts val="488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ts val="488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ts val="488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ts val="488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96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r>
                <a:rPr lang="en-GB" altLang="fr-FR" sz="1800">
                  <a:solidFill>
                    <a:schemeClr val="tx1"/>
                  </a:solidFill>
                </a:rPr>
                <a:t>Intelligence Artificielle 		Apprentissage			</a:t>
              </a:r>
            </a:p>
          </p:txBody>
        </p:sp>
      </p:grp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6136E5F-9325-4758-88AD-6565D7681F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06AE51-5606-4246-9C72-66A40F31299F}" type="slidenum">
              <a:rPr lang="fr-FR" smtClean="0"/>
              <a:pPr/>
              <a:t>29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612556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74464" presetClass="entr" presetSubtype="810234159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29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2984" grpId="0" autoUpdateAnimBg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11">
            <a:extLst>
              <a:ext uri="{FF2B5EF4-FFF2-40B4-BE49-F238E27FC236}">
                <a16:creationId xmlns:a16="http://schemas.microsoft.com/office/drawing/2014/main" id="{41600B59-3AC4-E409-1D10-6FFE2FA1E26E}"/>
              </a:ext>
            </a:extLst>
          </p:cNvPr>
          <p:cNvSpPr>
            <a:spLocks noChangeArrowheads="1"/>
          </p:cNvSpPr>
          <p:nvPr/>
        </p:nvSpPr>
        <p:spPr bwMode="auto">
          <a:xfrm rot="16200000">
            <a:off x="1625194" y="2103037"/>
            <a:ext cx="4159251" cy="4436275"/>
          </a:xfrm>
          <a:prstGeom prst="rect">
            <a:avLst/>
          </a:prstGeom>
          <a:solidFill>
            <a:srgbClr val="E2E2E2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ts val="7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3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ts val="6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ts val="5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CA" altLang="fr-FR" sz="24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62466" name="Text Box 2">
            <a:extLst>
              <a:ext uri="{FF2B5EF4-FFF2-40B4-BE49-F238E27FC236}">
                <a16:creationId xmlns:a16="http://schemas.microsoft.com/office/drawing/2014/main" id="{9F7056F3-4809-4F75-B68E-581644E1ED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55787" y="574676"/>
            <a:ext cx="8940367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ts val="7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3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ts val="6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ts val="5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fr-CA" altLang="fr-FR" sz="20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Exemple 2. </a:t>
            </a:r>
            <a:r>
              <a:rPr lang="fr-CA" altLang="fr-FR" sz="2000" dirty="0">
                <a:solidFill>
                  <a:schemeClr val="tx1"/>
                </a:solidFill>
                <a:latin typeface="Times New Roman" panose="02020603050405020304" pitchFamily="18" charset="0"/>
              </a:rPr>
              <a:t>Trouver les nouveaux poids du réseau de la figure ci-dessous si on présente le vecteur d’apprentissage (0,1). t=1 et </a:t>
            </a:r>
            <a:r>
              <a:rPr lang="fr-CA" altLang="fr-FR" sz="2000" dirty="0">
                <a:solidFill>
                  <a:schemeClr val="tx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=0,25. Avec valeur désirée t=1. </a:t>
            </a:r>
            <a:endParaRPr lang="en-CA" altLang="fr-FR" sz="2000" dirty="0">
              <a:solidFill>
                <a:schemeClr val="tx1"/>
              </a:solidFill>
              <a:latin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62468" name="Oval 4">
            <a:extLst>
              <a:ext uri="{FF2B5EF4-FFF2-40B4-BE49-F238E27FC236}">
                <a16:creationId xmlns:a16="http://schemas.microsoft.com/office/drawing/2014/main" id="{E2648E4B-93C6-4A0A-8F2E-152DF8D4AC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714" y="3703638"/>
            <a:ext cx="573087" cy="588962"/>
          </a:xfrm>
          <a:prstGeom prst="ellipse">
            <a:avLst/>
          </a:prstGeom>
          <a:solidFill>
            <a:srgbClr val="E2E2E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ts val="7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3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ts val="6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ts val="5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fr-CA" altLang="fr-FR" sz="1800" b="1">
                <a:solidFill>
                  <a:schemeClr val="tx1"/>
                </a:solidFill>
                <a:latin typeface="Times New Roman" panose="02020603050405020304" pitchFamily="18" charset="0"/>
              </a:rPr>
              <a:t>Z</a:t>
            </a:r>
            <a:r>
              <a:rPr lang="fr-CA" altLang="fr-FR" sz="1600" b="1" baseline="-25000">
                <a:solidFill>
                  <a:schemeClr val="tx1"/>
                </a:solidFill>
                <a:latin typeface="Times New Roman" panose="02020603050405020304" pitchFamily="18" charset="0"/>
              </a:rPr>
              <a:t>2</a:t>
            </a:r>
            <a:endParaRPr lang="en-US" altLang="fr-FR" sz="1800" b="1" baseline="-250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62469" name="Oval 5">
            <a:extLst>
              <a:ext uri="{FF2B5EF4-FFF2-40B4-BE49-F238E27FC236}">
                <a16:creationId xmlns:a16="http://schemas.microsoft.com/office/drawing/2014/main" id="{8405877A-2045-46C7-95B2-9B006E138B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65413" y="3735389"/>
            <a:ext cx="576262" cy="585787"/>
          </a:xfrm>
          <a:prstGeom prst="ellipse">
            <a:avLst/>
          </a:prstGeom>
          <a:solidFill>
            <a:srgbClr val="E2E2E2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>
            <a:lvl1pPr>
              <a:spcBef>
                <a:spcPts val="7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3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ts val="6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ts val="5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fr-CA" altLang="fr-FR" sz="1800" b="1">
                <a:solidFill>
                  <a:schemeClr val="tx1"/>
                </a:solidFill>
                <a:latin typeface="Times New Roman" panose="02020603050405020304" pitchFamily="18" charset="0"/>
              </a:rPr>
              <a:t>Z</a:t>
            </a:r>
            <a:r>
              <a:rPr lang="fr-CA" altLang="fr-FR" sz="1600" b="1" baseline="-25000">
                <a:solidFill>
                  <a:schemeClr val="tx1"/>
                </a:solidFill>
                <a:latin typeface="Times New Roman" panose="02020603050405020304" pitchFamily="18" charset="0"/>
              </a:rPr>
              <a:t>1</a:t>
            </a:r>
            <a:endParaRPr lang="en-US" altLang="fr-FR" sz="1800" b="1" baseline="-250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62470" name="Oval 6">
            <a:extLst>
              <a:ext uri="{FF2B5EF4-FFF2-40B4-BE49-F238E27FC236}">
                <a16:creationId xmlns:a16="http://schemas.microsoft.com/office/drawing/2014/main" id="{FEDC4B60-26BA-4060-8790-F7FA4AB290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03575" y="2514600"/>
            <a:ext cx="477838" cy="490538"/>
          </a:xfrm>
          <a:prstGeom prst="ellipse">
            <a:avLst/>
          </a:prstGeom>
          <a:solidFill>
            <a:srgbClr val="E2E2E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ts val="7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3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ts val="6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ts val="5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fr-FR" sz="1800" b="1">
                <a:solidFill>
                  <a:schemeClr val="tx1"/>
                </a:solidFill>
                <a:latin typeface="Times New Roman" panose="02020603050405020304" pitchFamily="18" charset="0"/>
              </a:rPr>
              <a:t>Y</a:t>
            </a:r>
          </a:p>
        </p:txBody>
      </p:sp>
      <p:sp>
        <p:nvSpPr>
          <p:cNvPr id="62471" name="Oval 7">
            <a:extLst>
              <a:ext uri="{FF2B5EF4-FFF2-40B4-BE49-F238E27FC236}">
                <a16:creationId xmlns:a16="http://schemas.microsoft.com/office/drawing/2014/main" id="{39070201-D8CC-4C9A-AB94-EB8194BA3D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24300" y="5280025"/>
            <a:ext cx="585788" cy="585788"/>
          </a:xfrm>
          <a:prstGeom prst="ellipse">
            <a:avLst/>
          </a:prstGeom>
          <a:solidFill>
            <a:srgbClr val="E2E2E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ts val="7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3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ts val="6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ts val="5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fr-CA" altLang="fr-FR" sz="1800" b="1">
                <a:solidFill>
                  <a:schemeClr val="tx1"/>
                </a:solidFill>
                <a:latin typeface="Times New Roman" panose="02020603050405020304" pitchFamily="18" charset="0"/>
              </a:rPr>
              <a:t>X</a:t>
            </a:r>
            <a:r>
              <a:rPr lang="fr-CA" altLang="fr-FR" sz="1400" b="1" baseline="-25000">
                <a:solidFill>
                  <a:schemeClr val="tx1"/>
                </a:solidFill>
                <a:latin typeface="Times New Roman" panose="02020603050405020304" pitchFamily="18" charset="0"/>
              </a:rPr>
              <a:t>2</a:t>
            </a:r>
            <a:endParaRPr lang="en-US" altLang="fr-FR" sz="1800" b="1" baseline="-250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62472" name="Oval 8">
            <a:extLst>
              <a:ext uri="{FF2B5EF4-FFF2-40B4-BE49-F238E27FC236}">
                <a16:creationId xmlns:a16="http://schemas.microsoft.com/office/drawing/2014/main" id="{45E5A784-7803-4A51-8203-CDC2264D20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65375" y="5280025"/>
            <a:ext cx="585788" cy="585788"/>
          </a:xfrm>
          <a:prstGeom prst="ellipse">
            <a:avLst/>
          </a:prstGeom>
          <a:solidFill>
            <a:srgbClr val="E2E2E2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>
            <a:lvl1pPr>
              <a:spcBef>
                <a:spcPts val="7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3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ts val="6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ts val="5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fr-CA" altLang="fr-FR" sz="1800" b="1">
                <a:solidFill>
                  <a:schemeClr val="tx1"/>
                </a:solidFill>
                <a:latin typeface="Times New Roman" panose="02020603050405020304" pitchFamily="18" charset="0"/>
              </a:rPr>
              <a:t>X</a:t>
            </a:r>
            <a:r>
              <a:rPr lang="fr-CA" altLang="fr-FR" sz="1400" b="1" baseline="-25000">
                <a:solidFill>
                  <a:schemeClr val="tx1"/>
                </a:solidFill>
                <a:latin typeface="Times New Roman" panose="02020603050405020304" pitchFamily="18" charset="0"/>
              </a:rPr>
              <a:t>1</a:t>
            </a:r>
            <a:endParaRPr lang="en-US" altLang="fr-FR" sz="1800" b="1" baseline="-250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cxnSp>
        <p:nvCxnSpPr>
          <p:cNvPr id="62473" name="AutoShape 9">
            <a:extLst>
              <a:ext uri="{FF2B5EF4-FFF2-40B4-BE49-F238E27FC236}">
                <a16:creationId xmlns:a16="http://schemas.microsoft.com/office/drawing/2014/main" id="{7B0C0C42-0257-43D5-B32F-7D06071D8BED}"/>
              </a:ext>
            </a:extLst>
          </p:cNvPr>
          <p:cNvCxnSpPr>
            <a:cxnSpLocks noChangeShapeType="1"/>
            <a:stCxn id="62472" idx="0"/>
            <a:endCxn id="62469" idx="4"/>
          </p:cNvCxnSpPr>
          <p:nvPr/>
        </p:nvCxnSpPr>
        <p:spPr bwMode="auto">
          <a:xfrm flipV="1">
            <a:off x="2659064" y="4321175"/>
            <a:ext cx="295275" cy="95885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62474" name="AutoShape 10">
            <a:extLst>
              <a:ext uri="{FF2B5EF4-FFF2-40B4-BE49-F238E27FC236}">
                <a16:creationId xmlns:a16="http://schemas.microsoft.com/office/drawing/2014/main" id="{43425C8C-A486-4792-85AA-D2F11525B8ED}"/>
              </a:ext>
            </a:extLst>
          </p:cNvPr>
          <p:cNvCxnSpPr>
            <a:cxnSpLocks noChangeShapeType="1"/>
            <a:stCxn id="62472" idx="7"/>
            <a:endCxn id="62468" idx="3"/>
          </p:cNvCxnSpPr>
          <p:nvPr/>
        </p:nvCxnSpPr>
        <p:spPr bwMode="auto">
          <a:xfrm flipV="1">
            <a:off x="2865438" y="4206876"/>
            <a:ext cx="760412" cy="1158875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62475" name="AutoShape 11">
            <a:extLst>
              <a:ext uri="{FF2B5EF4-FFF2-40B4-BE49-F238E27FC236}">
                <a16:creationId xmlns:a16="http://schemas.microsoft.com/office/drawing/2014/main" id="{C87D6424-50BF-4DAE-9540-C25B0267496C}"/>
              </a:ext>
            </a:extLst>
          </p:cNvPr>
          <p:cNvCxnSpPr>
            <a:cxnSpLocks noChangeShapeType="1"/>
            <a:stCxn id="62469" idx="0"/>
            <a:endCxn id="62470" idx="3"/>
          </p:cNvCxnSpPr>
          <p:nvPr/>
        </p:nvCxnSpPr>
        <p:spPr bwMode="auto">
          <a:xfrm flipV="1">
            <a:off x="2954339" y="2933700"/>
            <a:ext cx="319087" cy="801688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62476" name="AutoShape 12">
            <a:extLst>
              <a:ext uri="{FF2B5EF4-FFF2-40B4-BE49-F238E27FC236}">
                <a16:creationId xmlns:a16="http://schemas.microsoft.com/office/drawing/2014/main" id="{EF213590-1755-4AAB-AA2B-B6FFD66FEDF6}"/>
              </a:ext>
            </a:extLst>
          </p:cNvPr>
          <p:cNvCxnSpPr>
            <a:cxnSpLocks noChangeShapeType="1"/>
            <a:stCxn id="62468" idx="0"/>
            <a:endCxn id="62470" idx="5"/>
          </p:cNvCxnSpPr>
          <p:nvPr/>
        </p:nvCxnSpPr>
        <p:spPr bwMode="auto">
          <a:xfrm flipH="1" flipV="1">
            <a:off x="3611564" y="2933700"/>
            <a:ext cx="217487" cy="769938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62477" name="AutoShape 13">
            <a:extLst>
              <a:ext uri="{FF2B5EF4-FFF2-40B4-BE49-F238E27FC236}">
                <a16:creationId xmlns:a16="http://schemas.microsoft.com/office/drawing/2014/main" id="{E659024F-58CD-40C0-976A-FDC86D020645}"/>
              </a:ext>
            </a:extLst>
          </p:cNvPr>
          <p:cNvCxnSpPr>
            <a:cxnSpLocks noChangeShapeType="1"/>
            <a:stCxn id="62471" idx="1"/>
            <a:endCxn id="62469" idx="5"/>
          </p:cNvCxnSpPr>
          <p:nvPr/>
        </p:nvCxnSpPr>
        <p:spPr bwMode="auto">
          <a:xfrm flipH="1" flipV="1">
            <a:off x="3157539" y="4235450"/>
            <a:ext cx="852487" cy="113030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62478" name="AutoShape 14">
            <a:extLst>
              <a:ext uri="{FF2B5EF4-FFF2-40B4-BE49-F238E27FC236}">
                <a16:creationId xmlns:a16="http://schemas.microsoft.com/office/drawing/2014/main" id="{CF24EC6B-FB31-4935-BE25-2CC72430D04D}"/>
              </a:ext>
            </a:extLst>
          </p:cNvPr>
          <p:cNvCxnSpPr>
            <a:cxnSpLocks noChangeShapeType="1"/>
            <a:stCxn id="62471" idx="0"/>
            <a:endCxn id="62468" idx="4"/>
          </p:cNvCxnSpPr>
          <p:nvPr/>
        </p:nvCxnSpPr>
        <p:spPr bwMode="auto">
          <a:xfrm flipH="1" flipV="1">
            <a:off x="3829050" y="4292601"/>
            <a:ext cx="388938" cy="987425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62479" name="Oval 15">
            <a:extLst>
              <a:ext uri="{FF2B5EF4-FFF2-40B4-BE49-F238E27FC236}">
                <a16:creationId xmlns:a16="http://schemas.microsoft.com/office/drawing/2014/main" id="{D8CBB4BD-9D6B-4A05-AE4D-407257ED2D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21214" y="4845050"/>
            <a:ext cx="236537" cy="236538"/>
          </a:xfrm>
          <a:prstGeom prst="ellipse">
            <a:avLst/>
          </a:prstGeom>
          <a:solidFill>
            <a:srgbClr val="E2E2E2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ts val="7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3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ts val="6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ts val="5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fr-CA" altLang="fr-FR" sz="1800">
                <a:solidFill>
                  <a:schemeClr val="tx1"/>
                </a:solidFill>
                <a:latin typeface="Times New Roman" panose="02020603050405020304" pitchFamily="18" charset="0"/>
              </a:rPr>
              <a:t>1</a:t>
            </a:r>
            <a:endParaRPr lang="en-CA" altLang="fr-FR" sz="18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62480" name="Oval 16">
            <a:extLst>
              <a:ext uri="{FF2B5EF4-FFF2-40B4-BE49-F238E27FC236}">
                <a16:creationId xmlns:a16="http://schemas.microsoft.com/office/drawing/2014/main" id="{8B16C90F-6F85-44CF-94B4-EA953965EC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44689" y="4845050"/>
            <a:ext cx="236537" cy="236538"/>
          </a:xfrm>
          <a:prstGeom prst="ellipse">
            <a:avLst/>
          </a:prstGeom>
          <a:solidFill>
            <a:srgbClr val="E2E2E2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ts val="7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3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ts val="6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ts val="5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fr-CA" altLang="fr-FR" sz="1800">
                <a:solidFill>
                  <a:schemeClr val="tx1"/>
                </a:solidFill>
                <a:latin typeface="Times New Roman" panose="02020603050405020304" pitchFamily="18" charset="0"/>
              </a:rPr>
              <a:t>1</a:t>
            </a:r>
            <a:endParaRPr lang="en-CA" altLang="fr-FR" sz="18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62481" name="Oval 17">
            <a:extLst>
              <a:ext uri="{FF2B5EF4-FFF2-40B4-BE49-F238E27FC236}">
                <a16:creationId xmlns:a16="http://schemas.microsoft.com/office/drawing/2014/main" id="{AA64FD67-2994-49C7-987D-8D2BCB56D0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36800" y="3295650"/>
            <a:ext cx="236538" cy="236538"/>
          </a:xfrm>
          <a:prstGeom prst="ellipse">
            <a:avLst/>
          </a:prstGeom>
          <a:solidFill>
            <a:srgbClr val="E2E2E2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ts val="7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3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ts val="6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ts val="5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fr-CA" altLang="fr-FR" sz="1800">
                <a:solidFill>
                  <a:schemeClr val="tx1"/>
                </a:solidFill>
                <a:latin typeface="Times New Roman" panose="02020603050405020304" pitchFamily="18" charset="0"/>
              </a:rPr>
              <a:t>1</a:t>
            </a:r>
            <a:endParaRPr lang="en-CA" altLang="fr-FR" sz="18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cxnSp>
        <p:nvCxnSpPr>
          <p:cNvPr id="62482" name="AutoShape 18">
            <a:extLst>
              <a:ext uri="{FF2B5EF4-FFF2-40B4-BE49-F238E27FC236}">
                <a16:creationId xmlns:a16="http://schemas.microsoft.com/office/drawing/2014/main" id="{AE6259A7-1DBB-4531-B914-CFFE14879BD2}"/>
              </a:ext>
            </a:extLst>
          </p:cNvPr>
          <p:cNvCxnSpPr>
            <a:cxnSpLocks noChangeShapeType="1"/>
            <a:stCxn id="62479" idx="0"/>
            <a:endCxn id="62468" idx="6"/>
          </p:cNvCxnSpPr>
          <p:nvPr/>
        </p:nvCxnSpPr>
        <p:spPr bwMode="auto">
          <a:xfrm rot="5400000" flipH="1">
            <a:off x="4004470" y="4109245"/>
            <a:ext cx="846137" cy="625475"/>
          </a:xfrm>
          <a:prstGeom prst="curvedConnector2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62483" name="AutoShape 19">
            <a:extLst>
              <a:ext uri="{FF2B5EF4-FFF2-40B4-BE49-F238E27FC236}">
                <a16:creationId xmlns:a16="http://schemas.microsoft.com/office/drawing/2014/main" id="{B6327735-4904-4AAF-940A-3DADE7D88E59}"/>
              </a:ext>
            </a:extLst>
          </p:cNvPr>
          <p:cNvCxnSpPr>
            <a:cxnSpLocks noChangeShapeType="1"/>
            <a:stCxn id="62481" idx="0"/>
            <a:endCxn id="62470" idx="2"/>
          </p:cNvCxnSpPr>
          <p:nvPr/>
        </p:nvCxnSpPr>
        <p:spPr bwMode="auto">
          <a:xfrm rot="16200000">
            <a:off x="2562226" y="2654301"/>
            <a:ext cx="534987" cy="747712"/>
          </a:xfrm>
          <a:prstGeom prst="curvedConnector2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62484" name="Rectangle 20">
            <a:extLst>
              <a:ext uri="{FF2B5EF4-FFF2-40B4-BE49-F238E27FC236}">
                <a16:creationId xmlns:a16="http://schemas.microsoft.com/office/drawing/2014/main" id="{EFC1601E-E6F1-4DDD-BDD8-8E0C487E3D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98775" y="3344864"/>
            <a:ext cx="374650" cy="274637"/>
          </a:xfrm>
          <a:prstGeom prst="rect">
            <a:avLst/>
          </a:prstGeom>
          <a:solidFill>
            <a:srgbClr val="E2E2E2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7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3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ts val="6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ts val="5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fr-CA" altLang="fr-FR" sz="1200">
                <a:solidFill>
                  <a:schemeClr val="tx1"/>
                </a:solidFill>
                <a:latin typeface="Times New Roman" panose="02020603050405020304" pitchFamily="18" charset="0"/>
              </a:rPr>
              <a:t>0.5</a:t>
            </a:r>
            <a:endParaRPr lang="en-CA" altLang="fr-FR" sz="1200" baseline="-250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62485" name="Rectangle 21">
            <a:extLst>
              <a:ext uri="{FF2B5EF4-FFF2-40B4-BE49-F238E27FC236}">
                <a16:creationId xmlns:a16="http://schemas.microsoft.com/office/drawing/2014/main" id="{B1729DA4-D830-45C3-9B29-C4274CB957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59063" y="4530725"/>
            <a:ext cx="374650" cy="274638"/>
          </a:xfrm>
          <a:prstGeom prst="rect">
            <a:avLst/>
          </a:prstGeom>
          <a:solidFill>
            <a:srgbClr val="E2E2E2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7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3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ts val="6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ts val="5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fr-CA" altLang="fr-FR" sz="1200">
                <a:solidFill>
                  <a:schemeClr val="tx1"/>
                </a:solidFill>
                <a:latin typeface="Times New Roman" panose="02020603050405020304" pitchFamily="18" charset="0"/>
              </a:rPr>
              <a:t>0.7</a:t>
            </a:r>
            <a:endParaRPr lang="en-CA" altLang="fr-FR" sz="1200" baseline="-250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62486" name="Rectangle 22">
            <a:extLst>
              <a:ext uri="{FF2B5EF4-FFF2-40B4-BE49-F238E27FC236}">
                <a16:creationId xmlns:a16="http://schemas.microsoft.com/office/drawing/2014/main" id="{77C7C278-C072-4EBC-96E0-654C156BF6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74975" y="4805364"/>
            <a:ext cx="425450" cy="274637"/>
          </a:xfrm>
          <a:prstGeom prst="rect">
            <a:avLst/>
          </a:prstGeom>
          <a:solidFill>
            <a:srgbClr val="E2E2E2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7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3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ts val="6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ts val="5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fr-CA" altLang="fr-FR" sz="1200">
                <a:solidFill>
                  <a:schemeClr val="tx1"/>
                </a:solidFill>
                <a:latin typeface="Times New Roman" panose="02020603050405020304" pitchFamily="18" charset="0"/>
              </a:rPr>
              <a:t>-0.4</a:t>
            </a:r>
            <a:endParaRPr lang="en-CA" altLang="fr-FR" sz="1200" baseline="-250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62487" name="Rectangle 23">
            <a:extLst>
              <a:ext uri="{FF2B5EF4-FFF2-40B4-BE49-F238E27FC236}">
                <a16:creationId xmlns:a16="http://schemas.microsoft.com/office/drawing/2014/main" id="{015A7F14-E842-4190-B56C-696BFC00E5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82975" y="4786314"/>
            <a:ext cx="425450" cy="274637"/>
          </a:xfrm>
          <a:prstGeom prst="rect">
            <a:avLst/>
          </a:prstGeom>
          <a:solidFill>
            <a:srgbClr val="E2E2E2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7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3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ts val="6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ts val="5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fr-CA" altLang="fr-FR" sz="1200">
                <a:solidFill>
                  <a:schemeClr val="tx1"/>
                </a:solidFill>
                <a:latin typeface="Times New Roman" panose="02020603050405020304" pitchFamily="18" charset="0"/>
              </a:rPr>
              <a:t>-0.2</a:t>
            </a:r>
            <a:endParaRPr lang="en-CA" altLang="fr-FR" sz="1200" baseline="-250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62488" name="Rectangle 24">
            <a:extLst>
              <a:ext uri="{FF2B5EF4-FFF2-40B4-BE49-F238E27FC236}">
                <a16:creationId xmlns:a16="http://schemas.microsoft.com/office/drawing/2014/main" id="{EFCBC094-7C69-48CA-9A2A-FD2F538A68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29050" y="4530725"/>
            <a:ext cx="374650" cy="274638"/>
          </a:xfrm>
          <a:prstGeom prst="rect">
            <a:avLst/>
          </a:prstGeom>
          <a:solidFill>
            <a:srgbClr val="E2E2E2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7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3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ts val="6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ts val="5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fr-CA" altLang="fr-FR" sz="1200">
                <a:solidFill>
                  <a:schemeClr val="tx1"/>
                </a:solidFill>
                <a:latin typeface="Times New Roman" panose="02020603050405020304" pitchFamily="18" charset="0"/>
              </a:rPr>
              <a:t>0.3</a:t>
            </a:r>
            <a:endParaRPr lang="en-CA" altLang="fr-FR" sz="1200" baseline="-250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62489" name="Rectangle 25">
            <a:extLst>
              <a:ext uri="{FF2B5EF4-FFF2-40B4-BE49-F238E27FC236}">
                <a16:creationId xmlns:a16="http://schemas.microsoft.com/office/drawing/2014/main" id="{B4852B9A-AC30-426C-9021-6D0CEA2B51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13150" y="3344864"/>
            <a:ext cx="374650" cy="274637"/>
          </a:xfrm>
          <a:prstGeom prst="rect">
            <a:avLst/>
          </a:prstGeom>
          <a:solidFill>
            <a:srgbClr val="E2E2E2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7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3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ts val="6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ts val="5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fr-CA" altLang="fr-FR" sz="1200">
                <a:solidFill>
                  <a:schemeClr val="tx1"/>
                </a:solidFill>
                <a:latin typeface="Times New Roman" panose="02020603050405020304" pitchFamily="18" charset="0"/>
              </a:rPr>
              <a:t>0.1</a:t>
            </a:r>
            <a:endParaRPr lang="en-CA" altLang="fr-FR" sz="1200" baseline="-250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62490" name="Rectangle 26">
            <a:extLst>
              <a:ext uri="{FF2B5EF4-FFF2-40B4-BE49-F238E27FC236}">
                <a16:creationId xmlns:a16="http://schemas.microsoft.com/office/drawing/2014/main" id="{5E4526D4-24FD-46D7-BEB3-00DA3E3D2C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00300" y="2933700"/>
            <a:ext cx="425450" cy="274638"/>
          </a:xfrm>
          <a:prstGeom prst="rect">
            <a:avLst/>
          </a:prstGeom>
          <a:solidFill>
            <a:srgbClr val="E2E2E2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7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3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ts val="6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ts val="5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fr-CA" altLang="fr-FR" sz="1200">
                <a:solidFill>
                  <a:schemeClr val="tx1"/>
                </a:solidFill>
                <a:latin typeface="Times New Roman" panose="02020603050405020304" pitchFamily="18" charset="0"/>
              </a:rPr>
              <a:t>-0.3</a:t>
            </a:r>
            <a:endParaRPr lang="en-CA" altLang="fr-FR" sz="1200" baseline="-250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62491" name="Rectangle 27">
            <a:extLst>
              <a:ext uri="{FF2B5EF4-FFF2-40B4-BE49-F238E27FC236}">
                <a16:creationId xmlns:a16="http://schemas.microsoft.com/office/drawing/2014/main" id="{BDAD5890-0C4E-4A3C-A017-D1A2FB97E2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65638" y="4292600"/>
            <a:ext cx="374650" cy="274638"/>
          </a:xfrm>
          <a:prstGeom prst="rect">
            <a:avLst/>
          </a:prstGeom>
          <a:solidFill>
            <a:srgbClr val="E2E2E2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7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3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ts val="6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ts val="5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fr-CA" altLang="fr-FR" sz="1200">
                <a:solidFill>
                  <a:schemeClr val="tx1"/>
                </a:solidFill>
                <a:latin typeface="Times New Roman" panose="02020603050405020304" pitchFamily="18" charset="0"/>
              </a:rPr>
              <a:t>0.6</a:t>
            </a:r>
            <a:endParaRPr lang="en-CA" altLang="fr-FR" sz="1200" baseline="-250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cxnSp>
        <p:nvCxnSpPr>
          <p:cNvPr id="62492" name="AutoShape 28">
            <a:extLst>
              <a:ext uri="{FF2B5EF4-FFF2-40B4-BE49-F238E27FC236}">
                <a16:creationId xmlns:a16="http://schemas.microsoft.com/office/drawing/2014/main" id="{139D5826-9427-4B02-859B-F72CE8DBB001}"/>
              </a:ext>
            </a:extLst>
          </p:cNvPr>
          <p:cNvCxnSpPr>
            <a:cxnSpLocks noChangeShapeType="1"/>
            <a:stCxn id="62480" idx="0"/>
            <a:endCxn id="62469" idx="2"/>
          </p:cNvCxnSpPr>
          <p:nvPr/>
        </p:nvCxnSpPr>
        <p:spPr bwMode="auto">
          <a:xfrm rot="16200000">
            <a:off x="1956595" y="4136232"/>
            <a:ext cx="815975" cy="601663"/>
          </a:xfrm>
          <a:prstGeom prst="curvedConnector2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62493" name="Rectangle 29">
            <a:extLst>
              <a:ext uri="{FF2B5EF4-FFF2-40B4-BE49-F238E27FC236}">
                <a16:creationId xmlns:a16="http://schemas.microsoft.com/office/drawing/2014/main" id="{1C57D307-B77B-4969-B88A-7E331FE3CC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25650" y="4256089"/>
            <a:ext cx="374650" cy="274637"/>
          </a:xfrm>
          <a:prstGeom prst="rect">
            <a:avLst/>
          </a:prstGeom>
          <a:solidFill>
            <a:srgbClr val="E2E2E2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7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3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ts val="6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ts val="5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fr-CA" altLang="fr-FR" sz="1200">
                <a:solidFill>
                  <a:schemeClr val="tx1"/>
                </a:solidFill>
                <a:latin typeface="Times New Roman" panose="02020603050405020304" pitchFamily="18" charset="0"/>
              </a:rPr>
              <a:t>0.4</a:t>
            </a:r>
            <a:endParaRPr lang="en-CA" altLang="fr-FR" sz="1200" baseline="-250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83998" name="Text Box 30">
            <a:extLst>
              <a:ext uri="{FF2B5EF4-FFF2-40B4-BE49-F238E27FC236}">
                <a16:creationId xmlns:a16="http://schemas.microsoft.com/office/drawing/2014/main" id="{4A152316-FF5D-41AB-B585-E5DD33C3D54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27725" y="1211264"/>
            <a:ext cx="12001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7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3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ts val="6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ts val="5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fr-CA" altLang="fr-FR" sz="2000" b="1">
                <a:solidFill>
                  <a:schemeClr val="tx1"/>
                </a:solidFill>
                <a:latin typeface="Times New Roman" panose="02020603050405020304" pitchFamily="18" charset="0"/>
              </a:rPr>
              <a:t>5. Erreur</a:t>
            </a:r>
            <a:endParaRPr lang="en-CA" altLang="fr-FR" sz="20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83999" name="Text Box 31">
            <a:extLst>
              <a:ext uri="{FF2B5EF4-FFF2-40B4-BE49-F238E27FC236}">
                <a16:creationId xmlns:a16="http://schemas.microsoft.com/office/drawing/2014/main" id="{B97B62E4-1389-4AC4-AB0F-97DCFE0D3F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88089" y="1671638"/>
            <a:ext cx="2466975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7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3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ts val="6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ts val="5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fr-CA" altLang="fr-FR" sz="1800">
                <a:solidFill>
                  <a:schemeClr val="tx1"/>
                </a:solidFill>
                <a:latin typeface="Times New Roman" panose="02020603050405020304" pitchFamily="18" charset="0"/>
              </a:rPr>
              <a:t>t - y = 1 – 0.511 = 0.489 </a:t>
            </a:r>
            <a:endParaRPr lang="en-CA" altLang="fr-FR" sz="18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84000" name="Text Box 32">
            <a:extLst>
              <a:ext uri="{FF2B5EF4-FFF2-40B4-BE49-F238E27FC236}">
                <a16:creationId xmlns:a16="http://schemas.microsoft.com/office/drawing/2014/main" id="{46F13FFD-5521-4C85-9697-2B63C831D7F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91213" y="2038350"/>
            <a:ext cx="895350" cy="400050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spcBef>
                <a:spcPts val="7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3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ts val="6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ts val="5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fr-CA" altLang="fr-FR" sz="20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6. </a:t>
            </a:r>
            <a:r>
              <a:rPr lang="fr-CA" altLang="fr-FR" sz="2000" b="1" dirty="0" err="1">
                <a:solidFill>
                  <a:schemeClr val="tx1"/>
                </a:solidFill>
                <a:latin typeface="Symbol" panose="05050102010706020507" pitchFamily="18" charset="2"/>
              </a:rPr>
              <a:t>d</a:t>
            </a:r>
            <a:r>
              <a:rPr lang="fr-CA" altLang="fr-FR" sz="2000" b="1" dirty="0" err="1">
                <a:solidFill>
                  <a:schemeClr val="tx1"/>
                </a:solidFill>
                <a:latin typeface="Sylfaen" panose="010A0502050306030303" pitchFamily="18" charset="0"/>
                <a:cs typeface="+mn-cs"/>
              </a:rPr>
              <a:t>y</a:t>
            </a:r>
            <a:endParaRPr lang="en-CA" altLang="fr-FR" sz="2000" dirty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84001" name="Text Box 33">
            <a:extLst>
              <a:ext uri="{FF2B5EF4-FFF2-40B4-BE49-F238E27FC236}">
                <a16:creationId xmlns:a16="http://schemas.microsoft.com/office/drawing/2014/main" id="{40F98B82-A0BF-4E27-9CC4-8C9D4A9C3B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64275" y="2474913"/>
            <a:ext cx="29972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7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3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ts val="6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ts val="5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fr-CA" altLang="fr-FR" sz="2000" b="1" dirty="0" err="1">
                <a:solidFill>
                  <a:schemeClr val="tx1"/>
                </a:solidFill>
                <a:latin typeface="Symbol" panose="05050102010706020507" pitchFamily="18" charset="2"/>
              </a:rPr>
              <a:t>d</a:t>
            </a:r>
            <a:r>
              <a:rPr lang="fr-CA" altLang="fr-FR" sz="2000" b="1" dirty="0" err="1">
                <a:solidFill>
                  <a:schemeClr val="tx1"/>
                </a:solidFill>
                <a:latin typeface="Times New Roman" panose="02020603050405020304" pitchFamily="18" charset="0"/>
              </a:rPr>
              <a:t>y</a:t>
            </a:r>
            <a:r>
              <a:rPr lang="fr-CA" altLang="fr-FR" sz="20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= </a:t>
            </a:r>
            <a:r>
              <a:rPr lang="fr-CA" altLang="fr-FR" sz="1800" dirty="0">
                <a:solidFill>
                  <a:schemeClr val="tx1"/>
                </a:solidFill>
                <a:latin typeface="Times New Roman" panose="02020603050405020304" pitchFamily="18" charset="0"/>
              </a:rPr>
              <a:t>(y) (1 - y) (t – y) = 0.122 </a:t>
            </a:r>
            <a:endParaRPr lang="en-CA" altLang="fr-FR" sz="1800" dirty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62498" name="Text Box 34">
            <a:extLst>
              <a:ext uri="{FF2B5EF4-FFF2-40B4-BE49-F238E27FC236}">
                <a16:creationId xmlns:a16="http://schemas.microsoft.com/office/drawing/2014/main" id="{E01607A1-EE24-4EE4-89CA-55C0D18B6B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88088" y="6400800"/>
            <a:ext cx="1841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7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3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ts val="6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ts val="5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CA" altLang="fr-FR" sz="24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62499" name="Text Box 35">
            <a:extLst>
              <a:ext uri="{FF2B5EF4-FFF2-40B4-BE49-F238E27FC236}">
                <a16:creationId xmlns:a16="http://schemas.microsoft.com/office/drawing/2014/main" id="{202FC19C-26AB-46E9-9D9A-7833C62121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03475" y="1638301"/>
            <a:ext cx="20129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7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3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ts val="6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ts val="5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fr-CA" altLang="fr-FR" sz="1800" b="1">
                <a:solidFill>
                  <a:schemeClr val="tx1"/>
                </a:solidFill>
                <a:latin typeface="Times New Roman" panose="02020603050405020304" pitchFamily="18" charset="0"/>
              </a:rPr>
              <a:t>Rétro-propagation</a:t>
            </a:r>
            <a:endParaRPr lang="en-CA" altLang="fr-FR" sz="1800" b="1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62500" name="Rectangle 36">
            <a:extLst>
              <a:ext uri="{FF2B5EF4-FFF2-40B4-BE49-F238E27FC236}">
                <a16:creationId xmlns:a16="http://schemas.microsoft.com/office/drawing/2014/main" id="{41241A34-5877-432F-865C-5292DAE690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02843" y="2379665"/>
            <a:ext cx="1037433" cy="338554"/>
          </a:xfrm>
          <a:prstGeom prst="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>
            <a:lvl1pPr>
              <a:spcBef>
                <a:spcPts val="7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3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ts val="6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ts val="5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fr-CA" altLang="fr-FR" sz="1600" b="1" dirty="0" err="1">
                <a:solidFill>
                  <a:schemeClr val="tx1"/>
                </a:solidFill>
                <a:latin typeface="Symbol" panose="05050102010706020507" pitchFamily="18" charset="2"/>
              </a:rPr>
              <a:t>d</a:t>
            </a:r>
            <a:r>
              <a:rPr lang="fr-CA" altLang="fr-FR" sz="1600" b="1" dirty="0" err="1">
                <a:solidFill>
                  <a:schemeClr val="tx1"/>
                </a:solidFill>
                <a:latin typeface="Sylfaen" panose="010A0502050306030303" pitchFamily="18" charset="0"/>
                <a:cs typeface="+mn-cs"/>
              </a:rPr>
              <a:t>y</a:t>
            </a:r>
            <a:r>
              <a:rPr lang="fr-CA" altLang="fr-FR" sz="1600" b="1" dirty="0">
                <a:solidFill>
                  <a:schemeClr val="tx1"/>
                </a:solidFill>
                <a:latin typeface="Sylfaen" panose="010A0502050306030303" pitchFamily="18" charset="0"/>
                <a:cs typeface="+mn-cs"/>
              </a:rPr>
              <a:t> </a:t>
            </a:r>
            <a:r>
              <a:rPr lang="fr-CA" altLang="fr-FR" sz="1600" b="1" dirty="0">
                <a:solidFill>
                  <a:srgbClr val="FF0000"/>
                </a:solidFill>
                <a:latin typeface="Sylfaen" panose="010A0502050306030303" pitchFamily="18" charset="0"/>
              </a:rPr>
              <a:t>= 0.122</a:t>
            </a:r>
            <a:endParaRPr lang="en-CA" altLang="fr-FR" sz="1600" b="1" dirty="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62508" name="Group 44">
            <a:extLst>
              <a:ext uri="{FF2B5EF4-FFF2-40B4-BE49-F238E27FC236}">
                <a16:creationId xmlns:a16="http://schemas.microsoft.com/office/drawing/2014/main" id="{15F5D3A0-0309-408E-BCF3-B694CB3D34F8}"/>
              </a:ext>
            </a:extLst>
          </p:cNvPr>
          <p:cNvGrpSpPr>
            <a:grpSpLocks/>
          </p:cNvGrpSpPr>
          <p:nvPr/>
        </p:nvGrpSpPr>
        <p:grpSpPr bwMode="auto">
          <a:xfrm>
            <a:off x="1524001" y="44451"/>
            <a:ext cx="9142413" cy="365125"/>
            <a:chOff x="0" y="28"/>
            <a:chExt cx="5759" cy="230"/>
          </a:xfrm>
        </p:grpSpPr>
        <p:sp>
          <p:nvSpPr>
            <p:cNvPr id="62509" name="AutoShape 45">
              <a:extLst>
                <a:ext uri="{FF2B5EF4-FFF2-40B4-BE49-F238E27FC236}">
                  <a16:creationId xmlns:a16="http://schemas.microsoft.com/office/drawing/2014/main" id="{13010AFA-5CC7-4A3A-94B2-341EC2B4AD2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28"/>
              <a:ext cx="5760" cy="231"/>
            </a:xfrm>
            <a:prstGeom prst="roundRect">
              <a:avLst>
                <a:gd name="adj" fmla="val 431"/>
              </a:avLst>
            </a:prstGeom>
            <a:solidFill>
              <a:srgbClr val="3366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ts val="788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•"/>
                <a:defRPr sz="32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ts val="688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–"/>
                <a:defRPr sz="28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ts val="588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•"/>
                <a:defRPr sz="2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ts val="488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–"/>
                <a:defRPr sz="20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ts val="488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ts val="488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ts val="488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ts val="488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ts val="488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fr-FR" altLang="fr-FR" sz="1800">
                <a:latin typeface="Times New Roman" panose="02020603050405020304" pitchFamily="18" charset="0"/>
              </a:endParaRPr>
            </a:p>
          </p:txBody>
        </p:sp>
        <p:sp>
          <p:nvSpPr>
            <p:cNvPr id="62510" name="Text Box 46">
              <a:extLst>
                <a:ext uri="{FF2B5EF4-FFF2-40B4-BE49-F238E27FC236}">
                  <a16:creationId xmlns:a16="http://schemas.microsoft.com/office/drawing/2014/main" id="{B362611B-182E-47EB-BA36-F0920D5562E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0" y="28"/>
              <a:ext cx="576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000" tIns="46800" rIns="90000" bIns="46800">
              <a:spAutoFit/>
            </a:bodyPr>
            <a:lstStyle>
              <a:lvl1pPr>
                <a:spcBef>
                  <a:spcPts val="788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•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32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ts val="688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–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8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ts val="588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•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ts val="488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–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ts val="488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ts val="488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ts val="488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ts val="488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ts val="488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96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r>
                <a:rPr lang="en-GB" altLang="fr-FR" sz="1800">
                  <a:solidFill>
                    <a:schemeClr val="tx1"/>
                  </a:solidFill>
                </a:rPr>
                <a:t>Intelligence Artificielle 		Apprentissage			</a:t>
              </a:r>
            </a:p>
          </p:txBody>
        </p:sp>
      </p:grp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39B7C62-4658-417A-98D7-7E92B5BFB9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06AE51-5606-4246-9C72-66A40F31299F}" type="slidenum">
              <a:rPr lang="fr-FR" smtClean="0"/>
              <a:pPr/>
              <a:t>30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030681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74464" presetClass="entr" presetSubtype="810234159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39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274464" presetClass="entr" presetSubtype="810234159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39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274464" presetClass="entr" presetSubtype="810234159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40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274464" presetClass="entr" presetSubtype="810234159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40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5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3998" grpId="0" autoUpdateAnimBg="0"/>
      <p:bldP spid="83999" grpId="0" autoUpdateAnimBg="0"/>
      <p:bldP spid="84000" grpId="0" autoUpdateAnimBg="0"/>
      <p:bldP spid="84001" grpId="0" autoUpdateAnimBg="0"/>
      <p:bldP spid="62500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11">
            <a:extLst>
              <a:ext uri="{FF2B5EF4-FFF2-40B4-BE49-F238E27FC236}">
                <a16:creationId xmlns:a16="http://schemas.microsoft.com/office/drawing/2014/main" id="{C984CE58-B0BA-209D-5570-59CEE11E9B97}"/>
              </a:ext>
            </a:extLst>
          </p:cNvPr>
          <p:cNvSpPr>
            <a:spLocks noChangeArrowheads="1"/>
          </p:cNvSpPr>
          <p:nvPr/>
        </p:nvSpPr>
        <p:spPr bwMode="auto">
          <a:xfrm rot="16200000">
            <a:off x="1625194" y="2103037"/>
            <a:ext cx="4159251" cy="4436275"/>
          </a:xfrm>
          <a:prstGeom prst="rect">
            <a:avLst/>
          </a:prstGeom>
          <a:solidFill>
            <a:srgbClr val="E2E2E2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ts val="7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3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ts val="6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ts val="5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CA" altLang="fr-FR" sz="24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64514" name="Text Box 2">
            <a:extLst>
              <a:ext uri="{FF2B5EF4-FFF2-40B4-BE49-F238E27FC236}">
                <a16:creationId xmlns:a16="http://schemas.microsoft.com/office/drawing/2014/main" id="{6857164A-4EB1-46DF-BF9A-183C49C31C0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55788" y="574676"/>
            <a:ext cx="4672012" cy="1006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7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3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ts val="6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ts val="5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fr-CA" altLang="fr-FR" sz="2000" dirty="0">
                <a:solidFill>
                  <a:schemeClr val="tx1"/>
                </a:solidFill>
                <a:latin typeface="Times New Roman" panose="02020603050405020304" pitchFamily="18" charset="0"/>
              </a:rPr>
              <a:t>Trouver les nouveaux poids du réseau de la figure ci-dessous si on présente le vecteur d’apprentissage (0,1). t=1 et </a:t>
            </a:r>
            <a:r>
              <a:rPr lang="fr-CA" altLang="fr-FR" sz="2000" dirty="0">
                <a:solidFill>
                  <a:schemeClr val="tx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=0,25.</a:t>
            </a:r>
            <a:endParaRPr lang="en-CA" altLang="fr-FR" sz="2000" dirty="0">
              <a:solidFill>
                <a:schemeClr val="tx1"/>
              </a:solidFill>
              <a:latin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84995" name="Rectangle 3">
            <a:extLst>
              <a:ext uri="{FF2B5EF4-FFF2-40B4-BE49-F238E27FC236}">
                <a16:creationId xmlns:a16="http://schemas.microsoft.com/office/drawing/2014/main" id="{E6C61906-09F3-4308-8CB5-1254DAF298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08101" y="3523091"/>
            <a:ext cx="1128712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7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3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ts val="6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ts val="5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fr-CA" altLang="fr-FR" sz="2000" b="1">
                <a:solidFill>
                  <a:schemeClr val="tx1"/>
                </a:solidFill>
                <a:latin typeface="Times New Roman" panose="02020603050405020304" pitchFamily="18" charset="0"/>
              </a:rPr>
              <a:t>8. </a:t>
            </a:r>
            <a:r>
              <a:rPr lang="fr-CA" altLang="fr-FR" sz="2000" b="1">
                <a:solidFill>
                  <a:schemeClr val="tx1"/>
                </a:solidFill>
                <a:latin typeface="Symbol" panose="05050102010706020507" pitchFamily="18" charset="2"/>
              </a:rPr>
              <a:t>d</a:t>
            </a:r>
            <a:r>
              <a:rPr lang="fr-CA" altLang="fr-FR" sz="2000" b="1">
                <a:solidFill>
                  <a:schemeClr val="tx1"/>
                </a:solidFill>
                <a:latin typeface="Times New Roman" panose="02020603050405020304" pitchFamily="18" charset="0"/>
              </a:rPr>
              <a:t>z</a:t>
            </a:r>
            <a:r>
              <a:rPr lang="fr-CA" altLang="fr-FR" sz="2000" b="1" baseline="-25000">
                <a:solidFill>
                  <a:schemeClr val="tx1"/>
                </a:solidFill>
                <a:latin typeface="Times New Roman" panose="02020603050405020304" pitchFamily="18" charset="0"/>
              </a:rPr>
              <a:t>1</a:t>
            </a:r>
            <a:endParaRPr lang="en-CA" altLang="fr-FR" sz="2000" b="1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84996" name="Rectangle 4">
            <a:extLst>
              <a:ext uri="{FF2B5EF4-FFF2-40B4-BE49-F238E27FC236}">
                <a16:creationId xmlns:a16="http://schemas.microsoft.com/office/drawing/2014/main" id="{E4D91F94-7E35-456F-ADE7-FF48A1C8B5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68463" y="3942191"/>
            <a:ext cx="370205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7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3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ts val="6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ts val="5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fr-CA" altLang="fr-FR" sz="1800" dirty="0">
                <a:solidFill>
                  <a:schemeClr val="tx1"/>
                </a:solidFill>
                <a:latin typeface="Symbol" panose="05050102010706020507" pitchFamily="18" charset="2"/>
              </a:rPr>
              <a:t>d</a:t>
            </a:r>
            <a:r>
              <a:rPr lang="fr-CA" altLang="fr-FR" sz="1800" dirty="0">
                <a:solidFill>
                  <a:schemeClr val="tx1"/>
                </a:solidFill>
                <a:latin typeface="Times New Roman" panose="02020603050405020304" pitchFamily="18" charset="0"/>
              </a:rPr>
              <a:t>z</a:t>
            </a:r>
            <a:r>
              <a:rPr lang="fr-CA" altLang="fr-FR" sz="1800" baseline="-25000" dirty="0">
                <a:solidFill>
                  <a:schemeClr val="tx1"/>
                </a:solidFill>
                <a:latin typeface="Times New Roman" panose="02020603050405020304" pitchFamily="18" charset="0"/>
              </a:rPr>
              <a:t>1</a:t>
            </a:r>
            <a:r>
              <a:rPr lang="fr-CA" altLang="fr-FR" sz="1800" dirty="0">
                <a:solidFill>
                  <a:schemeClr val="tx1"/>
                </a:solidFill>
                <a:latin typeface="Symbol" panose="05050102010706020507" pitchFamily="18" charset="2"/>
              </a:rPr>
              <a:t> = </a:t>
            </a:r>
            <a:r>
              <a:rPr lang="fr-CA" altLang="fr-FR" sz="18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(z</a:t>
            </a:r>
            <a:r>
              <a:rPr lang="fr-CA" altLang="fr-FR" sz="1800" b="1" baseline="-25000" dirty="0">
                <a:solidFill>
                  <a:schemeClr val="tx1"/>
                </a:solidFill>
                <a:latin typeface="Times New Roman" panose="02020603050405020304" pitchFamily="18" charset="0"/>
              </a:rPr>
              <a:t>1</a:t>
            </a:r>
            <a:r>
              <a:rPr lang="fr-CA" altLang="fr-FR" sz="18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) (1 - z</a:t>
            </a:r>
            <a:r>
              <a:rPr lang="fr-CA" altLang="fr-FR" sz="1800" b="1" baseline="-25000" dirty="0">
                <a:solidFill>
                  <a:schemeClr val="tx1"/>
                </a:solidFill>
                <a:latin typeface="Times New Roman" panose="02020603050405020304" pitchFamily="18" charset="0"/>
              </a:rPr>
              <a:t>1</a:t>
            </a:r>
            <a:r>
              <a:rPr lang="fr-CA" altLang="fr-FR" sz="18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)[</a:t>
            </a:r>
            <a:r>
              <a:rPr lang="fr-CA" altLang="fr-FR" sz="1800" dirty="0">
                <a:solidFill>
                  <a:schemeClr val="tx1"/>
                </a:solidFill>
                <a:latin typeface="Symbol" panose="05050102010706020507" pitchFamily="18" charset="2"/>
              </a:rPr>
              <a:t>(</a:t>
            </a:r>
            <a:r>
              <a:rPr lang="fr-CA" altLang="fr-FR" sz="1800" dirty="0" err="1">
                <a:solidFill>
                  <a:schemeClr val="tx1"/>
                </a:solidFill>
                <a:latin typeface="Symbol" panose="05050102010706020507" pitchFamily="18" charset="2"/>
              </a:rPr>
              <a:t>d</a:t>
            </a:r>
            <a:r>
              <a:rPr lang="fr-CA" altLang="fr-FR" sz="1800" dirty="0" err="1">
                <a:solidFill>
                  <a:schemeClr val="tx1"/>
                </a:solidFill>
                <a:latin typeface="Times New Roman" panose="02020603050405020304" pitchFamily="18" charset="0"/>
              </a:rPr>
              <a:t>y</a:t>
            </a:r>
            <a:r>
              <a:rPr lang="fr-CA" altLang="fr-FR" sz="1800" dirty="0">
                <a:solidFill>
                  <a:schemeClr val="tx1"/>
                </a:solidFill>
                <a:latin typeface="Times New Roman" panose="02020603050405020304" pitchFamily="18" charset="0"/>
              </a:rPr>
              <a:t>) (w</a:t>
            </a:r>
            <a:r>
              <a:rPr lang="fr-CA" altLang="fr-FR" sz="1800" baseline="-25000" dirty="0">
                <a:solidFill>
                  <a:schemeClr val="tx1"/>
                </a:solidFill>
                <a:latin typeface="Times New Roman" panose="02020603050405020304" pitchFamily="18" charset="0"/>
              </a:rPr>
              <a:t>11</a:t>
            </a:r>
            <a:r>
              <a:rPr lang="fr-CA" altLang="fr-FR" sz="1800" dirty="0">
                <a:solidFill>
                  <a:schemeClr val="tx1"/>
                </a:solidFill>
                <a:latin typeface="Times New Roman" panose="02020603050405020304" pitchFamily="18" charset="0"/>
              </a:rPr>
              <a:t>)] </a:t>
            </a:r>
            <a:r>
              <a:rPr lang="fr-CA" altLang="fr-FR" sz="20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 </a:t>
            </a:r>
            <a:r>
              <a:rPr lang="fr-CA" altLang="fr-FR" sz="1800" dirty="0">
                <a:solidFill>
                  <a:schemeClr val="tx1"/>
                </a:solidFill>
                <a:latin typeface="Times New Roman" panose="02020603050405020304" pitchFamily="18" charset="0"/>
              </a:rPr>
              <a:t>= 0.015 </a:t>
            </a:r>
            <a:endParaRPr lang="en-CA" altLang="fr-FR" sz="1800" dirty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84997" name="Rectangle 5">
            <a:extLst>
              <a:ext uri="{FF2B5EF4-FFF2-40B4-BE49-F238E27FC236}">
                <a16:creationId xmlns:a16="http://schemas.microsoft.com/office/drawing/2014/main" id="{018402E2-AF90-4E4B-B985-486642438A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08102" y="4367641"/>
            <a:ext cx="89852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7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3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ts val="6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ts val="5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fr-CA" altLang="fr-FR" sz="2000" b="1">
                <a:solidFill>
                  <a:schemeClr val="tx1"/>
                </a:solidFill>
                <a:latin typeface="Times New Roman" panose="02020603050405020304" pitchFamily="18" charset="0"/>
              </a:rPr>
              <a:t>9. </a:t>
            </a:r>
            <a:r>
              <a:rPr lang="fr-CA" altLang="fr-FR" sz="2000" b="1">
                <a:solidFill>
                  <a:schemeClr val="tx1"/>
                </a:solidFill>
                <a:latin typeface="Symbol" panose="05050102010706020507" pitchFamily="18" charset="2"/>
              </a:rPr>
              <a:t>d</a:t>
            </a:r>
            <a:r>
              <a:rPr lang="fr-CA" altLang="fr-FR" sz="2000" b="1">
                <a:solidFill>
                  <a:schemeClr val="tx1"/>
                </a:solidFill>
                <a:latin typeface="Times New Roman" panose="02020603050405020304" pitchFamily="18" charset="0"/>
              </a:rPr>
              <a:t>z</a:t>
            </a:r>
            <a:r>
              <a:rPr lang="fr-CA" altLang="fr-FR" sz="2000" b="1" baseline="-25000">
                <a:solidFill>
                  <a:schemeClr val="tx1"/>
                </a:solidFill>
                <a:latin typeface="Times New Roman" panose="02020603050405020304" pitchFamily="18" charset="0"/>
              </a:rPr>
              <a:t>2</a:t>
            </a:r>
            <a:endParaRPr lang="en-CA" altLang="fr-FR" sz="2000" b="1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64518" name="Text Box 6">
            <a:extLst>
              <a:ext uri="{FF2B5EF4-FFF2-40B4-BE49-F238E27FC236}">
                <a16:creationId xmlns:a16="http://schemas.microsoft.com/office/drawing/2014/main" id="{8D292309-9823-4C22-9F7C-FE9C629BEAF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88088" y="6400800"/>
            <a:ext cx="1841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7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3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ts val="6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ts val="5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CA" altLang="fr-FR" sz="24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64519" name="Text Box 7">
            <a:extLst>
              <a:ext uri="{FF2B5EF4-FFF2-40B4-BE49-F238E27FC236}">
                <a16:creationId xmlns:a16="http://schemas.microsoft.com/office/drawing/2014/main" id="{C55737F0-97E6-4B33-866A-A2F8FBD917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00325" y="1638301"/>
            <a:ext cx="20129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7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3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ts val="6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ts val="5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fr-CA" altLang="fr-FR" sz="1800" b="1">
                <a:solidFill>
                  <a:schemeClr val="tx1"/>
                </a:solidFill>
                <a:latin typeface="Times New Roman" panose="02020603050405020304" pitchFamily="18" charset="0"/>
              </a:rPr>
              <a:t>Rétro-propagation</a:t>
            </a:r>
            <a:endParaRPr lang="en-CA" altLang="fr-FR" sz="1800" b="1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85000" name="Rectangle 8">
            <a:extLst>
              <a:ext uri="{FF2B5EF4-FFF2-40B4-BE49-F238E27FC236}">
                <a16:creationId xmlns:a16="http://schemas.microsoft.com/office/drawing/2014/main" id="{35DFE57C-5D5C-4AB4-A1D0-67D9AD84B9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68464" y="4778803"/>
            <a:ext cx="383222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7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3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ts val="6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ts val="5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fr-CA" altLang="fr-FR" sz="1800">
                <a:solidFill>
                  <a:schemeClr val="tx1"/>
                </a:solidFill>
                <a:latin typeface="Symbol" panose="05050102010706020507" pitchFamily="18" charset="2"/>
              </a:rPr>
              <a:t>d</a:t>
            </a:r>
            <a:r>
              <a:rPr lang="fr-CA" altLang="fr-FR" sz="1800">
                <a:solidFill>
                  <a:schemeClr val="tx1"/>
                </a:solidFill>
                <a:latin typeface="Times New Roman" panose="02020603050405020304" pitchFamily="18" charset="0"/>
              </a:rPr>
              <a:t>z</a:t>
            </a:r>
            <a:r>
              <a:rPr lang="fr-CA" altLang="fr-FR" sz="1800" baseline="-25000">
                <a:solidFill>
                  <a:schemeClr val="tx1"/>
                </a:solidFill>
                <a:latin typeface="Times New Roman" panose="02020603050405020304" pitchFamily="18" charset="0"/>
              </a:rPr>
              <a:t>2</a:t>
            </a:r>
            <a:r>
              <a:rPr lang="fr-CA" altLang="fr-FR" sz="1800">
                <a:solidFill>
                  <a:schemeClr val="tx1"/>
                </a:solidFill>
                <a:latin typeface="Symbol" panose="05050102010706020507" pitchFamily="18" charset="2"/>
              </a:rPr>
              <a:t> = </a:t>
            </a:r>
            <a:r>
              <a:rPr lang="fr-CA" altLang="fr-FR" sz="1800">
                <a:solidFill>
                  <a:schemeClr val="tx1"/>
                </a:solidFill>
                <a:latin typeface="Times New Roman" panose="02020603050405020304" pitchFamily="18" charset="0"/>
              </a:rPr>
              <a:t>(z</a:t>
            </a:r>
            <a:r>
              <a:rPr lang="fr-CA" altLang="fr-FR" sz="1800" baseline="-25000">
                <a:solidFill>
                  <a:schemeClr val="tx1"/>
                </a:solidFill>
                <a:latin typeface="Times New Roman" panose="02020603050405020304" pitchFamily="18" charset="0"/>
              </a:rPr>
              <a:t>2</a:t>
            </a:r>
            <a:r>
              <a:rPr lang="fr-CA" altLang="fr-FR" sz="1800">
                <a:solidFill>
                  <a:schemeClr val="tx1"/>
                </a:solidFill>
                <a:latin typeface="Times New Roman" panose="02020603050405020304" pitchFamily="18" charset="0"/>
              </a:rPr>
              <a:t>) (1 - z</a:t>
            </a:r>
            <a:r>
              <a:rPr lang="fr-CA" altLang="fr-FR" sz="1800" baseline="-25000">
                <a:solidFill>
                  <a:schemeClr val="tx1"/>
                </a:solidFill>
                <a:latin typeface="Times New Roman" panose="02020603050405020304" pitchFamily="18" charset="0"/>
              </a:rPr>
              <a:t>2</a:t>
            </a:r>
            <a:r>
              <a:rPr lang="fr-CA" altLang="fr-FR" sz="1800">
                <a:solidFill>
                  <a:schemeClr val="tx1"/>
                </a:solidFill>
                <a:latin typeface="Times New Roman" panose="02020603050405020304" pitchFamily="18" charset="0"/>
              </a:rPr>
              <a:t>)</a:t>
            </a:r>
            <a:r>
              <a:rPr lang="fr-CA" altLang="fr-FR" sz="2000">
                <a:solidFill>
                  <a:schemeClr val="tx1"/>
                </a:solidFill>
                <a:latin typeface="Times New Roman" panose="02020603050405020304" pitchFamily="18" charset="0"/>
              </a:rPr>
              <a:t> [</a:t>
            </a:r>
            <a:r>
              <a:rPr lang="fr-CA" altLang="fr-FR" sz="1800">
                <a:solidFill>
                  <a:schemeClr val="tx1"/>
                </a:solidFill>
                <a:latin typeface="Symbol" panose="05050102010706020507" pitchFamily="18" charset="2"/>
              </a:rPr>
              <a:t>(d</a:t>
            </a:r>
            <a:r>
              <a:rPr lang="fr-CA" altLang="fr-FR" sz="1800">
                <a:solidFill>
                  <a:schemeClr val="tx1"/>
                </a:solidFill>
                <a:latin typeface="Times New Roman" panose="02020603050405020304" pitchFamily="18" charset="0"/>
              </a:rPr>
              <a:t>y) (w</a:t>
            </a:r>
            <a:r>
              <a:rPr lang="fr-CA" altLang="fr-FR" sz="1800" baseline="-25000">
                <a:solidFill>
                  <a:schemeClr val="tx1"/>
                </a:solidFill>
                <a:latin typeface="Times New Roman" panose="02020603050405020304" pitchFamily="18" charset="0"/>
              </a:rPr>
              <a:t>21</a:t>
            </a:r>
            <a:r>
              <a:rPr lang="fr-CA" altLang="fr-FR" sz="1800">
                <a:solidFill>
                  <a:schemeClr val="tx1"/>
                </a:solidFill>
                <a:latin typeface="Times New Roman" panose="02020603050405020304" pitchFamily="18" charset="0"/>
              </a:rPr>
              <a:t>)] = 0.0025 </a:t>
            </a:r>
            <a:endParaRPr lang="en-CA" altLang="fr-FR" sz="18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64521" name="Text Box 9">
            <a:extLst>
              <a:ext uri="{FF2B5EF4-FFF2-40B4-BE49-F238E27FC236}">
                <a16:creationId xmlns:a16="http://schemas.microsoft.com/office/drawing/2014/main" id="{80D8FF10-896A-4A0F-9EEE-6BF63E563D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57750" y="1409700"/>
            <a:ext cx="1841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7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3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ts val="6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ts val="5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CA" altLang="fr-FR" sz="24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64533" name="Oval 12">
            <a:extLst>
              <a:ext uri="{FF2B5EF4-FFF2-40B4-BE49-F238E27FC236}">
                <a16:creationId xmlns:a16="http://schemas.microsoft.com/office/drawing/2014/main" id="{21501CAA-1F03-4511-AD54-5FD5F53647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81608" y="3821198"/>
            <a:ext cx="553885" cy="558674"/>
          </a:xfrm>
          <a:prstGeom prst="ellipse">
            <a:avLst/>
          </a:prstGeom>
          <a:solidFill>
            <a:srgbClr val="E2E2E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ts val="7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3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ts val="6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ts val="5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fr-CA" altLang="fr-FR" sz="16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Z</a:t>
            </a:r>
            <a:r>
              <a:rPr lang="fr-CA" altLang="fr-FR" sz="1400" b="1" baseline="-25000" dirty="0">
                <a:solidFill>
                  <a:schemeClr val="tx1"/>
                </a:solidFill>
                <a:latin typeface="Times New Roman" panose="02020603050405020304" pitchFamily="18" charset="0"/>
              </a:rPr>
              <a:t>2</a:t>
            </a:r>
            <a:endParaRPr lang="en-US" altLang="fr-FR" sz="1600" b="1" baseline="-25000" dirty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64534" name="Oval 13">
            <a:extLst>
              <a:ext uri="{FF2B5EF4-FFF2-40B4-BE49-F238E27FC236}">
                <a16:creationId xmlns:a16="http://schemas.microsoft.com/office/drawing/2014/main" id="{C3768BF4-9F79-46FC-A81E-5B7F90F6B7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34669" y="3851315"/>
            <a:ext cx="556954" cy="555663"/>
          </a:xfrm>
          <a:prstGeom prst="ellipse">
            <a:avLst/>
          </a:prstGeom>
          <a:solidFill>
            <a:srgbClr val="E2E2E2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>
            <a:lvl1pPr>
              <a:spcBef>
                <a:spcPts val="7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3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ts val="6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ts val="5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fr-CA" altLang="fr-FR" sz="16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Z</a:t>
            </a:r>
            <a:r>
              <a:rPr lang="fr-CA" altLang="fr-FR" sz="1400" b="1" baseline="-25000" dirty="0">
                <a:solidFill>
                  <a:schemeClr val="tx1"/>
                </a:solidFill>
                <a:latin typeface="Times New Roman" panose="02020603050405020304" pitchFamily="18" charset="0"/>
              </a:rPr>
              <a:t>1</a:t>
            </a:r>
            <a:endParaRPr lang="en-US" altLang="fr-FR" sz="1600" b="1" baseline="-25000" dirty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64535" name="Oval 14">
            <a:extLst>
              <a:ext uri="{FF2B5EF4-FFF2-40B4-BE49-F238E27FC236}">
                <a16:creationId xmlns:a16="http://schemas.microsoft.com/office/drawing/2014/main" id="{1FA0F44E-2C19-4B98-9816-C3EB0783EF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54800" y="2693308"/>
            <a:ext cx="461827" cy="465311"/>
          </a:xfrm>
          <a:prstGeom prst="ellipse">
            <a:avLst/>
          </a:prstGeom>
          <a:solidFill>
            <a:srgbClr val="E2E2E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ts val="7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3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ts val="6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ts val="5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fr-FR" sz="1800" b="1">
                <a:solidFill>
                  <a:schemeClr val="tx1"/>
                </a:solidFill>
                <a:latin typeface="Times New Roman" panose="02020603050405020304" pitchFamily="18" charset="0"/>
              </a:rPr>
              <a:t>Y</a:t>
            </a:r>
          </a:p>
        </p:txBody>
      </p:sp>
      <p:sp>
        <p:nvSpPr>
          <p:cNvPr id="64536" name="Oval 15">
            <a:extLst>
              <a:ext uri="{FF2B5EF4-FFF2-40B4-BE49-F238E27FC236}">
                <a16:creationId xmlns:a16="http://schemas.microsoft.com/office/drawing/2014/main" id="{A7BEB2A6-E1E7-476D-B6F3-5CC1394487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51376" y="5316517"/>
            <a:ext cx="566160" cy="555663"/>
          </a:xfrm>
          <a:prstGeom prst="ellipse">
            <a:avLst/>
          </a:prstGeom>
          <a:solidFill>
            <a:srgbClr val="E2E2E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ts val="7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3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ts val="6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ts val="5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fr-CA" altLang="fr-FR" sz="16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X</a:t>
            </a:r>
            <a:r>
              <a:rPr lang="fr-CA" altLang="fr-FR" sz="1200" b="1" baseline="-25000" dirty="0">
                <a:solidFill>
                  <a:schemeClr val="tx1"/>
                </a:solidFill>
                <a:latin typeface="Times New Roman" panose="02020603050405020304" pitchFamily="18" charset="0"/>
              </a:rPr>
              <a:t>2</a:t>
            </a:r>
            <a:endParaRPr lang="en-US" altLang="fr-FR" sz="1600" b="1" baseline="-25000" dirty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64537" name="Oval 16">
            <a:extLst>
              <a:ext uri="{FF2B5EF4-FFF2-40B4-BE49-F238E27FC236}">
                <a16:creationId xmlns:a16="http://schemas.microsoft.com/office/drawing/2014/main" id="{8118B23C-7BB2-43AE-8DDD-38BC70633B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44685" y="5316517"/>
            <a:ext cx="566160" cy="555663"/>
          </a:xfrm>
          <a:prstGeom prst="ellipse">
            <a:avLst/>
          </a:prstGeom>
          <a:solidFill>
            <a:srgbClr val="E2E2E2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>
            <a:lvl1pPr>
              <a:spcBef>
                <a:spcPts val="7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3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ts val="6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ts val="5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fr-CA" altLang="fr-FR" sz="16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X</a:t>
            </a:r>
            <a:r>
              <a:rPr lang="fr-CA" altLang="fr-FR" sz="1200" b="1" baseline="-25000" dirty="0">
                <a:solidFill>
                  <a:schemeClr val="tx1"/>
                </a:solidFill>
                <a:latin typeface="Times New Roman" panose="02020603050405020304" pitchFamily="18" charset="0"/>
              </a:rPr>
              <a:t>1</a:t>
            </a:r>
            <a:endParaRPr lang="en-US" altLang="fr-FR" sz="1600" b="1" baseline="-25000" dirty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cxnSp>
        <p:nvCxnSpPr>
          <p:cNvPr id="64538" name="AutoShape 17">
            <a:extLst>
              <a:ext uri="{FF2B5EF4-FFF2-40B4-BE49-F238E27FC236}">
                <a16:creationId xmlns:a16="http://schemas.microsoft.com/office/drawing/2014/main" id="{A29A2DAA-29A4-4188-8474-DF40315045AF}"/>
              </a:ext>
            </a:extLst>
          </p:cNvPr>
          <p:cNvCxnSpPr>
            <a:cxnSpLocks noChangeShapeType="1"/>
            <a:stCxn id="64537" idx="0"/>
            <a:endCxn id="64534" idx="4"/>
          </p:cNvCxnSpPr>
          <p:nvPr/>
        </p:nvCxnSpPr>
        <p:spPr bwMode="auto">
          <a:xfrm flipV="1">
            <a:off x="2628532" y="4406977"/>
            <a:ext cx="285381" cy="90954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64539" name="AutoShape 18">
            <a:extLst>
              <a:ext uri="{FF2B5EF4-FFF2-40B4-BE49-F238E27FC236}">
                <a16:creationId xmlns:a16="http://schemas.microsoft.com/office/drawing/2014/main" id="{1975F028-0E76-49BD-A634-C3CCED8BA7C3}"/>
              </a:ext>
            </a:extLst>
          </p:cNvPr>
          <p:cNvCxnSpPr>
            <a:cxnSpLocks noChangeShapeType="1"/>
            <a:stCxn id="64537" idx="7"/>
            <a:endCxn id="64533" idx="3"/>
          </p:cNvCxnSpPr>
          <p:nvPr/>
        </p:nvCxnSpPr>
        <p:spPr bwMode="auto">
          <a:xfrm flipV="1">
            <a:off x="2827992" y="4298555"/>
            <a:ext cx="734934" cy="1099278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64540" name="AutoShape 19">
            <a:extLst>
              <a:ext uri="{FF2B5EF4-FFF2-40B4-BE49-F238E27FC236}">
                <a16:creationId xmlns:a16="http://schemas.microsoft.com/office/drawing/2014/main" id="{243BD7C3-B378-4DC0-9A5F-DF533E565721}"/>
              </a:ext>
            </a:extLst>
          </p:cNvPr>
          <p:cNvCxnSpPr>
            <a:cxnSpLocks noChangeShapeType="1"/>
            <a:stCxn id="64534" idx="0"/>
            <a:endCxn id="64535" idx="3"/>
          </p:cNvCxnSpPr>
          <p:nvPr/>
        </p:nvCxnSpPr>
        <p:spPr bwMode="auto">
          <a:xfrm flipV="1">
            <a:off x="2913914" y="3090855"/>
            <a:ext cx="308396" cy="76046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64541" name="AutoShape 20">
            <a:extLst>
              <a:ext uri="{FF2B5EF4-FFF2-40B4-BE49-F238E27FC236}">
                <a16:creationId xmlns:a16="http://schemas.microsoft.com/office/drawing/2014/main" id="{09A47D71-0654-4A58-9168-4EF8F7B72EDE}"/>
              </a:ext>
            </a:extLst>
          </p:cNvPr>
          <p:cNvCxnSpPr>
            <a:cxnSpLocks noChangeShapeType="1"/>
            <a:stCxn id="64533" idx="0"/>
            <a:endCxn id="64535" idx="5"/>
          </p:cNvCxnSpPr>
          <p:nvPr/>
        </p:nvCxnSpPr>
        <p:spPr bwMode="auto">
          <a:xfrm flipH="1" flipV="1">
            <a:off x="3549117" y="3090855"/>
            <a:ext cx="210200" cy="730342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64542" name="AutoShape 21">
            <a:extLst>
              <a:ext uri="{FF2B5EF4-FFF2-40B4-BE49-F238E27FC236}">
                <a16:creationId xmlns:a16="http://schemas.microsoft.com/office/drawing/2014/main" id="{4A962051-4D5D-4824-8D7E-C850B7AD7021}"/>
              </a:ext>
            </a:extLst>
          </p:cNvPr>
          <p:cNvCxnSpPr>
            <a:cxnSpLocks noChangeShapeType="1"/>
            <a:stCxn id="64536" idx="1"/>
            <a:endCxn id="64534" idx="5"/>
          </p:cNvCxnSpPr>
          <p:nvPr/>
        </p:nvCxnSpPr>
        <p:spPr bwMode="auto">
          <a:xfrm flipH="1" flipV="1">
            <a:off x="3110305" y="4325661"/>
            <a:ext cx="823924" cy="1072173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64543" name="AutoShape 22">
            <a:extLst>
              <a:ext uri="{FF2B5EF4-FFF2-40B4-BE49-F238E27FC236}">
                <a16:creationId xmlns:a16="http://schemas.microsoft.com/office/drawing/2014/main" id="{40D9284A-CD42-4042-9528-7A6908B13EDB}"/>
              </a:ext>
            </a:extLst>
          </p:cNvPr>
          <p:cNvCxnSpPr>
            <a:cxnSpLocks noChangeShapeType="1"/>
            <a:stCxn id="64536" idx="0"/>
            <a:endCxn id="64533" idx="4"/>
          </p:cNvCxnSpPr>
          <p:nvPr/>
        </p:nvCxnSpPr>
        <p:spPr bwMode="auto">
          <a:xfrm flipH="1" flipV="1">
            <a:off x="3759318" y="4379872"/>
            <a:ext cx="375906" cy="936645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64544" name="Oval 23">
            <a:extLst>
              <a:ext uri="{FF2B5EF4-FFF2-40B4-BE49-F238E27FC236}">
                <a16:creationId xmlns:a16="http://schemas.microsoft.com/office/drawing/2014/main" id="{40047D17-DF8F-48E0-BFA8-7620E59ED8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24938" y="4903911"/>
            <a:ext cx="228612" cy="224373"/>
          </a:xfrm>
          <a:prstGeom prst="ellipse">
            <a:avLst/>
          </a:prstGeom>
          <a:solidFill>
            <a:srgbClr val="E2E2E2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ts val="7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3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ts val="6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ts val="5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fr-CA" altLang="fr-FR" sz="1800">
                <a:solidFill>
                  <a:schemeClr val="tx1"/>
                </a:solidFill>
                <a:latin typeface="Times New Roman" panose="02020603050405020304" pitchFamily="18" charset="0"/>
              </a:rPr>
              <a:t>1</a:t>
            </a:r>
            <a:endParaRPr lang="en-CA" altLang="fr-FR" sz="18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64545" name="Oval 24">
            <a:extLst>
              <a:ext uri="{FF2B5EF4-FFF2-40B4-BE49-F238E27FC236}">
                <a16:creationId xmlns:a16="http://schemas.microsoft.com/office/drawing/2014/main" id="{87B5AB55-F76F-4152-87EA-B3DA364A51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38093" y="4903911"/>
            <a:ext cx="228612" cy="224373"/>
          </a:xfrm>
          <a:prstGeom prst="ellipse">
            <a:avLst/>
          </a:prstGeom>
          <a:solidFill>
            <a:srgbClr val="E2E2E2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ts val="7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3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ts val="6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ts val="5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fr-CA" altLang="fr-FR" sz="1800">
                <a:solidFill>
                  <a:schemeClr val="tx1"/>
                </a:solidFill>
                <a:latin typeface="Times New Roman" panose="02020603050405020304" pitchFamily="18" charset="0"/>
              </a:rPr>
              <a:t>1</a:t>
            </a:r>
            <a:endParaRPr lang="en-CA" altLang="fr-FR" sz="18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64546" name="Oval 25">
            <a:extLst>
              <a:ext uri="{FF2B5EF4-FFF2-40B4-BE49-F238E27FC236}">
                <a16:creationId xmlns:a16="http://schemas.microsoft.com/office/drawing/2014/main" id="{48FB63BF-C287-4B27-9CF3-CD120178D1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17067" y="3434191"/>
            <a:ext cx="228612" cy="224373"/>
          </a:xfrm>
          <a:prstGeom prst="ellipse">
            <a:avLst/>
          </a:prstGeom>
          <a:solidFill>
            <a:srgbClr val="E2E2E2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ts val="7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3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ts val="6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ts val="5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fr-CA" altLang="fr-FR" sz="1800">
                <a:solidFill>
                  <a:schemeClr val="tx1"/>
                </a:solidFill>
                <a:latin typeface="Times New Roman" panose="02020603050405020304" pitchFamily="18" charset="0"/>
              </a:rPr>
              <a:t>1</a:t>
            </a:r>
            <a:endParaRPr lang="en-CA" altLang="fr-FR" sz="18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cxnSp>
        <p:nvCxnSpPr>
          <p:cNvPr id="64547" name="AutoShape 26">
            <a:extLst>
              <a:ext uri="{FF2B5EF4-FFF2-40B4-BE49-F238E27FC236}">
                <a16:creationId xmlns:a16="http://schemas.microsoft.com/office/drawing/2014/main" id="{FD4250E9-B324-4B5D-8969-777B888F2A20}"/>
              </a:ext>
            </a:extLst>
          </p:cNvPr>
          <p:cNvCxnSpPr>
            <a:cxnSpLocks noChangeShapeType="1"/>
            <a:stCxn id="64544" idx="0"/>
            <a:endCxn id="64533" idx="6"/>
          </p:cNvCxnSpPr>
          <p:nvPr/>
        </p:nvCxnSpPr>
        <p:spPr bwMode="auto">
          <a:xfrm rot="5400000" flipH="1">
            <a:off x="3935673" y="4201094"/>
            <a:ext cx="802624" cy="604518"/>
          </a:xfrm>
          <a:prstGeom prst="curvedConnector2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64548" name="AutoShape 27">
            <a:extLst>
              <a:ext uri="{FF2B5EF4-FFF2-40B4-BE49-F238E27FC236}">
                <a16:creationId xmlns:a16="http://schemas.microsoft.com/office/drawing/2014/main" id="{062114F0-4E05-44A4-B2E3-36869CBC2AAD}"/>
              </a:ext>
            </a:extLst>
          </p:cNvPr>
          <p:cNvCxnSpPr>
            <a:cxnSpLocks noChangeShapeType="1"/>
            <a:stCxn id="64546" idx="0"/>
            <a:endCxn id="64535" idx="2"/>
          </p:cNvCxnSpPr>
          <p:nvPr/>
        </p:nvCxnSpPr>
        <p:spPr bwMode="auto">
          <a:xfrm rot="16200000">
            <a:off x="2539733" y="2819124"/>
            <a:ext cx="507475" cy="722659"/>
          </a:xfrm>
          <a:prstGeom prst="curvedConnector2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64549" name="Rectangle 28">
            <a:extLst>
              <a:ext uri="{FF2B5EF4-FFF2-40B4-BE49-F238E27FC236}">
                <a16:creationId xmlns:a16="http://schemas.microsoft.com/office/drawing/2014/main" id="{37382EDC-520A-4BD2-BD0D-FF5D6717B4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532" y="4605751"/>
            <a:ext cx="362097" cy="260514"/>
          </a:xfrm>
          <a:prstGeom prst="rect">
            <a:avLst/>
          </a:prstGeom>
          <a:solidFill>
            <a:srgbClr val="E2E2E2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7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3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ts val="6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ts val="5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fr-CA" altLang="fr-FR" sz="1200">
                <a:solidFill>
                  <a:schemeClr val="tx1"/>
                </a:solidFill>
                <a:latin typeface="Times New Roman" panose="02020603050405020304" pitchFamily="18" charset="0"/>
              </a:rPr>
              <a:t>0.7</a:t>
            </a:r>
            <a:endParaRPr lang="en-CA" altLang="fr-FR" sz="1200" baseline="-250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64550" name="Rectangle 29">
            <a:extLst>
              <a:ext uri="{FF2B5EF4-FFF2-40B4-BE49-F238E27FC236}">
                <a16:creationId xmlns:a16="http://schemas.microsoft.com/office/drawing/2014/main" id="{E92BE5C3-1F16-49F3-8FB0-B4AB07DC0A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33860" y="4866265"/>
            <a:ext cx="411195" cy="260514"/>
          </a:xfrm>
          <a:prstGeom prst="rect">
            <a:avLst/>
          </a:prstGeom>
          <a:solidFill>
            <a:srgbClr val="E2E2E2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7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3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ts val="6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ts val="5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fr-CA" altLang="fr-FR" sz="1200">
                <a:solidFill>
                  <a:schemeClr val="tx1"/>
                </a:solidFill>
                <a:latin typeface="Times New Roman" panose="02020603050405020304" pitchFamily="18" charset="0"/>
              </a:rPr>
              <a:t>-0.4</a:t>
            </a:r>
            <a:endParaRPr lang="en-CA" altLang="fr-FR" sz="1200" baseline="-250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64551" name="Rectangle 30">
            <a:extLst>
              <a:ext uri="{FF2B5EF4-FFF2-40B4-BE49-F238E27FC236}">
                <a16:creationId xmlns:a16="http://schemas.microsoft.com/office/drawing/2014/main" id="{F4E51357-61F1-4369-A7B3-E4D11EFEC0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24838" y="4848195"/>
            <a:ext cx="411195" cy="260514"/>
          </a:xfrm>
          <a:prstGeom prst="rect">
            <a:avLst/>
          </a:prstGeom>
          <a:solidFill>
            <a:srgbClr val="E2E2E2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7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3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ts val="6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ts val="5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fr-CA" altLang="fr-FR" sz="1200">
                <a:solidFill>
                  <a:schemeClr val="tx1"/>
                </a:solidFill>
                <a:latin typeface="Times New Roman" panose="02020603050405020304" pitchFamily="18" charset="0"/>
              </a:rPr>
              <a:t>-0.2</a:t>
            </a:r>
            <a:endParaRPr lang="en-CA" altLang="fr-FR" sz="1200" baseline="-250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64552" name="Rectangle 31">
            <a:extLst>
              <a:ext uri="{FF2B5EF4-FFF2-40B4-BE49-F238E27FC236}">
                <a16:creationId xmlns:a16="http://schemas.microsoft.com/office/drawing/2014/main" id="{20082EF4-E359-4FC2-8FCE-7EEF1491E8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59318" y="4605751"/>
            <a:ext cx="362097" cy="260514"/>
          </a:xfrm>
          <a:prstGeom prst="rect">
            <a:avLst/>
          </a:prstGeom>
          <a:solidFill>
            <a:srgbClr val="E2E2E2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7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3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ts val="6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ts val="5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fr-CA" altLang="fr-FR" sz="1200">
                <a:solidFill>
                  <a:schemeClr val="tx1"/>
                </a:solidFill>
                <a:latin typeface="Times New Roman" panose="02020603050405020304" pitchFamily="18" charset="0"/>
              </a:rPr>
              <a:t>0.3</a:t>
            </a:r>
            <a:endParaRPr lang="en-CA" altLang="fr-FR" sz="1200" baseline="-250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64553" name="Rectangle 32">
            <a:extLst>
              <a:ext uri="{FF2B5EF4-FFF2-40B4-BE49-F238E27FC236}">
                <a16:creationId xmlns:a16="http://schemas.microsoft.com/office/drawing/2014/main" id="{C913D2F4-4BCE-4A11-8B4A-B29E53FEC4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74575" y="4379872"/>
            <a:ext cx="362097" cy="260514"/>
          </a:xfrm>
          <a:prstGeom prst="rect">
            <a:avLst/>
          </a:prstGeom>
          <a:solidFill>
            <a:srgbClr val="E2E2E2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7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3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ts val="6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ts val="5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fr-CA" altLang="fr-FR" sz="1200">
                <a:solidFill>
                  <a:schemeClr val="tx1"/>
                </a:solidFill>
                <a:latin typeface="Times New Roman" panose="02020603050405020304" pitchFamily="18" charset="0"/>
              </a:rPr>
              <a:t>0.6</a:t>
            </a:r>
            <a:endParaRPr lang="en-CA" altLang="fr-FR" sz="1200" baseline="-250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cxnSp>
        <p:nvCxnSpPr>
          <p:cNvPr id="64554" name="AutoShape 33">
            <a:extLst>
              <a:ext uri="{FF2B5EF4-FFF2-40B4-BE49-F238E27FC236}">
                <a16:creationId xmlns:a16="http://schemas.microsoft.com/office/drawing/2014/main" id="{77BBA753-CE99-4F54-A99A-1322581D8A9D}"/>
              </a:ext>
            </a:extLst>
          </p:cNvPr>
          <p:cNvCxnSpPr>
            <a:cxnSpLocks noChangeShapeType="1"/>
            <a:stCxn id="64545" idx="0"/>
            <a:endCxn id="64534" idx="2"/>
          </p:cNvCxnSpPr>
          <p:nvPr/>
        </p:nvCxnSpPr>
        <p:spPr bwMode="auto">
          <a:xfrm rot="16200000">
            <a:off x="1957679" y="4225401"/>
            <a:ext cx="774012" cy="581503"/>
          </a:xfrm>
          <a:prstGeom prst="curvedConnector2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64555" name="Rectangle 34">
            <a:extLst>
              <a:ext uri="{FF2B5EF4-FFF2-40B4-BE49-F238E27FC236}">
                <a16:creationId xmlns:a16="http://schemas.microsoft.com/office/drawing/2014/main" id="{9F7D1BF0-3CBC-408A-82FC-03967A9554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16343" y="4345237"/>
            <a:ext cx="362097" cy="260514"/>
          </a:xfrm>
          <a:prstGeom prst="rect">
            <a:avLst/>
          </a:prstGeom>
          <a:solidFill>
            <a:srgbClr val="E2E2E2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7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3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ts val="6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ts val="5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fr-CA" altLang="fr-FR" sz="1200">
                <a:solidFill>
                  <a:schemeClr val="tx1"/>
                </a:solidFill>
                <a:latin typeface="Times New Roman" panose="02020603050405020304" pitchFamily="18" charset="0"/>
              </a:rPr>
              <a:t>0.4</a:t>
            </a:r>
            <a:endParaRPr lang="en-CA" altLang="fr-FR" sz="1200" baseline="-250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64558" name="Rectangle 37">
            <a:extLst>
              <a:ext uri="{FF2B5EF4-FFF2-40B4-BE49-F238E27FC236}">
                <a16:creationId xmlns:a16="http://schemas.microsoft.com/office/drawing/2014/main" id="{FD100B3E-B1A3-41D8-A663-193C57CEB4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74846" y="3753969"/>
            <a:ext cx="1233584" cy="350866"/>
          </a:xfrm>
          <a:prstGeom prst="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>
            <a:lvl1pPr>
              <a:spcBef>
                <a:spcPts val="7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3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ts val="6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ts val="5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fr-CA" altLang="fr-FR" sz="1600" b="1" dirty="0">
                <a:solidFill>
                  <a:schemeClr val="tx1"/>
                </a:solidFill>
                <a:latin typeface="Symbol" panose="05050102010706020507" pitchFamily="18" charset="2"/>
              </a:rPr>
              <a:t>d</a:t>
            </a:r>
            <a:r>
              <a:rPr lang="fr-CA" altLang="fr-FR" sz="16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z</a:t>
            </a:r>
            <a:r>
              <a:rPr lang="fr-CA" altLang="fr-FR" sz="1600" b="1" baseline="-25000" dirty="0">
                <a:solidFill>
                  <a:schemeClr val="tx1"/>
                </a:solidFill>
                <a:latin typeface="Times New Roman" panose="02020603050405020304" pitchFamily="18" charset="0"/>
              </a:rPr>
              <a:t>2 </a:t>
            </a:r>
            <a:r>
              <a:rPr lang="fr-CA" altLang="fr-FR" sz="16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= </a:t>
            </a:r>
            <a:r>
              <a:rPr lang="fr-CA" altLang="fr-FR" sz="16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0.025</a:t>
            </a:r>
            <a:r>
              <a:rPr lang="fr-CA" altLang="fr-FR" sz="18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 </a:t>
            </a:r>
            <a:endParaRPr lang="en-CA" altLang="fr-FR" sz="1800" b="1" baseline="-25000" dirty="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64561" name="Rectangle 40">
            <a:extLst>
              <a:ext uri="{FF2B5EF4-FFF2-40B4-BE49-F238E27FC236}">
                <a16:creationId xmlns:a16="http://schemas.microsoft.com/office/drawing/2014/main" id="{E2A03478-D722-48A2-9D25-5C5D15520B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73567" y="3480873"/>
            <a:ext cx="460293" cy="2605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7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3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ts val="6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ts val="5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fr-CA" altLang="fr-FR" sz="1200" b="1">
                <a:solidFill>
                  <a:schemeClr val="tx1"/>
                </a:solidFill>
                <a:latin typeface="Times New Roman" panose="02020603050405020304" pitchFamily="18" charset="0"/>
              </a:rPr>
              <a:t>(0.5)</a:t>
            </a:r>
            <a:endParaRPr lang="en-CA" altLang="fr-FR" sz="1200" b="1" baseline="-250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64562" name="Rectangle 41">
            <a:extLst>
              <a:ext uri="{FF2B5EF4-FFF2-40B4-BE49-F238E27FC236}">
                <a16:creationId xmlns:a16="http://schemas.microsoft.com/office/drawing/2014/main" id="{D4AD2BD9-7500-4418-AFA3-48C88A3C00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82148" y="3599836"/>
            <a:ext cx="460293" cy="2605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7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3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ts val="6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ts val="5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fr-CA" altLang="fr-FR" sz="1200" b="1">
                <a:solidFill>
                  <a:schemeClr val="tx1"/>
                </a:solidFill>
                <a:latin typeface="Times New Roman" panose="02020603050405020304" pitchFamily="18" charset="0"/>
              </a:rPr>
              <a:t>(0.1)</a:t>
            </a:r>
            <a:endParaRPr lang="en-CA" altLang="fr-FR" sz="1200" b="1" baseline="-250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64563" name="Rectangle 42">
            <a:extLst>
              <a:ext uri="{FF2B5EF4-FFF2-40B4-BE49-F238E27FC236}">
                <a16:creationId xmlns:a16="http://schemas.microsoft.com/office/drawing/2014/main" id="{68715A17-0CFE-444C-B73F-62AF697711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22750" y="3220359"/>
            <a:ext cx="509390" cy="2605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7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3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ts val="6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ts val="5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fr-CA" altLang="fr-FR" sz="1200">
                <a:solidFill>
                  <a:schemeClr val="tx1"/>
                </a:solidFill>
                <a:latin typeface="Times New Roman" panose="02020603050405020304" pitchFamily="18" charset="0"/>
              </a:rPr>
              <a:t>(-0.3)</a:t>
            </a:r>
            <a:endParaRPr lang="en-CA" altLang="fr-FR" sz="1200" baseline="-250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64568" name="Rectangle 47">
            <a:extLst>
              <a:ext uri="{FF2B5EF4-FFF2-40B4-BE49-F238E27FC236}">
                <a16:creationId xmlns:a16="http://schemas.microsoft.com/office/drawing/2014/main" id="{78BB9BC7-4718-4F7E-8719-5466BB4C44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71763" y="3173678"/>
            <a:ext cx="583037" cy="2605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7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3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ts val="6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ts val="5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fr-CA" altLang="fr-FR" sz="12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0.5168</a:t>
            </a:r>
            <a:endParaRPr lang="en-CA" altLang="fr-FR" sz="1200" b="1" baseline="-25000" dirty="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64569" name="Rectangle 48">
            <a:extLst>
              <a:ext uri="{FF2B5EF4-FFF2-40B4-BE49-F238E27FC236}">
                <a16:creationId xmlns:a16="http://schemas.microsoft.com/office/drawing/2014/main" id="{9428F405-A4C3-4C4B-95DB-A300070452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81608" y="3398051"/>
            <a:ext cx="583037" cy="2605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7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3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ts val="6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ts val="5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fr-CA" altLang="fr-FR" sz="12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0.1217</a:t>
            </a:r>
            <a:endParaRPr lang="en-CA" altLang="fr-FR" sz="1200" b="1" baseline="-25000" dirty="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64570" name="Rectangle 49">
            <a:extLst>
              <a:ext uri="{FF2B5EF4-FFF2-40B4-BE49-F238E27FC236}">
                <a16:creationId xmlns:a16="http://schemas.microsoft.com/office/drawing/2014/main" id="{1C9A99A9-F432-42AE-BA84-4F75D79363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95857" y="2959845"/>
            <a:ext cx="632135" cy="2605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7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3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ts val="6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ts val="5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fr-CA" altLang="fr-FR" sz="1200" dirty="0">
                <a:solidFill>
                  <a:srgbClr val="FF0000"/>
                </a:solidFill>
                <a:latin typeface="Times New Roman" panose="02020603050405020304" pitchFamily="18" charset="0"/>
              </a:rPr>
              <a:t>-</a:t>
            </a:r>
            <a:r>
              <a:rPr lang="fr-CA" altLang="fr-FR" sz="12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0.2695</a:t>
            </a:r>
            <a:endParaRPr lang="en-CA" altLang="fr-FR" sz="1200" b="1" baseline="-25000" dirty="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64527" name="Group 55">
            <a:extLst>
              <a:ext uri="{FF2B5EF4-FFF2-40B4-BE49-F238E27FC236}">
                <a16:creationId xmlns:a16="http://schemas.microsoft.com/office/drawing/2014/main" id="{9FEF013A-4E2B-4C17-99F8-B9AC226E69A0}"/>
              </a:ext>
            </a:extLst>
          </p:cNvPr>
          <p:cNvGrpSpPr>
            <a:grpSpLocks/>
          </p:cNvGrpSpPr>
          <p:nvPr/>
        </p:nvGrpSpPr>
        <p:grpSpPr bwMode="auto">
          <a:xfrm>
            <a:off x="1524001" y="44451"/>
            <a:ext cx="9142413" cy="365125"/>
            <a:chOff x="0" y="28"/>
            <a:chExt cx="5759" cy="230"/>
          </a:xfrm>
        </p:grpSpPr>
        <p:sp>
          <p:nvSpPr>
            <p:cNvPr id="64530" name="AutoShape 56">
              <a:extLst>
                <a:ext uri="{FF2B5EF4-FFF2-40B4-BE49-F238E27FC236}">
                  <a16:creationId xmlns:a16="http://schemas.microsoft.com/office/drawing/2014/main" id="{7C3098CE-561E-4E9A-8FAC-92A542F01EA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28"/>
              <a:ext cx="5760" cy="231"/>
            </a:xfrm>
            <a:prstGeom prst="roundRect">
              <a:avLst>
                <a:gd name="adj" fmla="val 431"/>
              </a:avLst>
            </a:prstGeom>
            <a:solidFill>
              <a:srgbClr val="3366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ts val="788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•"/>
                <a:defRPr sz="32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ts val="688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–"/>
                <a:defRPr sz="28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ts val="588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•"/>
                <a:defRPr sz="2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ts val="488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–"/>
                <a:defRPr sz="20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ts val="488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ts val="488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ts val="488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ts val="488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ts val="488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fr-FR" altLang="fr-FR" sz="1800">
                <a:latin typeface="Times New Roman" panose="02020603050405020304" pitchFamily="18" charset="0"/>
              </a:endParaRPr>
            </a:p>
          </p:txBody>
        </p:sp>
        <p:sp>
          <p:nvSpPr>
            <p:cNvPr id="64531" name="Text Box 57">
              <a:extLst>
                <a:ext uri="{FF2B5EF4-FFF2-40B4-BE49-F238E27FC236}">
                  <a16:creationId xmlns:a16="http://schemas.microsoft.com/office/drawing/2014/main" id="{F654C586-5B9D-4355-AB1C-59AAD94D0F8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0" y="28"/>
              <a:ext cx="576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000" tIns="46800" rIns="90000" bIns="46800">
              <a:spAutoFit/>
            </a:bodyPr>
            <a:lstStyle>
              <a:lvl1pPr>
                <a:spcBef>
                  <a:spcPts val="788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•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32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ts val="688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–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8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ts val="588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•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ts val="488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–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ts val="488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ts val="488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ts val="488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ts val="488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ts val="488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96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r>
                <a:rPr lang="en-GB" altLang="fr-FR" sz="1800">
                  <a:solidFill>
                    <a:schemeClr val="tx1"/>
                  </a:solidFill>
                </a:rPr>
                <a:t>Intelligence Artificielle 		Apprentissage			</a:t>
              </a:r>
            </a:p>
          </p:txBody>
        </p:sp>
      </p:grpSp>
      <p:sp>
        <p:nvSpPr>
          <p:cNvPr id="5" name="Rectangle 36">
            <a:extLst>
              <a:ext uri="{FF2B5EF4-FFF2-40B4-BE49-F238E27FC236}">
                <a16:creationId xmlns:a16="http://schemas.microsoft.com/office/drawing/2014/main" id="{FAC3088A-B3FB-7AA5-3A7E-40B3762B66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02843" y="2379665"/>
            <a:ext cx="1037433" cy="338554"/>
          </a:xfrm>
          <a:prstGeom prst="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>
            <a:lvl1pPr>
              <a:spcBef>
                <a:spcPts val="7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3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ts val="6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ts val="5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fr-CA" altLang="fr-FR" sz="1600" b="1" dirty="0" err="1">
                <a:solidFill>
                  <a:schemeClr val="tx1"/>
                </a:solidFill>
                <a:latin typeface="Symbol" panose="05050102010706020507" pitchFamily="18" charset="2"/>
              </a:rPr>
              <a:t>d</a:t>
            </a:r>
            <a:r>
              <a:rPr lang="fr-CA" altLang="fr-FR" sz="1600" b="1" dirty="0" err="1">
                <a:solidFill>
                  <a:schemeClr val="tx1"/>
                </a:solidFill>
                <a:latin typeface="Sylfaen" panose="010A0502050306030303" pitchFamily="18" charset="0"/>
                <a:cs typeface="+mn-cs"/>
              </a:rPr>
              <a:t>y</a:t>
            </a:r>
            <a:r>
              <a:rPr lang="fr-CA" altLang="fr-FR" sz="1600" b="1" dirty="0">
                <a:solidFill>
                  <a:schemeClr val="tx1"/>
                </a:solidFill>
                <a:latin typeface="Sylfaen" panose="010A0502050306030303" pitchFamily="18" charset="0"/>
                <a:cs typeface="+mn-cs"/>
              </a:rPr>
              <a:t> </a:t>
            </a:r>
            <a:r>
              <a:rPr lang="fr-CA" altLang="fr-FR" sz="1600" b="1" dirty="0">
                <a:solidFill>
                  <a:srgbClr val="FF0000"/>
                </a:solidFill>
                <a:latin typeface="Sylfaen" panose="010A0502050306030303" pitchFamily="18" charset="0"/>
              </a:rPr>
              <a:t>= 0.122</a:t>
            </a:r>
            <a:endParaRPr lang="en-CA" altLang="fr-FR" sz="1600" b="1" dirty="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6" name="Rectangle 37">
            <a:extLst>
              <a:ext uri="{FF2B5EF4-FFF2-40B4-BE49-F238E27FC236}">
                <a16:creationId xmlns:a16="http://schemas.microsoft.com/office/drawing/2014/main" id="{964E2948-1AA6-83F6-BEC2-2FA6915339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97816" y="3744853"/>
            <a:ext cx="1196747" cy="369332"/>
          </a:xfrm>
          <a:prstGeom prst="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>
            <a:lvl1pPr>
              <a:spcBef>
                <a:spcPts val="7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3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ts val="6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ts val="5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fr-CA" altLang="fr-FR" sz="1600" b="1" dirty="0">
                <a:solidFill>
                  <a:schemeClr val="tx1"/>
                </a:solidFill>
                <a:latin typeface="Symbol" panose="05050102010706020507" pitchFamily="18" charset="2"/>
              </a:rPr>
              <a:t>d</a:t>
            </a:r>
            <a:r>
              <a:rPr lang="fr-CA" altLang="fr-FR" sz="16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z</a:t>
            </a:r>
            <a:r>
              <a:rPr lang="fr-CA" altLang="fr-FR" sz="1600" b="1" baseline="-25000" dirty="0">
                <a:solidFill>
                  <a:schemeClr val="tx1"/>
                </a:solidFill>
                <a:latin typeface="Times New Roman" panose="02020603050405020304" pitchFamily="18" charset="0"/>
              </a:rPr>
              <a:t>1 </a:t>
            </a:r>
            <a:r>
              <a:rPr lang="fr-CA" altLang="fr-FR" sz="16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= </a:t>
            </a:r>
            <a:r>
              <a:rPr lang="fr-CA" altLang="fr-FR" sz="16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0.015</a:t>
            </a:r>
            <a:r>
              <a:rPr lang="fr-CA" altLang="fr-FR" sz="18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 </a:t>
            </a:r>
            <a:endParaRPr lang="en-CA" altLang="fr-FR" sz="1800" b="1" baseline="-25000" dirty="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079576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74464" presetClass="entr" presetSubtype="810234159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49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274464" presetClass="entr" presetSubtype="810234159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49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274464" presetClass="entr" presetSubtype="810234159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49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274464" presetClass="entr" presetSubtype="810234159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50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4995" grpId="0" autoUpdateAnimBg="0"/>
      <p:bldP spid="84996" grpId="0" autoUpdateAnimBg="0"/>
      <p:bldP spid="84997" grpId="0" autoUpdateAnimBg="0"/>
      <p:bldP spid="85000" grpId="0" autoUpdateAnimBg="0"/>
      <p:bldP spid="64558" grpId="0" animBg="1"/>
      <p:bldP spid="6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1">
            <a:extLst>
              <a:ext uri="{FF2B5EF4-FFF2-40B4-BE49-F238E27FC236}">
                <a16:creationId xmlns:a16="http://schemas.microsoft.com/office/drawing/2014/main" id="{F82EDC1A-7AE3-1AD0-E898-B19642454C26}"/>
              </a:ext>
            </a:extLst>
          </p:cNvPr>
          <p:cNvSpPr>
            <a:spLocks noChangeArrowheads="1"/>
          </p:cNvSpPr>
          <p:nvPr/>
        </p:nvSpPr>
        <p:spPr bwMode="auto">
          <a:xfrm rot="16200000">
            <a:off x="1625194" y="2103037"/>
            <a:ext cx="4159251" cy="4436275"/>
          </a:xfrm>
          <a:prstGeom prst="rect">
            <a:avLst/>
          </a:prstGeom>
          <a:solidFill>
            <a:srgbClr val="E2E2E2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ts val="7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3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ts val="6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ts val="5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CA" altLang="fr-FR" sz="24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66562" name="Text Box 2">
            <a:extLst>
              <a:ext uri="{FF2B5EF4-FFF2-40B4-BE49-F238E27FC236}">
                <a16:creationId xmlns:a16="http://schemas.microsoft.com/office/drawing/2014/main" id="{05847653-2009-4D25-8572-7A0F5D8EF66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55788" y="574676"/>
            <a:ext cx="818515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7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3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ts val="6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ts val="5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fr-CA" altLang="fr-FR" sz="2000">
                <a:solidFill>
                  <a:schemeClr val="tx1"/>
                </a:solidFill>
                <a:latin typeface="Times New Roman" panose="02020603050405020304" pitchFamily="18" charset="0"/>
              </a:rPr>
              <a:t>Trouver les nouveaux poids du réseau de la figure ci-dessous si on présente le vecteur d’apprentissage (0,1). t=1 et </a:t>
            </a:r>
            <a:r>
              <a:rPr lang="fr-CA" altLang="fr-FR" sz="2000">
                <a:solidFill>
                  <a:schemeClr val="tx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=0,25.</a:t>
            </a:r>
            <a:endParaRPr lang="en-CA" altLang="fr-FR" sz="2000">
              <a:solidFill>
                <a:schemeClr val="tx1"/>
              </a:solidFill>
              <a:latin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66564" name="Oval 4">
            <a:extLst>
              <a:ext uri="{FF2B5EF4-FFF2-40B4-BE49-F238E27FC236}">
                <a16:creationId xmlns:a16="http://schemas.microsoft.com/office/drawing/2014/main" id="{20A40602-5816-48EA-8288-032215762A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714" y="3703638"/>
            <a:ext cx="573087" cy="588962"/>
          </a:xfrm>
          <a:prstGeom prst="ellipse">
            <a:avLst/>
          </a:prstGeom>
          <a:solidFill>
            <a:srgbClr val="E2E2E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ts val="7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3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ts val="6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ts val="5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fr-CA" altLang="fr-FR" sz="1600" b="1">
                <a:solidFill>
                  <a:schemeClr val="tx1"/>
                </a:solidFill>
                <a:latin typeface="Times New Roman" panose="02020603050405020304" pitchFamily="18" charset="0"/>
              </a:rPr>
              <a:t>Z</a:t>
            </a:r>
            <a:r>
              <a:rPr lang="fr-CA" altLang="fr-FR" sz="1600" b="1" baseline="-25000">
                <a:solidFill>
                  <a:schemeClr val="tx1"/>
                </a:solidFill>
                <a:latin typeface="Times New Roman" panose="02020603050405020304" pitchFamily="18" charset="0"/>
              </a:rPr>
              <a:t>2</a:t>
            </a:r>
            <a:endParaRPr lang="en-US" altLang="fr-FR" sz="1600" b="1" baseline="-250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66565" name="Oval 5">
            <a:extLst>
              <a:ext uri="{FF2B5EF4-FFF2-40B4-BE49-F238E27FC236}">
                <a16:creationId xmlns:a16="http://schemas.microsoft.com/office/drawing/2014/main" id="{E7A597A2-F7DB-4EE1-A252-710904C1A1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65413" y="3735389"/>
            <a:ext cx="576262" cy="585787"/>
          </a:xfrm>
          <a:prstGeom prst="ellipse">
            <a:avLst/>
          </a:prstGeom>
          <a:solidFill>
            <a:srgbClr val="E2E2E2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>
            <a:lvl1pPr>
              <a:spcBef>
                <a:spcPts val="7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3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ts val="6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ts val="5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fr-CA" altLang="fr-FR" sz="1600" b="1">
                <a:solidFill>
                  <a:schemeClr val="tx1"/>
                </a:solidFill>
                <a:latin typeface="Times New Roman" panose="02020603050405020304" pitchFamily="18" charset="0"/>
              </a:rPr>
              <a:t>Z</a:t>
            </a:r>
            <a:r>
              <a:rPr lang="fr-CA" altLang="fr-FR" sz="1600" b="1" baseline="-25000">
                <a:solidFill>
                  <a:schemeClr val="tx1"/>
                </a:solidFill>
                <a:latin typeface="Times New Roman" panose="02020603050405020304" pitchFamily="18" charset="0"/>
              </a:rPr>
              <a:t>1</a:t>
            </a:r>
            <a:endParaRPr lang="en-US" altLang="fr-FR" sz="1600" b="1" baseline="-250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66566" name="Oval 6">
            <a:extLst>
              <a:ext uri="{FF2B5EF4-FFF2-40B4-BE49-F238E27FC236}">
                <a16:creationId xmlns:a16="http://schemas.microsoft.com/office/drawing/2014/main" id="{9934E0C6-A9A2-4689-A5B2-1B3D7483AC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03575" y="2514600"/>
            <a:ext cx="477838" cy="490538"/>
          </a:xfrm>
          <a:prstGeom prst="ellipse">
            <a:avLst/>
          </a:prstGeom>
          <a:solidFill>
            <a:srgbClr val="E2E2E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ts val="7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3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ts val="6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ts val="5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fr-FR" sz="1800" b="1">
                <a:solidFill>
                  <a:schemeClr val="tx1"/>
                </a:solidFill>
                <a:latin typeface="Times New Roman" panose="02020603050405020304" pitchFamily="18" charset="0"/>
              </a:rPr>
              <a:t>Y</a:t>
            </a:r>
          </a:p>
        </p:txBody>
      </p:sp>
      <p:sp>
        <p:nvSpPr>
          <p:cNvPr id="66567" name="Oval 7">
            <a:extLst>
              <a:ext uri="{FF2B5EF4-FFF2-40B4-BE49-F238E27FC236}">
                <a16:creationId xmlns:a16="http://schemas.microsoft.com/office/drawing/2014/main" id="{A0B0389B-7174-40CD-9B87-C2793674DF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24300" y="5280025"/>
            <a:ext cx="585788" cy="585788"/>
          </a:xfrm>
          <a:prstGeom prst="ellipse">
            <a:avLst/>
          </a:prstGeom>
          <a:solidFill>
            <a:srgbClr val="E2E2E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ts val="7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3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ts val="6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ts val="5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fr-CA" altLang="fr-FR" sz="1800" b="1">
                <a:solidFill>
                  <a:schemeClr val="tx1"/>
                </a:solidFill>
                <a:latin typeface="Times New Roman" panose="02020603050405020304" pitchFamily="18" charset="0"/>
              </a:rPr>
              <a:t>X</a:t>
            </a:r>
            <a:r>
              <a:rPr lang="fr-CA" altLang="fr-FR" sz="1800" b="1" baseline="-25000">
                <a:solidFill>
                  <a:schemeClr val="tx1"/>
                </a:solidFill>
                <a:latin typeface="Times New Roman" panose="02020603050405020304" pitchFamily="18" charset="0"/>
              </a:rPr>
              <a:t>2</a:t>
            </a:r>
            <a:endParaRPr lang="en-US" altLang="fr-FR" sz="1800" b="1" baseline="-250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66568" name="Oval 8">
            <a:extLst>
              <a:ext uri="{FF2B5EF4-FFF2-40B4-BE49-F238E27FC236}">
                <a16:creationId xmlns:a16="http://schemas.microsoft.com/office/drawing/2014/main" id="{A4D61BD0-3D3F-448A-A56B-91659A1D0D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65375" y="5280025"/>
            <a:ext cx="585788" cy="585788"/>
          </a:xfrm>
          <a:prstGeom prst="ellipse">
            <a:avLst/>
          </a:prstGeom>
          <a:solidFill>
            <a:srgbClr val="E2E2E2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>
            <a:lvl1pPr>
              <a:spcBef>
                <a:spcPts val="7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3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ts val="6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ts val="5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fr-CA" altLang="fr-FR" sz="1800" b="1">
                <a:solidFill>
                  <a:schemeClr val="tx1"/>
                </a:solidFill>
                <a:latin typeface="Times New Roman" panose="02020603050405020304" pitchFamily="18" charset="0"/>
              </a:rPr>
              <a:t>X</a:t>
            </a:r>
            <a:r>
              <a:rPr lang="fr-CA" altLang="fr-FR" sz="1800" b="1" baseline="-25000">
                <a:solidFill>
                  <a:schemeClr val="tx1"/>
                </a:solidFill>
                <a:latin typeface="Times New Roman" panose="02020603050405020304" pitchFamily="18" charset="0"/>
              </a:rPr>
              <a:t>1</a:t>
            </a:r>
            <a:endParaRPr lang="en-US" altLang="fr-FR" sz="1800" b="1" baseline="-250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cxnSp>
        <p:nvCxnSpPr>
          <p:cNvPr id="66569" name="AutoShape 9">
            <a:extLst>
              <a:ext uri="{FF2B5EF4-FFF2-40B4-BE49-F238E27FC236}">
                <a16:creationId xmlns:a16="http://schemas.microsoft.com/office/drawing/2014/main" id="{E3BF0AAC-9B29-4B79-8976-E51590E5E203}"/>
              </a:ext>
            </a:extLst>
          </p:cNvPr>
          <p:cNvCxnSpPr>
            <a:cxnSpLocks noChangeShapeType="1"/>
            <a:stCxn id="66568" idx="0"/>
            <a:endCxn id="66565" idx="4"/>
          </p:cNvCxnSpPr>
          <p:nvPr/>
        </p:nvCxnSpPr>
        <p:spPr bwMode="auto">
          <a:xfrm flipV="1">
            <a:off x="2659064" y="4321175"/>
            <a:ext cx="295275" cy="95885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66570" name="AutoShape 10">
            <a:extLst>
              <a:ext uri="{FF2B5EF4-FFF2-40B4-BE49-F238E27FC236}">
                <a16:creationId xmlns:a16="http://schemas.microsoft.com/office/drawing/2014/main" id="{170E2B3C-8A6D-4E8A-98BD-9D0C68B727BE}"/>
              </a:ext>
            </a:extLst>
          </p:cNvPr>
          <p:cNvCxnSpPr>
            <a:cxnSpLocks noChangeShapeType="1"/>
            <a:stCxn id="66568" idx="7"/>
            <a:endCxn id="66564" idx="3"/>
          </p:cNvCxnSpPr>
          <p:nvPr/>
        </p:nvCxnSpPr>
        <p:spPr bwMode="auto">
          <a:xfrm flipV="1">
            <a:off x="2865438" y="4206876"/>
            <a:ext cx="760412" cy="1158875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66571" name="AutoShape 11">
            <a:extLst>
              <a:ext uri="{FF2B5EF4-FFF2-40B4-BE49-F238E27FC236}">
                <a16:creationId xmlns:a16="http://schemas.microsoft.com/office/drawing/2014/main" id="{6A27809C-4956-4A25-A876-43D04E695B20}"/>
              </a:ext>
            </a:extLst>
          </p:cNvPr>
          <p:cNvCxnSpPr>
            <a:cxnSpLocks noChangeShapeType="1"/>
            <a:stCxn id="66565" idx="0"/>
            <a:endCxn id="66566" idx="3"/>
          </p:cNvCxnSpPr>
          <p:nvPr/>
        </p:nvCxnSpPr>
        <p:spPr bwMode="auto">
          <a:xfrm flipV="1">
            <a:off x="2954339" y="2933700"/>
            <a:ext cx="319087" cy="801688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66572" name="AutoShape 12">
            <a:extLst>
              <a:ext uri="{FF2B5EF4-FFF2-40B4-BE49-F238E27FC236}">
                <a16:creationId xmlns:a16="http://schemas.microsoft.com/office/drawing/2014/main" id="{31EDD273-859A-42EE-BE39-F30C7E95E8C1}"/>
              </a:ext>
            </a:extLst>
          </p:cNvPr>
          <p:cNvCxnSpPr>
            <a:cxnSpLocks noChangeShapeType="1"/>
            <a:stCxn id="66564" idx="0"/>
            <a:endCxn id="66566" idx="5"/>
          </p:cNvCxnSpPr>
          <p:nvPr/>
        </p:nvCxnSpPr>
        <p:spPr bwMode="auto">
          <a:xfrm flipH="1" flipV="1">
            <a:off x="3611564" y="2933700"/>
            <a:ext cx="217487" cy="769938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66573" name="AutoShape 13">
            <a:extLst>
              <a:ext uri="{FF2B5EF4-FFF2-40B4-BE49-F238E27FC236}">
                <a16:creationId xmlns:a16="http://schemas.microsoft.com/office/drawing/2014/main" id="{CD4120BA-0DB8-4273-BE53-10DAF18C215F}"/>
              </a:ext>
            </a:extLst>
          </p:cNvPr>
          <p:cNvCxnSpPr>
            <a:cxnSpLocks noChangeShapeType="1"/>
            <a:stCxn id="66567" idx="1"/>
            <a:endCxn id="66565" idx="5"/>
          </p:cNvCxnSpPr>
          <p:nvPr/>
        </p:nvCxnSpPr>
        <p:spPr bwMode="auto">
          <a:xfrm flipH="1" flipV="1">
            <a:off x="3157539" y="4235450"/>
            <a:ext cx="852487" cy="113030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66574" name="AutoShape 14">
            <a:extLst>
              <a:ext uri="{FF2B5EF4-FFF2-40B4-BE49-F238E27FC236}">
                <a16:creationId xmlns:a16="http://schemas.microsoft.com/office/drawing/2014/main" id="{0FA6E0F9-6243-455D-B0F0-0610A812B6C2}"/>
              </a:ext>
            </a:extLst>
          </p:cNvPr>
          <p:cNvCxnSpPr>
            <a:cxnSpLocks noChangeShapeType="1"/>
            <a:stCxn id="66567" idx="0"/>
            <a:endCxn id="66564" idx="4"/>
          </p:cNvCxnSpPr>
          <p:nvPr/>
        </p:nvCxnSpPr>
        <p:spPr bwMode="auto">
          <a:xfrm flipH="1" flipV="1">
            <a:off x="3829050" y="4292601"/>
            <a:ext cx="388938" cy="987425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66575" name="Oval 15">
            <a:extLst>
              <a:ext uri="{FF2B5EF4-FFF2-40B4-BE49-F238E27FC236}">
                <a16:creationId xmlns:a16="http://schemas.microsoft.com/office/drawing/2014/main" id="{1782B122-A038-4489-B84E-1019DFC9C0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21214" y="4845050"/>
            <a:ext cx="236537" cy="236538"/>
          </a:xfrm>
          <a:prstGeom prst="ellipse">
            <a:avLst/>
          </a:prstGeom>
          <a:solidFill>
            <a:srgbClr val="E2E2E2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ts val="7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3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ts val="6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ts val="5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fr-CA" altLang="fr-FR" sz="1800">
                <a:solidFill>
                  <a:schemeClr val="tx1"/>
                </a:solidFill>
                <a:latin typeface="Times New Roman" panose="02020603050405020304" pitchFamily="18" charset="0"/>
              </a:rPr>
              <a:t>1</a:t>
            </a:r>
            <a:endParaRPr lang="en-CA" altLang="fr-FR" sz="18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66576" name="Oval 16">
            <a:extLst>
              <a:ext uri="{FF2B5EF4-FFF2-40B4-BE49-F238E27FC236}">
                <a16:creationId xmlns:a16="http://schemas.microsoft.com/office/drawing/2014/main" id="{C3D7E01F-4841-474B-BEC2-86BB8B4717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44689" y="4845050"/>
            <a:ext cx="236537" cy="236538"/>
          </a:xfrm>
          <a:prstGeom prst="ellipse">
            <a:avLst/>
          </a:prstGeom>
          <a:solidFill>
            <a:srgbClr val="E2E2E2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ts val="7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3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ts val="6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ts val="5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fr-CA" altLang="fr-FR" sz="1800">
                <a:solidFill>
                  <a:schemeClr val="tx1"/>
                </a:solidFill>
                <a:latin typeface="Times New Roman" panose="02020603050405020304" pitchFamily="18" charset="0"/>
              </a:rPr>
              <a:t>1</a:t>
            </a:r>
            <a:endParaRPr lang="en-CA" altLang="fr-FR" sz="18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66577" name="Oval 17">
            <a:extLst>
              <a:ext uri="{FF2B5EF4-FFF2-40B4-BE49-F238E27FC236}">
                <a16:creationId xmlns:a16="http://schemas.microsoft.com/office/drawing/2014/main" id="{16BE98E8-0CA2-47D8-9F1D-E0C7C68229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36800" y="3295650"/>
            <a:ext cx="236538" cy="236538"/>
          </a:xfrm>
          <a:prstGeom prst="ellipse">
            <a:avLst/>
          </a:prstGeom>
          <a:solidFill>
            <a:srgbClr val="E2E2E2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ts val="7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3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ts val="6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ts val="5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fr-CA" altLang="fr-FR" sz="1800">
                <a:solidFill>
                  <a:schemeClr val="tx1"/>
                </a:solidFill>
                <a:latin typeface="Times New Roman" panose="02020603050405020304" pitchFamily="18" charset="0"/>
              </a:rPr>
              <a:t>1</a:t>
            </a:r>
            <a:endParaRPr lang="en-CA" altLang="fr-FR" sz="18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cxnSp>
        <p:nvCxnSpPr>
          <p:cNvPr id="66578" name="AutoShape 18">
            <a:extLst>
              <a:ext uri="{FF2B5EF4-FFF2-40B4-BE49-F238E27FC236}">
                <a16:creationId xmlns:a16="http://schemas.microsoft.com/office/drawing/2014/main" id="{9F20CBD0-D573-449E-821C-92E38298D527}"/>
              </a:ext>
            </a:extLst>
          </p:cNvPr>
          <p:cNvCxnSpPr>
            <a:cxnSpLocks noChangeShapeType="1"/>
            <a:stCxn id="66575" idx="0"/>
            <a:endCxn id="66564" idx="6"/>
          </p:cNvCxnSpPr>
          <p:nvPr/>
        </p:nvCxnSpPr>
        <p:spPr bwMode="auto">
          <a:xfrm rot="5400000" flipH="1">
            <a:off x="4004470" y="4109245"/>
            <a:ext cx="846137" cy="625475"/>
          </a:xfrm>
          <a:prstGeom prst="curvedConnector2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66579" name="AutoShape 19">
            <a:extLst>
              <a:ext uri="{FF2B5EF4-FFF2-40B4-BE49-F238E27FC236}">
                <a16:creationId xmlns:a16="http://schemas.microsoft.com/office/drawing/2014/main" id="{75981A38-1532-4760-A374-9985DE37BCAD}"/>
              </a:ext>
            </a:extLst>
          </p:cNvPr>
          <p:cNvCxnSpPr>
            <a:cxnSpLocks noChangeShapeType="1"/>
            <a:stCxn id="66577" idx="0"/>
            <a:endCxn id="66566" idx="2"/>
          </p:cNvCxnSpPr>
          <p:nvPr/>
        </p:nvCxnSpPr>
        <p:spPr bwMode="auto">
          <a:xfrm rot="16200000">
            <a:off x="2562226" y="2654301"/>
            <a:ext cx="534987" cy="747712"/>
          </a:xfrm>
          <a:prstGeom prst="curvedConnector2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66580" name="Rectangle 20">
            <a:extLst>
              <a:ext uri="{FF2B5EF4-FFF2-40B4-BE49-F238E27FC236}">
                <a16:creationId xmlns:a16="http://schemas.microsoft.com/office/drawing/2014/main" id="{9179C37C-3556-497D-8774-2A1C8E6778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84463" y="3206750"/>
            <a:ext cx="603250" cy="274638"/>
          </a:xfrm>
          <a:prstGeom prst="rect">
            <a:avLst/>
          </a:prstGeom>
          <a:solidFill>
            <a:srgbClr val="E2E2E2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7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3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ts val="6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ts val="5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fr-CA" altLang="fr-FR" sz="12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0.5168</a:t>
            </a:r>
            <a:endParaRPr lang="en-CA" altLang="fr-FR" sz="1200" b="1" baseline="-25000" dirty="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66581" name="Rectangle 21">
            <a:extLst>
              <a:ext uri="{FF2B5EF4-FFF2-40B4-BE49-F238E27FC236}">
                <a16:creationId xmlns:a16="http://schemas.microsoft.com/office/drawing/2014/main" id="{68106A0B-8789-471D-81F7-146C5FA3C0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59063" y="4530725"/>
            <a:ext cx="374650" cy="274638"/>
          </a:xfrm>
          <a:prstGeom prst="rect">
            <a:avLst/>
          </a:prstGeom>
          <a:solidFill>
            <a:srgbClr val="E2E2E2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7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3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ts val="6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ts val="5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fr-CA" altLang="fr-FR" sz="1200">
                <a:solidFill>
                  <a:schemeClr val="tx1"/>
                </a:solidFill>
                <a:latin typeface="Times New Roman" panose="02020603050405020304" pitchFamily="18" charset="0"/>
              </a:rPr>
              <a:t>0.7</a:t>
            </a:r>
            <a:endParaRPr lang="en-CA" altLang="fr-FR" sz="1200" baseline="-250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66582" name="Rectangle 22">
            <a:extLst>
              <a:ext uri="{FF2B5EF4-FFF2-40B4-BE49-F238E27FC236}">
                <a16:creationId xmlns:a16="http://schemas.microsoft.com/office/drawing/2014/main" id="{F3679AC0-F2BF-4F9A-867C-1469B0B036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74975" y="4805364"/>
            <a:ext cx="425450" cy="274637"/>
          </a:xfrm>
          <a:prstGeom prst="rect">
            <a:avLst/>
          </a:prstGeom>
          <a:solidFill>
            <a:srgbClr val="E2E2E2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7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3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ts val="6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ts val="5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fr-CA" altLang="fr-FR" sz="1200">
                <a:solidFill>
                  <a:schemeClr val="tx1"/>
                </a:solidFill>
                <a:latin typeface="Times New Roman" panose="02020603050405020304" pitchFamily="18" charset="0"/>
              </a:rPr>
              <a:t>-0.4</a:t>
            </a:r>
            <a:endParaRPr lang="en-CA" altLang="fr-FR" sz="1200" baseline="-250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66583" name="Rectangle 23">
            <a:extLst>
              <a:ext uri="{FF2B5EF4-FFF2-40B4-BE49-F238E27FC236}">
                <a16:creationId xmlns:a16="http://schemas.microsoft.com/office/drawing/2014/main" id="{2745C10C-6AEB-4600-AC4F-A106F9E0E4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82975" y="4786314"/>
            <a:ext cx="425450" cy="274637"/>
          </a:xfrm>
          <a:prstGeom prst="rect">
            <a:avLst/>
          </a:prstGeom>
          <a:solidFill>
            <a:srgbClr val="E2E2E2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7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3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ts val="6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ts val="5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fr-CA" altLang="fr-FR" sz="1200" dirty="0">
                <a:solidFill>
                  <a:schemeClr val="tx1"/>
                </a:solidFill>
                <a:latin typeface="Times New Roman" panose="02020603050405020304" pitchFamily="18" charset="0"/>
              </a:rPr>
              <a:t>-0.2</a:t>
            </a:r>
            <a:endParaRPr lang="en-CA" altLang="fr-FR" sz="1200" baseline="-25000" dirty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66584" name="Rectangle 24">
            <a:extLst>
              <a:ext uri="{FF2B5EF4-FFF2-40B4-BE49-F238E27FC236}">
                <a16:creationId xmlns:a16="http://schemas.microsoft.com/office/drawing/2014/main" id="{2ADA6D40-43DD-4542-BDC3-41C17CC467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29050" y="4530725"/>
            <a:ext cx="374650" cy="274638"/>
          </a:xfrm>
          <a:prstGeom prst="rect">
            <a:avLst/>
          </a:prstGeom>
          <a:solidFill>
            <a:srgbClr val="E2E2E2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7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3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ts val="6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ts val="5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fr-CA" altLang="fr-FR" sz="1200">
                <a:solidFill>
                  <a:schemeClr val="tx1"/>
                </a:solidFill>
                <a:latin typeface="Times New Roman" panose="02020603050405020304" pitchFamily="18" charset="0"/>
              </a:rPr>
              <a:t>0.3</a:t>
            </a:r>
            <a:endParaRPr lang="en-CA" altLang="fr-FR" sz="1200" baseline="-250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66585" name="Rectangle 25">
            <a:extLst>
              <a:ext uri="{FF2B5EF4-FFF2-40B4-BE49-F238E27FC236}">
                <a16:creationId xmlns:a16="http://schemas.microsoft.com/office/drawing/2014/main" id="{50271931-FBB8-4A91-AA1A-06F0FFF0B6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713" y="3314700"/>
            <a:ext cx="603250" cy="274638"/>
          </a:xfrm>
          <a:prstGeom prst="rect">
            <a:avLst/>
          </a:prstGeom>
          <a:solidFill>
            <a:srgbClr val="E2E2E2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7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3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ts val="6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ts val="5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fr-CA" altLang="fr-FR" sz="12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0.1217</a:t>
            </a:r>
            <a:endParaRPr lang="en-CA" altLang="fr-FR" sz="1200" b="1" baseline="-25000" dirty="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66586" name="Rectangle 26">
            <a:extLst>
              <a:ext uri="{FF2B5EF4-FFF2-40B4-BE49-F238E27FC236}">
                <a16:creationId xmlns:a16="http://schemas.microsoft.com/office/drawing/2014/main" id="{1809AA96-85CE-4A29-AA71-53D89EA4A6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95525" y="2933700"/>
            <a:ext cx="654050" cy="274638"/>
          </a:xfrm>
          <a:prstGeom prst="rect">
            <a:avLst/>
          </a:prstGeom>
          <a:solidFill>
            <a:srgbClr val="E2E2E2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7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3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ts val="6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ts val="5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fr-CA" altLang="fr-FR" sz="12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-0.2695</a:t>
            </a:r>
            <a:endParaRPr lang="en-CA" altLang="fr-FR" sz="1200" b="1" baseline="-25000" dirty="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66587" name="Rectangle 27">
            <a:extLst>
              <a:ext uri="{FF2B5EF4-FFF2-40B4-BE49-F238E27FC236}">
                <a16:creationId xmlns:a16="http://schemas.microsoft.com/office/drawing/2014/main" id="{C421CB19-D1CB-4EFF-98CD-5F2A043F1A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65638" y="4292600"/>
            <a:ext cx="374650" cy="274638"/>
          </a:xfrm>
          <a:prstGeom prst="rect">
            <a:avLst/>
          </a:prstGeom>
          <a:solidFill>
            <a:srgbClr val="E2E2E2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7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3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ts val="6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ts val="5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fr-CA" altLang="fr-FR" sz="1200">
                <a:solidFill>
                  <a:schemeClr val="tx1"/>
                </a:solidFill>
                <a:latin typeface="Times New Roman" panose="02020603050405020304" pitchFamily="18" charset="0"/>
              </a:rPr>
              <a:t>0.6</a:t>
            </a:r>
            <a:endParaRPr lang="en-CA" altLang="fr-FR" sz="1200" baseline="-250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cxnSp>
        <p:nvCxnSpPr>
          <p:cNvPr id="66588" name="AutoShape 28">
            <a:extLst>
              <a:ext uri="{FF2B5EF4-FFF2-40B4-BE49-F238E27FC236}">
                <a16:creationId xmlns:a16="http://schemas.microsoft.com/office/drawing/2014/main" id="{3E8870D1-3D9B-43FF-8186-3AA5F2CC7B98}"/>
              </a:ext>
            </a:extLst>
          </p:cNvPr>
          <p:cNvCxnSpPr>
            <a:cxnSpLocks noChangeShapeType="1"/>
            <a:stCxn id="66576" idx="0"/>
            <a:endCxn id="66565" idx="2"/>
          </p:cNvCxnSpPr>
          <p:nvPr/>
        </p:nvCxnSpPr>
        <p:spPr bwMode="auto">
          <a:xfrm rot="16200000">
            <a:off x="1956595" y="4136232"/>
            <a:ext cx="815975" cy="601663"/>
          </a:xfrm>
          <a:prstGeom prst="curvedConnector2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66589" name="Rectangle 29">
            <a:extLst>
              <a:ext uri="{FF2B5EF4-FFF2-40B4-BE49-F238E27FC236}">
                <a16:creationId xmlns:a16="http://schemas.microsoft.com/office/drawing/2014/main" id="{833A1C11-82E1-428F-A295-FA76ADD422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25650" y="4256089"/>
            <a:ext cx="374650" cy="274637"/>
          </a:xfrm>
          <a:prstGeom prst="rect">
            <a:avLst/>
          </a:prstGeom>
          <a:solidFill>
            <a:srgbClr val="E2E2E2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7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3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ts val="6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ts val="5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fr-CA" altLang="fr-FR" sz="1200" dirty="0">
                <a:solidFill>
                  <a:schemeClr val="tx1"/>
                </a:solidFill>
                <a:latin typeface="Times New Roman" panose="02020603050405020304" pitchFamily="18" charset="0"/>
              </a:rPr>
              <a:t>0.4</a:t>
            </a:r>
            <a:endParaRPr lang="en-CA" altLang="fr-FR" sz="1200" baseline="-25000" dirty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66590" name="Text Box 30">
            <a:extLst>
              <a:ext uri="{FF2B5EF4-FFF2-40B4-BE49-F238E27FC236}">
                <a16:creationId xmlns:a16="http://schemas.microsoft.com/office/drawing/2014/main" id="{5EBB3AE2-51BA-4CEC-9E0A-508C9013F8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88088" y="6400800"/>
            <a:ext cx="1841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7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3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ts val="6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ts val="5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CA" altLang="fr-FR" sz="24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66591" name="Text Box 31">
            <a:extLst>
              <a:ext uri="{FF2B5EF4-FFF2-40B4-BE49-F238E27FC236}">
                <a16:creationId xmlns:a16="http://schemas.microsoft.com/office/drawing/2014/main" id="{E37C961B-BE7A-4F22-8610-22EA69BBB7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03475" y="1638301"/>
            <a:ext cx="20129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7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3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ts val="6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ts val="5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fr-CA" altLang="fr-FR" sz="1800" b="1">
                <a:solidFill>
                  <a:schemeClr val="tx1"/>
                </a:solidFill>
                <a:latin typeface="Times New Roman" panose="02020603050405020304" pitchFamily="18" charset="0"/>
              </a:rPr>
              <a:t>Rétro-propagation</a:t>
            </a:r>
            <a:endParaRPr lang="en-CA" altLang="fr-FR" sz="1800" b="1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66592" name="Rectangle 32">
            <a:extLst>
              <a:ext uri="{FF2B5EF4-FFF2-40B4-BE49-F238E27FC236}">
                <a16:creationId xmlns:a16="http://schemas.microsoft.com/office/drawing/2014/main" id="{9FFAA0EA-567E-45A7-A2F3-045B4CF683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03913" y="2947989"/>
            <a:ext cx="173831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7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3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ts val="6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ts val="5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fr-CA" altLang="fr-FR" sz="20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7. </a:t>
            </a:r>
            <a:r>
              <a:rPr lang="fr-CA" altLang="fr-FR" sz="2000" b="1" dirty="0">
                <a:solidFill>
                  <a:schemeClr val="tx1"/>
                </a:solidFill>
                <a:latin typeface="Symbol" panose="05050102010706020507" pitchFamily="18" charset="2"/>
              </a:rPr>
              <a:t>D </a:t>
            </a:r>
            <a:r>
              <a:rPr lang="fr-CA" altLang="fr-FR" sz="2000" b="1" dirty="0" err="1">
                <a:solidFill>
                  <a:schemeClr val="tx1"/>
                </a:solidFill>
                <a:latin typeface="Times New Roman" panose="02020603050405020304" pitchFamily="18" charset="0"/>
              </a:rPr>
              <a:t>w</a:t>
            </a:r>
            <a:r>
              <a:rPr lang="fr-CA" altLang="fr-FR" sz="2000" b="1" baseline="-25000" dirty="0" err="1">
                <a:solidFill>
                  <a:schemeClr val="tx1"/>
                </a:solidFill>
                <a:latin typeface="Times New Roman" panose="02020603050405020304" pitchFamily="18" charset="0"/>
              </a:rPr>
              <a:t>jk</a:t>
            </a:r>
            <a:endParaRPr lang="en-CA" altLang="fr-FR" sz="2000" b="1" dirty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66593" name="Text Box 33">
            <a:extLst>
              <a:ext uri="{FF2B5EF4-FFF2-40B4-BE49-F238E27FC236}">
                <a16:creationId xmlns:a16="http://schemas.microsoft.com/office/drawing/2014/main" id="{0B23F063-1FDE-4327-BFC4-F16AF3F317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64274" y="3452814"/>
            <a:ext cx="4326785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ts val="7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3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ts val="6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ts val="5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285750" indent="-285750">
              <a:spcBef>
                <a:spcPct val="0"/>
              </a:spcBef>
              <a:buClrTx/>
              <a:buSzTx/>
              <a:buFont typeface="Symbol" panose="05050102010706020507" pitchFamily="18" charset="2"/>
              <a:buChar char="D"/>
            </a:pPr>
            <a:r>
              <a:rPr lang="fr-CA" altLang="fr-FR" sz="18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w</a:t>
            </a:r>
            <a:r>
              <a:rPr lang="fr-CA" altLang="fr-FR" sz="1800" b="1" baseline="-25000" dirty="0">
                <a:solidFill>
                  <a:schemeClr val="tx1"/>
                </a:solidFill>
                <a:latin typeface="Times New Roman" panose="02020603050405020304" pitchFamily="18" charset="0"/>
              </a:rPr>
              <a:t>01</a:t>
            </a:r>
            <a:r>
              <a:rPr lang="fr-CA" altLang="fr-FR" sz="18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 = </a:t>
            </a:r>
            <a:r>
              <a:rPr lang="fr-CA" altLang="fr-FR" sz="1800" dirty="0">
                <a:solidFill>
                  <a:schemeClr val="tx1"/>
                </a:solidFill>
                <a:latin typeface="Times New Roman" panose="02020603050405020304" pitchFamily="18" charset="0"/>
              </a:rPr>
              <a:t>(</a:t>
            </a:r>
            <a:r>
              <a:rPr lang="fr-CA" altLang="fr-FR" sz="1800" dirty="0">
                <a:solidFill>
                  <a:schemeClr val="tx1"/>
                </a:solidFill>
                <a:latin typeface="Symbol" panose="05050102010706020507" pitchFamily="18" charset="2"/>
              </a:rPr>
              <a:t>h</a:t>
            </a:r>
            <a:r>
              <a:rPr lang="fr-CA" altLang="fr-FR" sz="1800" dirty="0">
                <a:solidFill>
                  <a:schemeClr val="tx1"/>
                </a:solidFill>
                <a:latin typeface="Times New Roman" panose="02020603050405020304" pitchFamily="18" charset="0"/>
              </a:rPr>
              <a:t>) (</a:t>
            </a:r>
            <a:r>
              <a:rPr lang="fr-CA" altLang="fr-FR" sz="1800" b="1" dirty="0" err="1">
                <a:solidFill>
                  <a:schemeClr val="tx1"/>
                </a:solidFill>
                <a:latin typeface="Symbol" panose="05050102010706020507" pitchFamily="18" charset="2"/>
              </a:rPr>
              <a:t>d</a:t>
            </a:r>
            <a:r>
              <a:rPr lang="fr-CA" altLang="fr-FR" sz="1800" b="1" dirty="0" err="1">
                <a:solidFill>
                  <a:schemeClr val="tx1"/>
                </a:solidFill>
                <a:latin typeface="Times New Roman" panose="02020603050405020304" pitchFamily="18" charset="0"/>
              </a:rPr>
              <a:t>y</a:t>
            </a:r>
            <a:r>
              <a:rPr lang="fr-CA" altLang="fr-FR" sz="1800" dirty="0">
                <a:solidFill>
                  <a:schemeClr val="tx1"/>
                </a:solidFill>
                <a:latin typeface="Times New Roman" panose="02020603050405020304" pitchFamily="18" charset="0"/>
              </a:rPr>
              <a:t>) (1)= 0.0305</a:t>
            </a:r>
          </a:p>
          <a:p>
            <a:pPr>
              <a:spcBef>
                <a:spcPct val="0"/>
              </a:spcBef>
              <a:buClrTx/>
              <a:buSzTx/>
              <a:buNone/>
            </a:pPr>
            <a:r>
              <a:rPr lang="fr-CA" altLang="fr-FR" sz="18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w</a:t>
            </a:r>
            <a:r>
              <a:rPr lang="fr-CA" altLang="fr-FR" sz="1800" b="1" baseline="-25000" dirty="0">
                <a:solidFill>
                  <a:schemeClr val="tx1"/>
                </a:solidFill>
                <a:latin typeface="Times New Roman" panose="02020603050405020304" pitchFamily="18" charset="0"/>
              </a:rPr>
              <a:t>01</a:t>
            </a:r>
            <a:r>
              <a:rPr lang="fr-CA" altLang="fr-FR" sz="1600" b="1" baseline="-25000" dirty="0">
                <a:solidFill>
                  <a:schemeClr val="tx1"/>
                </a:solidFill>
                <a:latin typeface="Times New Roman" panose="02020603050405020304" pitchFamily="18" charset="0"/>
              </a:rPr>
              <a:t> </a:t>
            </a:r>
            <a:r>
              <a:rPr lang="fr-CA" altLang="fr-FR" sz="16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= w</a:t>
            </a:r>
            <a:r>
              <a:rPr lang="fr-CA" altLang="fr-FR" sz="1600" b="1" baseline="-25000" dirty="0">
                <a:solidFill>
                  <a:schemeClr val="tx1"/>
                </a:solidFill>
                <a:latin typeface="Times New Roman" panose="02020603050405020304" pitchFamily="18" charset="0"/>
              </a:rPr>
              <a:t>01  + </a:t>
            </a:r>
            <a:r>
              <a:rPr lang="fr-CA" altLang="fr-FR" sz="1600" dirty="0">
                <a:solidFill>
                  <a:schemeClr val="tx1"/>
                </a:solidFill>
                <a:latin typeface="Symbol" panose="05050102010706020507" pitchFamily="18" charset="2"/>
              </a:rPr>
              <a:t>D </a:t>
            </a:r>
            <a:r>
              <a:rPr lang="fr-CA" altLang="fr-FR" sz="18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w</a:t>
            </a:r>
            <a:r>
              <a:rPr lang="fr-CA" altLang="fr-FR" sz="1800" b="1" baseline="-25000" dirty="0">
                <a:solidFill>
                  <a:schemeClr val="tx1"/>
                </a:solidFill>
                <a:latin typeface="Times New Roman" panose="02020603050405020304" pitchFamily="18" charset="0"/>
              </a:rPr>
              <a:t>01  =</a:t>
            </a:r>
            <a:r>
              <a:rPr lang="fr-CA" altLang="fr-FR" sz="18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  -0.3 + 0.0305 = </a:t>
            </a:r>
            <a:r>
              <a:rPr lang="fr-CA" altLang="fr-FR" sz="18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0.2695</a:t>
            </a:r>
            <a:endParaRPr lang="en-CA" altLang="fr-FR" sz="1800" b="1" dirty="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66594" name="Text Box 34">
            <a:extLst>
              <a:ext uri="{FF2B5EF4-FFF2-40B4-BE49-F238E27FC236}">
                <a16:creationId xmlns:a16="http://schemas.microsoft.com/office/drawing/2014/main" id="{CF05A600-1C96-4CEB-9316-DC413B3170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02374" y="4151313"/>
            <a:ext cx="5966565" cy="9233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ts val="7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3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ts val="6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ts val="5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fr-CA" altLang="fr-FR" sz="1800" dirty="0">
                <a:solidFill>
                  <a:schemeClr val="tx1"/>
                </a:solidFill>
                <a:latin typeface="Symbol" panose="05050102010706020507" pitchFamily="18" charset="2"/>
              </a:rPr>
              <a:t>D </a:t>
            </a:r>
            <a:r>
              <a:rPr lang="fr-CA" altLang="fr-FR" sz="18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w</a:t>
            </a:r>
            <a:r>
              <a:rPr lang="fr-CA" altLang="fr-FR" sz="1800" b="1" baseline="-25000" dirty="0">
                <a:solidFill>
                  <a:schemeClr val="tx1"/>
                </a:solidFill>
                <a:latin typeface="Times New Roman" panose="02020603050405020304" pitchFamily="18" charset="0"/>
              </a:rPr>
              <a:t>11</a:t>
            </a:r>
            <a:r>
              <a:rPr lang="fr-CA" altLang="fr-FR" sz="18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 = </a:t>
            </a:r>
            <a:r>
              <a:rPr lang="fr-CA" altLang="fr-FR" sz="1800" dirty="0">
                <a:solidFill>
                  <a:schemeClr val="tx1"/>
                </a:solidFill>
                <a:latin typeface="Times New Roman" panose="02020603050405020304" pitchFamily="18" charset="0"/>
              </a:rPr>
              <a:t>(</a:t>
            </a:r>
            <a:r>
              <a:rPr lang="fr-CA" altLang="fr-FR" sz="1800" dirty="0">
                <a:solidFill>
                  <a:schemeClr val="tx1"/>
                </a:solidFill>
                <a:latin typeface="Symbol" panose="05050102010706020507" pitchFamily="18" charset="2"/>
              </a:rPr>
              <a:t>h</a:t>
            </a:r>
            <a:r>
              <a:rPr lang="fr-CA" altLang="fr-FR" sz="1800" dirty="0">
                <a:solidFill>
                  <a:schemeClr val="tx1"/>
                </a:solidFill>
                <a:latin typeface="Times New Roman" panose="02020603050405020304" pitchFamily="18" charset="0"/>
              </a:rPr>
              <a:t>) (</a:t>
            </a:r>
            <a:r>
              <a:rPr lang="fr-CA" altLang="fr-FR" sz="1800" b="1" dirty="0" err="1">
                <a:solidFill>
                  <a:schemeClr val="tx1"/>
                </a:solidFill>
                <a:latin typeface="Symbol" panose="05050102010706020507" pitchFamily="18" charset="2"/>
              </a:rPr>
              <a:t>d</a:t>
            </a:r>
            <a:r>
              <a:rPr lang="fr-CA" altLang="fr-FR" sz="1800" b="1" dirty="0" err="1">
                <a:solidFill>
                  <a:schemeClr val="tx1"/>
                </a:solidFill>
                <a:latin typeface="Times New Roman" panose="02020603050405020304" pitchFamily="18" charset="0"/>
              </a:rPr>
              <a:t>y</a:t>
            </a:r>
            <a:r>
              <a:rPr lang="fr-CA" altLang="fr-FR" sz="1800" dirty="0">
                <a:solidFill>
                  <a:schemeClr val="tx1"/>
                </a:solidFill>
                <a:latin typeface="Times New Roman" panose="02020603050405020304" pitchFamily="18" charset="0"/>
              </a:rPr>
              <a:t>) (z</a:t>
            </a:r>
            <a:r>
              <a:rPr lang="fr-CA" altLang="fr-FR" sz="1800" baseline="-25000" dirty="0">
                <a:solidFill>
                  <a:schemeClr val="tx1"/>
                </a:solidFill>
                <a:latin typeface="Times New Roman" panose="02020603050405020304" pitchFamily="18" charset="0"/>
              </a:rPr>
              <a:t>1</a:t>
            </a:r>
            <a:r>
              <a:rPr lang="fr-CA" altLang="fr-FR" sz="1800" dirty="0">
                <a:solidFill>
                  <a:schemeClr val="tx1"/>
                </a:solidFill>
                <a:latin typeface="Times New Roman" panose="02020603050405020304" pitchFamily="18" charset="0"/>
              </a:rPr>
              <a:t>) = 0.0168 </a:t>
            </a:r>
          </a:p>
          <a:p>
            <a:pPr>
              <a:spcBef>
                <a:spcPct val="0"/>
              </a:spcBef>
              <a:buClrTx/>
              <a:buSzTx/>
              <a:buNone/>
            </a:pPr>
            <a:r>
              <a:rPr lang="fr-CA" altLang="fr-FR" sz="18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w</a:t>
            </a:r>
            <a:r>
              <a:rPr lang="fr-CA" altLang="fr-FR" sz="1800" b="1" baseline="-25000" dirty="0">
                <a:solidFill>
                  <a:schemeClr val="tx1"/>
                </a:solidFill>
                <a:latin typeface="Times New Roman" panose="02020603050405020304" pitchFamily="18" charset="0"/>
              </a:rPr>
              <a:t>11</a:t>
            </a:r>
            <a:r>
              <a:rPr lang="fr-CA" altLang="fr-FR" sz="1600" b="1" baseline="-25000" dirty="0">
                <a:solidFill>
                  <a:schemeClr val="tx1"/>
                </a:solidFill>
                <a:latin typeface="Times New Roman" panose="02020603050405020304" pitchFamily="18" charset="0"/>
              </a:rPr>
              <a:t> </a:t>
            </a:r>
            <a:r>
              <a:rPr lang="fr-CA" altLang="fr-FR" sz="16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= w</a:t>
            </a:r>
            <a:r>
              <a:rPr lang="fr-CA" altLang="fr-FR" sz="1600" b="1" baseline="-25000" dirty="0">
                <a:solidFill>
                  <a:schemeClr val="tx1"/>
                </a:solidFill>
                <a:latin typeface="Times New Roman" panose="02020603050405020304" pitchFamily="18" charset="0"/>
              </a:rPr>
              <a:t>11  + </a:t>
            </a:r>
            <a:r>
              <a:rPr lang="fr-CA" altLang="fr-FR" sz="1600" dirty="0">
                <a:solidFill>
                  <a:schemeClr val="tx1"/>
                </a:solidFill>
                <a:latin typeface="Symbol" panose="05050102010706020507" pitchFamily="18" charset="2"/>
              </a:rPr>
              <a:t>D </a:t>
            </a:r>
            <a:r>
              <a:rPr lang="fr-CA" altLang="fr-FR" sz="18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w</a:t>
            </a:r>
            <a:r>
              <a:rPr lang="fr-CA" altLang="fr-FR" sz="1800" b="1" baseline="-25000" dirty="0">
                <a:solidFill>
                  <a:schemeClr val="tx1"/>
                </a:solidFill>
                <a:latin typeface="Times New Roman" panose="02020603050405020304" pitchFamily="18" charset="0"/>
              </a:rPr>
              <a:t>11  =</a:t>
            </a:r>
            <a:r>
              <a:rPr lang="fr-CA" altLang="fr-FR" sz="18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  0.5 + </a:t>
            </a:r>
            <a:r>
              <a:rPr lang="fr-CA" altLang="fr-FR" sz="1800" dirty="0">
                <a:solidFill>
                  <a:schemeClr val="tx1"/>
                </a:solidFill>
                <a:latin typeface="Times New Roman" panose="02020603050405020304" pitchFamily="18" charset="0"/>
              </a:rPr>
              <a:t>0.0168 </a:t>
            </a:r>
            <a:r>
              <a:rPr lang="fr-CA" altLang="fr-FR" sz="18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= </a:t>
            </a:r>
            <a:r>
              <a:rPr lang="fr-CA" altLang="fr-FR" sz="18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0.5168</a:t>
            </a:r>
            <a:endParaRPr lang="en-CA" altLang="fr-FR" sz="1800" b="1" dirty="0">
              <a:solidFill>
                <a:srgbClr val="FF0000"/>
              </a:solidFill>
              <a:latin typeface="Times New Roman" panose="02020603050405020304" pitchFamily="18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CA" altLang="fr-FR" sz="1800" dirty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66595" name="Text Box 35">
            <a:extLst>
              <a:ext uri="{FF2B5EF4-FFF2-40B4-BE49-F238E27FC236}">
                <a16:creationId xmlns:a16="http://schemas.microsoft.com/office/drawing/2014/main" id="{44EEDA58-2C50-4E51-AF16-D5171E3B59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89675" y="4845051"/>
            <a:ext cx="4059125" cy="6771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7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3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ts val="6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ts val="5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342900" indent="-342900">
              <a:spcBef>
                <a:spcPct val="0"/>
              </a:spcBef>
              <a:buClrTx/>
              <a:buSzTx/>
              <a:buFont typeface="Symbol" panose="05050102010706020507" pitchFamily="18" charset="2"/>
              <a:buChar char="D"/>
            </a:pPr>
            <a:r>
              <a:rPr lang="fr-CA" altLang="fr-FR" sz="20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w</a:t>
            </a:r>
            <a:r>
              <a:rPr lang="fr-CA" altLang="fr-FR" sz="2000" b="1" baseline="-25000" dirty="0">
                <a:solidFill>
                  <a:schemeClr val="tx1"/>
                </a:solidFill>
                <a:latin typeface="Times New Roman" panose="02020603050405020304" pitchFamily="18" charset="0"/>
              </a:rPr>
              <a:t>21</a:t>
            </a:r>
            <a:r>
              <a:rPr lang="fr-CA" altLang="fr-FR" sz="20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 = </a:t>
            </a:r>
            <a:r>
              <a:rPr lang="fr-CA" altLang="fr-FR" sz="1800" dirty="0">
                <a:solidFill>
                  <a:schemeClr val="tx1"/>
                </a:solidFill>
                <a:latin typeface="Times New Roman" panose="02020603050405020304" pitchFamily="18" charset="0"/>
              </a:rPr>
              <a:t>(</a:t>
            </a:r>
            <a:r>
              <a:rPr lang="fr-CA" altLang="fr-FR" sz="1800" dirty="0">
                <a:solidFill>
                  <a:schemeClr val="tx1"/>
                </a:solidFill>
                <a:latin typeface="Symbol" panose="05050102010706020507" pitchFamily="18" charset="2"/>
              </a:rPr>
              <a:t>h</a:t>
            </a:r>
            <a:r>
              <a:rPr lang="fr-CA" altLang="fr-FR" sz="1800" dirty="0">
                <a:solidFill>
                  <a:schemeClr val="tx1"/>
                </a:solidFill>
                <a:latin typeface="Times New Roman" panose="02020603050405020304" pitchFamily="18" charset="0"/>
              </a:rPr>
              <a:t>) (</a:t>
            </a:r>
            <a:r>
              <a:rPr lang="fr-CA" altLang="fr-FR" sz="2000" b="1" dirty="0" err="1">
                <a:solidFill>
                  <a:schemeClr val="tx1"/>
                </a:solidFill>
                <a:latin typeface="Symbol" panose="05050102010706020507" pitchFamily="18" charset="2"/>
              </a:rPr>
              <a:t>d</a:t>
            </a:r>
            <a:r>
              <a:rPr lang="fr-CA" altLang="fr-FR" sz="2000" b="1" dirty="0" err="1">
                <a:solidFill>
                  <a:schemeClr val="tx1"/>
                </a:solidFill>
                <a:latin typeface="Times New Roman" panose="02020603050405020304" pitchFamily="18" charset="0"/>
              </a:rPr>
              <a:t>y</a:t>
            </a:r>
            <a:r>
              <a:rPr lang="fr-CA" altLang="fr-FR" sz="1800" dirty="0">
                <a:solidFill>
                  <a:schemeClr val="tx1"/>
                </a:solidFill>
                <a:latin typeface="Times New Roman" panose="02020603050405020304" pitchFamily="18" charset="0"/>
              </a:rPr>
              <a:t>) (z</a:t>
            </a:r>
            <a:r>
              <a:rPr lang="fr-CA" altLang="fr-FR" sz="1800" baseline="-25000" dirty="0">
                <a:solidFill>
                  <a:schemeClr val="tx1"/>
                </a:solidFill>
                <a:latin typeface="Times New Roman" panose="02020603050405020304" pitchFamily="18" charset="0"/>
              </a:rPr>
              <a:t>2</a:t>
            </a:r>
            <a:r>
              <a:rPr lang="fr-CA" altLang="fr-FR" sz="1800" dirty="0">
                <a:solidFill>
                  <a:schemeClr val="tx1"/>
                </a:solidFill>
                <a:latin typeface="Times New Roman" panose="02020603050405020304" pitchFamily="18" charset="0"/>
              </a:rPr>
              <a:t>) = 0.0217</a:t>
            </a:r>
          </a:p>
          <a:p>
            <a:pPr>
              <a:spcBef>
                <a:spcPct val="0"/>
              </a:spcBef>
              <a:buClrTx/>
              <a:buSzTx/>
              <a:buNone/>
            </a:pPr>
            <a:r>
              <a:rPr lang="fr-CA" altLang="fr-FR" sz="18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w</a:t>
            </a:r>
            <a:r>
              <a:rPr lang="fr-CA" altLang="fr-FR" sz="1800" b="1" baseline="-25000" dirty="0">
                <a:solidFill>
                  <a:schemeClr val="tx1"/>
                </a:solidFill>
                <a:latin typeface="Times New Roman" panose="02020603050405020304" pitchFamily="18" charset="0"/>
              </a:rPr>
              <a:t>21</a:t>
            </a:r>
            <a:r>
              <a:rPr lang="fr-CA" altLang="fr-FR" sz="1600" b="1" baseline="-25000" dirty="0">
                <a:solidFill>
                  <a:schemeClr val="tx1"/>
                </a:solidFill>
                <a:latin typeface="Times New Roman" panose="02020603050405020304" pitchFamily="18" charset="0"/>
              </a:rPr>
              <a:t> </a:t>
            </a:r>
            <a:r>
              <a:rPr lang="fr-CA" altLang="fr-FR" sz="16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= w</a:t>
            </a:r>
            <a:r>
              <a:rPr lang="fr-CA" altLang="fr-FR" sz="1600" b="1" baseline="-25000" dirty="0">
                <a:solidFill>
                  <a:schemeClr val="tx1"/>
                </a:solidFill>
                <a:latin typeface="Times New Roman" panose="02020603050405020304" pitchFamily="18" charset="0"/>
              </a:rPr>
              <a:t>21  + </a:t>
            </a:r>
            <a:r>
              <a:rPr lang="fr-CA" altLang="fr-FR" sz="1600" dirty="0">
                <a:solidFill>
                  <a:schemeClr val="tx1"/>
                </a:solidFill>
                <a:latin typeface="Symbol" panose="05050102010706020507" pitchFamily="18" charset="2"/>
              </a:rPr>
              <a:t>D </a:t>
            </a:r>
            <a:r>
              <a:rPr lang="fr-CA" altLang="fr-FR" sz="18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w</a:t>
            </a:r>
            <a:r>
              <a:rPr lang="fr-CA" altLang="fr-FR" sz="1800" b="1" baseline="-25000" dirty="0">
                <a:solidFill>
                  <a:schemeClr val="tx1"/>
                </a:solidFill>
                <a:latin typeface="Times New Roman" panose="02020603050405020304" pitchFamily="18" charset="0"/>
              </a:rPr>
              <a:t>21  =</a:t>
            </a:r>
            <a:r>
              <a:rPr lang="fr-CA" altLang="fr-FR" sz="18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  0.1 + </a:t>
            </a:r>
            <a:r>
              <a:rPr lang="fr-CA" altLang="fr-FR" sz="1800" dirty="0">
                <a:solidFill>
                  <a:schemeClr val="tx1"/>
                </a:solidFill>
                <a:latin typeface="Times New Roman" panose="02020603050405020304" pitchFamily="18" charset="0"/>
              </a:rPr>
              <a:t>0.0217</a:t>
            </a:r>
            <a:r>
              <a:rPr lang="fr-CA" altLang="fr-FR" sz="18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 = </a:t>
            </a:r>
            <a:r>
              <a:rPr lang="fr-CA" altLang="fr-FR" sz="18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0.1217</a:t>
            </a:r>
            <a:r>
              <a:rPr lang="fr-CA" altLang="fr-FR" sz="1800" dirty="0">
                <a:solidFill>
                  <a:schemeClr val="tx1"/>
                </a:solidFill>
                <a:latin typeface="Times New Roman" panose="02020603050405020304" pitchFamily="18" charset="0"/>
              </a:rPr>
              <a:t> </a:t>
            </a:r>
            <a:endParaRPr lang="en-CA" altLang="fr-FR" sz="1800" dirty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66596" name="Text Box 36">
            <a:extLst>
              <a:ext uri="{FF2B5EF4-FFF2-40B4-BE49-F238E27FC236}">
                <a16:creationId xmlns:a16="http://schemas.microsoft.com/office/drawing/2014/main" id="{5D7AC1C4-258E-4DB9-BCFF-6CF1D433D8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57750" y="1409700"/>
            <a:ext cx="1841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7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3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ts val="6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ts val="5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CA" altLang="fr-FR" sz="24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66605" name="Group 45">
            <a:extLst>
              <a:ext uri="{FF2B5EF4-FFF2-40B4-BE49-F238E27FC236}">
                <a16:creationId xmlns:a16="http://schemas.microsoft.com/office/drawing/2014/main" id="{0AC99725-D629-459F-BF0F-8503DE946B82}"/>
              </a:ext>
            </a:extLst>
          </p:cNvPr>
          <p:cNvGrpSpPr>
            <a:grpSpLocks/>
          </p:cNvGrpSpPr>
          <p:nvPr/>
        </p:nvGrpSpPr>
        <p:grpSpPr bwMode="auto">
          <a:xfrm>
            <a:off x="1524001" y="44451"/>
            <a:ext cx="9142413" cy="365125"/>
            <a:chOff x="0" y="28"/>
            <a:chExt cx="5759" cy="230"/>
          </a:xfrm>
        </p:grpSpPr>
        <p:sp>
          <p:nvSpPr>
            <p:cNvPr id="66607" name="AutoShape 46">
              <a:extLst>
                <a:ext uri="{FF2B5EF4-FFF2-40B4-BE49-F238E27FC236}">
                  <a16:creationId xmlns:a16="http://schemas.microsoft.com/office/drawing/2014/main" id="{286C9371-9632-4AE2-ADA5-F3E03C309D9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28"/>
              <a:ext cx="5760" cy="231"/>
            </a:xfrm>
            <a:prstGeom prst="roundRect">
              <a:avLst>
                <a:gd name="adj" fmla="val 431"/>
              </a:avLst>
            </a:prstGeom>
            <a:solidFill>
              <a:srgbClr val="3366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ts val="788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•"/>
                <a:defRPr sz="32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ts val="688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–"/>
                <a:defRPr sz="28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ts val="588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•"/>
                <a:defRPr sz="2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ts val="488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–"/>
                <a:defRPr sz="20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ts val="488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ts val="488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ts val="488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ts val="488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ts val="488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fr-FR" altLang="fr-FR" sz="1800">
                <a:latin typeface="Times New Roman" panose="02020603050405020304" pitchFamily="18" charset="0"/>
              </a:endParaRPr>
            </a:p>
          </p:txBody>
        </p:sp>
        <p:sp>
          <p:nvSpPr>
            <p:cNvPr id="66608" name="Text Box 47">
              <a:extLst>
                <a:ext uri="{FF2B5EF4-FFF2-40B4-BE49-F238E27FC236}">
                  <a16:creationId xmlns:a16="http://schemas.microsoft.com/office/drawing/2014/main" id="{CF374AA4-6C27-4E9B-9C28-4BF8DB232F4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0" y="28"/>
              <a:ext cx="576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000" tIns="46800" rIns="90000" bIns="46800">
              <a:spAutoFit/>
            </a:bodyPr>
            <a:lstStyle>
              <a:lvl1pPr>
                <a:spcBef>
                  <a:spcPts val="788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•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32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ts val="688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–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8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ts val="588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•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ts val="488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–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ts val="488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ts val="488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ts val="488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ts val="488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ts val="488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96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r>
                <a:rPr lang="en-GB" altLang="fr-FR" sz="1800">
                  <a:solidFill>
                    <a:schemeClr val="tx1"/>
                  </a:solidFill>
                </a:rPr>
                <a:t>Intelligence Artificielle 		Apprentissage			</a:t>
              </a:r>
            </a:p>
          </p:txBody>
        </p:sp>
      </p:grpSp>
      <p:sp>
        <p:nvSpPr>
          <p:cNvPr id="66606" name="Text Box 35">
            <a:extLst>
              <a:ext uri="{FF2B5EF4-FFF2-40B4-BE49-F238E27FC236}">
                <a16:creationId xmlns:a16="http://schemas.microsoft.com/office/drawing/2014/main" id="{5A97DBAF-9A4D-418A-87EC-7A63560D67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88821" y="2247420"/>
            <a:ext cx="1874838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7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3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ts val="6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ts val="5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fr-CA" altLang="fr-FR" sz="2000" b="1" dirty="0" err="1">
                <a:solidFill>
                  <a:schemeClr val="tx1"/>
                </a:solidFill>
                <a:latin typeface="Times New Roman" panose="02020603050405020304" pitchFamily="18" charset="0"/>
              </a:rPr>
              <a:t>w</a:t>
            </a:r>
            <a:r>
              <a:rPr lang="fr-CA" altLang="fr-FR" sz="2000" b="1" baseline="-25000" dirty="0" err="1">
                <a:solidFill>
                  <a:schemeClr val="tx1"/>
                </a:solidFill>
                <a:latin typeface="Times New Roman" panose="02020603050405020304" pitchFamily="18" charset="0"/>
              </a:rPr>
              <a:t>jk</a:t>
            </a:r>
            <a:r>
              <a:rPr lang="fr-CA" altLang="fr-FR" sz="2000" b="1" baseline="-25000" dirty="0">
                <a:solidFill>
                  <a:schemeClr val="tx1"/>
                </a:solidFill>
                <a:latin typeface="Times New Roman" panose="02020603050405020304" pitchFamily="18" charset="0"/>
              </a:rPr>
              <a:t>  = </a:t>
            </a:r>
            <a:r>
              <a:rPr lang="fr-CA" altLang="fr-FR" sz="2000" b="1" dirty="0" err="1">
                <a:solidFill>
                  <a:schemeClr val="tx1"/>
                </a:solidFill>
                <a:latin typeface="Times New Roman" panose="02020603050405020304" pitchFamily="18" charset="0"/>
              </a:rPr>
              <a:t>w</a:t>
            </a:r>
            <a:r>
              <a:rPr lang="fr-CA" altLang="fr-FR" sz="2000" b="1" baseline="-25000" dirty="0" err="1">
                <a:solidFill>
                  <a:schemeClr val="tx1"/>
                </a:solidFill>
                <a:latin typeface="Times New Roman" panose="02020603050405020304" pitchFamily="18" charset="0"/>
              </a:rPr>
              <a:t>jk</a:t>
            </a:r>
            <a:r>
              <a:rPr lang="fr-CA" altLang="fr-FR" sz="2000" b="1" baseline="-25000" dirty="0">
                <a:solidFill>
                  <a:schemeClr val="tx1"/>
                </a:solidFill>
                <a:latin typeface="Times New Roman" panose="02020603050405020304" pitchFamily="18" charset="0"/>
              </a:rPr>
              <a:t>  + </a:t>
            </a:r>
            <a:r>
              <a:rPr lang="fr-CA" altLang="fr-FR" sz="2000" dirty="0">
                <a:solidFill>
                  <a:schemeClr val="tx1"/>
                </a:solidFill>
                <a:latin typeface="Symbol" panose="05050102010706020507" pitchFamily="18" charset="2"/>
              </a:rPr>
              <a:t>D </a:t>
            </a:r>
            <a:r>
              <a:rPr lang="fr-CA" altLang="fr-FR" sz="2000" b="1" dirty="0" err="1">
                <a:solidFill>
                  <a:schemeClr val="tx1"/>
                </a:solidFill>
                <a:latin typeface="Times New Roman" panose="02020603050405020304" pitchFamily="18" charset="0"/>
              </a:rPr>
              <a:t>w</a:t>
            </a:r>
            <a:r>
              <a:rPr lang="fr-CA" altLang="fr-FR" sz="2000" b="1" baseline="-25000" dirty="0" err="1">
                <a:solidFill>
                  <a:schemeClr val="tx1"/>
                </a:solidFill>
                <a:latin typeface="Times New Roman" panose="02020603050405020304" pitchFamily="18" charset="0"/>
              </a:rPr>
              <a:t>jk</a:t>
            </a:r>
            <a:endParaRPr lang="en-CA" altLang="fr-FR" sz="1800" dirty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66976EA-9162-48CA-8E6B-41D9A54D11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06AE51-5606-4246-9C72-66A40F31299F}" type="slidenum">
              <a:rPr lang="fr-FR" smtClean="0"/>
              <a:pPr/>
              <a:t>32</a:t>
            </a:fld>
            <a:endParaRPr lang="fr-FR"/>
          </a:p>
        </p:txBody>
      </p:sp>
      <p:sp>
        <p:nvSpPr>
          <p:cNvPr id="3" name="Rectangle 37">
            <a:extLst>
              <a:ext uri="{FF2B5EF4-FFF2-40B4-BE49-F238E27FC236}">
                <a16:creationId xmlns:a16="http://schemas.microsoft.com/office/drawing/2014/main" id="{D605A7C2-54C2-72A0-B187-4805E2876A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74846" y="3753969"/>
            <a:ext cx="1233584" cy="350866"/>
          </a:xfrm>
          <a:prstGeom prst="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>
            <a:lvl1pPr>
              <a:spcBef>
                <a:spcPts val="7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3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ts val="6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ts val="5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fr-CA" altLang="fr-FR" sz="1600" b="1" dirty="0">
                <a:solidFill>
                  <a:schemeClr val="tx1"/>
                </a:solidFill>
                <a:latin typeface="Symbol" panose="05050102010706020507" pitchFamily="18" charset="2"/>
              </a:rPr>
              <a:t>d</a:t>
            </a:r>
            <a:r>
              <a:rPr lang="fr-CA" altLang="fr-FR" sz="16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z</a:t>
            </a:r>
            <a:r>
              <a:rPr lang="fr-CA" altLang="fr-FR" sz="1600" b="1" baseline="-25000" dirty="0">
                <a:solidFill>
                  <a:schemeClr val="tx1"/>
                </a:solidFill>
                <a:latin typeface="Times New Roman" panose="02020603050405020304" pitchFamily="18" charset="0"/>
              </a:rPr>
              <a:t>2 </a:t>
            </a:r>
            <a:r>
              <a:rPr lang="fr-CA" altLang="fr-FR" sz="16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= </a:t>
            </a:r>
            <a:r>
              <a:rPr lang="fr-CA" altLang="fr-FR" sz="16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0.025</a:t>
            </a:r>
            <a:r>
              <a:rPr lang="fr-CA" altLang="fr-FR" sz="18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 </a:t>
            </a:r>
            <a:endParaRPr lang="en-CA" altLang="fr-FR" sz="1800" b="1" baseline="-25000" dirty="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4" name="Rectangle 36">
            <a:extLst>
              <a:ext uri="{FF2B5EF4-FFF2-40B4-BE49-F238E27FC236}">
                <a16:creationId xmlns:a16="http://schemas.microsoft.com/office/drawing/2014/main" id="{6CDA8982-00F8-16EA-1CCB-02CD5DCBAE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56129" y="2345323"/>
            <a:ext cx="1037433" cy="338554"/>
          </a:xfrm>
          <a:prstGeom prst="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>
            <a:lvl1pPr>
              <a:spcBef>
                <a:spcPts val="7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3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ts val="6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ts val="5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fr-CA" altLang="fr-FR" sz="1600" b="1" dirty="0" err="1">
                <a:solidFill>
                  <a:schemeClr val="tx1"/>
                </a:solidFill>
                <a:latin typeface="Symbol" panose="05050102010706020507" pitchFamily="18" charset="2"/>
              </a:rPr>
              <a:t>d</a:t>
            </a:r>
            <a:r>
              <a:rPr lang="fr-CA" altLang="fr-FR" sz="1600" b="1" dirty="0" err="1">
                <a:solidFill>
                  <a:schemeClr val="tx1"/>
                </a:solidFill>
                <a:latin typeface="Sylfaen" panose="010A0502050306030303" pitchFamily="18" charset="0"/>
                <a:cs typeface="+mn-cs"/>
              </a:rPr>
              <a:t>y</a:t>
            </a:r>
            <a:r>
              <a:rPr lang="fr-CA" altLang="fr-FR" sz="1600" b="1" dirty="0">
                <a:solidFill>
                  <a:schemeClr val="tx1"/>
                </a:solidFill>
                <a:latin typeface="Sylfaen" panose="010A0502050306030303" pitchFamily="18" charset="0"/>
                <a:cs typeface="+mn-cs"/>
              </a:rPr>
              <a:t> </a:t>
            </a:r>
            <a:r>
              <a:rPr lang="fr-CA" altLang="fr-FR" sz="1600" b="1" dirty="0">
                <a:solidFill>
                  <a:srgbClr val="FF0000"/>
                </a:solidFill>
                <a:latin typeface="Sylfaen" panose="010A0502050306030303" pitchFamily="18" charset="0"/>
              </a:rPr>
              <a:t>= 0.122</a:t>
            </a:r>
            <a:endParaRPr lang="en-CA" altLang="fr-FR" sz="1600" b="1" dirty="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5" name="Rectangle 37">
            <a:extLst>
              <a:ext uri="{FF2B5EF4-FFF2-40B4-BE49-F238E27FC236}">
                <a16:creationId xmlns:a16="http://schemas.microsoft.com/office/drawing/2014/main" id="{86B7A3B5-99FF-09FE-2AD3-B10607EABF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97816" y="3744853"/>
            <a:ext cx="1196747" cy="369332"/>
          </a:xfrm>
          <a:prstGeom prst="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>
            <a:lvl1pPr>
              <a:spcBef>
                <a:spcPts val="7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3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ts val="6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ts val="5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fr-CA" altLang="fr-FR" sz="1600" b="1" dirty="0">
                <a:solidFill>
                  <a:schemeClr val="tx1"/>
                </a:solidFill>
                <a:latin typeface="Symbol" panose="05050102010706020507" pitchFamily="18" charset="2"/>
              </a:rPr>
              <a:t>d</a:t>
            </a:r>
            <a:r>
              <a:rPr lang="fr-CA" altLang="fr-FR" sz="16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z</a:t>
            </a:r>
            <a:r>
              <a:rPr lang="fr-CA" altLang="fr-FR" sz="1600" b="1" baseline="-25000" dirty="0">
                <a:solidFill>
                  <a:schemeClr val="tx1"/>
                </a:solidFill>
                <a:latin typeface="Times New Roman" panose="02020603050405020304" pitchFamily="18" charset="0"/>
              </a:rPr>
              <a:t>1 </a:t>
            </a:r>
            <a:r>
              <a:rPr lang="fr-CA" altLang="fr-FR" sz="16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= </a:t>
            </a:r>
            <a:r>
              <a:rPr lang="fr-CA" altLang="fr-FR" sz="16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0.015</a:t>
            </a:r>
            <a:r>
              <a:rPr lang="fr-CA" altLang="fr-FR" sz="18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 </a:t>
            </a:r>
            <a:endParaRPr lang="en-CA" altLang="fr-FR" sz="1800" b="1" baseline="-25000" dirty="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860132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6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6580" grpId="0" animBg="1"/>
      <p:bldP spid="66585" grpId="0" animBg="1"/>
      <p:bldP spid="66586" grpId="0" animBg="1"/>
      <p:bldP spid="66592" grpId="0"/>
      <p:bldP spid="66593" grpId="0"/>
      <p:bldP spid="66594" grpId="0"/>
      <p:bldP spid="66595" grpId="0"/>
      <p:bldP spid="66606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3">
            <a:extLst>
              <a:ext uri="{FF2B5EF4-FFF2-40B4-BE49-F238E27FC236}">
                <a16:creationId xmlns:a16="http://schemas.microsoft.com/office/drawing/2014/main" id="{1363FE11-3565-8197-45AC-84923D5F2550}"/>
              </a:ext>
            </a:extLst>
          </p:cNvPr>
          <p:cNvSpPr>
            <a:spLocks noChangeArrowheads="1"/>
          </p:cNvSpPr>
          <p:nvPr/>
        </p:nvSpPr>
        <p:spPr bwMode="auto">
          <a:xfrm rot="16200000">
            <a:off x="1825625" y="2156619"/>
            <a:ext cx="3951288" cy="3890962"/>
          </a:xfrm>
          <a:prstGeom prst="rect">
            <a:avLst/>
          </a:prstGeom>
          <a:solidFill>
            <a:srgbClr val="E2E2E2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vert="eaVert"/>
          <a:lstStyle>
            <a:lvl1pPr>
              <a:spcBef>
                <a:spcPts val="7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3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ts val="6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ts val="5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CA" altLang="fr-FR" sz="24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68610" name="Text Box 2">
            <a:extLst>
              <a:ext uri="{FF2B5EF4-FFF2-40B4-BE49-F238E27FC236}">
                <a16:creationId xmlns:a16="http://schemas.microsoft.com/office/drawing/2014/main" id="{7AED4CD8-18D3-4E3E-90A0-23AF147B9D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55788" y="574676"/>
            <a:ext cx="818515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7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3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ts val="6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ts val="5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fr-CA" altLang="fr-FR" sz="2000">
                <a:solidFill>
                  <a:schemeClr val="tx1"/>
                </a:solidFill>
                <a:latin typeface="Times New Roman" panose="02020603050405020304" pitchFamily="18" charset="0"/>
              </a:rPr>
              <a:t>Trouver les nouveaux poids du réseau de la figure ci-dessous si on présente le vecteur d’apprentissage (0,1). t=1 et </a:t>
            </a:r>
            <a:r>
              <a:rPr lang="fr-CA" altLang="fr-FR" sz="2000">
                <a:solidFill>
                  <a:schemeClr val="tx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=0,25.</a:t>
            </a:r>
            <a:endParaRPr lang="en-CA" altLang="fr-FR" sz="2000">
              <a:solidFill>
                <a:schemeClr val="tx1"/>
              </a:solidFill>
              <a:latin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68612" name="Oval 4">
            <a:extLst>
              <a:ext uri="{FF2B5EF4-FFF2-40B4-BE49-F238E27FC236}">
                <a16:creationId xmlns:a16="http://schemas.microsoft.com/office/drawing/2014/main" id="{6CDB0A09-FF1B-495D-8C82-D851F53C37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714" y="3703638"/>
            <a:ext cx="573087" cy="588962"/>
          </a:xfrm>
          <a:prstGeom prst="ellipse">
            <a:avLst/>
          </a:prstGeom>
          <a:solidFill>
            <a:srgbClr val="E2E2E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ts val="7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3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ts val="6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ts val="5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fr-CA" altLang="fr-FR" sz="1800" b="1">
                <a:solidFill>
                  <a:schemeClr val="tx1"/>
                </a:solidFill>
                <a:latin typeface="Times New Roman" panose="02020603050405020304" pitchFamily="18" charset="0"/>
              </a:rPr>
              <a:t>Z</a:t>
            </a:r>
            <a:r>
              <a:rPr lang="fr-CA" altLang="fr-FR" sz="1600" b="1" baseline="-25000">
                <a:solidFill>
                  <a:schemeClr val="tx1"/>
                </a:solidFill>
                <a:latin typeface="Times New Roman" panose="02020603050405020304" pitchFamily="18" charset="0"/>
              </a:rPr>
              <a:t>2</a:t>
            </a:r>
            <a:endParaRPr lang="en-US" altLang="fr-FR" sz="1800" b="1" baseline="-250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68613" name="Oval 5">
            <a:extLst>
              <a:ext uri="{FF2B5EF4-FFF2-40B4-BE49-F238E27FC236}">
                <a16:creationId xmlns:a16="http://schemas.microsoft.com/office/drawing/2014/main" id="{D8DA6C83-2382-4C6B-9FEF-A6E0EA1454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65413" y="3735389"/>
            <a:ext cx="576262" cy="585787"/>
          </a:xfrm>
          <a:prstGeom prst="ellipse">
            <a:avLst/>
          </a:prstGeom>
          <a:solidFill>
            <a:srgbClr val="E2E2E2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>
            <a:lvl1pPr>
              <a:spcBef>
                <a:spcPts val="7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3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ts val="6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ts val="5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fr-CA" altLang="fr-FR" sz="1800" b="1">
                <a:solidFill>
                  <a:schemeClr val="tx1"/>
                </a:solidFill>
                <a:latin typeface="Times New Roman" panose="02020603050405020304" pitchFamily="18" charset="0"/>
              </a:rPr>
              <a:t>Z</a:t>
            </a:r>
            <a:r>
              <a:rPr lang="fr-CA" altLang="fr-FR" sz="1600" b="1" baseline="-25000">
                <a:solidFill>
                  <a:schemeClr val="tx1"/>
                </a:solidFill>
                <a:latin typeface="Times New Roman" panose="02020603050405020304" pitchFamily="18" charset="0"/>
              </a:rPr>
              <a:t>1</a:t>
            </a:r>
            <a:endParaRPr lang="en-US" altLang="fr-FR" sz="1800" b="1" baseline="-250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68614" name="Oval 6">
            <a:extLst>
              <a:ext uri="{FF2B5EF4-FFF2-40B4-BE49-F238E27FC236}">
                <a16:creationId xmlns:a16="http://schemas.microsoft.com/office/drawing/2014/main" id="{F811ED7B-169B-472C-84B1-65E4425E11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03575" y="2514600"/>
            <a:ext cx="477838" cy="490538"/>
          </a:xfrm>
          <a:prstGeom prst="ellipse">
            <a:avLst/>
          </a:prstGeom>
          <a:solidFill>
            <a:srgbClr val="E2E2E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ts val="7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3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ts val="6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ts val="5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fr-FR" sz="1800" b="1">
                <a:solidFill>
                  <a:schemeClr val="tx1"/>
                </a:solidFill>
                <a:latin typeface="Times New Roman" panose="02020603050405020304" pitchFamily="18" charset="0"/>
              </a:rPr>
              <a:t>Y</a:t>
            </a:r>
          </a:p>
        </p:txBody>
      </p:sp>
      <p:sp>
        <p:nvSpPr>
          <p:cNvPr id="68615" name="Oval 7">
            <a:extLst>
              <a:ext uri="{FF2B5EF4-FFF2-40B4-BE49-F238E27FC236}">
                <a16:creationId xmlns:a16="http://schemas.microsoft.com/office/drawing/2014/main" id="{EA41E642-F81B-4853-82B2-488E549858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24300" y="5280025"/>
            <a:ext cx="585788" cy="585788"/>
          </a:xfrm>
          <a:prstGeom prst="ellipse">
            <a:avLst/>
          </a:prstGeom>
          <a:solidFill>
            <a:srgbClr val="E2E2E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ts val="7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3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ts val="6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ts val="5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fr-CA" altLang="fr-FR" sz="1800" b="1">
                <a:solidFill>
                  <a:schemeClr val="tx1"/>
                </a:solidFill>
                <a:latin typeface="Times New Roman" panose="02020603050405020304" pitchFamily="18" charset="0"/>
              </a:rPr>
              <a:t>X</a:t>
            </a:r>
            <a:r>
              <a:rPr lang="fr-CA" altLang="fr-FR" sz="1400" b="1" baseline="-25000">
                <a:solidFill>
                  <a:schemeClr val="tx1"/>
                </a:solidFill>
                <a:latin typeface="Times New Roman" panose="02020603050405020304" pitchFamily="18" charset="0"/>
              </a:rPr>
              <a:t>2</a:t>
            </a:r>
            <a:endParaRPr lang="en-US" altLang="fr-FR" sz="1800" b="1" baseline="-250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68616" name="Oval 8">
            <a:extLst>
              <a:ext uri="{FF2B5EF4-FFF2-40B4-BE49-F238E27FC236}">
                <a16:creationId xmlns:a16="http://schemas.microsoft.com/office/drawing/2014/main" id="{27FC30AE-258F-4289-BF3B-577C7CA087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65375" y="5280025"/>
            <a:ext cx="585788" cy="585788"/>
          </a:xfrm>
          <a:prstGeom prst="ellipse">
            <a:avLst/>
          </a:prstGeom>
          <a:solidFill>
            <a:srgbClr val="E2E2E2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>
            <a:lvl1pPr>
              <a:spcBef>
                <a:spcPts val="7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3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ts val="6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ts val="5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fr-CA" altLang="fr-FR" sz="1800" b="1">
                <a:solidFill>
                  <a:schemeClr val="tx1"/>
                </a:solidFill>
                <a:latin typeface="Times New Roman" panose="02020603050405020304" pitchFamily="18" charset="0"/>
              </a:rPr>
              <a:t>X</a:t>
            </a:r>
            <a:r>
              <a:rPr lang="fr-CA" altLang="fr-FR" sz="1400" b="1" baseline="-25000">
                <a:solidFill>
                  <a:schemeClr val="tx1"/>
                </a:solidFill>
                <a:latin typeface="Times New Roman" panose="02020603050405020304" pitchFamily="18" charset="0"/>
              </a:rPr>
              <a:t>1</a:t>
            </a:r>
            <a:endParaRPr lang="en-US" altLang="fr-FR" sz="1800" b="1" baseline="-250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cxnSp>
        <p:nvCxnSpPr>
          <p:cNvPr id="68617" name="AutoShape 9">
            <a:extLst>
              <a:ext uri="{FF2B5EF4-FFF2-40B4-BE49-F238E27FC236}">
                <a16:creationId xmlns:a16="http://schemas.microsoft.com/office/drawing/2014/main" id="{A89C9CA8-E0E8-48B7-B0BA-77B282AEFC3A}"/>
              </a:ext>
            </a:extLst>
          </p:cNvPr>
          <p:cNvCxnSpPr>
            <a:cxnSpLocks noChangeShapeType="1"/>
            <a:stCxn id="68616" idx="0"/>
            <a:endCxn id="68613" idx="4"/>
          </p:cNvCxnSpPr>
          <p:nvPr/>
        </p:nvCxnSpPr>
        <p:spPr bwMode="auto">
          <a:xfrm flipV="1">
            <a:off x="2659064" y="4321175"/>
            <a:ext cx="295275" cy="95885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68618" name="AutoShape 10">
            <a:extLst>
              <a:ext uri="{FF2B5EF4-FFF2-40B4-BE49-F238E27FC236}">
                <a16:creationId xmlns:a16="http://schemas.microsoft.com/office/drawing/2014/main" id="{AA4CDF1F-A1F0-4475-9DE0-C11A6073A26D}"/>
              </a:ext>
            </a:extLst>
          </p:cNvPr>
          <p:cNvCxnSpPr>
            <a:cxnSpLocks noChangeShapeType="1"/>
            <a:stCxn id="68616" idx="7"/>
            <a:endCxn id="68612" idx="3"/>
          </p:cNvCxnSpPr>
          <p:nvPr/>
        </p:nvCxnSpPr>
        <p:spPr bwMode="auto">
          <a:xfrm flipV="1">
            <a:off x="2865438" y="4206876"/>
            <a:ext cx="760412" cy="1158875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68619" name="AutoShape 11">
            <a:extLst>
              <a:ext uri="{FF2B5EF4-FFF2-40B4-BE49-F238E27FC236}">
                <a16:creationId xmlns:a16="http://schemas.microsoft.com/office/drawing/2014/main" id="{8D329405-15CC-402B-996C-47B4DAF4B7B3}"/>
              </a:ext>
            </a:extLst>
          </p:cNvPr>
          <p:cNvCxnSpPr>
            <a:cxnSpLocks noChangeShapeType="1"/>
            <a:stCxn id="68613" idx="0"/>
            <a:endCxn id="68614" idx="3"/>
          </p:cNvCxnSpPr>
          <p:nvPr/>
        </p:nvCxnSpPr>
        <p:spPr bwMode="auto">
          <a:xfrm flipV="1">
            <a:off x="2954339" y="2933700"/>
            <a:ext cx="319087" cy="801688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68620" name="AutoShape 12">
            <a:extLst>
              <a:ext uri="{FF2B5EF4-FFF2-40B4-BE49-F238E27FC236}">
                <a16:creationId xmlns:a16="http://schemas.microsoft.com/office/drawing/2014/main" id="{CE4775B7-F6F6-4449-8700-10F68CC92A3E}"/>
              </a:ext>
            </a:extLst>
          </p:cNvPr>
          <p:cNvCxnSpPr>
            <a:cxnSpLocks noChangeShapeType="1"/>
            <a:stCxn id="68612" idx="0"/>
            <a:endCxn id="68614" idx="5"/>
          </p:cNvCxnSpPr>
          <p:nvPr/>
        </p:nvCxnSpPr>
        <p:spPr bwMode="auto">
          <a:xfrm flipH="1" flipV="1">
            <a:off x="3611564" y="2933700"/>
            <a:ext cx="217487" cy="769938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68621" name="AutoShape 13">
            <a:extLst>
              <a:ext uri="{FF2B5EF4-FFF2-40B4-BE49-F238E27FC236}">
                <a16:creationId xmlns:a16="http://schemas.microsoft.com/office/drawing/2014/main" id="{B33C7A42-52ED-4F11-8959-2332FCC45290}"/>
              </a:ext>
            </a:extLst>
          </p:cNvPr>
          <p:cNvCxnSpPr>
            <a:cxnSpLocks noChangeShapeType="1"/>
            <a:stCxn id="68615" idx="1"/>
            <a:endCxn id="68613" idx="5"/>
          </p:cNvCxnSpPr>
          <p:nvPr/>
        </p:nvCxnSpPr>
        <p:spPr bwMode="auto">
          <a:xfrm flipH="1" flipV="1">
            <a:off x="3157539" y="4235450"/>
            <a:ext cx="852487" cy="113030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68622" name="AutoShape 14">
            <a:extLst>
              <a:ext uri="{FF2B5EF4-FFF2-40B4-BE49-F238E27FC236}">
                <a16:creationId xmlns:a16="http://schemas.microsoft.com/office/drawing/2014/main" id="{2B00E097-08E2-4969-A70D-91B817A8B967}"/>
              </a:ext>
            </a:extLst>
          </p:cNvPr>
          <p:cNvCxnSpPr>
            <a:cxnSpLocks noChangeShapeType="1"/>
            <a:stCxn id="68615" idx="0"/>
            <a:endCxn id="68612" idx="4"/>
          </p:cNvCxnSpPr>
          <p:nvPr/>
        </p:nvCxnSpPr>
        <p:spPr bwMode="auto">
          <a:xfrm flipH="1" flipV="1">
            <a:off x="3829050" y="4292601"/>
            <a:ext cx="388938" cy="987425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68623" name="Oval 15">
            <a:extLst>
              <a:ext uri="{FF2B5EF4-FFF2-40B4-BE49-F238E27FC236}">
                <a16:creationId xmlns:a16="http://schemas.microsoft.com/office/drawing/2014/main" id="{AD4416DA-7FB5-44B8-8D6E-3E23E62A42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21214" y="4845050"/>
            <a:ext cx="236537" cy="236538"/>
          </a:xfrm>
          <a:prstGeom prst="ellipse">
            <a:avLst/>
          </a:prstGeom>
          <a:solidFill>
            <a:srgbClr val="E2E2E2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ts val="7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3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ts val="6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ts val="5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fr-CA" altLang="fr-FR" sz="1800">
                <a:solidFill>
                  <a:schemeClr val="tx1"/>
                </a:solidFill>
                <a:latin typeface="Times New Roman" panose="02020603050405020304" pitchFamily="18" charset="0"/>
              </a:rPr>
              <a:t>1</a:t>
            </a:r>
            <a:endParaRPr lang="en-CA" altLang="fr-FR" sz="18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68624" name="Oval 16">
            <a:extLst>
              <a:ext uri="{FF2B5EF4-FFF2-40B4-BE49-F238E27FC236}">
                <a16:creationId xmlns:a16="http://schemas.microsoft.com/office/drawing/2014/main" id="{AFED0187-DF64-43D9-9A05-E129BFB001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44689" y="4845050"/>
            <a:ext cx="236537" cy="236538"/>
          </a:xfrm>
          <a:prstGeom prst="ellipse">
            <a:avLst/>
          </a:prstGeom>
          <a:solidFill>
            <a:srgbClr val="E2E2E2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ts val="7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3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ts val="6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ts val="5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fr-CA" altLang="fr-FR" sz="1800">
                <a:solidFill>
                  <a:schemeClr val="tx1"/>
                </a:solidFill>
                <a:latin typeface="Times New Roman" panose="02020603050405020304" pitchFamily="18" charset="0"/>
              </a:rPr>
              <a:t>1</a:t>
            </a:r>
            <a:endParaRPr lang="en-CA" altLang="fr-FR" sz="18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68625" name="Oval 17">
            <a:extLst>
              <a:ext uri="{FF2B5EF4-FFF2-40B4-BE49-F238E27FC236}">
                <a16:creationId xmlns:a16="http://schemas.microsoft.com/office/drawing/2014/main" id="{FA44ACC1-CC58-4C53-B445-E3EC424CCB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36800" y="3295650"/>
            <a:ext cx="236538" cy="236538"/>
          </a:xfrm>
          <a:prstGeom prst="ellipse">
            <a:avLst/>
          </a:prstGeom>
          <a:solidFill>
            <a:srgbClr val="E2E2E2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ts val="7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3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ts val="6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ts val="5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fr-CA" altLang="fr-FR" sz="1800">
                <a:solidFill>
                  <a:schemeClr val="tx1"/>
                </a:solidFill>
                <a:latin typeface="Times New Roman" panose="02020603050405020304" pitchFamily="18" charset="0"/>
              </a:rPr>
              <a:t>1</a:t>
            </a:r>
            <a:endParaRPr lang="en-CA" altLang="fr-FR" sz="18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cxnSp>
        <p:nvCxnSpPr>
          <p:cNvPr id="68626" name="AutoShape 18">
            <a:extLst>
              <a:ext uri="{FF2B5EF4-FFF2-40B4-BE49-F238E27FC236}">
                <a16:creationId xmlns:a16="http://schemas.microsoft.com/office/drawing/2014/main" id="{4BEEA68B-B4FF-4333-9D37-AB1A7363E08C}"/>
              </a:ext>
            </a:extLst>
          </p:cNvPr>
          <p:cNvCxnSpPr>
            <a:cxnSpLocks noChangeShapeType="1"/>
            <a:stCxn id="68623" idx="0"/>
            <a:endCxn id="68612" idx="6"/>
          </p:cNvCxnSpPr>
          <p:nvPr/>
        </p:nvCxnSpPr>
        <p:spPr bwMode="auto">
          <a:xfrm rot="5400000" flipH="1">
            <a:off x="4004470" y="4109245"/>
            <a:ext cx="846137" cy="625475"/>
          </a:xfrm>
          <a:prstGeom prst="curvedConnector2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68627" name="AutoShape 19">
            <a:extLst>
              <a:ext uri="{FF2B5EF4-FFF2-40B4-BE49-F238E27FC236}">
                <a16:creationId xmlns:a16="http://schemas.microsoft.com/office/drawing/2014/main" id="{F68303CE-C5BB-4941-92D0-CA66AB624E79}"/>
              </a:ext>
            </a:extLst>
          </p:cNvPr>
          <p:cNvCxnSpPr>
            <a:cxnSpLocks noChangeShapeType="1"/>
            <a:stCxn id="68625" idx="0"/>
            <a:endCxn id="68614" idx="2"/>
          </p:cNvCxnSpPr>
          <p:nvPr/>
        </p:nvCxnSpPr>
        <p:spPr bwMode="auto">
          <a:xfrm rot="16200000">
            <a:off x="2562226" y="2654301"/>
            <a:ext cx="534987" cy="747712"/>
          </a:xfrm>
          <a:prstGeom prst="curvedConnector2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68628" name="Rectangle 20">
            <a:extLst>
              <a:ext uri="{FF2B5EF4-FFF2-40B4-BE49-F238E27FC236}">
                <a16:creationId xmlns:a16="http://schemas.microsoft.com/office/drawing/2014/main" id="{E9597002-A9ED-49D8-AA70-63CAC58804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59063" y="4530725"/>
            <a:ext cx="374650" cy="274638"/>
          </a:xfrm>
          <a:prstGeom prst="rect">
            <a:avLst/>
          </a:prstGeom>
          <a:solidFill>
            <a:srgbClr val="E2E2E2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7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3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ts val="6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ts val="5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fr-CA" altLang="fr-FR" sz="12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0.7</a:t>
            </a:r>
            <a:endParaRPr lang="en-CA" altLang="fr-FR" sz="1200" b="1" baseline="-25000" dirty="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68629" name="Rectangle 21">
            <a:extLst>
              <a:ext uri="{FF2B5EF4-FFF2-40B4-BE49-F238E27FC236}">
                <a16:creationId xmlns:a16="http://schemas.microsoft.com/office/drawing/2014/main" id="{6819767A-08DF-4CAB-A86A-AA325FE348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60688" y="4899025"/>
            <a:ext cx="425450" cy="274638"/>
          </a:xfrm>
          <a:prstGeom prst="rect">
            <a:avLst/>
          </a:prstGeom>
          <a:solidFill>
            <a:srgbClr val="E2E2E2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7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3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ts val="6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ts val="5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fr-CA" altLang="fr-FR" sz="12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-</a:t>
            </a:r>
            <a:r>
              <a:rPr lang="fr-CA" altLang="fr-FR" sz="12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0.4</a:t>
            </a:r>
            <a:endParaRPr lang="en-CA" altLang="fr-FR" sz="1200" b="1" baseline="-25000" dirty="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68630" name="Rectangle 22">
            <a:extLst>
              <a:ext uri="{FF2B5EF4-FFF2-40B4-BE49-F238E27FC236}">
                <a16:creationId xmlns:a16="http://schemas.microsoft.com/office/drawing/2014/main" id="{35E7F110-F56D-4BEC-84C0-9ED56F0172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17888" y="4856164"/>
            <a:ext cx="582211" cy="276999"/>
          </a:xfrm>
          <a:prstGeom prst="rect">
            <a:avLst/>
          </a:prstGeom>
          <a:solidFill>
            <a:srgbClr val="E2E2E2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7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3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ts val="6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ts val="5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fr-CA" altLang="fr-FR" sz="12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-0.185</a:t>
            </a:r>
            <a:endParaRPr lang="en-CA" altLang="fr-FR" sz="1200" b="1" baseline="-25000" dirty="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68631" name="Rectangle 23">
            <a:extLst>
              <a:ext uri="{FF2B5EF4-FFF2-40B4-BE49-F238E27FC236}">
                <a16:creationId xmlns:a16="http://schemas.microsoft.com/office/drawing/2014/main" id="{24EB8D59-C21C-4892-A4A6-7C5D0E7F7C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29050" y="4648200"/>
            <a:ext cx="603250" cy="274638"/>
          </a:xfrm>
          <a:prstGeom prst="rect">
            <a:avLst/>
          </a:prstGeom>
          <a:solidFill>
            <a:srgbClr val="E2E2E2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7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3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ts val="6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ts val="5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fr-CA" altLang="fr-FR" sz="12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0.3006</a:t>
            </a:r>
            <a:endParaRPr lang="en-CA" altLang="fr-FR" sz="1200" b="1" baseline="-25000" dirty="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68632" name="Rectangle 24">
            <a:extLst>
              <a:ext uri="{FF2B5EF4-FFF2-40B4-BE49-F238E27FC236}">
                <a16:creationId xmlns:a16="http://schemas.microsoft.com/office/drawing/2014/main" id="{1567C648-0E19-4D02-92F6-A05C4A8DCA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38663" y="4292600"/>
            <a:ext cx="603250" cy="274638"/>
          </a:xfrm>
          <a:prstGeom prst="rect">
            <a:avLst/>
          </a:prstGeom>
          <a:solidFill>
            <a:srgbClr val="E2E2E2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7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3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ts val="6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ts val="5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fr-CA" altLang="fr-FR" sz="12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0.6006</a:t>
            </a:r>
            <a:endParaRPr lang="en-CA" altLang="fr-FR" sz="1200" b="1" baseline="-25000" dirty="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cxnSp>
        <p:nvCxnSpPr>
          <p:cNvPr id="68633" name="AutoShape 25">
            <a:extLst>
              <a:ext uri="{FF2B5EF4-FFF2-40B4-BE49-F238E27FC236}">
                <a16:creationId xmlns:a16="http://schemas.microsoft.com/office/drawing/2014/main" id="{B620851E-6605-4D6F-8D6B-D78272200EBF}"/>
              </a:ext>
            </a:extLst>
          </p:cNvPr>
          <p:cNvCxnSpPr>
            <a:cxnSpLocks noChangeShapeType="1"/>
            <a:stCxn id="68624" idx="0"/>
            <a:endCxn id="68613" idx="2"/>
          </p:cNvCxnSpPr>
          <p:nvPr/>
        </p:nvCxnSpPr>
        <p:spPr bwMode="auto">
          <a:xfrm rot="16200000">
            <a:off x="1956595" y="4136232"/>
            <a:ext cx="815975" cy="601663"/>
          </a:xfrm>
          <a:prstGeom prst="curvedConnector2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68634" name="Rectangle 26">
            <a:extLst>
              <a:ext uri="{FF2B5EF4-FFF2-40B4-BE49-F238E27FC236}">
                <a16:creationId xmlns:a16="http://schemas.microsoft.com/office/drawing/2014/main" id="{4D1F632A-672E-463F-85C3-F69C490965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25650" y="4256089"/>
            <a:ext cx="527050" cy="274637"/>
          </a:xfrm>
          <a:prstGeom prst="rect">
            <a:avLst/>
          </a:prstGeom>
          <a:solidFill>
            <a:srgbClr val="E2E2E2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7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3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ts val="6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ts val="5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fr-CA" altLang="fr-FR" sz="12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0.438</a:t>
            </a:r>
            <a:endParaRPr lang="en-CA" altLang="fr-FR" sz="1200" b="1" baseline="-25000" dirty="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68635" name="Rectangle 27">
            <a:extLst>
              <a:ext uri="{FF2B5EF4-FFF2-40B4-BE49-F238E27FC236}">
                <a16:creationId xmlns:a16="http://schemas.microsoft.com/office/drawing/2014/main" id="{B6B62314-E557-4E47-8A14-72671FDE18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18200" y="3295651"/>
            <a:ext cx="110648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7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3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ts val="6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ts val="5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fr-CA" altLang="fr-FR" sz="2000" b="1">
                <a:solidFill>
                  <a:schemeClr val="tx1"/>
                </a:solidFill>
                <a:latin typeface="Times New Roman" panose="02020603050405020304" pitchFamily="18" charset="0"/>
              </a:rPr>
              <a:t>10. </a:t>
            </a:r>
            <a:r>
              <a:rPr lang="fr-CA" altLang="fr-FR" sz="2000" b="1">
                <a:solidFill>
                  <a:schemeClr val="tx1"/>
                </a:solidFill>
                <a:latin typeface="Symbol" panose="05050102010706020507" pitchFamily="18" charset="2"/>
              </a:rPr>
              <a:t>D </a:t>
            </a:r>
            <a:r>
              <a:rPr lang="fr-CA" altLang="fr-FR" sz="2000" b="1">
                <a:solidFill>
                  <a:schemeClr val="tx1"/>
                </a:solidFill>
                <a:latin typeface="Times New Roman" panose="02020603050405020304" pitchFamily="18" charset="0"/>
              </a:rPr>
              <a:t>v</a:t>
            </a:r>
            <a:r>
              <a:rPr lang="fr-CA" altLang="fr-FR" sz="2000" b="1" baseline="-25000">
                <a:solidFill>
                  <a:schemeClr val="tx1"/>
                </a:solidFill>
                <a:latin typeface="Times New Roman" panose="02020603050405020304" pitchFamily="18" charset="0"/>
              </a:rPr>
              <a:t>np</a:t>
            </a:r>
            <a:r>
              <a:rPr lang="fr-CA" altLang="fr-FR" sz="2000" b="1">
                <a:solidFill>
                  <a:schemeClr val="tx1"/>
                </a:solidFill>
                <a:latin typeface="Times New Roman" panose="02020603050405020304" pitchFamily="18" charset="0"/>
              </a:rPr>
              <a:t> </a:t>
            </a:r>
            <a:endParaRPr lang="en-CA" altLang="fr-FR" sz="2000" b="1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68636" name="Text Box 28">
            <a:extLst>
              <a:ext uri="{FF2B5EF4-FFF2-40B4-BE49-F238E27FC236}">
                <a16:creationId xmlns:a16="http://schemas.microsoft.com/office/drawing/2014/main" id="{97B370AC-C65D-42D3-9BEF-495D86CD3B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88088" y="5888038"/>
            <a:ext cx="1841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7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3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ts val="6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ts val="5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CA" altLang="fr-FR" sz="24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68637" name="Text Box 29">
            <a:extLst>
              <a:ext uri="{FF2B5EF4-FFF2-40B4-BE49-F238E27FC236}">
                <a16:creationId xmlns:a16="http://schemas.microsoft.com/office/drawing/2014/main" id="{E4E2C4E0-21C5-4265-86DA-D75DB90A72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03475" y="1638301"/>
            <a:ext cx="20129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7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3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ts val="6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ts val="5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fr-CA" altLang="fr-FR" sz="1800" b="1">
                <a:solidFill>
                  <a:schemeClr val="tx1"/>
                </a:solidFill>
                <a:latin typeface="Times New Roman" panose="02020603050405020304" pitchFamily="18" charset="0"/>
              </a:rPr>
              <a:t>Rétro-propagation</a:t>
            </a:r>
            <a:endParaRPr lang="en-CA" altLang="fr-FR" sz="1800" b="1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68638" name="Text Box 30">
            <a:extLst>
              <a:ext uri="{FF2B5EF4-FFF2-40B4-BE49-F238E27FC236}">
                <a16:creationId xmlns:a16="http://schemas.microsoft.com/office/drawing/2014/main" id="{CAAAA966-269E-41C8-AAC1-1B80F033979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57750" y="1409700"/>
            <a:ext cx="1841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7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3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ts val="6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ts val="5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CA" altLang="fr-FR" sz="24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68644" name="Rectangle 36">
            <a:extLst>
              <a:ext uri="{FF2B5EF4-FFF2-40B4-BE49-F238E27FC236}">
                <a16:creationId xmlns:a16="http://schemas.microsoft.com/office/drawing/2014/main" id="{48932F41-D2AE-4E4F-9D63-6D42A82963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28813" y="3070225"/>
            <a:ext cx="52705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7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3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ts val="6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ts val="5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fr-CA" altLang="fr-FR" sz="1200">
                <a:solidFill>
                  <a:schemeClr val="tx1"/>
                </a:solidFill>
                <a:latin typeface="Times New Roman" panose="02020603050405020304" pitchFamily="18" charset="0"/>
              </a:rPr>
              <a:t>(-0.3)</a:t>
            </a:r>
            <a:endParaRPr lang="en-CA" altLang="fr-FR" sz="1200" baseline="-250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68645" name="Text Box 37">
            <a:extLst>
              <a:ext uri="{FF2B5EF4-FFF2-40B4-BE49-F238E27FC236}">
                <a16:creationId xmlns:a16="http://schemas.microsoft.com/office/drawing/2014/main" id="{AEEDF6FE-0D2E-417E-9D74-D775F6CFD2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88088" y="3743325"/>
            <a:ext cx="2957512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7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3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ts val="6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ts val="5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fr-CA" altLang="fr-FR" sz="2000" dirty="0">
                <a:solidFill>
                  <a:schemeClr val="tx1"/>
                </a:solidFill>
                <a:latin typeface="Symbol" panose="05050102010706020507" pitchFamily="18" charset="2"/>
              </a:rPr>
              <a:t>D </a:t>
            </a:r>
            <a:r>
              <a:rPr lang="fr-CA" altLang="fr-FR" sz="20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v</a:t>
            </a:r>
            <a:r>
              <a:rPr lang="fr-CA" altLang="fr-FR" sz="2000" b="1" baseline="-25000" dirty="0">
                <a:solidFill>
                  <a:schemeClr val="tx1"/>
                </a:solidFill>
                <a:latin typeface="Times New Roman" panose="02020603050405020304" pitchFamily="18" charset="0"/>
              </a:rPr>
              <a:t>01</a:t>
            </a:r>
            <a:r>
              <a:rPr lang="fr-CA" altLang="fr-FR" sz="20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 = </a:t>
            </a:r>
            <a:r>
              <a:rPr lang="fr-CA" altLang="fr-FR" sz="1800" dirty="0">
                <a:solidFill>
                  <a:schemeClr val="tx1"/>
                </a:solidFill>
                <a:latin typeface="Times New Roman" panose="02020603050405020304" pitchFamily="18" charset="0"/>
              </a:rPr>
              <a:t>(</a:t>
            </a:r>
            <a:r>
              <a:rPr lang="fr-CA" altLang="fr-FR" sz="1800" dirty="0">
                <a:solidFill>
                  <a:schemeClr val="tx1"/>
                </a:solidFill>
                <a:latin typeface="Symbol" panose="05050102010706020507" pitchFamily="18" charset="2"/>
              </a:rPr>
              <a:t>h</a:t>
            </a:r>
            <a:r>
              <a:rPr lang="fr-CA" altLang="fr-FR" sz="1800" dirty="0">
                <a:solidFill>
                  <a:schemeClr val="tx1"/>
                </a:solidFill>
                <a:latin typeface="Times New Roman" panose="02020603050405020304" pitchFamily="18" charset="0"/>
              </a:rPr>
              <a:t>) (</a:t>
            </a:r>
            <a:r>
              <a:rPr lang="fr-CA" altLang="fr-FR" sz="2000" dirty="0">
                <a:solidFill>
                  <a:schemeClr val="tx1"/>
                </a:solidFill>
                <a:latin typeface="Symbol" panose="05050102010706020507" pitchFamily="18" charset="2"/>
              </a:rPr>
              <a:t>d</a:t>
            </a:r>
            <a:r>
              <a:rPr lang="fr-CA" altLang="fr-FR" sz="2000" dirty="0">
                <a:solidFill>
                  <a:schemeClr val="tx1"/>
                </a:solidFill>
                <a:latin typeface="Times New Roman" panose="02020603050405020304" pitchFamily="18" charset="0"/>
              </a:rPr>
              <a:t>z</a:t>
            </a:r>
            <a:r>
              <a:rPr lang="fr-CA" altLang="fr-FR" sz="2000" baseline="-25000" dirty="0">
                <a:solidFill>
                  <a:schemeClr val="tx1"/>
                </a:solidFill>
                <a:latin typeface="Times New Roman" panose="02020603050405020304" pitchFamily="18" charset="0"/>
              </a:rPr>
              <a:t>1</a:t>
            </a:r>
            <a:r>
              <a:rPr lang="fr-CA" altLang="fr-FR" sz="1800" dirty="0">
                <a:solidFill>
                  <a:schemeClr val="tx1"/>
                </a:solidFill>
                <a:latin typeface="Times New Roman" panose="02020603050405020304" pitchFamily="18" charset="0"/>
              </a:rPr>
              <a:t>) (1) = 0.038 </a:t>
            </a:r>
            <a:endParaRPr lang="en-CA" altLang="fr-FR" sz="1800" dirty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68646" name="Text Box 38">
            <a:extLst>
              <a:ext uri="{FF2B5EF4-FFF2-40B4-BE49-F238E27FC236}">
                <a16:creationId xmlns:a16="http://schemas.microsoft.com/office/drawing/2014/main" id="{FB131ED0-DDFE-4D77-8704-F3A8BDA851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88088" y="4102100"/>
            <a:ext cx="273685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7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3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ts val="6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ts val="5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fr-CA" altLang="fr-FR" sz="2000" dirty="0">
                <a:solidFill>
                  <a:schemeClr val="tx1"/>
                </a:solidFill>
                <a:latin typeface="Symbol" panose="05050102010706020507" pitchFamily="18" charset="2"/>
              </a:rPr>
              <a:t>D </a:t>
            </a:r>
            <a:r>
              <a:rPr lang="fr-CA" altLang="fr-FR" sz="20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v</a:t>
            </a:r>
            <a:r>
              <a:rPr lang="fr-CA" altLang="fr-FR" sz="2000" b="1" baseline="-25000" dirty="0">
                <a:solidFill>
                  <a:schemeClr val="tx1"/>
                </a:solidFill>
                <a:latin typeface="Times New Roman" panose="02020603050405020304" pitchFamily="18" charset="0"/>
              </a:rPr>
              <a:t>11</a:t>
            </a:r>
            <a:r>
              <a:rPr lang="fr-CA" altLang="fr-FR" sz="20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 = </a:t>
            </a:r>
            <a:r>
              <a:rPr lang="fr-CA" altLang="fr-FR" sz="1800" dirty="0">
                <a:solidFill>
                  <a:schemeClr val="tx1"/>
                </a:solidFill>
                <a:latin typeface="Times New Roman" panose="02020603050405020304" pitchFamily="18" charset="0"/>
              </a:rPr>
              <a:t>(</a:t>
            </a:r>
            <a:r>
              <a:rPr lang="fr-CA" altLang="fr-FR" sz="1800" dirty="0">
                <a:solidFill>
                  <a:schemeClr val="tx1"/>
                </a:solidFill>
                <a:latin typeface="Symbol" panose="05050102010706020507" pitchFamily="18" charset="2"/>
              </a:rPr>
              <a:t>h</a:t>
            </a:r>
            <a:r>
              <a:rPr lang="fr-CA" altLang="fr-FR" sz="1800" dirty="0">
                <a:solidFill>
                  <a:schemeClr val="tx1"/>
                </a:solidFill>
                <a:latin typeface="Times New Roman" panose="02020603050405020304" pitchFamily="18" charset="0"/>
              </a:rPr>
              <a:t>) (</a:t>
            </a:r>
            <a:r>
              <a:rPr lang="fr-CA" altLang="fr-FR" sz="2000" dirty="0">
                <a:solidFill>
                  <a:schemeClr val="tx1"/>
                </a:solidFill>
                <a:latin typeface="Symbol" panose="05050102010706020507" pitchFamily="18" charset="2"/>
              </a:rPr>
              <a:t>d</a:t>
            </a:r>
            <a:r>
              <a:rPr lang="fr-CA" altLang="fr-FR" sz="2000" dirty="0">
                <a:solidFill>
                  <a:schemeClr val="tx1"/>
                </a:solidFill>
                <a:latin typeface="Times New Roman" panose="02020603050405020304" pitchFamily="18" charset="0"/>
              </a:rPr>
              <a:t>z</a:t>
            </a:r>
            <a:r>
              <a:rPr lang="fr-CA" altLang="fr-FR" sz="2000" baseline="-25000" dirty="0">
                <a:solidFill>
                  <a:schemeClr val="tx1"/>
                </a:solidFill>
                <a:latin typeface="Times New Roman" panose="02020603050405020304" pitchFamily="18" charset="0"/>
              </a:rPr>
              <a:t>1</a:t>
            </a:r>
            <a:r>
              <a:rPr lang="fr-CA" altLang="fr-FR" sz="1800" dirty="0">
                <a:solidFill>
                  <a:schemeClr val="tx1"/>
                </a:solidFill>
                <a:latin typeface="Times New Roman" panose="02020603050405020304" pitchFamily="18" charset="0"/>
              </a:rPr>
              <a:t>) (x</a:t>
            </a:r>
            <a:r>
              <a:rPr lang="fr-CA" altLang="fr-FR" sz="1800" baseline="-25000" dirty="0">
                <a:solidFill>
                  <a:schemeClr val="tx1"/>
                </a:solidFill>
                <a:latin typeface="Times New Roman" panose="02020603050405020304" pitchFamily="18" charset="0"/>
              </a:rPr>
              <a:t>1</a:t>
            </a:r>
            <a:r>
              <a:rPr lang="fr-CA" altLang="fr-FR" sz="1800" dirty="0">
                <a:solidFill>
                  <a:schemeClr val="tx1"/>
                </a:solidFill>
                <a:latin typeface="Times New Roman" panose="02020603050405020304" pitchFamily="18" charset="0"/>
              </a:rPr>
              <a:t>) = 0.0</a:t>
            </a:r>
            <a:endParaRPr lang="en-CA" altLang="fr-FR" sz="1800" dirty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68647" name="Text Box 39">
            <a:extLst>
              <a:ext uri="{FF2B5EF4-FFF2-40B4-BE49-F238E27FC236}">
                <a16:creationId xmlns:a16="http://schemas.microsoft.com/office/drawing/2014/main" id="{D323EA68-AEC5-4D3C-8AAF-82F78F1525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88088" y="4459288"/>
            <a:ext cx="3034805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7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3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ts val="6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ts val="5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fr-CA" altLang="fr-FR" sz="2000" dirty="0">
                <a:solidFill>
                  <a:schemeClr val="tx1"/>
                </a:solidFill>
                <a:latin typeface="Symbol" panose="05050102010706020507" pitchFamily="18" charset="2"/>
              </a:rPr>
              <a:t>D </a:t>
            </a:r>
            <a:r>
              <a:rPr lang="fr-CA" altLang="fr-FR" sz="20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v</a:t>
            </a:r>
            <a:r>
              <a:rPr lang="fr-CA" altLang="fr-FR" sz="2000" b="1" baseline="-25000" dirty="0">
                <a:solidFill>
                  <a:schemeClr val="tx1"/>
                </a:solidFill>
                <a:latin typeface="Times New Roman" panose="02020603050405020304" pitchFamily="18" charset="0"/>
              </a:rPr>
              <a:t>21</a:t>
            </a:r>
            <a:r>
              <a:rPr lang="fr-CA" altLang="fr-FR" sz="20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 = </a:t>
            </a:r>
            <a:r>
              <a:rPr lang="fr-CA" altLang="fr-FR" sz="1800" dirty="0">
                <a:solidFill>
                  <a:schemeClr val="tx1"/>
                </a:solidFill>
                <a:latin typeface="Times New Roman" panose="02020603050405020304" pitchFamily="18" charset="0"/>
              </a:rPr>
              <a:t>(</a:t>
            </a:r>
            <a:r>
              <a:rPr lang="fr-CA" altLang="fr-FR" sz="1800" dirty="0">
                <a:solidFill>
                  <a:schemeClr val="tx1"/>
                </a:solidFill>
                <a:latin typeface="Symbol" panose="05050102010706020507" pitchFamily="18" charset="2"/>
              </a:rPr>
              <a:t>h</a:t>
            </a:r>
            <a:r>
              <a:rPr lang="fr-CA" altLang="fr-FR" sz="1800" dirty="0">
                <a:solidFill>
                  <a:schemeClr val="tx1"/>
                </a:solidFill>
                <a:latin typeface="Times New Roman" panose="02020603050405020304" pitchFamily="18" charset="0"/>
              </a:rPr>
              <a:t>) (</a:t>
            </a:r>
            <a:r>
              <a:rPr lang="fr-CA" altLang="fr-FR" sz="2000" dirty="0">
                <a:solidFill>
                  <a:schemeClr val="tx1"/>
                </a:solidFill>
                <a:latin typeface="Symbol" panose="05050102010706020507" pitchFamily="18" charset="2"/>
              </a:rPr>
              <a:t>d</a:t>
            </a:r>
            <a:r>
              <a:rPr lang="fr-CA" altLang="fr-FR" sz="2000" dirty="0">
                <a:solidFill>
                  <a:schemeClr val="tx1"/>
                </a:solidFill>
                <a:latin typeface="Times New Roman" panose="02020603050405020304" pitchFamily="18" charset="0"/>
              </a:rPr>
              <a:t>z</a:t>
            </a:r>
            <a:r>
              <a:rPr lang="fr-CA" altLang="fr-FR" sz="2000" baseline="-25000" dirty="0">
                <a:solidFill>
                  <a:schemeClr val="tx1"/>
                </a:solidFill>
                <a:latin typeface="Times New Roman" panose="02020603050405020304" pitchFamily="18" charset="0"/>
              </a:rPr>
              <a:t>1</a:t>
            </a:r>
            <a:r>
              <a:rPr lang="fr-CA" altLang="fr-FR" sz="1800" dirty="0">
                <a:solidFill>
                  <a:schemeClr val="tx1"/>
                </a:solidFill>
                <a:latin typeface="Times New Roman" panose="02020603050405020304" pitchFamily="18" charset="0"/>
              </a:rPr>
              <a:t>) (x</a:t>
            </a:r>
            <a:r>
              <a:rPr lang="fr-CA" altLang="fr-FR" sz="1800" baseline="-25000" dirty="0">
                <a:solidFill>
                  <a:schemeClr val="tx1"/>
                </a:solidFill>
                <a:latin typeface="Times New Roman" panose="02020603050405020304" pitchFamily="18" charset="0"/>
              </a:rPr>
              <a:t>2</a:t>
            </a:r>
            <a:r>
              <a:rPr lang="fr-CA" altLang="fr-FR" sz="1800" dirty="0">
                <a:solidFill>
                  <a:schemeClr val="tx1"/>
                </a:solidFill>
                <a:latin typeface="Times New Roman" panose="02020603050405020304" pitchFamily="18" charset="0"/>
              </a:rPr>
              <a:t>) = 0.015 </a:t>
            </a:r>
            <a:endParaRPr lang="en-CA" altLang="fr-FR" sz="1800" dirty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68648" name="Text Box 40">
            <a:extLst>
              <a:ext uri="{FF2B5EF4-FFF2-40B4-BE49-F238E27FC236}">
                <a16:creationId xmlns:a16="http://schemas.microsoft.com/office/drawing/2014/main" id="{E2AD3425-9E82-4220-B571-6AE047E4BA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88088" y="4816475"/>
            <a:ext cx="30734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7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3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ts val="6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ts val="5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fr-CA" altLang="fr-FR" sz="2000" dirty="0">
                <a:solidFill>
                  <a:schemeClr val="tx1"/>
                </a:solidFill>
                <a:latin typeface="Symbol" panose="05050102010706020507" pitchFamily="18" charset="2"/>
              </a:rPr>
              <a:t>D </a:t>
            </a:r>
            <a:r>
              <a:rPr lang="fr-CA" altLang="fr-FR" sz="20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v</a:t>
            </a:r>
            <a:r>
              <a:rPr lang="fr-CA" altLang="fr-FR" sz="2000" b="1" baseline="-25000" dirty="0">
                <a:solidFill>
                  <a:schemeClr val="tx1"/>
                </a:solidFill>
                <a:latin typeface="Times New Roman" panose="02020603050405020304" pitchFamily="18" charset="0"/>
              </a:rPr>
              <a:t>02</a:t>
            </a:r>
            <a:r>
              <a:rPr lang="fr-CA" altLang="fr-FR" sz="20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 = </a:t>
            </a:r>
            <a:r>
              <a:rPr lang="fr-CA" altLang="fr-FR" sz="1800" dirty="0">
                <a:solidFill>
                  <a:schemeClr val="tx1"/>
                </a:solidFill>
                <a:latin typeface="Times New Roman" panose="02020603050405020304" pitchFamily="18" charset="0"/>
              </a:rPr>
              <a:t>(</a:t>
            </a:r>
            <a:r>
              <a:rPr lang="fr-CA" altLang="fr-FR" sz="1800" dirty="0">
                <a:solidFill>
                  <a:schemeClr val="tx1"/>
                </a:solidFill>
                <a:latin typeface="Symbol" panose="05050102010706020507" pitchFamily="18" charset="2"/>
              </a:rPr>
              <a:t>h</a:t>
            </a:r>
            <a:r>
              <a:rPr lang="fr-CA" altLang="fr-FR" sz="1800" dirty="0">
                <a:solidFill>
                  <a:schemeClr val="tx1"/>
                </a:solidFill>
                <a:latin typeface="Times New Roman" panose="02020603050405020304" pitchFamily="18" charset="0"/>
              </a:rPr>
              <a:t>) (</a:t>
            </a:r>
            <a:r>
              <a:rPr lang="fr-CA" altLang="fr-FR" sz="2000" dirty="0">
                <a:solidFill>
                  <a:schemeClr val="tx1"/>
                </a:solidFill>
                <a:latin typeface="Symbol" panose="05050102010706020507" pitchFamily="18" charset="2"/>
              </a:rPr>
              <a:t>d</a:t>
            </a:r>
            <a:r>
              <a:rPr lang="fr-CA" altLang="fr-FR" sz="2000" dirty="0">
                <a:solidFill>
                  <a:schemeClr val="tx1"/>
                </a:solidFill>
                <a:latin typeface="Times New Roman" panose="02020603050405020304" pitchFamily="18" charset="0"/>
              </a:rPr>
              <a:t>z</a:t>
            </a:r>
            <a:r>
              <a:rPr lang="fr-CA" altLang="fr-FR" sz="2000" baseline="-25000" dirty="0">
                <a:solidFill>
                  <a:schemeClr val="tx1"/>
                </a:solidFill>
                <a:latin typeface="Times New Roman" panose="02020603050405020304" pitchFamily="18" charset="0"/>
              </a:rPr>
              <a:t>2</a:t>
            </a:r>
            <a:r>
              <a:rPr lang="fr-CA" altLang="fr-FR" sz="1800" dirty="0">
                <a:solidFill>
                  <a:schemeClr val="tx1"/>
                </a:solidFill>
                <a:latin typeface="Times New Roman" panose="02020603050405020304" pitchFamily="18" charset="0"/>
              </a:rPr>
              <a:t>) (1) = 0.0006 </a:t>
            </a:r>
            <a:endParaRPr lang="en-CA" altLang="fr-FR" sz="1800" dirty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68649" name="Text Box 41">
            <a:extLst>
              <a:ext uri="{FF2B5EF4-FFF2-40B4-BE49-F238E27FC236}">
                <a16:creationId xmlns:a16="http://schemas.microsoft.com/office/drawing/2014/main" id="{545B108F-2949-401D-9BAD-0C1D6B55B2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88089" y="5173663"/>
            <a:ext cx="274637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7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3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ts val="6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ts val="5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fr-CA" altLang="fr-FR" sz="2000" dirty="0">
                <a:solidFill>
                  <a:schemeClr val="tx1"/>
                </a:solidFill>
                <a:latin typeface="Symbol" panose="05050102010706020507" pitchFamily="18" charset="2"/>
              </a:rPr>
              <a:t>D </a:t>
            </a:r>
            <a:r>
              <a:rPr lang="fr-CA" altLang="fr-FR" sz="20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v</a:t>
            </a:r>
            <a:r>
              <a:rPr lang="fr-CA" altLang="fr-FR" sz="2000" b="1" baseline="-25000" dirty="0">
                <a:solidFill>
                  <a:schemeClr val="tx1"/>
                </a:solidFill>
                <a:latin typeface="Times New Roman" panose="02020603050405020304" pitchFamily="18" charset="0"/>
              </a:rPr>
              <a:t>12</a:t>
            </a:r>
            <a:r>
              <a:rPr lang="fr-CA" altLang="fr-FR" sz="20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 = </a:t>
            </a:r>
            <a:r>
              <a:rPr lang="fr-CA" altLang="fr-FR" sz="1800" dirty="0">
                <a:solidFill>
                  <a:schemeClr val="tx1"/>
                </a:solidFill>
                <a:latin typeface="Times New Roman" panose="02020603050405020304" pitchFamily="18" charset="0"/>
              </a:rPr>
              <a:t>(</a:t>
            </a:r>
            <a:r>
              <a:rPr lang="fr-CA" altLang="fr-FR" sz="1800" dirty="0">
                <a:solidFill>
                  <a:schemeClr val="tx1"/>
                </a:solidFill>
                <a:latin typeface="Symbol" panose="05050102010706020507" pitchFamily="18" charset="2"/>
              </a:rPr>
              <a:t>h</a:t>
            </a:r>
            <a:r>
              <a:rPr lang="fr-CA" altLang="fr-FR" sz="1800" dirty="0">
                <a:solidFill>
                  <a:schemeClr val="tx1"/>
                </a:solidFill>
                <a:latin typeface="Times New Roman" panose="02020603050405020304" pitchFamily="18" charset="0"/>
              </a:rPr>
              <a:t>) (</a:t>
            </a:r>
            <a:r>
              <a:rPr lang="fr-CA" altLang="fr-FR" sz="2000" dirty="0">
                <a:solidFill>
                  <a:schemeClr val="tx1"/>
                </a:solidFill>
                <a:latin typeface="Symbol" panose="05050102010706020507" pitchFamily="18" charset="2"/>
              </a:rPr>
              <a:t>d</a:t>
            </a:r>
            <a:r>
              <a:rPr lang="fr-CA" altLang="fr-FR" sz="2000" dirty="0">
                <a:solidFill>
                  <a:schemeClr val="tx1"/>
                </a:solidFill>
                <a:latin typeface="Times New Roman" panose="02020603050405020304" pitchFamily="18" charset="0"/>
              </a:rPr>
              <a:t>z</a:t>
            </a:r>
            <a:r>
              <a:rPr lang="fr-CA" altLang="fr-FR" sz="2000" baseline="-25000" dirty="0">
                <a:solidFill>
                  <a:schemeClr val="tx1"/>
                </a:solidFill>
                <a:latin typeface="Times New Roman" panose="02020603050405020304" pitchFamily="18" charset="0"/>
              </a:rPr>
              <a:t>2</a:t>
            </a:r>
            <a:r>
              <a:rPr lang="fr-CA" altLang="fr-FR" sz="1800" dirty="0">
                <a:solidFill>
                  <a:schemeClr val="tx1"/>
                </a:solidFill>
                <a:latin typeface="Times New Roman" panose="02020603050405020304" pitchFamily="18" charset="0"/>
              </a:rPr>
              <a:t>) (x</a:t>
            </a:r>
            <a:r>
              <a:rPr lang="fr-CA" altLang="fr-FR" sz="1800" baseline="-25000" dirty="0">
                <a:solidFill>
                  <a:schemeClr val="tx1"/>
                </a:solidFill>
                <a:latin typeface="Times New Roman" panose="02020603050405020304" pitchFamily="18" charset="0"/>
              </a:rPr>
              <a:t>1</a:t>
            </a:r>
            <a:r>
              <a:rPr lang="fr-CA" altLang="fr-FR" sz="1800" dirty="0">
                <a:solidFill>
                  <a:schemeClr val="tx1"/>
                </a:solidFill>
                <a:latin typeface="Times New Roman" panose="02020603050405020304" pitchFamily="18" charset="0"/>
              </a:rPr>
              <a:t>) = 0.0</a:t>
            </a:r>
            <a:endParaRPr lang="en-CA" altLang="fr-FR" sz="1800" dirty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68650" name="Text Box 42">
            <a:extLst>
              <a:ext uri="{FF2B5EF4-FFF2-40B4-BE49-F238E27FC236}">
                <a16:creationId xmlns:a16="http://schemas.microsoft.com/office/drawing/2014/main" id="{404429B5-7B4D-4761-9460-2AC4FD91D4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88088" y="5530850"/>
            <a:ext cx="31496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7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3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ts val="6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ts val="5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fr-CA" altLang="fr-FR" sz="2000" dirty="0">
                <a:solidFill>
                  <a:schemeClr val="tx1"/>
                </a:solidFill>
                <a:latin typeface="Symbol" panose="05050102010706020507" pitchFamily="18" charset="2"/>
              </a:rPr>
              <a:t>D </a:t>
            </a:r>
            <a:r>
              <a:rPr lang="fr-CA" altLang="fr-FR" sz="20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v</a:t>
            </a:r>
            <a:r>
              <a:rPr lang="fr-CA" altLang="fr-FR" sz="2000" b="1" baseline="-25000" dirty="0">
                <a:solidFill>
                  <a:schemeClr val="tx1"/>
                </a:solidFill>
                <a:latin typeface="Times New Roman" panose="02020603050405020304" pitchFamily="18" charset="0"/>
              </a:rPr>
              <a:t>22</a:t>
            </a:r>
            <a:r>
              <a:rPr lang="fr-CA" altLang="fr-FR" sz="20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 = </a:t>
            </a:r>
            <a:r>
              <a:rPr lang="fr-CA" altLang="fr-FR" sz="1800" dirty="0">
                <a:solidFill>
                  <a:schemeClr val="tx1"/>
                </a:solidFill>
                <a:latin typeface="Times New Roman" panose="02020603050405020304" pitchFamily="18" charset="0"/>
              </a:rPr>
              <a:t>(</a:t>
            </a:r>
            <a:r>
              <a:rPr lang="fr-CA" altLang="fr-FR" sz="1800" dirty="0">
                <a:solidFill>
                  <a:schemeClr val="tx1"/>
                </a:solidFill>
                <a:latin typeface="Symbol" panose="05050102010706020507" pitchFamily="18" charset="2"/>
              </a:rPr>
              <a:t>h</a:t>
            </a:r>
            <a:r>
              <a:rPr lang="fr-CA" altLang="fr-FR" sz="1800" dirty="0">
                <a:solidFill>
                  <a:schemeClr val="tx1"/>
                </a:solidFill>
                <a:latin typeface="Times New Roman" panose="02020603050405020304" pitchFamily="18" charset="0"/>
              </a:rPr>
              <a:t>) (</a:t>
            </a:r>
            <a:r>
              <a:rPr lang="fr-CA" altLang="fr-FR" sz="2000" dirty="0">
                <a:solidFill>
                  <a:schemeClr val="tx1"/>
                </a:solidFill>
                <a:latin typeface="Symbol" panose="05050102010706020507" pitchFamily="18" charset="2"/>
              </a:rPr>
              <a:t>d</a:t>
            </a:r>
            <a:r>
              <a:rPr lang="fr-CA" altLang="fr-FR" sz="2000" dirty="0">
                <a:solidFill>
                  <a:schemeClr val="tx1"/>
                </a:solidFill>
                <a:latin typeface="Times New Roman" panose="02020603050405020304" pitchFamily="18" charset="0"/>
              </a:rPr>
              <a:t>z</a:t>
            </a:r>
            <a:r>
              <a:rPr lang="fr-CA" altLang="fr-FR" sz="2000" baseline="-25000" dirty="0">
                <a:solidFill>
                  <a:schemeClr val="tx1"/>
                </a:solidFill>
                <a:latin typeface="Times New Roman" panose="02020603050405020304" pitchFamily="18" charset="0"/>
              </a:rPr>
              <a:t>2</a:t>
            </a:r>
            <a:r>
              <a:rPr lang="fr-CA" altLang="fr-FR" sz="1800" dirty="0">
                <a:solidFill>
                  <a:schemeClr val="tx1"/>
                </a:solidFill>
                <a:latin typeface="Times New Roman" panose="02020603050405020304" pitchFamily="18" charset="0"/>
              </a:rPr>
              <a:t>) (x</a:t>
            </a:r>
            <a:r>
              <a:rPr lang="fr-CA" altLang="fr-FR" sz="1800" baseline="-25000" dirty="0">
                <a:solidFill>
                  <a:schemeClr val="tx1"/>
                </a:solidFill>
                <a:latin typeface="Times New Roman" panose="02020603050405020304" pitchFamily="18" charset="0"/>
              </a:rPr>
              <a:t>2</a:t>
            </a:r>
            <a:r>
              <a:rPr lang="fr-CA" altLang="fr-FR" sz="1800" dirty="0">
                <a:solidFill>
                  <a:schemeClr val="tx1"/>
                </a:solidFill>
                <a:latin typeface="Times New Roman" panose="02020603050405020304" pitchFamily="18" charset="0"/>
              </a:rPr>
              <a:t>) = 0.0006 </a:t>
            </a:r>
            <a:endParaRPr lang="en-CA" altLang="fr-FR" sz="1800" dirty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68663" name="Group 55">
            <a:extLst>
              <a:ext uri="{FF2B5EF4-FFF2-40B4-BE49-F238E27FC236}">
                <a16:creationId xmlns:a16="http://schemas.microsoft.com/office/drawing/2014/main" id="{E98E8357-62B6-416F-BC7C-450EAB457F95}"/>
              </a:ext>
            </a:extLst>
          </p:cNvPr>
          <p:cNvGrpSpPr>
            <a:grpSpLocks/>
          </p:cNvGrpSpPr>
          <p:nvPr/>
        </p:nvGrpSpPr>
        <p:grpSpPr bwMode="auto">
          <a:xfrm>
            <a:off x="1524001" y="44451"/>
            <a:ext cx="9142413" cy="365125"/>
            <a:chOff x="0" y="28"/>
            <a:chExt cx="5759" cy="230"/>
          </a:xfrm>
        </p:grpSpPr>
        <p:sp>
          <p:nvSpPr>
            <p:cNvPr id="68665" name="AutoShape 56">
              <a:extLst>
                <a:ext uri="{FF2B5EF4-FFF2-40B4-BE49-F238E27FC236}">
                  <a16:creationId xmlns:a16="http://schemas.microsoft.com/office/drawing/2014/main" id="{D534A15C-E208-453E-A49D-8FAD4010D0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28"/>
              <a:ext cx="5760" cy="231"/>
            </a:xfrm>
            <a:prstGeom prst="roundRect">
              <a:avLst>
                <a:gd name="adj" fmla="val 431"/>
              </a:avLst>
            </a:prstGeom>
            <a:solidFill>
              <a:srgbClr val="3366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ts val="788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•"/>
                <a:defRPr sz="32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ts val="688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–"/>
                <a:defRPr sz="28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ts val="588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•"/>
                <a:defRPr sz="2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ts val="488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–"/>
                <a:defRPr sz="20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ts val="488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ts val="488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ts val="488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ts val="488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ts val="488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fr-FR" altLang="fr-FR" sz="1800">
                <a:latin typeface="Times New Roman" panose="02020603050405020304" pitchFamily="18" charset="0"/>
              </a:endParaRPr>
            </a:p>
          </p:txBody>
        </p:sp>
        <p:sp>
          <p:nvSpPr>
            <p:cNvPr id="68666" name="Text Box 57">
              <a:extLst>
                <a:ext uri="{FF2B5EF4-FFF2-40B4-BE49-F238E27FC236}">
                  <a16:creationId xmlns:a16="http://schemas.microsoft.com/office/drawing/2014/main" id="{FA820F2D-D3EC-4162-B2FF-D1CAB8DBBD8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0" y="28"/>
              <a:ext cx="576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000" tIns="46800" rIns="90000" bIns="46800">
              <a:spAutoFit/>
            </a:bodyPr>
            <a:lstStyle>
              <a:lvl1pPr>
                <a:spcBef>
                  <a:spcPts val="788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•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32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ts val="688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–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8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ts val="588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•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ts val="488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–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ts val="488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ts val="488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ts val="488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ts val="488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ts val="488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96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r>
                <a:rPr lang="en-GB" altLang="fr-FR" sz="1800">
                  <a:solidFill>
                    <a:schemeClr val="tx1"/>
                  </a:solidFill>
                </a:rPr>
                <a:t>Intelligence Artificielle 		Apprentissage			</a:t>
              </a:r>
            </a:p>
          </p:txBody>
        </p:sp>
      </p:grpSp>
      <p:sp>
        <p:nvSpPr>
          <p:cNvPr id="68664" name="Text Box 35">
            <a:extLst>
              <a:ext uri="{FF2B5EF4-FFF2-40B4-BE49-F238E27FC236}">
                <a16:creationId xmlns:a16="http://schemas.microsoft.com/office/drawing/2014/main" id="{CDF80871-18EF-4973-8F04-00B9D2096C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88088" y="6077744"/>
            <a:ext cx="170497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7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3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ts val="6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ts val="5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fr-CA" altLang="fr-FR" sz="2000" b="1" dirty="0" err="1">
                <a:solidFill>
                  <a:schemeClr val="tx1"/>
                </a:solidFill>
                <a:latin typeface="Times New Roman" panose="02020603050405020304" pitchFamily="18" charset="0"/>
              </a:rPr>
              <a:t>V</a:t>
            </a:r>
            <a:r>
              <a:rPr lang="fr-CA" altLang="fr-FR" sz="2000" b="1" baseline="-25000" dirty="0" err="1">
                <a:solidFill>
                  <a:schemeClr val="tx1"/>
                </a:solidFill>
                <a:latin typeface="Times New Roman" panose="02020603050405020304" pitchFamily="18" charset="0"/>
              </a:rPr>
              <a:t>ij</a:t>
            </a:r>
            <a:r>
              <a:rPr lang="fr-CA" altLang="fr-FR" sz="2000" b="1" baseline="-25000" dirty="0">
                <a:solidFill>
                  <a:schemeClr val="tx1"/>
                </a:solidFill>
                <a:latin typeface="Times New Roman" panose="02020603050405020304" pitchFamily="18" charset="0"/>
              </a:rPr>
              <a:t>  = </a:t>
            </a:r>
            <a:r>
              <a:rPr lang="fr-CA" altLang="fr-FR" sz="2000" b="1" dirty="0" err="1">
                <a:solidFill>
                  <a:schemeClr val="tx1"/>
                </a:solidFill>
                <a:latin typeface="Times New Roman" panose="02020603050405020304" pitchFamily="18" charset="0"/>
              </a:rPr>
              <a:t>V</a:t>
            </a:r>
            <a:r>
              <a:rPr lang="fr-CA" altLang="fr-FR" sz="2000" b="1" baseline="-25000" dirty="0" err="1">
                <a:solidFill>
                  <a:schemeClr val="tx1"/>
                </a:solidFill>
                <a:latin typeface="Times New Roman" panose="02020603050405020304" pitchFamily="18" charset="0"/>
              </a:rPr>
              <a:t>ij</a:t>
            </a:r>
            <a:r>
              <a:rPr lang="fr-CA" altLang="fr-FR" sz="2000" b="1" baseline="-25000" dirty="0">
                <a:solidFill>
                  <a:schemeClr val="tx1"/>
                </a:solidFill>
                <a:latin typeface="Times New Roman" panose="02020603050405020304" pitchFamily="18" charset="0"/>
              </a:rPr>
              <a:t>  + </a:t>
            </a:r>
            <a:r>
              <a:rPr lang="fr-CA" altLang="fr-FR" sz="2000" dirty="0" err="1">
                <a:solidFill>
                  <a:schemeClr val="tx1"/>
                </a:solidFill>
                <a:latin typeface="Symbol" panose="05050102010706020507" pitchFamily="18" charset="2"/>
              </a:rPr>
              <a:t>D</a:t>
            </a:r>
            <a:r>
              <a:rPr lang="fr-CA" altLang="fr-FR" sz="2000" b="1" dirty="0" err="1">
                <a:solidFill>
                  <a:schemeClr val="tx1"/>
                </a:solidFill>
                <a:latin typeface="Times New Roman" panose="02020603050405020304" pitchFamily="18" charset="0"/>
              </a:rPr>
              <a:t>V</a:t>
            </a:r>
            <a:r>
              <a:rPr lang="fr-CA" altLang="fr-FR" sz="2000" b="1" baseline="-25000" dirty="0" err="1">
                <a:solidFill>
                  <a:schemeClr val="tx1"/>
                </a:solidFill>
                <a:latin typeface="Times New Roman" panose="02020603050405020304" pitchFamily="18" charset="0"/>
              </a:rPr>
              <a:t>ij</a:t>
            </a:r>
            <a:endParaRPr lang="en-CA" altLang="fr-FR" sz="1800" dirty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8BD97F9-0F72-481B-A9BF-491C39C2B2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06AE51-5606-4246-9C72-66A40F31299F}" type="slidenum">
              <a:rPr lang="fr-FR" smtClean="0"/>
              <a:pPr/>
              <a:t>33</a:t>
            </a:fld>
            <a:endParaRPr lang="fr-FR"/>
          </a:p>
        </p:txBody>
      </p:sp>
      <p:sp>
        <p:nvSpPr>
          <p:cNvPr id="3" name="Rectangle 37">
            <a:extLst>
              <a:ext uri="{FF2B5EF4-FFF2-40B4-BE49-F238E27FC236}">
                <a16:creationId xmlns:a16="http://schemas.microsoft.com/office/drawing/2014/main" id="{F22BA916-C542-BD32-A9D6-CA450F4698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74846" y="3753969"/>
            <a:ext cx="1233584" cy="350866"/>
          </a:xfrm>
          <a:prstGeom prst="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>
            <a:lvl1pPr>
              <a:spcBef>
                <a:spcPts val="7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3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ts val="6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ts val="5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fr-CA" altLang="fr-FR" sz="1600" b="1" dirty="0">
                <a:solidFill>
                  <a:schemeClr val="tx1"/>
                </a:solidFill>
                <a:latin typeface="Symbol" panose="05050102010706020507" pitchFamily="18" charset="2"/>
              </a:rPr>
              <a:t>d</a:t>
            </a:r>
            <a:r>
              <a:rPr lang="fr-CA" altLang="fr-FR" sz="16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z</a:t>
            </a:r>
            <a:r>
              <a:rPr lang="fr-CA" altLang="fr-FR" sz="1600" b="1" baseline="-25000" dirty="0">
                <a:solidFill>
                  <a:schemeClr val="tx1"/>
                </a:solidFill>
                <a:latin typeface="Times New Roman" panose="02020603050405020304" pitchFamily="18" charset="0"/>
              </a:rPr>
              <a:t>2 </a:t>
            </a:r>
            <a:r>
              <a:rPr lang="fr-CA" altLang="fr-FR" sz="16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= </a:t>
            </a:r>
            <a:r>
              <a:rPr lang="fr-CA" altLang="fr-FR" sz="16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0.025</a:t>
            </a:r>
            <a:r>
              <a:rPr lang="fr-CA" altLang="fr-FR" sz="18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 </a:t>
            </a:r>
            <a:endParaRPr lang="en-CA" altLang="fr-FR" sz="1800" b="1" baseline="-25000" dirty="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4" name="Rectangle 37">
            <a:extLst>
              <a:ext uri="{FF2B5EF4-FFF2-40B4-BE49-F238E27FC236}">
                <a16:creationId xmlns:a16="http://schemas.microsoft.com/office/drawing/2014/main" id="{27D3C4A7-2736-555C-7390-4CFC7E1FEA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97816" y="3744853"/>
            <a:ext cx="1196747" cy="369332"/>
          </a:xfrm>
          <a:prstGeom prst="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>
            <a:lvl1pPr>
              <a:spcBef>
                <a:spcPts val="7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3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ts val="6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ts val="5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fr-CA" altLang="fr-FR" sz="1600" b="1" dirty="0">
                <a:solidFill>
                  <a:schemeClr val="tx1"/>
                </a:solidFill>
                <a:latin typeface="Symbol" panose="05050102010706020507" pitchFamily="18" charset="2"/>
              </a:rPr>
              <a:t>d</a:t>
            </a:r>
            <a:r>
              <a:rPr lang="fr-CA" altLang="fr-FR" sz="16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z</a:t>
            </a:r>
            <a:r>
              <a:rPr lang="fr-CA" altLang="fr-FR" sz="1600" b="1" baseline="-25000" dirty="0">
                <a:solidFill>
                  <a:schemeClr val="tx1"/>
                </a:solidFill>
                <a:latin typeface="Times New Roman" panose="02020603050405020304" pitchFamily="18" charset="0"/>
              </a:rPr>
              <a:t>1 </a:t>
            </a:r>
            <a:r>
              <a:rPr lang="fr-CA" altLang="fr-FR" sz="16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= </a:t>
            </a:r>
            <a:r>
              <a:rPr lang="fr-CA" altLang="fr-FR" sz="16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0.015</a:t>
            </a:r>
            <a:r>
              <a:rPr lang="fr-CA" altLang="fr-FR" sz="18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 </a:t>
            </a:r>
            <a:endParaRPr lang="en-CA" altLang="fr-FR" sz="1800" b="1" baseline="-25000" dirty="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5" name="Rectangle 36">
            <a:extLst>
              <a:ext uri="{FF2B5EF4-FFF2-40B4-BE49-F238E27FC236}">
                <a16:creationId xmlns:a16="http://schemas.microsoft.com/office/drawing/2014/main" id="{5BF4200C-FCB9-9DA8-2502-ABDDAACBD1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56129" y="2345323"/>
            <a:ext cx="1037433" cy="338554"/>
          </a:xfrm>
          <a:prstGeom prst="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>
            <a:lvl1pPr>
              <a:spcBef>
                <a:spcPts val="7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3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ts val="6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ts val="5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fr-CA" altLang="fr-FR" sz="1600" b="1" dirty="0" err="1">
                <a:solidFill>
                  <a:schemeClr val="tx1"/>
                </a:solidFill>
                <a:latin typeface="Symbol" panose="05050102010706020507" pitchFamily="18" charset="2"/>
              </a:rPr>
              <a:t>d</a:t>
            </a:r>
            <a:r>
              <a:rPr lang="fr-CA" altLang="fr-FR" sz="1600" b="1" dirty="0" err="1">
                <a:solidFill>
                  <a:schemeClr val="tx1"/>
                </a:solidFill>
                <a:latin typeface="Sylfaen" panose="010A0502050306030303" pitchFamily="18" charset="0"/>
                <a:cs typeface="+mn-cs"/>
              </a:rPr>
              <a:t>y</a:t>
            </a:r>
            <a:r>
              <a:rPr lang="fr-CA" altLang="fr-FR" sz="1600" b="1" dirty="0">
                <a:solidFill>
                  <a:schemeClr val="tx1"/>
                </a:solidFill>
                <a:latin typeface="Sylfaen" panose="010A0502050306030303" pitchFamily="18" charset="0"/>
                <a:cs typeface="+mn-cs"/>
              </a:rPr>
              <a:t> </a:t>
            </a:r>
            <a:r>
              <a:rPr lang="fr-CA" altLang="fr-FR" sz="1600" b="1" dirty="0">
                <a:solidFill>
                  <a:srgbClr val="FF0000"/>
                </a:solidFill>
                <a:latin typeface="Sylfaen" panose="010A0502050306030303" pitchFamily="18" charset="0"/>
              </a:rPr>
              <a:t>= 0.122</a:t>
            </a:r>
            <a:endParaRPr lang="en-CA" altLang="fr-FR" sz="1600" b="1" dirty="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7" name="Rectangle 26">
            <a:extLst>
              <a:ext uri="{FF2B5EF4-FFF2-40B4-BE49-F238E27FC236}">
                <a16:creationId xmlns:a16="http://schemas.microsoft.com/office/drawing/2014/main" id="{B9954334-1A2E-71F4-14AD-E07716E6FE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95525" y="2933700"/>
            <a:ext cx="654050" cy="274638"/>
          </a:xfrm>
          <a:prstGeom prst="rect">
            <a:avLst/>
          </a:prstGeom>
          <a:solidFill>
            <a:srgbClr val="E2E2E2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7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3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ts val="6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ts val="5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fr-CA" altLang="fr-FR" sz="12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-0.2695</a:t>
            </a:r>
            <a:endParaRPr lang="en-CA" altLang="fr-FR" sz="1200" b="1" baseline="-25000" dirty="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8" name="Rectangle 20">
            <a:extLst>
              <a:ext uri="{FF2B5EF4-FFF2-40B4-BE49-F238E27FC236}">
                <a16:creationId xmlns:a16="http://schemas.microsoft.com/office/drawing/2014/main" id="{7FC680B8-14BB-2862-CCC6-CC11B4197E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84463" y="3206750"/>
            <a:ext cx="603250" cy="274638"/>
          </a:xfrm>
          <a:prstGeom prst="rect">
            <a:avLst/>
          </a:prstGeom>
          <a:solidFill>
            <a:srgbClr val="E2E2E2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7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3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ts val="6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ts val="5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fr-CA" altLang="fr-FR" sz="12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0.5168</a:t>
            </a:r>
            <a:endParaRPr lang="en-CA" altLang="fr-FR" sz="1200" b="1" baseline="-25000" dirty="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9" name="Rectangle 25">
            <a:extLst>
              <a:ext uri="{FF2B5EF4-FFF2-40B4-BE49-F238E27FC236}">
                <a16:creationId xmlns:a16="http://schemas.microsoft.com/office/drawing/2014/main" id="{5B117C35-57CC-E8BC-A318-B9AB835070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34454" y="3164001"/>
            <a:ext cx="603250" cy="274638"/>
          </a:xfrm>
          <a:prstGeom prst="rect">
            <a:avLst/>
          </a:prstGeom>
          <a:solidFill>
            <a:srgbClr val="E2E2E2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7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3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ts val="6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ts val="5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fr-CA" altLang="fr-FR" sz="12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0.1217</a:t>
            </a:r>
            <a:endParaRPr lang="en-CA" altLang="fr-FR" sz="1200" b="1" baseline="-25000" dirty="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79814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8628" grpId="0" animBg="1"/>
      <p:bldP spid="68629" grpId="0" animBg="1"/>
      <p:bldP spid="68630" grpId="0" animBg="1"/>
      <p:bldP spid="68631" grpId="0" animBg="1"/>
      <p:bldP spid="68632" grpId="0" animBg="1"/>
      <p:bldP spid="68634" grpId="0" animBg="1"/>
      <p:bldP spid="68645" grpId="0"/>
      <p:bldP spid="68646" grpId="0"/>
      <p:bldP spid="68647" grpId="0"/>
      <p:bldP spid="68648" grpId="0"/>
      <p:bldP spid="68649" grpId="0"/>
      <p:bldP spid="68650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6712E2AE-E13B-C2A0-1C08-539ECA6228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70348" y="3085017"/>
            <a:ext cx="7115175" cy="2800350"/>
          </a:xfrm>
          <a:prstGeom prst="rect">
            <a:avLst/>
          </a:prstGeom>
        </p:spPr>
      </p:pic>
      <p:sp>
        <p:nvSpPr>
          <p:cNvPr id="4" name="ZoneTexte 3">
            <a:extLst>
              <a:ext uri="{FF2B5EF4-FFF2-40B4-BE49-F238E27FC236}">
                <a16:creationId xmlns:a16="http://schemas.microsoft.com/office/drawing/2014/main" id="{83A45A6B-FB3F-A658-3807-13BA7D064FFD}"/>
              </a:ext>
            </a:extLst>
          </p:cNvPr>
          <p:cNvSpPr txBox="1"/>
          <p:nvPr/>
        </p:nvSpPr>
        <p:spPr>
          <a:xfrm>
            <a:off x="665824" y="1017307"/>
            <a:ext cx="10724225" cy="1508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/>
              <a:t>Soit le réseau à 2 entrée X1 et X2 avec une couche cachée (composée de deux </a:t>
            </a:r>
            <a:r>
              <a:rPr lang="fr-FR" sz="2400" dirty="0" err="1"/>
              <a:t>neuronnes</a:t>
            </a:r>
            <a:r>
              <a:rPr lang="fr-FR" sz="2400" dirty="0"/>
              <a:t>) et un seule neurone sortie. On suppose que le seuil(biais) est égal à 0.   on utilise la fonction d’activation est </a:t>
            </a:r>
            <a:r>
              <a:rPr lang="fr-FR" sz="2400" dirty="0" err="1"/>
              <a:t>Sigmoide</a:t>
            </a:r>
            <a:r>
              <a:rPr lang="fr-FR" sz="2400" dirty="0"/>
              <a:t> : f(x) = 1/(1+e</a:t>
            </a:r>
            <a:r>
              <a:rPr lang="fr-FR" sz="2400" baseline="30000" dirty="0"/>
              <a:t>-x</a:t>
            </a:r>
            <a:r>
              <a:rPr lang="fr-FR" sz="2000" dirty="0"/>
              <a:t>). </a:t>
            </a:r>
            <a:r>
              <a:rPr lang="fr-CA" altLang="fr-FR" sz="2000" dirty="0">
                <a:solidFill>
                  <a:schemeClr val="tx1"/>
                </a:solidFill>
                <a:latin typeface="Times New Roman" panose="02020603050405020304" pitchFamily="18" charset="0"/>
              </a:rPr>
              <a:t>le vecteur d’apprentissage (0.35, 0.9), t=0.5 et </a:t>
            </a:r>
            <a:r>
              <a:rPr lang="fr-CA" altLang="fr-FR" sz="2000" dirty="0">
                <a:solidFill>
                  <a:schemeClr val="tx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=0,25.</a:t>
            </a:r>
            <a:endParaRPr lang="fr-FR" sz="2000" baseline="30000" dirty="0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FEDE673A-4470-8E3B-308F-00044C56B4A9}"/>
              </a:ext>
            </a:extLst>
          </p:cNvPr>
          <p:cNvSpPr txBox="1"/>
          <p:nvPr/>
        </p:nvSpPr>
        <p:spPr>
          <a:xfrm>
            <a:off x="665824" y="363983"/>
            <a:ext cx="407485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>
                <a:solidFill>
                  <a:srgbClr val="FF0000"/>
                </a:solidFill>
              </a:rPr>
              <a:t>Exemple 3</a:t>
            </a:r>
          </a:p>
        </p:txBody>
      </p:sp>
    </p:spTree>
    <p:extLst>
      <p:ext uri="{BB962C8B-B14F-4D97-AF65-F5344CB8AC3E}">
        <p14:creationId xmlns:p14="http://schemas.microsoft.com/office/powerpoint/2010/main" val="180255886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EE61D4D4-2FD8-AB89-1587-82EE12ED367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95000"/>
                    </a14:imgEffect>
                    <a14:imgEffect>
                      <a14:brightnessContrast bright="20000" contrast="-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35920" y="954438"/>
            <a:ext cx="11405909" cy="5606068"/>
          </a:xfrm>
          <a:prstGeom prst="rect">
            <a:avLst/>
          </a:prstGeom>
          <a:ln>
            <a:noFill/>
          </a:ln>
          <a:effectLst>
            <a:glow rad="127000">
              <a:schemeClr val="accent1"/>
            </a:glow>
          </a:effectLst>
        </p:spPr>
      </p:pic>
      <p:sp>
        <p:nvSpPr>
          <p:cNvPr id="5" name="ZoneTexte 4">
            <a:extLst>
              <a:ext uri="{FF2B5EF4-FFF2-40B4-BE49-F238E27FC236}">
                <a16:creationId xmlns:a16="http://schemas.microsoft.com/office/drawing/2014/main" id="{7C0B479F-1F3F-8BB0-5C39-D0A92A6003DB}"/>
              </a:ext>
            </a:extLst>
          </p:cNvPr>
          <p:cNvSpPr txBox="1"/>
          <p:nvPr/>
        </p:nvSpPr>
        <p:spPr>
          <a:xfrm>
            <a:off x="692458" y="230819"/>
            <a:ext cx="476536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200" dirty="0" err="1">
                <a:solidFill>
                  <a:srgbClr val="FF0000"/>
                </a:solidFill>
              </a:rPr>
              <a:t>Backpropagation</a:t>
            </a:r>
            <a:r>
              <a:rPr lang="fr-FR" sz="3200" dirty="0">
                <a:solidFill>
                  <a:srgbClr val="FF0000"/>
                </a:solidFill>
              </a:rPr>
              <a:t> </a:t>
            </a:r>
            <a:r>
              <a:rPr lang="fr-FR" sz="3200" dirty="0" err="1">
                <a:solidFill>
                  <a:srgbClr val="FF0000"/>
                </a:solidFill>
              </a:rPr>
              <a:t>Algorithm</a:t>
            </a:r>
            <a:r>
              <a:rPr lang="fr-FR" sz="3200" dirty="0">
                <a:solidFill>
                  <a:srgbClr val="FF0000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27353344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id="{2110A52D-D6E1-A6CB-94C3-80D927DB5A39}"/>
              </a:ext>
            </a:extLst>
          </p:cNvPr>
          <p:cNvSpPr txBox="1"/>
          <p:nvPr/>
        </p:nvSpPr>
        <p:spPr>
          <a:xfrm>
            <a:off x="6628818" y="780746"/>
            <a:ext cx="4915482" cy="2369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 err="1">
                <a:solidFill>
                  <a:srgbClr val="FF0000"/>
                </a:solidFill>
                <a:highlight>
                  <a:srgbClr val="FFFF00"/>
                </a:highlight>
              </a:rPr>
              <a:t>Rétroprogation</a:t>
            </a:r>
            <a:r>
              <a:rPr lang="fr-FR" sz="2400" dirty="0">
                <a:solidFill>
                  <a:srgbClr val="FF0000"/>
                </a:solidFill>
                <a:highlight>
                  <a:srgbClr val="FFFF00"/>
                </a:highlight>
              </a:rPr>
              <a:t> passe:</a:t>
            </a:r>
          </a:p>
          <a:p>
            <a:r>
              <a:rPr lang="fr-FR" sz="2400" dirty="0"/>
              <a:t>On calcule les erreurs </a:t>
            </a:r>
            <a:r>
              <a:rPr lang="el-GR" sz="2400" dirty="0"/>
              <a:t>δ</a:t>
            </a:r>
            <a:r>
              <a:rPr lang="fr-FR" sz="2400" baseline="-25000" dirty="0"/>
              <a:t>3</a:t>
            </a:r>
            <a:r>
              <a:rPr lang="fr-FR" sz="2400" dirty="0"/>
              <a:t>, </a:t>
            </a:r>
            <a:r>
              <a:rPr lang="el-GR" sz="2400" dirty="0"/>
              <a:t>δ</a:t>
            </a:r>
            <a:r>
              <a:rPr lang="fr-FR" sz="2400" baseline="-25000" dirty="0"/>
              <a:t>4</a:t>
            </a:r>
            <a:r>
              <a:rPr lang="fr-FR" sz="2400" dirty="0"/>
              <a:t>, </a:t>
            </a:r>
            <a:r>
              <a:rPr lang="el-GR" sz="2400" dirty="0"/>
              <a:t>δ</a:t>
            </a:r>
            <a:r>
              <a:rPr lang="fr-FR" sz="2400" baseline="-25000" dirty="0"/>
              <a:t>5</a:t>
            </a:r>
          </a:p>
          <a:p>
            <a:r>
              <a:rPr lang="el-GR" sz="2000" dirty="0"/>
              <a:t>δ</a:t>
            </a:r>
            <a:r>
              <a:rPr lang="fr-FR" sz="2000" baseline="-25000" dirty="0"/>
              <a:t>5</a:t>
            </a:r>
            <a:r>
              <a:rPr lang="fr-FR" sz="2000" dirty="0"/>
              <a:t>  =  ?</a:t>
            </a:r>
          </a:p>
          <a:p>
            <a:r>
              <a:rPr lang="fr-FR" sz="2000" b="1" dirty="0"/>
              <a:t>Couche de sortie :</a:t>
            </a:r>
          </a:p>
          <a:p>
            <a:endParaRPr lang="fr-FR" sz="2000" dirty="0"/>
          </a:p>
          <a:p>
            <a:endParaRPr lang="fr-FR" sz="2000" dirty="0"/>
          </a:p>
          <a:p>
            <a:endParaRPr lang="fr-FR" sz="2000" dirty="0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6A52EB49-FDF6-A46C-32B0-0F44267009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21000" contrast="-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73830" y="4395787"/>
            <a:ext cx="5667375" cy="1590675"/>
          </a:xfrm>
          <a:prstGeom prst="rect">
            <a:avLst/>
          </a:prstGeom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74601F21-31A2-6442-0C8C-52E3585FF8B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0037" y="1278318"/>
            <a:ext cx="5414963" cy="2882705"/>
          </a:xfrm>
          <a:prstGeom prst="rect">
            <a:avLst/>
          </a:prstGeom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201C6BF4-E057-863F-D424-B6C6715346D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28818" y="2280956"/>
            <a:ext cx="4743450" cy="695325"/>
          </a:xfrm>
          <a:prstGeom prst="rect">
            <a:avLst/>
          </a:prstGeom>
        </p:spPr>
      </p:pic>
      <p:pic>
        <p:nvPicPr>
          <p:cNvPr id="12" name="Image 11">
            <a:extLst>
              <a:ext uri="{FF2B5EF4-FFF2-40B4-BE49-F238E27FC236}">
                <a16:creationId xmlns:a16="http://schemas.microsoft.com/office/drawing/2014/main" id="{421E87FC-E304-222B-B250-67EB6D33C1E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66905" y="3548345"/>
            <a:ext cx="4867275" cy="666750"/>
          </a:xfrm>
          <a:prstGeom prst="rect">
            <a:avLst/>
          </a:prstGeom>
        </p:spPr>
      </p:pic>
      <p:sp>
        <p:nvSpPr>
          <p:cNvPr id="14" name="ZoneTexte 13">
            <a:extLst>
              <a:ext uri="{FF2B5EF4-FFF2-40B4-BE49-F238E27FC236}">
                <a16:creationId xmlns:a16="http://schemas.microsoft.com/office/drawing/2014/main" id="{17321654-5A00-99B3-6C46-68CA0045D2D8}"/>
              </a:ext>
            </a:extLst>
          </p:cNvPr>
          <p:cNvSpPr txBox="1"/>
          <p:nvPr/>
        </p:nvSpPr>
        <p:spPr>
          <a:xfrm>
            <a:off x="6628818" y="3036602"/>
            <a:ext cx="224848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000" b="1" dirty="0"/>
              <a:t>Couche caché  :</a:t>
            </a:r>
          </a:p>
        </p:txBody>
      </p:sp>
      <p:pic>
        <p:nvPicPr>
          <p:cNvPr id="16" name="Image 15">
            <a:extLst>
              <a:ext uri="{FF2B5EF4-FFF2-40B4-BE49-F238E27FC236}">
                <a16:creationId xmlns:a16="http://schemas.microsoft.com/office/drawing/2014/main" id="{02CD6F3A-8449-D7CD-EBA1-17450535941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33568" y="4326728"/>
            <a:ext cx="4838700" cy="847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852135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9D9F570B-EF67-BD8A-883C-DB33F56311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312" y="3707375"/>
            <a:ext cx="12192000" cy="2891816"/>
          </a:xfrm>
          <a:prstGeom prst="rect">
            <a:avLst/>
          </a:prstGeom>
        </p:spPr>
      </p:pic>
      <p:pic>
        <p:nvPicPr>
          <p:cNvPr id="4" name="Image 3">
            <a:extLst>
              <a:ext uri="{FF2B5EF4-FFF2-40B4-BE49-F238E27FC236}">
                <a16:creationId xmlns:a16="http://schemas.microsoft.com/office/drawing/2014/main" id="{C4108618-FD63-FA65-D803-9B79F3AD7C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4312" y="878268"/>
            <a:ext cx="5414963" cy="2882705"/>
          </a:xfrm>
          <a:prstGeom prst="rect">
            <a:avLst/>
          </a:prstGeom>
        </p:spPr>
      </p:pic>
      <p:sp>
        <p:nvSpPr>
          <p:cNvPr id="5" name="ZoneTexte 4">
            <a:extLst>
              <a:ext uri="{FF2B5EF4-FFF2-40B4-BE49-F238E27FC236}">
                <a16:creationId xmlns:a16="http://schemas.microsoft.com/office/drawing/2014/main" id="{EA573C57-AC3C-ABAF-1CB6-4E27DBF7DD4C}"/>
              </a:ext>
            </a:extLst>
          </p:cNvPr>
          <p:cNvSpPr txBox="1"/>
          <p:nvPr/>
        </p:nvSpPr>
        <p:spPr>
          <a:xfrm>
            <a:off x="6628818" y="780746"/>
            <a:ext cx="4915482" cy="2369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 err="1">
                <a:solidFill>
                  <a:srgbClr val="FF0000"/>
                </a:solidFill>
                <a:highlight>
                  <a:srgbClr val="FFFF00"/>
                </a:highlight>
              </a:rPr>
              <a:t>Rétroprogation</a:t>
            </a:r>
            <a:r>
              <a:rPr lang="fr-FR" sz="2400" dirty="0">
                <a:solidFill>
                  <a:srgbClr val="FF0000"/>
                </a:solidFill>
                <a:highlight>
                  <a:srgbClr val="FFFF00"/>
                </a:highlight>
              </a:rPr>
              <a:t> passe:</a:t>
            </a:r>
          </a:p>
          <a:p>
            <a:r>
              <a:rPr lang="fr-FR" sz="2400" dirty="0"/>
              <a:t>On calcule les erreurs </a:t>
            </a:r>
            <a:r>
              <a:rPr lang="el-GR" sz="2400" dirty="0"/>
              <a:t>δ</a:t>
            </a:r>
            <a:r>
              <a:rPr lang="fr-FR" sz="2400" baseline="-25000" dirty="0"/>
              <a:t>3</a:t>
            </a:r>
            <a:r>
              <a:rPr lang="fr-FR" sz="2400" dirty="0"/>
              <a:t>, </a:t>
            </a:r>
            <a:r>
              <a:rPr lang="el-GR" sz="2400" dirty="0"/>
              <a:t>δ</a:t>
            </a:r>
            <a:r>
              <a:rPr lang="fr-FR" sz="2400" baseline="-25000" dirty="0"/>
              <a:t>4</a:t>
            </a:r>
            <a:r>
              <a:rPr lang="fr-FR" sz="2400" dirty="0"/>
              <a:t>, </a:t>
            </a:r>
            <a:r>
              <a:rPr lang="el-GR" sz="2400" dirty="0"/>
              <a:t>δ</a:t>
            </a:r>
            <a:r>
              <a:rPr lang="fr-FR" sz="2400" baseline="-25000" dirty="0"/>
              <a:t>5</a:t>
            </a:r>
          </a:p>
          <a:p>
            <a:r>
              <a:rPr lang="el-GR" sz="2000" dirty="0"/>
              <a:t>δ</a:t>
            </a:r>
            <a:r>
              <a:rPr lang="fr-FR" sz="2000" baseline="-25000" dirty="0"/>
              <a:t>5</a:t>
            </a:r>
            <a:r>
              <a:rPr lang="fr-FR" sz="2000" dirty="0"/>
              <a:t>  =  ?</a:t>
            </a:r>
          </a:p>
          <a:p>
            <a:r>
              <a:rPr lang="fr-FR" sz="2000" b="1" dirty="0"/>
              <a:t>Couche de sortie :</a:t>
            </a:r>
          </a:p>
          <a:p>
            <a:endParaRPr lang="fr-FR" sz="2000" dirty="0"/>
          </a:p>
          <a:p>
            <a:endParaRPr lang="fr-FR" sz="2000" dirty="0"/>
          </a:p>
          <a:p>
            <a:endParaRPr lang="fr-FR" sz="2000" dirty="0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219F3C14-71A0-A9A4-35DA-5AE470DD513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8818" y="2280956"/>
            <a:ext cx="4743450" cy="695325"/>
          </a:xfrm>
          <a:prstGeom prst="rect">
            <a:avLst/>
          </a:prstGeom>
        </p:spPr>
      </p:pic>
      <p:sp>
        <p:nvSpPr>
          <p:cNvPr id="7" name="ZoneTexte 6">
            <a:extLst>
              <a:ext uri="{FF2B5EF4-FFF2-40B4-BE49-F238E27FC236}">
                <a16:creationId xmlns:a16="http://schemas.microsoft.com/office/drawing/2014/main" id="{F6057BFC-4E45-5E54-70E8-4753F6535544}"/>
              </a:ext>
            </a:extLst>
          </p:cNvPr>
          <p:cNvSpPr txBox="1"/>
          <p:nvPr/>
        </p:nvSpPr>
        <p:spPr>
          <a:xfrm>
            <a:off x="6628818" y="3036602"/>
            <a:ext cx="224848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000" b="1" dirty="0"/>
              <a:t>Couche caché  :</a:t>
            </a:r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215CAE21-D2A6-CAB2-1FC9-D0FFD81DA6A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4156" y="3660086"/>
            <a:ext cx="4867275" cy="666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822377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F5E7F32B-48E5-E6E1-BF2E-54DE6634CC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4698" y="1127464"/>
            <a:ext cx="10237237" cy="49002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79286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 7">
            <a:extLst>
              <a:ext uri="{FF2B5EF4-FFF2-40B4-BE49-F238E27FC236}">
                <a16:creationId xmlns:a16="http://schemas.microsoft.com/office/drawing/2014/main" id="{C9F02768-5D41-F5A6-D968-9A7FE898B8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1000"/>
                    </a14:imgEffect>
                    <a14:imgEffect>
                      <a14:brightnessContrast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90525" y="1540924"/>
            <a:ext cx="12077700" cy="5129958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6" name="ZoneTexte 5">
                <a:extLst>
                  <a:ext uri="{FF2B5EF4-FFF2-40B4-BE49-F238E27FC236}">
                    <a16:creationId xmlns:a16="http://schemas.microsoft.com/office/drawing/2014/main" id="{7165915D-3D86-76A8-9A55-C854552DD393}"/>
                  </a:ext>
                </a:extLst>
              </p:cNvPr>
              <p:cNvSpPr txBox="1"/>
              <p:nvPr/>
            </p:nvSpPr>
            <p:spPr>
              <a:xfrm>
                <a:off x="5757169" y="1340899"/>
                <a:ext cx="5276137" cy="113030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2400" dirty="0">
                    <a:solidFill>
                      <a:srgbClr val="FF0000"/>
                    </a:solidFill>
                    <a:highlight>
                      <a:srgbClr val="FFFF00"/>
                    </a:highlight>
                  </a:rPr>
                  <a:t>Propagation avant (2eme itération) :</a:t>
                </a:r>
              </a:p>
              <a:p>
                <a:r>
                  <a:rPr lang="fr-FR" sz="2400" dirty="0"/>
                  <a:t>On calcule valeurs sorties y3, y4, y5</a:t>
                </a:r>
              </a:p>
              <a:p>
                <a:r>
                  <a:rPr lang="fr-FR" dirty="0" err="1"/>
                  <a:t>a</a:t>
                </a:r>
                <a:r>
                  <a:rPr lang="fr-FR" baseline="-25000" dirty="0" err="1"/>
                  <a:t>j</a:t>
                </a:r>
                <a:r>
                  <a:rPr lang="fr-FR" baseline="-25000" dirty="0"/>
                  <a:t> </a:t>
                </a:r>
                <a:r>
                  <a:rPr lang="fr-FR" dirty="0"/>
                  <a:t>=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pHide m:val="on"/>
                        <m:ctrlPr>
                          <a:rPr lang="fr-FR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fr-FR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fr-FR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𝑖𝑗</m:t>
                            </m:r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</m:sub>
                        </m:sSub>
                        <m:sSub>
                          <m:sSubPr>
                            <m:ctrlPr>
                              <a:rPr lang="fr-FR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   </m:t>
                        </m:r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𝑦𝑗</m:t>
                        </m:r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fr-FR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𝑎𝑖</m:t>
                            </m:r>
                          </m:e>
                        </m:d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= </m:t>
                        </m:r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1/(1+ </m:t>
                        </m:r>
                        <m:sSup>
                          <m:sSupPr>
                            <m:ctrlPr>
                              <a:rPr lang="fr-FR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nary>
                    <m:r>
                      <a:rPr lang="fr-FR" b="0" i="0" smtClean="0">
                        <a:latin typeface="Cambria Math" panose="02040503050406030204" pitchFamily="18" charset="0"/>
                      </a:rPr>
                      <m:t> )        </m:t>
                    </m:r>
                  </m:oMath>
                </a14:m>
                <a:r>
                  <a:rPr lang="fr-FR" sz="1600" baseline="30000" dirty="0"/>
                  <a:t> </a:t>
                </a:r>
              </a:p>
            </p:txBody>
          </p:sp>
        </mc:Choice>
        <mc:Fallback>
          <p:sp>
            <p:nvSpPr>
              <p:cNvPr id="6" name="ZoneTexte 5">
                <a:extLst>
                  <a:ext uri="{FF2B5EF4-FFF2-40B4-BE49-F238E27FC236}">
                    <a16:creationId xmlns:a16="http://schemas.microsoft.com/office/drawing/2014/main" id="{7165915D-3D86-76A8-9A55-C854552DD3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57169" y="1340899"/>
                <a:ext cx="5276137" cy="1130309"/>
              </a:xfrm>
              <a:prstGeom prst="rect">
                <a:avLst/>
              </a:prstGeom>
              <a:blipFill>
                <a:blip r:embed="rId4"/>
                <a:stretch>
                  <a:fillRect l="-1732" t="-4324" b="-58919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0989875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Text Box 2">
            <a:extLst>
              <a:ext uri="{FF2B5EF4-FFF2-40B4-BE49-F238E27FC236}">
                <a16:creationId xmlns:a16="http://schemas.microsoft.com/office/drawing/2014/main" id="{5BE96DA6-0F65-41E6-9522-1FACEEB6C7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908050"/>
            <a:ext cx="23129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7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3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ts val="6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ts val="5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fr-CA" altLang="fr-FR" sz="2400" b="1">
                <a:solidFill>
                  <a:schemeClr val="tx1"/>
                </a:solidFill>
                <a:latin typeface="Times New Roman" panose="02020603050405020304" pitchFamily="18" charset="0"/>
              </a:rPr>
              <a:t>Exercice à faire:</a:t>
            </a:r>
            <a:endParaRPr lang="en-CA" altLang="fr-FR" sz="2400" b="1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70659" name="Text Box 3">
            <a:extLst>
              <a:ext uri="{FF2B5EF4-FFF2-40B4-BE49-F238E27FC236}">
                <a16:creationId xmlns:a16="http://schemas.microsoft.com/office/drawing/2014/main" id="{85CEBE64-722B-4EB3-9ED9-0CE68C5198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1412876"/>
            <a:ext cx="8185150" cy="1006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7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3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ts val="6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ts val="5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fr-CA" altLang="fr-FR" sz="2000" dirty="0">
                <a:solidFill>
                  <a:schemeClr val="tx1"/>
                </a:solidFill>
                <a:latin typeface="Times New Roman" panose="02020603050405020304" pitchFamily="18" charset="0"/>
              </a:rPr>
              <a:t>Trouver les nouveaux poids du réseau de la figure ci-dessous si on présente le vecteur d’apprentissage (-1,1) et on utilise une sigmoïde bipolaire comme fonction d’activation</a:t>
            </a:r>
            <a:endParaRPr lang="en-CA" altLang="fr-FR" sz="2000" dirty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70660" name="Rectangle 4">
            <a:extLst>
              <a:ext uri="{FF2B5EF4-FFF2-40B4-BE49-F238E27FC236}">
                <a16:creationId xmlns:a16="http://schemas.microsoft.com/office/drawing/2014/main" id="{B340F6B8-C33F-48BE-ADE9-93B63061395A}"/>
              </a:ext>
            </a:extLst>
          </p:cNvPr>
          <p:cNvSpPr>
            <a:spLocks noChangeArrowheads="1"/>
          </p:cNvSpPr>
          <p:nvPr/>
        </p:nvSpPr>
        <p:spPr bwMode="auto">
          <a:xfrm rot="16200000">
            <a:off x="2051844" y="3090069"/>
            <a:ext cx="3951288" cy="3352800"/>
          </a:xfrm>
          <a:prstGeom prst="rect">
            <a:avLst/>
          </a:prstGeom>
          <a:solidFill>
            <a:srgbClr val="E2E2E2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ts val="7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3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ts val="6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ts val="5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fr-FR" altLang="fr-FR" sz="1800">
              <a:latin typeface="Times New Roman" panose="02020603050405020304" pitchFamily="18" charset="0"/>
            </a:endParaRPr>
          </a:p>
        </p:txBody>
      </p:sp>
      <p:sp>
        <p:nvSpPr>
          <p:cNvPr id="70661" name="Oval 5">
            <a:extLst>
              <a:ext uri="{FF2B5EF4-FFF2-40B4-BE49-F238E27FC236}">
                <a16:creationId xmlns:a16="http://schemas.microsoft.com/office/drawing/2014/main" id="{5BDA865A-9C70-4FC6-8A70-F7E71305B2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32264" y="4073526"/>
            <a:ext cx="573087" cy="588963"/>
          </a:xfrm>
          <a:prstGeom prst="ellipse">
            <a:avLst/>
          </a:prstGeom>
          <a:solidFill>
            <a:srgbClr val="E2E2E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ts val="7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3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ts val="6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ts val="5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fr-CA" altLang="fr-FR" sz="1800" b="1">
                <a:solidFill>
                  <a:schemeClr val="tx1"/>
                </a:solidFill>
                <a:latin typeface="Times New Roman" panose="02020603050405020304" pitchFamily="18" charset="0"/>
              </a:rPr>
              <a:t>Z</a:t>
            </a:r>
            <a:r>
              <a:rPr lang="fr-CA" altLang="fr-FR" sz="1600" b="1" baseline="-25000">
                <a:solidFill>
                  <a:schemeClr val="tx1"/>
                </a:solidFill>
                <a:latin typeface="Times New Roman" panose="02020603050405020304" pitchFamily="18" charset="0"/>
              </a:rPr>
              <a:t>2</a:t>
            </a:r>
            <a:endParaRPr lang="en-US" altLang="fr-FR" sz="1800" b="1" baseline="-250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70662" name="Oval 6">
            <a:extLst>
              <a:ext uri="{FF2B5EF4-FFF2-40B4-BE49-F238E27FC236}">
                <a16:creationId xmlns:a16="http://schemas.microsoft.com/office/drawing/2014/main" id="{606F2995-1FCC-448B-B219-A2669EB065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55963" y="4105275"/>
            <a:ext cx="576262" cy="585788"/>
          </a:xfrm>
          <a:prstGeom prst="ellipse">
            <a:avLst/>
          </a:prstGeom>
          <a:solidFill>
            <a:srgbClr val="E2E2E2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>
            <a:lvl1pPr>
              <a:spcBef>
                <a:spcPts val="7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3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ts val="6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ts val="5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fr-CA" altLang="fr-FR" sz="1800" b="1">
                <a:solidFill>
                  <a:schemeClr val="tx1"/>
                </a:solidFill>
                <a:latin typeface="Times New Roman" panose="02020603050405020304" pitchFamily="18" charset="0"/>
              </a:rPr>
              <a:t>Z</a:t>
            </a:r>
            <a:r>
              <a:rPr lang="fr-CA" altLang="fr-FR" sz="1600" b="1" baseline="-25000">
                <a:solidFill>
                  <a:schemeClr val="tx1"/>
                </a:solidFill>
                <a:latin typeface="Times New Roman" panose="02020603050405020304" pitchFamily="18" charset="0"/>
              </a:rPr>
              <a:t>1</a:t>
            </a:r>
            <a:endParaRPr lang="en-US" altLang="fr-FR" sz="1800" b="1" baseline="-250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70663" name="Oval 7">
            <a:extLst>
              <a:ext uri="{FF2B5EF4-FFF2-40B4-BE49-F238E27FC236}">
                <a16:creationId xmlns:a16="http://schemas.microsoft.com/office/drawing/2014/main" id="{B66CF676-E8D3-4458-80B3-42857445DA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94125" y="2884489"/>
            <a:ext cx="477838" cy="490537"/>
          </a:xfrm>
          <a:prstGeom prst="ellipse">
            <a:avLst/>
          </a:prstGeom>
          <a:solidFill>
            <a:srgbClr val="E2E2E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ts val="7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3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ts val="6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ts val="5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fr-FR" sz="1800" b="1">
                <a:solidFill>
                  <a:schemeClr val="tx1"/>
                </a:solidFill>
                <a:latin typeface="Times New Roman" panose="02020603050405020304" pitchFamily="18" charset="0"/>
              </a:rPr>
              <a:t>Y</a:t>
            </a:r>
          </a:p>
        </p:txBody>
      </p:sp>
      <p:sp>
        <p:nvSpPr>
          <p:cNvPr id="70664" name="Oval 8">
            <a:extLst>
              <a:ext uri="{FF2B5EF4-FFF2-40B4-BE49-F238E27FC236}">
                <a16:creationId xmlns:a16="http://schemas.microsoft.com/office/drawing/2014/main" id="{9D00C8F2-A65A-4C5E-87ED-91FA5AE3D5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14850" y="5649914"/>
            <a:ext cx="585788" cy="585787"/>
          </a:xfrm>
          <a:prstGeom prst="ellipse">
            <a:avLst/>
          </a:prstGeom>
          <a:solidFill>
            <a:srgbClr val="E2E2E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ts val="7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3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ts val="6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ts val="5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fr-CA" altLang="fr-FR" sz="1800" b="1">
                <a:solidFill>
                  <a:schemeClr val="tx1"/>
                </a:solidFill>
                <a:latin typeface="Times New Roman" panose="02020603050405020304" pitchFamily="18" charset="0"/>
              </a:rPr>
              <a:t>X</a:t>
            </a:r>
            <a:r>
              <a:rPr lang="fr-CA" altLang="fr-FR" sz="1400" b="1" baseline="-25000">
                <a:solidFill>
                  <a:schemeClr val="tx1"/>
                </a:solidFill>
                <a:latin typeface="Times New Roman" panose="02020603050405020304" pitchFamily="18" charset="0"/>
              </a:rPr>
              <a:t>2</a:t>
            </a:r>
            <a:endParaRPr lang="en-US" altLang="fr-FR" sz="1800" b="1" baseline="-250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70665" name="Oval 9">
            <a:extLst>
              <a:ext uri="{FF2B5EF4-FFF2-40B4-BE49-F238E27FC236}">
                <a16:creationId xmlns:a16="http://schemas.microsoft.com/office/drawing/2014/main" id="{2454A2D0-86BD-4869-9AB0-4A5C520077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55925" y="5649914"/>
            <a:ext cx="585788" cy="585787"/>
          </a:xfrm>
          <a:prstGeom prst="ellipse">
            <a:avLst/>
          </a:prstGeom>
          <a:solidFill>
            <a:srgbClr val="E2E2E2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>
            <a:lvl1pPr>
              <a:spcBef>
                <a:spcPts val="7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3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ts val="6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ts val="5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fr-CA" altLang="fr-FR" sz="1800" b="1">
                <a:solidFill>
                  <a:schemeClr val="tx1"/>
                </a:solidFill>
                <a:latin typeface="Times New Roman" panose="02020603050405020304" pitchFamily="18" charset="0"/>
              </a:rPr>
              <a:t>X</a:t>
            </a:r>
            <a:r>
              <a:rPr lang="fr-CA" altLang="fr-FR" sz="1400" b="1" baseline="-25000">
                <a:solidFill>
                  <a:schemeClr val="tx1"/>
                </a:solidFill>
                <a:latin typeface="Times New Roman" panose="02020603050405020304" pitchFamily="18" charset="0"/>
              </a:rPr>
              <a:t>1</a:t>
            </a:r>
            <a:endParaRPr lang="en-US" altLang="fr-FR" sz="1800" b="1" baseline="-250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cxnSp>
        <p:nvCxnSpPr>
          <p:cNvPr id="70666" name="AutoShape 10">
            <a:extLst>
              <a:ext uri="{FF2B5EF4-FFF2-40B4-BE49-F238E27FC236}">
                <a16:creationId xmlns:a16="http://schemas.microsoft.com/office/drawing/2014/main" id="{8F01786F-4F77-413D-BB2A-92B7FCDA7C1E}"/>
              </a:ext>
            </a:extLst>
          </p:cNvPr>
          <p:cNvCxnSpPr>
            <a:cxnSpLocks noChangeShapeType="1"/>
            <a:stCxn id="70665" idx="0"/>
            <a:endCxn id="70662" idx="4"/>
          </p:cNvCxnSpPr>
          <p:nvPr/>
        </p:nvCxnSpPr>
        <p:spPr bwMode="auto">
          <a:xfrm flipV="1">
            <a:off x="3249614" y="4691063"/>
            <a:ext cx="295275" cy="95885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70667" name="AutoShape 11">
            <a:extLst>
              <a:ext uri="{FF2B5EF4-FFF2-40B4-BE49-F238E27FC236}">
                <a16:creationId xmlns:a16="http://schemas.microsoft.com/office/drawing/2014/main" id="{D877BBC8-72BE-4FEF-86F5-9F0C111610BC}"/>
              </a:ext>
            </a:extLst>
          </p:cNvPr>
          <p:cNvCxnSpPr>
            <a:cxnSpLocks noChangeShapeType="1"/>
            <a:stCxn id="70665" idx="7"/>
            <a:endCxn id="70661" idx="3"/>
          </p:cNvCxnSpPr>
          <p:nvPr/>
        </p:nvCxnSpPr>
        <p:spPr bwMode="auto">
          <a:xfrm flipV="1">
            <a:off x="3455988" y="4576764"/>
            <a:ext cx="760412" cy="1158875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70668" name="AutoShape 12">
            <a:extLst>
              <a:ext uri="{FF2B5EF4-FFF2-40B4-BE49-F238E27FC236}">
                <a16:creationId xmlns:a16="http://schemas.microsoft.com/office/drawing/2014/main" id="{A5525B45-2967-4E77-86D7-E37B86C0E826}"/>
              </a:ext>
            </a:extLst>
          </p:cNvPr>
          <p:cNvCxnSpPr>
            <a:cxnSpLocks noChangeShapeType="1"/>
            <a:stCxn id="70662" idx="0"/>
            <a:endCxn id="70663" idx="3"/>
          </p:cNvCxnSpPr>
          <p:nvPr/>
        </p:nvCxnSpPr>
        <p:spPr bwMode="auto">
          <a:xfrm flipV="1">
            <a:off x="3544889" y="3303589"/>
            <a:ext cx="319087" cy="801687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70669" name="AutoShape 13">
            <a:extLst>
              <a:ext uri="{FF2B5EF4-FFF2-40B4-BE49-F238E27FC236}">
                <a16:creationId xmlns:a16="http://schemas.microsoft.com/office/drawing/2014/main" id="{2BA12C63-820F-484D-810E-07639EFB7504}"/>
              </a:ext>
            </a:extLst>
          </p:cNvPr>
          <p:cNvCxnSpPr>
            <a:cxnSpLocks noChangeShapeType="1"/>
            <a:stCxn id="70661" idx="0"/>
            <a:endCxn id="70663" idx="5"/>
          </p:cNvCxnSpPr>
          <p:nvPr/>
        </p:nvCxnSpPr>
        <p:spPr bwMode="auto">
          <a:xfrm flipH="1" flipV="1">
            <a:off x="4202114" y="3303589"/>
            <a:ext cx="217487" cy="769937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70670" name="AutoShape 14">
            <a:extLst>
              <a:ext uri="{FF2B5EF4-FFF2-40B4-BE49-F238E27FC236}">
                <a16:creationId xmlns:a16="http://schemas.microsoft.com/office/drawing/2014/main" id="{1A860B5C-C946-4413-8249-29604FEB572C}"/>
              </a:ext>
            </a:extLst>
          </p:cNvPr>
          <p:cNvCxnSpPr>
            <a:cxnSpLocks noChangeShapeType="1"/>
            <a:stCxn id="70664" idx="1"/>
            <a:endCxn id="70662" idx="5"/>
          </p:cNvCxnSpPr>
          <p:nvPr/>
        </p:nvCxnSpPr>
        <p:spPr bwMode="auto">
          <a:xfrm flipH="1" flipV="1">
            <a:off x="3748089" y="4605338"/>
            <a:ext cx="852487" cy="113030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70671" name="AutoShape 15">
            <a:extLst>
              <a:ext uri="{FF2B5EF4-FFF2-40B4-BE49-F238E27FC236}">
                <a16:creationId xmlns:a16="http://schemas.microsoft.com/office/drawing/2014/main" id="{9A41E11F-2246-4EB2-B23C-6270EA1A23F4}"/>
              </a:ext>
            </a:extLst>
          </p:cNvPr>
          <p:cNvCxnSpPr>
            <a:cxnSpLocks noChangeShapeType="1"/>
            <a:stCxn id="70664" idx="0"/>
            <a:endCxn id="70661" idx="4"/>
          </p:cNvCxnSpPr>
          <p:nvPr/>
        </p:nvCxnSpPr>
        <p:spPr bwMode="auto">
          <a:xfrm flipH="1" flipV="1">
            <a:off x="4419600" y="4662489"/>
            <a:ext cx="388938" cy="987425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70672" name="Oval 16">
            <a:extLst>
              <a:ext uri="{FF2B5EF4-FFF2-40B4-BE49-F238E27FC236}">
                <a16:creationId xmlns:a16="http://schemas.microsoft.com/office/drawing/2014/main" id="{A6E11FE2-17D4-4F96-8918-11728A5797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11764" y="5214939"/>
            <a:ext cx="236537" cy="236537"/>
          </a:xfrm>
          <a:prstGeom prst="ellipse">
            <a:avLst/>
          </a:prstGeom>
          <a:solidFill>
            <a:srgbClr val="E2E2E2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ts val="7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3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ts val="6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ts val="5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fr-CA" altLang="fr-FR" sz="1800">
                <a:solidFill>
                  <a:schemeClr val="tx1"/>
                </a:solidFill>
                <a:latin typeface="Times New Roman" panose="02020603050405020304" pitchFamily="18" charset="0"/>
              </a:rPr>
              <a:t>1</a:t>
            </a:r>
            <a:endParaRPr lang="en-CA" altLang="fr-FR" sz="18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70673" name="Oval 17">
            <a:extLst>
              <a:ext uri="{FF2B5EF4-FFF2-40B4-BE49-F238E27FC236}">
                <a16:creationId xmlns:a16="http://schemas.microsoft.com/office/drawing/2014/main" id="{77179D7F-626E-4DD5-AEEE-5C7604021F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35239" y="5214939"/>
            <a:ext cx="236537" cy="236537"/>
          </a:xfrm>
          <a:prstGeom prst="ellipse">
            <a:avLst/>
          </a:prstGeom>
          <a:solidFill>
            <a:srgbClr val="E2E2E2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ts val="7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3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ts val="6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ts val="5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fr-CA" altLang="fr-FR" sz="1800">
                <a:solidFill>
                  <a:schemeClr val="tx1"/>
                </a:solidFill>
                <a:latin typeface="Times New Roman" panose="02020603050405020304" pitchFamily="18" charset="0"/>
              </a:rPr>
              <a:t>1</a:t>
            </a:r>
            <a:endParaRPr lang="en-CA" altLang="fr-FR" sz="18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70674" name="Oval 18">
            <a:extLst>
              <a:ext uri="{FF2B5EF4-FFF2-40B4-BE49-F238E27FC236}">
                <a16:creationId xmlns:a16="http://schemas.microsoft.com/office/drawing/2014/main" id="{BD14309C-18B9-4091-A2B6-A193E6E5C3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27350" y="3665539"/>
            <a:ext cx="236538" cy="236537"/>
          </a:xfrm>
          <a:prstGeom prst="ellipse">
            <a:avLst/>
          </a:prstGeom>
          <a:solidFill>
            <a:srgbClr val="E2E2E2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ts val="7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3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ts val="6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ts val="5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fr-CA" altLang="fr-FR" sz="1800">
                <a:solidFill>
                  <a:schemeClr val="tx1"/>
                </a:solidFill>
                <a:latin typeface="Times New Roman" panose="02020603050405020304" pitchFamily="18" charset="0"/>
              </a:rPr>
              <a:t>1</a:t>
            </a:r>
            <a:endParaRPr lang="en-CA" altLang="fr-FR" sz="18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cxnSp>
        <p:nvCxnSpPr>
          <p:cNvPr id="70675" name="AutoShape 19">
            <a:extLst>
              <a:ext uri="{FF2B5EF4-FFF2-40B4-BE49-F238E27FC236}">
                <a16:creationId xmlns:a16="http://schemas.microsoft.com/office/drawing/2014/main" id="{ACF63A63-D1A5-40BE-B94E-65A677A6393A}"/>
              </a:ext>
            </a:extLst>
          </p:cNvPr>
          <p:cNvCxnSpPr>
            <a:cxnSpLocks noChangeShapeType="1"/>
            <a:stCxn id="70672" idx="0"/>
            <a:endCxn id="70661" idx="6"/>
          </p:cNvCxnSpPr>
          <p:nvPr/>
        </p:nvCxnSpPr>
        <p:spPr bwMode="auto">
          <a:xfrm rot="5400000" flipH="1">
            <a:off x="4595019" y="4479132"/>
            <a:ext cx="846138" cy="625475"/>
          </a:xfrm>
          <a:prstGeom prst="curvedConnector2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70676" name="AutoShape 20">
            <a:extLst>
              <a:ext uri="{FF2B5EF4-FFF2-40B4-BE49-F238E27FC236}">
                <a16:creationId xmlns:a16="http://schemas.microsoft.com/office/drawing/2014/main" id="{E88E4B0D-3520-4201-9C77-14B071266224}"/>
              </a:ext>
            </a:extLst>
          </p:cNvPr>
          <p:cNvCxnSpPr>
            <a:cxnSpLocks noChangeShapeType="1"/>
            <a:stCxn id="70674" idx="0"/>
            <a:endCxn id="70663" idx="2"/>
          </p:cNvCxnSpPr>
          <p:nvPr/>
        </p:nvCxnSpPr>
        <p:spPr bwMode="auto">
          <a:xfrm rot="16200000">
            <a:off x="3152775" y="3024188"/>
            <a:ext cx="534988" cy="747712"/>
          </a:xfrm>
          <a:prstGeom prst="curvedConnector2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70677" name="Rectangle 21">
            <a:extLst>
              <a:ext uri="{FF2B5EF4-FFF2-40B4-BE49-F238E27FC236}">
                <a16:creationId xmlns:a16="http://schemas.microsoft.com/office/drawing/2014/main" id="{1387C7BF-187C-4790-BAEF-CBB6B73DA7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713" y="3627439"/>
            <a:ext cx="374650" cy="274637"/>
          </a:xfrm>
          <a:prstGeom prst="rect">
            <a:avLst/>
          </a:prstGeom>
          <a:solidFill>
            <a:srgbClr val="E2E2E2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7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3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ts val="6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ts val="5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fr-CA" altLang="fr-FR" sz="1200">
                <a:solidFill>
                  <a:schemeClr val="tx1"/>
                </a:solidFill>
                <a:latin typeface="Times New Roman" panose="02020603050405020304" pitchFamily="18" charset="0"/>
              </a:rPr>
              <a:t>0.5</a:t>
            </a:r>
            <a:endParaRPr lang="en-CA" altLang="fr-FR" sz="1200" baseline="-250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70678" name="Rectangle 22">
            <a:extLst>
              <a:ext uri="{FF2B5EF4-FFF2-40B4-BE49-F238E27FC236}">
                <a16:creationId xmlns:a16="http://schemas.microsoft.com/office/drawing/2014/main" id="{2912E14D-6DA1-4CCC-B86F-B8247564E7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49613" y="4900614"/>
            <a:ext cx="374650" cy="274637"/>
          </a:xfrm>
          <a:prstGeom prst="rect">
            <a:avLst/>
          </a:prstGeom>
          <a:solidFill>
            <a:srgbClr val="E2E2E2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7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3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ts val="6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ts val="5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fr-CA" altLang="fr-FR" sz="1200">
                <a:solidFill>
                  <a:schemeClr val="tx1"/>
                </a:solidFill>
                <a:latin typeface="Times New Roman" panose="02020603050405020304" pitchFamily="18" charset="0"/>
              </a:rPr>
              <a:t>0.7</a:t>
            </a:r>
            <a:endParaRPr lang="en-CA" altLang="fr-FR" sz="1200" baseline="-250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70679" name="Rectangle 23">
            <a:extLst>
              <a:ext uri="{FF2B5EF4-FFF2-40B4-BE49-F238E27FC236}">
                <a16:creationId xmlns:a16="http://schemas.microsoft.com/office/drawing/2014/main" id="{4CBE4EDA-562B-41B2-ADBF-EBA1FF4FF3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65525" y="5175250"/>
            <a:ext cx="425450" cy="274638"/>
          </a:xfrm>
          <a:prstGeom prst="rect">
            <a:avLst/>
          </a:prstGeom>
          <a:solidFill>
            <a:srgbClr val="E2E2E2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7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3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ts val="6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ts val="5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fr-CA" altLang="fr-FR" sz="1200">
                <a:solidFill>
                  <a:schemeClr val="tx1"/>
                </a:solidFill>
                <a:latin typeface="Times New Roman" panose="02020603050405020304" pitchFamily="18" charset="0"/>
              </a:rPr>
              <a:t>-0.4</a:t>
            </a:r>
            <a:endParaRPr lang="en-CA" altLang="fr-FR" sz="1200" baseline="-250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70680" name="Rectangle 24">
            <a:extLst>
              <a:ext uri="{FF2B5EF4-FFF2-40B4-BE49-F238E27FC236}">
                <a16:creationId xmlns:a16="http://schemas.microsoft.com/office/drawing/2014/main" id="{8D256762-7E48-4B53-9C88-6B8BDC0B91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73525" y="5156200"/>
            <a:ext cx="425450" cy="274638"/>
          </a:xfrm>
          <a:prstGeom prst="rect">
            <a:avLst/>
          </a:prstGeom>
          <a:solidFill>
            <a:srgbClr val="E2E2E2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7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3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ts val="6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ts val="5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fr-CA" altLang="fr-FR" sz="1200">
                <a:solidFill>
                  <a:schemeClr val="tx1"/>
                </a:solidFill>
                <a:latin typeface="Times New Roman" panose="02020603050405020304" pitchFamily="18" charset="0"/>
              </a:rPr>
              <a:t>-0.2</a:t>
            </a:r>
            <a:endParaRPr lang="en-CA" altLang="fr-FR" sz="1200" baseline="-250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70681" name="Rectangle 25">
            <a:extLst>
              <a:ext uri="{FF2B5EF4-FFF2-40B4-BE49-F238E27FC236}">
                <a16:creationId xmlns:a16="http://schemas.microsoft.com/office/drawing/2014/main" id="{688566B4-6105-41A2-8BD3-2229E300DC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9600" y="4900614"/>
            <a:ext cx="374650" cy="274637"/>
          </a:xfrm>
          <a:prstGeom prst="rect">
            <a:avLst/>
          </a:prstGeom>
          <a:solidFill>
            <a:srgbClr val="E2E2E2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7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3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ts val="6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ts val="5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fr-CA" altLang="fr-FR" sz="1200">
                <a:solidFill>
                  <a:schemeClr val="tx1"/>
                </a:solidFill>
                <a:latin typeface="Times New Roman" panose="02020603050405020304" pitchFamily="18" charset="0"/>
              </a:rPr>
              <a:t>0.3</a:t>
            </a:r>
            <a:endParaRPr lang="en-CA" altLang="fr-FR" sz="1200" baseline="-250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70682" name="Rectangle 26">
            <a:extLst>
              <a:ext uri="{FF2B5EF4-FFF2-40B4-BE49-F238E27FC236}">
                <a16:creationId xmlns:a16="http://schemas.microsoft.com/office/drawing/2014/main" id="{78817055-F40E-461A-9F61-3831955F08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03700" y="3627439"/>
            <a:ext cx="374650" cy="274637"/>
          </a:xfrm>
          <a:prstGeom prst="rect">
            <a:avLst/>
          </a:prstGeom>
          <a:solidFill>
            <a:srgbClr val="E2E2E2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7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3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ts val="6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ts val="5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fr-CA" altLang="fr-FR" sz="1200">
                <a:solidFill>
                  <a:schemeClr val="tx1"/>
                </a:solidFill>
                <a:latin typeface="Times New Roman" panose="02020603050405020304" pitchFamily="18" charset="0"/>
              </a:rPr>
              <a:t>0.1</a:t>
            </a:r>
            <a:endParaRPr lang="en-CA" altLang="fr-FR" sz="1200" baseline="-250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70683" name="Rectangle 27">
            <a:extLst>
              <a:ext uri="{FF2B5EF4-FFF2-40B4-BE49-F238E27FC236}">
                <a16:creationId xmlns:a16="http://schemas.microsoft.com/office/drawing/2014/main" id="{A663B46D-3F8A-4D66-B0EC-DDFCF8A752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63888" y="3165475"/>
            <a:ext cx="425450" cy="274638"/>
          </a:xfrm>
          <a:prstGeom prst="rect">
            <a:avLst/>
          </a:prstGeom>
          <a:solidFill>
            <a:srgbClr val="E2E2E2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7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3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ts val="6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ts val="5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fr-CA" altLang="fr-FR" sz="1200">
                <a:solidFill>
                  <a:schemeClr val="tx1"/>
                </a:solidFill>
                <a:latin typeface="Times New Roman" panose="02020603050405020304" pitchFamily="18" charset="0"/>
              </a:rPr>
              <a:t>-0.3</a:t>
            </a:r>
            <a:endParaRPr lang="en-CA" altLang="fr-FR" sz="1200" baseline="-250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70684" name="Rectangle 28">
            <a:extLst>
              <a:ext uri="{FF2B5EF4-FFF2-40B4-BE49-F238E27FC236}">
                <a16:creationId xmlns:a16="http://schemas.microsoft.com/office/drawing/2014/main" id="{4CDF444D-0C8D-4FCC-A878-EE05E79C99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56188" y="4662489"/>
            <a:ext cx="374650" cy="274637"/>
          </a:xfrm>
          <a:prstGeom prst="rect">
            <a:avLst/>
          </a:prstGeom>
          <a:solidFill>
            <a:srgbClr val="E2E2E2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7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3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ts val="6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ts val="5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fr-CA" altLang="fr-FR" sz="1200">
                <a:solidFill>
                  <a:schemeClr val="tx1"/>
                </a:solidFill>
                <a:latin typeface="Times New Roman" panose="02020603050405020304" pitchFamily="18" charset="0"/>
              </a:rPr>
              <a:t>0.6</a:t>
            </a:r>
            <a:endParaRPr lang="en-CA" altLang="fr-FR" sz="1200" baseline="-250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cxnSp>
        <p:nvCxnSpPr>
          <p:cNvPr id="70685" name="AutoShape 29">
            <a:extLst>
              <a:ext uri="{FF2B5EF4-FFF2-40B4-BE49-F238E27FC236}">
                <a16:creationId xmlns:a16="http://schemas.microsoft.com/office/drawing/2014/main" id="{6F13DFD9-8F6A-4DC0-92B2-CCEEBC44661D}"/>
              </a:ext>
            </a:extLst>
          </p:cNvPr>
          <p:cNvCxnSpPr>
            <a:cxnSpLocks noChangeShapeType="1"/>
            <a:stCxn id="70673" idx="0"/>
            <a:endCxn id="70662" idx="2"/>
          </p:cNvCxnSpPr>
          <p:nvPr/>
        </p:nvCxnSpPr>
        <p:spPr bwMode="auto">
          <a:xfrm rot="16200000">
            <a:off x="2547145" y="4506120"/>
            <a:ext cx="815975" cy="601663"/>
          </a:xfrm>
          <a:prstGeom prst="curvedConnector2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70686" name="Rectangle 30">
            <a:extLst>
              <a:ext uri="{FF2B5EF4-FFF2-40B4-BE49-F238E27FC236}">
                <a16:creationId xmlns:a16="http://schemas.microsoft.com/office/drawing/2014/main" id="{1260136F-DF68-4E1D-9DAB-99D0E98D94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16200" y="4625975"/>
            <a:ext cx="374650" cy="274638"/>
          </a:xfrm>
          <a:prstGeom prst="rect">
            <a:avLst/>
          </a:prstGeom>
          <a:solidFill>
            <a:srgbClr val="E2E2E2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7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3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ts val="6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ts val="5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fr-CA" altLang="fr-FR" sz="1200">
                <a:solidFill>
                  <a:schemeClr val="tx1"/>
                </a:solidFill>
                <a:latin typeface="Times New Roman" panose="02020603050405020304" pitchFamily="18" charset="0"/>
              </a:rPr>
              <a:t>0.4</a:t>
            </a:r>
            <a:endParaRPr lang="en-CA" altLang="fr-FR" sz="1200" baseline="-250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70687" name="Text Box 31">
            <a:extLst>
              <a:ext uri="{FF2B5EF4-FFF2-40B4-BE49-F238E27FC236}">
                <a16:creationId xmlns:a16="http://schemas.microsoft.com/office/drawing/2014/main" id="{FC7E7C5B-8A4F-482E-8FE3-68138F043B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40464" y="2151063"/>
            <a:ext cx="3825875" cy="2062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7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3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ts val="6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ts val="5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fr-CA" altLang="fr-FR" sz="2000" b="1">
                <a:solidFill>
                  <a:schemeClr val="tx1"/>
                </a:solidFill>
                <a:latin typeface="Times New Roman" panose="02020603050405020304" pitchFamily="18" charset="0"/>
              </a:rPr>
              <a:t>Seuls changent la dérivée de la fonction d’activation bipolaire et la mise à jour des poids entre l’entrée et la couche cachée. 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fr-CA" altLang="fr-FR" sz="2400">
              <a:solidFill>
                <a:schemeClr val="tx1"/>
              </a:solidFill>
              <a:latin typeface="Times New Roman" panose="02020603050405020304" pitchFamily="18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CA" altLang="fr-FR" sz="24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70688" name="Group 32">
            <a:extLst>
              <a:ext uri="{FF2B5EF4-FFF2-40B4-BE49-F238E27FC236}">
                <a16:creationId xmlns:a16="http://schemas.microsoft.com/office/drawing/2014/main" id="{30317FF7-0936-4D2A-9604-A7968A89FCAB}"/>
              </a:ext>
            </a:extLst>
          </p:cNvPr>
          <p:cNvGrpSpPr>
            <a:grpSpLocks/>
          </p:cNvGrpSpPr>
          <p:nvPr/>
        </p:nvGrpSpPr>
        <p:grpSpPr bwMode="auto">
          <a:xfrm>
            <a:off x="1524001" y="44451"/>
            <a:ext cx="9142413" cy="365125"/>
            <a:chOff x="0" y="28"/>
            <a:chExt cx="5759" cy="230"/>
          </a:xfrm>
        </p:grpSpPr>
        <p:sp>
          <p:nvSpPr>
            <p:cNvPr id="70691" name="AutoShape 33">
              <a:extLst>
                <a:ext uri="{FF2B5EF4-FFF2-40B4-BE49-F238E27FC236}">
                  <a16:creationId xmlns:a16="http://schemas.microsoft.com/office/drawing/2014/main" id="{E3202D25-D564-4C34-9AD3-6FF1D0710BC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28"/>
              <a:ext cx="5760" cy="231"/>
            </a:xfrm>
            <a:prstGeom prst="roundRect">
              <a:avLst>
                <a:gd name="adj" fmla="val 431"/>
              </a:avLst>
            </a:prstGeom>
            <a:solidFill>
              <a:srgbClr val="3366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ts val="788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•"/>
                <a:defRPr sz="32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ts val="688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–"/>
                <a:defRPr sz="28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ts val="588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•"/>
                <a:defRPr sz="2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ts val="488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–"/>
                <a:defRPr sz="20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ts val="488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ts val="488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ts val="488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ts val="488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ts val="488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fr-FR" altLang="fr-FR" sz="1800">
                <a:latin typeface="Times New Roman" panose="02020603050405020304" pitchFamily="18" charset="0"/>
              </a:endParaRPr>
            </a:p>
          </p:txBody>
        </p:sp>
        <p:sp>
          <p:nvSpPr>
            <p:cNvPr id="70692" name="Text Box 34">
              <a:extLst>
                <a:ext uri="{FF2B5EF4-FFF2-40B4-BE49-F238E27FC236}">
                  <a16:creationId xmlns:a16="http://schemas.microsoft.com/office/drawing/2014/main" id="{45CBF219-452D-445C-B0E8-4C5ECE3202A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0" y="28"/>
              <a:ext cx="576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000" tIns="46800" rIns="90000" bIns="46800">
              <a:spAutoFit/>
            </a:bodyPr>
            <a:lstStyle>
              <a:lvl1pPr>
                <a:spcBef>
                  <a:spcPts val="788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•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32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ts val="688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–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8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ts val="588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•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ts val="488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–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ts val="488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ts val="488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ts val="488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ts val="488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ts val="488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96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r>
                <a:rPr lang="en-GB" altLang="fr-FR" sz="1800">
                  <a:solidFill>
                    <a:schemeClr val="tx1"/>
                  </a:solidFill>
                </a:rPr>
                <a:t>Intelligence Artificielle 		Apprentissage			</a:t>
              </a:r>
            </a:p>
          </p:txBody>
        </p:sp>
      </p:grpSp>
      <p:pic>
        <p:nvPicPr>
          <p:cNvPr id="70689" name="Picture 35">
            <a:extLst>
              <a:ext uri="{FF2B5EF4-FFF2-40B4-BE49-F238E27FC236}">
                <a16:creationId xmlns:a16="http://schemas.microsoft.com/office/drawing/2014/main" id="{6830C82D-0AA2-4C2D-AD44-5B2B283149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10338" y="3783014"/>
            <a:ext cx="3833812" cy="1000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0690" name="Rectangle 2">
            <a:extLst>
              <a:ext uri="{FF2B5EF4-FFF2-40B4-BE49-F238E27FC236}">
                <a16:creationId xmlns:a16="http://schemas.microsoft.com/office/drawing/2014/main" id="{AE689119-7A14-4D20-91F9-2943E17CB5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10338" y="4679950"/>
            <a:ext cx="28257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7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3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ts val="6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ts val="5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fr-FR" altLang="fr-FR" sz="1800" i="1">
                <a:latin typeface="Times New Roman" panose="02020603050405020304" pitchFamily="18" charset="0"/>
              </a:rPr>
              <a:t>f </a:t>
            </a:r>
            <a:r>
              <a:rPr lang="fr-FR" altLang="fr-FR" sz="1800">
                <a:latin typeface="Times New Roman" panose="02020603050405020304" pitchFamily="18" charset="0"/>
              </a:rPr>
              <a:t>ʹ( </a:t>
            </a:r>
            <a:r>
              <a:rPr lang="fr-FR" altLang="fr-FR" sz="1800" i="1">
                <a:latin typeface="Times New Roman" panose="02020603050405020304" pitchFamily="18" charset="0"/>
              </a:rPr>
              <a:t>a</a:t>
            </a:r>
            <a:r>
              <a:rPr lang="fr-FR" altLang="fr-FR" sz="1800">
                <a:latin typeface="Times New Roman" panose="02020603050405020304" pitchFamily="18" charset="0"/>
              </a:rPr>
              <a:t>) =1/2*(1+ </a:t>
            </a:r>
            <a:r>
              <a:rPr lang="fr-FR" altLang="fr-FR" sz="1800" i="1">
                <a:latin typeface="Times New Roman" panose="02020603050405020304" pitchFamily="18" charset="0"/>
              </a:rPr>
              <a:t>y</a:t>
            </a:r>
            <a:r>
              <a:rPr lang="fr-FR" altLang="fr-FR" sz="1800">
                <a:latin typeface="Times New Roman" panose="02020603050405020304" pitchFamily="18" charset="0"/>
              </a:rPr>
              <a:t>)(1− </a:t>
            </a:r>
            <a:r>
              <a:rPr lang="fr-FR" altLang="fr-FR" sz="1800" i="1">
                <a:latin typeface="Times New Roman" panose="02020603050405020304" pitchFamily="18" charset="0"/>
              </a:rPr>
              <a:t>y</a:t>
            </a:r>
            <a:r>
              <a:rPr lang="fr-FR" altLang="fr-FR" sz="1800">
                <a:latin typeface="Times New Roman" panose="02020603050405020304" pitchFamily="18" charset="0"/>
              </a:rPr>
              <a:t>)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BC98160-231A-40CF-B2D4-64EC029839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06AE51-5606-4246-9C72-66A40F31299F}" type="slidenum">
              <a:rPr lang="fr-FR" smtClean="0"/>
              <a:pPr/>
              <a:t>40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3376089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06AE51-5606-4246-9C72-66A40F31299F}" type="slidenum">
              <a:rPr lang="fr-FR" smtClean="0"/>
              <a:pPr/>
              <a:t>41</a:t>
            </a:fld>
            <a:endParaRPr lang="fr-FR"/>
          </a:p>
        </p:txBody>
      </p:sp>
      <p:pic>
        <p:nvPicPr>
          <p:cNvPr id="2150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61208" y="1228776"/>
            <a:ext cx="10089573" cy="45928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Rectangle 3"/>
          <p:cNvSpPr/>
          <p:nvPr/>
        </p:nvSpPr>
        <p:spPr>
          <a:xfrm>
            <a:off x="883227" y="0"/>
            <a:ext cx="10837718" cy="910797"/>
          </a:xfrm>
          <a:prstGeom prst="rect">
            <a:avLst/>
          </a:prstGeom>
          <a:solidFill>
            <a:srgbClr val="3366FF"/>
          </a:solidFill>
          <a:ln>
            <a:noFill/>
          </a:ln>
        </p:spPr>
        <p:txBody>
          <a:bodyPr vert="horz" wrap="none" lIns="91440" tIns="45720" rIns="91440" bIns="45720" rtlCol="0" anchor="ctr">
            <a:normAutofit/>
          </a:bodyPr>
          <a:lstStyle/>
          <a:p>
            <a:pPr algn="ctr">
              <a:spcBef>
                <a:spcPct val="0"/>
              </a:spcBef>
            </a:pPr>
            <a:r>
              <a:rPr lang="fr-FR" sz="3200" dirty="0">
                <a:latin typeface="+mj-lt"/>
                <a:ea typeface="+mj-ea"/>
                <a:cs typeface="+mj-cs"/>
              </a:rPr>
              <a:t>Avantages et inconvénients des </a:t>
            </a:r>
            <a:r>
              <a:rPr lang="fr-FR" sz="3200" dirty="0" err="1">
                <a:latin typeface="+mj-lt"/>
                <a:ea typeface="+mj-ea"/>
                <a:cs typeface="+mj-cs"/>
              </a:rPr>
              <a:t>RNs</a:t>
            </a:r>
            <a:endParaRPr lang="fr-FR" sz="3200" dirty="0"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20490433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06AE51-5606-4246-9C72-66A40F31299F}" type="slidenum">
              <a:rPr lang="fr-FR" smtClean="0"/>
              <a:pPr/>
              <a:t>42</a:t>
            </a:fld>
            <a:endParaRPr lang="fr-FR"/>
          </a:p>
        </p:txBody>
      </p:sp>
      <p:sp>
        <p:nvSpPr>
          <p:cNvPr id="4" name="Rectangle 3"/>
          <p:cNvSpPr/>
          <p:nvPr/>
        </p:nvSpPr>
        <p:spPr>
          <a:xfrm>
            <a:off x="883227" y="0"/>
            <a:ext cx="10837718" cy="910797"/>
          </a:xfrm>
          <a:prstGeom prst="rect">
            <a:avLst/>
          </a:prstGeom>
          <a:solidFill>
            <a:srgbClr val="3366FF"/>
          </a:solidFill>
          <a:ln>
            <a:noFill/>
          </a:ln>
        </p:spPr>
        <p:txBody>
          <a:bodyPr vert="horz" wrap="none" lIns="91440" tIns="45720" rIns="91440" bIns="45720" rtlCol="0" anchor="ctr">
            <a:normAutofit/>
          </a:bodyPr>
          <a:lstStyle/>
          <a:p>
            <a:pPr algn="ctr"/>
            <a:r>
              <a:rPr lang="fr-FR" sz="3200" dirty="0"/>
              <a:t>Les réseaux de neurones profonds (</a:t>
            </a:r>
            <a:r>
              <a:rPr lang="fr-FR" sz="3200" dirty="0" err="1"/>
              <a:t>Deep</a:t>
            </a:r>
            <a:r>
              <a:rPr lang="fr-FR" sz="3200" dirty="0"/>
              <a:t> Learning)</a:t>
            </a:r>
          </a:p>
        </p:txBody>
      </p:sp>
      <p:sp>
        <p:nvSpPr>
          <p:cNvPr id="5" name="TextBox 19">
            <a:extLst>
              <a:ext uri="{FF2B5EF4-FFF2-40B4-BE49-F238E27FC236}">
                <a16:creationId xmlns:a16="http://schemas.microsoft.com/office/drawing/2014/main" id="{80F15187-25F1-4A91-86FA-CB80643717FD}"/>
              </a:ext>
            </a:extLst>
          </p:cNvPr>
          <p:cNvSpPr txBox="1"/>
          <p:nvPr/>
        </p:nvSpPr>
        <p:spPr>
          <a:xfrm>
            <a:off x="197429" y="1255203"/>
            <a:ext cx="6847608" cy="46782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spcBef>
                <a:spcPts val="600"/>
              </a:spcBef>
              <a:spcAft>
                <a:spcPts val="600"/>
              </a:spcAft>
              <a:buClr>
                <a:srgbClr val="C00000"/>
              </a:buClr>
              <a:buFont typeface="Wingdings" pitchFamily="2" charset="2"/>
              <a:buChar char="q"/>
            </a:pPr>
            <a:r>
              <a:rPr lang="fr-FR" sz="3200" dirty="0"/>
              <a:t>Les réseaux de neurones profonds (</a:t>
            </a:r>
            <a:r>
              <a:rPr lang="fr-FR" sz="3200" dirty="0" err="1"/>
              <a:t>Deep</a:t>
            </a:r>
            <a:r>
              <a:rPr lang="fr-FR" sz="3200" dirty="0"/>
              <a:t> Neural Networks) sont similaires aux réseaux PMC mais avec plus de couches cachées. </a:t>
            </a:r>
          </a:p>
          <a:p>
            <a:pPr marL="457200" indent="-457200">
              <a:spcBef>
                <a:spcPts val="600"/>
              </a:spcBef>
              <a:spcAft>
                <a:spcPts val="600"/>
              </a:spcAft>
              <a:buClr>
                <a:srgbClr val="C00000"/>
              </a:buClr>
              <a:buFont typeface="Wingdings" pitchFamily="2" charset="2"/>
              <a:buChar char="q"/>
            </a:pPr>
            <a:r>
              <a:rPr lang="fr-FR" sz="3200" dirty="0"/>
              <a:t>L'augmentation du nombre de couches, permet a un réseau de neurones de détecter de légères variations du modèle d'apprentissage</a:t>
            </a:r>
            <a:r>
              <a:rPr lang="fr-FR" sz="2000" dirty="0"/>
              <a:t>.</a:t>
            </a:r>
          </a:p>
        </p:txBody>
      </p:sp>
      <p:pic>
        <p:nvPicPr>
          <p:cNvPr id="22530" name="Picture 2" descr="https://kongakura.fr/images/perceptron_4layers-5d6f32fe67dea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68104" y="1817892"/>
            <a:ext cx="4591050" cy="3552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583035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883227" y="1330042"/>
            <a:ext cx="10972798" cy="4525963"/>
          </a:xfrm>
        </p:spPr>
        <p:txBody>
          <a:bodyPr>
            <a:noAutofit/>
          </a:bodyPr>
          <a:lstStyle/>
          <a:p>
            <a:r>
              <a:rPr lang="fr-FR" sz="2400" dirty="0"/>
              <a:t>Les RP sont largement utilisés et étudiés dans le domaine de l'intelligence artificielle. En voici quelques exemples : </a:t>
            </a:r>
            <a:endParaRPr lang="fr-FR" sz="2400" b="1" dirty="0"/>
          </a:p>
          <a:p>
            <a:pPr lvl="1">
              <a:buFont typeface="Wingdings" pitchFamily="2" charset="2"/>
              <a:buChar char="q"/>
            </a:pPr>
            <a:r>
              <a:rPr lang="fr-FR" sz="2400" b="1" dirty="0">
                <a:solidFill>
                  <a:srgbClr val="FF0000"/>
                </a:solidFill>
              </a:rPr>
              <a:t>CNN (</a:t>
            </a:r>
            <a:r>
              <a:rPr lang="fr-FR" sz="2400" b="1" dirty="0" err="1">
                <a:solidFill>
                  <a:srgbClr val="FF0000"/>
                </a:solidFill>
              </a:rPr>
              <a:t>Convolutional</a:t>
            </a:r>
            <a:r>
              <a:rPr lang="fr-FR" sz="2400" b="1" dirty="0">
                <a:solidFill>
                  <a:srgbClr val="FF0000"/>
                </a:solidFill>
              </a:rPr>
              <a:t> Neural Networks)</a:t>
            </a:r>
            <a:r>
              <a:rPr lang="fr-FR" sz="2400" dirty="0">
                <a:solidFill>
                  <a:srgbClr val="FF0000"/>
                </a:solidFill>
              </a:rPr>
              <a:t> </a:t>
            </a:r>
            <a:r>
              <a:rPr lang="fr-FR" sz="2400" dirty="0"/>
              <a:t>: Pour la vision par ordinateur et la reconnaissance d'images.</a:t>
            </a:r>
          </a:p>
          <a:p>
            <a:pPr lvl="1">
              <a:buFont typeface="Wingdings" pitchFamily="2" charset="2"/>
              <a:buChar char="q"/>
            </a:pPr>
            <a:r>
              <a:rPr lang="fr-FR" sz="2400" b="1" dirty="0">
                <a:solidFill>
                  <a:srgbClr val="FF0000"/>
                </a:solidFill>
              </a:rPr>
              <a:t>RNN (</a:t>
            </a:r>
            <a:r>
              <a:rPr lang="fr-FR" sz="2400" b="1" dirty="0" err="1">
                <a:solidFill>
                  <a:srgbClr val="FF0000"/>
                </a:solidFill>
              </a:rPr>
              <a:t>Recurrent</a:t>
            </a:r>
            <a:r>
              <a:rPr lang="fr-FR" sz="2400" b="1" dirty="0">
                <a:solidFill>
                  <a:srgbClr val="FF0000"/>
                </a:solidFill>
              </a:rPr>
              <a:t> Neural Networks)</a:t>
            </a:r>
            <a:r>
              <a:rPr lang="fr-FR" sz="2400" dirty="0">
                <a:solidFill>
                  <a:srgbClr val="FF0000"/>
                </a:solidFill>
              </a:rPr>
              <a:t> </a:t>
            </a:r>
            <a:r>
              <a:rPr lang="fr-FR" sz="2400" dirty="0"/>
              <a:t>: Pour le traitement de séquences comme la traduction automatique.</a:t>
            </a:r>
          </a:p>
          <a:p>
            <a:pPr lvl="1">
              <a:buFont typeface="Wingdings" pitchFamily="2" charset="2"/>
              <a:buChar char="q"/>
            </a:pPr>
            <a:r>
              <a:rPr lang="fr-FR" sz="2400" b="1" dirty="0">
                <a:solidFill>
                  <a:srgbClr val="FF0000"/>
                </a:solidFill>
              </a:rPr>
              <a:t>GAN (</a:t>
            </a:r>
            <a:r>
              <a:rPr lang="fr-FR" sz="2400" b="1" dirty="0" err="1">
                <a:solidFill>
                  <a:srgbClr val="FF0000"/>
                </a:solidFill>
              </a:rPr>
              <a:t>Generative</a:t>
            </a:r>
            <a:r>
              <a:rPr lang="fr-FR" sz="2400" b="1" dirty="0">
                <a:solidFill>
                  <a:srgbClr val="FF0000"/>
                </a:solidFill>
              </a:rPr>
              <a:t> </a:t>
            </a:r>
            <a:r>
              <a:rPr lang="fr-FR" sz="2400" b="1" dirty="0" err="1">
                <a:solidFill>
                  <a:srgbClr val="FF0000"/>
                </a:solidFill>
              </a:rPr>
              <a:t>Adversarial</a:t>
            </a:r>
            <a:r>
              <a:rPr lang="fr-FR" sz="2400" b="1" dirty="0">
                <a:solidFill>
                  <a:srgbClr val="FF0000"/>
                </a:solidFill>
              </a:rPr>
              <a:t> Networks)</a:t>
            </a:r>
            <a:r>
              <a:rPr lang="fr-FR" sz="2400" dirty="0">
                <a:solidFill>
                  <a:srgbClr val="FF0000"/>
                </a:solidFill>
              </a:rPr>
              <a:t> </a:t>
            </a:r>
            <a:r>
              <a:rPr lang="fr-FR" sz="2400" dirty="0"/>
              <a:t>: Pour la génération de données réalistes, notamment d'images.</a:t>
            </a:r>
          </a:p>
          <a:p>
            <a:pPr lvl="1">
              <a:buFont typeface="Wingdings" pitchFamily="2" charset="2"/>
              <a:buChar char="q"/>
            </a:pPr>
            <a:r>
              <a:rPr lang="fr-FR" sz="2400" b="1" dirty="0" err="1">
                <a:solidFill>
                  <a:srgbClr val="FF0000"/>
                </a:solidFill>
              </a:rPr>
              <a:t>Transformers</a:t>
            </a:r>
            <a:r>
              <a:rPr lang="fr-FR" sz="2400" dirty="0">
                <a:solidFill>
                  <a:srgbClr val="FF0000"/>
                </a:solidFill>
              </a:rPr>
              <a:t> </a:t>
            </a:r>
            <a:r>
              <a:rPr lang="fr-FR" sz="2400" dirty="0"/>
              <a:t>: Pour le traitement du langage naturel et la vision par ordinateur.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06AE51-5606-4246-9C72-66A40F31299F}" type="slidenum">
              <a:rPr lang="fr-FR" smtClean="0"/>
              <a:pPr/>
              <a:t>43</a:t>
            </a:fld>
            <a:endParaRPr lang="fr-FR"/>
          </a:p>
        </p:txBody>
      </p:sp>
      <p:sp>
        <p:nvSpPr>
          <p:cNvPr id="5" name="Rectangle 4"/>
          <p:cNvSpPr/>
          <p:nvPr/>
        </p:nvSpPr>
        <p:spPr>
          <a:xfrm>
            <a:off x="883227" y="0"/>
            <a:ext cx="10837718" cy="910797"/>
          </a:xfrm>
          <a:prstGeom prst="rect">
            <a:avLst/>
          </a:prstGeom>
          <a:solidFill>
            <a:srgbClr val="3366FF"/>
          </a:solidFill>
          <a:ln>
            <a:noFill/>
          </a:ln>
        </p:spPr>
        <p:txBody>
          <a:bodyPr vert="horz" wrap="none" lIns="91440" tIns="45720" rIns="91440" bIns="45720" rtlCol="0" anchor="ctr">
            <a:normAutofit/>
          </a:bodyPr>
          <a:lstStyle/>
          <a:p>
            <a:pPr algn="ctr"/>
            <a:r>
              <a:rPr lang="fr-FR" sz="3200" dirty="0"/>
              <a:t>Les réseaux de neurones profonds (</a:t>
            </a:r>
            <a:r>
              <a:rPr lang="fr-FR" sz="3200" dirty="0" err="1"/>
              <a:t>Deep</a:t>
            </a:r>
            <a:r>
              <a:rPr lang="fr-FR" sz="3200" dirty="0"/>
              <a:t> Learning)</a:t>
            </a:r>
          </a:p>
        </p:txBody>
      </p:sp>
    </p:spTree>
    <p:extLst>
      <p:ext uri="{BB962C8B-B14F-4D97-AF65-F5344CB8AC3E}">
        <p14:creationId xmlns:p14="http://schemas.microsoft.com/office/powerpoint/2010/main" val="321975639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06AE51-5606-4246-9C72-66A40F31299F}" type="slidenum">
              <a:rPr lang="fr-FR" smtClean="0"/>
              <a:pPr/>
              <a:t>44</a:t>
            </a:fld>
            <a:endParaRPr lang="fr-FR"/>
          </a:p>
        </p:txBody>
      </p:sp>
      <p:sp>
        <p:nvSpPr>
          <p:cNvPr id="3" name="AutoShape 2" descr="Basic CNN Architecture: Explaining 5 Layers of Convolutional Neural Network  | upGrad blo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sp>
        <p:nvSpPr>
          <p:cNvPr id="4" name="AutoShape 4" descr="https://d14b9ctw0m6fid.cloudfront.net/ugblog/wp-content/uploads/2020/12/1-4.png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pic>
        <p:nvPicPr>
          <p:cNvPr id="25605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64855" y="932449"/>
            <a:ext cx="8767618" cy="4330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Rectangle 5"/>
          <p:cNvSpPr/>
          <p:nvPr/>
        </p:nvSpPr>
        <p:spPr>
          <a:xfrm>
            <a:off x="789708" y="21652"/>
            <a:ext cx="10837718" cy="910797"/>
          </a:xfrm>
          <a:prstGeom prst="rect">
            <a:avLst/>
          </a:prstGeom>
          <a:solidFill>
            <a:srgbClr val="3366FF"/>
          </a:solidFill>
          <a:ln>
            <a:noFill/>
          </a:ln>
        </p:spPr>
        <p:txBody>
          <a:bodyPr vert="horz" wrap="none" lIns="91440" tIns="45720" rIns="91440" bIns="45720" rtlCol="0" anchor="ctr">
            <a:normAutofit/>
          </a:bodyPr>
          <a:lstStyle/>
          <a:p>
            <a:pPr algn="ctr"/>
            <a:r>
              <a:rPr lang="fr-FR" sz="3200" dirty="0"/>
              <a:t>Les réseaux de neurones profonds (</a:t>
            </a:r>
            <a:r>
              <a:rPr lang="fr-FR" sz="3200" dirty="0" err="1"/>
              <a:t>Deep</a:t>
            </a:r>
            <a:r>
              <a:rPr lang="fr-FR" sz="3200" dirty="0"/>
              <a:t> Learning) : CNN</a:t>
            </a:r>
          </a:p>
        </p:txBody>
      </p:sp>
      <p:sp>
        <p:nvSpPr>
          <p:cNvPr id="5" name="Rectangle 4"/>
          <p:cNvSpPr/>
          <p:nvPr/>
        </p:nvSpPr>
        <p:spPr>
          <a:xfrm>
            <a:off x="1067378" y="5536104"/>
            <a:ext cx="9962571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/>
            <a:r>
              <a:rPr lang="fr-FR" sz="2400" b="1" dirty="0">
                <a:solidFill>
                  <a:srgbClr val="FF0000"/>
                </a:solidFill>
              </a:rPr>
              <a:t>CNN (</a:t>
            </a:r>
            <a:r>
              <a:rPr lang="fr-FR" sz="2400" b="1" dirty="0" err="1">
                <a:solidFill>
                  <a:srgbClr val="FF0000"/>
                </a:solidFill>
              </a:rPr>
              <a:t>Convolutional</a:t>
            </a:r>
            <a:r>
              <a:rPr lang="fr-FR" sz="2400" b="1" dirty="0">
                <a:solidFill>
                  <a:srgbClr val="FF0000"/>
                </a:solidFill>
              </a:rPr>
              <a:t> Neural Networks)</a:t>
            </a:r>
            <a:r>
              <a:rPr lang="fr-FR" sz="2400" dirty="0">
                <a:solidFill>
                  <a:srgbClr val="FF0000"/>
                </a:solidFill>
              </a:rPr>
              <a:t> </a:t>
            </a:r>
            <a:r>
              <a:rPr lang="fr-FR" sz="2400" dirty="0"/>
              <a:t>: Pour la vision par ordinateur et la reconnaissance d'images.</a:t>
            </a:r>
          </a:p>
        </p:txBody>
      </p:sp>
    </p:spTree>
    <p:extLst>
      <p:ext uri="{BB962C8B-B14F-4D97-AF65-F5344CB8AC3E}">
        <p14:creationId xmlns:p14="http://schemas.microsoft.com/office/powerpoint/2010/main" val="120490433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06AE51-5606-4246-9C72-66A40F31299F}" type="slidenum">
              <a:rPr lang="fr-FR" smtClean="0"/>
              <a:pPr/>
              <a:t>45</a:t>
            </a:fld>
            <a:endParaRPr lang="fr-FR"/>
          </a:p>
        </p:txBody>
      </p:sp>
      <p:sp>
        <p:nvSpPr>
          <p:cNvPr id="4" name="Rectangle 3"/>
          <p:cNvSpPr/>
          <p:nvPr/>
        </p:nvSpPr>
        <p:spPr>
          <a:xfrm>
            <a:off x="883227" y="0"/>
            <a:ext cx="10837718" cy="696191"/>
          </a:xfrm>
          <a:prstGeom prst="rect">
            <a:avLst/>
          </a:prstGeom>
          <a:solidFill>
            <a:srgbClr val="3366FF"/>
          </a:solidFill>
          <a:ln>
            <a:noFill/>
          </a:ln>
        </p:spPr>
        <p:txBody>
          <a:bodyPr vert="horz" wrap="none" lIns="91440" tIns="45720" rIns="91440" bIns="45720" rtlCol="0" anchor="ctr">
            <a:normAutofit/>
          </a:bodyPr>
          <a:lstStyle/>
          <a:p>
            <a:pPr algn="ctr"/>
            <a:r>
              <a:rPr lang="fr-FR" sz="3200" dirty="0"/>
              <a:t>Les réseaux de neurones profonds (</a:t>
            </a:r>
            <a:r>
              <a:rPr lang="fr-FR" sz="3200" dirty="0" err="1"/>
              <a:t>Deep</a:t>
            </a:r>
            <a:r>
              <a:rPr lang="fr-FR" sz="3200" dirty="0"/>
              <a:t> Learning)</a:t>
            </a:r>
          </a:p>
        </p:txBody>
      </p:sp>
      <p:pic>
        <p:nvPicPr>
          <p:cNvPr id="26626" name="Picture 2" descr="https://kongakura.fr/images/dessin5-5d6f33eee6b05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3227" y="2176038"/>
            <a:ext cx="10221560" cy="32207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3980537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06AE51-5606-4246-9C72-66A40F31299F}" type="slidenum">
              <a:rPr lang="fr-FR" smtClean="0"/>
              <a:pPr/>
              <a:t>46</a:t>
            </a:fld>
            <a:endParaRPr lang="fr-FR"/>
          </a:p>
        </p:txBody>
      </p:sp>
      <p:pic>
        <p:nvPicPr>
          <p:cNvPr id="28674" name="Picture 2" descr="RNN-vs-FNN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2546" y="571176"/>
            <a:ext cx="10172989" cy="50864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/>
          <p:cNvSpPr/>
          <p:nvPr/>
        </p:nvSpPr>
        <p:spPr>
          <a:xfrm>
            <a:off x="789708" y="21652"/>
            <a:ext cx="10837718" cy="910797"/>
          </a:xfrm>
          <a:prstGeom prst="rect">
            <a:avLst/>
          </a:prstGeom>
          <a:solidFill>
            <a:srgbClr val="3366FF"/>
          </a:solidFill>
          <a:ln>
            <a:noFill/>
          </a:ln>
        </p:spPr>
        <p:txBody>
          <a:bodyPr vert="horz" wrap="none" lIns="91440" tIns="45720" rIns="91440" bIns="45720" rtlCol="0" anchor="ctr">
            <a:normAutofit/>
          </a:bodyPr>
          <a:lstStyle/>
          <a:p>
            <a:pPr algn="ctr"/>
            <a:r>
              <a:rPr lang="fr-FR" sz="3200" dirty="0"/>
              <a:t>Les réseaux de neurones profonds (</a:t>
            </a:r>
            <a:r>
              <a:rPr lang="fr-FR" sz="3200" dirty="0" err="1"/>
              <a:t>Deep</a:t>
            </a:r>
            <a:r>
              <a:rPr lang="fr-FR" sz="3200" dirty="0"/>
              <a:t> Learning) : RNN</a:t>
            </a:r>
          </a:p>
        </p:txBody>
      </p:sp>
      <p:sp>
        <p:nvSpPr>
          <p:cNvPr id="3" name="Rectangle 2"/>
          <p:cNvSpPr/>
          <p:nvPr/>
        </p:nvSpPr>
        <p:spPr>
          <a:xfrm>
            <a:off x="1188027" y="5683469"/>
            <a:ext cx="10439399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>
              <a:buFont typeface="Wingdings" pitchFamily="2" charset="2"/>
              <a:buChar char="q"/>
            </a:pPr>
            <a:r>
              <a:rPr lang="fr-FR" sz="2400" b="1" dirty="0">
                <a:solidFill>
                  <a:srgbClr val="FF0000"/>
                </a:solidFill>
              </a:rPr>
              <a:t>RNN (</a:t>
            </a:r>
            <a:r>
              <a:rPr lang="fr-FR" sz="2400" b="1" dirty="0" err="1">
                <a:solidFill>
                  <a:srgbClr val="FF0000"/>
                </a:solidFill>
              </a:rPr>
              <a:t>Recurrent</a:t>
            </a:r>
            <a:r>
              <a:rPr lang="fr-FR" sz="2400" b="1" dirty="0">
                <a:solidFill>
                  <a:srgbClr val="FF0000"/>
                </a:solidFill>
              </a:rPr>
              <a:t> Neural Networks)</a:t>
            </a:r>
            <a:r>
              <a:rPr lang="fr-FR" sz="2400" dirty="0">
                <a:solidFill>
                  <a:srgbClr val="FF0000"/>
                </a:solidFill>
              </a:rPr>
              <a:t> </a:t>
            </a:r>
            <a:r>
              <a:rPr lang="fr-FR" sz="2400" dirty="0"/>
              <a:t>: Pour le traitement de séquences comme la traduction automatique.</a:t>
            </a:r>
          </a:p>
        </p:txBody>
      </p:sp>
    </p:spTree>
    <p:extLst>
      <p:ext uri="{BB962C8B-B14F-4D97-AF65-F5344CB8AC3E}">
        <p14:creationId xmlns:p14="http://schemas.microsoft.com/office/powerpoint/2010/main" val="1374994324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Text Box 2">
            <a:extLst>
              <a:ext uri="{FF2B5EF4-FFF2-40B4-BE49-F238E27FC236}">
                <a16:creationId xmlns:a16="http://schemas.microsoft.com/office/drawing/2014/main" id="{5BE96DA6-0F65-41E6-9522-1FACEEB6C7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908050"/>
            <a:ext cx="23129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7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3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ts val="6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ts val="5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fr-CA" altLang="fr-FR" sz="2400" b="1">
                <a:solidFill>
                  <a:schemeClr val="tx1"/>
                </a:solidFill>
                <a:latin typeface="Times New Roman" panose="02020603050405020304" pitchFamily="18" charset="0"/>
              </a:rPr>
              <a:t>Exercice à faire:</a:t>
            </a:r>
            <a:endParaRPr lang="en-CA" altLang="fr-FR" sz="2400" b="1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70659" name="Text Box 3">
            <a:extLst>
              <a:ext uri="{FF2B5EF4-FFF2-40B4-BE49-F238E27FC236}">
                <a16:creationId xmlns:a16="http://schemas.microsoft.com/office/drawing/2014/main" id="{85CEBE64-722B-4EB3-9ED9-0CE68C5198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1412876"/>
            <a:ext cx="8185150" cy="1006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7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3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ts val="6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ts val="5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fr-CA" altLang="fr-FR" sz="2000" dirty="0">
                <a:solidFill>
                  <a:schemeClr val="tx1"/>
                </a:solidFill>
                <a:latin typeface="Times New Roman" panose="02020603050405020304" pitchFamily="18" charset="0"/>
              </a:rPr>
              <a:t>Trouver les nouveaux poids du réseau de la figure ci-dessous si on présente le vecteur d’apprentissage (-1,1) et on utilise une sigmoïde bipolaire comme fonction d’activation</a:t>
            </a:r>
            <a:endParaRPr lang="en-CA" altLang="fr-FR" sz="2000" dirty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70660" name="Rectangle 4">
            <a:extLst>
              <a:ext uri="{FF2B5EF4-FFF2-40B4-BE49-F238E27FC236}">
                <a16:creationId xmlns:a16="http://schemas.microsoft.com/office/drawing/2014/main" id="{B340F6B8-C33F-48BE-ADE9-93B63061395A}"/>
              </a:ext>
            </a:extLst>
          </p:cNvPr>
          <p:cNvSpPr>
            <a:spLocks noChangeArrowheads="1"/>
          </p:cNvSpPr>
          <p:nvPr/>
        </p:nvSpPr>
        <p:spPr bwMode="auto">
          <a:xfrm rot="16200000">
            <a:off x="2051844" y="3090069"/>
            <a:ext cx="3951288" cy="3352800"/>
          </a:xfrm>
          <a:prstGeom prst="rect">
            <a:avLst/>
          </a:prstGeom>
          <a:solidFill>
            <a:srgbClr val="E2E2E2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ts val="7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3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ts val="6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ts val="5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fr-FR" altLang="fr-FR" sz="1800">
              <a:latin typeface="Times New Roman" panose="02020603050405020304" pitchFamily="18" charset="0"/>
            </a:endParaRPr>
          </a:p>
        </p:txBody>
      </p:sp>
      <p:sp>
        <p:nvSpPr>
          <p:cNvPr id="70661" name="Oval 5">
            <a:extLst>
              <a:ext uri="{FF2B5EF4-FFF2-40B4-BE49-F238E27FC236}">
                <a16:creationId xmlns:a16="http://schemas.microsoft.com/office/drawing/2014/main" id="{5BDA865A-9C70-4FC6-8A70-F7E71305B2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32264" y="4073526"/>
            <a:ext cx="573087" cy="588963"/>
          </a:xfrm>
          <a:prstGeom prst="ellipse">
            <a:avLst/>
          </a:prstGeom>
          <a:solidFill>
            <a:srgbClr val="E2E2E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ts val="7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3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ts val="6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ts val="5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fr-CA" altLang="fr-FR" sz="1800" b="1">
                <a:solidFill>
                  <a:schemeClr val="tx1"/>
                </a:solidFill>
                <a:latin typeface="Times New Roman" panose="02020603050405020304" pitchFamily="18" charset="0"/>
              </a:rPr>
              <a:t>Z</a:t>
            </a:r>
            <a:r>
              <a:rPr lang="fr-CA" altLang="fr-FR" sz="1600" b="1" baseline="-25000">
                <a:solidFill>
                  <a:schemeClr val="tx1"/>
                </a:solidFill>
                <a:latin typeface="Times New Roman" panose="02020603050405020304" pitchFamily="18" charset="0"/>
              </a:rPr>
              <a:t>2</a:t>
            </a:r>
            <a:endParaRPr lang="en-US" altLang="fr-FR" sz="1800" b="1" baseline="-250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70662" name="Oval 6">
            <a:extLst>
              <a:ext uri="{FF2B5EF4-FFF2-40B4-BE49-F238E27FC236}">
                <a16:creationId xmlns:a16="http://schemas.microsoft.com/office/drawing/2014/main" id="{606F2995-1FCC-448B-B219-A2669EB065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55963" y="4105275"/>
            <a:ext cx="576262" cy="585788"/>
          </a:xfrm>
          <a:prstGeom prst="ellipse">
            <a:avLst/>
          </a:prstGeom>
          <a:solidFill>
            <a:srgbClr val="E2E2E2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>
            <a:lvl1pPr>
              <a:spcBef>
                <a:spcPts val="7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3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ts val="6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ts val="5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fr-CA" altLang="fr-FR" sz="1800" b="1">
                <a:solidFill>
                  <a:schemeClr val="tx1"/>
                </a:solidFill>
                <a:latin typeface="Times New Roman" panose="02020603050405020304" pitchFamily="18" charset="0"/>
              </a:rPr>
              <a:t>Z</a:t>
            </a:r>
            <a:r>
              <a:rPr lang="fr-CA" altLang="fr-FR" sz="1600" b="1" baseline="-25000">
                <a:solidFill>
                  <a:schemeClr val="tx1"/>
                </a:solidFill>
                <a:latin typeface="Times New Roman" panose="02020603050405020304" pitchFamily="18" charset="0"/>
              </a:rPr>
              <a:t>1</a:t>
            </a:r>
            <a:endParaRPr lang="en-US" altLang="fr-FR" sz="1800" b="1" baseline="-250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70663" name="Oval 7">
            <a:extLst>
              <a:ext uri="{FF2B5EF4-FFF2-40B4-BE49-F238E27FC236}">
                <a16:creationId xmlns:a16="http://schemas.microsoft.com/office/drawing/2014/main" id="{B66CF676-E8D3-4458-80B3-42857445DA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94125" y="2884489"/>
            <a:ext cx="477838" cy="490537"/>
          </a:xfrm>
          <a:prstGeom prst="ellipse">
            <a:avLst/>
          </a:prstGeom>
          <a:solidFill>
            <a:srgbClr val="E2E2E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ts val="7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3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ts val="6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ts val="5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fr-FR" sz="1800" b="1">
                <a:solidFill>
                  <a:schemeClr val="tx1"/>
                </a:solidFill>
                <a:latin typeface="Times New Roman" panose="02020603050405020304" pitchFamily="18" charset="0"/>
              </a:rPr>
              <a:t>Y</a:t>
            </a:r>
          </a:p>
        </p:txBody>
      </p:sp>
      <p:sp>
        <p:nvSpPr>
          <p:cNvPr id="70664" name="Oval 8">
            <a:extLst>
              <a:ext uri="{FF2B5EF4-FFF2-40B4-BE49-F238E27FC236}">
                <a16:creationId xmlns:a16="http://schemas.microsoft.com/office/drawing/2014/main" id="{9D00C8F2-A65A-4C5E-87ED-91FA5AE3D5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14850" y="5649914"/>
            <a:ext cx="585788" cy="585787"/>
          </a:xfrm>
          <a:prstGeom prst="ellipse">
            <a:avLst/>
          </a:prstGeom>
          <a:solidFill>
            <a:srgbClr val="E2E2E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ts val="7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3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ts val="6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ts val="5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fr-CA" altLang="fr-FR" sz="1800" b="1">
                <a:solidFill>
                  <a:schemeClr val="tx1"/>
                </a:solidFill>
                <a:latin typeface="Times New Roman" panose="02020603050405020304" pitchFamily="18" charset="0"/>
              </a:rPr>
              <a:t>X</a:t>
            </a:r>
            <a:r>
              <a:rPr lang="fr-CA" altLang="fr-FR" sz="1400" b="1" baseline="-25000">
                <a:solidFill>
                  <a:schemeClr val="tx1"/>
                </a:solidFill>
                <a:latin typeface="Times New Roman" panose="02020603050405020304" pitchFamily="18" charset="0"/>
              </a:rPr>
              <a:t>2</a:t>
            </a:r>
            <a:endParaRPr lang="en-US" altLang="fr-FR" sz="1800" b="1" baseline="-250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70665" name="Oval 9">
            <a:extLst>
              <a:ext uri="{FF2B5EF4-FFF2-40B4-BE49-F238E27FC236}">
                <a16:creationId xmlns:a16="http://schemas.microsoft.com/office/drawing/2014/main" id="{2454A2D0-86BD-4869-9AB0-4A5C520077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55925" y="5649914"/>
            <a:ext cx="585788" cy="585787"/>
          </a:xfrm>
          <a:prstGeom prst="ellipse">
            <a:avLst/>
          </a:prstGeom>
          <a:solidFill>
            <a:srgbClr val="E2E2E2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>
            <a:lvl1pPr>
              <a:spcBef>
                <a:spcPts val="7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3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ts val="6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ts val="5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fr-CA" altLang="fr-FR" sz="1800" b="1">
                <a:solidFill>
                  <a:schemeClr val="tx1"/>
                </a:solidFill>
                <a:latin typeface="Times New Roman" panose="02020603050405020304" pitchFamily="18" charset="0"/>
              </a:rPr>
              <a:t>X</a:t>
            </a:r>
            <a:r>
              <a:rPr lang="fr-CA" altLang="fr-FR" sz="1400" b="1" baseline="-25000">
                <a:solidFill>
                  <a:schemeClr val="tx1"/>
                </a:solidFill>
                <a:latin typeface="Times New Roman" panose="02020603050405020304" pitchFamily="18" charset="0"/>
              </a:rPr>
              <a:t>1</a:t>
            </a:r>
            <a:endParaRPr lang="en-US" altLang="fr-FR" sz="1800" b="1" baseline="-250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cxnSp>
        <p:nvCxnSpPr>
          <p:cNvPr id="70666" name="AutoShape 10">
            <a:extLst>
              <a:ext uri="{FF2B5EF4-FFF2-40B4-BE49-F238E27FC236}">
                <a16:creationId xmlns:a16="http://schemas.microsoft.com/office/drawing/2014/main" id="{8F01786F-4F77-413D-BB2A-92B7FCDA7C1E}"/>
              </a:ext>
            </a:extLst>
          </p:cNvPr>
          <p:cNvCxnSpPr>
            <a:cxnSpLocks noChangeShapeType="1"/>
            <a:stCxn id="70665" idx="0"/>
            <a:endCxn id="70662" idx="4"/>
          </p:cNvCxnSpPr>
          <p:nvPr/>
        </p:nvCxnSpPr>
        <p:spPr bwMode="auto">
          <a:xfrm flipV="1">
            <a:off x="3249614" y="4691063"/>
            <a:ext cx="295275" cy="95885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70667" name="AutoShape 11">
            <a:extLst>
              <a:ext uri="{FF2B5EF4-FFF2-40B4-BE49-F238E27FC236}">
                <a16:creationId xmlns:a16="http://schemas.microsoft.com/office/drawing/2014/main" id="{D877BBC8-72BE-4FEF-86F5-9F0C111610BC}"/>
              </a:ext>
            </a:extLst>
          </p:cNvPr>
          <p:cNvCxnSpPr>
            <a:cxnSpLocks noChangeShapeType="1"/>
            <a:stCxn id="70665" idx="7"/>
            <a:endCxn id="70661" idx="3"/>
          </p:cNvCxnSpPr>
          <p:nvPr/>
        </p:nvCxnSpPr>
        <p:spPr bwMode="auto">
          <a:xfrm flipV="1">
            <a:off x="3455988" y="4576764"/>
            <a:ext cx="760412" cy="1158875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70668" name="AutoShape 12">
            <a:extLst>
              <a:ext uri="{FF2B5EF4-FFF2-40B4-BE49-F238E27FC236}">
                <a16:creationId xmlns:a16="http://schemas.microsoft.com/office/drawing/2014/main" id="{A5525B45-2967-4E77-86D7-E37B86C0E826}"/>
              </a:ext>
            </a:extLst>
          </p:cNvPr>
          <p:cNvCxnSpPr>
            <a:cxnSpLocks noChangeShapeType="1"/>
            <a:stCxn id="70662" idx="0"/>
            <a:endCxn id="70663" idx="3"/>
          </p:cNvCxnSpPr>
          <p:nvPr/>
        </p:nvCxnSpPr>
        <p:spPr bwMode="auto">
          <a:xfrm flipV="1">
            <a:off x="3544889" y="3303589"/>
            <a:ext cx="319087" cy="801687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70669" name="AutoShape 13">
            <a:extLst>
              <a:ext uri="{FF2B5EF4-FFF2-40B4-BE49-F238E27FC236}">
                <a16:creationId xmlns:a16="http://schemas.microsoft.com/office/drawing/2014/main" id="{2BA12C63-820F-484D-810E-07639EFB7504}"/>
              </a:ext>
            </a:extLst>
          </p:cNvPr>
          <p:cNvCxnSpPr>
            <a:cxnSpLocks noChangeShapeType="1"/>
            <a:stCxn id="70661" idx="0"/>
            <a:endCxn id="70663" idx="5"/>
          </p:cNvCxnSpPr>
          <p:nvPr/>
        </p:nvCxnSpPr>
        <p:spPr bwMode="auto">
          <a:xfrm flipH="1" flipV="1">
            <a:off x="4202114" y="3303589"/>
            <a:ext cx="217487" cy="769937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70670" name="AutoShape 14">
            <a:extLst>
              <a:ext uri="{FF2B5EF4-FFF2-40B4-BE49-F238E27FC236}">
                <a16:creationId xmlns:a16="http://schemas.microsoft.com/office/drawing/2014/main" id="{1A860B5C-C946-4413-8249-29604FEB572C}"/>
              </a:ext>
            </a:extLst>
          </p:cNvPr>
          <p:cNvCxnSpPr>
            <a:cxnSpLocks noChangeShapeType="1"/>
            <a:stCxn id="70664" idx="1"/>
            <a:endCxn id="70662" idx="5"/>
          </p:cNvCxnSpPr>
          <p:nvPr/>
        </p:nvCxnSpPr>
        <p:spPr bwMode="auto">
          <a:xfrm flipH="1" flipV="1">
            <a:off x="3748089" y="4605338"/>
            <a:ext cx="852487" cy="113030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70671" name="AutoShape 15">
            <a:extLst>
              <a:ext uri="{FF2B5EF4-FFF2-40B4-BE49-F238E27FC236}">
                <a16:creationId xmlns:a16="http://schemas.microsoft.com/office/drawing/2014/main" id="{9A41E11F-2246-4EB2-B23C-6270EA1A23F4}"/>
              </a:ext>
            </a:extLst>
          </p:cNvPr>
          <p:cNvCxnSpPr>
            <a:cxnSpLocks noChangeShapeType="1"/>
            <a:stCxn id="70664" idx="0"/>
            <a:endCxn id="70661" idx="4"/>
          </p:cNvCxnSpPr>
          <p:nvPr/>
        </p:nvCxnSpPr>
        <p:spPr bwMode="auto">
          <a:xfrm flipH="1" flipV="1">
            <a:off x="4419600" y="4662489"/>
            <a:ext cx="388938" cy="987425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70672" name="Oval 16">
            <a:extLst>
              <a:ext uri="{FF2B5EF4-FFF2-40B4-BE49-F238E27FC236}">
                <a16:creationId xmlns:a16="http://schemas.microsoft.com/office/drawing/2014/main" id="{A6E11FE2-17D4-4F96-8918-11728A5797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11764" y="5214939"/>
            <a:ext cx="236537" cy="236537"/>
          </a:xfrm>
          <a:prstGeom prst="ellipse">
            <a:avLst/>
          </a:prstGeom>
          <a:solidFill>
            <a:srgbClr val="E2E2E2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ts val="7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3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ts val="6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ts val="5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fr-CA" altLang="fr-FR" sz="1800">
                <a:solidFill>
                  <a:schemeClr val="tx1"/>
                </a:solidFill>
                <a:latin typeface="Times New Roman" panose="02020603050405020304" pitchFamily="18" charset="0"/>
              </a:rPr>
              <a:t>1</a:t>
            </a:r>
            <a:endParaRPr lang="en-CA" altLang="fr-FR" sz="18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70673" name="Oval 17">
            <a:extLst>
              <a:ext uri="{FF2B5EF4-FFF2-40B4-BE49-F238E27FC236}">
                <a16:creationId xmlns:a16="http://schemas.microsoft.com/office/drawing/2014/main" id="{77179D7F-626E-4DD5-AEEE-5C7604021F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35239" y="5214939"/>
            <a:ext cx="236537" cy="236537"/>
          </a:xfrm>
          <a:prstGeom prst="ellipse">
            <a:avLst/>
          </a:prstGeom>
          <a:solidFill>
            <a:srgbClr val="E2E2E2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ts val="7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3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ts val="6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ts val="5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fr-CA" altLang="fr-FR" sz="1800">
                <a:solidFill>
                  <a:schemeClr val="tx1"/>
                </a:solidFill>
                <a:latin typeface="Times New Roman" panose="02020603050405020304" pitchFamily="18" charset="0"/>
              </a:rPr>
              <a:t>1</a:t>
            </a:r>
            <a:endParaRPr lang="en-CA" altLang="fr-FR" sz="18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70674" name="Oval 18">
            <a:extLst>
              <a:ext uri="{FF2B5EF4-FFF2-40B4-BE49-F238E27FC236}">
                <a16:creationId xmlns:a16="http://schemas.microsoft.com/office/drawing/2014/main" id="{BD14309C-18B9-4091-A2B6-A193E6E5C3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27350" y="3665539"/>
            <a:ext cx="236538" cy="236537"/>
          </a:xfrm>
          <a:prstGeom prst="ellipse">
            <a:avLst/>
          </a:prstGeom>
          <a:solidFill>
            <a:srgbClr val="E2E2E2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ts val="7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3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ts val="6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ts val="5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fr-CA" altLang="fr-FR" sz="1800">
                <a:solidFill>
                  <a:schemeClr val="tx1"/>
                </a:solidFill>
                <a:latin typeface="Times New Roman" panose="02020603050405020304" pitchFamily="18" charset="0"/>
              </a:rPr>
              <a:t>1</a:t>
            </a:r>
            <a:endParaRPr lang="en-CA" altLang="fr-FR" sz="18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cxnSp>
        <p:nvCxnSpPr>
          <p:cNvPr id="70675" name="AutoShape 19">
            <a:extLst>
              <a:ext uri="{FF2B5EF4-FFF2-40B4-BE49-F238E27FC236}">
                <a16:creationId xmlns:a16="http://schemas.microsoft.com/office/drawing/2014/main" id="{ACF63A63-D1A5-40BE-B94E-65A677A6393A}"/>
              </a:ext>
            </a:extLst>
          </p:cNvPr>
          <p:cNvCxnSpPr>
            <a:cxnSpLocks noChangeShapeType="1"/>
            <a:stCxn id="70672" idx="0"/>
            <a:endCxn id="70661" idx="6"/>
          </p:cNvCxnSpPr>
          <p:nvPr/>
        </p:nvCxnSpPr>
        <p:spPr bwMode="auto">
          <a:xfrm rot="5400000" flipH="1">
            <a:off x="4595019" y="4479132"/>
            <a:ext cx="846138" cy="625475"/>
          </a:xfrm>
          <a:prstGeom prst="curvedConnector2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70676" name="AutoShape 20">
            <a:extLst>
              <a:ext uri="{FF2B5EF4-FFF2-40B4-BE49-F238E27FC236}">
                <a16:creationId xmlns:a16="http://schemas.microsoft.com/office/drawing/2014/main" id="{E88E4B0D-3520-4201-9C77-14B071266224}"/>
              </a:ext>
            </a:extLst>
          </p:cNvPr>
          <p:cNvCxnSpPr>
            <a:cxnSpLocks noChangeShapeType="1"/>
            <a:stCxn id="70674" idx="0"/>
            <a:endCxn id="70663" idx="2"/>
          </p:cNvCxnSpPr>
          <p:nvPr/>
        </p:nvCxnSpPr>
        <p:spPr bwMode="auto">
          <a:xfrm rot="16200000">
            <a:off x="3152775" y="3024188"/>
            <a:ext cx="534988" cy="747712"/>
          </a:xfrm>
          <a:prstGeom prst="curvedConnector2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70677" name="Rectangle 21">
            <a:extLst>
              <a:ext uri="{FF2B5EF4-FFF2-40B4-BE49-F238E27FC236}">
                <a16:creationId xmlns:a16="http://schemas.microsoft.com/office/drawing/2014/main" id="{1387C7BF-187C-4790-BAEF-CBB6B73DA7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713" y="3627439"/>
            <a:ext cx="374650" cy="274637"/>
          </a:xfrm>
          <a:prstGeom prst="rect">
            <a:avLst/>
          </a:prstGeom>
          <a:solidFill>
            <a:srgbClr val="E2E2E2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7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3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ts val="6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ts val="5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fr-CA" altLang="fr-FR" sz="1200">
                <a:solidFill>
                  <a:schemeClr val="tx1"/>
                </a:solidFill>
                <a:latin typeface="Times New Roman" panose="02020603050405020304" pitchFamily="18" charset="0"/>
              </a:rPr>
              <a:t>0.5</a:t>
            </a:r>
            <a:endParaRPr lang="en-CA" altLang="fr-FR" sz="1200" baseline="-250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70678" name="Rectangle 22">
            <a:extLst>
              <a:ext uri="{FF2B5EF4-FFF2-40B4-BE49-F238E27FC236}">
                <a16:creationId xmlns:a16="http://schemas.microsoft.com/office/drawing/2014/main" id="{2912E14D-6DA1-4CCC-B86F-B8247564E7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49613" y="4900614"/>
            <a:ext cx="374650" cy="274637"/>
          </a:xfrm>
          <a:prstGeom prst="rect">
            <a:avLst/>
          </a:prstGeom>
          <a:solidFill>
            <a:srgbClr val="E2E2E2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7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3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ts val="6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ts val="5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fr-CA" altLang="fr-FR" sz="1200">
                <a:solidFill>
                  <a:schemeClr val="tx1"/>
                </a:solidFill>
                <a:latin typeface="Times New Roman" panose="02020603050405020304" pitchFamily="18" charset="0"/>
              </a:rPr>
              <a:t>0.7</a:t>
            </a:r>
            <a:endParaRPr lang="en-CA" altLang="fr-FR" sz="1200" baseline="-250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70679" name="Rectangle 23">
            <a:extLst>
              <a:ext uri="{FF2B5EF4-FFF2-40B4-BE49-F238E27FC236}">
                <a16:creationId xmlns:a16="http://schemas.microsoft.com/office/drawing/2014/main" id="{4CBE4EDA-562B-41B2-ADBF-EBA1FF4FF3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65525" y="5175250"/>
            <a:ext cx="425450" cy="274638"/>
          </a:xfrm>
          <a:prstGeom prst="rect">
            <a:avLst/>
          </a:prstGeom>
          <a:solidFill>
            <a:srgbClr val="E2E2E2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7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3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ts val="6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ts val="5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fr-CA" altLang="fr-FR" sz="1200">
                <a:solidFill>
                  <a:schemeClr val="tx1"/>
                </a:solidFill>
                <a:latin typeface="Times New Roman" panose="02020603050405020304" pitchFamily="18" charset="0"/>
              </a:rPr>
              <a:t>-0.4</a:t>
            </a:r>
            <a:endParaRPr lang="en-CA" altLang="fr-FR" sz="1200" baseline="-250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70680" name="Rectangle 24">
            <a:extLst>
              <a:ext uri="{FF2B5EF4-FFF2-40B4-BE49-F238E27FC236}">
                <a16:creationId xmlns:a16="http://schemas.microsoft.com/office/drawing/2014/main" id="{8D256762-7E48-4B53-9C88-6B8BDC0B91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73525" y="5156200"/>
            <a:ext cx="425450" cy="274638"/>
          </a:xfrm>
          <a:prstGeom prst="rect">
            <a:avLst/>
          </a:prstGeom>
          <a:solidFill>
            <a:srgbClr val="E2E2E2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7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3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ts val="6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ts val="5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fr-CA" altLang="fr-FR" sz="1200">
                <a:solidFill>
                  <a:schemeClr val="tx1"/>
                </a:solidFill>
                <a:latin typeface="Times New Roman" panose="02020603050405020304" pitchFamily="18" charset="0"/>
              </a:rPr>
              <a:t>-0.2</a:t>
            </a:r>
            <a:endParaRPr lang="en-CA" altLang="fr-FR" sz="1200" baseline="-250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70681" name="Rectangle 25">
            <a:extLst>
              <a:ext uri="{FF2B5EF4-FFF2-40B4-BE49-F238E27FC236}">
                <a16:creationId xmlns:a16="http://schemas.microsoft.com/office/drawing/2014/main" id="{688566B4-6105-41A2-8BD3-2229E300DC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9600" y="4900614"/>
            <a:ext cx="374650" cy="274637"/>
          </a:xfrm>
          <a:prstGeom prst="rect">
            <a:avLst/>
          </a:prstGeom>
          <a:solidFill>
            <a:srgbClr val="E2E2E2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7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3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ts val="6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ts val="5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fr-CA" altLang="fr-FR" sz="1200">
                <a:solidFill>
                  <a:schemeClr val="tx1"/>
                </a:solidFill>
                <a:latin typeface="Times New Roman" panose="02020603050405020304" pitchFamily="18" charset="0"/>
              </a:rPr>
              <a:t>0.3</a:t>
            </a:r>
            <a:endParaRPr lang="en-CA" altLang="fr-FR" sz="1200" baseline="-250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70682" name="Rectangle 26">
            <a:extLst>
              <a:ext uri="{FF2B5EF4-FFF2-40B4-BE49-F238E27FC236}">
                <a16:creationId xmlns:a16="http://schemas.microsoft.com/office/drawing/2014/main" id="{78817055-F40E-461A-9F61-3831955F08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03700" y="3627439"/>
            <a:ext cx="374650" cy="274637"/>
          </a:xfrm>
          <a:prstGeom prst="rect">
            <a:avLst/>
          </a:prstGeom>
          <a:solidFill>
            <a:srgbClr val="E2E2E2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7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3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ts val="6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ts val="5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fr-CA" altLang="fr-FR" sz="1200">
                <a:solidFill>
                  <a:schemeClr val="tx1"/>
                </a:solidFill>
                <a:latin typeface="Times New Roman" panose="02020603050405020304" pitchFamily="18" charset="0"/>
              </a:rPr>
              <a:t>0.1</a:t>
            </a:r>
            <a:endParaRPr lang="en-CA" altLang="fr-FR" sz="1200" baseline="-250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70683" name="Rectangle 27">
            <a:extLst>
              <a:ext uri="{FF2B5EF4-FFF2-40B4-BE49-F238E27FC236}">
                <a16:creationId xmlns:a16="http://schemas.microsoft.com/office/drawing/2014/main" id="{A663B46D-3F8A-4D66-B0EC-DDFCF8A752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63888" y="3165475"/>
            <a:ext cx="425450" cy="274638"/>
          </a:xfrm>
          <a:prstGeom prst="rect">
            <a:avLst/>
          </a:prstGeom>
          <a:solidFill>
            <a:srgbClr val="E2E2E2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7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3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ts val="6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ts val="5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fr-CA" altLang="fr-FR" sz="1200">
                <a:solidFill>
                  <a:schemeClr val="tx1"/>
                </a:solidFill>
                <a:latin typeface="Times New Roman" panose="02020603050405020304" pitchFamily="18" charset="0"/>
              </a:rPr>
              <a:t>-0.3</a:t>
            </a:r>
            <a:endParaRPr lang="en-CA" altLang="fr-FR" sz="1200" baseline="-250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70684" name="Rectangle 28">
            <a:extLst>
              <a:ext uri="{FF2B5EF4-FFF2-40B4-BE49-F238E27FC236}">
                <a16:creationId xmlns:a16="http://schemas.microsoft.com/office/drawing/2014/main" id="{4CDF444D-0C8D-4FCC-A878-EE05E79C99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56188" y="4662489"/>
            <a:ext cx="374650" cy="274637"/>
          </a:xfrm>
          <a:prstGeom prst="rect">
            <a:avLst/>
          </a:prstGeom>
          <a:solidFill>
            <a:srgbClr val="E2E2E2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7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3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ts val="6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ts val="5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fr-CA" altLang="fr-FR" sz="1200">
                <a:solidFill>
                  <a:schemeClr val="tx1"/>
                </a:solidFill>
                <a:latin typeface="Times New Roman" panose="02020603050405020304" pitchFamily="18" charset="0"/>
              </a:rPr>
              <a:t>0.6</a:t>
            </a:r>
            <a:endParaRPr lang="en-CA" altLang="fr-FR" sz="1200" baseline="-250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cxnSp>
        <p:nvCxnSpPr>
          <p:cNvPr id="70685" name="AutoShape 29">
            <a:extLst>
              <a:ext uri="{FF2B5EF4-FFF2-40B4-BE49-F238E27FC236}">
                <a16:creationId xmlns:a16="http://schemas.microsoft.com/office/drawing/2014/main" id="{6F13DFD9-8F6A-4DC0-92B2-CCEEBC44661D}"/>
              </a:ext>
            </a:extLst>
          </p:cNvPr>
          <p:cNvCxnSpPr>
            <a:cxnSpLocks noChangeShapeType="1"/>
            <a:stCxn id="70673" idx="0"/>
            <a:endCxn id="70662" idx="2"/>
          </p:cNvCxnSpPr>
          <p:nvPr/>
        </p:nvCxnSpPr>
        <p:spPr bwMode="auto">
          <a:xfrm rot="16200000">
            <a:off x="2547145" y="4506120"/>
            <a:ext cx="815975" cy="601663"/>
          </a:xfrm>
          <a:prstGeom prst="curvedConnector2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70686" name="Rectangle 30">
            <a:extLst>
              <a:ext uri="{FF2B5EF4-FFF2-40B4-BE49-F238E27FC236}">
                <a16:creationId xmlns:a16="http://schemas.microsoft.com/office/drawing/2014/main" id="{1260136F-DF68-4E1D-9DAB-99D0E98D94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16200" y="4625975"/>
            <a:ext cx="374650" cy="274638"/>
          </a:xfrm>
          <a:prstGeom prst="rect">
            <a:avLst/>
          </a:prstGeom>
          <a:solidFill>
            <a:srgbClr val="E2E2E2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7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3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ts val="6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ts val="5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fr-CA" altLang="fr-FR" sz="1200">
                <a:solidFill>
                  <a:schemeClr val="tx1"/>
                </a:solidFill>
                <a:latin typeface="Times New Roman" panose="02020603050405020304" pitchFamily="18" charset="0"/>
              </a:rPr>
              <a:t>0.4</a:t>
            </a:r>
            <a:endParaRPr lang="en-CA" altLang="fr-FR" sz="1200" baseline="-250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70687" name="Text Box 31">
            <a:extLst>
              <a:ext uri="{FF2B5EF4-FFF2-40B4-BE49-F238E27FC236}">
                <a16:creationId xmlns:a16="http://schemas.microsoft.com/office/drawing/2014/main" id="{FC7E7C5B-8A4F-482E-8FE3-68138F043B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40464" y="2151063"/>
            <a:ext cx="3825875" cy="2062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7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3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ts val="6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ts val="5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fr-CA" altLang="fr-FR" sz="2000" b="1">
                <a:solidFill>
                  <a:schemeClr val="tx1"/>
                </a:solidFill>
                <a:latin typeface="Times New Roman" panose="02020603050405020304" pitchFamily="18" charset="0"/>
              </a:rPr>
              <a:t>Seuls changent la dérivée de la fonction d’activation bipolaire et la mise à jour des poids entre l’entrée et la couche cachée. 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fr-CA" altLang="fr-FR" sz="2400">
              <a:solidFill>
                <a:schemeClr val="tx1"/>
              </a:solidFill>
              <a:latin typeface="Times New Roman" panose="02020603050405020304" pitchFamily="18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CA" altLang="fr-FR" sz="24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70688" name="Group 32">
            <a:extLst>
              <a:ext uri="{FF2B5EF4-FFF2-40B4-BE49-F238E27FC236}">
                <a16:creationId xmlns:a16="http://schemas.microsoft.com/office/drawing/2014/main" id="{30317FF7-0936-4D2A-9604-A7968A89FCAB}"/>
              </a:ext>
            </a:extLst>
          </p:cNvPr>
          <p:cNvGrpSpPr>
            <a:grpSpLocks/>
          </p:cNvGrpSpPr>
          <p:nvPr/>
        </p:nvGrpSpPr>
        <p:grpSpPr bwMode="auto">
          <a:xfrm>
            <a:off x="1524001" y="44451"/>
            <a:ext cx="9142413" cy="365125"/>
            <a:chOff x="0" y="28"/>
            <a:chExt cx="5759" cy="230"/>
          </a:xfrm>
        </p:grpSpPr>
        <p:sp>
          <p:nvSpPr>
            <p:cNvPr id="70691" name="AutoShape 33">
              <a:extLst>
                <a:ext uri="{FF2B5EF4-FFF2-40B4-BE49-F238E27FC236}">
                  <a16:creationId xmlns:a16="http://schemas.microsoft.com/office/drawing/2014/main" id="{E3202D25-D564-4C34-9AD3-6FF1D0710BC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28"/>
              <a:ext cx="5760" cy="231"/>
            </a:xfrm>
            <a:prstGeom prst="roundRect">
              <a:avLst>
                <a:gd name="adj" fmla="val 431"/>
              </a:avLst>
            </a:prstGeom>
            <a:solidFill>
              <a:srgbClr val="3366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ts val="788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•"/>
                <a:defRPr sz="32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ts val="688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–"/>
                <a:defRPr sz="28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ts val="588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•"/>
                <a:defRPr sz="2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ts val="488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–"/>
                <a:defRPr sz="20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ts val="488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ts val="488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ts val="488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ts val="488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ts val="488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fr-FR" altLang="fr-FR" sz="1800">
                <a:latin typeface="Times New Roman" panose="02020603050405020304" pitchFamily="18" charset="0"/>
              </a:endParaRPr>
            </a:p>
          </p:txBody>
        </p:sp>
        <p:sp>
          <p:nvSpPr>
            <p:cNvPr id="70692" name="Text Box 34">
              <a:extLst>
                <a:ext uri="{FF2B5EF4-FFF2-40B4-BE49-F238E27FC236}">
                  <a16:creationId xmlns:a16="http://schemas.microsoft.com/office/drawing/2014/main" id="{45CBF219-452D-445C-B0E8-4C5ECE3202A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0" y="28"/>
              <a:ext cx="576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000" tIns="46800" rIns="90000" bIns="46800">
              <a:spAutoFit/>
            </a:bodyPr>
            <a:lstStyle>
              <a:lvl1pPr>
                <a:spcBef>
                  <a:spcPts val="788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•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32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ts val="688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–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8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ts val="588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•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ts val="488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–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ts val="488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ts val="488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ts val="488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ts val="488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ts val="488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96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r>
                <a:rPr lang="en-GB" altLang="fr-FR" sz="1800">
                  <a:solidFill>
                    <a:schemeClr val="tx1"/>
                  </a:solidFill>
                </a:rPr>
                <a:t>Intelligence Artificielle 		Apprentissage			</a:t>
              </a:r>
            </a:p>
          </p:txBody>
        </p:sp>
      </p:grpSp>
      <p:pic>
        <p:nvPicPr>
          <p:cNvPr id="70689" name="Picture 35">
            <a:extLst>
              <a:ext uri="{FF2B5EF4-FFF2-40B4-BE49-F238E27FC236}">
                <a16:creationId xmlns:a16="http://schemas.microsoft.com/office/drawing/2014/main" id="{6830C82D-0AA2-4C2D-AD44-5B2B283149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10338" y="3783014"/>
            <a:ext cx="3833812" cy="1000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0690" name="Rectangle 2">
            <a:extLst>
              <a:ext uri="{FF2B5EF4-FFF2-40B4-BE49-F238E27FC236}">
                <a16:creationId xmlns:a16="http://schemas.microsoft.com/office/drawing/2014/main" id="{AE689119-7A14-4D20-91F9-2943E17CB5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10338" y="4679950"/>
            <a:ext cx="28257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7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3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ts val="6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ts val="5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fr-FR" altLang="fr-FR" sz="1800" i="1">
                <a:latin typeface="Times New Roman" panose="02020603050405020304" pitchFamily="18" charset="0"/>
              </a:rPr>
              <a:t>f </a:t>
            </a:r>
            <a:r>
              <a:rPr lang="fr-FR" altLang="fr-FR" sz="1800">
                <a:latin typeface="Times New Roman" panose="02020603050405020304" pitchFamily="18" charset="0"/>
              </a:rPr>
              <a:t>ʹ( </a:t>
            </a:r>
            <a:r>
              <a:rPr lang="fr-FR" altLang="fr-FR" sz="1800" i="1">
                <a:latin typeface="Times New Roman" panose="02020603050405020304" pitchFamily="18" charset="0"/>
              </a:rPr>
              <a:t>a</a:t>
            </a:r>
            <a:r>
              <a:rPr lang="fr-FR" altLang="fr-FR" sz="1800">
                <a:latin typeface="Times New Roman" panose="02020603050405020304" pitchFamily="18" charset="0"/>
              </a:rPr>
              <a:t>) =1/2*(1+ </a:t>
            </a:r>
            <a:r>
              <a:rPr lang="fr-FR" altLang="fr-FR" sz="1800" i="1">
                <a:latin typeface="Times New Roman" panose="02020603050405020304" pitchFamily="18" charset="0"/>
              </a:rPr>
              <a:t>y</a:t>
            </a:r>
            <a:r>
              <a:rPr lang="fr-FR" altLang="fr-FR" sz="1800">
                <a:latin typeface="Times New Roman" panose="02020603050405020304" pitchFamily="18" charset="0"/>
              </a:rPr>
              <a:t>)(1− </a:t>
            </a:r>
            <a:r>
              <a:rPr lang="fr-FR" altLang="fr-FR" sz="1800" i="1">
                <a:latin typeface="Times New Roman" panose="02020603050405020304" pitchFamily="18" charset="0"/>
              </a:rPr>
              <a:t>y</a:t>
            </a:r>
            <a:r>
              <a:rPr lang="fr-FR" altLang="fr-FR" sz="1800">
                <a:latin typeface="Times New Roman" panose="02020603050405020304" pitchFamily="18" charset="0"/>
              </a:rPr>
              <a:t>)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BC98160-231A-40CF-B2D4-64EC029839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06AE51-5606-4246-9C72-66A40F31299F}" type="slidenum">
              <a:rPr lang="fr-FR" smtClean="0"/>
              <a:pPr/>
              <a:t>47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07508417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06AE51-5606-4246-9C72-66A40F31299F}" type="slidenum">
              <a:rPr lang="fr-FR" smtClean="0"/>
              <a:pPr/>
              <a:t>48</a:t>
            </a:fld>
            <a:endParaRPr lang="fr-FR"/>
          </a:p>
        </p:txBody>
      </p:sp>
      <p:sp>
        <p:nvSpPr>
          <p:cNvPr id="3" name="ZoneTexte 2"/>
          <p:cNvSpPr txBox="1"/>
          <p:nvPr/>
        </p:nvSpPr>
        <p:spPr>
          <a:xfrm>
            <a:off x="5185063" y="2522620"/>
            <a:ext cx="2691246" cy="70788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sz="4000" dirty="0"/>
              <a:t>FIN</a:t>
            </a:r>
          </a:p>
        </p:txBody>
      </p:sp>
    </p:spTree>
    <p:extLst>
      <p:ext uri="{BB962C8B-B14F-4D97-AF65-F5344CB8AC3E}">
        <p14:creationId xmlns:p14="http://schemas.microsoft.com/office/powerpoint/2010/main" val="3651189571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Executive</Template>
  <TotalTime>16814</TotalTime>
  <Words>1959</Words>
  <Application>Microsoft Office PowerPoint</Application>
  <PresentationFormat>Grand écran</PresentationFormat>
  <Paragraphs>378</Paragraphs>
  <Slides>48</Slides>
  <Notes>11</Notes>
  <HiddenSlides>0</HiddenSlides>
  <MMClips>0</MMClips>
  <ScaleCrop>false</ScaleCrop>
  <HeadingPairs>
    <vt:vector size="6" baseType="variant">
      <vt:variant>
        <vt:lpstr>Polices utilisées</vt:lpstr>
      </vt:variant>
      <vt:variant>
        <vt:i4>7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48</vt:i4>
      </vt:variant>
    </vt:vector>
  </HeadingPairs>
  <TitlesOfParts>
    <vt:vector size="56" baseType="lpstr">
      <vt:lpstr>Arial</vt:lpstr>
      <vt:lpstr>Calibri</vt:lpstr>
      <vt:lpstr>Cambria Math</vt:lpstr>
      <vt:lpstr>Sylfaen</vt:lpstr>
      <vt:lpstr>Symbol</vt:lpstr>
      <vt:lpstr>Times New Roman</vt:lpstr>
      <vt:lpstr>Wingdings</vt:lpstr>
      <vt:lpstr>Thème Office</vt:lpstr>
      <vt:lpstr>Présentation PowerPoint</vt:lpstr>
      <vt:lpstr>Limite des modèles linéaires </vt:lpstr>
      <vt:lpstr>L’exemple du XOR </vt:lpstr>
      <vt:lpstr>L’exemple du XOR </vt:lpstr>
      <vt:lpstr>L’exemple du XOR </vt:lpstr>
      <vt:lpstr>Perceptron multicouche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SADGAL MOHAMMED</dc:creator>
  <cp:lastModifiedBy>said</cp:lastModifiedBy>
  <cp:revision>107</cp:revision>
  <cp:lastPrinted>2024-03-13T13:17:02Z</cp:lastPrinted>
  <dcterms:created xsi:type="dcterms:W3CDTF">2020-04-01T17:03:15Z</dcterms:created>
  <dcterms:modified xsi:type="dcterms:W3CDTF">2024-03-17T18:58:59Z</dcterms:modified>
</cp:coreProperties>
</file>