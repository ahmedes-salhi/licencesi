
<file path=[Content_Types].xml><?xml version="1.0" encoding="utf-8"?>
<Types xmlns="http://schemas.openxmlformats.org/package/2006/content-types"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77" r:id="rId3"/>
    <p:sldId id="278" r:id="rId4"/>
    <p:sldId id="280" r:id="rId5"/>
    <p:sldId id="485" r:id="rId6"/>
    <p:sldId id="281" r:id="rId7"/>
    <p:sldId id="291" r:id="rId8"/>
    <p:sldId id="282" r:id="rId9"/>
    <p:sldId id="283" r:id="rId10"/>
    <p:sldId id="292" r:id="rId11"/>
    <p:sldId id="284" r:id="rId12"/>
    <p:sldId id="305" r:id="rId13"/>
    <p:sldId id="353" r:id="rId14"/>
    <p:sldId id="497" r:id="rId15"/>
    <p:sldId id="355" r:id="rId16"/>
    <p:sldId id="363" r:id="rId17"/>
    <p:sldId id="489" r:id="rId18"/>
    <p:sldId id="498" r:id="rId19"/>
    <p:sldId id="338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92" d="100"/>
          <a:sy n="92" d="100"/>
        </p:scale>
        <p:origin x="-498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38D6AB-FEA6-40B3-854E-0880FB594D32}" type="datetimeFigureOut">
              <a:rPr lang="fr-FR" smtClean="0"/>
              <a:pPr/>
              <a:t>06/03/2024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B63F1-B53C-44A5-9FB1-CC6D52FEB1C9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3213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xmlns="" id="{3DD804D7-3002-46B1-9099-1CE9A2814C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xmlns="" id="{19D3F276-5DA8-43E9-8284-B8E9DA08567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987425" y="3228975"/>
            <a:ext cx="7899400" cy="30607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>
            <a:extLst>
              <a:ext uri="{FF2B5EF4-FFF2-40B4-BE49-F238E27FC236}">
                <a16:creationId xmlns:a16="http://schemas.microsoft.com/office/drawing/2014/main" xmlns="" id="{73EC3DDA-124E-4C92-997B-88DCEB1642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xmlns="" id="{C083195C-8D41-4F8D-A117-2FE29496A3D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987425" y="3228975"/>
            <a:ext cx="7899400" cy="30607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>
            <a:extLst>
              <a:ext uri="{FF2B5EF4-FFF2-40B4-BE49-F238E27FC236}">
                <a16:creationId xmlns:a16="http://schemas.microsoft.com/office/drawing/2014/main" xmlns="" id="{FEBD1B43-0377-4CBB-840C-B9F2A97D9E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xmlns="" id="{3BE307FB-E1D2-47CA-9242-65CE7A29086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987425" y="3228975"/>
            <a:ext cx="7899400" cy="30607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>
            <a:extLst>
              <a:ext uri="{FF2B5EF4-FFF2-40B4-BE49-F238E27FC236}">
                <a16:creationId xmlns:a16="http://schemas.microsoft.com/office/drawing/2014/main" xmlns="" id="{BEB33C22-FA85-4450-A7C2-9D3CE9FFE5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xmlns="" id="{49FA9EF7-40F8-47F5-BCB0-6E957BD139F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987425" y="3228975"/>
            <a:ext cx="7899400" cy="30607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>
            <a:extLst>
              <a:ext uri="{FF2B5EF4-FFF2-40B4-BE49-F238E27FC236}">
                <a16:creationId xmlns:a16="http://schemas.microsoft.com/office/drawing/2014/main" xmlns="" id="{17803A63-C8BF-462A-9E79-C31708EFC8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xmlns="" id="{11B27CAB-7747-4AE9-9869-C23EBDEF2D6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987425" y="3228975"/>
            <a:ext cx="7899400" cy="30607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xmlns="" id="{269BE242-0EA3-4283-B644-3E0CC1EFD4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xmlns="" id="{6A21D986-0C69-49F2-B19A-01E6EFDAAAA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>
            <a:extLst>
              <a:ext uri="{FF2B5EF4-FFF2-40B4-BE49-F238E27FC236}">
                <a16:creationId xmlns:a16="http://schemas.microsoft.com/office/drawing/2014/main" xmlns="" id="{560CF874-7E61-47DF-8B31-AADF20E571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xmlns="" id="{EC7A0F5D-0CE6-4DB7-A122-CB092A8B7A3A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987425" y="3228975"/>
            <a:ext cx="7899400" cy="30607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>
            <a:extLst>
              <a:ext uri="{FF2B5EF4-FFF2-40B4-BE49-F238E27FC236}">
                <a16:creationId xmlns:a16="http://schemas.microsoft.com/office/drawing/2014/main" xmlns="" id="{FAA0F7F2-5D69-41C2-9EFB-153D7331FB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xmlns="" id="{CA0FDFA0-2AF6-4DC5-BE18-FC799D5F8E3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987425" y="3228975"/>
            <a:ext cx="7899400" cy="30607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xmlns="" id="{1039D002-C7A7-43C0-817F-991F7D2EE6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xmlns="" id="{EFAAF77F-2797-4F12-81D6-BEC9C7FFF4A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>
            <a:extLst>
              <a:ext uri="{FF2B5EF4-FFF2-40B4-BE49-F238E27FC236}">
                <a16:creationId xmlns:a16="http://schemas.microsoft.com/office/drawing/2014/main" xmlns="" id="{A7A2B5AD-1D9C-4716-BCE7-E9F72D3AE9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xmlns="" id="{6E0B4152-8F6C-4CB9-823B-99F2E89D869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987425" y="3228975"/>
            <a:ext cx="7899400" cy="30607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xmlns="" id="{DDAECFEA-E2C2-4A86-B87E-8EEA7910D4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xmlns="" id="{8A3FFAE2-565E-417E-928C-67A93A92120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xmlns="" id="{9086855B-A07F-47BE-AD7F-F682965939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xmlns="" id="{59D63386-ACFE-4218-B0E5-DA546CCBAEA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5D04B1-C52A-4630-ABAD-AE0419578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3C670EE-864F-46D9-BC7C-13CE4C248D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02DC0A7-1FED-4143-A10B-7825A7DFB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B6FC0-B6FD-4A99-A6F1-9EFFDC3662D1}" type="datetime1">
              <a:rPr lang="fr-FR" smtClean="0"/>
              <a:pPr/>
              <a:t>06/03/2024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30E1966-C153-42D9-8A26-87E56D4A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BE61FD-29B4-4EDF-9B24-7D7F9FDFC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4004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529FB5-32FE-44D4-9BD8-8314505C3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A8DF592-7968-4654-A68B-2E43D3B85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16C6002-0C53-4BB3-A37E-7883DD4AA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63DC7-478E-43CE-B4D5-55789C2BA1CE}" type="datetime1">
              <a:rPr lang="fr-FR" smtClean="0"/>
              <a:pPr/>
              <a:t>06/03/2024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F3235B2-AC8A-4F80-9CD8-A664E5D07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33504C5-F2C6-42BC-87EC-029B096F1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7214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5761AF-DC03-49D0-9BF6-CE1BBBFBF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9CEB255-28C5-45FC-892E-0AB8D76EF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EFEF97B-6487-4783-AD07-0AD1F401E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F875-5FD1-4051-9DCF-1B546AF711ED}" type="datetime1">
              <a:rPr lang="fr-FR" smtClean="0"/>
              <a:pPr/>
              <a:t>06/03/2024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FC04510-84B0-4677-8156-212B743F4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20AE97-81A5-41D7-A05B-777087AC9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4914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AA141B-A2CA-4CB5-BC2B-420C78586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D0AC51E-3CAE-43B0-A059-17D942221E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7713508-9850-4189-B21E-D87C124B2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C72002A-1F07-44BB-9C39-E043C05AB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7C3E-0D5E-4CE2-8698-77AFF4B5A533}" type="datetime1">
              <a:rPr lang="fr-FR" smtClean="0"/>
              <a:pPr/>
              <a:t>06/03/2024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D4F4F5E-2474-4C04-89E3-0387E8CCC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12C52B4-095F-42A0-B188-13F29372E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698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4E7DBC-49A8-4D94-94DB-0C0D3A82E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150718D-3CB6-4472-B883-4F4F085FF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EC1026E-F5F8-459B-B470-2B5A345EDE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1ED1122-7B64-4A15-B5C5-C9C8112050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E0A8B1BA-7958-4517-8542-34822089F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1DA2B2D9-F12F-4185-8AA6-959ACBDC5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84D2C-EDB9-4497-B46A-EB9B3C6A67F3}" type="datetime1">
              <a:rPr lang="fr-FR" smtClean="0"/>
              <a:pPr/>
              <a:t>06/03/2024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482CD1CE-EBC1-4AEA-985E-3F15F2C62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B6BEDF0-46B2-41E6-8CE7-2FE3D2792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5140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C9C362-114C-46F2-A037-72E4024DD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374F184-D6AD-4F8C-935E-1B20AA5A3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2F5E6-A25B-4D4F-BAB7-203D184A66FA}" type="datetime1">
              <a:rPr lang="fr-FR" smtClean="0"/>
              <a:pPr/>
              <a:t>06/03/2024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5FCB7F3-14CD-460D-8C1E-03E40E578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08F94A2-F28E-470B-9A84-9DFC073AA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0073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A3A00A6-A6D3-4D3C-B422-173840FFE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1435C-BEA1-4F5D-8E7C-43304C0EBA17}" type="datetime1">
              <a:rPr lang="fr-FR" smtClean="0"/>
              <a:pPr/>
              <a:t>06/03/2024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0C35E70F-F28B-45D5-8240-549B53383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5A5CC1B-2E1E-4EAB-BBFD-B554C364F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4432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1794BE-760E-4CDF-8085-773B60B0E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B33A2D7-7777-4F01-87F9-9C7837CB1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D70C18F-4064-4255-A698-7FEC7BC60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D78A7DA-2511-4D4A-AC6F-30AB59CEF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3F54-C3D5-419A-AC76-63FAB64E70FF}" type="datetime1">
              <a:rPr lang="fr-FR" smtClean="0"/>
              <a:pPr/>
              <a:t>06/03/2024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1403B78-EEC7-4FDD-A853-8C8BF6681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39658FB-1DD4-48D6-8E6B-581590906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1765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65CBEF-DF58-476F-AF63-08B2E8C1C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C151BF79-A14A-40D9-8182-779649CAD5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46187A1-173E-4FC8-8288-92799C6EB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33E10B1-7697-442B-ADE6-2DC73502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6B117-ADCB-4543-AEDC-366DD3120B09}" type="datetime1">
              <a:rPr lang="fr-FR" smtClean="0"/>
              <a:pPr/>
              <a:t>06/03/2024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700267C-169A-479F-A45F-2B6617133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72975B1-9786-4577-B654-E0FCE2692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9024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16C093-6334-4230-976A-F79351C07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3361468-83D0-4E52-9D9D-DB8FEBF4F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7832D49-4EFE-4709-A7D6-B50F541F8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771DD-6204-44BF-B7A9-508E9C640590}" type="datetime1">
              <a:rPr lang="fr-FR" smtClean="0"/>
              <a:pPr/>
              <a:t>06/03/2024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69EC7EC-DF84-4DFA-9BE2-CACFC444A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21BBE42-7D74-48B3-B19B-16B0F8411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5558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87BDC174-F2C7-4287-BD20-A06083CCB0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C5B92A0-5E4F-46A1-90BE-77EED7B596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BDFAE91-6F3F-448F-8718-248C4A002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5E26-0B84-4563-9C2A-67BB6C923E34}" type="datetime1">
              <a:rPr lang="fr-FR" smtClean="0"/>
              <a:pPr/>
              <a:t>06/03/2024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923C981-B058-4347-A260-6610F7495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973A97A-CC30-421C-B657-0F4D2F82B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9602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3E5BA34-0AC8-44C3-8F26-949E0B0BE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313539C-8B49-4966-8B72-5A2BD0E62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21CDBB6-429E-4472-9981-A64452EC51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FA739-2F73-42CA-AE03-349EAFF948DC}" type="datetime1">
              <a:rPr lang="fr-FR" smtClean="0"/>
              <a:pPr/>
              <a:t>06/03/2024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3E258C0-A0AC-46D4-AF4B-AF30447D32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8E97520-31FC-4952-BB5C-2B30F4D49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06AE51-5606-4246-9C72-66A40F31299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8414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6.wmf"/><Relationship Id="rId7" Type="http://schemas.openxmlformats.org/officeDocument/2006/relationships/image" Target="../media/image10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wmf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wmf"/><Relationship Id="rId9" Type="http://schemas.openxmlformats.org/officeDocument/2006/relationships/image" Target="../media/image12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w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1">
            <a:extLst>
              <a:ext uri="{FF2B5EF4-FFF2-40B4-BE49-F238E27FC236}">
                <a16:creationId xmlns:a16="http://schemas.microsoft.com/office/drawing/2014/main" xmlns="" id="{E79C5E41-4FC9-4042-9A9E-0A170AE94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5141" y="1587357"/>
            <a:ext cx="5824521" cy="1180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6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3600" dirty="0">
                <a:solidFill>
                  <a:schemeClr val="tx1"/>
                </a:solidFill>
              </a:rPr>
              <a:t>Intelligence </a:t>
            </a:r>
            <a:r>
              <a:rPr lang="en-GB" altLang="fr-FR" sz="3600" dirty="0" err="1">
                <a:solidFill>
                  <a:schemeClr val="tx1"/>
                </a:solidFill>
              </a:rPr>
              <a:t>Artificielle</a:t>
            </a:r>
            <a:endParaRPr lang="en-GB" altLang="fr-FR" sz="3600" dirty="0">
              <a:solidFill>
                <a:schemeClr val="tx1"/>
              </a:solidFill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3600" dirty="0" err="1">
                <a:solidFill>
                  <a:schemeClr val="tx1"/>
                </a:solidFill>
              </a:rPr>
              <a:t>Apprentissage</a:t>
            </a:r>
            <a:r>
              <a:rPr lang="en-GB" altLang="fr-FR" sz="3600" dirty="0">
                <a:solidFill>
                  <a:schemeClr val="tx1"/>
                </a:solidFill>
              </a:rPr>
              <a:t> </a:t>
            </a:r>
            <a:r>
              <a:rPr lang="en-GB" altLang="fr-FR" sz="3600" dirty="0" err="1">
                <a:solidFill>
                  <a:schemeClr val="tx1"/>
                </a:solidFill>
              </a:rPr>
              <a:t>Automatique</a:t>
            </a:r>
            <a:endParaRPr lang="en-GB" altLang="fr-FR" sz="3600" dirty="0">
              <a:solidFill>
                <a:schemeClr val="tx1"/>
              </a:solidFill>
            </a:endParaRPr>
          </a:p>
        </p:txBody>
      </p:sp>
      <p:grpSp>
        <p:nvGrpSpPr>
          <p:cNvPr id="4099" name="Group 2">
            <a:extLst>
              <a:ext uri="{FF2B5EF4-FFF2-40B4-BE49-F238E27FC236}">
                <a16:creationId xmlns:a16="http://schemas.microsoft.com/office/drawing/2014/main" xmlns="" id="{ACBA6E1B-1E57-44C1-BF8D-327D6B225B5B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44451"/>
            <a:ext cx="9142413" cy="365125"/>
            <a:chOff x="0" y="28"/>
            <a:chExt cx="5759" cy="230"/>
          </a:xfrm>
        </p:grpSpPr>
        <p:sp>
          <p:nvSpPr>
            <p:cNvPr id="4100" name="AutoShape 3">
              <a:extLst>
                <a:ext uri="{FF2B5EF4-FFF2-40B4-BE49-F238E27FC236}">
                  <a16:creationId xmlns:a16="http://schemas.microsoft.com/office/drawing/2014/main" xmlns="" id="{5DAC29AB-52F7-4D56-983E-73B9D513C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oundRect">
              <a:avLst>
                <a:gd name="adj" fmla="val 431"/>
              </a:avLst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4101" name="Text Box 4">
              <a:extLst>
                <a:ext uri="{FF2B5EF4-FFF2-40B4-BE49-F238E27FC236}">
                  <a16:creationId xmlns:a16="http://schemas.microsoft.com/office/drawing/2014/main" xmlns="" id="{6E9BC03C-BD64-4EC0-8B8F-747EDD82C5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fr-FR" sz="1800">
                  <a:solidFill>
                    <a:schemeClr val="tx1"/>
                  </a:solidFill>
                </a:rPr>
                <a:t>Intelligence Artificielle 		Apprentissage			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07D16168-740E-4AD7-A02A-81DDC4395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1</a:t>
            </a:fld>
            <a:endParaRPr lang="fr-FR"/>
          </a:p>
        </p:txBody>
      </p:sp>
      <p:sp>
        <p:nvSpPr>
          <p:cNvPr id="7" name="Text Box 1">
            <a:extLst>
              <a:ext uri="{FF2B5EF4-FFF2-40B4-BE49-F238E27FC236}">
                <a16:creationId xmlns:a16="http://schemas.microsoft.com/office/drawing/2014/main" xmlns="" id="{9A8FF2C6-AC4D-4E01-8701-0C3CB889C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5638" y="3349337"/>
            <a:ext cx="5800284" cy="1394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4400" dirty="0" err="1">
                <a:solidFill>
                  <a:schemeClr val="tx1"/>
                </a:solidFill>
              </a:rPr>
              <a:t>Réseaux</a:t>
            </a:r>
            <a:r>
              <a:rPr lang="en-GB" altLang="fr-FR" sz="4400" dirty="0">
                <a:solidFill>
                  <a:schemeClr val="tx1"/>
                </a:solidFill>
              </a:rPr>
              <a:t> de </a:t>
            </a:r>
            <a:r>
              <a:rPr lang="en-GB" altLang="fr-FR" sz="4400" dirty="0" smtClean="0">
                <a:solidFill>
                  <a:schemeClr val="tx1"/>
                </a:solidFill>
              </a:rPr>
              <a:t>Neurones</a:t>
            </a:r>
          </a:p>
          <a:p>
            <a:pPr algn="ctr" eaLnBrk="1" hangingPunct="1">
              <a:lnSpc>
                <a:spcPct val="96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4400" dirty="0" err="1" smtClean="0">
                <a:solidFill>
                  <a:schemeClr val="tx1"/>
                </a:solidFill>
              </a:rPr>
              <a:t>Partie</a:t>
            </a:r>
            <a:r>
              <a:rPr lang="en-GB" altLang="fr-FR" sz="4400" dirty="0" smtClean="0">
                <a:solidFill>
                  <a:schemeClr val="tx1"/>
                </a:solidFill>
              </a:rPr>
              <a:t> I</a:t>
            </a:r>
            <a:endParaRPr lang="en-GB" altLang="fr-FR" sz="4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">
            <a:extLst>
              <a:ext uri="{FF2B5EF4-FFF2-40B4-BE49-F238E27FC236}">
                <a16:creationId xmlns:a16="http://schemas.microsoft.com/office/drawing/2014/main" xmlns="" id="{E47917AF-0B7E-438A-9A1B-AEAFCEF8C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2038" y="692150"/>
            <a:ext cx="5148262" cy="512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 dirty="0" err="1">
                <a:solidFill>
                  <a:schemeClr val="tx1"/>
                </a:solidFill>
              </a:rPr>
              <a:t>Diamètre</a:t>
            </a:r>
            <a:r>
              <a:rPr lang="en-GB" altLang="fr-FR" sz="1800" dirty="0">
                <a:solidFill>
                  <a:schemeClr val="tx1"/>
                </a:solidFill>
              </a:rPr>
              <a:t> de la cellule: 0.01 - 0.05 mm,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2000" b="1" dirty="0">
                <a:solidFill>
                  <a:schemeClr val="tx1"/>
                </a:solidFill>
              </a:rPr>
              <a:t>Soma (corps </a:t>
            </a:r>
            <a:r>
              <a:rPr lang="en-GB" altLang="fr-FR" sz="2000" b="1" dirty="0" err="1">
                <a:solidFill>
                  <a:schemeClr val="tx1"/>
                </a:solidFill>
              </a:rPr>
              <a:t>cellulaire</a:t>
            </a:r>
            <a:r>
              <a:rPr lang="en-GB" altLang="fr-FR" sz="2000" b="1" dirty="0">
                <a:solidFill>
                  <a:schemeClr val="tx1"/>
                </a:solidFill>
              </a:rPr>
              <a:t>)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 dirty="0" err="1">
                <a:solidFill>
                  <a:schemeClr val="tx1"/>
                </a:solidFill>
              </a:rPr>
              <a:t>formes</a:t>
            </a:r>
            <a:r>
              <a:rPr lang="en-GB" altLang="fr-FR" sz="1800" dirty="0">
                <a:solidFill>
                  <a:schemeClr val="tx1"/>
                </a:solidFill>
              </a:rPr>
              <a:t> variables (</a:t>
            </a:r>
            <a:r>
              <a:rPr lang="en-GB" altLang="fr-FR" sz="1800" dirty="0" err="1">
                <a:solidFill>
                  <a:schemeClr val="tx1"/>
                </a:solidFill>
              </a:rPr>
              <a:t>gén</a:t>
            </a:r>
            <a:r>
              <a:rPr lang="en-GB" altLang="fr-FR" sz="1800" dirty="0">
                <a:solidFill>
                  <a:schemeClr val="tx1"/>
                </a:solidFill>
              </a:rPr>
              <a:t>. </a:t>
            </a:r>
            <a:r>
              <a:rPr lang="en-GB" altLang="fr-FR" sz="1800" dirty="0" err="1">
                <a:solidFill>
                  <a:schemeClr val="tx1"/>
                </a:solidFill>
              </a:rPr>
              <a:t>sphériques</a:t>
            </a:r>
            <a:r>
              <a:rPr lang="en-GB" altLang="fr-FR" sz="1800" dirty="0">
                <a:solidFill>
                  <a:schemeClr val="tx1"/>
                </a:solidFill>
              </a:rPr>
              <a:t>),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 dirty="0">
                <a:solidFill>
                  <a:schemeClr val="tx1"/>
                </a:solidFill>
              </a:rPr>
              <a:t>20 µm de </a:t>
            </a:r>
            <a:r>
              <a:rPr lang="en-GB" altLang="fr-FR" sz="1800" dirty="0" err="1">
                <a:solidFill>
                  <a:schemeClr val="tx1"/>
                </a:solidFill>
              </a:rPr>
              <a:t>diamètre</a:t>
            </a:r>
            <a:r>
              <a:rPr lang="en-GB" altLang="fr-FR" sz="1800" dirty="0">
                <a:solidFill>
                  <a:schemeClr val="tx1"/>
                </a:solidFill>
              </a:rPr>
              <a:t>,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 dirty="0" err="1">
                <a:solidFill>
                  <a:schemeClr val="tx1"/>
                </a:solidFill>
              </a:rPr>
              <a:t>contient</a:t>
            </a:r>
            <a:r>
              <a:rPr lang="en-GB" altLang="fr-FR" sz="1800" dirty="0">
                <a:solidFill>
                  <a:schemeClr val="tx1"/>
                </a:solidFill>
              </a:rPr>
              <a:t> le </a:t>
            </a:r>
            <a:r>
              <a:rPr lang="en-GB" altLang="fr-FR" sz="1800" dirty="0" err="1">
                <a:solidFill>
                  <a:schemeClr val="tx1"/>
                </a:solidFill>
              </a:rPr>
              <a:t>noyau</a:t>
            </a:r>
            <a:r>
              <a:rPr lang="en-GB" altLang="fr-FR" sz="1800" dirty="0">
                <a:solidFill>
                  <a:schemeClr val="tx1"/>
                </a:solidFill>
              </a:rPr>
              <a:t>,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 dirty="0" err="1">
                <a:solidFill>
                  <a:schemeClr val="tx1"/>
                </a:solidFill>
              </a:rPr>
              <a:t>entourée</a:t>
            </a:r>
            <a:r>
              <a:rPr lang="en-GB" altLang="fr-FR" sz="1800" dirty="0">
                <a:solidFill>
                  <a:schemeClr val="tx1"/>
                </a:solidFill>
              </a:rPr>
              <a:t> d '</a:t>
            </a:r>
            <a:r>
              <a:rPr lang="en-GB" altLang="fr-FR" sz="1800" dirty="0" err="1">
                <a:solidFill>
                  <a:schemeClr val="tx1"/>
                </a:solidFill>
              </a:rPr>
              <a:t>une</a:t>
            </a:r>
            <a:r>
              <a:rPr lang="en-GB" altLang="fr-FR" sz="1800" dirty="0">
                <a:solidFill>
                  <a:schemeClr val="tx1"/>
                </a:solidFill>
              </a:rPr>
              <a:t> membrane de 5 nm </a:t>
            </a:r>
            <a:r>
              <a:rPr lang="en-GB" altLang="fr-FR" sz="1800" dirty="0" err="1">
                <a:solidFill>
                  <a:schemeClr val="tx1"/>
                </a:solidFill>
              </a:rPr>
              <a:t>d'ép</a:t>
            </a:r>
            <a:r>
              <a:rPr lang="en-GB" altLang="fr-FR" sz="1800" dirty="0">
                <a:solidFill>
                  <a:schemeClr val="tx1"/>
                </a:solidFill>
              </a:rPr>
              <a:t>.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2000" b="1" dirty="0" err="1">
                <a:solidFill>
                  <a:schemeClr val="tx1"/>
                </a:solidFill>
              </a:rPr>
              <a:t>Axone</a:t>
            </a:r>
            <a:endParaRPr lang="en-GB" altLang="fr-FR" sz="2000" b="1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 dirty="0">
                <a:solidFill>
                  <a:schemeClr val="tx1"/>
                </a:solidFill>
              </a:rPr>
              <a:t>unique aux cellules </a:t>
            </a:r>
            <a:r>
              <a:rPr lang="en-GB" altLang="fr-FR" sz="1800" dirty="0" err="1">
                <a:solidFill>
                  <a:schemeClr val="tx1"/>
                </a:solidFill>
              </a:rPr>
              <a:t>nerveuses</a:t>
            </a:r>
            <a:r>
              <a:rPr lang="en-GB" altLang="fr-FR" sz="1800" dirty="0">
                <a:solidFill>
                  <a:schemeClr val="tx1"/>
                </a:solidFill>
              </a:rPr>
              <a:t>,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 dirty="0" err="1">
                <a:solidFill>
                  <a:schemeClr val="tx1"/>
                </a:solidFill>
              </a:rPr>
              <a:t>diamètre</a:t>
            </a:r>
            <a:r>
              <a:rPr lang="en-GB" altLang="fr-FR" sz="1800" dirty="0">
                <a:solidFill>
                  <a:schemeClr val="tx1"/>
                </a:solidFill>
              </a:rPr>
              <a:t>: 1-25 µm (</a:t>
            </a:r>
            <a:r>
              <a:rPr lang="en-GB" altLang="fr-FR" sz="1800" dirty="0" err="1">
                <a:solidFill>
                  <a:schemeClr val="tx1"/>
                </a:solidFill>
              </a:rPr>
              <a:t>humain</a:t>
            </a:r>
            <a:r>
              <a:rPr lang="en-GB" altLang="fr-FR" sz="1800" dirty="0">
                <a:solidFill>
                  <a:schemeClr val="tx1"/>
                </a:solidFill>
              </a:rPr>
              <a:t>),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 dirty="0">
                <a:solidFill>
                  <a:schemeClr val="tx1"/>
                </a:solidFill>
              </a:rPr>
              <a:t>1 mm (</a:t>
            </a:r>
            <a:r>
              <a:rPr lang="en-GB" altLang="fr-FR" sz="1800" dirty="0" err="1">
                <a:solidFill>
                  <a:schemeClr val="tx1"/>
                </a:solidFill>
              </a:rPr>
              <a:t>poulpe</a:t>
            </a:r>
            <a:r>
              <a:rPr lang="en-GB" altLang="fr-FR" sz="1800" dirty="0">
                <a:solidFill>
                  <a:schemeClr val="tx1"/>
                </a:solidFill>
              </a:rPr>
              <a:t>),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 dirty="0" err="1">
                <a:solidFill>
                  <a:schemeClr val="tx1"/>
                </a:solidFill>
              </a:rPr>
              <a:t>longueur</a:t>
            </a:r>
            <a:r>
              <a:rPr lang="en-GB" altLang="fr-FR" sz="1800" dirty="0">
                <a:solidFill>
                  <a:schemeClr val="tx1"/>
                </a:solidFill>
              </a:rPr>
              <a:t>: 1 mm to 1 m. (!!!),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 dirty="0">
                <a:solidFill>
                  <a:schemeClr val="tx1"/>
                </a:solidFill>
              </a:rPr>
              <a:t>connexion </a:t>
            </a:r>
            <a:r>
              <a:rPr lang="en-GB" altLang="fr-FR" sz="1800" dirty="0" err="1">
                <a:solidFill>
                  <a:schemeClr val="tx1"/>
                </a:solidFill>
              </a:rPr>
              <a:t>vers</a:t>
            </a:r>
            <a:r>
              <a:rPr lang="en-GB" altLang="fr-FR" sz="1800" dirty="0">
                <a:solidFill>
                  <a:schemeClr val="tx1"/>
                </a:solidFill>
              </a:rPr>
              <a:t> les </a:t>
            </a:r>
            <a:r>
              <a:rPr lang="en-GB" altLang="fr-FR" sz="1800" dirty="0" err="1">
                <a:solidFill>
                  <a:schemeClr val="tx1"/>
                </a:solidFill>
              </a:rPr>
              <a:t>autres</a:t>
            </a:r>
            <a:r>
              <a:rPr lang="en-GB" altLang="fr-FR" sz="1800" dirty="0">
                <a:solidFill>
                  <a:schemeClr val="tx1"/>
                </a:solidFill>
              </a:rPr>
              <a:t> neurones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 dirty="0">
                <a:solidFill>
                  <a:schemeClr val="tx1"/>
                </a:solidFill>
              </a:rPr>
              <a:t>(synapses),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 dirty="0" err="1">
                <a:solidFill>
                  <a:schemeClr val="tx1"/>
                </a:solidFill>
              </a:rPr>
              <a:t>permet</a:t>
            </a:r>
            <a:r>
              <a:rPr lang="en-GB" altLang="fr-FR" sz="1800" dirty="0">
                <a:solidFill>
                  <a:schemeClr val="tx1"/>
                </a:solidFill>
              </a:rPr>
              <a:t> la transmission </a:t>
            </a:r>
            <a:r>
              <a:rPr lang="en-GB" altLang="fr-FR" sz="1800" dirty="0" err="1">
                <a:solidFill>
                  <a:schemeClr val="tx1"/>
                </a:solidFill>
              </a:rPr>
              <a:t>d'information</a:t>
            </a:r>
            <a:r>
              <a:rPr lang="en-GB" altLang="fr-FR" sz="1800" dirty="0">
                <a:solidFill>
                  <a:schemeClr val="tx1"/>
                </a:solidFill>
              </a:rPr>
              <a:t>,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2000" b="1" dirty="0">
                <a:solidFill>
                  <a:schemeClr val="tx1"/>
                </a:solidFill>
              </a:rPr>
              <a:t>Dendrites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 dirty="0" err="1">
                <a:solidFill>
                  <a:schemeClr val="tx1"/>
                </a:solidFill>
              </a:rPr>
              <a:t>reçoivent</a:t>
            </a:r>
            <a:r>
              <a:rPr lang="en-GB" altLang="fr-FR" sz="1800" dirty="0">
                <a:solidFill>
                  <a:schemeClr val="tx1"/>
                </a:solidFill>
              </a:rPr>
              <a:t> les </a:t>
            </a:r>
            <a:r>
              <a:rPr lang="en-GB" altLang="fr-FR" sz="1800" dirty="0" err="1">
                <a:solidFill>
                  <a:schemeClr val="tx1"/>
                </a:solidFill>
              </a:rPr>
              <a:t>signaux</a:t>
            </a:r>
            <a:r>
              <a:rPr lang="en-GB" altLang="fr-FR" sz="1800" dirty="0">
                <a:solidFill>
                  <a:schemeClr val="tx1"/>
                </a:solidFill>
              </a:rPr>
              <a:t> des </a:t>
            </a:r>
            <a:r>
              <a:rPr lang="en-GB" altLang="fr-FR" sz="1800" dirty="0" err="1">
                <a:solidFill>
                  <a:schemeClr val="tx1"/>
                </a:solidFill>
              </a:rPr>
              <a:t>autres</a:t>
            </a:r>
            <a:r>
              <a:rPr lang="en-GB" altLang="fr-FR" sz="1800" dirty="0">
                <a:solidFill>
                  <a:schemeClr val="tx1"/>
                </a:solidFill>
              </a:rPr>
              <a:t> neurones,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 dirty="0" err="1">
                <a:solidFill>
                  <a:schemeClr val="tx1"/>
                </a:solidFill>
              </a:rPr>
              <a:t>chacune</a:t>
            </a:r>
            <a:r>
              <a:rPr lang="en-GB" altLang="fr-FR" sz="1800" dirty="0">
                <a:solidFill>
                  <a:schemeClr val="tx1"/>
                </a:solidFill>
              </a:rPr>
              <a:t> </a:t>
            </a:r>
            <a:r>
              <a:rPr lang="en-GB" altLang="fr-FR" sz="1800" dirty="0" err="1">
                <a:solidFill>
                  <a:schemeClr val="tx1"/>
                </a:solidFill>
              </a:rPr>
              <a:t>couverte</a:t>
            </a:r>
            <a:r>
              <a:rPr lang="en-GB" altLang="fr-FR" sz="1800" dirty="0">
                <a:solidFill>
                  <a:schemeClr val="tx1"/>
                </a:solidFill>
              </a:rPr>
              <a:t> de </a:t>
            </a:r>
            <a:r>
              <a:rPr lang="en-GB" altLang="fr-FR" sz="1800" dirty="0" err="1">
                <a:solidFill>
                  <a:schemeClr val="tx1"/>
                </a:solidFill>
              </a:rPr>
              <a:t>centaines</a:t>
            </a:r>
            <a:r>
              <a:rPr lang="en-GB" altLang="fr-FR" sz="1800" dirty="0">
                <a:solidFill>
                  <a:schemeClr val="tx1"/>
                </a:solidFill>
              </a:rPr>
              <a:t> de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 dirty="0">
                <a:solidFill>
                  <a:schemeClr val="tx1"/>
                </a:solidFill>
              </a:rPr>
              <a:t>synapses.</a:t>
            </a:r>
          </a:p>
        </p:txBody>
      </p:sp>
      <p:pic>
        <p:nvPicPr>
          <p:cNvPr id="8195" name="Picture 2">
            <a:extLst>
              <a:ext uri="{FF2B5EF4-FFF2-40B4-BE49-F238E27FC236}">
                <a16:creationId xmlns:a16="http://schemas.microsoft.com/office/drawing/2014/main" xmlns="" id="{ED77CB40-F101-46ED-87EA-25E9383A2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3" y="981075"/>
            <a:ext cx="2171700" cy="302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196" name="Group 3">
            <a:extLst>
              <a:ext uri="{FF2B5EF4-FFF2-40B4-BE49-F238E27FC236}">
                <a16:creationId xmlns:a16="http://schemas.microsoft.com/office/drawing/2014/main" xmlns="" id="{EFDFA783-BFC2-48BB-B045-BAB83839B0D4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44451"/>
            <a:ext cx="9142413" cy="365125"/>
            <a:chOff x="0" y="28"/>
            <a:chExt cx="5759" cy="230"/>
          </a:xfrm>
        </p:grpSpPr>
        <p:sp>
          <p:nvSpPr>
            <p:cNvPr id="8198" name="AutoShape 4">
              <a:extLst>
                <a:ext uri="{FF2B5EF4-FFF2-40B4-BE49-F238E27FC236}">
                  <a16:creationId xmlns:a16="http://schemas.microsoft.com/office/drawing/2014/main" xmlns="" id="{1E3DDB0E-2127-4309-9D9A-6393A24B0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oundRect">
              <a:avLst>
                <a:gd name="adj" fmla="val 431"/>
              </a:avLst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8199" name="Text Box 5">
              <a:extLst>
                <a:ext uri="{FF2B5EF4-FFF2-40B4-BE49-F238E27FC236}">
                  <a16:creationId xmlns:a16="http://schemas.microsoft.com/office/drawing/2014/main" xmlns="" id="{F4652FE1-CA5B-46FD-BDC2-EE3C09DD64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fr-FR" sz="1800">
                  <a:solidFill>
                    <a:schemeClr val="tx1"/>
                  </a:solidFill>
                </a:rPr>
                <a:t>Intelligence Artificielle 		Apprentissage			</a:t>
              </a:r>
            </a:p>
          </p:txBody>
        </p:sp>
      </p:grpSp>
      <p:pic>
        <p:nvPicPr>
          <p:cNvPr id="24584" name="Picture 8" descr="neuron">
            <a:extLst>
              <a:ext uri="{FF2B5EF4-FFF2-40B4-BE49-F238E27FC236}">
                <a16:creationId xmlns:a16="http://schemas.microsoft.com/office/drawing/2014/main" xmlns="" id="{B24833E7-B3B1-42BA-98FC-A50A335CA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350" y="4581526"/>
            <a:ext cx="1066800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DDCE36B4-EDBA-4767-807C-1CD71C638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2</a:t>
            </a:fld>
            <a:endParaRPr 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>
            <a:extLst>
              <a:ext uri="{FF2B5EF4-FFF2-40B4-BE49-F238E27FC236}">
                <a16:creationId xmlns:a16="http://schemas.microsoft.com/office/drawing/2014/main" xmlns="" id="{46519743-45C7-4140-80BF-CD5AF7F67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8" y="1185863"/>
            <a:ext cx="8280400" cy="442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>
                <a:solidFill>
                  <a:schemeClr val="tx1"/>
                </a:solidFill>
              </a:rPr>
              <a:t>Quelques chiffres ...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GB" altLang="fr-FR" sz="180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>
                <a:solidFill>
                  <a:schemeClr val="tx1"/>
                </a:solidFill>
              </a:rPr>
              <a:t>• nombre de neurones dans le cerveau: ~ 10</a:t>
            </a:r>
            <a:r>
              <a:rPr lang="en-GB" altLang="fr-FR" sz="1800" baseline="30000">
                <a:solidFill>
                  <a:schemeClr val="tx1"/>
                </a:solidFill>
              </a:rPr>
              <a:t>11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GB" altLang="fr-FR" sz="180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>
                <a:solidFill>
                  <a:schemeClr val="tx1"/>
                </a:solidFill>
              </a:rPr>
              <a:t>• nombre de connexions par neurone: ~ 10</a:t>
            </a:r>
            <a:r>
              <a:rPr lang="en-GB" altLang="fr-FR" sz="1800" baseline="30000">
                <a:solidFill>
                  <a:schemeClr val="tx1"/>
                </a:solidFill>
              </a:rPr>
              <a:t>4</a:t>
            </a:r>
            <a:r>
              <a:rPr lang="en-GB" altLang="fr-FR" sz="1800">
                <a:solidFill>
                  <a:schemeClr val="tx1"/>
                </a:solidFill>
              </a:rPr>
              <a:t> - 10</a:t>
            </a:r>
            <a:r>
              <a:rPr lang="en-GB" altLang="fr-FR" sz="1800" baseline="30000">
                <a:solidFill>
                  <a:schemeClr val="tx1"/>
                </a:solidFill>
              </a:rPr>
              <a:t>5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GB" altLang="fr-FR" sz="180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>
                <a:solidFill>
                  <a:schemeClr val="tx1"/>
                </a:solidFill>
              </a:rPr>
              <a:t>• temps de cycle (</a:t>
            </a:r>
            <a:r>
              <a:rPr lang="en-GB" altLang="fr-FR" sz="1800" i="1">
                <a:solidFill>
                  <a:schemeClr val="tx1"/>
                </a:solidFill>
              </a:rPr>
              <a:t>switching time</a:t>
            </a:r>
            <a:r>
              <a:rPr lang="en-GB" altLang="fr-FR" sz="1800">
                <a:solidFill>
                  <a:schemeClr val="tx1"/>
                </a:solidFill>
              </a:rPr>
              <a:t>): ~ 10</a:t>
            </a:r>
            <a:r>
              <a:rPr lang="en-GB" altLang="fr-FR" sz="1800" baseline="30000">
                <a:solidFill>
                  <a:schemeClr val="tx1"/>
                </a:solidFill>
              </a:rPr>
              <a:t>-3</a:t>
            </a:r>
            <a:r>
              <a:rPr lang="en-GB" altLang="fr-FR" sz="1800">
                <a:solidFill>
                  <a:schemeClr val="tx1"/>
                </a:solidFill>
              </a:rPr>
              <a:t> seconde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GB" altLang="fr-FR" sz="180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>
                <a:solidFill>
                  <a:schemeClr val="tx1"/>
                </a:solidFill>
              </a:rPr>
              <a:t>• temps moyen d'une activité cognitive: ~ 0.1 seconde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>
                <a:solidFill>
                  <a:schemeClr val="tx1"/>
                </a:solidFill>
              </a:rPr>
              <a:t>(ex. reconnaissance de visages)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GB" altLang="fr-FR" sz="1800" i="1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Clr>
                <a:srgbClr val="333399"/>
              </a:buClr>
              <a:buFont typeface="Arial" panose="020B0604020202020204" pitchFamily="34" charset="0"/>
              <a:buNone/>
            </a:pPr>
            <a:r>
              <a:rPr lang="en-GB" altLang="fr-FR" sz="1800" i="1">
                <a:solidFill>
                  <a:srgbClr val="333399"/>
                </a:solidFill>
              </a:rPr>
              <a:t>Il n'y a donc de la place que pour 100 cycles de traitement, ce qui est insuffisant pour une activité complexe !!!</a:t>
            </a:r>
          </a:p>
          <a:p>
            <a:pPr eaLnBrk="1" hangingPunct="1">
              <a:spcBef>
                <a:spcPct val="0"/>
              </a:spcBef>
              <a:buClr>
                <a:srgbClr val="333399"/>
              </a:buClr>
              <a:buFont typeface="Arial" panose="020B0604020202020204" pitchFamily="34" charset="0"/>
              <a:buNone/>
            </a:pPr>
            <a:endParaRPr lang="en-GB" altLang="fr-FR" sz="1800" i="1">
              <a:solidFill>
                <a:srgbClr val="333399"/>
              </a:solidFill>
            </a:endParaRPr>
          </a:p>
          <a:p>
            <a:pPr eaLnBrk="1" hangingPunct="1">
              <a:spcBef>
                <a:spcPct val="0"/>
              </a:spcBef>
              <a:buClr>
                <a:srgbClr val="009999"/>
              </a:buClr>
              <a:buFont typeface="Arial" panose="020B0604020202020204" pitchFamily="34" charset="0"/>
              <a:buNone/>
            </a:pPr>
            <a:r>
              <a:rPr lang="en-GB" altLang="fr-FR" sz="1800" i="1">
                <a:solidFill>
                  <a:srgbClr val="009999"/>
                </a:solidFill>
              </a:rPr>
              <a:t>Le cerveau doit donc effectuer des opérations en parallèle !!!</a:t>
            </a:r>
          </a:p>
        </p:txBody>
      </p:sp>
      <p:grpSp>
        <p:nvGrpSpPr>
          <p:cNvPr id="10243" name="Group 2">
            <a:extLst>
              <a:ext uri="{FF2B5EF4-FFF2-40B4-BE49-F238E27FC236}">
                <a16:creationId xmlns:a16="http://schemas.microsoft.com/office/drawing/2014/main" xmlns="" id="{30278795-D93D-4D98-9F35-47A08051D6CB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44451"/>
            <a:ext cx="9142413" cy="365125"/>
            <a:chOff x="0" y="28"/>
            <a:chExt cx="5759" cy="230"/>
          </a:xfrm>
        </p:grpSpPr>
        <p:sp>
          <p:nvSpPr>
            <p:cNvPr id="10244" name="AutoShape 3">
              <a:extLst>
                <a:ext uri="{FF2B5EF4-FFF2-40B4-BE49-F238E27FC236}">
                  <a16:creationId xmlns:a16="http://schemas.microsoft.com/office/drawing/2014/main" xmlns="" id="{5FEAF01B-64C8-405F-99C6-37607B3F5F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oundRect">
              <a:avLst>
                <a:gd name="adj" fmla="val 431"/>
              </a:avLst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0245" name="Text Box 4">
              <a:extLst>
                <a:ext uri="{FF2B5EF4-FFF2-40B4-BE49-F238E27FC236}">
                  <a16:creationId xmlns:a16="http://schemas.microsoft.com/office/drawing/2014/main" xmlns="" id="{D3726240-952D-4BA7-B8E0-C7E165DD95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fr-FR" sz="1800">
                  <a:solidFill>
                    <a:schemeClr val="tx1"/>
                  </a:solidFill>
                </a:rPr>
                <a:t>Intelligence Artificielle 		Apprentissage		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8616B2CF-147C-4BC3-91BA-2F039DC14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3</a:t>
            </a:fld>
            <a:endParaRPr lang="fr-FR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">
            <a:extLst>
              <a:ext uri="{FF2B5EF4-FFF2-40B4-BE49-F238E27FC236}">
                <a16:creationId xmlns:a16="http://schemas.microsoft.com/office/drawing/2014/main" xmlns="" id="{BD9C8775-99D3-43A9-9A17-05DA27BB9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620713"/>
            <a:ext cx="8137525" cy="5999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>
                <a:solidFill>
                  <a:schemeClr val="tx1"/>
                </a:solidFill>
              </a:rPr>
              <a:t>Quelques repères ...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GB" altLang="fr-FR" sz="2000" b="1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2000" b="1">
                <a:solidFill>
                  <a:schemeClr val="tx1"/>
                </a:solidFill>
              </a:rPr>
              <a:t>1943: </a:t>
            </a:r>
            <a:r>
              <a:rPr lang="en-GB" altLang="fr-FR" sz="2000" b="1" i="1">
                <a:solidFill>
                  <a:schemeClr val="tx1"/>
                </a:solidFill>
              </a:rPr>
              <a:t>J. McCulloch &amp; W. Pitts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>
                <a:solidFill>
                  <a:schemeClr val="tx1"/>
                </a:solidFill>
              </a:rPr>
              <a:t>– proposent un modèle simple de neurones capable de produire une machine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>
                <a:solidFill>
                  <a:schemeClr val="tx1"/>
                </a:solidFill>
              </a:rPr>
              <a:t>de Turing,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>
                <a:solidFill>
                  <a:schemeClr val="tx1"/>
                </a:solidFill>
              </a:rPr>
              <a:t>– démontrent qu'un assemblage synchrone de tels neurones est une machine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>
                <a:solidFill>
                  <a:schemeClr val="tx1"/>
                </a:solidFill>
              </a:rPr>
              <a:t>universelle de calcul (càd. n'importe quelle fonction logique peut être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>
                <a:solidFill>
                  <a:schemeClr val="tx1"/>
                </a:solidFill>
              </a:rPr>
              <a:t>représentée par des unités à seuil),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GB" altLang="fr-FR" sz="180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2000" b="1">
                <a:solidFill>
                  <a:schemeClr val="tx1"/>
                </a:solidFill>
              </a:rPr>
              <a:t>1948: </a:t>
            </a:r>
            <a:r>
              <a:rPr lang="en-GB" altLang="fr-FR" sz="2000" b="1" i="1">
                <a:solidFill>
                  <a:schemeClr val="tx1"/>
                </a:solidFill>
              </a:rPr>
              <a:t>D. Hebb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>
                <a:solidFill>
                  <a:schemeClr val="tx1"/>
                </a:solidFill>
              </a:rPr>
              <a:t>– propose une règle d'apprentissage pour des réseaux de neurones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GB" altLang="fr-FR" sz="180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2000" b="1">
                <a:solidFill>
                  <a:schemeClr val="tx1"/>
                </a:solidFill>
              </a:rPr>
              <a:t>1958: </a:t>
            </a:r>
            <a:r>
              <a:rPr lang="en-GB" altLang="fr-FR" sz="2000" b="1" i="1">
                <a:solidFill>
                  <a:schemeClr val="tx1"/>
                </a:solidFill>
              </a:rPr>
              <a:t>F. Rosenblatt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>
                <a:solidFill>
                  <a:schemeClr val="tx1"/>
                </a:solidFill>
              </a:rPr>
              <a:t>– propose le modèle du </a:t>
            </a:r>
            <a:r>
              <a:rPr lang="en-GB" altLang="fr-FR" sz="1800" i="1">
                <a:solidFill>
                  <a:schemeClr val="tx1"/>
                </a:solidFill>
              </a:rPr>
              <a:t>Perceptron </a:t>
            </a:r>
            <a:r>
              <a:rPr lang="en-GB" altLang="fr-FR" sz="1800">
                <a:solidFill>
                  <a:schemeClr val="tx1"/>
                </a:solidFill>
              </a:rPr>
              <a:t>et démontre son théorème de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>
                <a:solidFill>
                  <a:schemeClr val="tx1"/>
                </a:solidFill>
              </a:rPr>
              <a:t>convergence,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GB" altLang="fr-FR" sz="180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2000" b="1">
                <a:solidFill>
                  <a:schemeClr val="tx1"/>
                </a:solidFill>
              </a:rPr>
              <a:t>1969: M. Minsky &amp; S. Papert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>
                <a:solidFill>
                  <a:schemeClr val="tx1"/>
                </a:solidFill>
              </a:rPr>
              <a:t>– démontrent les limitations du modèle du </a:t>
            </a:r>
            <a:r>
              <a:rPr lang="en-GB" altLang="fr-FR" sz="1800" i="1">
                <a:solidFill>
                  <a:schemeClr val="tx1"/>
                </a:solidFill>
              </a:rPr>
              <a:t>Perceptron</a:t>
            </a:r>
            <a:r>
              <a:rPr lang="en-GB" altLang="fr-FR" sz="1800">
                <a:solidFill>
                  <a:schemeClr val="tx1"/>
                </a:solidFill>
              </a:rPr>
              <a:t>,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GB" altLang="fr-FR" sz="180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2000" b="1">
                <a:solidFill>
                  <a:schemeClr val="tx1"/>
                </a:solidFill>
              </a:rPr>
              <a:t>1985:</a:t>
            </a:r>
            <a:r>
              <a:rPr lang="en-GB" altLang="fr-FR" sz="1800">
                <a:solidFill>
                  <a:schemeClr val="tx1"/>
                </a:solidFill>
              </a:rPr>
              <a:t> apprentissage par rétro-propagation pour les réseaux multi-couches.</a:t>
            </a:r>
          </a:p>
        </p:txBody>
      </p:sp>
      <p:grpSp>
        <p:nvGrpSpPr>
          <p:cNvPr id="14339" name="Group 2">
            <a:extLst>
              <a:ext uri="{FF2B5EF4-FFF2-40B4-BE49-F238E27FC236}">
                <a16:creationId xmlns:a16="http://schemas.microsoft.com/office/drawing/2014/main" xmlns="" id="{23EC5334-2937-4FDC-8E83-A32BAE8B091A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44451"/>
            <a:ext cx="9142413" cy="365125"/>
            <a:chOff x="0" y="28"/>
            <a:chExt cx="5759" cy="230"/>
          </a:xfrm>
        </p:grpSpPr>
        <p:sp>
          <p:nvSpPr>
            <p:cNvPr id="14340" name="AutoShape 3">
              <a:extLst>
                <a:ext uri="{FF2B5EF4-FFF2-40B4-BE49-F238E27FC236}">
                  <a16:creationId xmlns:a16="http://schemas.microsoft.com/office/drawing/2014/main" xmlns="" id="{8B37494B-C793-44D7-A895-C8214D979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oundRect">
              <a:avLst>
                <a:gd name="adj" fmla="val 431"/>
              </a:avLst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4341" name="Text Box 4">
              <a:extLst>
                <a:ext uri="{FF2B5EF4-FFF2-40B4-BE49-F238E27FC236}">
                  <a16:creationId xmlns:a16="http://schemas.microsoft.com/office/drawing/2014/main" xmlns="" id="{60719B10-3175-4B29-89D9-05E159175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fr-FR" sz="1800">
                  <a:solidFill>
                    <a:schemeClr val="tx1"/>
                  </a:solidFill>
                </a:rPr>
                <a:t>Intelligence Artificielle 		Apprentissage			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4947151B-8CDE-4B9D-8FC8-B1E6B051A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4</a:t>
            </a:fld>
            <a:endParaRPr lang="fr-FR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">
            <a:extLst>
              <a:ext uri="{FF2B5EF4-FFF2-40B4-BE49-F238E27FC236}">
                <a16:creationId xmlns:a16="http://schemas.microsoft.com/office/drawing/2014/main" xmlns="" id="{6E326B5B-12F8-406D-ABD8-420B53767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5" y="-20638"/>
            <a:ext cx="8281988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400" b="1">
                <a:solidFill>
                  <a:srgbClr val="0000FF"/>
                </a:solidFill>
                <a:latin typeface="Calibri" panose="020F0502020204030204" pitchFamily="34" charset="0"/>
              </a:rPr>
              <a:t>Le Neurone Formel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 b="1">
                <a:solidFill>
                  <a:srgbClr val="0000FF"/>
                </a:solidFill>
                <a:latin typeface="Calibri" panose="020F0502020204030204" pitchFamily="34" charset="0"/>
              </a:rPr>
              <a:t>Définition 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Calibri" panose="020F0502020204030204" pitchFamily="34" charset="0"/>
              </a:rPr>
              <a:t> Un neurone formel (artificiel) est une unité de traitement qui reçoit des données en entrée, sous la forme d’un vecteur, et produit une sortie réelle.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Calibri" panose="020F0502020204030204" pitchFamily="34" charset="0"/>
              </a:rPr>
              <a:t>Cette sortie est une fonction des entrées et des poids des connexions.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C6474997-464A-4D4A-96D1-3AA4CEB75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4365626"/>
            <a:ext cx="8532813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000" b="1">
                <a:solidFill>
                  <a:srgbClr val="0000FF"/>
                </a:solidFill>
                <a:latin typeface="Calibri" panose="020F0502020204030204" pitchFamily="34" charset="0"/>
              </a:rPr>
              <a:t>Le Poids de Connexion</a:t>
            </a:r>
            <a:endParaRPr lang="fr-FR" altLang="fr-FR" sz="1800" b="1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 b="1">
                <a:solidFill>
                  <a:srgbClr val="0000FF"/>
                </a:solidFill>
                <a:latin typeface="Calibri" panose="020F0502020204030204" pitchFamily="34" charset="0"/>
              </a:rPr>
              <a:t>Définition : </a:t>
            </a:r>
            <a:r>
              <a:rPr lang="fr-FR" altLang="fr-FR" sz="1800">
                <a:latin typeface="Calibri" panose="020F0502020204030204" pitchFamily="34" charset="0"/>
              </a:rPr>
              <a:t>Une connexion entre deux unités i et j indique la possibilité d'une relation physique entre ces deux unités.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Calibri" panose="020F050202020403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600">
                <a:latin typeface="Calibri" panose="020F0502020204030204" pitchFamily="34" charset="0"/>
              </a:rPr>
              <a:t>La valeur numérique du poids associé à une connexion entre deux unités reflète la force de la relation entre ces deux unités. </a:t>
            </a:r>
            <a:r>
              <a:rPr lang="fr-FR" altLang="fr-FR" sz="1600" b="1">
                <a:latin typeface="Calibri" panose="020F0502020204030204" pitchFamily="34" charset="0"/>
              </a:rPr>
              <a:t>Si cette valeur est positive</a:t>
            </a:r>
            <a:r>
              <a:rPr lang="fr-FR" altLang="fr-FR" sz="1600">
                <a:latin typeface="Calibri" panose="020F0502020204030204" pitchFamily="34" charset="0"/>
              </a:rPr>
              <a:t>, la connexion est dite </a:t>
            </a:r>
            <a:r>
              <a:rPr lang="fr-FR" altLang="fr-FR" sz="1600" b="1">
                <a:latin typeface="Calibri" panose="020F0502020204030204" pitchFamily="34" charset="0"/>
              </a:rPr>
              <a:t>excitatrice</a:t>
            </a:r>
            <a:r>
              <a:rPr lang="fr-FR" altLang="fr-FR" sz="1600">
                <a:latin typeface="Calibri" panose="020F0502020204030204" pitchFamily="34" charset="0"/>
              </a:rPr>
              <a:t>, sinon elle est dite </a:t>
            </a:r>
            <a:r>
              <a:rPr lang="fr-FR" altLang="fr-FR" sz="1600" b="1">
                <a:latin typeface="Calibri" panose="020F0502020204030204" pitchFamily="34" charset="0"/>
              </a:rPr>
              <a:t>inhibitrice</a:t>
            </a:r>
            <a:r>
              <a:rPr lang="fr-FR" altLang="fr-FR" sz="1600">
                <a:latin typeface="Calibri" panose="020F0502020204030204" pitchFamily="34" charset="0"/>
              </a:rPr>
              <a:t>. La convention usuelle est de noter le poids de la connexion reliant le neurone i au neurone j : </a:t>
            </a:r>
            <a:r>
              <a:rPr lang="fr-FR" altLang="fr-FR" sz="1600" b="1">
                <a:latin typeface="Calibri" panose="020F0502020204030204" pitchFamily="34" charset="0"/>
              </a:rPr>
              <a:t>w</a:t>
            </a:r>
            <a:r>
              <a:rPr lang="fr-FR" altLang="fr-FR" sz="1600" b="1" baseline="-25000">
                <a:latin typeface="Calibri" panose="020F0502020204030204" pitchFamily="34" charset="0"/>
              </a:rPr>
              <a:t>ji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Calibri" panose="020F0502020204030204" pitchFamily="34" charset="0"/>
            </a:endParaRPr>
          </a:p>
        </p:txBody>
      </p:sp>
      <p:pic>
        <p:nvPicPr>
          <p:cNvPr id="16388" name="Picture 6">
            <a:extLst>
              <a:ext uri="{FF2B5EF4-FFF2-40B4-BE49-F238E27FC236}">
                <a16:creationId xmlns:a16="http://schemas.microsoft.com/office/drawing/2014/main" xmlns="" id="{4AE3B9F0-8231-43E8-831D-9EB14D78B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351" y="1631951"/>
            <a:ext cx="5307013" cy="255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5B9CE4E5-8825-488C-B22C-9D9E04059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5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1">
            <a:extLst>
              <a:ext uri="{FF2B5EF4-FFF2-40B4-BE49-F238E27FC236}">
                <a16:creationId xmlns:a16="http://schemas.microsoft.com/office/drawing/2014/main" xmlns="" id="{71408F0D-ADC3-4225-8721-49E2B1C1C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500064"/>
            <a:ext cx="8424862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>
                <a:solidFill>
                  <a:schemeClr val="tx1"/>
                </a:solidFill>
              </a:rPr>
              <a:t>Modèle de McCulloch &amp; Pitts</a:t>
            </a:r>
          </a:p>
        </p:txBody>
      </p:sp>
      <p:sp>
        <p:nvSpPr>
          <p:cNvPr id="17411" name="Text Box 3">
            <a:extLst>
              <a:ext uri="{FF2B5EF4-FFF2-40B4-BE49-F238E27FC236}">
                <a16:creationId xmlns:a16="http://schemas.microsoft.com/office/drawing/2014/main" xmlns="" id="{E884C5FE-8948-48C3-9DAF-F7713132C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795" y="3543422"/>
            <a:ext cx="7848600" cy="3130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 dirty="0">
                <a:solidFill>
                  <a:schemeClr val="tx1"/>
                </a:solidFill>
              </a:rPr>
              <a:t>Ce </a:t>
            </a:r>
            <a:r>
              <a:rPr lang="en-GB" altLang="fr-FR" sz="1800" dirty="0" err="1">
                <a:solidFill>
                  <a:schemeClr val="tx1"/>
                </a:solidFill>
              </a:rPr>
              <a:t>modèle</a:t>
            </a:r>
            <a:r>
              <a:rPr lang="en-GB" altLang="fr-FR" sz="1800" dirty="0">
                <a:solidFill>
                  <a:schemeClr val="tx1"/>
                </a:solidFill>
              </a:rPr>
              <a:t> </a:t>
            </a:r>
            <a:r>
              <a:rPr lang="en-GB" altLang="fr-FR" sz="1800" dirty="0" err="1">
                <a:solidFill>
                  <a:schemeClr val="tx1"/>
                </a:solidFill>
              </a:rPr>
              <a:t>est</a:t>
            </a:r>
            <a:r>
              <a:rPr lang="en-GB" altLang="fr-FR" sz="1800" dirty="0">
                <a:solidFill>
                  <a:schemeClr val="tx1"/>
                </a:solidFill>
              </a:rPr>
              <a:t> </a:t>
            </a:r>
            <a:r>
              <a:rPr lang="en-GB" altLang="fr-FR" sz="1800" dirty="0" err="1">
                <a:solidFill>
                  <a:schemeClr val="tx1"/>
                </a:solidFill>
              </a:rPr>
              <a:t>mathématiquement</a:t>
            </a:r>
            <a:r>
              <a:rPr lang="en-GB" altLang="fr-FR" sz="1800" dirty="0">
                <a:solidFill>
                  <a:schemeClr val="tx1"/>
                </a:solidFill>
              </a:rPr>
              <a:t> </a:t>
            </a:r>
            <a:r>
              <a:rPr lang="en-GB" altLang="fr-FR" sz="1800" dirty="0" err="1">
                <a:solidFill>
                  <a:schemeClr val="tx1"/>
                </a:solidFill>
              </a:rPr>
              <a:t>décrit</a:t>
            </a:r>
            <a:r>
              <a:rPr lang="en-GB" altLang="fr-FR" sz="1800" dirty="0">
                <a:solidFill>
                  <a:schemeClr val="tx1"/>
                </a:solidFill>
              </a:rPr>
              <a:t> par 2 </a:t>
            </a:r>
            <a:r>
              <a:rPr lang="en-GB" altLang="fr-FR" sz="1800" dirty="0" err="1">
                <a:solidFill>
                  <a:schemeClr val="tx1"/>
                </a:solidFill>
              </a:rPr>
              <a:t>équations</a:t>
            </a:r>
            <a:r>
              <a:rPr lang="en-GB" altLang="fr-FR" sz="1800" dirty="0">
                <a:solidFill>
                  <a:schemeClr val="tx1"/>
                </a:solidFill>
              </a:rPr>
              <a:t>: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GB" altLang="fr-FR" sz="1800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GB" altLang="fr-FR" sz="1800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GB" altLang="fr-FR" sz="1800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400" dirty="0" err="1">
                <a:solidFill>
                  <a:schemeClr val="tx1"/>
                </a:solidFill>
              </a:rPr>
              <a:t>où</a:t>
            </a:r>
            <a:r>
              <a:rPr lang="en-GB" altLang="fr-FR" sz="1400" dirty="0">
                <a:solidFill>
                  <a:schemeClr val="tx1"/>
                </a:solidFill>
              </a:rPr>
              <a:t>: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400" b="1" i="1" dirty="0">
                <a:solidFill>
                  <a:srgbClr val="FF9900"/>
                </a:solidFill>
              </a:rPr>
              <a:t>x</a:t>
            </a:r>
            <a:r>
              <a:rPr lang="en-GB" altLang="fr-FR" sz="1400" b="1" i="1" baseline="-25000" dirty="0">
                <a:solidFill>
                  <a:srgbClr val="FF9900"/>
                </a:solidFill>
              </a:rPr>
              <a:t>1</a:t>
            </a:r>
            <a:r>
              <a:rPr lang="en-GB" altLang="fr-FR" sz="1400" b="1" i="1" dirty="0">
                <a:solidFill>
                  <a:srgbClr val="FF9900"/>
                </a:solidFill>
              </a:rPr>
              <a:t>, x</a:t>
            </a:r>
            <a:r>
              <a:rPr lang="en-GB" altLang="fr-FR" sz="1400" b="1" i="1" baseline="-25000" dirty="0">
                <a:solidFill>
                  <a:srgbClr val="FF9900"/>
                </a:solidFill>
              </a:rPr>
              <a:t>2</a:t>
            </a:r>
            <a:r>
              <a:rPr lang="en-GB" altLang="fr-FR" sz="1400" b="1" i="1" dirty="0">
                <a:solidFill>
                  <a:srgbClr val="FF9900"/>
                </a:solidFill>
              </a:rPr>
              <a:t>, ..., </a:t>
            </a:r>
            <a:r>
              <a:rPr lang="en-GB" altLang="fr-FR" sz="1400" b="1" i="1" dirty="0" err="1">
                <a:solidFill>
                  <a:srgbClr val="FF9900"/>
                </a:solidFill>
              </a:rPr>
              <a:t>x</a:t>
            </a:r>
            <a:r>
              <a:rPr lang="en-GB" altLang="fr-FR" sz="1400" b="1" i="1" baseline="-25000" dirty="0" err="1">
                <a:solidFill>
                  <a:srgbClr val="FF9900"/>
                </a:solidFill>
              </a:rPr>
              <a:t>p</a:t>
            </a:r>
            <a:r>
              <a:rPr lang="en-GB" altLang="fr-FR" sz="1400" i="1" dirty="0">
                <a:solidFill>
                  <a:schemeClr val="tx1"/>
                </a:solidFill>
              </a:rPr>
              <a:t> </a:t>
            </a:r>
            <a:r>
              <a:rPr lang="en-GB" altLang="fr-FR" sz="1400" dirty="0" err="1">
                <a:solidFill>
                  <a:schemeClr val="tx1"/>
                </a:solidFill>
              </a:rPr>
              <a:t>sont</a:t>
            </a:r>
            <a:r>
              <a:rPr lang="en-GB" altLang="fr-FR" sz="1400" dirty="0">
                <a:solidFill>
                  <a:schemeClr val="tx1"/>
                </a:solidFill>
              </a:rPr>
              <a:t> les </a:t>
            </a:r>
            <a:r>
              <a:rPr lang="en-GB" altLang="fr-FR" sz="1400" i="1" dirty="0">
                <a:solidFill>
                  <a:schemeClr val="tx1"/>
                </a:solidFill>
              </a:rPr>
              <a:t>entrées</a:t>
            </a:r>
            <a:r>
              <a:rPr lang="en-GB" altLang="fr-FR" sz="1400" dirty="0">
                <a:solidFill>
                  <a:schemeClr val="tx1"/>
                </a:solidFill>
              </a:rPr>
              <a:t>,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400" b="1" i="1" dirty="0">
                <a:solidFill>
                  <a:srgbClr val="FF9900"/>
                </a:solidFill>
              </a:rPr>
              <a:t>w</a:t>
            </a:r>
            <a:r>
              <a:rPr lang="en-GB" altLang="fr-FR" sz="1400" b="1" i="1" baseline="-25000" dirty="0">
                <a:solidFill>
                  <a:srgbClr val="FF9900"/>
                </a:solidFill>
              </a:rPr>
              <a:t>k1</a:t>
            </a:r>
            <a:r>
              <a:rPr lang="en-GB" altLang="fr-FR" sz="1400" b="1" i="1" dirty="0">
                <a:solidFill>
                  <a:srgbClr val="FF9900"/>
                </a:solidFill>
              </a:rPr>
              <a:t>, w</a:t>
            </a:r>
            <a:r>
              <a:rPr lang="en-GB" altLang="fr-FR" sz="1400" b="1" i="1" baseline="-25000" dirty="0">
                <a:solidFill>
                  <a:srgbClr val="FF9900"/>
                </a:solidFill>
              </a:rPr>
              <a:t>k2</a:t>
            </a:r>
            <a:r>
              <a:rPr lang="en-GB" altLang="fr-FR" sz="1400" b="1" i="1" dirty="0">
                <a:solidFill>
                  <a:srgbClr val="FF9900"/>
                </a:solidFill>
              </a:rPr>
              <a:t>, ..., </a:t>
            </a:r>
            <a:r>
              <a:rPr lang="en-GB" altLang="fr-FR" sz="1400" b="1" i="1" dirty="0" err="1">
                <a:solidFill>
                  <a:srgbClr val="FF9900"/>
                </a:solidFill>
              </a:rPr>
              <a:t>w</a:t>
            </a:r>
            <a:r>
              <a:rPr lang="en-GB" altLang="fr-FR" sz="1400" b="1" i="1" baseline="-25000" dirty="0" err="1">
                <a:solidFill>
                  <a:srgbClr val="FF9900"/>
                </a:solidFill>
              </a:rPr>
              <a:t>kp</a:t>
            </a:r>
            <a:r>
              <a:rPr lang="en-GB" altLang="fr-FR" sz="1400" i="1" dirty="0">
                <a:solidFill>
                  <a:schemeClr val="tx1"/>
                </a:solidFill>
              </a:rPr>
              <a:t> </a:t>
            </a:r>
            <a:r>
              <a:rPr lang="en-GB" altLang="fr-FR" sz="1400" dirty="0" err="1">
                <a:solidFill>
                  <a:schemeClr val="tx1"/>
                </a:solidFill>
              </a:rPr>
              <a:t>sont</a:t>
            </a:r>
            <a:r>
              <a:rPr lang="en-GB" altLang="fr-FR" sz="1400" dirty="0">
                <a:solidFill>
                  <a:schemeClr val="tx1"/>
                </a:solidFill>
              </a:rPr>
              <a:t> les </a:t>
            </a:r>
            <a:r>
              <a:rPr lang="en-GB" altLang="fr-FR" sz="1400" i="1" dirty="0" err="1">
                <a:solidFill>
                  <a:schemeClr val="tx1"/>
                </a:solidFill>
              </a:rPr>
              <a:t>poids</a:t>
            </a:r>
            <a:r>
              <a:rPr lang="en-GB" altLang="fr-FR" sz="1400" i="1" dirty="0">
                <a:solidFill>
                  <a:schemeClr val="tx1"/>
                </a:solidFill>
              </a:rPr>
              <a:t> </a:t>
            </a:r>
            <a:r>
              <a:rPr lang="en-GB" altLang="fr-FR" sz="1400" i="1" dirty="0" err="1">
                <a:solidFill>
                  <a:schemeClr val="tx1"/>
                </a:solidFill>
              </a:rPr>
              <a:t>synaptiques</a:t>
            </a:r>
            <a:r>
              <a:rPr lang="en-GB" altLang="fr-FR" sz="1400" i="1" dirty="0">
                <a:solidFill>
                  <a:schemeClr val="tx1"/>
                </a:solidFill>
              </a:rPr>
              <a:t> </a:t>
            </a:r>
            <a:r>
              <a:rPr lang="en-GB" altLang="fr-FR" sz="1400" dirty="0">
                <a:solidFill>
                  <a:schemeClr val="tx1"/>
                </a:solidFill>
              </a:rPr>
              <a:t>du neurone k,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400" i="1" dirty="0" err="1">
                <a:solidFill>
                  <a:srgbClr val="FF9900"/>
                </a:solidFill>
              </a:rPr>
              <a:t>u</a:t>
            </a:r>
            <a:r>
              <a:rPr lang="en-GB" altLang="fr-FR" sz="1400" i="1" baseline="-25000" dirty="0" err="1">
                <a:solidFill>
                  <a:srgbClr val="FF9900"/>
                </a:solidFill>
              </a:rPr>
              <a:t>k</a:t>
            </a:r>
            <a:r>
              <a:rPr lang="en-GB" altLang="fr-FR" sz="1400" i="1" dirty="0">
                <a:solidFill>
                  <a:srgbClr val="FF9900"/>
                </a:solidFill>
              </a:rPr>
              <a:t> </a:t>
            </a:r>
            <a:r>
              <a:rPr lang="en-GB" altLang="fr-FR" sz="1400" dirty="0" err="1">
                <a:solidFill>
                  <a:schemeClr val="tx1"/>
                </a:solidFill>
              </a:rPr>
              <a:t>est</a:t>
            </a:r>
            <a:r>
              <a:rPr lang="en-GB" altLang="fr-FR" sz="1400" dirty="0">
                <a:solidFill>
                  <a:schemeClr val="tx1"/>
                </a:solidFill>
              </a:rPr>
              <a:t> la </a:t>
            </a:r>
            <a:r>
              <a:rPr lang="en-GB" altLang="fr-FR" sz="1400" i="1" dirty="0">
                <a:solidFill>
                  <a:schemeClr val="tx1"/>
                </a:solidFill>
              </a:rPr>
              <a:t>sortie de </a:t>
            </a:r>
            <a:r>
              <a:rPr lang="en-GB" altLang="fr-FR" sz="1400" i="1" dirty="0" err="1">
                <a:solidFill>
                  <a:schemeClr val="tx1"/>
                </a:solidFill>
              </a:rPr>
              <a:t>l'unité</a:t>
            </a:r>
            <a:r>
              <a:rPr lang="en-GB" altLang="fr-FR" sz="1400" i="1" dirty="0">
                <a:solidFill>
                  <a:schemeClr val="tx1"/>
                </a:solidFill>
              </a:rPr>
              <a:t> de </a:t>
            </a:r>
            <a:r>
              <a:rPr lang="en-GB" altLang="fr-FR" sz="1400" i="1" dirty="0" err="1">
                <a:solidFill>
                  <a:schemeClr val="tx1"/>
                </a:solidFill>
              </a:rPr>
              <a:t>sommation</a:t>
            </a:r>
            <a:r>
              <a:rPr lang="en-GB" altLang="fr-FR" sz="1400" dirty="0">
                <a:solidFill>
                  <a:schemeClr val="tx1"/>
                </a:solidFill>
              </a:rPr>
              <a:t>,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400" b="1" dirty="0" err="1">
                <a:solidFill>
                  <a:srgbClr val="FF9900"/>
                </a:solidFill>
              </a:rPr>
              <a:t>Θ</a:t>
            </a:r>
            <a:r>
              <a:rPr lang="en-GB" altLang="fr-FR" sz="1400" b="1" i="1" baseline="-25000" dirty="0" err="1">
                <a:solidFill>
                  <a:srgbClr val="FF9900"/>
                </a:solidFill>
              </a:rPr>
              <a:t>k</a:t>
            </a:r>
            <a:r>
              <a:rPr lang="en-GB" altLang="fr-FR" sz="1400" i="1" dirty="0">
                <a:solidFill>
                  <a:schemeClr val="tx1"/>
                </a:solidFill>
              </a:rPr>
              <a:t> </a:t>
            </a:r>
            <a:r>
              <a:rPr lang="en-GB" altLang="fr-FR" sz="1400" dirty="0" err="1">
                <a:solidFill>
                  <a:schemeClr val="tx1"/>
                </a:solidFill>
              </a:rPr>
              <a:t>est</a:t>
            </a:r>
            <a:r>
              <a:rPr lang="en-GB" altLang="fr-FR" sz="1400" dirty="0">
                <a:solidFill>
                  <a:schemeClr val="tx1"/>
                </a:solidFill>
              </a:rPr>
              <a:t> le </a:t>
            </a:r>
            <a:r>
              <a:rPr lang="en-GB" altLang="fr-FR" sz="1400" i="1" dirty="0" err="1">
                <a:solidFill>
                  <a:schemeClr val="tx1"/>
                </a:solidFill>
              </a:rPr>
              <a:t>seuil</a:t>
            </a:r>
            <a:r>
              <a:rPr lang="en-GB" altLang="fr-FR" sz="1400" dirty="0">
                <a:solidFill>
                  <a:schemeClr val="tx1"/>
                </a:solidFill>
              </a:rPr>
              <a:t>,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GB" altLang="fr-FR" sz="1400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400" b="1" dirty="0">
                <a:solidFill>
                  <a:srgbClr val="FF9900"/>
                </a:solidFill>
                <a:sym typeface="Symbol" panose="05050102010706020507" pitchFamily="18" charset="2"/>
              </a:rPr>
              <a:t></a:t>
            </a:r>
            <a:r>
              <a:rPr lang="en-GB" altLang="fr-FR" sz="1400" b="1" dirty="0">
                <a:solidFill>
                  <a:srgbClr val="FF9900"/>
                </a:solidFill>
              </a:rPr>
              <a:t>(.)</a:t>
            </a:r>
            <a:r>
              <a:rPr lang="en-GB" altLang="fr-FR" sz="1400" dirty="0" err="1">
                <a:solidFill>
                  <a:schemeClr val="tx1"/>
                </a:solidFill>
              </a:rPr>
              <a:t>est</a:t>
            </a:r>
            <a:r>
              <a:rPr lang="en-GB" altLang="fr-FR" sz="1400" dirty="0">
                <a:solidFill>
                  <a:schemeClr val="tx1"/>
                </a:solidFill>
              </a:rPr>
              <a:t> la </a:t>
            </a:r>
            <a:r>
              <a:rPr lang="en-GB" altLang="fr-FR" sz="1400" i="1" dirty="0" err="1">
                <a:solidFill>
                  <a:schemeClr val="tx1"/>
                </a:solidFill>
              </a:rPr>
              <a:t>fonction</a:t>
            </a:r>
            <a:r>
              <a:rPr lang="en-GB" altLang="fr-FR" sz="1400" i="1" dirty="0">
                <a:solidFill>
                  <a:schemeClr val="tx1"/>
                </a:solidFill>
              </a:rPr>
              <a:t> </a:t>
            </a:r>
            <a:r>
              <a:rPr lang="en-GB" altLang="fr-FR" sz="1400" i="1" dirty="0" err="1">
                <a:solidFill>
                  <a:schemeClr val="tx1"/>
                </a:solidFill>
              </a:rPr>
              <a:t>d'activation</a:t>
            </a:r>
            <a:r>
              <a:rPr lang="en-GB" altLang="fr-FR" sz="1400" dirty="0">
                <a:solidFill>
                  <a:schemeClr val="tx1"/>
                </a:solidFill>
              </a:rPr>
              <a:t>,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GB" altLang="fr-FR" sz="1400" dirty="0">
              <a:solidFill>
                <a:schemeClr val="tx1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400" b="1" i="1" dirty="0" err="1">
                <a:solidFill>
                  <a:srgbClr val="FF9900"/>
                </a:solidFill>
              </a:rPr>
              <a:t>y</a:t>
            </a:r>
            <a:r>
              <a:rPr lang="en-GB" altLang="fr-FR" sz="1400" b="1" i="1" baseline="-25000" dirty="0" err="1">
                <a:solidFill>
                  <a:srgbClr val="FF9900"/>
                </a:solidFill>
              </a:rPr>
              <a:t>k</a:t>
            </a:r>
            <a:r>
              <a:rPr lang="en-GB" altLang="fr-FR" sz="1400" i="1" dirty="0">
                <a:solidFill>
                  <a:srgbClr val="FF9900"/>
                </a:solidFill>
              </a:rPr>
              <a:t> </a:t>
            </a:r>
            <a:r>
              <a:rPr lang="en-GB" altLang="fr-FR" sz="1400" dirty="0" err="1">
                <a:solidFill>
                  <a:schemeClr val="tx1"/>
                </a:solidFill>
              </a:rPr>
              <a:t>est</a:t>
            </a:r>
            <a:r>
              <a:rPr lang="en-GB" altLang="fr-FR" sz="1400" dirty="0">
                <a:solidFill>
                  <a:schemeClr val="tx1"/>
                </a:solidFill>
              </a:rPr>
              <a:t> le signal de </a:t>
            </a:r>
            <a:r>
              <a:rPr lang="en-GB" altLang="fr-FR" sz="1400" i="1" dirty="0">
                <a:solidFill>
                  <a:schemeClr val="tx1"/>
                </a:solidFill>
              </a:rPr>
              <a:t>sortie </a:t>
            </a:r>
            <a:r>
              <a:rPr lang="en-GB" altLang="fr-FR" sz="1400" dirty="0">
                <a:solidFill>
                  <a:schemeClr val="tx1"/>
                </a:solidFill>
              </a:rPr>
              <a:t>du neurone k.</a:t>
            </a:r>
          </a:p>
        </p:txBody>
      </p:sp>
      <p:grpSp>
        <p:nvGrpSpPr>
          <p:cNvPr id="17412" name="Group 6">
            <a:extLst>
              <a:ext uri="{FF2B5EF4-FFF2-40B4-BE49-F238E27FC236}">
                <a16:creationId xmlns:a16="http://schemas.microsoft.com/office/drawing/2014/main" xmlns="" id="{1207E941-421A-4B13-A11B-073ED1437EA6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44451"/>
            <a:ext cx="9142413" cy="365125"/>
            <a:chOff x="0" y="28"/>
            <a:chExt cx="5759" cy="230"/>
          </a:xfrm>
        </p:grpSpPr>
        <p:sp>
          <p:nvSpPr>
            <p:cNvPr id="17415" name="AutoShape 7">
              <a:extLst>
                <a:ext uri="{FF2B5EF4-FFF2-40B4-BE49-F238E27FC236}">
                  <a16:creationId xmlns:a16="http://schemas.microsoft.com/office/drawing/2014/main" xmlns="" id="{403F3371-A9B4-4FE0-B64C-EDBBF2CD4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oundRect">
              <a:avLst>
                <a:gd name="adj" fmla="val 431"/>
              </a:avLst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7416" name="Text Box 8">
              <a:extLst>
                <a:ext uri="{FF2B5EF4-FFF2-40B4-BE49-F238E27FC236}">
                  <a16:creationId xmlns:a16="http://schemas.microsoft.com/office/drawing/2014/main" xmlns="" id="{BF66A257-C0E5-437D-B2AB-755983716C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fr-FR" sz="1800">
                  <a:solidFill>
                    <a:schemeClr val="tx1"/>
                  </a:solidFill>
                </a:rPr>
                <a:t>Intelligence Artificielle 		Apprentissage			</a:t>
              </a:r>
            </a:p>
          </p:txBody>
        </p:sp>
      </p:grpSp>
      <p:pic>
        <p:nvPicPr>
          <p:cNvPr id="17413" name="Picture 10">
            <a:extLst>
              <a:ext uri="{FF2B5EF4-FFF2-40B4-BE49-F238E27FC236}">
                <a16:creationId xmlns:a16="http://schemas.microsoft.com/office/drawing/2014/main" xmlns="" id="{D0AD2494-38A9-45FC-8497-F7F3BC6EEF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6995" y="980234"/>
            <a:ext cx="5753186" cy="26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11">
            <a:extLst>
              <a:ext uri="{FF2B5EF4-FFF2-40B4-BE49-F238E27FC236}">
                <a16:creationId xmlns:a16="http://schemas.microsoft.com/office/drawing/2014/main" xmlns="" id="{F07C339D-9586-4297-90B9-7F09EC0C4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734" y="3959233"/>
            <a:ext cx="5542447" cy="10235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ABB114CE-48FD-44A9-9747-9842B9560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6</a:t>
            </a:fld>
            <a:endParaRPr lang="fr-FR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4">
            <a:extLst>
              <a:ext uri="{FF2B5EF4-FFF2-40B4-BE49-F238E27FC236}">
                <a16:creationId xmlns:a16="http://schemas.microsoft.com/office/drawing/2014/main" xmlns="" id="{E9DBF5E9-B006-4574-BBA7-C1849D361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1125539"/>
            <a:ext cx="4633912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Rectangle 5">
            <a:extLst>
              <a:ext uri="{FF2B5EF4-FFF2-40B4-BE49-F238E27FC236}">
                <a16:creationId xmlns:a16="http://schemas.microsoft.com/office/drawing/2014/main" xmlns="" id="{BC3C967E-8A2B-4C41-B074-471304B0E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690563"/>
            <a:ext cx="2203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400">
                <a:solidFill>
                  <a:schemeClr val="accent2"/>
                </a:solidFill>
              </a:rPr>
              <a:t>Modèle étendu</a:t>
            </a:r>
          </a:p>
        </p:txBody>
      </p:sp>
      <p:sp>
        <p:nvSpPr>
          <p:cNvPr id="19460" name="Rectangle 6">
            <a:extLst>
              <a:ext uri="{FF2B5EF4-FFF2-40B4-BE49-F238E27FC236}">
                <a16:creationId xmlns:a16="http://schemas.microsoft.com/office/drawing/2014/main" xmlns="" id="{2159AD76-9222-44EF-AFD5-07CD59A6B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3789364"/>
            <a:ext cx="7920038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La fonction d'activation définit la valeur de sortie d'un neurone en termes des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niveaux d'activité de ses entrées.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3 types de fonctions d'activation 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• </a:t>
            </a:r>
            <a:r>
              <a:rPr lang="fr-FR" altLang="fr-FR" sz="1800" i="1">
                <a:latin typeface="Times New Roman" panose="02020603050405020304" pitchFamily="18" charset="0"/>
              </a:rPr>
              <a:t>fonction à seuil</a:t>
            </a:r>
          </a:p>
        </p:txBody>
      </p:sp>
      <p:pic>
        <p:nvPicPr>
          <p:cNvPr id="19461" name="Picture 7">
            <a:extLst>
              <a:ext uri="{FF2B5EF4-FFF2-40B4-BE49-F238E27FC236}">
                <a16:creationId xmlns:a16="http://schemas.microsoft.com/office/drawing/2014/main" xmlns="" id="{2F722EBD-2A16-4E38-8D8C-4FA081EE6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8" y="5013326"/>
            <a:ext cx="16700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Picture 8">
            <a:extLst>
              <a:ext uri="{FF2B5EF4-FFF2-40B4-BE49-F238E27FC236}">
                <a16:creationId xmlns:a16="http://schemas.microsoft.com/office/drawing/2014/main" xmlns="" id="{B3C46BC7-B23C-494D-956C-8230D177D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4" y="5734050"/>
            <a:ext cx="88423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463" name="Group 9">
            <a:extLst>
              <a:ext uri="{FF2B5EF4-FFF2-40B4-BE49-F238E27FC236}">
                <a16:creationId xmlns:a16="http://schemas.microsoft.com/office/drawing/2014/main" xmlns="" id="{79667BB0-837E-48AE-82E1-5DE5F9B7B9F0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44451"/>
            <a:ext cx="9142413" cy="365125"/>
            <a:chOff x="0" y="28"/>
            <a:chExt cx="5759" cy="230"/>
          </a:xfrm>
        </p:grpSpPr>
        <p:sp>
          <p:nvSpPr>
            <p:cNvPr id="19470" name="AutoShape 10">
              <a:extLst>
                <a:ext uri="{FF2B5EF4-FFF2-40B4-BE49-F238E27FC236}">
                  <a16:creationId xmlns:a16="http://schemas.microsoft.com/office/drawing/2014/main" xmlns="" id="{BA539092-6B4A-48F6-A0E6-993363399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oundRect">
              <a:avLst>
                <a:gd name="adj" fmla="val 431"/>
              </a:avLst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19471" name="Text Box 11">
              <a:extLst>
                <a:ext uri="{FF2B5EF4-FFF2-40B4-BE49-F238E27FC236}">
                  <a16:creationId xmlns:a16="http://schemas.microsoft.com/office/drawing/2014/main" xmlns="" id="{666750E7-37C3-4148-8F2F-BCB8C9BFB3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fr-FR" sz="1800">
                  <a:solidFill>
                    <a:schemeClr val="tx1"/>
                  </a:solidFill>
                </a:rPr>
                <a:t>Intelligence Artificielle 		Apprentissage			</a:t>
              </a:r>
            </a:p>
          </p:txBody>
        </p:sp>
      </p:grpSp>
      <p:sp>
        <p:nvSpPr>
          <p:cNvPr id="19464" name="Rectangle 13">
            <a:extLst>
              <a:ext uri="{FF2B5EF4-FFF2-40B4-BE49-F238E27FC236}">
                <a16:creationId xmlns:a16="http://schemas.microsoft.com/office/drawing/2014/main" xmlns="" id="{D8866161-90BD-4051-B40D-D68938448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114" y="4652963"/>
            <a:ext cx="2905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• </a:t>
            </a:r>
            <a:r>
              <a:rPr lang="fr-FR" altLang="fr-FR" sz="1800" i="1">
                <a:latin typeface="Times New Roman" panose="02020603050405020304" pitchFamily="18" charset="0"/>
              </a:rPr>
              <a:t>fonction linéaire par parties</a:t>
            </a:r>
          </a:p>
        </p:txBody>
      </p:sp>
      <p:pic>
        <p:nvPicPr>
          <p:cNvPr id="19465" name="Picture 14">
            <a:extLst>
              <a:ext uri="{FF2B5EF4-FFF2-40B4-BE49-F238E27FC236}">
                <a16:creationId xmlns:a16="http://schemas.microsoft.com/office/drawing/2014/main" xmlns="" id="{F85CD751-9DD9-42C4-A809-AD81AAD42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275" y="5084763"/>
            <a:ext cx="1455738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6" name="Picture 15">
            <a:extLst>
              <a:ext uri="{FF2B5EF4-FFF2-40B4-BE49-F238E27FC236}">
                <a16:creationId xmlns:a16="http://schemas.microsoft.com/office/drawing/2014/main" xmlns="" id="{5BF2E27B-81D0-4E36-B30A-3CB690F11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201" y="5876926"/>
            <a:ext cx="955675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7" name="Rectangle 16">
            <a:extLst>
              <a:ext uri="{FF2B5EF4-FFF2-40B4-BE49-F238E27FC236}">
                <a16:creationId xmlns:a16="http://schemas.microsoft.com/office/drawing/2014/main" xmlns="" id="{1E6F9D0D-26F1-4311-923C-BCA99C05B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4189" y="4652963"/>
            <a:ext cx="19526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• </a:t>
            </a:r>
            <a:r>
              <a:rPr lang="fr-FR" altLang="fr-FR" sz="1800" i="1">
                <a:latin typeface="Times New Roman" panose="02020603050405020304" pitchFamily="18" charset="0"/>
              </a:rPr>
              <a:t>fonction sigmoïde</a:t>
            </a:r>
          </a:p>
        </p:txBody>
      </p:sp>
      <p:pic>
        <p:nvPicPr>
          <p:cNvPr id="19468" name="Picture 17">
            <a:extLst>
              <a:ext uri="{FF2B5EF4-FFF2-40B4-BE49-F238E27FC236}">
                <a16:creationId xmlns:a16="http://schemas.microsoft.com/office/drawing/2014/main" xmlns="" id="{DA90EE61-8A58-4C8B-AB93-85D7E897B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388" y="5157789"/>
            <a:ext cx="990600" cy="44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9" name="Picture 18">
            <a:extLst>
              <a:ext uri="{FF2B5EF4-FFF2-40B4-BE49-F238E27FC236}">
                <a16:creationId xmlns:a16="http://schemas.microsoft.com/office/drawing/2014/main" xmlns="" id="{06DB27A3-E024-4614-A7A1-CFEA59872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2851" y="5851526"/>
            <a:ext cx="847725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32A7728A-F993-43ED-AFD1-54ADCDD35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7</a:t>
            </a:fld>
            <a:endParaRPr lang="fr-FR"/>
          </a:p>
        </p:txBody>
      </p:sp>
      <p:pic>
        <p:nvPicPr>
          <p:cNvPr id="1026" name="Picture 2" descr="Artificial intelligence artificielle apprentissage profond deep learning machine supervised reseau neurone neural network fonction activation function layer couche ponderation weight sigmoid ReLU tanh maxout biochimej">
            <a:extLst>
              <a:ext uri="{FF2B5EF4-FFF2-40B4-BE49-F238E27FC236}">
                <a16:creationId xmlns:a16="http://schemas.microsoft.com/office/drawing/2014/main" xmlns="" id="{3443FC97-BF90-43CC-ACD6-6C4417F04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5956" y="1065878"/>
            <a:ext cx="4838669" cy="211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1">
            <a:extLst>
              <a:ext uri="{FF2B5EF4-FFF2-40B4-BE49-F238E27FC236}">
                <a16:creationId xmlns:a16="http://schemas.microsoft.com/office/drawing/2014/main" xmlns="" id="{2E9C56AE-D1C3-456E-81B1-D35EE6608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826" y="565151"/>
            <a:ext cx="4321175" cy="567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dirty="0">
                <a:solidFill>
                  <a:schemeClr val="tx1"/>
                </a:solidFill>
              </a:rPr>
              <a:t>Topologies de </a:t>
            </a:r>
            <a:r>
              <a:rPr lang="en-GB" altLang="fr-FR" dirty="0" err="1">
                <a:solidFill>
                  <a:schemeClr val="tx1"/>
                </a:solidFill>
              </a:rPr>
              <a:t>réseaux</a:t>
            </a:r>
            <a:endParaRPr lang="en-GB" altLang="fr-FR" dirty="0">
              <a:solidFill>
                <a:schemeClr val="tx1"/>
              </a:solidFill>
            </a:endParaRPr>
          </a:p>
        </p:txBody>
      </p:sp>
      <p:pic>
        <p:nvPicPr>
          <p:cNvPr id="29699" name="Picture 3">
            <a:extLst>
              <a:ext uri="{FF2B5EF4-FFF2-40B4-BE49-F238E27FC236}">
                <a16:creationId xmlns:a16="http://schemas.microsoft.com/office/drawing/2014/main" xmlns="" id="{F609D927-5541-41DB-B0BE-9A1011B6B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732" y="1782144"/>
            <a:ext cx="1994400" cy="1674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4">
            <a:extLst>
              <a:ext uri="{FF2B5EF4-FFF2-40B4-BE49-F238E27FC236}">
                <a16:creationId xmlns:a16="http://schemas.microsoft.com/office/drawing/2014/main" xmlns="" id="{A6400052-D49A-4A5A-BFD1-868B2E1CF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388" y="3805238"/>
            <a:ext cx="2352675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5">
            <a:extLst>
              <a:ext uri="{FF2B5EF4-FFF2-40B4-BE49-F238E27FC236}">
                <a16:creationId xmlns:a16="http://schemas.microsoft.com/office/drawing/2014/main" xmlns="" id="{19D71088-69C8-459A-A422-69214F0F3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2137" y="1843088"/>
            <a:ext cx="3038475" cy="165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Text Box 6">
            <a:extLst>
              <a:ext uri="{FF2B5EF4-FFF2-40B4-BE49-F238E27FC236}">
                <a16:creationId xmlns:a16="http://schemas.microsoft.com/office/drawing/2014/main" xmlns="" id="{C4D90DB3-4CB3-409D-A211-B267F99BA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2137" y="1428173"/>
            <a:ext cx="1792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400" dirty="0">
                <a:solidFill>
                  <a:schemeClr val="tx1"/>
                </a:solidFill>
              </a:rPr>
              <a:t>• </a:t>
            </a:r>
            <a:r>
              <a:rPr lang="en-GB" altLang="fr-FR" sz="1400" dirty="0" err="1">
                <a:solidFill>
                  <a:schemeClr val="tx1"/>
                </a:solidFill>
              </a:rPr>
              <a:t>Réseau</a:t>
            </a:r>
            <a:r>
              <a:rPr lang="en-GB" altLang="fr-FR" sz="1400" dirty="0">
                <a:solidFill>
                  <a:schemeClr val="tx1"/>
                </a:solidFill>
              </a:rPr>
              <a:t> </a:t>
            </a:r>
            <a:r>
              <a:rPr lang="en-GB" altLang="fr-FR" sz="1400" i="1" dirty="0">
                <a:solidFill>
                  <a:schemeClr val="tx1"/>
                </a:solidFill>
              </a:rPr>
              <a:t>"</a:t>
            </a:r>
            <a:r>
              <a:rPr lang="en-GB" altLang="fr-FR" sz="1400" i="1" dirty="0" err="1">
                <a:solidFill>
                  <a:schemeClr val="tx1"/>
                </a:solidFill>
              </a:rPr>
              <a:t>en</a:t>
            </a:r>
            <a:r>
              <a:rPr lang="en-GB" altLang="fr-FR" sz="1400" i="1" dirty="0">
                <a:solidFill>
                  <a:schemeClr val="tx1"/>
                </a:solidFill>
              </a:rPr>
              <a:t> </a:t>
            </a:r>
            <a:r>
              <a:rPr lang="en-GB" altLang="fr-FR" sz="1400" i="1" dirty="0" err="1">
                <a:solidFill>
                  <a:schemeClr val="tx1"/>
                </a:solidFill>
              </a:rPr>
              <a:t>treillis</a:t>
            </a:r>
            <a:r>
              <a:rPr lang="en-GB" altLang="fr-FR" sz="1400" i="1" dirty="0">
                <a:solidFill>
                  <a:schemeClr val="tx1"/>
                </a:solidFill>
              </a:rPr>
              <a:t>"</a:t>
            </a:r>
          </a:p>
        </p:txBody>
      </p:sp>
      <p:sp>
        <p:nvSpPr>
          <p:cNvPr id="29703" name="Text Box 7">
            <a:extLst>
              <a:ext uri="{FF2B5EF4-FFF2-40B4-BE49-F238E27FC236}">
                <a16:creationId xmlns:a16="http://schemas.microsoft.com/office/drawing/2014/main" xmlns="" id="{E78E604E-558C-43F7-BDBA-ADA1F0F4B6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3500438"/>
            <a:ext cx="3190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400" dirty="0">
                <a:solidFill>
                  <a:schemeClr val="tx1"/>
                </a:solidFill>
              </a:rPr>
              <a:t>• </a:t>
            </a:r>
            <a:r>
              <a:rPr lang="en-GB" altLang="fr-FR" sz="1400" dirty="0" err="1">
                <a:solidFill>
                  <a:schemeClr val="tx1"/>
                </a:solidFill>
              </a:rPr>
              <a:t>Réseau</a:t>
            </a:r>
            <a:r>
              <a:rPr lang="en-GB" altLang="fr-FR" sz="1400" dirty="0">
                <a:solidFill>
                  <a:schemeClr val="tx1"/>
                </a:solidFill>
              </a:rPr>
              <a:t> </a:t>
            </a:r>
            <a:r>
              <a:rPr lang="en-GB" altLang="fr-FR" sz="1400" dirty="0" err="1">
                <a:solidFill>
                  <a:schemeClr val="tx1"/>
                </a:solidFill>
              </a:rPr>
              <a:t>récursif</a:t>
            </a:r>
            <a:r>
              <a:rPr lang="en-GB" altLang="fr-FR" sz="1400" dirty="0">
                <a:solidFill>
                  <a:schemeClr val="tx1"/>
                </a:solidFill>
              </a:rPr>
              <a:t> (</a:t>
            </a:r>
            <a:r>
              <a:rPr lang="en-GB" altLang="fr-FR" sz="1400" dirty="0" err="1">
                <a:solidFill>
                  <a:schemeClr val="tx1"/>
                </a:solidFill>
              </a:rPr>
              <a:t>réseau</a:t>
            </a:r>
            <a:r>
              <a:rPr lang="en-GB" altLang="fr-FR" sz="1400" dirty="0">
                <a:solidFill>
                  <a:schemeClr val="tx1"/>
                </a:solidFill>
              </a:rPr>
              <a:t> de Hopfield)</a:t>
            </a:r>
          </a:p>
        </p:txBody>
      </p:sp>
      <p:sp>
        <p:nvSpPr>
          <p:cNvPr id="29704" name="Text Box 8">
            <a:extLst>
              <a:ext uri="{FF2B5EF4-FFF2-40B4-BE49-F238E27FC236}">
                <a16:creationId xmlns:a16="http://schemas.microsoft.com/office/drawing/2014/main" xmlns="" id="{1A379464-49C8-4B01-B4D5-AE1D8E08B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8025" y="1428173"/>
            <a:ext cx="2861979" cy="301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400" dirty="0">
                <a:solidFill>
                  <a:schemeClr val="tx1"/>
                </a:solidFill>
              </a:rPr>
              <a:t>• </a:t>
            </a:r>
            <a:r>
              <a:rPr lang="en-GB" altLang="fr-FR" sz="1400" dirty="0" err="1">
                <a:solidFill>
                  <a:srgbClr val="FF9900"/>
                </a:solidFill>
              </a:rPr>
              <a:t>Réseau</a:t>
            </a:r>
            <a:r>
              <a:rPr lang="en-GB" altLang="fr-FR" sz="1400" dirty="0">
                <a:solidFill>
                  <a:srgbClr val="FF9900"/>
                </a:solidFill>
              </a:rPr>
              <a:t> </a:t>
            </a:r>
            <a:r>
              <a:rPr lang="en-GB" altLang="fr-FR" sz="1400" dirty="0" err="1">
                <a:solidFill>
                  <a:srgbClr val="FF9900"/>
                </a:solidFill>
              </a:rPr>
              <a:t>acyclique</a:t>
            </a:r>
            <a:r>
              <a:rPr lang="en-GB" altLang="fr-FR" sz="1400" dirty="0">
                <a:solidFill>
                  <a:srgbClr val="FF9900"/>
                </a:solidFill>
              </a:rPr>
              <a:t> multi-couches</a:t>
            </a:r>
          </a:p>
        </p:txBody>
      </p:sp>
      <p:sp>
        <p:nvSpPr>
          <p:cNvPr id="29705" name="Text Box 9">
            <a:extLst>
              <a:ext uri="{FF2B5EF4-FFF2-40B4-BE49-F238E27FC236}">
                <a16:creationId xmlns:a16="http://schemas.microsoft.com/office/drawing/2014/main" xmlns="" id="{7D93225A-84C4-40B3-B6FB-2C2809168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5618" y="3918036"/>
            <a:ext cx="26209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SzPct val="77000"/>
            </a:pPr>
            <a:r>
              <a:rPr lang="en-GB" altLang="fr-FR" sz="1400">
                <a:solidFill>
                  <a:schemeClr val="tx1"/>
                </a:solidFill>
              </a:rPr>
              <a:t> Autres: cartes de Kohonen,…</a:t>
            </a:r>
          </a:p>
        </p:txBody>
      </p:sp>
      <p:grpSp>
        <p:nvGrpSpPr>
          <p:cNvPr id="21515" name="Group 10">
            <a:extLst>
              <a:ext uri="{FF2B5EF4-FFF2-40B4-BE49-F238E27FC236}">
                <a16:creationId xmlns:a16="http://schemas.microsoft.com/office/drawing/2014/main" xmlns="" id="{637EE3C4-D2E4-4E29-836F-3A6E6F894C76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44451"/>
            <a:ext cx="9142413" cy="365125"/>
            <a:chOff x="0" y="28"/>
            <a:chExt cx="5759" cy="230"/>
          </a:xfrm>
        </p:grpSpPr>
        <p:sp>
          <p:nvSpPr>
            <p:cNvPr id="21518" name="AutoShape 11">
              <a:extLst>
                <a:ext uri="{FF2B5EF4-FFF2-40B4-BE49-F238E27FC236}">
                  <a16:creationId xmlns:a16="http://schemas.microsoft.com/office/drawing/2014/main" xmlns="" id="{2378ED47-38BE-45C9-9391-58A2A4EBF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oundRect">
              <a:avLst>
                <a:gd name="adj" fmla="val 431"/>
              </a:avLst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1519" name="Text Box 12">
              <a:extLst>
                <a:ext uri="{FF2B5EF4-FFF2-40B4-BE49-F238E27FC236}">
                  <a16:creationId xmlns:a16="http://schemas.microsoft.com/office/drawing/2014/main" xmlns="" id="{1BA35093-4695-4F8D-93A2-0C18B569A7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fr-FR" sz="1800">
                  <a:solidFill>
                    <a:schemeClr val="tx1"/>
                  </a:solidFill>
                </a:rPr>
                <a:t>Intelligence Artificielle 		Apprentissage			</a:t>
              </a:r>
            </a:p>
          </p:txBody>
        </p:sp>
      </p:grpSp>
      <p:sp>
        <p:nvSpPr>
          <p:cNvPr id="21516" name="AutoShape 15" descr="Résultat de recherche d'images pour &quot;carte de kohonen&quot;">
            <a:extLst>
              <a:ext uri="{FF2B5EF4-FFF2-40B4-BE49-F238E27FC236}">
                <a16:creationId xmlns:a16="http://schemas.microsoft.com/office/drawing/2014/main" xmlns="" id="{1534DB70-31B5-41DB-A3A3-DD7A44FEE0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7322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pic>
        <p:nvPicPr>
          <p:cNvPr id="38929" name="Picture 17" descr="Résultat de recherche d'images pour &quot;carte de kohonen&quot;">
            <a:extLst>
              <a:ext uri="{FF2B5EF4-FFF2-40B4-BE49-F238E27FC236}">
                <a16:creationId xmlns:a16="http://schemas.microsoft.com/office/drawing/2014/main" xmlns="" id="{AE02A5FD-4EC0-4F49-BD71-5EE394ED2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189" y="4186783"/>
            <a:ext cx="2179091" cy="2179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90A0FB71-94BF-4020-A3B5-F114A4454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xmlns="" id="{34B866A7-C319-4D07-BCF6-79C84B862C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620962" cy="2620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8" name="Picture 4" descr="Employing a Multiple Associative Memory Model for Temporal Sequence  Reproduction">
            <a:extLst>
              <a:ext uri="{FF2B5EF4-FFF2-40B4-BE49-F238E27FC236}">
                <a16:creationId xmlns:a16="http://schemas.microsoft.com/office/drawing/2014/main" xmlns="" id="{C8C5EDE5-9941-41E6-A533-A9A814DD9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263" y="5429827"/>
            <a:ext cx="1406150" cy="118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2" grpId="0" autoUpdateAnimBg="0"/>
      <p:bldP spid="29703" grpId="0" autoUpdateAnimBg="0"/>
      <p:bldP spid="29704" grpId="0" autoUpdateAnimBg="0"/>
      <p:bldP spid="2970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1">
            <a:extLst>
              <a:ext uri="{FF2B5EF4-FFF2-40B4-BE49-F238E27FC236}">
                <a16:creationId xmlns:a16="http://schemas.microsoft.com/office/drawing/2014/main" xmlns="" id="{3F6F20FF-BEBB-4192-9615-007CA4242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164" y="874759"/>
            <a:ext cx="4237262" cy="3413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Text Box 2">
            <a:extLst>
              <a:ext uri="{FF2B5EF4-FFF2-40B4-BE49-F238E27FC236}">
                <a16:creationId xmlns:a16="http://schemas.microsoft.com/office/drawing/2014/main" xmlns="" id="{7AC05FDE-9393-4366-9916-51CA0891D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76250"/>
            <a:ext cx="4503454" cy="567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>
                <a:solidFill>
                  <a:schemeClr val="accent2"/>
                </a:solidFill>
              </a:rPr>
              <a:t>Le modèle "Perceptron"</a:t>
            </a:r>
          </a:p>
        </p:txBody>
      </p:sp>
      <p:sp>
        <p:nvSpPr>
          <p:cNvPr id="30723" name="Text Box 3">
            <a:extLst>
              <a:ext uri="{FF2B5EF4-FFF2-40B4-BE49-F238E27FC236}">
                <a16:creationId xmlns:a16="http://schemas.microsoft.com/office/drawing/2014/main" xmlns="" id="{D9A65E85-4B78-4D83-8698-EEDF38B8E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7439" y="1052513"/>
            <a:ext cx="3562491" cy="301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400">
                <a:solidFill>
                  <a:schemeClr val="accent2"/>
                </a:solidFill>
              </a:rPr>
              <a:t>Fonctions Logiques, exemple: "ou" logique</a:t>
            </a:r>
          </a:p>
        </p:txBody>
      </p:sp>
      <p:pic>
        <p:nvPicPr>
          <p:cNvPr id="30724" name="Picture 4">
            <a:extLst>
              <a:ext uri="{FF2B5EF4-FFF2-40B4-BE49-F238E27FC236}">
                <a16:creationId xmlns:a16="http://schemas.microsoft.com/office/drawing/2014/main" xmlns="" id="{5A14C9CB-85A9-4685-943B-833570035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7454" y="1389857"/>
            <a:ext cx="3061101" cy="1881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5" name="Picture 5">
            <a:extLst>
              <a:ext uri="{FF2B5EF4-FFF2-40B4-BE49-F238E27FC236}">
                <a16:creationId xmlns:a16="http://schemas.microsoft.com/office/drawing/2014/main" xmlns="" id="{D5CCBCAE-922D-4D40-9D51-E1C3FC876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4205" y="1422401"/>
            <a:ext cx="1915960" cy="1768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26" name="Picture 6">
            <a:extLst>
              <a:ext uri="{FF2B5EF4-FFF2-40B4-BE49-F238E27FC236}">
                <a16:creationId xmlns:a16="http://schemas.microsoft.com/office/drawing/2014/main" xmlns="" id="{0C1C3A21-6524-4AF5-BE57-E05CF3292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1" y="5157789"/>
            <a:ext cx="2867025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7" name="Text Box 7">
            <a:extLst>
              <a:ext uri="{FF2B5EF4-FFF2-40B4-BE49-F238E27FC236}">
                <a16:creationId xmlns:a16="http://schemas.microsoft.com/office/drawing/2014/main" xmlns="" id="{0CD00E61-5607-4781-8102-20C7D1C2C9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0" y="4724400"/>
            <a:ext cx="4464050" cy="301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400">
                <a:solidFill>
                  <a:schemeClr val="accent2"/>
                </a:solidFill>
              </a:rPr>
              <a:t>Problème: Non-séparabilité linéaire (XOR, EGALITE)</a:t>
            </a:r>
          </a:p>
        </p:txBody>
      </p:sp>
      <p:sp>
        <p:nvSpPr>
          <p:cNvPr id="26633" name="Text Box 8">
            <a:extLst>
              <a:ext uri="{FF2B5EF4-FFF2-40B4-BE49-F238E27FC236}">
                <a16:creationId xmlns:a16="http://schemas.microsoft.com/office/drawing/2014/main" xmlns="" id="{8A5FC9A2-97A0-4CD1-8FEA-B9DAB6096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5153" y="4073266"/>
            <a:ext cx="17414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400" dirty="0" err="1">
                <a:solidFill>
                  <a:schemeClr val="tx1"/>
                </a:solidFill>
              </a:rPr>
              <a:t>Séparabilité</a:t>
            </a:r>
            <a:r>
              <a:rPr lang="en-GB" altLang="fr-FR" sz="1400" dirty="0">
                <a:solidFill>
                  <a:schemeClr val="tx1"/>
                </a:solidFill>
              </a:rPr>
              <a:t> </a:t>
            </a:r>
            <a:r>
              <a:rPr lang="en-GB" altLang="fr-FR" sz="1400" dirty="0" err="1">
                <a:solidFill>
                  <a:schemeClr val="tx1"/>
                </a:solidFill>
              </a:rPr>
              <a:t>linéaire</a:t>
            </a:r>
            <a:endParaRPr lang="en-GB" altLang="fr-FR" sz="1400" dirty="0">
              <a:solidFill>
                <a:schemeClr val="tx1"/>
              </a:solidFill>
            </a:endParaRPr>
          </a:p>
        </p:txBody>
      </p:sp>
      <p:pic>
        <p:nvPicPr>
          <p:cNvPr id="30729" name="Picture 9">
            <a:extLst>
              <a:ext uri="{FF2B5EF4-FFF2-40B4-BE49-F238E27FC236}">
                <a16:creationId xmlns:a16="http://schemas.microsoft.com/office/drawing/2014/main" xmlns="" id="{24C0FF28-731E-46C2-A959-757ACC285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163" y="4437064"/>
            <a:ext cx="3384550" cy="227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30" name="Text Box 10">
            <a:extLst>
              <a:ext uri="{FF2B5EF4-FFF2-40B4-BE49-F238E27FC236}">
                <a16:creationId xmlns:a16="http://schemas.microsoft.com/office/drawing/2014/main" xmlns="" id="{CD16A73A-38C4-4B26-BC52-29C881630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96225" y="4076700"/>
            <a:ext cx="1367980" cy="301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400">
                <a:solidFill>
                  <a:schemeClr val="accent2"/>
                </a:solidFill>
              </a:rPr>
              <a:t>Solution : XOR</a:t>
            </a:r>
          </a:p>
        </p:txBody>
      </p:sp>
      <p:grpSp>
        <p:nvGrpSpPr>
          <p:cNvPr id="26636" name="Group 11">
            <a:extLst>
              <a:ext uri="{FF2B5EF4-FFF2-40B4-BE49-F238E27FC236}">
                <a16:creationId xmlns:a16="http://schemas.microsoft.com/office/drawing/2014/main" xmlns="" id="{07544729-1A3A-48D7-A5F4-3918C3B48DD7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44451"/>
            <a:ext cx="9142413" cy="365125"/>
            <a:chOff x="0" y="28"/>
            <a:chExt cx="5759" cy="230"/>
          </a:xfrm>
        </p:grpSpPr>
        <p:sp>
          <p:nvSpPr>
            <p:cNvPr id="26639" name="AutoShape 12">
              <a:extLst>
                <a:ext uri="{FF2B5EF4-FFF2-40B4-BE49-F238E27FC236}">
                  <a16:creationId xmlns:a16="http://schemas.microsoft.com/office/drawing/2014/main" xmlns="" id="{142279D4-566B-4D80-8CB0-4969C35DD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oundRect">
              <a:avLst>
                <a:gd name="adj" fmla="val 431"/>
              </a:avLst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6640" name="Text Box 13">
              <a:extLst>
                <a:ext uri="{FF2B5EF4-FFF2-40B4-BE49-F238E27FC236}">
                  <a16:creationId xmlns:a16="http://schemas.microsoft.com/office/drawing/2014/main" xmlns="" id="{C3A913B4-5D4A-4BFF-83FD-88C89252FA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fr-FR" sz="1800">
                  <a:solidFill>
                    <a:schemeClr val="tx1"/>
                  </a:solidFill>
                </a:rPr>
                <a:t>Intelligence Artificielle 		Apprentissage		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92C4EC31-6A11-4FCA-9E37-41CBCD1E2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147" y="3217379"/>
            <a:ext cx="19287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 dirty="0">
                <a:solidFill>
                  <a:srgbClr val="FF000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fr-CA" altLang="fr-FR" sz="1800" b="1" dirty="0">
                <a:solidFill>
                  <a:srgbClr val="FF0000"/>
                </a:solidFill>
                <a:latin typeface="+mj-lt"/>
              </a:rPr>
              <a:t>w</a:t>
            </a:r>
            <a:r>
              <a:rPr lang="fr-CA" altLang="fr-FR" sz="1800" b="1" baseline="-25000" dirty="0">
                <a:solidFill>
                  <a:srgbClr val="FF0000"/>
                </a:solidFill>
                <a:latin typeface="+mj-lt"/>
              </a:rPr>
              <a:t>0</a:t>
            </a:r>
            <a:r>
              <a:rPr lang="fr-CA" altLang="fr-FR" sz="1800" b="1" dirty="0">
                <a:solidFill>
                  <a:srgbClr val="FF0000"/>
                </a:solidFill>
                <a:latin typeface="+mj-lt"/>
              </a:rPr>
              <a:t> + w</a:t>
            </a:r>
            <a:r>
              <a:rPr lang="fr-CA" altLang="fr-FR" sz="1800" b="1" baseline="-25000" dirty="0">
                <a:solidFill>
                  <a:srgbClr val="FF0000"/>
                </a:solidFill>
                <a:latin typeface="+mj-lt"/>
              </a:rPr>
              <a:t>1</a:t>
            </a:r>
            <a:r>
              <a:rPr lang="fr-CA" altLang="fr-FR" sz="1800" b="1" dirty="0">
                <a:solidFill>
                  <a:srgbClr val="FF0000"/>
                </a:solidFill>
                <a:latin typeface="+mj-lt"/>
              </a:rPr>
              <a:t>*x</a:t>
            </a:r>
            <a:r>
              <a:rPr lang="fr-CA" altLang="fr-FR" sz="1800" b="1" baseline="-25000" dirty="0">
                <a:solidFill>
                  <a:srgbClr val="FF0000"/>
                </a:solidFill>
                <a:latin typeface="+mj-lt"/>
              </a:rPr>
              <a:t>1</a:t>
            </a:r>
            <a:r>
              <a:rPr lang="fr-CA" altLang="fr-FR" sz="1800" b="1" dirty="0">
                <a:solidFill>
                  <a:srgbClr val="FF0000"/>
                </a:solidFill>
                <a:latin typeface="+mj-lt"/>
              </a:rPr>
              <a:t>+ w</a:t>
            </a:r>
            <a:r>
              <a:rPr lang="fr-CA" altLang="fr-FR" sz="1800" b="1" baseline="-25000" dirty="0">
                <a:solidFill>
                  <a:srgbClr val="FF0000"/>
                </a:solidFill>
                <a:latin typeface="+mj-lt"/>
              </a:rPr>
              <a:t>2</a:t>
            </a:r>
            <a:r>
              <a:rPr lang="fr-CA" altLang="fr-FR" sz="1800" b="1" dirty="0">
                <a:solidFill>
                  <a:srgbClr val="FF0000"/>
                </a:solidFill>
                <a:latin typeface="+mj-lt"/>
              </a:rPr>
              <a:t>*x</a:t>
            </a:r>
            <a:r>
              <a:rPr lang="fr-CA" altLang="fr-FR" sz="1800" b="1" baseline="-25000" dirty="0">
                <a:solidFill>
                  <a:srgbClr val="FF0000"/>
                </a:solidFill>
                <a:latin typeface="+mj-lt"/>
              </a:rPr>
              <a:t>2</a:t>
            </a:r>
            <a:endParaRPr lang="fr-FR" altLang="fr-FR" sz="1800" b="1" baseline="-25000" dirty="0"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8E514942-6ECA-43C9-969F-BD6C86707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0605" y="3007148"/>
            <a:ext cx="2142458" cy="11387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400" b="1" dirty="0">
                <a:solidFill>
                  <a:srgbClr val="FF0000"/>
                </a:solidFill>
                <a:latin typeface="+mn-lt"/>
                <a:cs typeface="Times New Roman" panose="02020603050405020304" pitchFamily="18" charset="0"/>
              </a:rPr>
              <a:t>L’équation de la droite:</a:t>
            </a:r>
            <a:endParaRPr lang="fr-CA" altLang="fr-FR" sz="1800" b="1" dirty="0">
              <a:solidFill>
                <a:srgbClr val="FF0000"/>
              </a:solidFill>
              <a:latin typeface="+mn-lt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800" b="1" dirty="0">
                <a:solidFill>
                  <a:srgbClr val="0070C0"/>
                </a:solidFill>
                <a:latin typeface="+mj-lt"/>
              </a:rPr>
              <a:t>-0.5 + x</a:t>
            </a:r>
            <a:r>
              <a:rPr lang="fr-CA" altLang="fr-FR" sz="1800" b="1" baseline="-25000" dirty="0">
                <a:solidFill>
                  <a:srgbClr val="0070C0"/>
                </a:solidFill>
                <a:latin typeface="+mj-lt"/>
              </a:rPr>
              <a:t>1</a:t>
            </a:r>
            <a:r>
              <a:rPr lang="fr-CA" altLang="fr-FR" sz="1800" b="1" dirty="0">
                <a:solidFill>
                  <a:srgbClr val="0070C0"/>
                </a:solidFill>
                <a:latin typeface="+mj-lt"/>
              </a:rPr>
              <a:t>+ x</a:t>
            </a:r>
            <a:r>
              <a:rPr lang="fr-CA" altLang="fr-FR" sz="1800" b="1" baseline="-25000" dirty="0">
                <a:solidFill>
                  <a:srgbClr val="0070C0"/>
                </a:solidFill>
                <a:latin typeface="+mj-lt"/>
              </a:rPr>
              <a:t>2</a:t>
            </a:r>
            <a:r>
              <a:rPr lang="fr-CA" altLang="fr-FR" sz="1200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  <a:r>
              <a:rPr lang="fr-CA" altLang="fr-FR" sz="1800" b="1" dirty="0">
                <a:solidFill>
                  <a:srgbClr val="0070C0"/>
                </a:solidFill>
                <a:latin typeface="+mj-lt"/>
              </a:rPr>
              <a:t>= 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 dirty="0">
                <a:solidFill>
                  <a:srgbClr val="FF0000"/>
                </a:solidFill>
                <a:latin typeface="Times New Roman" panose="02020603050405020304" pitchFamily="18" charset="0"/>
              </a:rPr>
              <a:t>w</a:t>
            </a:r>
            <a:r>
              <a:rPr lang="fr-CA" altLang="fr-FR" sz="1200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fr-CA" altLang="fr-FR" sz="1200" dirty="0">
                <a:solidFill>
                  <a:srgbClr val="FF0000"/>
                </a:solidFill>
                <a:latin typeface="Times New Roman" panose="02020603050405020304" pitchFamily="18" charset="0"/>
              </a:rPr>
              <a:t> =-0.5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 dirty="0">
                <a:solidFill>
                  <a:srgbClr val="FF0000"/>
                </a:solidFill>
                <a:latin typeface="Times New Roman" panose="02020603050405020304" pitchFamily="18" charset="0"/>
              </a:rPr>
              <a:t>w</a:t>
            </a:r>
            <a:r>
              <a:rPr lang="fr-CA" altLang="fr-FR" sz="1200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 </a:t>
            </a:r>
            <a:r>
              <a:rPr lang="fr-CA" altLang="fr-FR" sz="1200" dirty="0">
                <a:solidFill>
                  <a:srgbClr val="FF0000"/>
                </a:solidFill>
                <a:latin typeface="Times New Roman" panose="02020603050405020304" pitchFamily="18" charset="0"/>
              </a:rPr>
              <a:t>=1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200" dirty="0">
                <a:solidFill>
                  <a:srgbClr val="FF0000"/>
                </a:solidFill>
                <a:latin typeface="Times New Roman" panose="02020603050405020304" pitchFamily="18" charset="0"/>
              </a:rPr>
              <a:t>w</a:t>
            </a:r>
            <a:r>
              <a:rPr lang="fr-CA" altLang="fr-FR" sz="1200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 </a:t>
            </a:r>
            <a:r>
              <a:rPr lang="fr-CA" altLang="fr-FR" sz="1200" dirty="0">
                <a:solidFill>
                  <a:srgbClr val="FF0000"/>
                </a:solidFill>
                <a:latin typeface="Times New Roman" panose="02020603050405020304" pitchFamily="18" charset="0"/>
              </a:rPr>
              <a:t>=1</a:t>
            </a:r>
            <a:endParaRPr lang="fr-FR" altLang="fr-FR" sz="1200" baseline="-25000" dirty="0">
              <a:latin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01A8AF59-83E1-47AD-B210-FBA8450A3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9</a:t>
            </a:fld>
            <a:endParaRPr 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/>
      <p:bldP spid="30727" grpId="0"/>
      <p:bldP spid="30730" grpId="0"/>
      <p:bldP spid="2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>
            <a:extLst>
              <a:ext uri="{FF2B5EF4-FFF2-40B4-BE49-F238E27FC236}">
                <a16:creationId xmlns:a16="http://schemas.microsoft.com/office/drawing/2014/main" xmlns="" id="{024A111C-BB8A-4AB8-902F-B77CF0F5E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1" y="1268413"/>
            <a:ext cx="8748713" cy="243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dirty="0">
                <a:solidFill>
                  <a:schemeClr val="accent2"/>
                </a:solidFill>
                <a:latin typeface="Times New Roman" panose="02020603050405020304" pitchFamily="18" charset="0"/>
              </a:rPr>
              <a:t>Théorème d'apprentissage (F. </a:t>
            </a:r>
            <a:r>
              <a:rPr lang="fr-FR" altLang="fr-FR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Rosenblatt</a:t>
            </a:r>
            <a:r>
              <a:rPr lang="fr-FR" altLang="fr-FR" dirty="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 b="1" i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400" b="1" i="1" dirty="0">
                <a:solidFill>
                  <a:srgbClr val="FF9900"/>
                </a:solidFill>
                <a:latin typeface="Times New Roman" panose="02020603050405020304" pitchFamily="18" charset="0"/>
              </a:rPr>
              <a:t>Étant donné suffisamment d'exemples d'apprentissage, il existe un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400" b="1" i="1" dirty="0">
                <a:solidFill>
                  <a:srgbClr val="FF9900"/>
                </a:solidFill>
                <a:latin typeface="Times New Roman" panose="02020603050405020304" pitchFamily="18" charset="0"/>
              </a:rPr>
              <a:t>algorithme qui apprendra n'importe quelle fonction linéairement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400" b="1" i="1" dirty="0">
                <a:solidFill>
                  <a:srgbClr val="FF9900"/>
                </a:solidFill>
                <a:latin typeface="Times New Roman" panose="02020603050405020304" pitchFamily="18" charset="0"/>
              </a:rPr>
              <a:t>séparable.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2400" b="1" i="1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8675" name="Group 5">
            <a:extLst>
              <a:ext uri="{FF2B5EF4-FFF2-40B4-BE49-F238E27FC236}">
                <a16:creationId xmlns:a16="http://schemas.microsoft.com/office/drawing/2014/main" xmlns="" id="{40C425EC-4CB0-47FD-9057-CAF746651319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44451"/>
            <a:ext cx="9142413" cy="365125"/>
            <a:chOff x="0" y="28"/>
            <a:chExt cx="5759" cy="230"/>
          </a:xfrm>
        </p:grpSpPr>
        <p:sp>
          <p:nvSpPr>
            <p:cNvPr id="28678" name="AutoShape 6">
              <a:extLst>
                <a:ext uri="{FF2B5EF4-FFF2-40B4-BE49-F238E27FC236}">
                  <a16:creationId xmlns:a16="http://schemas.microsoft.com/office/drawing/2014/main" xmlns="" id="{D71A6749-E63A-426D-A65B-F160150C9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oundRect">
              <a:avLst>
                <a:gd name="adj" fmla="val 431"/>
              </a:avLst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28679" name="Text Box 7">
              <a:extLst>
                <a:ext uri="{FF2B5EF4-FFF2-40B4-BE49-F238E27FC236}">
                  <a16:creationId xmlns:a16="http://schemas.microsoft.com/office/drawing/2014/main" xmlns="" id="{90D91F93-AE2D-41FB-9648-7075522A1B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fr-FR" sz="1800">
                  <a:solidFill>
                    <a:schemeClr val="tx1"/>
                  </a:solidFill>
                </a:rPr>
                <a:t>Intelligence Artificielle 		Apprentissage		</a:t>
              </a: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8063B7DE-EE7F-45B3-B5C9-186B1888F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5" y="4797425"/>
            <a:ext cx="48387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400">
                <a:solidFill>
                  <a:srgbClr val="FF0000"/>
                </a:solidFill>
                <a:latin typeface="Times New Roman" panose="02020603050405020304" pitchFamily="18" charset="0"/>
              </a:rPr>
              <a:t>w</a:t>
            </a:r>
            <a:r>
              <a:rPr lang="fr-CA" altLang="fr-FR" sz="2400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fr-CA" altLang="fr-FR" sz="2400">
                <a:solidFill>
                  <a:srgbClr val="FF0000"/>
                </a:solidFill>
                <a:latin typeface="Times New Roman" panose="02020603050405020304" pitchFamily="18" charset="0"/>
              </a:rPr>
              <a:t> + w</a:t>
            </a:r>
            <a:r>
              <a:rPr lang="fr-CA" altLang="fr-FR" sz="2400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fr-CA" altLang="fr-FR" sz="2400">
                <a:solidFill>
                  <a:srgbClr val="FF0000"/>
                </a:solidFill>
                <a:latin typeface="Times New Roman" panose="02020603050405020304" pitchFamily="18" charset="0"/>
              </a:rPr>
              <a:t>*x</a:t>
            </a:r>
            <a:r>
              <a:rPr lang="fr-CA" altLang="fr-FR" sz="2400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fr-CA" altLang="fr-FR" sz="2400">
                <a:solidFill>
                  <a:srgbClr val="FF0000"/>
                </a:solidFill>
                <a:latin typeface="Times New Roman" panose="02020603050405020304" pitchFamily="18" charset="0"/>
              </a:rPr>
              <a:t>+ w</a:t>
            </a:r>
            <a:r>
              <a:rPr lang="fr-CA" altLang="fr-FR" sz="2400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fr-CA" altLang="fr-FR" sz="2400">
                <a:solidFill>
                  <a:srgbClr val="FF0000"/>
                </a:solidFill>
                <a:latin typeface="Times New Roman" panose="02020603050405020304" pitchFamily="18" charset="0"/>
              </a:rPr>
              <a:t>*x</a:t>
            </a:r>
            <a:r>
              <a:rPr lang="fr-CA" altLang="fr-FR" sz="2400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 </a:t>
            </a:r>
            <a:r>
              <a:rPr lang="fr-CA" altLang="fr-FR" sz="2400">
                <a:solidFill>
                  <a:srgbClr val="FF0000"/>
                </a:solidFill>
                <a:latin typeface="Times New Roman" panose="02020603050405020304" pitchFamily="18" charset="0"/>
              </a:rPr>
              <a:t>+ ….. + w</a:t>
            </a:r>
            <a:r>
              <a:rPr lang="fr-CA" altLang="fr-FR" sz="2400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fr-CA" altLang="fr-FR" sz="2400">
                <a:solidFill>
                  <a:srgbClr val="FF0000"/>
                </a:solidFill>
                <a:latin typeface="Times New Roman" panose="02020603050405020304" pitchFamily="18" charset="0"/>
              </a:rPr>
              <a:t>*x</a:t>
            </a:r>
            <a:r>
              <a:rPr lang="fr-CA" altLang="fr-FR" sz="2400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n </a:t>
            </a:r>
            <a:r>
              <a:rPr lang="fr-CA" altLang="fr-FR" sz="2400">
                <a:solidFill>
                  <a:srgbClr val="FF0000"/>
                </a:solidFill>
                <a:latin typeface="Times New Roman" panose="02020603050405020304" pitchFamily="18" charset="0"/>
              </a:rPr>
              <a:t>= 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CA" altLang="fr-FR" sz="240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2400">
                <a:solidFill>
                  <a:srgbClr val="FF0000"/>
                </a:solidFill>
                <a:latin typeface="Times New Roman" panose="02020603050405020304" pitchFamily="18" charset="0"/>
              </a:rPr>
              <a:t>Equation d’un hyperplan</a:t>
            </a:r>
            <a:endParaRPr lang="fr-FR" altLang="fr-FR" sz="2400">
              <a:latin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E3C53545-3E89-4319-90FF-9F1A71009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850" y="4005263"/>
            <a:ext cx="37401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400" b="1" i="1">
                <a:solidFill>
                  <a:schemeClr val="tx1"/>
                </a:solidFill>
                <a:latin typeface="Times New Roman" panose="02020603050405020304" pitchFamily="18" charset="0"/>
              </a:rPr>
              <a:t>Càd :  trouver les poids w</a:t>
            </a:r>
            <a:r>
              <a:rPr lang="fr-FR" altLang="fr-FR" sz="2400" b="1" i="1" baseline="-25000">
                <a:solidFill>
                  <a:schemeClr val="tx1"/>
                </a:solidFill>
                <a:latin typeface="Times New Roman" panose="02020603050405020304" pitchFamily="18" charset="0"/>
              </a:rPr>
              <a:t>k</a:t>
            </a:r>
            <a:r>
              <a:rPr lang="fr-FR" altLang="fr-FR" sz="2400" b="1" i="1">
                <a:solidFill>
                  <a:schemeClr val="tx1"/>
                </a:solidFill>
                <a:latin typeface="Times New Roman" panose="02020603050405020304" pitchFamily="18" charset="0"/>
              </a:rPr>
              <a:t> /</a:t>
            </a:r>
            <a:r>
              <a:rPr lang="fr-FR" altLang="fr-FR" sz="2400" b="1" i="1">
                <a:solidFill>
                  <a:srgbClr val="FF99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FB5DAC68-0DF7-414E-A4D7-255A1D25E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10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xmlns="" id="{2150E304-447C-4597-8B05-4C6A12681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0" y="1268414"/>
            <a:ext cx="8066088" cy="383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2000" b="1" dirty="0" err="1">
                <a:solidFill>
                  <a:schemeClr val="accent2"/>
                </a:solidFill>
              </a:rPr>
              <a:t>Algorithme</a:t>
            </a:r>
            <a:r>
              <a:rPr lang="en-GB" altLang="fr-FR" sz="2000" b="1" dirty="0">
                <a:solidFill>
                  <a:schemeClr val="accent2"/>
                </a:solidFill>
              </a:rPr>
              <a:t> </a:t>
            </a:r>
            <a:r>
              <a:rPr lang="en-GB" altLang="fr-FR" sz="2000" b="1" dirty="0" err="1">
                <a:solidFill>
                  <a:schemeClr val="accent2"/>
                </a:solidFill>
              </a:rPr>
              <a:t>d'apprentissage</a:t>
            </a:r>
            <a:r>
              <a:rPr lang="en-GB" altLang="fr-FR" sz="2000" b="1" dirty="0">
                <a:solidFill>
                  <a:schemeClr val="accent2"/>
                </a:solidFill>
              </a:rPr>
              <a:t> du Perceptron (correction </a:t>
            </a:r>
            <a:r>
              <a:rPr lang="en-GB" altLang="fr-FR" sz="2000" b="1" dirty="0" err="1">
                <a:solidFill>
                  <a:schemeClr val="accent2"/>
                </a:solidFill>
              </a:rPr>
              <a:t>d’erreur</a:t>
            </a:r>
            <a:r>
              <a:rPr lang="en-GB" altLang="fr-FR" sz="2000" b="1" dirty="0">
                <a:solidFill>
                  <a:schemeClr val="accent2"/>
                </a:solidFill>
              </a:rPr>
              <a:t>)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GB" altLang="fr-FR" sz="1800" b="1" dirty="0">
              <a:solidFill>
                <a:schemeClr val="accent2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 b="1" dirty="0">
                <a:solidFill>
                  <a:srgbClr val="6699FF"/>
                </a:solidFill>
              </a:rPr>
              <a:t>Entrées</a:t>
            </a:r>
            <a:r>
              <a:rPr lang="en-GB" altLang="fr-FR" sz="1800" dirty="0">
                <a:solidFill>
                  <a:srgbClr val="6699FF"/>
                </a:solidFill>
              </a:rPr>
              <a:t>: ensemble </a:t>
            </a:r>
            <a:r>
              <a:rPr lang="en-GB" altLang="fr-FR" sz="1800" dirty="0" err="1">
                <a:solidFill>
                  <a:srgbClr val="6699FF"/>
                </a:solidFill>
              </a:rPr>
              <a:t>d'apprentissage</a:t>
            </a:r>
            <a:r>
              <a:rPr lang="en-GB" altLang="fr-FR" sz="1800" dirty="0">
                <a:solidFill>
                  <a:srgbClr val="6699FF"/>
                </a:solidFill>
              </a:rPr>
              <a:t> </a:t>
            </a:r>
            <a:r>
              <a:rPr lang="en-GB" altLang="fr-FR" sz="1800" dirty="0">
                <a:solidFill>
                  <a:srgbClr val="FF9900"/>
                </a:solidFill>
              </a:rPr>
              <a:t>{(</a:t>
            </a:r>
            <a:r>
              <a:rPr lang="en-GB" altLang="fr-FR" sz="1800" i="1" dirty="0">
                <a:solidFill>
                  <a:srgbClr val="FF9900"/>
                </a:solidFill>
              </a:rPr>
              <a:t>x</a:t>
            </a:r>
            <a:r>
              <a:rPr lang="en-GB" altLang="fr-FR" sz="1800" i="1" baseline="-25000" dirty="0">
                <a:solidFill>
                  <a:srgbClr val="FF9900"/>
                </a:solidFill>
              </a:rPr>
              <a:t>1</a:t>
            </a:r>
            <a:r>
              <a:rPr lang="en-GB" altLang="fr-FR" sz="1800" i="1" dirty="0">
                <a:solidFill>
                  <a:srgbClr val="FF9900"/>
                </a:solidFill>
              </a:rPr>
              <a:t>,x</a:t>
            </a:r>
            <a:r>
              <a:rPr lang="en-GB" altLang="fr-FR" sz="1800" i="1" baseline="-25000" dirty="0">
                <a:solidFill>
                  <a:srgbClr val="FF9900"/>
                </a:solidFill>
              </a:rPr>
              <a:t>2</a:t>
            </a:r>
            <a:r>
              <a:rPr lang="en-GB" altLang="fr-FR" sz="1800" i="1" dirty="0">
                <a:solidFill>
                  <a:srgbClr val="FF9900"/>
                </a:solidFill>
              </a:rPr>
              <a:t>,…,</a:t>
            </a:r>
            <a:r>
              <a:rPr lang="en-GB" altLang="fr-FR" sz="1800" i="1" dirty="0" err="1">
                <a:solidFill>
                  <a:srgbClr val="FF9900"/>
                </a:solidFill>
              </a:rPr>
              <a:t>x</a:t>
            </a:r>
            <a:r>
              <a:rPr lang="en-GB" altLang="fr-FR" sz="1800" i="1" baseline="-25000" dirty="0" err="1">
                <a:solidFill>
                  <a:srgbClr val="FF9900"/>
                </a:solidFill>
              </a:rPr>
              <a:t>n</a:t>
            </a:r>
            <a:r>
              <a:rPr lang="en-GB" altLang="fr-FR" sz="1800" dirty="0" err="1">
                <a:solidFill>
                  <a:srgbClr val="FF9900"/>
                </a:solidFill>
              </a:rPr>
              <a:t>,</a:t>
            </a:r>
            <a:r>
              <a:rPr lang="en-GB" altLang="fr-FR" sz="1800" i="1" dirty="0" err="1">
                <a:solidFill>
                  <a:srgbClr val="FF9900"/>
                </a:solidFill>
              </a:rPr>
              <a:t>t</a:t>
            </a:r>
            <a:r>
              <a:rPr lang="en-GB" altLang="fr-FR" sz="1800" dirty="0">
                <a:solidFill>
                  <a:srgbClr val="FF9900"/>
                </a:solidFill>
              </a:rPr>
              <a:t>)}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GB" altLang="fr-FR" sz="1800" b="1" dirty="0">
              <a:solidFill>
                <a:srgbClr val="FF9900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 b="1" dirty="0" err="1">
                <a:solidFill>
                  <a:srgbClr val="6699FF"/>
                </a:solidFill>
              </a:rPr>
              <a:t>Méthode</a:t>
            </a:r>
            <a:endParaRPr lang="en-GB" altLang="fr-FR" sz="1800" b="1" dirty="0">
              <a:solidFill>
                <a:srgbClr val="6699FF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 dirty="0">
                <a:solidFill>
                  <a:srgbClr val="6699FF"/>
                </a:solidFill>
              </a:rPr>
              <a:t>initialiser </a:t>
            </a:r>
            <a:r>
              <a:rPr lang="en-GB" altLang="fr-FR" sz="1800" dirty="0" err="1">
                <a:solidFill>
                  <a:srgbClr val="6699FF"/>
                </a:solidFill>
              </a:rPr>
              <a:t>aléatoirement</a:t>
            </a:r>
            <a:r>
              <a:rPr lang="en-GB" altLang="fr-FR" sz="1800" dirty="0">
                <a:solidFill>
                  <a:srgbClr val="6699FF"/>
                </a:solidFill>
              </a:rPr>
              <a:t> les </a:t>
            </a:r>
            <a:r>
              <a:rPr lang="en-GB" altLang="fr-FR" sz="1800" dirty="0" err="1">
                <a:solidFill>
                  <a:srgbClr val="6699FF"/>
                </a:solidFill>
              </a:rPr>
              <a:t>poids</a:t>
            </a:r>
            <a:r>
              <a:rPr lang="en-GB" altLang="fr-FR" sz="1800" dirty="0">
                <a:solidFill>
                  <a:srgbClr val="6699FF"/>
                </a:solidFill>
              </a:rPr>
              <a:t> </a:t>
            </a:r>
            <a:r>
              <a:rPr lang="en-GB" altLang="fr-FR" sz="1800" dirty="0" err="1">
                <a:solidFill>
                  <a:srgbClr val="FF9900"/>
                </a:solidFill>
              </a:rPr>
              <a:t>w</a:t>
            </a:r>
            <a:r>
              <a:rPr lang="en-GB" altLang="fr-FR" sz="1800" baseline="-25000" dirty="0" err="1">
                <a:solidFill>
                  <a:srgbClr val="FF9900"/>
                </a:solidFill>
              </a:rPr>
              <a:t>i</a:t>
            </a:r>
            <a:r>
              <a:rPr lang="en-GB" altLang="fr-FR" sz="1800" dirty="0">
                <a:solidFill>
                  <a:srgbClr val="FF9900"/>
                </a:solidFill>
              </a:rPr>
              <a:t>, 0</a:t>
            </a:r>
            <a:r>
              <a:rPr lang="en-GB" altLang="fr-FR" sz="1800" dirty="0">
                <a:solidFill>
                  <a:srgbClr val="FF9900"/>
                </a:solidFill>
                <a:sym typeface="Symbol" panose="05050102010706020507" pitchFamily="18" charset="2"/>
              </a:rPr>
              <a:t></a:t>
            </a:r>
            <a:r>
              <a:rPr lang="en-GB" altLang="fr-FR" sz="1800" dirty="0">
                <a:solidFill>
                  <a:srgbClr val="FF9900"/>
                </a:solidFill>
              </a:rPr>
              <a:t>i</a:t>
            </a:r>
            <a:r>
              <a:rPr lang="en-GB" altLang="fr-FR" sz="1800" dirty="0">
                <a:solidFill>
                  <a:srgbClr val="FF9900"/>
                </a:solidFill>
                <a:sym typeface="Symbol" panose="05050102010706020507" pitchFamily="18" charset="2"/>
              </a:rPr>
              <a:t>  </a:t>
            </a:r>
            <a:r>
              <a:rPr lang="en-GB" altLang="fr-FR" sz="1800" dirty="0">
                <a:solidFill>
                  <a:srgbClr val="FF9900"/>
                </a:solidFill>
              </a:rPr>
              <a:t>n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 dirty="0">
                <a:solidFill>
                  <a:srgbClr val="6699FF"/>
                </a:solidFill>
              </a:rPr>
              <a:t>	</a:t>
            </a:r>
            <a:r>
              <a:rPr lang="en-GB" altLang="fr-FR" sz="1800" dirty="0" err="1">
                <a:solidFill>
                  <a:srgbClr val="6699FF"/>
                </a:solidFill>
              </a:rPr>
              <a:t>répéter</a:t>
            </a:r>
            <a:r>
              <a:rPr lang="en-GB" altLang="fr-FR" sz="1800" dirty="0">
                <a:solidFill>
                  <a:srgbClr val="6699FF"/>
                </a:solidFill>
              </a:rPr>
              <a:t> </a:t>
            </a:r>
            <a:r>
              <a:rPr lang="en-GB" altLang="fr-FR" sz="1800" dirty="0" err="1">
                <a:solidFill>
                  <a:srgbClr val="6699FF"/>
                </a:solidFill>
              </a:rPr>
              <a:t>jusqu'à</a:t>
            </a:r>
            <a:r>
              <a:rPr lang="en-GB" altLang="fr-FR" sz="1800" dirty="0">
                <a:solidFill>
                  <a:srgbClr val="6699FF"/>
                </a:solidFill>
              </a:rPr>
              <a:t> convergence: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 dirty="0">
                <a:solidFill>
                  <a:srgbClr val="6699FF"/>
                </a:solidFill>
              </a:rPr>
              <a:t>		pour </a:t>
            </a:r>
            <a:r>
              <a:rPr lang="en-GB" altLang="fr-FR" sz="1800" dirty="0" err="1">
                <a:solidFill>
                  <a:srgbClr val="6699FF"/>
                </a:solidFill>
              </a:rPr>
              <a:t>chaque</a:t>
            </a:r>
            <a:r>
              <a:rPr lang="en-GB" altLang="fr-FR" sz="1800" dirty="0">
                <a:solidFill>
                  <a:srgbClr val="6699FF"/>
                </a:solidFill>
              </a:rPr>
              <a:t> </a:t>
            </a:r>
            <a:r>
              <a:rPr lang="en-GB" altLang="fr-FR" sz="1800" dirty="0" err="1">
                <a:solidFill>
                  <a:srgbClr val="6699FF"/>
                </a:solidFill>
              </a:rPr>
              <a:t>exemple</a:t>
            </a:r>
            <a:endParaRPr lang="en-GB" altLang="fr-FR" sz="1800" dirty="0">
              <a:solidFill>
                <a:srgbClr val="6699FF"/>
              </a:solidFill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 dirty="0">
                <a:solidFill>
                  <a:srgbClr val="6699FF"/>
                </a:solidFill>
              </a:rPr>
              <a:t>			</a:t>
            </a:r>
            <a:r>
              <a:rPr lang="en-GB" altLang="fr-FR" sz="1800" dirty="0" err="1">
                <a:solidFill>
                  <a:srgbClr val="6699FF"/>
                </a:solidFill>
              </a:rPr>
              <a:t>calculer</a:t>
            </a:r>
            <a:r>
              <a:rPr lang="en-GB" altLang="fr-FR" sz="1800" dirty="0">
                <a:solidFill>
                  <a:srgbClr val="6699FF"/>
                </a:solidFill>
              </a:rPr>
              <a:t> la </a:t>
            </a:r>
            <a:r>
              <a:rPr lang="en-GB" altLang="fr-FR" sz="1800" dirty="0" err="1">
                <a:solidFill>
                  <a:srgbClr val="6699FF"/>
                </a:solidFill>
              </a:rPr>
              <a:t>valeur</a:t>
            </a:r>
            <a:r>
              <a:rPr lang="en-GB" altLang="fr-FR" sz="1800" dirty="0">
                <a:solidFill>
                  <a:srgbClr val="6699FF"/>
                </a:solidFill>
              </a:rPr>
              <a:t> de sortie </a:t>
            </a:r>
            <a:r>
              <a:rPr lang="en-GB" altLang="fr-FR" sz="1800" i="1" dirty="0">
                <a:solidFill>
                  <a:srgbClr val="FF9900"/>
                </a:solidFill>
              </a:rPr>
              <a:t>o</a:t>
            </a:r>
            <a:r>
              <a:rPr lang="en-GB" altLang="fr-FR" sz="1800" i="1" dirty="0">
                <a:solidFill>
                  <a:srgbClr val="6699FF"/>
                </a:solidFill>
              </a:rPr>
              <a:t> </a:t>
            </a:r>
            <a:r>
              <a:rPr lang="en-GB" altLang="fr-FR" sz="1800" dirty="0">
                <a:solidFill>
                  <a:srgbClr val="6699FF"/>
                </a:solidFill>
              </a:rPr>
              <a:t>du </a:t>
            </a:r>
            <a:r>
              <a:rPr lang="en-GB" altLang="fr-FR" sz="1800" dirty="0" err="1">
                <a:solidFill>
                  <a:srgbClr val="6699FF"/>
                </a:solidFill>
              </a:rPr>
              <a:t>réseau</a:t>
            </a:r>
            <a:r>
              <a:rPr lang="en-GB" altLang="fr-FR" sz="1800" dirty="0">
                <a:solidFill>
                  <a:srgbClr val="6699FF"/>
                </a:solidFill>
              </a:rPr>
              <a:t>.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 dirty="0">
                <a:solidFill>
                  <a:srgbClr val="6699FF"/>
                </a:solidFill>
              </a:rPr>
              <a:t>			</a:t>
            </a:r>
            <a:r>
              <a:rPr lang="en-GB" altLang="fr-FR" sz="1800" dirty="0" err="1">
                <a:solidFill>
                  <a:srgbClr val="6699FF"/>
                </a:solidFill>
              </a:rPr>
              <a:t>ajuster</a:t>
            </a:r>
            <a:r>
              <a:rPr lang="en-GB" altLang="fr-FR" sz="1800" dirty="0">
                <a:solidFill>
                  <a:srgbClr val="6699FF"/>
                </a:solidFill>
              </a:rPr>
              <a:t> les </a:t>
            </a:r>
            <a:r>
              <a:rPr lang="en-GB" altLang="fr-FR" sz="1800" dirty="0" err="1">
                <a:solidFill>
                  <a:srgbClr val="6699FF"/>
                </a:solidFill>
              </a:rPr>
              <a:t>poids</a:t>
            </a:r>
            <a:r>
              <a:rPr lang="en-GB" altLang="fr-FR" sz="1800" dirty="0">
                <a:solidFill>
                  <a:srgbClr val="6699FF"/>
                </a:solidFill>
              </a:rPr>
              <a:t>: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 dirty="0">
                <a:solidFill>
                  <a:srgbClr val="6699FF"/>
                </a:solidFill>
              </a:rPr>
              <a:t>			</a:t>
            </a:r>
            <a:r>
              <a:rPr lang="en-GB" altLang="fr-FR" sz="1800" dirty="0">
                <a:solidFill>
                  <a:srgbClr val="FF9900"/>
                </a:solidFill>
              </a:rPr>
              <a:t>∆</a:t>
            </a:r>
            <a:r>
              <a:rPr lang="en-GB" altLang="fr-FR" sz="1800" i="1" dirty="0" err="1">
                <a:solidFill>
                  <a:srgbClr val="FF9900"/>
                </a:solidFill>
              </a:rPr>
              <a:t>w</a:t>
            </a:r>
            <a:r>
              <a:rPr lang="en-GB" altLang="fr-FR" sz="1800" i="1" baseline="-25000" dirty="0" err="1">
                <a:solidFill>
                  <a:srgbClr val="FF9900"/>
                </a:solidFill>
              </a:rPr>
              <a:t>i</a:t>
            </a:r>
            <a:r>
              <a:rPr lang="en-GB" altLang="fr-FR" sz="1800" i="1" dirty="0">
                <a:solidFill>
                  <a:srgbClr val="FF9900"/>
                </a:solidFill>
              </a:rPr>
              <a:t> </a:t>
            </a:r>
            <a:r>
              <a:rPr lang="en-GB" altLang="fr-FR" sz="1800" dirty="0">
                <a:solidFill>
                  <a:srgbClr val="FF9900"/>
                </a:solidFill>
              </a:rPr>
              <a:t>= η(</a:t>
            </a:r>
            <a:r>
              <a:rPr lang="en-GB" altLang="fr-FR" sz="1800" i="1" dirty="0">
                <a:solidFill>
                  <a:srgbClr val="FF9900"/>
                </a:solidFill>
              </a:rPr>
              <a:t>t </a:t>
            </a:r>
            <a:r>
              <a:rPr lang="en-GB" altLang="fr-FR" sz="1800" dirty="0">
                <a:solidFill>
                  <a:srgbClr val="FF9900"/>
                </a:solidFill>
              </a:rPr>
              <a:t>- </a:t>
            </a:r>
            <a:r>
              <a:rPr lang="en-GB" altLang="fr-FR" sz="1800" i="1" dirty="0">
                <a:solidFill>
                  <a:srgbClr val="FF9900"/>
                </a:solidFill>
              </a:rPr>
              <a:t>o</a:t>
            </a:r>
            <a:r>
              <a:rPr lang="en-GB" altLang="fr-FR" sz="1800" dirty="0">
                <a:solidFill>
                  <a:srgbClr val="FF9900"/>
                </a:solidFill>
              </a:rPr>
              <a:t>) </a:t>
            </a:r>
            <a:r>
              <a:rPr lang="en-GB" altLang="fr-FR" sz="1800" i="1" dirty="0">
                <a:solidFill>
                  <a:srgbClr val="FF9900"/>
                </a:solidFill>
              </a:rPr>
              <a:t>x</a:t>
            </a:r>
            <a:r>
              <a:rPr lang="en-GB" altLang="fr-FR" sz="1800" i="1" baseline="-25000" dirty="0">
                <a:solidFill>
                  <a:srgbClr val="FF9900"/>
                </a:solidFill>
              </a:rPr>
              <a:t>i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GB" altLang="fr-FR" sz="1800" i="1" dirty="0">
                <a:solidFill>
                  <a:srgbClr val="FF9900"/>
                </a:solidFill>
              </a:rPr>
              <a:t>			</a:t>
            </a:r>
            <a:r>
              <a:rPr lang="en-GB" altLang="fr-FR" sz="1800" i="1" dirty="0" err="1">
                <a:solidFill>
                  <a:srgbClr val="FF9900"/>
                </a:solidFill>
              </a:rPr>
              <a:t>w</a:t>
            </a:r>
            <a:r>
              <a:rPr lang="en-GB" altLang="fr-FR" sz="1800" i="1" baseline="-25000" dirty="0" err="1">
                <a:solidFill>
                  <a:srgbClr val="FF9900"/>
                </a:solidFill>
              </a:rPr>
              <a:t>i</a:t>
            </a:r>
            <a:r>
              <a:rPr lang="en-GB" altLang="fr-FR" sz="1800" i="1" dirty="0">
                <a:solidFill>
                  <a:srgbClr val="FF9900"/>
                </a:solidFill>
              </a:rPr>
              <a:t> </a:t>
            </a:r>
            <a:r>
              <a:rPr lang="en-GB" altLang="fr-FR" sz="1800" dirty="0">
                <a:solidFill>
                  <a:srgbClr val="FF9900"/>
                </a:solidFill>
              </a:rPr>
              <a:t>←</a:t>
            </a:r>
            <a:r>
              <a:rPr lang="en-GB" altLang="fr-FR" sz="1800" i="1" dirty="0" err="1">
                <a:solidFill>
                  <a:srgbClr val="FF9900"/>
                </a:solidFill>
              </a:rPr>
              <a:t>w</a:t>
            </a:r>
            <a:r>
              <a:rPr lang="en-GB" altLang="fr-FR" sz="1800" i="1" baseline="-25000" dirty="0" err="1">
                <a:solidFill>
                  <a:srgbClr val="FF9900"/>
                </a:solidFill>
              </a:rPr>
              <a:t>i</a:t>
            </a:r>
            <a:r>
              <a:rPr lang="en-GB" altLang="fr-FR" sz="1800" i="1" dirty="0">
                <a:solidFill>
                  <a:srgbClr val="FF9900"/>
                </a:solidFill>
              </a:rPr>
              <a:t> + </a:t>
            </a:r>
            <a:r>
              <a:rPr lang="en-GB" altLang="fr-FR" sz="1800" dirty="0">
                <a:solidFill>
                  <a:srgbClr val="FF9900"/>
                </a:solidFill>
              </a:rPr>
              <a:t>∆</a:t>
            </a:r>
            <a:r>
              <a:rPr lang="en-GB" altLang="fr-FR" sz="1800" i="1" dirty="0" err="1">
                <a:solidFill>
                  <a:srgbClr val="FF9900"/>
                </a:solidFill>
              </a:rPr>
              <a:t>w</a:t>
            </a:r>
            <a:r>
              <a:rPr lang="en-GB" altLang="fr-FR" sz="1800" i="1" baseline="-25000" dirty="0" err="1">
                <a:solidFill>
                  <a:srgbClr val="FF9900"/>
                </a:solidFill>
              </a:rPr>
              <a:t>i</a:t>
            </a:r>
            <a:r>
              <a:rPr lang="en-GB" altLang="fr-FR" sz="1400" i="1" dirty="0">
                <a:solidFill>
                  <a:srgbClr val="FF9900"/>
                </a:solidFill>
              </a:rPr>
              <a:t>	</a:t>
            </a:r>
            <a:r>
              <a:rPr lang="en-GB" altLang="fr-FR" sz="1400" i="1" dirty="0">
                <a:solidFill>
                  <a:srgbClr val="0000FF"/>
                </a:solidFill>
              </a:rPr>
              <a:t>			</a:t>
            </a:r>
          </a:p>
          <a:p>
            <a:pPr eaLnBrk="1" hangingPunct="1">
              <a:spcBef>
                <a:spcPct val="0"/>
              </a:spcBef>
              <a:buClr>
                <a:srgbClr val="333399"/>
              </a:buClr>
              <a:buSzPct val="77000"/>
              <a:buFont typeface="Arial" panose="020B0604020202020204" pitchFamily="34" charset="0"/>
              <a:buNone/>
            </a:pPr>
            <a:endParaRPr lang="en-GB" altLang="fr-FR" sz="1400" i="1" dirty="0">
              <a:solidFill>
                <a:srgbClr val="0000FF"/>
              </a:solidFill>
            </a:endParaRPr>
          </a:p>
          <a:p>
            <a:pPr eaLnBrk="1" hangingPunct="1">
              <a:spcBef>
                <a:spcPct val="0"/>
              </a:spcBef>
              <a:buClr>
                <a:srgbClr val="333399"/>
              </a:buClr>
              <a:buSzPct val="77000"/>
              <a:buFont typeface="Arial" panose="020B0604020202020204" pitchFamily="34" charset="0"/>
              <a:buNone/>
            </a:pPr>
            <a:r>
              <a:rPr lang="en-GB" altLang="fr-FR" sz="1400" i="1" dirty="0" err="1">
                <a:solidFill>
                  <a:srgbClr val="333399"/>
                </a:solidFill>
              </a:rPr>
              <a:t>Règle</a:t>
            </a:r>
            <a:r>
              <a:rPr lang="en-GB" altLang="fr-FR" sz="1400" i="1" dirty="0">
                <a:solidFill>
                  <a:srgbClr val="333399"/>
                </a:solidFill>
              </a:rPr>
              <a:t> </a:t>
            </a:r>
            <a:r>
              <a:rPr lang="en-GB" altLang="fr-FR" sz="1400" i="1" dirty="0" err="1">
                <a:solidFill>
                  <a:srgbClr val="333399"/>
                </a:solidFill>
              </a:rPr>
              <a:t>d'apprentissage</a:t>
            </a:r>
            <a:r>
              <a:rPr lang="en-GB" altLang="fr-FR" sz="1400" i="1" dirty="0">
                <a:solidFill>
                  <a:srgbClr val="333399"/>
                </a:solidFill>
              </a:rPr>
              <a:t> du Perceptron ( </a:t>
            </a:r>
            <a:r>
              <a:rPr lang="en-GB" altLang="fr-FR" sz="1400" b="1" i="1" dirty="0">
                <a:solidFill>
                  <a:srgbClr val="333399"/>
                </a:solidFill>
              </a:rPr>
              <a:t>WIDROW-HOFF</a:t>
            </a:r>
            <a:r>
              <a:rPr lang="en-GB" altLang="fr-FR" sz="1400" i="1" dirty="0">
                <a:solidFill>
                  <a:srgbClr val="333399"/>
                </a:solidFill>
              </a:rPr>
              <a:t>)</a:t>
            </a:r>
          </a:p>
        </p:txBody>
      </p:sp>
      <p:pic>
        <p:nvPicPr>
          <p:cNvPr id="31746" name="Picture 2">
            <a:extLst>
              <a:ext uri="{FF2B5EF4-FFF2-40B4-BE49-F238E27FC236}">
                <a16:creationId xmlns:a16="http://schemas.microsoft.com/office/drawing/2014/main" xmlns="" id="{40B723AE-5A0F-44A6-AB85-59B499D51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700" y="3860800"/>
            <a:ext cx="3924300" cy="281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24" name="Group 3">
            <a:extLst>
              <a:ext uri="{FF2B5EF4-FFF2-40B4-BE49-F238E27FC236}">
                <a16:creationId xmlns:a16="http://schemas.microsoft.com/office/drawing/2014/main" xmlns="" id="{D09491E9-BA01-416D-B792-C4789505D6D5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44451"/>
            <a:ext cx="9142413" cy="365125"/>
            <a:chOff x="0" y="28"/>
            <a:chExt cx="5759" cy="230"/>
          </a:xfrm>
        </p:grpSpPr>
        <p:sp>
          <p:nvSpPr>
            <p:cNvPr id="30726" name="AutoShape 4">
              <a:extLst>
                <a:ext uri="{FF2B5EF4-FFF2-40B4-BE49-F238E27FC236}">
                  <a16:creationId xmlns:a16="http://schemas.microsoft.com/office/drawing/2014/main" xmlns="" id="{36329495-6733-4AE5-A56B-4AEFD13142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oundRect">
              <a:avLst>
                <a:gd name="adj" fmla="val 431"/>
              </a:avLst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0727" name="Text Box 5">
              <a:extLst>
                <a:ext uri="{FF2B5EF4-FFF2-40B4-BE49-F238E27FC236}">
                  <a16:creationId xmlns:a16="http://schemas.microsoft.com/office/drawing/2014/main" xmlns="" id="{8A12FF86-5164-4E9A-9ABF-57B3D6618D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fr-FR" sz="1800">
                  <a:solidFill>
                    <a:schemeClr val="tx1"/>
                  </a:solidFill>
                </a:rPr>
                <a:t>Intelligence Artificielle 		Apprentissage			</a:t>
              </a:r>
            </a:p>
          </p:txBody>
        </p:sp>
      </p:grpSp>
      <p:pic>
        <p:nvPicPr>
          <p:cNvPr id="30725" name="Picture 9">
            <a:extLst>
              <a:ext uri="{FF2B5EF4-FFF2-40B4-BE49-F238E27FC236}">
                <a16:creationId xmlns:a16="http://schemas.microsoft.com/office/drawing/2014/main" xmlns="" id="{946CD6F1-C7FD-4863-8DB5-9D2AA2E2F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5859" y="1668463"/>
            <a:ext cx="2865556" cy="2307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4C250980-2B44-4866-BA4B-B93B02B70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11</a:t>
            </a:fld>
            <a:endParaRPr lang="fr-FR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2" name="Picture 4">
            <a:extLst>
              <a:ext uri="{FF2B5EF4-FFF2-40B4-BE49-F238E27FC236}">
                <a16:creationId xmlns:a16="http://schemas.microsoft.com/office/drawing/2014/main" xmlns="" id="{81BE5338-917F-49B0-848E-AA44684BE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201" y="1293814"/>
            <a:ext cx="5027613" cy="386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771" name="Group 5">
            <a:extLst>
              <a:ext uri="{FF2B5EF4-FFF2-40B4-BE49-F238E27FC236}">
                <a16:creationId xmlns:a16="http://schemas.microsoft.com/office/drawing/2014/main" xmlns="" id="{096F1F86-6171-4AFE-9ABF-CB84591F8BE4}"/>
              </a:ext>
            </a:extLst>
          </p:cNvPr>
          <p:cNvGrpSpPr>
            <a:grpSpLocks/>
          </p:cNvGrpSpPr>
          <p:nvPr/>
        </p:nvGrpSpPr>
        <p:grpSpPr bwMode="auto">
          <a:xfrm>
            <a:off x="1524001" y="44451"/>
            <a:ext cx="9142413" cy="365125"/>
            <a:chOff x="0" y="28"/>
            <a:chExt cx="5759" cy="230"/>
          </a:xfrm>
        </p:grpSpPr>
        <p:sp>
          <p:nvSpPr>
            <p:cNvPr id="32794" name="AutoShape 6">
              <a:extLst>
                <a:ext uri="{FF2B5EF4-FFF2-40B4-BE49-F238E27FC236}">
                  <a16:creationId xmlns:a16="http://schemas.microsoft.com/office/drawing/2014/main" xmlns="" id="{4312CB0F-9206-4DA5-99C0-6DDE80B51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oundRect">
              <a:avLst>
                <a:gd name="adj" fmla="val 431"/>
              </a:avLst>
            </a:prstGeom>
            <a:solidFill>
              <a:srgbClr val="336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fr-FR" altLang="fr-FR" sz="1800">
                <a:latin typeface="Times New Roman" panose="02020603050405020304" pitchFamily="18" charset="0"/>
              </a:endParaRPr>
            </a:p>
          </p:txBody>
        </p:sp>
        <p:sp>
          <p:nvSpPr>
            <p:cNvPr id="32795" name="Text Box 7">
              <a:extLst>
                <a:ext uri="{FF2B5EF4-FFF2-40B4-BE49-F238E27FC236}">
                  <a16:creationId xmlns:a16="http://schemas.microsoft.com/office/drawing/2014/main" xmlns="" id="{E57E047D-F2A6-4568-AE4B-6E4FD0FEE6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28"/>
              <a:ext cx="57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spcBef>
                  <a:spcPts val="7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ts val="6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ts val="5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ts val="488"/>
                </a:spcBef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ts val="488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Arial" panose="020B0604020202020204" pitchFamily="34" charset="0"/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GB" altLang="fr-FR" sz="1800">
                  <a:solidFill>
                    <a:schemeClr val="tx1"/>
                  </a:solidFill>
                </a:rPr>
                <a:t>Intelligence Artificielle 		Apprentissage			</a:t>
              </a:r>
            </a:p>
          </p:txBody>
        </p:sp>
      </p:grpSp>
      <p:sp>
        <p:nvSpPr>
          <p:cNvPr id="32772" name="Oval 8">
            <a:extLst>
              <a:ext uri="{FF2B5EF4-FFF2-40B4-BE49-F238E27FC236}">
                <a16:creationId xmlns:a16="http://schemas.microsoft.com/office/drawing/2014/main" xmlns="" id="{4DFD1907-B4FB-4D94-BFD7-A35885CB3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314" y="3565526"/>
            <a:ext cx="2016125" cy="9366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l-GR" altLang="fr-FR" sz="1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fr-CA" altLang="fr-FR" sz="1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CA" altLang="fr-FR" sz="1400">
                <a:solidFill>
                  <a:srgbClr val="FF0000"/>
                </a:solidFill>
                <a:latin typeface="Times New Roman" panose="02020603050405020304" pitchFamily="18" charset="0"/>
              </a:rPr>
              <a:t>w0 + w1*x1+ w2*x2</a:t>
            </a:r>
          </a:p>
        </p:txBody>
      </p:sp>
      <p:sp>
        <p:nvSpPr>
          <p:cNvPr id="32773" name="Line 9">
            <a:extLst>
              <a:ext uri="{FF2B5EF4-FFF2-40B4-BE49-F238E27FC236}">
                <a16:creationId xmlns:a16="http://schemas.microsoft.com/office/drawing/2014/main" xmlns="" id="{E279F5AC-3CBA-42EB-8326-1A7D22D365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8438" y="4064000"/>
            <a:ext cx="647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2774" name="Line 10">
            <a:extLst>
              <a:ext uri="{FF2B5EF4-FFF2-40B4-BE49-F238E27FC236}">
                <a16:creationId xmlns:a16="http://schemas.microsoft.com/office/drawing/2014/main" xmlns="" id="{240CDA2D-2662-405F-9B23-BA48B2D017AC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3388" y="2917826"/>
            <a:ext cx="792162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2775" name="Line 11">
            <a:extLst>
              <a:ext uri="{FF2B5EF4-FFF2-40B4-BE49-F238E27FC236}">
                <a16:creationId xmlns:a16="http://schemas.microsoft.com/office/drawing/2014/main" xmlns="" id="{432C3100-3985-4568-8592-ED8DC4A0F9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74826" y="4430713"/>
            <a:ext cx="684213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2776" name="Text Box 12">
            <a:extLst>
              <a:ext uri="{FF2B5EF4-FFF2-40B4-BE49-F238E27FC236}">
                <a16:creationId xmlns:a16="http://schemas.microsoft.com/office/drawing/2014/main" xmlns="" id="{B5F8E68A-2129-4A32-990C-1AD47A243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624138"/>
            <a:ext cx="4524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CA" altLang="fr-FR" sz="1800">
                <a:latin typeface="Times New Roman" panose="02020603050405020304" pitchFamily="18" charset="0"/>
              </a:rPr>
              <a:t>x1</a:t>
            </a:r>
          </a:p>
        </p:txBody>
      </p:sp>
      <p:sp>
        <p:nvSpPr>
          <p:cNvPr id="32777" name="Text Box 13">
            <a:extLst>
              <a:ext uri="{FF2B5EF4-FFF2-40B4-BE49-F238E27FC236}">
                <a16:creationId xmlns:a16="http://schemas.microsoft.com/office/drawing/2014/main" xmlns="" id="{207CFEE2-FEF3-44AD-AAAB-513060D79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149851"/>
            <a:ext cx="4524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CA" altLang="fr-FR" sz="1800">
                <a:latin typeface="Times New Roman" panose="02020603050405020304" pitchFamily="18" charset="0"/>
              </a:rPr>
              <a:t>x2</a:t>
            </a:r>
          </a:p>
        </p:txBody>
      </p:sp>
      <p:sp>
        <p:nvSpPr>
          <p:cNvPr id="32778" name="Text Box 14">
            <a:extLst>
              <a:ext uri="{FF2B5EF4-FFF2-40B4-BE49-F238E27FC236}">
                <a16:creationId xmlns:a16="http://schemas.microsoft.com/office/drawing/2014/main" xmlns="" id="{AB979BC5-7A7D-4E62-B6AE-0E7AC2E6B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2990851"/>
            <a:ext cx="5762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rgbClr val="0000FF"/>
                </a:solidFill>
                <a:latin typeface="Times New Roman" panose="02020603050405020304" pitchFamily="18" charset="0"/>
              </a:rPr>
              <a:t>w1</a:t>
            </a:r>
          </a:p>
        </p:txBody>
      </p:sp>
      <p:sp>
        <p:nvSpPr>
          <p:cNvPr id="32779" name="Text Box 15">
            <a:extLst>
              <a:ext uri="{FF2B5EF4-FFF2-40B4-BE49-F238E27FC236}">
                <a16:creationId xmlns:a16="http://schemas.microsoft.com/office/drawing/2014/main" xmlns="" id="{0D056C07-5183-4FA3-980F-69283E8834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3" y="4646613"/>
            <a:ext cx="6477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rgbClr val="0000FF"/>
                </a:solidFill>
                <a:latin typeface="Times New Roman" panose="02020603050405020304" pitchFamily="18" charset="0"/>
              </a:rPr>
              <a:t>w2</a:t>
            </a:r>
          </a:p>
        </p:txBody>
      </p:sp>
      <p:sp>
        <p:nvSpPr>
          <p:cNvPr id="32780" name="Text Box 16">
            <a:extLst>
              <a:ext uri="{FF2B5EF4-FFF2-40B4-BE49-F238E27FC236}">
                <a16:creationId xmlns:a16="http://schemas.microsoft.com/office/drawing/2014/main" xmlns="" id="{1E138476-1B48-45EC-A4C9-37B0897BA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876" y="3775076"/>
            <a:ext cx="1008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CA" altLang="fr-FR" sz="1800">
                <a:latin typeface="Times New Roman" panose="02020603050405020304" pitchFamily="18" charset="0"/>
              </a:rPr>
              <a:t>  o=f(</a:t>
            </a:r>
            <a:r>
              <a:rPr lang="el-GR" altLang="fr-FR" sz="1800">
                <a:solidFill>
                  <a:srgbClr val="FF0000"/>
                </a:solidFill>
                <a:latin typeface="Times New Roman" panose="02020603050405020304" pitchFamily="18" charset="0"/>
              </a:rPr>
              <a:t>Σ</a:t>
            </a:r>
            <a:r>
              <a:rPr lang="fr-CA" altLang="fr-FR" sz="180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32781" name="Line 17">
            <a:extLst>
              <a:ext uri="{FF2B5EF4-FFF2-40B4-BE49-F238E27FC236}">
                <a16:creationId xmlns:a16="http://schemas.microsoft.com/office/drawing/2014/main" xmlns="" id="{A2DD28B2-8E85-42E2-81C0-7411913861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43250" y="2414589"/>
            <a:ext cx="0" cy="1150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32782" name="Text Box 18">
            <a:extLst>
              <a:ext uri="{FF2B5EF4-FFF2-40B4-BE49-F238E27FC236}">
                <a16:creationId xmlns:a16="http://schemas.microsoft.com/office/drawing/2014/main" xmlns="" id="{C769A6CF-FF18-4E33-A046-B85D1C0CA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1" y="2846388"/>
            <a:ext cx="5762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CA" altLang="fr-FR" sz="1800">
                <a:solidFill>
                  <a:srgbClr val="0000FF"/>
                </a:solidFill>
                <a:latin typeface="Times New Roman" panose="02020603050405020304" pitchFamily="18" charset="0"/>
              </a:rPr>
              <a:t>w0</a:t>
            </a:r>
          </a:p>
        </p:txBody>
      </p:sp>
      <p:sp>
        <p:nvSpPr>
          <p:cNvPr id="32783" name="Text Box 20">
            <a:extLst>
              <a:ext uri="{FF2B5EF4-FFF2-40B4-BE49-F238E27FC236}">
                <a16:creationId xmlns:a16="http://schemas.microsoft.com/office/drawing/2014/main" xmlns="" id="{A59D1D1E-CAEC-4AC5-8344-8ECCEE87A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7350" y="2270126"/>
            <a:ext cx="4524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CA" altLang="fr-FR" sz="1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2784" name="Text Box 21">
            <a:extLst>
              <a:ext uri="{FF2B5EF4-FFF2-40B4-BE49-F238E27FC236}">
                <a16:creationId xmlns:a16="http://schemas.microsoft.com/office/drawing/2014/main" xmlns="" id="{ED736BCA-4616-4A85-9515-F0F6ACE29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4" y="5589588"/>
            <a:ext cx="1944687" cy="12001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CA" altLang="fr-FR" sz="1800">
                <a:latin typeface="Times New Roman" panose="02020603050405020304" pitchFamily="18" charset="0"/>
              </a:rPr>
              <a:t>f(x)= 1 si x &gt; 0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CA" altLang="fr-FR" sz="1800">
                <a:latin typeface="Times New Roman" panose="02020603050405020304" pitchFamily="18" charset="0"/>
              </a:rPr>
              <a:t>f(x)=0 sinon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CA" altLang="fr-FR" sz="1800">
                <a:latin typeface="Times New Roman" panose="02020603050405020304" pitchFamily="18" charset="0"/>
                <a:sym typeface="Symbol" panose="05050102010706020507" pitchFamily="18" charset="2"/>
              </a:rPr>
              <a:t> = 1</a:t>
            </a:r>
            <a:endParaRPr lang="fr-CA" altLang="fr-FR" sz="1800">
              <a:latin typeface="Times New Roman" panose="02020603050405020304" pitchFamily="18" charset="0"/>
            </a:endParaRPr>
          </a:p>
        </p:txBody>
      </p:sp>
      <p:sp>
        <p:nvSpPr>
          <p:cNvPr id="32785" name="Text Box 22">
            <a:extLst>
              <a:ext uri="{FF2B5EF4-FFF2-40B4-BE49-F238E27FC236}">
                <a16:creationId xmlns:a16="http://schemas.microsoft.com/office/drawing/2014/main" xmlns="" id="{EACFE3A4-1B92-425A-8492-C6A8230D57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9" y="765176"/>
            <a:ext cx="15843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CA" altLang="fr-FR" sz="1800" b="1">
                <a:solidFill>
                  <a:schemeClr val="accent2"/>
                </a:solidFill>
                <a:latin typeface="Times New Roman" panose="02020603050405020304" pitchFamily="18" charset="0"/>
              </a:rPr>
              <a:t>EXEMPLE</a:t>
            </a:r>
          </a:p>
        </p:txBody>
      </p:sp>
      <p:sp>
        <p:nvSpPr>
          <p:cNvPr id="89111" name="Text Box 23">
            <a:extLst>
              <a:ext uri="{FF2B5EF4-FFF2-40B4-BE49-F238E27FC236}">
                <a16:creationId xmlns:a16="http://schemas.microsoft.com/office/drawing/2014/main" xmlns="" id="{6305CF04-24DE-40BB-874B-4084D9261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4562" y="5084763"/>
            <a:ext cx="5027613" cy="161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CA" altLang="fr-FR" sz="1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Fin d’apprentissage: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CA" altLang="fr-FR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Réseau:</a:t>
            </a:r>
            <a:r>
              <a:rPr lang="fr-CA" altLang="fr-FR" sz="18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(w0,w1,w2) = (0,1,1)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CA" altLang="fr-FR" sz="1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La droite:</a:t>
            </a:r>
            <a:r>
              <a:rPr lang="fr-CA" altLang="fr-FR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x1+x2 =0 sépare les deux classes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fr-CA" altLang="fr-FR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(OU: logique)</a:t>
            </a: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xmlns="" id="{FFBA8027-59B5-4E04-A897-400D131C2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4" y="488950"/>
            <a:ext cx="2592387" cy="186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60EE3E96-FDF8-4661-AC25-39B525E313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8050" y="2492376"/>
            <a:ext cx="4679950" cy="24495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5C61B469-8E64-40C7-ACE6-96BBC3F3F4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4601" y="1827213"/>
            <a:ext cx="5445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2400" b="1">
                <a:latin typeface="Calibri" panose="020F0502020204030204" pitchFamily="34" charset="0"/>
              </a:rPr>
              <a:t>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F597D814-C50E-491E-BEB0-71108EB8C30F}"/>
              </a:ext>
            </a:extLst>
          </p:cNvPr>
          <p:cNvSpPr txBox="1"/>
          <p:nvPr/>
        </p:nvSpPr>
        <p:spPr>
          <a:xfrm>
            <a:off x="9126539" y="1571625"/>
            <a:ext cx="1614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fr-FR" dirty="0">
                <a:latin typeface="Abadi" panose="020B0604020104020204" pitchFamily="34" charset="0"/>
              </a:rPr>
              <a:t>Mis à jour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xmlns="" id="{8BCE65E3-E67A-4BD4-AC80-032043872D50}"/>
              </a:ext>
            </a:extLst>
          </p:cNvPr>
          <p:cNvCxnSpPr>
            <a:cxnSpLocks/>
          </p:cNvCxnSpPr>
          <p:nvPr/>
        </p:nvCxnSpPr>
        <p:spPr bwMode="auto">
          <a:xfrm>
            <a:off x="9126539" y="1827213"/>
            <a:ext cx="1190625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CD972676-EF97-4FA2-9441-0417ADD712BA}"/>
              </a:ext>
            </a:extLst>
          </p:cNvPr>
          <p:cNvSpPr txBox="1"/>
          <p:nvPr/>
        </p:nvSpPr>
        <p:spPr>
          <a:xfrm>
            <a:off x="6321425" y="1557338"/>
            <a:ext cx="1143000" cy="3683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FR" dirty="0">
                <a:latin typeface="Abadi" panose="020B0604020104020204" pitchFamily="34" charset="0"/>
              </a:rPr>
              <a:t>Actuels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BC6DB33D-7462-4B92-B6DF-475B4C106908}"/>
              </a:ext>
            </a:extLst>
          </p:cNvPr>
          <p:cNvCxnSpPr>
            <a:cxnSpLocks/>
          </p:cNvCxnSpPr>
          <p:nvPr/>
        </p:nvCxnSpPr>
        <p:spPr bwMode="auto">
          <a:xfrm>
            <a:off x="6272213" y="1844675"/>
            <a:ext cx="119221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5220032B-9B21-4910-98A5-7CDB17447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12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1.48148E-6 L 0.004 0.0419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" y="2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0.04189 L -3.05556E-6 0.09444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6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xit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111" grpId="0"/>
      <p:bldP spid="23" grpId="0" animBg="1"/>
      <p:bldP spid="23" grpId="1" animBg="1"/>
      <p:bldP spid="23" grpId="2" animBg="1"/>
      <p:bldP spid="23" grpId="3" animBg="1"/>
      <p:bldP spid="2" grpId="0"/>
      <p:bldP spid="25" grpId="0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>
            <a:extLst>
              <a:ext uri="{FF2B5EF4-FFF2-40B4-BE49-F238E27FC236}">
                <a16:creationId xmlns:a16="http://schemas.microsoft.com/office/drawing/2014/main" xmlns="" id="{6F3B2956-6B76-48C6-98E0-2E1BE000F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30175"/>
            <a:ext cx="914400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 b="1">
                <a:latin typeface="Times New Roman" panose="02020603050405020304" pitchFamily="18" charset="0"/>
              </a:rPr>
              <a:t>EXERCICE 1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Considérez le perceptron et l’échantillon suivant 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400" b="1">
                <a:latin typeface="Times New Roman" panose="02020603050405020304" pitchFamily="18" charset="0"/>
              </a:rPr>
              <a:t>Question 1</a:t>
            </a:r>
            <a:r>
              <a:rPr lang="fr-FR" altLang="fr-FR" sz="1400">
                <a:latin typeface="Times New Roman" panose="02020603050405020304" pitchFamily="18" charset="0"/>
              </a:rPr>
              <a:t>:  Donnez des valeurs aux poids w0,w1,w2 et w3 de sorte que le perceptron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400">
                <a:latin typeface="Times New Roman" panose="02020603050405020304" pitchFamily="18" charset="0"/>
              </a:rPr>
              <a:t>classifie correctement l‘échantillon. (w0 = ?, w1 = ?, w2 =?,  w3 =?)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400" b="1">
                <a:latin typeface="Times New Roman" panose="02020603050405020304" pitchFamily="18" charset="0"/>
              </a:rPr>
              <a:t>Question 2</a:t>
            </a:r>
            <a:r>
              <a:rPr lang="fr-FR" altLang="fr-FR" sz="1400">
                <a:latin typeface="Times New Roman" panose="02020603050405020304" pitchFamily="18" charset="0"/>
              </a:rPr>
              <a:t> : Donnez des valeurs aux poids w0,w1,w2 et w3 de sorte que le perceptron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400">
                <a:latin typeface="Times New Roman" panose="02020603050405020304" pitchFamily="18" charset="0"/>
              </a:rPr>
              <a:t>classifie correctement l‘échantillon inverse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400">
                <a:latin typeface="Times New Roman" panose="02020603050405020304" pitchFamily="18" charset="0"/>
              </a:rPr>
              <a:t>(w0 = ?, w1 = ?, w2 =?,  w3 =?)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4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400" b="1">
                <a:latin typeface="Times New Roman" panose="02020603050405020304" pitchFamily="18" charset="0"/>
              </a:rPr>
              <a:t>Réponse 1:</a:t>
            </a:r>
          </a:p>
        </p:txBody>
      </p:sp>
      <p:pic>
        <p:nvPicPr>
          <p:cNvPr id="34819" name="Picture 5">
            <a:extLst>
              <a:ext uri="{FF2B5EF4-FFF2-40B4-BE49-F238E27FC236}">
                <a16:creationId xmlns:a16="http://schemas.microsoft.com/office/drawing/2014/main" xmlns="" id="{C214FC23-8D88-410C-9F1A-82B9FAC72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9" y="765176"/>
            <a:ext cx="4994275" cy="167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0" name="Picture 6">
            <a:extLst>
              <a:ext uri="{FF2B5EF4-FFF2-40B4-BE49-F238E27FC236}">
                <a16:creationId xmlns:a16="http://schemas.microsoft.com/office/drawing/2014/main" xmlns="" id="{5F368279-FC83-4D97-A187-15D9B3703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575" y="3249614"/>
            <a:ext cx="3195638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Picture 7">
            <a:extLst>
              <a:ext uri="{FF2B5EF4-FFF2-40B4-BE49-F238E27FC236}">
                <a16:creationId xmlns:a16="http://schemas.microsoft.com/office/drawing/2014/main" xmlns="" id="{051AC970-E143-4E1B-BF2C-BE21F5ABE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550" y="3249613"/>
            <a:ext cx="1106488" cy="18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AEDBA36C-0D95-45CF-A260-0D9C04E27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2238" y="3902075"/>
            <a:ext cx="4024312" cy="2800350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400" b="1">
                <a:latin typeface="Calibri" panose="020F0502020204030204" pitchFamily="34" charset="0"/>
                <a:cs typeface="Calibri" panose="020F0502020204030204" pitchFamily="34" charset="0"/>
              </a:rPr>
              <a:t>Il faut résoudre le système d’inéquations: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+0*w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+1*w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+0*w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  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0 	  ( 1</a:t>
            </a:r>
            <a:r>
              <a:rPr lang="fr-FR" altLang="fr-FR" sz="1400" baseline="30000">
                <a:latin typeface="Calibri" panose="020F0502020204030204" pitchFamily="34" charset="0"/>
                <a:cs typeface="Calibri" panose="020F0502020204030204" pitchFamily="34" charset="0"/>
              </a:rPr>
              <a:t>ère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  ligne)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+1*w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+0*w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+1*w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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  0 	  ( 2</a:t>
            </a:r>
            <a:r>
              <a:rPr lang="fr-FR" altLang="fr-FR" sz="1400" baseline="30000">
                <a:latin typeface="Calibri" panose="020F0502020204030204" pitchFamily="34" charset="0"/>
                <a:cs typeface="Calibri" panose="020F0502020204030204" pitchFamily="34" charset="0"/>
              </a:rPr>
              <a:t>ème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 ligne)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+1*w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+0*w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+0*w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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   0 	( 3</a:t>
            </a:r>
            <a:r>
              <a:rPr lang="fr-FR" altLang="fr-FR" sz="1400" baseline="30000">
                <a:latin typeface="Calibri" panose="020F0502020204030204" pitchFamily="34" charset="0"/>
                <a:cs typeface="Calibri" panose="020F0502020204030204" pitchFamily="34" charset="0"/>
              </a:rPr>
              <a:t>ème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 ligne)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+0*w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+1*w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+1*w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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  	0	( 4</a:t>
            </a:r>
            <a:r>
              <a:rPr lang="fr-FR" altLang="fr-FR" sz="1400" baseline="30000">
                <a:latin typeface="Calibri" panose="020F0502020204030204" pitchFamily="34" charset="0"/>
                <a:cs typeface="Calibri" panose="020F0502020204030204" pitchFamily="34" charset="0"/>
              </a:rPr>
              <a:t>ème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 ligne)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ou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+w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  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0 	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+w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+w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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  0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+w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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  0  	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+w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+w</a:t>
            </a:r>
            <a:r>
              <a:rPr lang="fr-FR" altLang="fr-FR" sz="1400" baseline="-2500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</a:t>
            </a:r>
            <a:r>
              <a:rPr lang="fr-FR" altLang="fr-FR" sz="1400">
                <a:latin typeface="Calibri" panose="020F0502020204030204" pitchFamily="34" charset="0"/>
                <a:cs typeface="Calibri" panose="020F0502020204030204" pitchFamily="34" charset="0"/>
              </a:rPr>
              <a:t>   0		</a:t>
            </a:r>
            <a:endParaRPr lang="fr-FR" altLang="fr-FR" sz="1800" b="1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4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fr-FR" altLang="fr-FR" sz="1400" b="1" baseline="-25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fr-FR" altLang="fr-FR" sz="14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0, w</a:t>
            </a:r>
            <a:r>
              <a:rPr lang="fr-FR" altLang="fr-FR" sz="1400" b="1" baseline="-25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fr-FR" altLang="fr-FR" sz="14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-1, w</a:t>
            </a:r>
            <a:r>
              <a:rPr lang="fr-FR" altLang="fr-FR" sz="1400" b="1" baseline="-25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fr-FR" altLang="fr-FR" sz="14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1, w</a:t>
            </a:r>
            <a:r>
              <a:rPr lang="fr-FR" altLang="fr-FR" sz="1400" b="1" baseline="-25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fr-FR" altLang="fr-FR" sz="1400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0  conviendrait</a:t>
            </a:r>
            <a:endParaRPr lang="fr-FR" altLang="fr-FR" sz="14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B0627922-0D3B-4CB3-A69A-0285A5A18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13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xmlns="" id="{D153BA66-F2F7-44E4-AEF3-8DFBDC8A20D0}"/>
              </a:ext>
            </a:extLst>
          </p:cNvPr>
          <p:cNvGraphicFramePr>
            <a:graphicFrameLocks noGrp="1"/>
          </p:cNvGraphicFramePr>
          <p:nvPr/>
        </p:nvGraphicFramePr>
        <p:xfrm>
          <a:off x="1703389" y="3817938"/>
          <a:ext cx="639603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8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3469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9975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9975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399752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399752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399752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399752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39975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399752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399752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399752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399752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399752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  <a:gridCol w="399752">
                  <a:extLst>
                    <a:ext uri="{9D8B030D-6E8A-4147-A177-3AD203B41FA5}">
                      <a16:colId xmlns:a16="http://schemas.microsoft.com/office/drawing/2014/main" xmlns="" val="20014"/>
                    </a:ext>
                  </a:extLst>
                </a:gridCol>
                <a:gridCol w="399756">
                  <a:extLst>
                    <a:ext uri="{9D8B030D-6E8A-4147-A177-3AD203B41FA5}">
                      <a16:colId xmlns:a16="http://schemas.microsoft.com/office/drawing/2014/main" xmlns="" val="20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w</a:t>
                      </a:r>
                      <a:r>
                        <a:rPr lang="fr-FR" sz="1400" baseline="-25000" dirty="0"/>
                        <a:t>0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w</a:t>
                      </a:r>
                      <a:r>
                        <a:rPr lang="fr-FR" sz="1400" baseline="-25000" dirty="0"/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w</a:t>
                      </a:r>
                      <a:r>
                        <a:rPr lang="fr-FR" sz="1400" baseline="-25000" dirty="0"/>
                        <a:t>2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w</a:t>
                      </a:r>
                      <a:r>
                        <a:rPr lang="fr-FR" sz="1400" baseline="-25000" dirty="0"/>
                        <a:t>3</a:t>
                      </a:r>
                    </a:p>
                  </a:txBody>
                  <a:tcPr marL="91435" marR="91435"/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aseline="-25000" dirty="0"/>
                        <a:t>Entrée</a:t>
                      </a:r>
                    </a:p>
                  </a:txBody>
                  <a:tcPr marL="91435" marR="91435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baseline="-25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sym typeface="Symbol" panose="05050102010706020507" pitchFamily="18" charset="2"/>
                        </a:rPr>
                        <a:t></a:t>
                      </a:r>
                      <a:endParaRPr lang="fr-FR" sz="1400" dirty="0"/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o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t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w</a:t>
                      </a:r>
                      <a:r>
                        <a:rPr lang="fr-FR" sz="1400" baseline="-25000" dirty="0"/>
                        <a:t>0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w</a:t>
                      </a:r>
                      <a:r>
                        <a:rPr lang="fr-FR" sz="1400" baseline="-25000" dirty="0"/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w</a:t>
                      </a:r>
                      <a:r>
                        <a:rPr lang="fr-FR" sz="1400" baseline="-25000" dirty="0"/>
                        <a:t>2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w</a:t>
                      </a:r>
                      <a:r>
                        <a:rPr lang="fr-FR" sz="1400" baseline="-25000" dirty="0"/>
                        <a:t>3</a:t>
                      </a:r>
                    </a:p>
                  </a:txBody>
                  <a:tcPr marL="91435" marR="91435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0000FF"/>
                          </a:solidFill>
                        </a:rPr>
                        <a:t>0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0000FF"/>
                          </a:solidFill>
                        </a:rPr>
                        <a:t>0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 marL="91435" marR="91435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0000FF"/>
                          </a:solidFill>
                        </a:rPr>
                        <a:t>0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 marL="91435" marR="91435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0000FF"/>
                          </a:solidFill>
                        </a:rPr>
                        <a:t>0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00B050"/>
                          </a:solidFill>
                        </a:rPr>
                        <a:t>0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 marL="91435" marR="91435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0000FF"/>
                          </a:solidFill>
                        </a:rPr>
                        <a:t>0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0000FF"/>
                          </a:solidFill>
                        </a:rPr>
                        <a:t>0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rgbClr val="00B050"/>
                          </a:solidFill>
                        </a:rPr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 marL="91435" marR="91435"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-1</a:t>
                      </a:r>
                    </a:p>
                  </a:txBody>
                  <a:tcPr marL="91435" marR="91435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pic>
        <p:nvPicPr>
          <p:cNvPr id="35943" name="Picture 11">
            <a:extLst>
              <a:ext uri="{FF2B5EF4-FFF2-40B4-BE49-F238E27FC236}">
                <a16:creationId xmlns:a16="http://schemas.microsoft.com/office/drawing/2014/main" xmlns="" id="{9110021D-92D5-4A68-AF4F-E0A90D895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1" y="549276"/>
            <a:ext cx="2079625" cy="107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944" name="Rectangle 16">
            <a:extLst>
              <a:ext uri="{FF2B5EF4-FFF2-40B4-BE49-F238E27FC236}">
                <a16:creationId xmlns:a16="http://schemas.microsoft.com/office/drawing/2014/main" xmlns="" id="{D02D6709-AB0C-4594-8BF7-0E18E43BD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109914"/>
            <a:ext cx="11620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Calibri" panose="020F0502020204030204" pitchFamily="34" charset="0"/>
                <a:cs typeface="Calibri" panose="020F0502020204030204" pitchFamily="34" charset="0"/>
              </a:rPr>
              <a:t>Réponse 3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5945" name="Rectangle 8">
            <a:extLst>
              <a:ext uri="{FF2B5EF4-FFF2-40B4-BE49-F238E27FC236}">
                <a16:creationId xmlns:a16="http://schemas.microsoft.com/office/drawing/2014/main" xmlns="" id="{6AE08359-1AB3-4382-8215-8630C70CB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3213" y="188913"/>
            <a:ext cx="9144000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 b="1" dirty="0">
                <a:latin typeface="Times New Roman" panose="02020603050405020304" pitchFamily="18" charset="0"/>
              </a:rPr>
              <a:t>Question 3</a:t>
            </a:r>
            <a:r>
              <a:rPr lang="fr-FR" altLang="fr-FR" sz="1800" dirty="0">
                <a:latin typeface="Times New Roman" panose="02020603050405020304" pitchFamily="18" charset="0"/>
              </a:rPr>
              <a:t> : Considérons l’échantillon  suivant: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 dirty="0">
                <a:latin typeface="Times New Roman" panose="02020603050405020304" pitchFamily="18" charset="0"/>
              </a:rPr>
              <a:t>Si on applique l'algorithme d'apprentissage par correction d'erreur en commençant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 dirty="0">
                <a:latin typeface="Times New Roman" panose="02020603050405020304" pitchFamily="18" charset="0"/>
              </a:rPr>
              <a:t>par le vecteur w = (0, 0, 0, 0) on obtient le vecteur de poids suivant : 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0EEF85B2-9B45-436E-91D8-DD090F764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14</a:t>
            </a:fld>
            <a:endParaRPr lang="fr-FR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xmlns="" id="{D1E45D23-34EA-4960-A709-0E005CFDB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3375" y="2726959"/>
            <a:ext cx="2895951" cy="2078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1B86910B-7685-4D96-B62F-44B27480160B}"/>
              </a:ext>
            </a:extLst>
          </p:cNvPr>
          <p:cNvSpPr/>
          <p:nvPr/>
        </p:nvSpPr>
        <p:spPr>
          <a:xfrm>
            <a:off x="4479852" y="5961417"/>
            <a:ext cx="16930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fr-FR" b="1" dirty="0">
                <a:latin typeface="Times New Roman" panose="02020603050405020304" pitchFamily="18" charset="0"/>
              </a:rPr>
              <a:t>w = (1, 1, 0, -1) </a:t>
            </a:r>
            <a:endParaRPr lang="fr-FR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3D766103-1F9B-48F9-8FAD-BB2CA601184F}"/>
              </a:ext>
            </a:extLst>
          </p:cNvPr>
          <p:cNvSpPr/>
          <p:nvPr/>
        </p:nvSpPr>
        <p:spPr>
          <a:xfrm>
            <a:off x="6793511" y="5849951"/>
            <a:ext cx="283090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altLang="fr-FR" b="1" dirty="0">
                <a:solidFill>
                  <a:srgbClr val="FF0000"/>
                </a:solidFill>
                <a:latin typeface="Times New Roman" panose="02020603050405020304" pitchFamily="18" charset="0"/>
              </a:rPr>
              <a:t>L’équation de l’hyperplan:</a:t>
            </a:r>
          </a:p>
          <a:p>
            <a:r>
              <a:rPr lang="fr-FR" altLang="fr-FR" b="1" dirty="0">
                <a:solidFill>
                  <a:srgbClr val="FF0000"/>
                </a:solidFill>
                <a:latin typeface="Times New Roman" panose="02020603050405020304" pitchFamily="18" charset="0"/>
              </a:rPr>
              <a:t>x1 - x3 + 1 = 0 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78A0C25-0E02-4860-A9FE-64F897BF28D9}"/>
              </a:ext>
            </a:extLst>
          </p:cNvPr>
          <p:cNvSpPr/>
          <p:nvPr/>
        </p:nvSpPr>
        <p:spPr>
          <a:xfrm>
            <a:off x="1573213" y="4164227"/>
            <a:ext cx="6705814" cy="15079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1C22BCB3-D050-4D3C-B98A-7C16C328647C}"/>
              </a:ext>
            </a:extLst>
          </p:cNvPr>
          <p:cNvSpPr/>
          <p:nvPr/>
        </p:nvSpPr>
        <p:spPr>
          <a:xfrm>
            <a:off x="1573213" y="4524376"/>
            <a:ext cx="6705814" cy="1325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6EA7CA14-F019-4229-938F-FDDD4300C6B1}"/>
              </a:ext>
            </a:extLst>
          </p:cNvPr>
          <p:cNvSpPr/>
          <p:nvPr/>
        </p:nvSpPr>
        <p:spPr>
          <a:xfrm>
            <a:off x="1393611" y="4975839"/>
            <a:ext cx="6705814" cy="1325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4" grpId="0" animBg="1"/>
      <p:bldP spid="11" grpId="0" animBg="1"/>
      <p:bldP spid="11" grpId="1" animBg="1"/>
      <p:bldP spid="13" grpId="0" animBg="1"/>
      <p:bldP spid="13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>
            <a:extLst>
              <a:ext uri="{FF2B5EF4-FFF2-40B4-BE49-F238E27FC236}">
                <a16:creationId xmlns:a16="http://schemas.microsoft.com/office/drawing/2014/main" xmlns="" id="{8FFBF421-7A2F-47E8-869C-145E7CCBA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88914"/>
            <a:ext cx="914400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 b="1">
                <a:latin typeface="Times New Roman" panose="02020603050405020304" pitchFamily="18" charset="0"/>
              </a:rPr>
              <a:t>Question 4</a:t>
            </a:r>
            <a:r>
              <a:rPr lang="fr-FR" altLang="fr-FR" sz="1800">
                <a:latin typeface="Times New Roman" panose="02020603050405020304" pitchFamily="18" charset="0"/>
              </a:rPr>
              <a:t> :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On considère un perceptron spécial avec trois entrées x</a:t>
            </a:r>
            <a:r>
              <a:rPr lang="fr-FR" altLang="fr-FR" sz="1800" baseline="-25000">
                <a:latin typeface="Times New Roman" panose="02020603050405020304" pitchFamily="18" charset="0"/>
              </a:rPr>
              <a:t>1</a:t>
            </a:r>
            <a:r>
              <a:rPr lang="fr-FR" altLang="fr-FR" sz="1800">
                <a:latin typeface="Times New Roman" panose="02020603050405020304" pitchFamily="18" charset="0"/>
              </a:rPr>
              <a:t> x</a:t>
            </a:r>
            <a:r>
              <a:rPr lang="fr-FR" altLang="fr-FR" sz="1800" baseline="-25000">
                <a:latin typeface="Times New Roman" panose="02020603050405020304" pitchFamily="18" charset="0"/>
              </a:rPr>
              <a:t>2</a:t>
            </a:r>
            <a:r>
              <a:rPr lang="fr-FR" altLang="fr-FR" sz="1800">
                <a:latin typeface="Times New Roman" panose="02020603050405020304" pitchFamily="18" charset="0"/>
              </a:rPr>
              <a:t>, et x</a:t>
            </a:r>
            <a:r>
              <a:rPr lang="fr-FR" altLang="fr-FR" sz="1800" baseline="-25000">
                <a:latin typeface="Times New Roman" panose="02020603050405020304" pitchFamily="18" charset="0"/>
              </a:rPr>
              <a:t>3</a:t>
            </a:r>
            <a:r>
              <a:rPr lang="fr-FR" altLang="fr-FR" sz="1800">
                <a:latin typeface="Times New Roman" panose="02020603050405020304" pitchFamily="18" charset="0"/>
              </a:rPr>
              <a:t>, trois poids w</a:t>
            </a:r>
            <a:r>
              <a:rPr lang="fr-FR" altLang="fr-FR" sz="1800" baseline="-25000">
                <a:latin typeface="Times New Roman" panose="02020603050405020304" pitchFamily="18" charset="0"/>
              </a:rPr>
              <a:t>1</a:t>
            </a:r>
            <a:r>
              <a:rPr lang="fr-FR" altLang="fr-FR" sz="1800">
                <a:latin typeface="Times New Roman" panose="02020603050405020304" pitchFamily="18" charset="0"/>
              </a:rPr>
              <a:t>, w</a:t>
            </a:r>
            <a:r>
              <a:rPr lang="fr-FR" altLang="fr-FR" sz="1800" baseline="-25000">
                <a:latin typeface="Times New Roman" panose="02020603050405020304" pitchFamily="18" charset="0"/>
              </a:rPr>
              <a:t>2</a:t>
            </a:r>
            <a:r>
              <a:rPr lang="fr-FR" altLang="fr-FR" sz="1800">
                <a:latin typeface="Times New Roman" panose="02020603050405020304" pitchFamily="18" charset="0"/>
              </a:rPr>
              <a:t> et w</a:t>
            </a:r>
            <a:r>
              <a:rPr lang="fr-FR" altLang="fr-FR" sz="1800" baseline="-25000">
                <a:latin typeface="Times New Roman" panose="02020603050405020304" pitchFamily="18" charset="0"/>
              </a:rPr>
              <a:t>3</a:t>
            </a:r>
            <a:r>
              <a:rPr lang="fr-FR" altLang="fr-FR" sz="1800">
                <a:latin typeface="Times New Roman" panose="02020603050405020304" pitchFamily="18" charset="0"/>
              </a:rPr>
              <a:t> et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deux seuils </a:t>
            </a:r>
            <a:r>
              <a:rPr lang="fr-FR" altLang="fr-FR" sz="1800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fr-FR" altLang="fr-FR" sz="1800" baseline="-25000">
                <a:latin typeface="Times New Roman" panose="02020603050405020304" pitchFamily="18" charset="0"/>
              </a:rPr>
              <a:t>1</a:t>
            </a:r>
            <a:r>
              <a:rPr lang="fr-FR" altLang="fr-FR" sz="1800">
                <a:latin typeface="Times New Roman" panose="02020603050405020304" pitchFamily="18" charset="0"/>
              </a:rPr>
              <a:t> et </a:t>
            </a:r>
            <a:r>
              <a:rPr lang="fr-FR" altLang="fr-FR" sz="1800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fr-FR" altLang="fr-FR" sz="1800" baseline="-25000">
                <a:latin typeface="Times New Roman" panose="02020603050405020304" pitchFamily="18" charset="0"/>
              </a:rPr>
              <a:t>2</a:t>
            </a:r>
            <a:r>
              <a:rPr lang="fr-FR" altLang="fr-FR" sz="1800">
                <a:latin typeface="Times New Roman" panose="02020603050405020304" pitchFamily="18" charset="0"/>
              </a:rPr>
              <a:t>. La sortie de ce perceptron spécial est 1 si </a:t>
            </a:r>
            <a:r>
              <a:rPr lang="fr-FR" altLang="fr-FR" sz="1800">
                <a:latin typeface="Times New Roman" panose="02020603050405020304" pitchFamily="18" charset="0"/>
                <a:sym typeface="Symbol" panose="05050102010706020507" pitchFamily="18" charset="2"/>
              </a:rPr>
              <a:t></a:t>
            </a:r>
            <a:r>
              <a:rPr lang="fr-FR" altLang="fr-FR" sz="1800" baseline="-25000">
                <a:latin typeface="Times New Roman" panose="02020603050405020304" pitchFamily="18" charset="0"/>
              </a:rPr>
              <a:t>1</a:t>
            </a:r>
            <a:r>
              <a:rPr lang="fr-FR" altLang="fr-FR" sz="1800">
                <a:latin typeface="Times New Roman" panose="02020603050405020304" pitchFamily="18" charset="0"/>
              </a:rPr>
              <a:t> &lt; w</a:t>
            </a:r>
            <a:r>
              <a:rPr lang="fr-FR" altLang="fr-FR" sz="1800" baseline="-25000">
                <a:latin typeface="Times New Roman" panose="02020603050405020304" pitchFamily="18" charset="0"/>
              </a:rPr>
              <a:t>1</a:t>
            </a:r>
            <a:r>
              <a:rPr lang="fr-FR" altLang="fr-FR" sz="1800">
                <a:latin typeface="Times New Roman" panose="02020603050405020304" pitchFamily="18" charset="0"/>
              </a:rPr>
              <a:t>x</a:t>
            </a:r>
            <a:r>
              <a:rPr lang="fr-FR" altLang="fr-FR" sz="1800" baseline="-25000">
                <a:latin typeface="Times New Roman" panose="02020603050405020304" pitchFamily="18" charset="0"/>
              </a:rPr>
              <a:t>1</a:t>
            </a:r>
            <a:r>
              <a:rPr lang="fr-FR" altLang="fr-FR" sz="1800">
                <a:latin typeface="Times New Roman" panose="02020603050405020304" pitchFamily="18" charset="0"/>
              </a:rPr>
              <a:t>+w</a:t>
            </a:r>
            <a:r>
              <a:rPr lang="fr-FR" altLang="fr-FR" sz="1800" baseline="-25000">
                <a:latin typeface="Times New Roman" panose="02020603050405020304" pitchFamily="18" charset="0"/>
              </a:rPr>
              <a:t>2</a:t>
            </a:r>
            <a:r>
              <a:rPr lang="fr-FR" altLang="fr-FR" sz="1800">
                <a:latin typeface="Times New Roman" panose="02020603050405020304" pitchFamily="18" charset="0"/>
              </a:rPr>
              <a:t>x</a:t>
            </a:r>
            <a:r>
              <a:rPr lang="fr-FR" altLang="fr-FR" sz="1800" baseline="-25000">
                <a:latin typeface="Times New Roman" panose="02020603050405020304" pitchFamily="18" charset="0"/>
              </a:rPr>
              <a:t>2</a:t>
            </a:r>
            <a:r>
              <a:rPr lang="fr-FR" altLang="fr-FR" sz="1800">
                <a:latin typeface="Times New Roman" panose="02020603050405020304" pitchFamily="18" charset="0"/>
              </a:rPr>
              <a:t>+w</a:t>
            </a:r>
            <a:r>
              <a:rPr lang="fr-FR" altLang="fr-FR" sz="1800" baseline="-25000">
                <a:latin typeface="Times New Roman" panose="02020603050405020304" pitchFamily="18" charset="0"/>
              </a:rPr>
              <a:t>3</a:t>
            </a:r>
            <a:r>
              <a:rPr lang="fr-FR" altLang="fr-FR" sz="1800">
                <a:latin typeface="Times New Roman" panose="02020603050405020304" pitchFamily="18" charset="0"/>
              </a:rPr>
              <a:t>x</a:t>
            </a:r>
            <a:r>
              <a:rPr lang="fr-FR" altLang="fr-FR" sz="1800" baseline="-25000">
                <a:latin typeface="Times New Roman" panose="02020603050405020304" pitchFamily="18" charset="0"/>
              </a:rPr>
              <a:t>3</a:t>
            </a:r>
            <a:r>
              <a:rPr lang="fr-FR" altLang="fr-FR" sz="1800">
                <a:latin typeface="Times New Roman" panose="02020603050405020304" pitchFamily="18" charset="0"/>
              </a:rPr>
              <a:t> &lt;</a:t>
            </a:r>
            <a:r>
              <a:rPr lang="fr-FR" altLang="fr-FR" sz="1800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fr-FR" altLang="fr-FR" sz="1800" baseline="-25000">
                <a:latin typeface="Times New Roman" panose="02020603050405020304" pitchFamily="18" charset="0"/>
              </a:rPr>
              <a:t>2</a:t>
            </a:r>
            <a:r>
              <a:rPr lang="fr-FR" altLang="fr-FR" sz="1800">
                <a:latin typeface="Times New Roman" panose="02020603050405020304" pitchFamily="18" charset="0"/>
              </a:rPr>
              <a:t> et 0 sinon.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Donnez w</a:t>
            </a:r>
            <a:r>
              <a:rPr lang="fr-FR" altLang="fr-FR" sz="1800" baseline="-25000">
                <a:latin typeface="Times New Roman" panose="02020603050405020304" pitchFamily="18" charset="0"/>
              </a:rPr>
              <a:t>1</a:t>
            </a:r>
            <a:r>
              <a:rPr lang="fr-FR" altLang="fr-FR" sz="1800">
                <a:latin typeface="Times New Roman" panose="02020603050405020304" pitchFamily="18" charset="0"/>
              </a:rPr>
              <a:t>, w</a:t>
            </a:r>
            <a:r>
              <a:rPr lang="fr-FR" altLang="fr-FR" sz="1800" baseline="-25000">
                <a:latin typeface="Times New Roman" panose="02020603050405020304" pitchFamily="18" charset="0"/>
              </a:rPr>
              <a:t>2</a:t>
            </a:r>
            <a:r>
              <a:rPr lang="fr-FR" altLang="fr-FR" sz="1800">
                <a:latin typeface="Times New Roman" panose="02020603050405020304" pitchFamily="18" charset="0"/>
              </a:rPr>
              <a:t>, w</a:t>
            </a:r>
            <a:r>
              <a:rPr lang="fr-FR" altLang="fr-FR" sz="1800" baseline="-25000">
                <a:latin typeface="Times New Roman" panose="02020603050405020304" pitchFamily="18" charset="0"/>
              </a:rPr>
              <a:t>3</a:t>
            </a:r>
            <a:r>
              <a:rPr lang="fr-FR" altLang="fr-FR" sz="1800">
                <a:latin typeface="Times New Roman" panose="02020603050405020304" pitchFamily="18" charset="0"/>
              </a:rPr>
              <a:t>, </a:t>
            </a:r>
            <a:r>
              <a:rPr lang="fr-FR" altLang="fr-FR" sz="1800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fr-FR" altLang="fr-FR" sz="1800" baseline="-25000">
                <a:latin typeface="Times New Roman" panose="02020603050405020304" pitchFamily="18" charset="0"/>
              </a:rPr>
              <a:t>1</a:t>
            </a:r>
            <a:r>
              <a:rPr lang="fr-FR" altLang="fr-FR" sz="1800">
                <a:latin typeface="Times New Roman" panose="02020603050405020304" pitchFamily="18" charset="0"/>
              </a:rPr>
              <a:t> et </a:t>
            </a:r>
            <a:r>
              <a:rPr lang="fr-FR" altLang="fr-FR" sz="1800"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fr-FR" altLang="fr-FR" sz="1800" baseline="-25000">
                <a:latin typeface="Times New Roman" panose="02020603050405020304" pitchFamily="18" charset="0"/>
              </a:rPr>
              <a:t>2</a:t>
            </a:r>
            <a:r>
              <a:rPr lang="fr-FR" altLang="fr-FR" sz="1800">
                <a:latin typeface="Times New Roman" panose="02020603050405020304" pitchFamily="18" charset="0"/>
              </a:rPr>
              <a:t> de sorte que le perceptron classifie correctement l‘échantillon suivant:</a:t>
            </a:r>
          </a:p>
        </p:txBody>
      </p:sp>
      <p:pic>
        <p:nvPicPr>
          <p:cNvPr id="36867" name="Picture 5">
            <a:extLst>
              <a:ext uri="{FF2B5EF4-FFF2-40B4-BE49-F238E27FC236}">
                <a16:creationId xmlns:a16="http://schemas.microsoft.com/office/drawing/2014/main" xmlns="" id="{7E032E23-95F6-4FE3-9A07-B62B3B563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3" y="1844676"/>
            <a:ext cx="1898650" cy="126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CC89F059-6B2F-4354-933F-CD703B9EF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15</a:t>
            </a:fld>
            <a:endParaRPr lang="fr-F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>
            <a:extLst>
              <a:ext uri="{FF2B5EF4-FFF2-40B4-BE49-F238E27FC236}">
                <a16:creationId xmlns:a16="http://schemas.microsoft.com/office/drawing/2014/main" xmlns="" id="{08FCD0D1-828B-48F6-B3EA-6AA129A97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0" y="219075"/>
            <a:ext cx="91122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SOLUTIONS: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Question 1 Donnez des valeurs aux poids w0,w1,w2 et w3 de sorte que le perceptron classifie correctement l‘échantillon. </a:t>
            </a:r>
            <a:r>
              <a:rPr lang="fr-FR" altLang="fr-FR" sz="1800" b="1">
                <a:solidFill>
                  <a:srgbClr val="FF0000"/>
                </a:solidFill>
                <a:latin typeface="Times New Roman" panose="02020603050405020304" pitchFamily="18" charset="0"/>
              </a:rPr>
              <a:t>w0 = 0, w1 = -1, w2 = 1, w3 = 0</a:t>
            </a: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xmlns="" id="{F3692F31-BBCC-4F4B-AE06-AB6AAB632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5276" y="1692276"/>
            <a:ext cx="911066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Question 2  Donnez des valeurs aux poids w0,w1,w2 et w3 de sorte que le perceptron classifie correctement l‘échantillon inverse (vecteur </a:t>
            </a:r>
            <a:r>
              <a:rPr lang="fr-FR" altLang="fr-FR" sz="1600" b="1">
                <a:solidFill>
                  <a:srgbClr val="0000FF"/>
                </a:solidFill>
                <a:latin typeface="Times New Roman" panose="02020603050405020304" pitchFamily="18" charset="0"/>
              </a:rPr>
              <a:t>~ y1 classe 0, ~ y2 classe 1, ~ y3 classe 1, ~ y4 classe 0</a:t>
            </a:r>
            <a:r>
              <a:rPr lang="fr-FR" altLang="fr-FR" sz="1600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l-PL" altLang="fr-FR" sz="1800" b="1">
                <a:solidFill>
                  <a:srgbClr val="FF0000"/>
                </a:solidFill>
                <a:latin typeface="Times New Roman" panose="02020603050405020304" pitchFamily="18" charset="0"/>
              </a:rPr>
              <a:t>w0 = 0, w1 = 1, w2 = </a:t>
            </a:r>
            <a:r>
              <a:rPr lang="fr-FR" altLang="fr-FR" sz="1800" b="1">
                <a:solidFill>
                  <a:srgbClr val="FF0000"/>
                </a:solidFill>
                <a:latin typeface="Times New Roman" panose="02020603050405020304" pitchFamily="18" charset="0"/>
              </a:rPr>
              <a:t>-</a:t>
            </a:r>
            <a:r>
              <a:rPr lang="pl-PL" altLang="fr-FR" sz="1800" b="1">
                <a:solidFill>
                  <a:srgbClr val="FF0000"/>
                </a:solidFill>
                <a:latin typeface="Times New Roman" panose="02020603050405020304" pitchFamily="18" charset="0"/>
              </a:rPr>
              <a:t>1, w3 = 0</a:t>
            </a:r>
            <a:endParaRPr lang="fr-FR" altLang="fr-FR" sz="1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xmlns="" id="{B8603B0B-9168-42EB-AF7E-D194733A7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0" y="3059114"/>
            <a:ext cx="91122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Question 3  Si on applique l'algorithme d'apprentissage par correction d'erreur en commençant par le vecteur ~w = (0; 0; 0; 0) on obtient le vecteur de poids (a quatre dimensions, le premier pour le seuil) suivant : </a:t>
            </a:r>
            <a:r>
              <a:rPr lang="fr-FR" altLang="fr-FR" sz="1800" b="1">
                <a:solidFill>
                  <a:srgbClr val="FF0000"/>
                </a:solidFill>
                <a:latin typeface="Times New Roman" panose="02020603050405020304" pitchFamily="18" charset="0"/>
              </a:rPr>
              <a:t>(1; 1; 0;-1)</a:t>
            </a:r>
          </a:p>
        </p:txBody>
      </p:sp>
      <p:sp>
        <p:nvSpPr>
          <p:cNvPr id="37893" name="Rectangle 4">
            <a:extLst>
              <a:ext uri="{FF2B5EF4-FFF2-40B4-BE49-F238E27FC236}">
                <a16:creationId xmlns:a16="http://schemas.microsoft.com/office/drawing/2014/main" xmlns="" id="{A13D5CFD-1A4A-41C7-94E3-1974972E5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652964"/>
            <a:ext cx="90678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</a:rPr>
              <a:t>Question 4  Donnez w1, w2, w3, </a:t>
            </a:r>
            <a:r>
              <a:rPr lang="pl-PL" altLang="fr-FR" sz="1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lang="fr-FR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1 et </a:t>
            </a:r>
            <a:r>
              <a:rPr lang="pl-PL" altLang="fr-FR" sz="1800" b="1">
                <a:solidFill>
                  <a:schemeClr val="tx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 </a:t>
            </a:r>
            <a:r>
              <a:rPr lang="fr-FR" altLang="fr-FR" sz="1800">
                <a:solidFill>
                  <a:schemeClr val="tx1"/>
                </a:solidFill>
                <a:latin typeface="Times New Roman" panose="02020603050405020304" pitchFamily="18" charset="0"/>
              </a:rPr>
              <a:t>2 </a:t>
            </a:r>
            <a:r>
              <a:rPr lang="fr-FR" altLang="fr-FR" sz="1800">
                <a:latin typeface="Times New Roman" panose="02020603050405020304" pitchFamily="18" charset="0"/>
              </a:rPr>
              <a:t>de sorte que le perceptron classifie correctement l‘échantillon suivant:</a:t>
            </a:r>
          </a:p>
        </p:txBody>
      </p:sp>
      <p:sp>
        <p:nvSpPr>
          <p:cNvPr id="37894" name="Rectangle 5">
            <a:extLst>
              <a:ext uri="{FF2B5EF4-FFF2-40B4-BE49-F238E27FC236}">
                <a16:creationId xmlns:a16="http://schemas.microsoft.com/office/drawing/2014/main" xmlns="" id="{098441AE-73D8-4E58-8476-F2E43AB23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6156325"/>
            <a:ext cx="4724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l-PL" altLang="fr-FR" sz="1800" b="1">
                <a:solidFill>
                  <a:srgbClr val="FF0000"/>
                </a:solidFill>
                <a:latin typeface="Times New Roman" panose="02020603050405020304" pitchFamily="18" charset="0"/>
              </a:rPr>
              <a:t>w1 = 0 </a:t>
            </a:r>
            <a:r>
              <a:rPr lang="fr-FR" altLang="fr-FR" sz="1800" b="1">
                <a:solidFill>
                  <a:srgbClr val="FF0000"/>
                </a:solidFill>
                <a:latin typeface="Times New Roman" panose="02020603050405020304" pitchFamily="18" charset="0"/>
              </a:rPr>
              <a:t>, </a:t>
            </a:r>
            <a:r>
              <a:rPr lang="pl-PL" altLang="fr-FR" sz="1800" b="1">
                <a:solidFill>
                  <a:srgbClr val="FF0000"/>
                </a:solidFill>
                <a:latin typeface="Times New Roman" panose="02020603050405020304" pitchFamily="18" charset="0"/>
              </a:rPr>
              <a:t>w2 = 1 </a:t>
            </a:r>
            <a:r>
              <a:rPr lang="fr-FR" altLang="fr-FR" sz="1800" b="1">
                <a:solidFill>
                  <a:srgbClr val="FF0000"/>
                </a:solidFill>
                <a:latin typeface="Times New Roman" panose="02020603050405020304" pitchFamily="18" charset="0"/>
              </a:rPr>
              <a:t>, </a:t>
            </a:r>
            <a:r>
              <a:rPr lang="pl-PL" altLang="fr-FR" sz="1800" b="1">
                <a:solidFill>
                  <a:srgbClr val="FF0000"/>
                </a:solidFill>
                <a:latin typeface="Times New Roman" panose="02020603050405020304" pitchFamily="18" charset="0"/>
              </a:rPr>
              <a:t>w3 = 1</a:t>
            </a:r>
            <a:r>
              <a:rPr lang="fr-FR" altLang="fr-FR" sz="1800" b="1">
                <a:solidFill>
                  <a:srgbClr val="FF0000"/>
                </a:solidFill>
                <a:latin typeface="Times New Roman" panose="02020603050405020304" pitchFamily="18" charset="0"/>
              </a:rPr>
              <a:t>  ,  </a:t>
            </a:r>
            <a:r>
              <a:rPr lang="pl-PL" altLang="fr-FR" sz="1800" b="1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pl-PL" altLang="fr-FR" sz="1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pl-PL" altLang="fr-FR" sz="1800" b="1">
                <a:solidFill>
                  <a:srgbClr val="FF0000"/>
                </a:solidFill>
                <a:latin typeface="Times New Roman" panose="02020603050405020304" pitchFamily="18" charset="0"/>
              </a:rPr>
              <a:t>1 = 0</a:t>
            </a:r>
            <a:r>
              <a:rPr lang="fr-FR" altLang="fr-FR" sz="1800" b="1">
                <a:solidFill>
                  <a:srgbClr val="FF0000"/>
                </a:solidFill>
                <a:latin typeface="Times New Roman" panose="02020603050405020304" pitchFamily="18" charset="0"/>
              </a:rPr>
              <a:t>.</a:t>
            </a:r>
            <a:r>
              <a:rPr lang="pl-PL" altLang="fr-FR" sz="1800" b="1">
                <a:solidFill>
                  <a:srgbClr val="FF0000"/>
                </a:solidFill>
                <a:latin typeface="Times New Roman" panose="02020603050405020304" pitchFamily="18" charset="0"/>
              </a:rPr>
              <a:t>5 et </a:t>
            </a:r>
            <a:r>
              <a:rPr lang="pl-PL" altLang="fr-FR" sz="18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pl-PL" altLang="fr-FR" sz="1800" b="1">
                <a:solidFill>
                  <a:srgbClr val="FF0000"/>
                </a:solidFill>
                <a:latin typeface="Times New Roman" panose="02020603050405020304" pitchFamily="18" charset="0"/>
              </a:rPr>
              <a:t>2 = 1</a:t>
            </a:r>
            <a:r>
              <a:rPr lang="fr-FR" altLang="fr-FR" sz="1800" b="1">
                <a:solidFill>
                  <a:srgbClr val="FF0000"/>
                </a:solidFill>
                <a:latin typeface="Times New Roman" panose="02020603050405020304" pitchFamily="18" charset="0"/>
              </a:rPr>
              <a:t>.</a:t>
            </a:r>
            <a:r>
              <a:rPr lang="pl-PL" altLang="fr-FR" sz="1800" b="1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  <a:endParaRPr lang="fr-FR" altLang="fr-FR" sz="1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EFF0BEE7-FF19-403C-A252-B36EEE06D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16</a:t>
            </a:fld>
            <a:endParaRPr lang="fr-F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2">
            <a:extLst>
              <a:ext uri="{FF2B5EF4-FFF2-40B4-BE49-F238E27FC236}">
                <a16:creationId xmlns:a16="http://schemas.microsoft.com/office/drawing/2014/main" xmlns="" id="{0CD7E69A-CA8D-494F-A4C1-799D731DF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233" y="560532"/>
            <a:ext cx="4174403" cy="12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600" b="1" dirty="0" smtClean="0">
                <a:cs typeface="Times New Roman" panose="02020603050405020304" pitchFamily="18" charset="0"/>
              </a:rPr>
              <a:t>Exercice 2 </a:t>
            </a:r>
            <a:r>
              <a:rPr lang="fr-FR" altLang="fr-FR" sz="1600" b="1" dirty="0">
                <a:cs typeface="Times New Roman" panose="02020603050405020304" pitchFamily="18" charset="0"/>
              </a:rPr>
              <a:t>: Perceptron</a:t>
            </a:r>
            <a:endParaRPr lang="fr-FR" altLang="fr-FR" sz="12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Considérons le plan (x</a:t>
            </a:r>
            <a:r>
              <a:rPr lang="fr-FR" altLang="fr-FR" sz="1600" baseline="-30000" dirty="0"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fr-FR" altLang="fr-FR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,x</a:t>
            </a:r>
            <a:r>
              <a:rPr lang="fr-FR" altLang="fr-FR" sz="1600" baseline="-30000" dirty="0"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fr-FR" altLang="fr-FR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) (figure suivante)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de points avec deux classes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 (C1 :</a:t>
            </a:r>
            <a:r>
              <a:rPr lang="fr-FR" altLang="fr-FR" sz="1600" dirty="0" smtClean="0">
                <a:latin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 </a:t>
            </a:r>
            <a:r>
              <a:rPr lang="fr-FR" altLang="fr-FR" sz="1600" dirty="0" smtClean="0">
                <a:latin typeface="Calibri" panose="020F0502020204030204" pitchFamily="34" charset="0"/>
                <a:cs typeface="Times New Roman" panose="02020603050405020304" pitchFamily="18" charset="0"/>
              </a:rPr>
              <a:t>et </a:t>
            </a:r>
            <a:r>
              <a:rPr lang="fr-FR" altLang="fr-FR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C2 : +)</a:t>
            </a:r>
            <a:r>
              <a:rPr lang="fr-FR" altLang="fr-FR" sz="1600" dirty="0">
                <a:latin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 </a:t>
            </a:r>
            <a:endParaRPr lang="fr-FR" altLang="fr-FR" sz="2000" b="1" dirty="0">
              <a:latin typeface="Calibri" panose="020F050202020403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000" dirty="0">
              <a:latin typeface="Calibri" panose="020F050202020403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8915" name="Rectangle 13">
            <a:extLst>
              <a:ext uri="{FF2B5EF4-FFF2-40B4-BE49-F238E27FC236}">
                <a16:creationId xmlns:a16="http://schemas.microsoft.com/office/drawing/2014/main" xmlns="" id="{285578CA-6DEA-460E-92AF-AB2D6AE73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5011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38916" name="Rectangle 14">
            <a:extLst>
              <a:ext uri="{FF2B5EF4-FFF2-40B4-BE49-F238E27FC236}">
                <a16:creationId xmlns:a16="http://schemas.microsoft.com/office/drawing/2014/main" xmlns="" id="{871CB75C-F589-4E10-A3D4-760E5EEFC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055721"/>
            <a:ext cx="400049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6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600" b="1" dirty="0">
                <a:latin typeface="Calibri" panose="020F0502020204030204" pitchFamily="34" charset="0"/>
                <a:cs typeface="Times New Roman" panose="02020603050405020304" pitchFamily="18" charset="0"/>
              </a:rPr>
              <a:t>1) </a:t>
            </a:r>
            <a:r>
              <a:rPr lang="fr-FR" altLang="fr-FR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Donnez l'équation de l'hyperplan (droite) séparateur de deux classes de la figure.</a:t>
            </a:r>
            <a:endParaRPr lang="fr-FR" altLang="fr-FR" sz="12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600" b="1" dirty="0">
                <a:latin typeface="Calibri" panose="020F0502020204030204" pitchFamily="34" charset="0"/>
                <a:cs typeface="Times New Roman" panose="02020603050405020304" pitchFamily="18" charset="0"/>
              </a:rPr>
              <a:t>2) </a:t>
            </a:r>
            <a:r>
              <a:rPr lang="fr-FR" altLang="fr-FR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Considérons les 6 points encadrés (pointillés)  de  C1 (1) et C2 (0) comme exemples d’entrainement pour un perceptron :</a:t>
            </a:r>
            <a:endParaRPr lang="fr-FR" altLang="fr-FR" sz="12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- Donner le schéma de ce perceptron</a:t>
            </a:r>
            <a:endParaRPr lang="fr-FR" altLang="fr-FR" sz="12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- Déterminer à l’aide de l’algorithme d’apprentissage l’hyperplan résultant </a:t>
            </a:r>
            <a:endParaRPr lang="fr-FR" altLang="fr-FR" sz="1200" dirty="0"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600" dirty="0">
                <a:solidFill>
                  <a:srgbClr val="0000FF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Indication : à chaque itération on utilise un exemple d’une manière alternative (tantôt C1 tantôt C2) en commençant par C1 et on s’arrête au dernier exemple introduit.</a:t>
            </a:r>
            <a:endParaRPr lang="fr-FR" altLang="fr-FR" sz="12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Char char="•"/>
            </a:pPr>
            <a:r>
              <a:rPr lang="fr-FR" altLang="fr-FR" sz="1600" dirty="0">
                <a:latin typeface="Calibri" panose="020F0502020204030204" pitchFamily="34" charset="0"/>
                <a:cs typeface="Times New Roman" panose="02020603050405020304" pitchFamily="18" charset="0"/>
              </a:rPr>
              <a:t>Comparer les 2 hyperplans et conclure.</a:t>
            </a:r>
            <a:endParaRPr lang="fr-FR" altLang="fr-FR" sz="3600" dirty="0">
              <a:latin typeface="Times New Roman" panose="02020603050405020304" pitchFamily="18" charset="0"/>
            </a:endParaRPr>
          </a:p>
        </p:txBody>
      </p:sp>
      <p:pic>
        <p:nvPicPr>
          <p:cNvPr id="38917" name="Picture 15">
            <a:extLst>
              <a:ext uri="{FF2B5EF4-FFF2-40B4-BE49-F238E27FC236}">
                <a16:creationId xmlns:a16="http://schemas.microsoft.com/office/drawing/2014/main" xmlns="" id="{A452D6CF-F0BB-4429-8594-4E9782EAB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5675" y="457201"/>
            <a:ext cx="5989638" cy="596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DC1AE90B-D1E2-4541-B501-1EEEAE7FB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17</a:t>
            </a:fld>
            <a:endParaRPr lang="fr-F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A5FDEEB-08B6-42FD-8DF3-367FF08A2D75}"/>
              </a:ext>
            </a:extLst>
          </p:cNvPr>
          <p:cNvSpPr/>
          <p:nvPr/>
        </p:nvSpPr>
        <p:spPr>
          <a:xfrm>
            <a:off x="1524001" y="260351"/>
            <a:ext cx="9039225" cy="646113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indent="-228600">
              <a:buFontTx/>
              <a:buAutoNum type="arabicParenR"/>
              <a:defRPr/>
            </a:pPr>
            <a:r>
              <a:rPr lang="fr-FR" altLang="fr-FR" sz="1200" dirty="0">
                <a:latin typeface="Calibri" panose="020F0502020204030204" pitchFamily="34" charset="0"/>
                <a:cs typeface="Times New Roman" panose="02020603050405020304" pitchFamily="18" charset="0"/>
              </a:rPr>
              <a:t>Donnez l'équation de l'hyperplan (droite) séparateur de deux classes de la figure.</a:t>
            </a:r>
          </a:p>
          <a:p>
            <a:pPr>
              <a:defRPr/>
            </a:pPr>
            <a:r>
              <a:rPr lang="fr-FR" altLang="fr-FR" sz="12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Il faut prendre juste 2 poids pour déterminer la droite, particulier  A(0,9) et B(9,0). Comme l’équation de la droite x2 = ax1+b  on a donc</a:t>
            </a:r>
          </a:p>
          <a:p>
            <a:pPr>
              <a:defRPr/>
            </a:pPr>
            <a:r>
              <a:rPr lang="fr-FR" altLang="fr-FR" sz="12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a=-1 et b= 9 . On peut écrire cette équation sous la forme : -</a:t>
            </a:r>
            <a:r>
              <a:rPr lang="fr-FR" altLang="fr-FR" sz="1200" b="1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x1 –x2 + 9 = 0</a:t>
            </a:r>
            <a:endParaRPr lang="fr-FR" altLang="fr-FR" sz="1050" b="1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1D652023-55B6-418A-9047-0FA12E64E078}"/>
              </a:ext>
            </a:extLst>
          </p:cNvPr>
          <p:cNvSpPr/>
          <p:nvPr/>
        </p:nvSpPr>
        <p:spPr>
          <a:xfrm>
            <a:off x="1524001" y="900113"/>
            <a:ext cx="5688013" cy="6477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Tx/>
              <a:buChar char="-"/>
              <a:defRPr/>
            </a:pPr>
            <a:r>
              <a:rPr lang="fr-FR" altLang="fr-FR" dirty="0">
                <a:latin typeface="Calibri" panose="020F0502020204030204" pitchFamily="34" charset="0"/>
                <a:cs typeface="Times New Roman" panose="02020603050405020304" pitchFamily="18" charset="0"/>
              </a:rPr>
              <a:t>Donner le schéma de ce perceptron</a:t>
            </a:r>
          </a:p>
          <a:p>
            <a:pPr>
              <a:defRPr/>
            </a:pPr>
            <a:r>
              <a:rPr lang="fr-FR" altLang="fr-FR" dirty="0">
                <a:latin typeface="Calibri" panose="020F0502020204030204" pitchFamily="34" charset="0"/>
                <a:cs typeface="Times New Roman" panose="02020603050405020304" pitchFamily="18" charset="0"/>
              </a:rPr>
              <a:t>Il y 2 entrée (x1 et x2) et l’entrée à 1 pour le seuil (ou biais)</a:t>
            </a:r>
            <a:endParaRPr lang="fr-FR" altLang="fr-FR" sz="1400" dirty="0"/>
          </a:p>
        </p:txBody>
      </p:sp>
      <p:sp>
        <p:nvSpPr>
          <p:cNvPr id="39940" name="Oval 3">
            <a:extLst>
              <a:ext uri="{FF2B5EF4-FFF2-40B4-BE49-F238E27FC236}">
                <a16:creationId xmlns:a16="http://schemas.microsoft.com/office/drawing/2014/main" xmlns="" id="{A1C0CBEB-8A14-4EAC-AE17-C8F1F76F8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175" y="1908175"/>
            <a:ext cx="503238" cy="558800"/>
          </a:xfrm>
          <a:prstGeom prst="ellipse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Times New Roman" panose="02020603050405020304" pitchFamily="18" charset="0"/>
                <a:sym typeface="Symbol" panose="05050102010706020507" pitchFamily="18" charset="2"/>
              </a:rPr>
              <a:t>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cxnSp>
        <p:nvCxnSpPr>
          <p:cNvPr id="39941" name="Straight Connector 5">
            <a:extLst>
              <a:ext uri="{FF2B5EF4-FFF2-40B4-BE49-F238E27FC236}">
                <a16:creationId xmlns:a16="http://schemas.microsoft.com/office/drawing/2014/main" xmlns="" id="{A98A4868-1615-4350-8434-75EB9A91D47D}"/>
              </a:ext>
            </a:extLst>
          </p:cNvPr>
          <p:cNvCxnSpPr>
            <a:cxnSpLocks/>
          </p:cNvCxnSpPr>
          <p:nvPr/>
        </p:nvCxnSpPr>
        <p:spPr bwMode="auto">
          <a:xfrm>
            <a:off x="3143250" y="1744664"/>
            <a:ext cx="368300" cy="2809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2" name="Straight Connector 6">
            <a:extLst>
              <a:ext uri="{FF2B5EF4-FFF2-40B4-BE49-F238E27FC236}">
                <a16:creationId xmlns:a16="http://schemas.microsoft.com/office/drawing/2014/main" xmlns="" id="{7A15E8E8-72DC-49D2-AB9F-06BBA3362EAA}"/>
              </a:ext>
            </a:extLst>
          </p:cNvPr>
          <p:cNvCxnSpPr>
            <a:cxnSpLocks/>
            <a:endCxn id="39940" idx="3"/>
          </p:cNvCxnSpPr>
          <p:nvPr/>
        </p:nvCxnSpPr>
        <p:spPr bwMode="auto">
          <a:xfrm flipV="1">
            <a:off x="2841626" y="2384425"/>
            <a:ext cx="663575" cy="2809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3" name="Straight Connector 7">
            <a:extLst>
              <a:ext uri="{FF2B5EF4-FFF2-40B4-BE49-F238E27FC236}">
                <a16:creationId xmlns:a16="http://schemas.microsoft.com/office/drawing/2014/main" xmlns="" id="{0EEB7831-7C57-4DCC-828A-9E08F811F7CC}"/>
              </a:ext>
            </a:extLst>
          </p:cNvPr>
          <p:cNvCxnSpPr>
            <a:cxnSpLocks/>
            <a:endCxn id="39940" idx="2"/>
          </p:cNvCxnSpPr>
          <p:nvPr/>
        </p:nvCxnSpPr>
        <p:spPr bwMode="auto">
          <a:xfrm>
            <a:off x="2782889" y="2025651"/>
            <a:ext cx="649287" cy="1619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944" name="Straight Connector 15">
            <a:extLst>
              <a:ext uri="{FF2B5EF4-FFF2-40B4-BE49-F238E27FC236}">
                <a16:creationId xmlns:a16="http://schemas.microsoft.com/office/drawing/2014/main" xmlns="" id="{D4691E52-EB23-4680-8BF5-CDD78CDA396E}"/>
              </a:ext>
            </a:extLst>
          </p:cNvPr>
          <p:cNvCxnSpPr>
            <a:cxnSpLocks/>
            <a:stCxn id="39940" idx="6"/>
          </p:cNvCxnSpPr>
          <p:nvPr/>
        </p:nvCxnSpPr>
        <p:spPr bwMode="auto">
          <a:xfrm>
            <a:off x="3935414" y="2187575"/>
            <a:ext cx="458787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45" name="Rectangle 22">
            <a:extLst>
              <a:ext uri="{FF2B5EF4-FFF2-40B4-BE49-F238E27FC236}">
                <a16:creationId xmlns:a16="http://schemas.microsoft.com/office/drawing/2014/main" xmlns="" id="{782ED645-D33C-454C-8D2D-73D8D37D3E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7925" y="1849439"/>
            <a:ext cx="3619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fr-FR" altLang="fr-FR" sz="1800" baseline="-25000" dirty="0"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lang="fr-FR" altLang="fr-FR" sz="1800" baseline="-25000" dirty="0">
              <a:latin typeface="Times New Roman" panose="02020603050405020304" pitchFamily="18" charset="0"/>
            </a:endParaRPr>
          </a:p>
        </p:txBody>
      </p:sp>
      <p:sp>
        <p:nvSpPr>
          <p:cNvPr id="39946" name="Rectangle 23">
            <a:extLst>
              <a:ext uri="{FF2B5EF4-FFF2-40B4-BE49-F238E27FC236}">
                <a16:creationId xmlns:a16="http://schemas.microsoft.com/office/drawing/2014/main" xmlns="" id="{B35DBE66-7683-4E88-A6EE-FB9962931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1100" y="2473325"/>
            <a:ext cx="3635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fr-FR" altLang="fr-FR" sz="1800" baseline="-25000"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fr-FR" altLang="fr-FR" sz="1800" baseline="-25000">
              <a:latin typeface="Times New Roman" panose="02020603050405020304" pitchFamily="18" charset="0"/>
            </a:endParaRPr>
          </a:p>
        </p:txBody>
      </p:sp>
      <p:sp>
        <p:nvSpPr>
          <p:cNvPr id="39947" name="Rectangle 24">
            <a:extLst>
              <a:ext uri="{FF2B5EF4-FFF2-40B4-BE49-F238E27FC236}">
                <a16:creationId xmlns:a16="http://schemas.microsoft.com/office/drawing/2014/main" xmlns="" id="{6B197518-A34C-4521-A789-9C80C0311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7951" y="1497014"/>
            <a:ext cx="6492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fr-FR" altLang="fr-FR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fr-FR" altLang="fr-FR" sz="1800" baseline="-25000" dirty="0">
                <a:latin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fr-FR" altLang="fr-FR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=1</a:t>
            </a:r>
            <a:endParaRPr lang="fr-FR" altLang="fr-FR" sz="1800" dirty="0">
              <a:latin typeface="Times New Roman" panose="02020603050405020304" pitchFamily="18" charset="0"/>
            </a:endParaRPr>
          </a:p>
        </p:txBody>
      </p:sp>
      <p:sp>
        <p:nvSpPr>
          <p:cNvPr id="39948" name="Rectangle 25">
            <a:extLst>
              <a:ext uri="{FF2B5EF4-FFF2-40B4-BE49-F238E27FC236}">
                <a16:creationId xmlns:a16="http://schemas.microsoft.com/office/drawing/2014/main" xmlns="" id="{56F9051A-4165-46B1-8BD3-513AE35FC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8" y="1920875"/>
            <a:ext cx="471494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 dirty="0">
                <a:latin typeface="Calibri" panose="020F0502020204030204" pitchFamily="34" charset="0"/>
                <a:cs typeface="Times New Roman" panose="02020603050405020304" pitchFamily="18" charset="0"/>
              </a:rPr>
              <a:t>o=f(</a:t>
            </a:r>
            <a:r>
              <a:rPr lang="fr-FR" altLang="fr-FR" sz="1800" dirty="0">
                <a:latin typeface="Times New Roman" panose="02020603050405020304" pitchFamily="18" charset="0"/>
                <a:sym typeface="Symbol" panose="05050102010706020507" pitchFamily="18" charset="2"/>
              </a:rPr>
              <a:t>) = 1 si   0 ; </a:t>
            </a:r>
            <a:r>
              <a:rPr lang="fr-FR" altLang="fr-FR" sz="1800" dirty="0">
                <a:latin typeface="Times New Roman" panose="02020603050405020304" pitchFamily="18" charset="0"/>
              </a:rPr>
              <a:t>0 sinon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fr-FR" altLang="fr-FR" sz="1800" dirty="0">
              <a:latin typeface="Times New Roman" panose="02020603050405020304" pitchFamily="18" charset="0"/>
            </a:endParaRPr>
          </a:p>
        </p:txBody>
      </p:sp>
      <p:sp>
        <p:nvSpPr>
          <p:cNvPr id="39949" name="Rectangle 26">
            <a:extLst>
              <a:ext uri="{FF2B5EF4-FFF2-40B4-BE49-F238E27FC236}">
                <a16:creationId xmlns:a16="http://schemas.microsoft.com/office/drawing/2014/main" xmlns="" id="{E6EE6934-AF38-41DC-AD2C-02D2730FE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5964" y="1611313"/>
            <a:ext cx="4270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fr-FR" altLang="fr-FR" sz="1800" baseline="-25000">
                <a:latin typeface="Calibri" panose="020F0502020204030204" pitchFamily="34" charset="0"/>
                <a:cs typeface="Times New Roman" panose="02020603050405020304" pitchFamily="18" charset="0"/>
              </a:rPr>
              <a:t>0</a:t>
            </a:r>
            <a:endParaRPr lang="fr-FR" altLang="fr-FR" sz="1800" baseline="-25000">
              <a:latin typeface="Times New Roman" panose="02020603050405020304" pitchFamily="18" charset="0"/>
            </a:endParaRPr>
          </a:p>
        </p:txBody>
      </p:sp>
      <p:sp>
        <p:nvSpPr>
          <p:cNvPr id="39950" name="Rectangle 27">
            <a:extLst>
              <a:ext uri="{FF2B5EF4-FFF2-40B4-BE49-F238E27FC236}">
                <a16:creationId xmlns:a16="http://schemas.microsoft.com/office/drawing/2014/main" xmlns="" id="{E5393FC7-B131-42B9-BE14-21DAB3D02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4164" y="2024064"/>
            <a:ext cx="428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fr-FR" altLang="fr-FR" sz="1800" baseline="-25000"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lang="fr-FR" altLang="fr-FR" sz="1800" baseline="-25000">
              <a:latin typeface="Times New Roman" panose="02020603050405020304" pitchFamily="18" charset="0"/>
            </a:endParaRPr>
          </a:p>
        </p:txBody>
      </p:sp>
      <p:sp>
        <p:nvSpPr>
          <p:cNvPr id="39951" name="Rectangle 28">
            <a:extLst>
              <a:ext uri="{FF2B5EF4-FFF2-40B4-BE49-F238E27FC236}">
                <a16:creationId xmlns:a16="http://schemas.microsoft.com/office/drawing/2014/main" xmlns="" id="{15A67D61-B78C-40A6-892E-665694C61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1651" y="2479675"/>
            <a:ext cx="428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>
                <a:latin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fr-FR" altLang="fr-FR" sz="1800" baseline="-25000"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endParaRPr lang="fr-FR" altLang="fr-FR" sz="1800" baseline="-25000">
              <a:latin typeface="Times New Roman" panose="02020603050405020304" pitchFamily="18" charset="0"/>
            </a:endParaRPr>
          </a:p>
        </p:txBody>
      </p:sp>
      <p:graphicFrame>
        <p:nvGraphicFramePr>
          <p:cNvPr id="30" name="Table 30">
            <a:extLst>
              <a:ext uri="{FF2B5EF4-FFF2-40B4-BE49-F238E27FC236}">
                <a16:creationId xmlns:a16="http://schemas.microsoft.com/office/drawing/2014/main" xmlns="" id="{8EAA1679-F052-43A6-8E7D-0C831030124E}"/>
              </a:ext>
            </a:extLst>
          </p:cNvPr>
          <p:cNvGraphicFramePr>
            <a:graphicFrameLocks noGrp="1"/>
          </p:cNvGraphicFramePr>
          <p:nvPr/>
        </p:nvGraphicFramePr>
        <p:xfrm>
          <a:off x="1498601" y="3473451"/>
          <a:ext cx="2365374" cy="2595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11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5578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3211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7057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7477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endParaRPr lang="fr-FR" sz="1800" dirty="0"/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altLang="fr-FR" sz="1800" dirty="0"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fr-FR" altLang="fr-FR" sz="1800" baseline="-25000" dirty="0"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fr-FR" sz="1800" dirty="0"/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altLang="fr-FR" sz="1800" dirty="0"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fr-FR" altLang="fr-FR" sz="1800" baseline="-25000" dirty="0"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fr-FR" sz="1800" dirty="0"/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altLang="fr-FR" sz="1800" dirty="0"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fr-FR" altLang="fr-FR" sz="1800" baseline="-25000" dirty="0"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fr-FR" sz="1800" dirty="0"/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sz="1200" dirty="0">
                          <a:solidFill>
                            <a:srgbClr val="0000FF"/>
                          </a:solidFill>
                        </a:rPr>
                        <a:t>Classe</a:t>
                      </a:r>
                    </a:p>
                  </a:txBody>
                  <a:tcPr marL="91455" marR="91455" marT="45714" marB="45714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1</a:t>
                      </a:r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3</a:t>
                      </a:r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3</a:t>
                      </a:r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0000FF"/>
                          </a:solidFill>
                        </a:rPr>
                        <a:t>0</a:t>
                      </a:r>
                    </a:p>
                  </a:txBody>
                  <a:tcPr marL="91455" marR="91455" marT="45714" marB="45714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1</a:t>
                      </a:r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4</a:t>
                      </a:r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2</a:t>
                      </a:r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0000FF"/>
                          </a:solidFill>
                        </a:rPr>
                        <a:t>0</a:t>
                      </a:r>
                    </a:p>
                  </a:txBody>
                  <a:tcPr marL="91455" marR="91455" marT="45714" marB="45714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1</a:t>
                      </a:r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4</a:t>
                      </a:r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4</a:t>
                      </a:r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0000FF"/>
                          </a:solidFill>
                        </a:rPr>
                        <a:t>0</a:t>
                      </a:r>
                    </a:p>
                  </a:txBody>
                  <a:tcPr marL="91455" marR="91455" marT="45714" marB="45714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1</a:t>
                      </a:r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6</a:t>
                      </a:r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6</a:t>
                      </a:r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55" marR="91455" marT="45714" marB="45714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1</a:t>
                      </a:r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6</a:t>
                      </a:r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8</a:t>
                      </a:r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55" marR="91455" marT="45714" marB="45714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1</a:t>
                      </a:r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7</a:t>
                      </a:r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8</a:t>
                      </a:r>
                    </a:p>
                  </a:txBody>
                  <a:tcPr marL="91455" marR="91455" marT="45714" marB="45714"/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L="91455" marR="91455" marT="45714" marB="45714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2C9020A7-F46A-450F-9EA0-9F3D15075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187" y="2900364"/>
            <a:ext cx="2619376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600">
                <a:latin typeface="Times New Roman" panose="02020603050405020304" pitchFamily="18" charset="0"/>
              </a:rPr>
              <a:t>L’échantillon d’apprentissage</a:t>
            </a:r>
          </a:p>
        </p:txBody>
      </p: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xmlns="" id="{F0A385F5-E1E8-47A4-A6E3-6B444ADC5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653132"/>
              </p:ext>
            </p:extLst>
          </p:nvPr>
        </p:nvGraphicFramePr>
        <p:xfrm>
          <a:off x="4238625" y="2900363"/>
          <a:ext cx="6095999" cy="2595565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6892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566384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371462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468923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</a:tblGrid>
              <a:tr h="370795">
                <a:tc>
                  <a:txBody>
                    <a:bodyPr/>
                    <a:lstStyle/>
                    <a:p>
                      <a:endParaRPr lang="fr-FR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w</a:t>
                      </a:r>
                      <a:r>
                        <a:rPr lang="fr-FR" sz="1400" baseline="-25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w</a:t>
                      </a:r>
                      <a:r>
                        <a:rPr lang="fr-FR" sz="1400" baseline="-25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w</a:t>
                      </a:r>
                      <a:r>
                        <a:rPr lang="fr-FR" sz="1400" baseline="-25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r>
                        <a:rPr lang="fr-F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Entrée</a:t>
                      </a:r>
                      <a:endParaRPr lang="fr-FR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Symbol" panose="05050102010706020507" pitchFamily="18" charset="2"/>
                        </a:rPr>
                        <a:t></a:t>
                      </a:r>
                      <a:endParaRPr lang="fr-FR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w</a:t>
                      </a:r>
                      <a:r>
                        <a:rPr lang="fr-FR" sz="1400" baseline="-25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w</a:t>
                      </a:r>
                      <a:r>
                        <a:rPr lang="fr-FR" sz="1400" baseline="-25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w</a:t>
                      </a:r>
                      <a:r>
                        <a:rPr lang="fr-FR" sz="1400" baseline="-25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1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3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3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0000FF"/>
                          </a:solidFill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1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6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6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1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6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6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1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6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6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1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4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4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59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0000FF"/>
                          </a:solidFill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2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2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2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2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1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6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8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28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2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2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2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2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1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4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2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12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0000FF"/>
                          </a:solidFill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-1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-2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795"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-1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-2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9900"/>
                          </a:solidFill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1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7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8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-15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>
                          <a:solidFill>
                            <a:srgbClr val="0000FF"/>
                          </a:solidFill>
                        </a:rPr>
                        <a:t>1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0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-1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800" dirty="0"/>
                        <a:t>1</a:t>
                      </a:r>
                    </a:p>
                  </a:txBody>
                  <a:tcPr marT="45714" marB="4571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7613BCEA-2A71-4C76-A392-DED49FF24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089" y="5553076"/>
            <a:ext cx="5297487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fontAlgn="t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600" b="1">
                <a:latin typeface="Calibri" panose="020F0502020204030204" pitchFamily="34" charset="0"/>
                <a:cs typeface="Calibri" panose="020F0502020204030204" pitchFamily="34" charset="0"/>
              </a:rPr>
              <a:t>L’hyperplan obtenu </a:t>
            </a:r>
          </a:p>
          <a:p>
            <a:pPr eaLnBrk="1" fontAlgn="t" hangingPunct="1">
              <a:spcBef>
                <a:spcPct val="0"/>
              </a:spcBef>
              <a:buClrTx/>
              <a:buSzTx/>
              <a:buFontTx/>
              <a:buNone/>
            </a:pPr>
            <a:endParaRPr lang="fr-FR" altLang="fr-FR" sz="1600" b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1" fontAlgn="t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600" b="1">
                <a:latin typeface="Calibri" panose="020F0502020204030204" pitchFamily="34" charset="0"/>
                <a:cs typeface="Calibri" panose="020F0502020204030204" pitchFamily="34" charset="0"/>
              </a:rPr>
              <a:t>Soit</a:t>
            </a:r>
          </a:p>
          <a:p>
            <a:pPr eaLnBrk="1" fontAlgn="t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600" b="1">
                <a:latin typeface="Calibri" panose="020F0502020204030204" pitchFamily="34" charset="0"/>
                <a:cs typeface="Calibri" panose="020F0502020204030204" pitchFamily="34" charset="0"/>
              </a:rPr>
              <a:t> Cela ne s’approche pas à la droite séparatrice (calculé en 1))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600" b="1">
                <a:latin typeface="Calibri" panose="020F0502020204030204" pitchFamily="34" charset="0"/>
                <a:cs typeface="Calibri" panose="020F0502020204030204" pitchFamily="34" charset="0"/>
              </a:rPr>
              <a:t>Donc il faut utiliser beaucoup d’autres exemples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xmlns="" id="{B64D42F7-5F05-4992-8775-589098D1E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3350" y="6030913"/>
            <a:ext cx="12588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 b="1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-x</a:t>
            </a:r>
            <a:r>
              <a:rPr lang="fr-FR" altLang="fr-FR" sz="1800" b="1" baseline="-2500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fr-FR" altLang="fr-FR" sz="1800" b="1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+ x</a:t>
            </a:r>
            <a:r>
              <a:rPr lang="fr-FR" altLang="fr-FR" sz="1800" b="1" baseline="-2500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fr-FR" altLang="fr-FR" sz="1800" b="1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=0</a:t>
            </a:r>
            <a:endParaRPr lang="fr-FR" altLang="fr-FR" sz="1800" b="1" baseline="-250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xmlns="" id="{0540F509-958F-437E-9F23-5C6D4C654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826" y="5575300"/>
            <a:ext cx="2663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7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3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6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5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48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48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FR" altLang="fr-FR" sz="1800" b="1">
                <a:latin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fr-FR" altLang="fr-FR" sz="1800" b="1" baseline="-25000">
                <a:latin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fr-FR" altLang="fr-FR" sz="1800" b="1">
                <a:latin typeface="Calibri" panose="020F0502020204030204" pitchFamily="34" charset="0"/>
                <a:cs typeface="Times New Roman" panose="02020603050405020304" pitchFamily="18" charset="0"/>
              </a:rPr>
              <a:t>*x</a:t>
            </a:r>
            <a:r>
              <a:rPr lang="fr-FR" altLang="fr-FR" sz="1800" b="1" baseline="-25000">
                <a:latin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fr-FR" altLang="fr-FR" sz="1800" b="1">
                <a:latin typeface="Calibri" panose="020F0502020204030204" pitchFamily="34" charset="0"/>
                <a:cs typeface="Times New Roman" panose="02020603050405020304" pitchFamily="18" charset="0"/>
              </a:rPr>
              <a:t> + w</a:t>
            </a:r>
            <a:r>
              <a:rPr lang="fr-FR" altLang="fr-FR" sz="1800" b="1" baseline="-25000"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fr-FR" altLang="fr-FR" sz="1800" b="1">
                <a:latin typeface="Calibri" panose="020F0502020204030204" pitchFamily="34" charset="0"/>
                <a:cs typeface="Times New Roman" panose="02020603050405020304" pitchFamily="18" charset="0"/>
              </a:rPr>
              <a:t>*x</a:t>
            </a:r>
            <a:r>
              <a:rPr lang="fr-FR" altLang="fr-FR" sz="1800" b="1" baseline="-25000">
                <a:latin typeface="Calibri" panose="020F0502020204030204" pitchFamily="34" charset="0"/>
                <a:cs typeface="Times New Roman" panose="02020603050405020304" pitchFamily="18" charset="0"/>
              </a:rPr>
              <a:t>1 </a:t>
            </a:r>
            <a:r>
              <a:rPr lang="fr-FR" altLang="fr-FR" sz="1800" b="1">
                <a:latin typeface="Calibri" panose="020F0502020204030204" pitchFamily="34" charset="0"/>
                <a:cs typeface="Times New Roman" panose="02020603050405020304" pitchFamily="18" charset="0"/>
              </a:rPr>
              <a:t>+ w</a:t>
            </a:r>
            <a:r>
              <a:rPr lang="fr-FR" altLang="fr-FR" sz="1800" b="1" baseline="-25000"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fr-FR" altLang="fr-FR" sz="1800" b="1">
                <a:latin typeface="Calibri" panose="020F0502020204030204" pitchFamily="34" charset="0"/>
                <a:cs typeface="Times New Roman" panose="02020603050405020304" pitchFamily="18" charset="0"/>
              </a:rPr>
              <a:t>*x</a:t>
            </a:r>
            <a:r>
              <a:rPr lang="fr-FR" altLang="fr-FR" sz="1800" b="1" baseline="-25000">
                <a:latin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fr-FR" altLang="fr-FR" sz="1800" b="1">
                <a:latin typeface="Calibri" panose="020F0502020204030204" pitchFamily="34" charset="0"/>
                <a:cs typeface="Times New Roman" panose="02020603050405020304" pitchFamily="18" charset="0"/>
              </a:rPr>
              <a:t>=0</a:t>
            </a:r>
            <a:endParaRPr lang="fr-FR" altLang="fr-FR" sz="1800" b="1" baseline="-25000"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51F57DD-6B96-4921-8DBA-C537CF1C3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18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5" grpId="0"/>
      <p:bldP spid="36" grpId="0"/>
      <p:bldP spid="3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xmlns="" id="{8D3DF6EF-1A94-4F49-8A25-228BA72DA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6AE51-5606-4246-9C72-66A40F31299F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5288973" y="2774373"/>
            <a:ext cx="1672936" cy="58477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3200" dirty="0" smtClean="0"/>
              <a:t>FIN</a:t>
            </a:r>
            <a:endParaRPr lang="fr-FR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6554</TotalTime>
  <Words>1660</Words>
  <Application>Microsoft Office PowerPoint</Application>
  <PresentationFormat>Personnalisé</PresentationFormat>
  <Paragraphs>454</Paragraphs>
  <Slides>19</Slides>
  <Notes>12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0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SADGAL MOHAMMED</dc:creator>
  <cp:lastModifiedBy>um6u</cp:lastModifiedBy>
  <cp:revision>66</cp:revision>
  <dcterms:created xsi:type="dcterms:W3CDTF">2020-04-01T17:03:15Z</dcterms:created>
  <dcterms:modified xsi:type="dcterms:W3CDTF">2024-03-06T11:21:47Z</dcterms:modified>
</cp:coreProperties>
</file>