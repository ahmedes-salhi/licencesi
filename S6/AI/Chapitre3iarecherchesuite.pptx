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349" r:id="rId2"/>
    <p:sldId id="257" r:id="rId3"/>
    <p:sldId id="258" r:id="rId4"/>
    <p:sldId id="259" r:id="rId5"/>
    <p:sldId id="260" r:id="rId6"/>
    <p:sldId id="261" r:id="rId7"/>
    <p:sldId id="368" r:id="rId8"/>
    <p:sldId id="367" r:id="rId9"/>
    <p:sldId id="373" r:id="rId10"/>
    <p:sldId id="374" r:id="rId11"/>
    <p:sldId id="375" r:id="rId12"/>
    <p:sldId id="262" r:id="rId13"/>
    <p:sldId id="263" r:id="rId14"/>
    <p:sldId id="264" r:id="rId15"/>
    <p:sldId id="350" r:id="rId16"/>
    <p:sldId id="351" r:id="rId17"/>
    <p:sldId id="352" r:id="rId18"/>
    <p:sldId id="357" r:id="rId19"/>
    <p:sldId id="358" r:id="rId20"/>
    <p:sldId id="364" r:id="rId21"/>
    <p:sldId id="365" r:id="rId22"/>
    <p:sldId id="366" r:id="rId23"/>
    <p:sldId id="266" r:id="rId24"/>
    <p:sldId id="335" r:id="rId25"/>
    <p:sldId id="267" r:id="rId26"/>
    <p:sldId id="269" r:id="rId27"/>
    <p:sldId id="271" r:id="rId28"/>
    <p:sldId id="272" r:id="rId29"/>
    <p:sldId id="273" r:id="rId30"/>
    <p:sldId id="282" r:id="rId31"/>
    <p:sldId id="284" r:id="rId32"/>
    <p:sldId id="287" r:id="rId33"/>
    <p:sldId id="288" r:id="rId34"/>
    <p:sldId id="290" r:id="rId35"/>
    <p:sldId id="289" r:id="rId36"/>
    <p:sldId id="336" r:id="rId37"/>
    <p:sldId id="292" r:id="rId38"/>
    <p:sldId id="332" r:id="rId39"/>
    <p:sldId id="295" r:id="rId40"/>
    <p:sldId id="324" r:id="rId41"/>
    <p:sldId id="325" r:id="rId42"/>
    <p:sldId id="327" r:id="rId43"/>
    <p:sldId id="328" r:id="rId44"/>
    <p:sldId id="329" r:id="rId45"/>
    <p:sldId id="377" r:id="rId46"/>
    <p:sldId id="340" r:id="rId47"/>
    <p:sldId id="342" r:id="rId48"/>
    <p:sldId id="376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500B9-8425-4776-863B-EA1E205E7909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B37D0-DAE1-4EF9-8067-0E707D91732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8805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3F66FB59-7F3F-94AC-C46B-43E31CC0CE1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56AC1E0-680D-4B2C-9117-1C36B6F892BF}" type="slidenum">
              <a:rPr lang="fr-FR" altLang="fr-FR">
                <a:solidFill>
                  <a:srgbClr val="000000"/>
                </a:solidFill>
              </a:rPr>
              <a:pPr/>
              <a:t>1</a:t>
            </a:fld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F17FAD03-74AE-2123-47B8-3FAF200A0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SzPct val="100000"/>
            </a:pPr>
            <a:fld id="{78B2DEDE-C718-40DF-95AC-A4DB9828E8EF}" type="slidenum">
              <a:rPr lang="fr-FR" altLang="fr-FR" sz="1200">
                <a:solidFill>
                  <a:srgbClr val="000000"/>
                </a:solidFill>
              </a:rPr>
              <a:pPr algn="r" eaLnBrk="1" hangingPunct="1">
                <a:buSzPct val="100000"/>
              </a:pPr>
              <a:t>1</a:t>
            </a:fld>
            <a:endParaRPr lang="fr-FR" altLang="fr-FR" sz="1200">
              <a:solidFill>
                <a:srgbClr val="000000"/>
              </a:solidFill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DB6703CF-A50B-D07E-AF1A-BF43B5EA06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C426D2EB-4618-75AE-F1FF-0ED802A7F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8170AA-BDD3-40D7-B754-EC1F422045D7}" type="slidenum">
              <a:rPr lang="fr-FR"/>
              <a:pPr/>
              <a:t>2</a:t>
            </a:fld>
            <a:endParaRPr lang="fr-FR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712897-E0A5-462E-AC7B-85674B5E5EBD}" type="slidenum">
              <a:rPr lang="fr-FR"/>
              <a:pPr/>
              <a:t>3</a:t>
            </a:fld>
            <a:endParaRPr lang="fr-FR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32AE93-0668-44A5-93C9-51032A54B109}" type="slidenum">
              <a:rPr lang="fr-FR"/>
              <a:pPr/>
              <a:t>4</a:t>
            </a:fld>
            <a:endParaRPr lang="fr-FR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DCBBB5-490B-4407-9C1F-25CCEC395EE4}" type="slidenum">
              <a:rPr lang="fr-FR"/>
              <a:pPr/>
              <a:t>5</a:t>
            </a:fld>
            <a:endParaRPr lang="fr-FR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6CF43E-5EBC-404E-A0E9-7B0C3EA89BFE}" type="slidenum">
              <a:rPr lang="fr-FR"/>
              <a:pPr/>
              <a:t>6</a:t>
            </a:fld>
            <a:endParaRPr lang="fr-FR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44768-2C73-4202-95A0-E31E3312C114}" type="slidenum">
              <a:rPr lang="fr-FR"/>
              <a:pPr/>
              <a:t>7</a:t>
            </a:fld>
            <a:endParaRPr lang="fr-FR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105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44768-2C73-4202-95A0-E31E3312C114}" type="slidenum">
              <a:rPr lang="fr-FR"/>
              <a:pPr/>
              <a:t>8</a:t>
            </a:fld>
            <a:endParaRPr lang="fr-FR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307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44768-2C73-4202-95A0-E31E3312C114}" type="slidenum">
              <a:rPr lang="fr-FR"/>
              <a:pPr/>
              <a:t>9</a:t>
            </a:fld>
            <a:endParaRPr lang="fr-FR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1081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44768-2C73-4202-95A0-E31E3312C114}" type="slidenum">
              <a:rPr lang="fr-FR"/>
              <a:pPr/>
              <a:t>10</a:t>
            </a:fld>
            <a:endParaRPr lang="fr-FR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952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44768-2C73-4202-95A0-E31E3312C114}" type="slidenum">
              <a:rPr lang="fr-FR"/>
              <a:pPr/>
              <a:t>11</a:t>
            </a:fld>
            <a:endParaRPr lang="fr-FR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5383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F67347-9326-434D-A5A3-2FD9F080A7A6}" type="slidenum">
              <a:rPr lang="fr-FR"/>
              <a:pPr/>
              <a:t>12</a:t>
            </a:fld>
            <a:endParaRPr lang="fr-FR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2313A0-09EF-4794-83F2-A45B780BAD92}" type="slidenum">
              <a:rPr lang="fr-FR"/>
              <a:pPr/>
              <a:t>13</a:t>
            </a:fld>
            <a:endParaRPr lang="fr-FR"/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F39DB4-BE1B-4E0E-B837-EF2FACDBD60A}" type="slidenum">
              <a:rPr lang="fr-FR"/>
              <a:pPr/>
              <a:t>14</a:t>
            </a:fld>
            <a:endParaRPr lang="fr-FR"/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44768-2C73-4202-95A0-E31E3312C114}" type="slidenum">
              <a:rPr lang="fr-FR"/>
              <a:pPr/>
              <a:t>15</a:t>
            </a:fld>
            <a:endParaRPr lang="fr-FR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54824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44768-2C73-4202-95A0-E31E3312C114}" type="slidenum">
              <a:rPr lang="fr-FR"/>
              <a:pPr/>
              <a:t>16</a:t>
            </a:fld>
            <a:endParaRPr lang="fr-FR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132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44768-2C73-4202-95A0-E31E3312C114}" type="slidenum">
              <a:rPr lang="fr-FR"/>
              <a:pPr/>
              <a:t>17</a:t>
            </a:fld>
            <a:endParaRPr lang="fr-FR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87935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44768-2C73-4202-95A0-E31E3312C114}" type="slidenum">
              <a:rPr lang="fr-FR"/>
              <a:pPr/>
              <a:t>18</a:t>
            </a:fld>
            <a:endParaRPr lang="fr-FR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59016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44768-2C73-4202-95A0-E31E3312C114}" type="slidenum">
              <a:rPr lang="fr-FR"/>
              <a:pPr/>
              <a:t>19</a:t>
            </a:fld>
            <a:endParaRPr lang="fr-FR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05389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44768-2C73-4202-95A0-E31E3312C114}" type="slidenum">
              <a:rPr lang="fr-FR"/>
              <a:pPr/>
              <a:t>20</a:t>
            </a:fld>
            <a:endParaRPr lang="fr-FR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39365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44768-2C73-4202-95A0-E31E3312C114}" type="slidenum">
              <a:rPr lang="fr-FR"/>
              <a:pPr/>
              <a:t>21</a:t>
            </a:fld>
            <a:endParaRPr lang="fr-FR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2743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44768-2C73-4202-95A0-E31E3312C114}" type="slidenum">
              <a:rPr lang="fr-FR"/>
              <a:pPr/>
              <a:t>22</a:t>
            </a:fld>
            <a:endParaRPr lang="fr-FR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19738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887C5B-C527-4CAC-BB90-A41095BEC9A9}" type="slidenum">
              <a:rPr lang="fr-FR"/>
              <a:pPr/>
              <a:t>23</a:t>
            </a:fld>
            <a:endParaRPr lang="fr-FR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06DCE8-4E32-4B0D-A734-649E4FE6C864}" type="slidenum">
              <a:rPr lang="fr-FR"/>
              <a:pPr/>
              <a:t>25</a:t>
            </a:fld>
            <a:endParaRPr lang="fr-FR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34E4A8-2580-4B4C-816A-6390A19306DA}" type="slidenum">
              <a:rPr lang="fr-FR"/>
              <a:pPr/>
              <a:t>26</a:t>
            </a:fld>
            <a:endParaRPr lang="fr-FR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6F6F32-D6C7-487F-A95E-F4CB2E2986CC}" type="slidenum">
              <a:rPr lang="fr-FR"/>
              <a:pPr/>
              <a:t>27</a:t>
            </a:fld>
            <a:endParaRPr lang="fr-FR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7D010E-FCB0-4ADC-BF23-B38434DAE716}" type="slidenum">
              <a:rPr lang="fr-FR"/>
              <a:pPr/>
              <a:t>28</a:t>
            </a:fld>
            <a:endParaRPr lang="fr-FR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D32F7A-8949-470E-A362-1677BA028EAA}" type="slidenum">
              <a:rPr lang="fr-FR"/>
              <a:pPr/>
              <a:t>29</a:t>
            </a:fld>
            <a:endParaRPr lang="fr-FR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BAD2C3-4FFE-4D20-B641-FCD09F1C5D60}" type="slidenum">
              <a:rPr lang="fr-FR"/>
              <a:pPr/>
              <a:t>30</a:t>
            </a:fld>
            <a:endParaRPr lang="fr-FR"/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05D503-D321-47D2-88CE-8D925D6E7F94}" type="slidenum">
              <a:rPr lang="fr-FR"/>
              <a:pPr/>
              <a:t>31</a:t>
            </a:fld>
            <a:endParaRPr lang="fr-FR"/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D7A3E1-F359-4904-A1E2-7437F0AECAB4}" type="slidenum">
              <a:rPr lang="fr-FR"/>
              <a:pPr/>
              <a:t>32</a:t>
            </a:fld>
            <a:endParaRPr lang="fr-FR"/>
          </a:p>
        </p:txBody>
      </p:sp>
      <p:sp>
        <p:nvSpPr>
          <p:cNvPr id="202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B590A7-F866-4F16-BC96-98D60C16977C}" type="slidenum">
              <a:rPr lang="fr-FR"/>
              <a:pPr/>
              <a:t>33</a:t>
            </a:fld>
            <a:endParaRPr lang="fr-FR"/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C8EFE2-3213-4426-B37B-EDA4C284D7C9}" type="slidenum">
              <a:rPr lang="fr-FR"/>
              <a:pPr/>
              <a:t>34</a:t>
            </a:fld>
            <a:endParaRPr lang="fr-FR"/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036A7A-E23F-49E7-91EC-4202328BFBA0}" type="slidenum">
              <a:rPr lang="fr-FR"/>
              <a:pPr/>
              <a:t>35</a:t>
            </a:fld>
            <a:endParaRPr lang="fr-FR"/>
          </a:p>
        </p:txBody>
      </p:sp>
      <p:sp>
        <p:nvSpPr>
          <p:cNvPr id="20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1373CB-C809-425A-A22A-8E1AFE2C9397}" type="slidenum">
              <a:rPr lang="fr-FR"/>
              <a:pPr/>
              <a:t>36</a:t>
            </a:fld>
            <a:endParaRPr lang="fr-FR"/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01007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97C1D7-CA1A-4ED7-9449-DDDB844DA250}" type="slidenum">
              <a:rPr lang="fr-FR"/>
              <a:pPr/>
              <a:t>37</a:t>
            </a:fld>
            <a:endParaRPr lang="fr-FR"/>
          </a:p>
        </p:txBody>
      </p:sp>
      <p:sp>
        <p:nvSpPr>
          <p:cNvPr id="207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060786-22A3-43A2-8ABB-E0215FA1EE39}" type="slidenum">
              <a:rPr lang="fr-FR"/>
              <a:pPr/>
              <a:t>39</a:t>
            </a:fld>
            <a:endParaRPr lang="fr-FR"/>
          </a:p>
        </p:txBody>
      </p:sp>
      <p:sp>
        <p:nvSpPr>
          <p:cNvPr id="21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57546A-8887-47F3-A765-CE1333078C37}" type="slidenum">
              <a:rPr lang="fr-FR"/>
              <a:pPr/>
              <a:t>40</a:t>
            </a:fld>
            <a:endParaRPr lang="fr-FR"/>
          </a:p>
        </p:txBody>
      </p:sp>
      <p:sp>
        <p:nvSpPr>
          <p:cNvPr id="21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1373CB-C809-425A-A22A-8E1AFE2C9397}" type="slidenum">
              <a:rPr lang="fr-FR"/>
              <a:pPr/>
              <a:t>41</a:t>
            </a:fld>
            <a:endParaRPr lang="fr-FR"/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47FBD4-1E9E-44F6-9AD3-A28DAE02C24F}" type="slidenum">
              <a:rPr lang="fr-FR"/>
              <a:pPr/>
              <a:t>42</a:t>
            </a:fld>
            <a:endParaRPr lang="fr-FR"/>
          </a:p>
        </p:txBody>
      </p:sp>
      <p:sp>
        <p:nvSpPr>
          <p:cNvPr id="216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E4E545-8D9B-4375-A331-A0377F34B401}" type="slidenum">
              <a:rPr lang="fr-FR"/>
              <a:pPr/>
              <a:t>43</a:t>
            </a:fld>
            <a:endParaRPr lang="fr-FR"/>
          </a:p>
        </p:txBody>
      </p:sp>
      <p:sp>
        <p:nvSpPr>
          <p:cNvPr id="217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4588D0-D102-416C-9367-78AA7F197B8E}" type="slidenum">
              <a:rPr lang="fr-FR"/>
              <a:pPr/>
              <a:t>44</a:t>
            </a:fld>
            <a:endParaRPr lang="fr-FR"/>
          </a:p>
        </p:txBody>
      </p:sp>
      <p:sp>
        <p:nvSpPr>
          <p:cNvPr id="218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4337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2513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915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14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498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945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21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3203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2545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291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0222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149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9887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0480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1149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2903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5B339-469F-45EE-9606-45AEA5B340C5}" type="datetimeFigureOut">
              <a:rPr lang="fr-FR" smtClean="0"/>
              <a:pPr/>
              <a:t>29/02/2024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33D84BA-3AF7-4D82-8CFD-44B6A8F8E64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536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wmf"/><Relationship Id="rId12" Type="http://schemas.openxmlformats.org/officeDocument/2006/relationships/image" Target="../media/image19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wmf"/><Relationship Id="rId11" Type="http://schemas.openxmlformats.org/officeDocument/2006/relationships/image" Target="../media/image18.wmf"/><Relationship Id="rId5" Type="http://schemas.openxmlformats.org/officeDocument/2006/relationships/image" Target="../media/image12.wmf"/><Relationship Id="rId10" Type="http://schemas.openxmlformats.org/officeDocument/2006/relationships/image" Target="../media/image17.wmf"/><Relationship Id="rId4" Type="http://schemas.openxmlformats.org/officeDocument/2006/relationships/image" Target="../media/image11.png"/><Relationship Id="rId9" Type="http://schemas.openxmlformats.org/officeDocument/2006/relationships/image" Target="../media/image16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id="{704CB966-F574-5E17-3883-0312A2FEE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133600"/>
            <a:ext cx="7704137" cy="2987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SzPct val="100000"/>
            </a:pPr>
            <a:r>
              <a:rPr lang="fr-FR" altLang="fr-FR" sz="4000" dirty="0">
                <a:solidFill>
                  <a:srgbClr val="000000"/>
                </a:solidFill>
              </a:rPr>
              <a:t>Chapitre 3. -suite</a:t>
            </a:r>
          </a:p>
          <a:p>
            <a:pPr algn="ctr" eaLnBrk="1" hangingPunct="1">
              <a:buSzPct val="100000"/>
            </a:pPr>
            <a:r>
              <a:rPr lang="fr-FR" altLang="fr-FR" sz="4000" dirty="0">
                <a:solidFill>
                  <a:srgbClr val="000000"/>
                </a:solidFill>
              </a:rPr>
              <a:t>Intelligence Artificielle</a:t>
            </a:r>
          </a:p>
          <a:p>
            <a:pPr algn="ctr" eaLnBrk="1" hangingPunct="1">
              <a:buSzPct val="100000"/>
            </a:pPr>
            <a:r>
              <a:rPr lang="fr-CA" altLang="fr-FR" sz="3600" dirty="0">
                <a:solidFill>
                  <a:srgbClr val="000000"/>
                </a:solidFill>
              </a:rPr>
              <a:t>Résolution des Problèmes</a:t>
            </a:r>
          </a:p>
          <a:p>
            <a:pPr algn="ctr" eaLnBrk="1" hangingPunct="1">
              <a:buSzPct val="100000"/>
            </a:pPr>
            <a:r>
              <a:rPr lang="fr-CA" altLang="fr-FR" sz="3600" dirty="0">
                <a:solidFill>
                  <a:srgbClr val="000000"/>
                </a:solidFill>
              </a:rPr>
              <a:t>(Recherche)- suite</a:t>
            </a:r>
          </a:p>
          <a:p>
            <a:pPr algn="ctr" eaLnBrk="1" hangingPunct="1">
              <a:buSzPct val="100000"/>
            </a:pPr>
            <a:endParaRPr lang="fr-FR" altLang="fr-FR" sz="3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/>
          <p:cNvSpPr>
            <a:spLocks noChangeArrowheads="1"/>
          </p:cNvSpPr>
          <p:nvPr/>
        </p:nvSpPr>
        <p:spPr bwMode="auto">
          <a:xfrm>
            <a:off x="323528" y="2132112"/>
            <a:ext cx="8208912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6000" i="1" dirty="0">
                <a:solidFill>
                  <a:srgbClr val="0066FF"/>
                </a:solidFill>
              </a:rPr>
              <a:t>Algorithmes de recherche heuristiques</a:t>
            </a:r>
          </a:p>
          <a:p>
            <a:pPr algn="ctr"/>
            <a:r>
              <a:rPr lang="fr-FR" sz="6000" i="1" dirty="0">
                <a:solidFill>
                  <a:srgbClr val="0066FF"/>
                </a:solidFill>
              </a:rPr>
              <a:t>(informés)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4"/>
          <p:cNvSpPr>
            <a:spLocks noChangeArrowheads="1"/>
          </p:cNvSpPr>
          <p:nvPr/>
        </p:nvSpPr>
        <p:spPr bwMode="auto">
          <a:xfrm>
            <a:off x="179388" y="993775"/>
            <a:ext cx="8964612" cy="458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2800" b="1" dirty="0"/>
              <a:t>Méthodes de recherche heuristiques</a:t>
            </a:r>
          </a:p>
          <a:p>
            <a:pPr algn="l"/>
            <a:endParaRPr lang="fr-FR" sz="2400" dirty="0"/>
          </a:p>
          <a:p>
            <a:pPr algn="l"/>
            <a:endParaRPr lang="fr-FR" sz="2400" dirty="0"/>
          </a:p>
          <a:p>
            <a:pPr algn="l"/>
            <a:r>
              <a:rPr lang="fr-FR" b="0" dirty="0"/>
              <a:t>• Les algorithmes de recherche aveugle </a:t>
            </a:r>
            <a:r>
              <a:rPr lang="fr-FR" b="0" dirty="0">
                <a:solidFill>
                  <a:srgbClr val="FF0000"/>
                </a:solidFill>
              </a:rPr>
              <a:t>n'exploitent aucune information </a:t>
            </a:r>
            <a:r>
              <a:rPr lang="fr-FR" b="0" dirty="0"/>
              <a:t>concernant la </a:t>
            </a:r>
            <a:r>
              <a:rPr lang="fr-FR" b="0" dirty="0">
                <a:solidFill>
                  <a:srgbClr val="FF0000"/>
                </a:solidFill>
              </a:rPr>
              <a:t>structure de l'arbre </a:t>
            </a:r>
            <a:r>
              <a:rPr lang="fr-FR" b="0" dirty="0"/>
              <a:t>de recherche ou la présence potentielle de nœuds-solution pour optimiser la recherche.</a:t>
            </a:r>
          </a:p>
          <a:p>
            <a:pPr algn="l"/>
            <a:endParaRPr lang="fr-FR" b="0" dirty="0"/>
          </a:p>
          <a:p>
            <a:pPr algn="l"/>
            <a:r>
              <a:rPr lang="fr-FR" b="0" dirty="0"/>
              <a:t>• La plupart des problèmes réels sont susceptibles de provoquer </a:t>
            </a:r>
            <a:r>
              <a:rPr lang="fr-FR" b="0" dirty="0">
                <a:solidFill>
                  <a:srgbClr val="FF0000"/>
                </a:solidFill>
              </a:rPr>
              <a:t>une explosion combinatoire </a:t>
            </a:r>
            <a:r>
              <a:rPr lang="fr-FR" b="0" dirty="0"/>
              <a:t>du nombre d'états possibles.</a:t>
            </a:r>
          </a:p>
          <a:p>
            <a:pPr algn="l"/>
            <a:endParaRPr lang="fr-FR" b="0" dirty="0"/>
          </a:p>
          <a:p>
            <a:pPr algn="l"/>
            <a:r>
              <a:rPr lang="fr-FR" b="0" dirty="0"/>
              <a:t>• Un algorithme de </a:t>
            </a:r>
            <a:r>
              <a:rPr lang="fr-FR" b="0" dirty="0">
                <a:solidFill>
                  <a:srgbClr val="FF0000"/>
                </a:solidFill>
              </a:rPr>
              <a:t>recherche heuristique </a:t>
            </a:r>
            <a:r>
              <a:rPr lang="fr-FR" b="0" dirty="0"/>
              <a:t>utilise l'information disponible pour rendre le processus de recherche plus efficace.</a:t>
            </a:r>
          </a:p>
          <a:p>
            <a:pPr algn="l"/>
            <a:endParaRPr lang="fr-FR" b="0" dirty="0"/>
          </a:p>
          <a:p>
            <a:pPr algn="l"/>
            <a:r>
              <a:rPr lang="fr-FR" b="0" dirty="0"/>
              <a:t>• Une information heuristique est </a:t>
            </a:r>
            <a:r>
              <a:rPr lang="fr-FR" b="0" dirty="0">
                <a:solidFill>
                  <a:srgbClr val="FF0000"/>
                </a:solidFill>
              </a:rPr>
              <a:t>une règle ou une méthode qui améliore, presque toujours</a:t>
            </a:r>
            <a:r>
              <a:rPr lang="fr-FR" b="0" dirty="0"/>
              <a:t>, le processus de recherche.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/>
          <p:cNvSpPr>
            <a:spLocks noChangeArrowheads="1"/>
          </p:cNvSpPr>
          <p:nvPr/>
        </p:nvSpPr>
        <p:spPr bwMode="auto">
          <a:xfrm>
            <a:off x="166688" y="748608"/>
            <a:ext cx="8713787" cy="467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2800" b="1" dirty="0"/>
              <a:t>Fonction heuristique</a:t>
            </a:r>
            <a:endParaRPr lang="fr-FR" b="0" dirty="0"/>
          </a:p>
          <a:p>
            <a:pPr algn="l"/>
            <a:endParaRPr lang="fr-FR" dirty="0"/>
          </a:p>
          <a:p>
            <a:pPr algn="l"/>
            <a:r>
              <a:rPr lang="fr-FR" b="0" dirty="0"/>
              <a:t>• Une fonction h heuristique est définie : </a:t>
            </a:r>
          </a:p>
          <a:p>
            <a:pPr algn="ctr"/>
            <a:r>
              <a:rPr lang="fr-FR" i="1" dirty="0"/>
              <a:t>             h </a:t>
            </a:r>
            <a:r>
              <a:rPr lang="fr-FR" dirty="0"/>
              <a:t>: </a:t>
            </a:r>
            <a:r>
              <a:rPr lang="fr-FR" b="0" i="1" dirty="0"/>
              <a:t>E(états) </a:t>
            </a:r>
            <a:r>
              <a:rPr lang="fr-FR" b="0" dirty="0"/>
              <a:t>→ </a:t>
            </a:r>
            <a:r>
              <a:rPr lang="fr-FR" b="0" i="1" dirty="0"/>
              <a:t>IR </a:t>
            </a:r>
          </a:p>
          <a:p>
            <a:pPr lvl="1"/>
            <a:r>
              <a:rPr lang="fr-FR" b="0" dirty="0"/>
              <a:t>fait correspondre à un état </a:t>
            </a:r>
            <a:r>
              <a:rPr lang="fr-FR" i="1" dirty="0"/>
              <a:t>s </a:t>
            </a:r>
            <a:r>
              <a:rPr lang="fr-FR" b="0" dirty="0"/>
              <a:t>∈ </a:t>
            </a:r>
            <a:r>
              <a:rPr lang="fr-FR" b="0" i="1" dirty="0"/>
              <a:t>E </a:t>
            </a:r>
            <a:r>
              <a:rPr lang="fr-FR" b="0" dirty="0"/>
              <a:t>(espace d'états) un nombre </a:t>
            </a:r>
            <a:r>
              <a:rPr lang="fr-FR" i="1" dirty="0"/>
              <a:t>h(s) </a:t>
            </a:r>
            <a:r>
              <a:rPr lang="fr-FR" b="0" dirty="0"/>
              <a:t>∈ </a:t>
            </a:r>
            <a:r>
              <a:rPr lang="fr-FR" b="0" i="1" dirty="0"/>
              <a:t>IR </a:t>
            </a:r>
            <a:r>
              <a:rPr lang="fr-FR" b="0" dirty="0"/>
              <a:t>qui est (généralement) une estimation du rapport </a:t>
            </a:r>
            <a:r>
              <a:rPr lang="fr-FR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coût/bénéfice</a:t>
            </a:r>
            <a:r>
              <a:rPr lang="fr-FR" b="0" dirty="0"/>
              <a:t> qu'il y a à étendre le chemin courant en passant par </a:t>
            </a:r>
            <a:r>
              <a:rPr lang="fr-FR" i="1" dirty="0"/>
              <a:t>s</a:t>
            </a:r>
            <a:r>
              <a:rPr lang="fr-FR" b="0" dirty="0"/>
              <a:t>.</a:t>
            </a:r>
          </a:p>
          <a:p>
            <a:pPr algn="l"/>
            <a:endParaRPr lang="fr-FR" b="0" dirty="0"/>
          </a:p>
          <a:p>
            <a:pPr algn="l"/>
            <a:r>
              <a:rPr lang="fr-FR" b="0" dirty="0"/>
              <a:t>• Contrainte: </a:t>
            </a:r>
            <a:r>
              <a:rPr lang="fr-FR" b="0" i="1" dirty="0"/>
              <a:t>h(solution) </a:t>
            </a:r>
            <a:r>
              <a:rPr lang="fr-FR" b="0" dirty="0"/>
              <a:t>= 0</a:t>
            </a:r>
          </a:p>
          <a:p>
            <a:pPr algn="l"/>
            <a:endParaRPr lang="fr-FR" b="0" dirty="0"/>
          </a:p>
          <a:p>
            <a:pPr algn="l"/>
            <a:r>
              <a:rPr lang="fr-FR" b="0" dirty="0"/>
              <a:t>• Le </a:t>
            </a:r>
            <a:r>
              <a:rPr lang="fr-FR" b="0" dirty="0" err="1"/>
              <a:t>noeud</a:t>
            </a:r>
            <a:r>
              <a:rPr lang="fr-FR" b="0" dirty="0"/>
              <a:t> A a 3 successeurs pour lesquels:</a:t>
            </a:r>
          </a:p>
          <a:p>
            <a:pPr algn="l"/>
            <a:endParaRPr lang="fr-FR" b="0" i="1" dirty="0"/>
          </a:p>
          <a:p>
            <a:pPr algn="l"/>
            <a:r>
              <a:rPr lang="fr-FR" b="0" i="1" dirty="0">
                <a:solidFill>
                  <a:srgbClr val="FF3300"/>
                </a:solidFill>
              </a:rPr>
              <a:t>h(s1) </a:t>
            </a:r>
            <a:r>
              <a:rPr lang="fr-FR" b="0" dirty="0">
                <a:solidFill>
                  <a:srgbClr val="FF3300"/>
                </a:solidFill>
              </a:rPr>
              <a:t>= 0.8   </a:t>
            </a:r>
            <a:r>
              <a:rPr lang="fr-FR" b="0" i="1" dirty="0">
                <a:solidFill>
                  <a:srgbClr val="FF3300"/>
                </a:solidFill>
              </a:rPr>
              <a:t>h(s2) </a:t>
            </a:r>
            <a:r>
              <a:rPr lang="fr-FR" b="0" dirty="0">
                <a:solidFill>
                  <a:srgbClr val="FF3300"/>
                </a:solidFill>
              </a:rPr>
              <a:t>= 2.0     </a:t>
            </a:r>
            <a:r>
              <a:rPr lang="fr-FR" b="0" i="1" dirty="0">
                <a:solidFill>
                  <a:srgbClr val="FF3300"/>
                </a:solidFill>
              </a:rPr>
              <a:t>h(s3) </a:t>
            </a:r>
            <a:r>
              <a:rPr lang="fr-FR" b="0" dirty="0">
                <a:solidFill>
                  <a:srgbClr val="FF3300"/>
                </a:solidFill>
              </a:rPr>
              <a:t>= 1.6</a:t>
            </a:r>
          </a:p>
          <a:p>
            <a:pPr algn="l"/>
            <a:endParaRPr lang="fr-FR" b="0" dirty="0">
              <a:solidFill>
                <a:srgbClr val="FF3300"/>
              </a:solidFill>
            </a:endParaRPr>
          </a:p>
          <a:p>
            <a:pPr algn="l"/>
            <a:r>
              <a:rPr lang="fr-FR" b="0" dirty="0"/>
              <a:t>• la poursuite de la recherche par </a:t>
            </a:r>
            <a:r>
              <a:rPr lang="fr-FR" b="0" i="1" dirty="0"/>
              <a:t>s1</a:t>
            </a:r>
          </a:p>
          <a:p>
            <a:pPr algn="l"/>
            <a:r>
              <a:rPr lang="fr-FR" b="0" dirty="0"/>
              <a:t>est heuristiquement la meilleure</a:t>
            </a:r>
          </a:p>
        </p:txBody>
      </p:sp>
      <p:pic>
        <p:nvPicPr>
          <p:cNvPr id="5734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84734" y="3514427"/>
            <a:ext cx="1727200" cy="153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llipse 1"/>
          <p:cNvSpPr>
            <a:spLocks noChangeArrowheads="1"/>
          </p:cNvSpPr>
          <p:nvPr/>
        </p:nvSpPr>
        <p:spPr bwMode="auto">
          <a:xfrm>
            <a:off x="8596313" y="3422573"/>
            <a:ext cx="215900" cy="215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dirty="0"/>
              <a:t>A</a:t>
            </a:r>
          </a:p>
        </p:txBody>
      </p:sp>
      <p:sp>
        <p:nvSpPr>
          <p:cNvPr id="6" name="Ellipse 5"/>
          <p:cNvSpPr>
            <a:spLocks noChangeArrowheads="1"/>
          </p:cNvSpPr>
          <p:nvPr/>
        </p:nvSpPr>
        <p:spPr bwMode="auto">
          <a:xfrm>
            <a:off x="7319963" y="4930698"/>
            <a:ext cx="217487" cy="215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dirty="0"/>
              <a:t>n’</a:t>
            </a:r>
          </a:p>
        </p:txBody>
      </p:sp>
      <p:sp>
        <p:nvSpPr>
          <p:cNvPr id="7" name="Ellipse 6"/>
          <p:cNvSpPr>
            <a:spLocks noChangeArrowheads="1"/>
          </p:cNvSpPr>
          <p:nvPr/>
        </p:nvSpPr>
        <p:spPr bwMode="auto">
          <a:xfrm>
            <a:off x="7083425" y="5703811"/>
            <a:ext cx="215900" cy="215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dirty="0"/>
              <a:t>n</a:t>
            </a:r>
          </a:p>
        </p:txBody>
      </p:sp>
      <p:sp>
        <p:nvSpPr>
          <p:cNvPr id="8" name="Ellipse 7"/>
          <p:cNvSpPr>
            <a:spLocks noChangeArrowheads="1"/>
          </p:cNvSpPr>
          <p:nvPr/>
        </p:nvSpPr>
        <p:spPr bwMode="auto">
          <a:xfrm>
            <a:off x="8380413" y="4144886"/>
            <a:ext cx="215900" cy="215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dirty="0"/>
              <a:t>b</a:t>
            </a:r>
          </a:p>
        </p:txBody>
      </p:sp>
      <p:sp>
        <p:nvSpPr>
          <p:cNvPr id="9" name="Ellipse 8"/>
          <p:cNvSpPr>
            <a:spLocks noChangeArrowheads="1"/>
          </p:cNvSpPr>
          <p:nvPr/>
        </p:nvSpPr>
        <p:spPr bwMode="auto">
          <a:xfrm>
            <a:off x="5508104" y="6381328"/>
            <a:ext cx="215900" cy="215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dirty="0"/>
              <a:t>G</a:t>
            </a:r>
          </a:p>
        </p:txBody>
      </p:sp>
      <p:cxnSp>
        <p:nvCxnSpPr>
          <p:cNvPr id="10" name="Connecteur droit avec flèche 3"/>
          <p:cNvCxnSpPr>
            <a:cxnSpLocks noChangeShapeType="1"/>
            <a:stCxn id="5" idx="4"/>
            <a:endCxn id="8" idx="0"/>
          </p:cNvCxnSpPr>
          <p:nvPr/>
        </p:nvCxnSpPr>
        <p:spPr bwMode="auto">
          <a:xfrm flipH="1">
            <a:off x="8488363" y="3638473"/>
            <a:ext cx="215900" cy="50641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1" name="Connecteur droit avec flèche 9"/>
          <p:cNvCxnSpPr>
            <a:cxnSpLocks noChangeShapeType="1"/>
            <a:stCxn id="8" idx="4"/>
            <a:endCxn id="16" idx="7"/>
          </p:cNvCxnSpPr>
          <p:nvPr/>
        </p:nvCxnSpPr>
        <p:spPr bwMode="auto">
          <a:xfrm flipH="1">
            <a:off x="8164513" y="4360786"/>
            <a:ext cx="323850" cy="2698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cxnSp>
        <p:nvCxnSpPr>
          <p:cNvPr id="12" name="Connecteur droit avec flèche 13"/>
          <p:cNvCxnSpPr>
            <a:cxnSpLocks noChangeShapeType="1"/>
            <a:stCxn id="17" idx="3"/>
          </p:cNvCxnSpPr>
          <p:nvPr/>
        </p:nvCxnSpPr>
        <p:spPr bwMode="auto">
          <a:xfrm flipH="1">
            <a:off x="7537450" y="4737023"/>
            <a:ext cx="511175" cy="2889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cxnSp>
        <p:nvCxnSpPr>
          <p:cNvPr id="13" name="Connecteur droit avec flèche 14"/>
          <p:cNvCxnSpPr>
            <a:cxnSpLocks noChangeShapeType="1"/>
            <a:stCxn id="6" idx="4"/>
            <a:endCxn id="7" idx="7"/>
          </p:cNvCxnSpPr>
          <p:nvPr/>
        </p:nvCxnSpPr>
        <p:spPr bwMode="auto">
          <a:xfrm flipH="1">
            <a:off x="7267575" y="5146598"/>
            <a:ext cx="161925" cy="5889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4" name="Connecteur droit avec flèche 18"/>
          <p:cNvCxnSpPr>
            <a:cxnSpLocks noChangeShapeType="1"/>
          </p:cNvCxnSpPr>
          <p:nvPr/>
        </p:nvCxnSpPr>
        <p:spPr bwMode="auto">
          <a:xfrm flipH="1">
            <a:off x="6686550" y="5799061"/>
            <a:ext cx="396875" cy="2444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7108825" y="5256136"/>
            <a:ext cx="6096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 sz="1200" b="0">
                <a:solidFill>
                  <a:srgbClr val="FF3300"/>
                </a:solidFill>
              </a:rPr>
              <a:t>c(n’,n)</a:t>
            </a:r>
            <a:endParaRPr lang="fr-FR" sz="1200"/>
          </a:p>
        </p:txBody>
      </p:sp>
      <p:sp>
        <p:nvSpPr>
          <p:cNvPr id="16" name="Ellipse 22"/>
          <p:cNvSpPr>
            <a:spLocks noChangeArrowheads="1"/>
          </p:cNvSpPr>
          <p:nvPr/>
        </p:nvSpPr>
        <p:spPr bwMode="auto">
          <a:xfrm>
            <a:off x="7980363" y="4598911"/>
            <a:ext cx="215900" cy="215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fr-FR"/>
              <a:t>k</a:t>
            </a:r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7450138" y="4598911"/>
            <a:ext cx="5984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 sz="1200" b="0">
                <a:solidFill>
                  <a:srgbClr val="FF3300"/>
                </a:solidFill>
              </a:rPr>
              <a:t>c(k,n’)</a:t>
            </a:r>
            <a:endParaRPr lang="fr-FR" sz="1200"/>
          </a:p>
        </p:txBody>
      </p:sp>
      <p:sp>
        <p:nvSpPr>
          <p:cNvPr id="18" name="Rectangle 29"/>
          <p:cNvSpPr>
            <a:spLocks noChangeArrowheads="1"/>
          </p:cNvSpPr>
          <p:nvPr/>
        </p:nvSpPr>
        <p:spPr bwMode="auto">
          <a:xfrm>
            <a:off x="8310563" y="4429048"/>
            <a:ext cx="56991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 sz="1200" b="0">
                <a:solidFill>
                  <a:srgbClr val="FF3300"/>
                </a:solidFill>
              </a:rPr>
              <a:t>c(b,k)</a:t>
            </a:r>
            <a:endParaRPr lang="fr-FR" sz="1200"/>
          </a:p>
        </p:txBody>
      </p:sp>
      <p:sp>
        <p:nvSpPr>
          <p:cNvPr id="19" name="Rectangle 30"/>
          <p:cNvSpPr>
            <a:spLocks noChangeArrowheads="1"/>
          </p:cNvSpPr>
          <p:nvPr/>
        </p:nvSpPr>
        <p:spPr bwMode="auto">
          <a:xfrm>
            <a:off x="8428038" y="3752773"/>
            <a:ext cx="59531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 sz="1200" b="0">
                <a:solidFill>
                  <a:srgbClr val="FF3300"/>
                </a:solidFill>
              </a:rPr>
              <a:t>c(A,b)</a:t>
            </a:r>
            <a:endParaRPr lang="fr-FR" sz="120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4952401" y="5630704"/>
            <a:ext cx="28559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sz="1200" b="0" dirty="0">
                <a:solidFill>
                  <a:srgbClr val="FF3300"/>
                </a:solidFill>
              </a:rPr>
              <a:t>g(n)=c(</a:t>
            </a:r>
            <a:r>
              <a:rPr lang="fr-FR" sz="1200" b="0" dirty="0" err="1">
                <a:solidFill>
                  <a:srgbClr val="FF3300"/>
                </a:solidFill>
              </a:rPr>
              <a:t>A,b</a:t>
            </a:r>
            <a:r>
              <a:rPr lang="fr-FR" sz="1200" b="0" dirty="0">
                <a:solidFill>
                  <a:srgbClr val="FF3300"/>
                </a:solidFill>
              </a:rPr>
              <a:t>)+c(</a:t>
            </a:r>
            <a:r>
              <a:rPr lang="fr-FR" sz="1200" b="0" dirty="0" err="1">
                <a:solidFill>
                  <a:srgbClr val="FF3300"/>
                </a:solidFill>
              </a:rPr>
              <a:t>b,k</a:t>
            </a:r>
            <a:r>
              <a:rPr lang="fr-FR" sz="1200" b="0" dirty="0">
                <a:solidFill>
                  <a:srgbClr val="FF3300"/>
                </a:solidFill>
              </a:rPr>
              <a:t>)+c(</a:t>
            </a:r>
            <a:r>
              <a:rPr lang="fr-FR" sz="1200" b="0" dirty="0" err="1">
                <a:solidFill>
                  <a:srgbClr val="FF3300"/>
                </a:solidFill>
              </a:rPr>
              <a:t>k,n</a:t>
            </a:r>
            <a:r>
              <a:rPr lang="fr-FR" sz="1200" b="0" dirty="0">
                <a:solidFill>
                  <a:srgbClr val="FF3300"/>
                </a:solidFill>
              </a:rPr>
              <a:t>’)+c(n’,n)</a:t>
            </a:r>
            <a:endParaRPr lang="fr-FR" sz="1200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5985668" y="6355137"/>
            <a:ext cx="315833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00B050"/>
                </a:solidFill>
              </a:rPr>
              <a:t>h(n)= estimation du coût entre n et G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4986161" y="6373568"/>
            <a:ext cx="6298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0070C0"/>
                </a:solidFill>
              </a:rPr>
              <a:t>BUT</a:t>
            </a:r>
          </a:p>
        </p:txBody>
      </p:sp>
      <p:cxnSp>
        <p:nvCxnSpPr>
          <p:cNvPr id="27" name="Connecteur droit avec flèche 18"/>
          <p:cNvCxnSpPr>
            <a:cxnSpLocks noChangeShapeType="1"/>
          </p:cNvCxnSpPr>
          <p:nvPr/>
        </p:nvCxnSpPr>
        <p:spPr bwMode="auto">
          <a:xfrm flipH="1">
            <a:off x="5707449" y="6043536"/>
            <a:ext cx="278219" cy="465489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sp>
        <p:nvSpPr>
          <p:cNvPr id="24" name="Ellipse 23"/>
          <p:cNvSpPr>
            <a:spLocks noChangeArrowheads="1"/>
          </p:cNvSpPr>
          <p:nvPr/>
        </p:nvSpPr>
        <p:spPr bwMode="auto">
          <a:xfrm>
            <a:off x="7700363" y="5705398"/>
            <a:ext cx="280000" cy="201531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dirty="0"/>
              <a:t>m</a:t>
            </a:r>
          </a:p>
        </p:txBody>
      </p:sp>
      <p:cxnSp>
        <p:nvCxnSpPr>
          <p:cNvPr id="25" name="Connecteur droit avec flèche 14"/>
          <p:cNvCxnSpPr>
            <a:cxnSpLocks noChangeShapeType="1"/>
            <a:stCxn id="6" idx="5"/>
            <a:endCxn id="24" idx="0"/>
          </p:cNvCxnSpPr>
          <p:nvPr/>
        </p:nvCxnSpPr>
        <p:spPr bwMode="auto">
          <a:xfrm>
            <a:off x="7505600" y="5114980"/>
            <a:ext cx="334763" cy="59041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3" name="Connecteur droit 22"/>
          <p:cNvCxnSpPr/>
          <p:nvPr/>
        </p:nvCxnSpPr>
        <p:spPr>
          <a:xfrm flipH="1">
            <a:off x="5985668" y="6043536"/>
            <a:ext cx="70088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4"/>
          <p:cNvSpPr>
            <a:spLocks noChangeArrowheads="1"/>
          </p:cNvSpPr>
          <p:nvPr/>
        </p:nvSpPr>
        <p:spPr bwMode="auto">
          <a:xfrm>
            <a:off x="206829" y="411163"/>
            <a:ext cx="8893175" cy="3447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2800" dirty="0"/>
              <a:t>Recherche : Meilleur d’abord (Best First)</a:t>
            </a:r>
          </a:p>
          <a:p>
            <a:pPr algn="l"/>
            <a:endParaRPr lang="fr-FR" sz="2800" dirty="0"/>
          </a:p>
          <a:p>
            <a:r>
              <a:rPr lang="fr-FR" b="1" dirty="0"/>
              <a:t>Concept</a:t>
            </a:r>
            <a:endParaRPr lang="fr-FR" dirty="0"/>
          </a:p>
          <a:p>
            <a:pPr lvl="1"/>
            <a:r>
              <a:rPr lang="fr-FR" dirty="0"/>
              <a:t>Combinaison de recherche en profondeur et en largeur pour guider la recherche.</a:t>
            </a:r>
          </a:p>
          <a:p>
            <a:pPr lvl="1"/>
            <a:r>
              <a:rPr lang="fr-FR" dirty="0"/>
              <a:t>Sélection du prochain nœud basée sur une fonction d'évaluation.</a:t>
            </a:r>
          </a:p>
          <a:p>
            <a:r>
              <a:rPr lang="fr-FR" b="1" dirty="0"/>
              <a:t>Fonctionnement</a:t>
            </a:r>
            <a:endParaRPr lang="fr-FR" dirty="0"/>
          </a:p>
          <a:p>
            <a:pPr lvl="1"/>
            <a:r>
              <a:rPr lang="fr-FR" dirty="0"/>
              <a:t>Choix du nœud suivant selon sa probabilité de mener à une solution optimale.</a:t>
            </a:r>
          </a:p>
          <a:p>
            <a:pPr lvl="1"/>
            <a:r>
              <a:rPr lang="fr-FR" dirty="0"/>
              <a:t>Guide la recherche vers les zones les plus prometteuses de l'arbre de recherche.</a:t>
            </a:r>
          </a:p>
          <a:p>
            <a:r>
              <a:rPr lang="fr-FR" b="1" dirty="0"/>
              <a:t>Avantages</a:t>
            </a:r>
            <a:endParaRPr lang="fr-FR" dirty="0"/>
          </a:p>
          <a:p>
            <a:pPr lvl="1"/>
            <a:r>
              <a:rPr lang="fr-FR" dirty="0"/>
              <a:t>Orientation vers des solutions potentiellement optimales.</a:t>
            </a:r>
          </a:p>
          <a:p>
            <a:pPr lvl="1"/>
            <a:r>
              <a:rPr lang="fr-FR" dirty="0"/>
              <a:t>Efficace dans la recherche dirigée.</a:t>
            </a:r>
          </a:p>
        </p:txBody>
      </p:sp>
      <p:sp>
        <p:nvSpPr>
          <p:cNvPr id="58371" name="Rectangle 5"/>
          <p:cNvSpPr>
            <a:spLocks noChangeArrowheads="1"/>
          </p:cNvSpPr>
          <p:nvPr/>
        </p:nvSpPr>
        <p:spPr bwMode="auto">
          <a:xfrm>
            <a:off x="125412" y="4005064"/>
            <a:ext cx="8893175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1" dirty="0"/>
              <a:t>Idée: </a:t>
            </a:r>
          </a:p>
          <a:p>
            <a:pPr algn="l"/>
            <a:r>
              <a:rPr lang="fr-FR" b="0" dirty="0">
                <a:solidFill>
                  <a:srgbClr val="FF3300"/>
                </a:solidFill>
              </a:rPr>
              <a:t>étendre le nœud le plus prometteur selon sa valeur heuristique</a:t>
            </a:r>
          </a:p>
          <a:p>
            <a:pPr algn="l"/>
            <a:r>
              <a:rPr lang="fr-FR" dirty="0"/>
              <a:t>et d’insérer </a:t>
            </a:r>
            <a:r>
              <a:rPr lang="fr-FR" b="0" dirty="0"/>
              <a:t>les successeurs en ordre (dé)croissant en utilisant la  valeur heuristique</a:t>
            </a:r>
          </a:p>
          <a:p>
            <a:pPr algn="l"/>
            <a:endParaRPr lang="fr-FR" b="0" dirty="0"/>
          </a:p>
          <a:p>
            <a:pPr algn="l"/>
            <a:r>
              <a:rPr lang="fr-FR" b="0" dirty="0"/>
              <a:t>• Cas particuliers de "best-first </a:t>
            </a:r>
            <a:r>
              <a:rPr lang="fr-FR" b="0" dirty="0" err="1"/>
              <a:t>search</a:t>
            </a:r>
            <a:r>
              <a:rPr lang="fr-FR" b="0" dirty="0"/>
              <a:t>"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fr-FR" sz="2000" b="1" dirty="0" err="1"/>
              <a:t>Greedy</a:t>
            </a:r>
            <a:r>
              <a:rPr lang="fr-FR" sz="2000" b="1" dirty="0"/>
              <a:t> </a:t>
            </a:r>
            <a:r>
              <a:rPr lang="fr-FR" sz="2000" b="1" dirty="0" err="1"/>
              <a:t>search</a:t>
            </a:r>
            <a:r>
              <a:rPr lang="fr-FR" sz="2000" b="1" dirty="0"/>
              <a:t> (recherche gourmande ou gloutonne )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fr-FR" sz="2000" b="1" dirty="0"/>
              <a:t>A*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4"/>
          <p:cNvSpPr>
            <a:spLocks noChangeArrowheads="1"/>
          </p:cNvSpPr>
          <p:nvPr/>
        </p:nvSpPr>
        <p:spPr bwMode="auto">
          <a:xfrm>
            <a:off x="0" y="620713"/>
            <a:ext cx="9144000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Wingdings" pitchFamily="2" charset="2"/>
              <a:buChar char="Ø"/>
            </a:pPr>
            <a:r>
              <a:rPr lang="fr-FR" sz="2400" dirty="0">
                <a:solidFill>
                  <a:schemeClr val="accent2"/>
                </a:solidFill>
              </a:rPr>
              <a:t>Recherche gourmande</a:t>
            </a:r>
            <a:r>
              <a:rPr lang="fr-FR" sz="2400" b="0" dirty="0">
                <a:solidFill>
                  <a:schemeClr val="accent2"/>
                </a:solidFill>
              </a:rPr>
              <a:t> (</a:t>
            </a:r>
            <a:r>
              <a:rPr lang="fr-FR" sz="2400" dirty="0" err="1">
                <a:solidFill>
                  <a:schemeClr val="accent2"/>
                </a:solidFill>
              </a:rPr>
              <a:t>Greedy</a:t>
            </a:r>
            <a:r>
              <a:rPr lang="fr-FR" sz="2400" dirty="0">
                <a:solidFill>
                  <a:schemeClr val="accent2"/>
                </a:solidFill>
              </a:rPr>
              <a:t> </a:t>
            </a:r>
            <a:r>
              <a:rPr lang="fr-FR" sz="2400" dirty="0" err="1">
                <a:solidFill>
                  <a:schemeClr val="accent2"/>
                </a:solidFill>
              </a:rPr>
              <a:t>search</a:t>
            </a:r>
            <a:r>
              <a:rPr lang="fr-FR" sz="2400" dirty="0">
                <a:solidFill>
                  <a:schemeClr val="accent2"/>
                </a:solidFill>
              </a:rPr>
              <a:t>)</a:t>
            </a:r>
          </a:p>
          <a:p>
            <a:pPr marL="342900" indent="-342900" algn="l"/>
            <a:endParaRPr lang="fr-FR" b="0" dirty="0">
              <a:solidFill>
                <a:schemeClr val="accent2"/>
              </a:solidFill>
            </a:endParaRPr>
          </a:p>
          <a:p>
            <a:pPr marL="342900" indent="-342900" algn="l"/>
            <a:r>
              <a:rPr lang="fr-FR" b="0" dirty="0"/>
              <a:t>• Stratégie la plus simple de « best-first </a:t>
            </a:r>
            <a:r>
              <a:rPr lang="fr-FR" b="0" dirty="0" err="1"/>
              <a:t>search</a:t>
            </a:r>
            <a:r>
              <a:rPr lang="fr-FR" b="0" dirty="0"/>
              <a:t> » </a:t>
            </a:r>
          </a:p>
          <a:p>
            <a:pPr marL="342900" indent="-342900" algn="l"/>
            <a:endParaRPr lang="fr-FR" b="0" dirty="0"/>
          </a:p>
          <a:p>
            <a:pPr marL="342900" indent="-342900" algn="l"/>
            <a:r>
              <a:rPr lang="fr-FR" b="0" dirty="0"/>
              <a:t>• fonction heuristique </a:t>
            </a:r>
            <a:r>
              <a:rPr lang="fr-FR" b="0" i="1" dirty="0">
                <a:solidFill>
                  <a:srgbClr val="0066FF"/>
                </a:solidFill>
              </a:rPr>
              <a:t>h(n)</a:t>
            </a:r>
            <a:r>
              <a:rPr lang="fr-FR" b="0" i="1" dirty="0"/>
              <a:t> </a:t>
            </a:r>
            <a:r>
              <a:rPr lang="fr-FR" b="0" dirty="0"/>
              <a:t>= estimation du coût du </a:t>
            </a:r>
            <a:r>
              <a:rPr lang="fr-FR" b="0" dirty="0" err="1"/>
              <a:t>noeud</a:t>
            </a:r>
            <a:r>
              <a:rPr lang="fr-FR" b="0" dirty="0"/>
              <a:t> </a:t>
            </a:r>
            <a:r>
              <a:rPr lang="fr-FR" b="0" dirty="0">
                <a:solidFill>
                  <a:srgbClr val="0066FF"/>
                </a:solidFill>
              </a:rPr>
              <a:t>n</a:t>
            </a:r>
            <a:r>
              <a:rPr lang="fr-FR" b="0" dirty="0"/>
              <a:t> au but</a:t>
            </a:r>
          </a:p>
          <a:p>
            <a:pPr marL="342900" indent="-342900" algn="l"/>
            <a:endParaRPr lang="fr-FR" b="0" dirty="0"/>
          </a:p>
          <a:p>
            <a:pPr marL="342900" indent="-342900" algn="l"/>
            <a:r>
              <a:rPr lang="fr-FR" b="0" dirty="0"/>
              <a:t>• </a:t>
            </a:r>
            <a:r>
              <a:rPr lang="fr-FR" dirty="0" err="1"/>
              <a:t>greedy</a:t>
            </a:r>
            <a:r>
              <a:rPr lang="fr-FR" dirty="0"/>
              <a:t> </a:t>
            </a:r>
            <a:r>
              <a:rPr lang="fr-FR" dirty="0" err="1"/>
              <a:t>search</a:t>
            </a:r>
            <a:r>
              <a:rPr lang="fr-FR" b="0" dirty="0"/>
              <a:t> = minimiser le coût </a:t>
            </a:r>
            <a:r>
              <a:rPr lang="fr-FR" b="0" dirty="0">
                <a:solidFill>
                  <a:srgbClr val="FF0000"/>
                </a:solidFill>
              </a:rPr>
              <a:t>estimé </a:t>
            </a:r>
            <a:r>
              <a:rPr lang="fr-FR" b="0" dirty="0"/>
              <a:t>pour atteindre le but</a:t>
            </a:r>
          </a:p>
          <a:p>
            <a:pPr marL="342900" indent="-342900" algn="l"/>
            <a:endParaRPr lang="fr-FR" b="0" dirty="0"/>
          </a:p>
          <a:p>
            <a:pPr marL="342900" indent="-342900" algn="l"/>
            <a:r>
              <a:rPr lang="fr-FR" b="0" dirty="0"/>
              <a:t>• le nœud qui semble être le plus proche du but sera étendu en priorité</a:t>
            </a:r>
          </a:p>
          <a:p>
            <a:pPr marL="342900" indent="-342900" algn="l"/>
            <a:endParaRPr lang="fr-FR" b="0" dirty="0"/>
          </a:p>
          <a:p>
            <a:pPr marL="342900" indent="-342900" algn="l"/>
            <a:r>
              <a:rPr lang="fr-FR" b="0" dirty="0"/>
              <a:t>• fonctions heuristiques classiques</a:t>
            </a:r>
          </a:p>
          <a:p>
            <a:pPr marL="342900" indent="-342900" algn="l"/>
            <a:r>
              <a:rPr lang="fr-FR" b="0" dirty="0">
                <a:solidFill>
                  <a:srgbClr val="00B050"/>
                </a:solidFill>
              </a:rPr>
              <a:t>– distance à vol d'oiseau</a:t>
            </a:r>
          </a:p>
          <a:p>
            <a:pPr marL="342900" indent="-342900" algn="l"/>
            <a:r>
              <a:rPr lang="fr-FR" b="0" dirty="0">
                <a:solidFill>
                  <a:srgbClr val="00B050"/>
                </a:solidFill>
              </a:rPr>
              <a:t>– distance "Manhattan": déplacements limités aux directions verticales et horizontales</a:t>
            </a:r>
          </a:p>
        </p:txBody>
      </p:sp>
      <p:sp>
        <p:nvSpPr>
          <p:cNvPr id="70662" name="Rectangle 6"/>
          <p:cNvSpPr>
            <a:spLocks noChangeArrowheads="1"/>
          </p:cNvSpPr>
          <p:nvPr/>
        </p:nvSpPr>
        <p:spPr bwMode="auto">
          <a:xfrm>
            <a:off x="161925" y="4653136"/>
            <a:ext cx="8820150" cy="18158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sz="1400" b="0" dirty="0">
                <a:solidFill>
                  <a:srgbClr val="FF3300"/>
                </a:solidFill>
              </a:rPr>
              <a:t>Complétude:</a:t>
            </a:r>
            <a:r>
              <a:rPr lang="fr-FR" sz="1400" b="0" dirty="0">
                <a:solidFill>
                  <a:srgbClr val="0066FF"/>
                </a:solidFill>
              </a:rPr>
              <a:t> Non, elle peut être prise dans des cycles. Oui, si l’espace de recherche est fini avec vérification des états répétés.</a:t>
            </a:r>
          </a:p>
          <a:p>
            <a:pPr algn="l"/>
            <a:endParaRPr lang="fr-FR" sz="1400" b="0" dirty="0">
              <a:solidFill>
                <a:srgbClr val="FF3300"/>
              </a:solidFill>
            </a:endParaRPr>
          </a:p>
          <a:p>
            <a:pPr algn="l"/>
            <a:r>
              <a:rPr lang="fr-FR" sz="1400" b="0" dirty="0">
                <a:solidFill>
                  <a:srgbClr val="FF3300"/>
                </a:solidFill>
              </a:rPr>
              <a:t>Complexité de temps:</a:t>
            </a:r>
            <a:r>
              <a:rPr lang="fr-FR" sz="1400" b="0" dirty="0">
                <a:solidFill>
                  <a:srgbClr val="0066FF"/>
                </a:solidFill>
              </a:rPr>
              <a:t> </a:t>
            </a:r>
            <a:r>
              <a:rPr lang="fr-FR" sz="1400" b="0" i="1" dirty="0">
                <a:solidFill>
                  <a:srgbClr val="0066FF"/>
                </a:solidFill>
              </a:rPr>
              <a:t>O</a:t>
            </a:r>
            <a:r>
              <a:rPr lang="fr-FR" sz="1400" b="0" dirty="0">
                <a:solidFill>
                  <a:srgbClr val="0066FF"/>
                </a:solidFill>
              </a:rPr>
              <a:t>(</a:t>
            </a:r>
            <a:r>
              <a:rPr lang="fr-FR" sz="1400" b="0" i="1" dirty="0" err="1">
                <a:solidFill>
                  <a:srgbClr val="0066FF"/>
                </a:solidFill>
              </a:rPr>
              <a:t>b</a:t>
            </a:r>
            <a:r>
              <a:rPr lang="fr-FR" sz="1400" b="0" i="1" baseline="30000" dirty="0" err="1">
                <a:solidFill>
                  <a:srgbClr val="0066FF"/>
                </a:solidFill>
              </a:rPr>
              <a:t>m</a:t>
            </a:r>
            <a:r>
              <a:rPr lang="fr-FR" sz="1400" b="0" dirty="0">
                <a:solidFill>
                  <a:srgbClr val="0066FF"/>
                </a:solidFill>
              </a:rPr>
              <a:t>), mais une bonne fonction heuristique peut améliorer grandement la situation.</a:t>
            </a:r>
          </a:p>
          <a:p>
            <a:pPr algn="l"/>
            <a:endParaRPr lang="fr-FR" sz="1400" b="0" dirty="0">
              <a:solidFill>
                <a:srgbClr val="FF3300"/>
              </a:solidFill>
            </a:endParaRPr>
          </a:p>
          <a:p>
            <a:pPr algn="l"/>
            <a:r>
              <a:rPr lang="fr-FR" sz="1400" b="0" dirty="0">
                <a:solidFill>
                  <a:srgbClr val="FF3300"/>
                </a:solidFill>
              </a:rPr>
              <a:t>Complexité d’espace:</a:t>
            </a:r>
            <a:r>
              <a:rPr lang="fr-FR" sz="1400" b="0" dirty="0">
                <a:solidFill>
                  <a:srgbClr val="0066FF"/>
                </a:solidFill>
              </a:rPr>
              <a:t> </a:t>
            </a:r>
            <a:r>
              <a:rPr lang="fr-FR" sz="1400" b="0" i="1" dirty="0">
                <a:solidFill>
                  <a:srgbClr val="0066FF"/>
                </a:solidFill>
              </a:rPr>
              <a:t>O</a:t>
            </a:r>
            <a:r>
              <a:rPr lang="fr-FR" sz="1400" b="0" dirty="0">
                <a:solidFill>
                  <a:srgbClr val="0066FF"/>
                </a:solidFill>
              </a:rPr>
              <a:t>(</a:t>
            </a:r>
            <a:r>
              <a:rPr lang="fr-FR" sz="1400" b="0" i="1" dirty="0" err="1">
                <a:solidFill>
                  <a:srgbClr val="0066FF"/>
                </a:solidFill>
              </a:rPr>
              <a:t>b</a:t>
            </a:r>
            <a:r>
              <a:rPr lang="fr-FR" sz="1400" b="0" i="1" baseline="30000" dirty="0" err="1">
                <a:solidFill>
                  <a:srgbClr val="0066FF"/>
                </a:solidFill>
              </a:rPr>
              <a:t>m</a:t>
            </a:r>
            <a:r>
              <a:rPr lang="fr-FR" sz="1400" b="0" dirty="0">
                <a:solidFill>
                  <a:srgbClr val="0066FF"/>
                </a:solidFill>
              </a:rPr>
              <a:t>), elle retient tous les nœuds en mémoire.</a:t>
            </a:r>
          </a:p>
          <a:p>
            <a:pPr algn="l"/>
            <a:endParaRPr lang="fr-FR" sz="1400" b="0" dirty="0">
              <a:solidFill>
                <a:srgbClr val="FF3300"/>
              </a:solidFill>
            </a:endParaRPr>
          </a:p>
          <a:p>
            <a:pPr algn="l"/>
            <a:r>
              <a:rPr lang="fr-FR" sz="1400" b="0" dirty="0">
                <a:solidFill>
                  <a:srgbClr val="FF3300"/>
                </a:solidFill>
              </a:rPr>
              <a:t>Optimale:</a:t>
            </a:r>
            <a:r>
              <a:rPr lang="fr-FR" sz="1400" b="0" dirty="0">
                <a:solidFill>
                  <a:srgbClr val="0066FF"/>
                </a:solidFill>
              </a:rPr>
              <a:t> non, elle s’arrête à la première solution trouvée.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1" y="543444"/>
            <a:ext cx="4895850" cy="2914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63493" name="Rectangle 7"/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92D05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Déroulement d’algorithme </a:t>
            </a:r>
            <a:r>
              <a:rPr lang="fr-FR" b="0" dirty="0" err="1"/>
              <a:t>greedy</a:t>
            </a:r>
            <a:r>
              <a:rPr lang="fr-FR" b="0" dirty="0"/>
              <a:t> </a:t>
            </a:r>
          </a:p>
        </p:txBody>
      </p:sp>
      <p:sp>
        <p:nvSpPr>
          <p:cNvPr id="3" name="ZoneTexte 6">
            <a:extLst>
              <a:ext uri="{FF2B5EF4-FFF2-40B4-BE49-F238E27FC236}">
                <a16:creationId xmlns:a16="http://schemas.microsoft.com/office/drawing/2014/main" id="{91DEE342-C655-1B03-4B22-4A24B4127F5A}"/>
              </a:ext>
            </a:extLst>
          </p:cNvPr>
          <p:cNvSpPr txBox="1"/>
          <p:nvPr/>
        </p:nvSpPr>
        <p:spPr>
          <a:xfrm>
            <a:off x="7380312" y="764704"/>
            <a:ext cx="36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217342-C1CB-C171-21C1-71AAA15A06B1}"/>
              </a:ext>
            </a:extLst>
          </p:cNvPr>
          <p:cNvSpPr txBox="1"/>
          <p:nvPr/>
        </p:nvSpPr>
        <p:spPr>
          <a:xfrm>
            <a:off x="0" y="3429000"/>
            <a:ext cx="6042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[a(10)] 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340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1" y="543444"/>
            <a:ext cx="4895850" cy="2914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91DEE342-C655-1B03-4B22-4A24B4127F5A}"/>
              </a:ext>
            </a:extLst>
          </p:cNvPr>
          <p:cNvSpPr txBox="1"/>
          <p:nvPr/>
        </p:nvSpPr>
        <p:spPr>
          <a:xfrm>
            <a:off x="7380312" y="764704"/>
            <a:ext cx="36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217342-C1CB-C171-21C1-71AAA15A06B1}"/>
              </a:ext>
            </a:extLst>
          </p:cNvPr>
          <p:cNvSpPr txBox="1"/>
          <p:nvPr/>
        </p:nvSpPr>
        <p:spPr>
          <a:xfrm>
            <a:off x="0" y="3429000"/>
            <a:ext cx="60423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[a(10)] 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: </a:t>
            </a: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b(12),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(4), d(5)</a:t>
            </a: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9C4B1A61-4D6E-7943-B715-497597241DF8}"/>
              </a:ext>
            </a:extLst>
          </p:cNvPr>
          <p:cNvCxnSpPr>
            <a:cxnSpLocks/>
          </p:cNvCxnSpPr>
          <p:nvPr/>
        </p:nvCxnSpPr>
        <p:spPr>
          <a:xfrm flipH="1">
            <a:off x="6931857" y="1128281"/>
            <a:ext cx="587594" cy="717118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AECF53B-0D51-64FD-F9EB-F737B6B722BB}"/>
              </a:ext>
            </a:extLst>
          </p:cNvPr>
          <p:cNvCxnSpPr>
            <a:cxnSpLocks/>
          </p:cNvCxnSpPr>
          <p:nvPr/>
        </p:nvCxnSpPr>
        <p:spPr>
          <a:xfrm>
            <a:off x="7552265" y="1134127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ZoneTexte 109">
            <a:extLst>
              <a:ext uri="{FF2B5EF4-FFF2-40B4-BE49-F238E27FC236}">
                <a16:creationId xmlns:a16="http://schemas.microsoft.com/office/drawing/2014/main" id="{14931BB5-CCFF-63A5-1165-C3D931E8DDAA}"/>
              </a:ext>
            </a:extLst>
          </p:cNvPr>
          <p:cNvSpPr txBox="1"/>
          <p:nvPr/>
        </p:nvSpPr>
        <p:spPr>
          <a:xfrm>
            <a:off x="6638060" y="1845399"/>
            <a:ext cx="587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d(5)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F7F5523-C015-ADDC-C272-DEBE5CDD69DF}"/>
              </a:ext>
            </a:extLst>
          </p:cNvPr>
          <p:cNvCxnSpPr>
            <a:cxnSpLocks/>
          </p:cNvCxnSpPr>
          <p:nvPr/>
        </p:nvCxnSpPr>
        <p:spPr>
          <a:xfrm flipH="1">
            <a:off x="7519451" y="1128281"/>
            <a:ext cx="16407" cy="103168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ZoneTexte 109">
            <a:extLst>
              <a:ext uri="{FF2B5EF4-FFF2-40B4-BE49-F238E27FC236}">
                <a16:creationId xmlns:a16="http://schemas.microsoft.com/office/drawing/2014/main" id="{2672BC96-303E-1430-3032-E1201AEA776A}"/>
              </a:ext>
            </a:extLst>
          </p:cNvPr>
          <p:cNvSpPr txBox="1"/>
          <p:nvPr/>
        </p:nvSpPr>
        <p:spPr>
          <a:xfrm>
            <a:off x="7242061" y="2137206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c(4)</a:t>
            </a:r>
          </a:p>
        </p:txBody>
      </p:sp>
      <p:sp>
        <p:nvSpPr>
          <p:cNvPr id="16" name="ZoneTexte 109">
            <a:extLst>
              <a:ext uri="{FF2B5EF4-FFF2-40B4-BE49-F238E27FC236}">
                <a16:creationId xmlns:a16="http://schemas.microsoft.com/office/drawing/2014/main" id="{A4FA2B4C-0401-5542-CFB3-D27487FB68FC}"/>
              </a:ext>
            </a:extLst>
          </p:cNvPr>
          <p:cNvSpPr txBox="1"/>
          <p:nvPr/>
        </p:nvSpPr>
        <p:spPr>
          <a:xfrm>
            <a:off x="7865284" y="1992377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b(12)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2FFEE41A-FA92-2530-40B7-9D90BD142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92D05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Déroulement d’algorithme </a:t>
            </a:r>
            <a:r>
              <a:rPr lang="fr-FR" b="0" dirty="0" err="1"/>
              <a:t>greedy</a:t>
            </a:r>
            <a:r>
              <a:rPr lang="fr-FR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9852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1" y="543444"/>
            <a:ext cx="4895850" cy="2914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91DEE342-C655-1B03-4B22-4A24B4127F5A}"/>
              </a:ext>
            </a:extLst>
          </p:cNvPr>
          <p:cNvSpPr txBox="1"/>
          <p:nvPr/>
        </p:nvSpPr>
        <p:spPr>
          <a:xfrm>
            <a:off x="7380312" y="764704"/>
            <a:ext cx="36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217342-C1CB-C171-21C1-71AAA15A06B1}"/>
              </a:ext>
            </a:extLst>
          </p:cNvPr>
          <p:cNvSpPr txBox="1"/>
          <p:nvPr/>
        </p:nvSpPr>
        <p:spPr>
          <a:xfrm>
            <a:off x="0" y="3456766"/>
            <a:ext cx="60423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[a(10)] 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: </a:t>
            </a: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b(12),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(4), d(5)</a:t>
            </a:r>
          </a:p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[c(4),d(5), b(12)] 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9C4B1A61-4D6E-7943-B715-497597241DF8}"/>
              </a:ext>
            </a:extLst>
          </p:cNvPr>
          <p:cNvCxnSpPr>
            <a:cxnSpLocks/>
          </p:cNvCxnSpPr>
          <p:nvPr/>
        </p:nvCxnSpPr>
        <p:spPr>
          <a:xfrm flipH="1">
            <a:off x="6931857" y="1128281"/>
            <a:ext cx="587594" cy="717118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AECF53B-0D51-64FD-F9EB-F737B6B722BB}"/>
              </a:ext>
            </a:extLst>
          </p:cNvPr>
          <p:cNvCxnSpPr>
            <a:cxnSpLocks/>
          </p:cNvCxnSpPr>
          <p:nvPr/>
        </p:nvCxnSpPr>
        <p:spPr>
          <a:xfrm>
            <a:off x="7552265" y="1134127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ZoneTexte 109">
            <a:extLst>
              <a:ext uri="{FF2B5EF4-FFF2-40B4-BE49-F238E27FC236}">
                <a16:creationId xmlns:a16="http://schemas.microsoft.com/office/drawing/2014/main" id="{14931BB5-CCFF-63A5-1165-C3D931E8DDAA}"/>
              </a:ext>
            </a:extLst>
          </p:cNvPr>
          <p:cNvSpPr txBox="1"/>
          <p:nvPr/>
        </p:nvSpPr>
        <p:spPr>
          <a:xfrm>
            <a:off x="6638060" y="1845399"/>
            <a:ext cx="587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highlight>
                  <a:srgbClr val="FFFF00"/>
                </a:highlight>
              </a:rPr>
              <a:t>d(5)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F7F5523-C015-ADDC-C272-DEBE5CDD69DF}"/>
              </a:ext>
            </a:extLst>
          </p:cNvPr>
          <p:cNvCxnSpPr>
            <a:cxnSpLocks/>
          </p:cNvCxnSpPr>
          <p:nvPr/>
        </p:nvCxnSpPr>
        <p:spPr>
          <a:xfrm flipH="1">
            <a:off x="7519451" y="1128281"/>
            <a:ext cx="16407" cy="103168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ZoneTexte 109">
            <a:extLst>
              <a:ext uri="{FF2B5EF4-FFF2-40B4-BE49-F238E27FC236}">
                <a16:creationId xmlns:a16="http://schemas.microsoft.com/office/drawing/2014/main" id="{2672BC96-303E-1430-3032-E1201AEA776A}"/>
              </a:ext>
            </a:extLst>
          </p:cNvPr>
          <p:cNvSpPr txBox="1"/>
          <p:nvPr/>
        </p:nvSpPr>
        <p:spPr>
          <a:xfrm>
            <a:off x="7242061" y="2137206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c(4)</a:t>
            </a:r>
          </a:p>
        </p:txBody>
      </p:sp>
      <p:sp>
        <p:nvSpPr>
          <p:cNvPr id="16" name="ZoneTexte 109">
            <a:extLst>
              <a:ext uri="{FF2B5EF4-FFF2-40B4-BE49-F238E27FC236}">
                <a16:creationId xmlns:a16="http://schemas.microsoft.com/office/drawing/2014/main" id="{A4FA2B4C-0401-5542-CFB3-D27487FB68FC}"/>
              </a:ext>
            </a:extLst>
          </p:cNvPr>
          <p:cNvSpPr txBox="1"/>
          <p:nvPr/>
        </p:nvSpPr>
        <p:spPr>
          <a:xfrm>
            <a:off x="7865284" y="1992377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b(12)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0CFC8330-A01A-73FF-94CA-DBB33677C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92D05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Déroulement d’algorithme </a:t>
            </a:r>
            <a:r>
              <a:rPr lang="fr-FR" b="0" dirty="0" err="1"/>
              <a:t>greedy</a:t>
            </a:r>
            <a:r>
              <a:rPr lang="fr-FR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028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1" y="543444"/>
            <a:ext cx="4895850" cy="2914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91DEE342-C655-1B03-4B22-4A24B4127F5A}"/>
              </a:ext>
            </a:extLst>
          </p:cNvPr>
          <p:cNvSpPr txBox="1"/>
          <p:nvPr/>
        </p:nvSpPr>
        <p:spPr>
          <a:xfrm>
            <a:off x="7380312" y="764704"/>
            <a:ext cx="36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217342-C1CB-C171-21C1-71AAA15A06B1}"/>
              </a:ext>
            </a:extLst>
          </p:cNvPr>
          <p:cNvSpPr txBox="1"/>
          <p:nvPr/>
        </p:nvSpPr>
        <p:spPr>
          <a:xfrm>
            <a:off x="0" y="3456766"/>
            <a:ext cx="60423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[a(10)] 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: </a:t>
            </a: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b(12),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(4), d(5)</a:t>
            </a:r>
          </a:p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[c(4),d(5), b(12)] </a:t>
            </a:r>
          </a:p>
          <a:p>
            <a:pPr marL="285750" indent="-285750">
              <a:buFontTx/>
              <a:buChar char="-"/>
            </a:pPr>
            <a:r>
              <a:rPr lang="fr-CA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 : c(4)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h(0), g(4)</a:t>
            </a:r>
          </a:p>
          <a:p>
            <a:pPr marL="285750" indent="-285750">
              <a:buFontTx/>
              <a:buChar char="-"/>
            </a:pP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Q = [h(0), g(4), d(5), b(12)]</a:t>
            </a:r>
          </a:p>
          <a:p>
            <a:pPr marL="285750" indent="-285750">
              <a:buFontTx/>
              <a:buChar char="-"/>
            </a:pPr>
            <a:r>
              <a:rPr lang="fr-CA" dirty="0" err="1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 = solution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9C4B1A61-4D6E-7943-B715-497597241DF8}"/>
              </a:ext>
            </a:extLst>
          </p:cNvPr>
          <p:cNvCxnSpPr>
            <a:cxnSpLocks/>
          </p:cNvCxnSpPr>
          <p:nvPr/>
        </p:nvCxnSpPr>
        <p:spPr>
          <a:xfrm flipH="1">
            <a:off x="6931857" y="1128281"/>
            <a:ext cx="587594" cy="717118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AECF53B-0D51-64FD-F9EB-F737B6B722BB}"/>
              </a:ext>
            </a:extLst>
          </p:cNvPr>
          <p:cNvCxnSpPr>
            <a:cxnSpLocks/>
          </p:cNvCxnSpPr>
          <p:nvPr/>
        </p:nvCxnSpPr>
        <p:spPr>
          <a:xfrm>
            <a:off x="7552265" y="1134127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ZoneTexte 109">
            <a:extLst>
              <a:ext uri="{FF2B5EF4-FFF2-40B4-BE49-F238E27FC236}">
                <a16:creationId xmlns:a16="http://schemas.microsoft.com/office/drawing/2014/main" id="{14931BB5-CCFF-63A5-1165-C3D931E8DDAA}"/>
              </a:ext>
            </a:extLst>
          </p:cNvPr>
          <p:cNvSpPr txBox="1"/>
          <p:nvPr/>
        </p:nvSpPr>
        <p:spPr>
          <a:xfrm>
            <a:off x="6525136" y="1845399"/>
            <a:ext cx="70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d(5)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F7F5523-C015-ADDC-C272-DEBE5CDD69DF}"/>
              </a:ext>
            </a:extLst>
          </p:cNvPr>
          <p:cNvCxnSpPr>
            <a:cxnSpLocks/>
          </p:cNvCxnSpPr>
          <p:nvPr/>
        </p:nvCxnSpPr>
        <p:spPr>
          <a:xfrm flipH="1">
            <a:off x="7519451" y="1128281"/>
            <a:ext cx="16407" cy="103168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ZoneTexte 109">
            <a:extLst>
              <a:ext uri="{FF2B5EF4-FFF2-40B4-BE49-F238E27FC236}">
                <a16:creationId xmlns:a16="http://schemas.microsoft.com/office/drawing/2014/main" id="{2672BC96-303E-1430-3032-E1201AEA776A}"/>
              </a:ext>
            </a:extLst>
          </p:cNvPr>
          <p:cNvSpPr txBox="1"/>
          <p:nvPr/>
        </p:nvSpPr>
        <p:spPr>
          <a:xfrm>
            <a:off x="7242061" y="2137206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c(4)</a:t>
            </a:r>
          </a:p>
        </p:txBody>
      </p:sp>
      <p:sp>
        <p:nvSpPr>
          <p:cNvPr id="16" name="ZoneTexte 109">
            <a:extLst>
              <a:ext uri="{FF2B5EF4-FFF2-40B4-BE49-F238E27FC236}">
                <a16:creationId xmlns:a16="http://schemas.microsoft.com/office/drawing/2014/main" id="{A4FA2B4C-0401-5542-CFB3-D27487FB68FC}"/>
              </a:ext>
            </a:extLst>
          </p:cNvPr>
          <p:cNvSpPr txBox="1"/>
          <p:nvPr/>
        </p:nvSpPr>
        <p:spPr>
          <a:xfrm>
            <a:off x="7865284" y="1992377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b(12)</a:t>
            </a:r>
          </a:p>
        </p:txBody>
      </p:sp>
      <p:sp>
        <p:nvSpPr>
          <p:cNvPr id="2" name="ZoneTexte 109">
            <a:extLst>
              <a:ext uri="{FF2B5EF4-FFF2-40B4-BE49-F238E27FC236}">
                <a16:creationId xmlns:a16="http://schemas.microsoft.com/office/drawing/2014/main" id="{D77671AD-34EB-CE78-07EF-73C1FE45C330}"/>
              </a:ext>
            </a:extLst>
          </p:cNvPr>
          <p:cNvSpPr txBox="1"/>
          <p:nvPr/>
        </p:nvSpPr>
        <p:spPr>
          <a:xfrm>
            <a:off x="7242061" y="2137206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c(4)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DBA113F-0ACD-90BA-22E5-950D0D383467}"/>
              </a:ext>
            </a:extLst>
          </p:cNvPr>
          <p:cNvCxnSpPr>
            <a:cxnSpLocks/>
          </p:cNvCxnSpPr>
          <p:nvPr/>
        </p:nvCxnSpPr>
        <p:spPr>
          <a:xfrm flipH="1">
            <a:off x="6931857" y="2420888"/>
            <a:ext cx="587594" cy="742244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0FAFBAF1-E71E-074C-66DB-B03BBB8759FF}"/>
              </a:ext>
            </a:extLst>
          </p:cNvPr>
          <p:cNvCxnSpPr>
            <a:cxnSpLocks/>
          </p:cNvCxnSpPr>
          <p:nvPr/>
        </p:nvCxnSpPr>
        <p:spPr>
          <a:xfrm>
            <a:off x="7519451" y="2463713"/>
            <a:ext cx="345833" cy="699419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ZoneTexte 109">
            <a:extLst>
              <a:ext uri="{FF2B5EF4-FFF2-40B4-BE49-F238E27FC236}">
                <a16:creationId xmlns:a16="http://schemas.microsoft.com/office/drawing/2014/main" id="{74633767-BB51-B072-241C-7079CA0FC936}"/>
              </a:ext>
            </a:extLst>
          </p:cNvPr>
          <p:cNvSpPr txBox="1"/>
          <p:nvPr/>
        </p:nvSpPr>
        <p:spPr>
          <a:xfrm>
            <a:off x="6525136" y="3184623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h(0)</a:t>
            </a:r>
          </a:p>
        </p:txBody>
      </p:sp>
      <p:sp>
        <p:nvSpPr>
          <p:cNvPr id="7" name="ZoneTexte 109">
            <a:extLst>
              <a:ext uri="{FF2B5EF4-FFF2-40B4-BE49-F238E27FC236}">
                <a16:creationId xmlns:a16="http://schemas.microsoft.com/office/drawing/2014/main" id="{BA52D604-EAB3-1C5D-D083-C9954F6C1359}"/>
              </a:ext>
            </a:extLst>
          </p:cNvPr>
          <p:cNvSpPr txBox="1"/>
          <p:nvPr/>
        </p:nvSpPr>
        <p:spPr>
          <a:xfrm>
            <a:off x="7537208" y="3166449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g(4)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DBC112-ED28-FA49-38E9-FE2AE0578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92D05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Déroulement d’algorithme </a:t>
            </a:r>
            <a:r>
              <a:rPr lang="fr-FR" b="0" dirty="0" err="1"/>
              <a:t>greedy</a:t>
            </a:r>
            <a:r>
              <a:rPr lang="fr-FR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2138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1" y="543444"/>
            <a:ext cx="4895850" cy="2914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91DEE342-C655-1B03-4B22-4A24B4127F5A}"/>
              </a:ext>
            </a:extLst>
          </p:cNvPr>
          <p:cNvSpPr txBox="1"/>
          <p:nvPr/>
        </p:nvSpPr>
        <p:spPr>
          <a:xfrm>
            <a:off x="7380312" y="764704"/>
            <a:ext cx="36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217342-C1CB-C171-21C1-71AAA15A06B1}"/>
              </a:ext>
            </a:extLst>
          </p:cNvPr>
          <p:cNvSpPr txBox="1"/>
          <p:nvPr/>
        </p:nvSpPr>
        <p:spPr>
          <a:xfrm>
            <a:off x="0" y="3501181"/>
            <a:ext cx="60423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[a(10)] 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: </a:t>
            </a: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b(12),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(4), d(5)</a:t>
            </a:r>
          </a:p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[c(4),d(5), b(12)] </a:t>
            </a:r>
          </a:p>
          <a:p>
            <a:pPr marL="285750" indent="-285750">
              <a:buFontTx/>
              <a:buChar char="-"/>
            </a:pPr>
            <a:r>
              <a:rPr lang="fr-CA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 : c(4)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h(0), g(4)</a:t>
            </a:r>
          </a:p>
          <a:p>
            <a:pPr marL="285750" indent="-285750">
              <a:buFontTx/>
              <a:buChar char="-"/>
            </a:pP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Q = [h(0), g(4), d(5), b(12)]</a:t>
            </a:r>
          </a:p>
          <a:p>
            <a:pPr marL="285750" indent="-285750">
              <a:buFontTx/>
              <a:buChar char="-"/>
            </a:pPr>
            <a:r>
              <a:rPr lang="fr-CA" dirty="0" err="1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 = solution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9C4B1A61-4D6E-7943-B715-497597241DF8}"/>
              </a:ext>
            </a:extLst>
          </p:cNvPr>
          <p:cNvCxnSpPr>
            <a:cxnSpLocks/>
          </p:cNvCxnSpPr>
          <p:nvPr/>
        </p:nvCxnSpPr>
        <p:spPr>
          <a:xfrm flipH="1">
            <a:off x="6931857" y="1128281"/>
            <a:ext cx="587594" cy="717118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AECF53B-0D51-64FD-F9EB-F737B6B722BB}"/>
              </a:ext>
            </a:extLst>
          </p:cNvPr>
          <p:cNvCxnSpPr>
            <a:cxnSpLocks/>
          </p:cNvCxnSpPr>
          <p:nvPr/>
        </p:nvCxnSpPr>
        <p:spPr>
          <a:xfrm>
            <a:off x="7552265" y="1134127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ZoneTexte 109">
            <a:extLst>
              <a:ext uri="{FF2B5EF4-FFF2-40B4-BE49-F238E27FC236}">
                <a16:creationId xmlns:a16="http://schemas.microsoft.com/office/drawing/2014/main" id="{14931BB5-CCFF-63A5-1165-C3D931E8DDAA}"/>
              </a:ext>
            </a:extLst>
          </p:cNvPr>
          <p:cNvSpPr txBox="1"/>
          <p:nvPr/>
        </p:nvSpPr>
        <p:spPr>
          <a:xfrm>
            <a:off x="6638060" y="1845399"/>
            <a:ext cx="587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highlight>
                  <a:srgbClr val="FFFF00"/>
                </a:highlight>
              </a:rPr>
              <a:t>d(5)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F7F5523-C015-ADDC-C272-DEBE5CDD69DF}"/>
              </a:ext>
            </a:extLst>
          </p:cNvPr>
          <p:cNvCxnSpPr>
            <a:cxnSpLocks/>
          </p:cNvCxnSpPr>
          <p:nvPr/>
        </p:nvCxnSpPr>
        <p:spPr>
          <a:xfrm flipH="1">
            <a:off x="7519451" y="1128281"/>
            <a:ext cx="16407" cy="103168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ZoneTexte 109">
            <a:extLst>
              <a:ext uri="{FF2B5EF4-FFF2-40B4-BE49-F238E27FC236}">
                <a16:creationId xmlns:a16="http://schemas.microsoft.com/office/drawing/2014/main" id="{2672BC96-303E-1430-3032-E1201AEA776A}"/>
              </a:ext>
            </a:extLst>
          </p:cNvPr>
          <p:cNvSpPr txBox="1"/>
          <p:nvPr/>
        </p:nvSpPr>
        <p:spPr>
          <a:xfrm>
            <a:off x="7242061" y="2137206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c(4)</a:t>
            </a:r>
          </a:p>
        </p:txBody>
      </p:sp>
      <p:sp>
        <p:nvSpPr>
          <p:cNvPr id="16" name="ZoneTexte 109">
            <a:extLst>
              <a:ext uri="{FF2B5EF4-FFF2-40B4-BE49-F238E27FC236}">
                <a16:creationId xmlns:a16="http://schemas.microsoft.com/office/drawing/2014/main" id="{A4FA2B4C-0401-5542-CFB3-D27487FB68FC}"/>
              </a:ext>
            </a:extLst>
          </p:cNvPr>
          <p:cNvSpPr txBox="1"/>
          <p:nvPr/>
        </p:nvSpPr>
        <p:spPr>
          <a:xfrm>
            <a:off x="7865284" y="1992377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b(12)</a:t>
            </a:r>
          </a:p>
        </p:txBody>
      </p:sp>
      <p:sp>
        <p:nvSpPr>
          <p:cNvPr id="2" name="ZoneTexte 109">
            <a:extLst>
              <a:ext uri="{FF2B5EF4-FFF2-40B4-BE49-F238E27FC236}">
                <a16:creationId xmlns:a16="http://schemas.microsoft.com/office/drawing/2014/main" id="{D77671AD-34EB-CE78-07EF-73C1FE45C330}"/>
              </a:ext>
            </a:extLst>
          </p:cNvPr>
          <p:cNvSpPr txBox="1"/>
          <p:nvPr/>
        </p:nvSpPr>
        <p:spPr>
          <a:xfrm>
            <a:off x="7242061" y="2137206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c(4)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DBA113F-0ACD-90BA-22E5-950D0D383467}"/>
              </a:ext>
            </a:extLst>
          </p:cNvPr>
          <p:cNvCxnSpPr>
            <a:cxnSpLocks/>
          </p:cNvCxnSpPr>
          <p:nvPr/>
        </p:nvCxnSpPr>
        <p:spPr>
          <a:xfrm flipH="1">
            <a:off x="6931857" y="2420888"/>
            <a:ext cx="587594" cy="742244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0FAFBAF1-E71E-074C-66DB-B03BBB8759FF}"/>
              </a:ext>
            </a:extLst>
          </p:cNvPr>
          <p:cNvCxnSpPr>
            <a:cxnSpLocks/>
          </p:cNvCxnSpPr>
          <p:nvPr/>
        </p:nvCxnSpPr>
        <p:spPr>
          <a:xfrm>
            <a:off x="7519451" y="2463713"/>
            <a:ext cx="345833" cy="699419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ZoneTexte 109">
            <a:extLst>
              <a:ext uri="{FF2B5EF4-FFF2-40B4-BE49-F238E27FC236}">
                <a16:creationId xmlns:a16="http://schemas.microsoft.com/office/drawing/2014/main" id="{74633767-BB51-B072-241C-7079CA0FC936}"/>
              </a:ext>
            </a:extLst>
          </p:cNvPr>
          <p:cNvSpPr txBox="1"/>
          <p:nvPr/>
        </p:nvSpPr>
        <p:spPr>
          <a:xfrm>
            <a:off x="6525136" y="3184623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h(0)</a:t>
            </a:r>
          </a:p>
        </p:txBody>
      </p:sp>
      <p:sp>
        <p:nvSpPr>
          <p:cNvPr id="7" name="ZoneTexte 109">
            <a:extLst>
              <a:ext uri="{FF2B5EF4-FFF2-40B4-BE49-F238E27FC236}">
                <a16:creationId xmlns:a16="http://schemas.microsoft.com/office/drawing/2014/main" id="{BA52D604-EAB3-1C5D-D083-C9954F6C1359}"/>
              </a:ext>
            </a:extLst>
          </p:cNvPr>
          <p:cNvSpPr txBox="1"/>
          <p:nvPr/>
        </p:nvSpPr>
        <p:spPr>
          <a:xfrm>
            <a:off x="7537208" y="3166449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g(4)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7C49C4-61AE-D849-DAFB-FD5C0BDA7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92D05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Déroulement d’algorithme </a:t>
            </a:r>
            <a:r>
              <a:rPr lang="fr-FR" b="0" dirty="0" err="1"/>
              <a:t>greedy</a:t>
            </a:r>
            <a:r>
              <a:rPr lang="fr-FR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8428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5"/>
          <p:cNvSpPr>
            <a:spLocks noChangeArrowheads="1"/>
          </p:cNvSpPr>
          <p:nvPr/>
        </p:nvSpPr>
        <p:spPr bwMode="auto">
          <a:xfrm>
            <a:off x="0" y="1557338"/>
            <a:ext cx="91440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• </a:t>
            </a:r>
            <a:r>
              <a:rPr lang="fr-FR" i="1" dirty="0" err="1"/>
              <a:t>Greedy</a:t>
            </a:r>
            <a:r>
              <a:rPr lang="fr-FR" i="1" dirty="0"/>
              <a:t> </a:t>
            </a:r>
            <a:r>
              <a:rPr lang="fr-FR" i="1" dirty="0" err="1"/>
              <a:t>search</a:t>
            </a:r>
            <a:r>
              <a:rPr lang="fr-FR" b="0" i="1" dirty="0"/>
              <a:t> </a:t>
            </a:r>
            <a:r>
              <a:rPr lang="fr-FR" b="0" dirty="0"/>
              <a:t>minimise le coût estimé </a:t>
            </a:r>
            <a:r>
              <a:rPr lang="fr-FR" b="0" i="1" dirty="0"/>
              <a:t>h(n) </a:t>
            </a:r>
            <a:r>
              <a:rPr lang="fr-FR" b="0" dirty="0"/>
              <a:t>du </a:t>
            </a:r>
            <a:r>
              <a:rPr lang="fr-FR" b="0" dirty="0" err="1"/>
              <a:t>noeud</a:t>
            </a:r>
            <a:r>
              <a:rPr lang="fr-FR" b="0" dirty="0"/>
              <a:t> </a:t>
            </a:r>
            <a:r>
              <a:rPr lang="fr-FR" b="0" i="1" dirty="0"/>
              <a:t>n </a:t>
            </a:r>
            <a:r>
              <a:rPr lang="fr-FR" b="0" dirty="0"/>
              <a:t>au but réduisant ainsi considérablement le coût de la recherche, mais il n'est pas optimal et pas complet</a:t>
            </a:r>
          </a:p>
          <a:p>
            <a:pPr algn="l"/>
            <a:endParaRPr lang="fr-FR" b="0" dirty="0"/>
          </a:p>
          <a:p>
            <a:pPr algn="l"/>
            <a:r>
              <a:rPr lang="fr-FR" b="0" dirty="0"/>
              <a:t>• l'algorithme de recherche en coût uniforme minimise le coût </a:t>
            </a:r>
            <a:r>
              <a:rPr lang="fr-FR" b="0" i="1" dirty="0"/>
              <a:t>g(n) </a:t>
            </a:r>
            <a:r>
              <a:rPr lang="fr-FR" b="0" dirty="0"/>
              <a:t>depuis l'état initial au </a:t>
            </a:r>
            <a:r>
              <a:rPr lang="fr-FR" b="0" dirty="0" err="1"/>
              <a:t>noeud</a:t>
            </a:r>
            <a:r>
              <a:rPr lang="fr-FR" b="0" dirty="0"/>
              <a:t> </a:t>
            </a:r>
            <a:r>
              <a:rPr lang="fr-FR" b="0" i="1" dirty="0"/>
              <a:t>n</a:t>
            </a:r>
            <a:r>
              <a:rPr lang="fr-FR" b="0" dirty="0"/>
              <a:t>, il est optimal et complet, mais pas très  </a:t>
            </a:r>
            <a:r>
              <a:rPr lang="fr-FR" dirty="0"/>
              <a:t>Efficace</a:t>
            </a:r>
          </a:p>
          <a:p>
            <a:pPr algn="l"/>
            <a:endParaRPr lang="fr-FR" b="0" dirty="0"/>
          </a:p>
          <a:p>
            <a:pPr algn="l"/>
            <a:r>
              <a:rPr lang="fr-FR" b="0" dirty="0"/>
              <a:t>• </a:t>
            </a:r>
            <a:r>
              <a:rPr lang="fr-FR" dirty="0">
                <a:solidFill>
                  <a:srgbClr val="0066FF"/>
                </a:solidFill>
              </a:rPr>
              <a:t>idée:</a:t>
            </a:r>
            <a:r>
              <a:rPr lang="fr-FR" b="0" dirty="0"/>
              <a:t> </a:t>
            </a:r>
            <a:r>
              <a:rPr lang="fr-FR" sz="1600" b="0" dirty="0">
                <a:solidFill>
                  <a:srgbClr val="FF3300"/>
                </a:solidFill>
              </a:rPr>
              <a:t>combiner les deux algorithmes et minimiser le coût total </a:t>
            </a:r>
            <a:r>
              <a:rPr lang="fr-FR" sz="1600" b="0" i="1" dirty="0">
                <a:solidFill>
                  <a:srgbClr val="FF3300"/>
                </a:solidFill>
              </a:rPr>
              <a:t>f(n) </a:t>
            </a:r>
            <a:r>
              <a:rPr lang="fr-FR" sz="1600" b="0" dirty="0">
                <a:solidFill>
                  <a:srgbClr val="FF3300"/>
                </a:solidFill>
              </a:rPr>
              <a:t>du chemin passant par le </a:t>
            </a:r>
            <a:r>
              <a:rPr lang="fr-FR" sz="1600" b="0" dirty="0" err="1">
                <a:solidFill>
                  <a:srgbClr val="FF3300"/>
                </a:solidFill>
              </a:rPr>
              <a:t>noeud</a:t>
            </a:r>
            <a:r>
              <a:rPr lang="fr-FR" sz="1600" b="0" dirty="0">
                <a:solidFill>
                  <a:srgbClr val="FF3300"/>
                </a:solidFill>
              </a:rPr>
              <a:t> </a:t>
            </a:r>
            <a:r>
              <a:rPr lang="fr-FR" sz="1600" b="0" i="1" dirty="0">
                <a:solidFill>
                  <a:srgbClr val="FF3300"/>
                </a:solidFill>
              </a:rPr>
              <a:t>n</a:t>
            </a:r>
          </a:p>
          <a:p>
            <a:pPr algn="l"/>
            <a:endParaRPr lang="fr-FR" sz="1600" b="0" i="1" dirty="0"/>
          </a:p>
          <a:p>
            <a:pPr lvl="1" algn="ctr"/>
            <a:r>
              <a:rPr lang="fr-FR" sz="2000" b="1" i="1" dirty="0"/>
              <a:t>f(n) = </a:t>
            </a:r>
            <a:r>
              <a:rPr lang="fr-FR" sz="2000" b="1" i="1" dirty="0">
                <a:solidFill>
                  <a:srgbClr val="FF0000"/>
                </a:solidFill>
              </a:rPr>
              <a:t>g(n)</a:t>
            </a:r>
            <a:r>
              <a:rPr lang="fr-FR" sz="2000" b="1" i="1" dirty="0"/>
              <a:t> + </a:t>
            </a:r>
            <a:r>
              <a:rPr lang="fr-FR" sz="2000" b="1" i="1" dirty="0">
                <a:solidFill>
                  <a:srgbClr val="00B050"/>
                </a:solidFill>
              </a:rPr>
              <a:t>h(n)</a:t>
            </a:r>
            <a:r>
              <a:rPr lang="fr-FR" sz="2000" b="1" i="1" dirty="0"/>
              <a:t> </a:t>
            </a:r>
            <a:r>
              <a:rPr lang="fr-FR" b="0" i="1" dirty="0"/>
              <a:t> </a:t>
            </a:r>
          </a:p>
          <a:p>
            <a:pPr algn="l"/>
            <a:endParaRPr lang="fr-CA" b="0" i="1" dirty="0">
              <a:solidFill>
                <a:srgbClr val="0066FF"/>
              </a:solidFill>
            </a:endParaRPr>
          </a:p>
          <a:p>
            <a:pPr algn="l"/>
            <a:endParaRPr lang="fr-CA" b="0" i="1" dirty="0">
              <a:solidFill>
                <a:srgbClr val="0066FF"/>
              </a:solidFill>
            </a:endParaRPr>
          </a:p>
          <a:p>
            <a:pPr algn="l"/>
            <a:endParaRPr lang="fr-CA" b="0" i="1" dirty="0">
              <a:solidFill>
                <a:srgbClr val="0066FF"/>
              </a:solidFill>
            </a:endParaRPr>
          </a:p>
        </p:txBody>
      </p:sp>
      <p:sp>
        <p:nvSpPr>
          <p:cNvPr id="60420" name="Rectangle 12"/>
          <p:cNvSpPr>
            <a:spLocks noChangeArrowheads="1"/>
          </p:cNvSpPr>
          <p:nvPr/>
        </p:nvSpPr>
        <p:spPr bwMode="auto">
          <a:xfrm>
            <a:off x="3325049" y="692150"/>
            <a:ext cx="1979516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fr-FR" sz="2400" dirty="0">
                <a:solidFill>
                  <a:schemeClr val="accent2"/>
                </a:solidFill>
              </a:rPr>
              <a:t>Algorithme A*</a:t>
            </a:r>
          </a:p>
        </p:txBody>
      </p:sp>
      <p:sp>
        <p:nvSpPr>
          <p:cNvPr id="5" name="Ellipse 1"/>
          <p:cNvSpPr>
            <a:spLocks noChangeArrowheads="1"/>
          </p:cNvSpPr>
          <p:nvPr/>
        </p:nvSpPr>
        <p:spPr bwMode="auto">
          <a:xfrm>
            <a:off x="8217500" y="3527430"/>
            <a:ext cx="215900" cy="215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dirty="0"/>
              <a:t>A</a:t>
            </a:r>
          </a:p>
        </p:txBody>
      </p:sp>
      <p:sp>
        <p:nvSpPr>
          <p:cNvPr id="6" name="Ellipse 5"/>
          <p:cNvSpPr>
            <a:spLocks noChangeArrowheads="1"/>
          </p:cNvSpPr>
          <p:nvPr/>
        </p:nvSpPr>
        <p:spPr bwMode="auto">
          <a:xfrm>
            <a:off x="6941150" y="5035555"/>
            <a:ext cx="217487" cy="215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dirty="0"/>
              <a:t>n’</a:t>
            </a:r>
          </a:p>
        </p:txBody>
      </p:sp>
      <p:sp>
        <p:nvSpPr>
          <p:cNvPr id="7" name="Ellipse 6"/>
          <p:cNvSpPr>
            <a:spLocks noChangeArrowheads="1"/>
          </p:cNvSpPr>
          <p:nvPr/>
        </p:nvSpPr>
        <p:spPr bwMode="auto">
          <a:xfrm>
            <a:off x="6704612" y="5808668"/>
            <a:ext cx="215900" cy="215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dirty="0"/>
              <a:t>n</a:t>
            </a:r>
          </a:p>
        </p:txBody>
      </p:sp>
      <p:sp>
        <p:nvSpPr>
          <p:cNvPr id="8" name="Ellipse 7"/>
          <p:cNvSpPr>
            <a:spLocks noChangeArrowheads="1"/>
          </p:cNvSpPr>
          <p:nvPr/>
        </p:nvSpPr>
        <p:spPr bwMode="auto">
          <a:xfrm>
            <a:off x="8001600" y="4249743"/>
            <a:ext cx="215900" cy="215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dirty="0"/>
              <a:t>b</a:t>
            </a:r>
          </a:p>
        </p:txBody>
      </p:sp>
      <p:sp>
        <p:nvSpPr>
          <p:cNvPr id="9" name="Ellipse 8"/>
          <p:cNvSpPr>
            <a:spLocks noChangeArrowheads="1"/>
          </p:cNvSpPr>
          <p:nvPr/>
        </p:nvSpPr>
        <p:spPr bwMode="auto">
          <a:xfrm>
            <a:off x="5129291" y="6486185"/>
            <a:ext cx="215900" cy="215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dirty="0"/>
              <a:t>G</a:t>
            </a:r>
          </a:p>
        </p:txBody>
      </p:sp>
      <p:cxnSp>
        <p:nvCxnSpPr>
          <p:cNvPr id="10" name="Connecteur droit avec flèche 3"/>
          <p:cNvCxnSpPr>
            <a:cxnSpLocks noChangeShapeType="1"/>
            <a:stCxn id="5" idx="4"/>
            <a:endCxn id="8" idx="0"/>
          </p:cNvCxnSpPr>
          <p:nvPr/>
        </p:nvCxnSpPr>
        <p:spPr bwMode="auto">
          <a:xfrm flipH="1">
            <a:off x="8109550" y="3743330"/>
            <a:ext cx="215900" cy="50641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1" name="Connecteur droit avec flèche 9"/>
          <p:cNvCxnSpPr>
            <a:cxnSpLocks noChangeShapeType="1"/>
            <a:stCxn id="8" idx="4"/>
            <a:endCxn id="16" idx="7"/>
          </p:cNvCxnSpPr>
          <p:nvPr/>
        </p:nvCxnSpPr>
        <p:spPr bwMode="auto">
          <a:xfrm flipH="1">
            <a:off x="7785700" y="4465643"/>
            <a:ext cx="323850" cy="2698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cxnSp>
        <p:nvCxnSpPr>
          <p:cNvPr id="12" name="Connecteur droit avec flèche 13"/>
          <p:cNvCxnSpPr>
            <a:cxnSpLocks noChangeShapeType="1"/>
            <a:stCxn id="17" idx="3"/>
          </p:cNvCxnSpPr>
          <p:nvPr/>
        </p:nvCxnSpPr>
        <p:spPr bwMode="auto">
          <a:xfrm flipH="1">
            <a:off x="7158637" y="4841880"/>
            <a:ext cx="511175" cy="2889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cxnSp>
        <p:nvCxnSpPr>
          <p:cNvPr id="13" name="Connecteur droit avec flèche 14"/>
          <p:cNvCxnSpPr>
            <a:cxnSpLocks noChangeShapeType="1"/>
            <a:stCxn id="6" idx="4"/>
            <a:endCxn id="7" idx="7"/>
          </p:cNvCxnSpPr>
          <p:nvPr/>
        </p:nvCxnSpPr>
        <p:spPr bwMode="auto">
          <a:xfrm flipH="1">
            <a:off x="6888762" y="5251455"/>
            <a:ext cx="161925" cy="5889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4" name="Connecteur droit avec flèche 18"/>
          <p:cNvCxnSpPr>
            <a:cxnSpLocks noChangeShapeType="1"/>
          </p:cNvCxnSpPr>
          <p:nvPr/>
        </p:nvCxnSpPr>
        <p:spPr bwMode="auto">
          <a:xfrm flipH="1">
            <a:off x="6307737" y="5903918"/>
            <a:ext cx="396875" cy="2444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6730012" y="5360993"/>
            <a:ext cx="6096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 sz="1200" b="0">
                <a:solidFill>
                  <a:srgbClr val="FF3300"/>
                </a:solidFill>
              </a:rPr>
              <a:t>c(n’,n)</a:t>
            </a:r>
            <a:endParaRPr lang="fr-FR" sz="1200"/>
          </a:p>
        </p:txBody>
      </p:sp>
      <p:sp>
        <p:nvSpPr>
          <p:cNvPr id="16" name="Ellipse 22"/>
          <p:cNvSpPr>
            <a:spLocks noChangeArrowheads="1"/>
          </p:cNvSpPr>
          <p:nvPr/>
        </p:nvSpPr>
        <p:spPr bwMode="auto">
          <a:xfrm>
            <a:off x="7601550" y="4703768"/>
            <a:ext cx="215900" cy="215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fr-FR"/>
              <a:t>k</a:t>
            </a:r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7071325" y="4703768"/>
            <a:ext cx="5984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 sz="1200" b="0">
                <a:solidFill>
                  <a:srgbClr val="FF3300"/>
                </a:solidFill>
              </a:rPr>
              <a:t>c(k,n’)</a:t>
            </a:r>
            <a:endParaRPr lang="fr-FR" sz="1200"/>
          </a:p>
        </p:txBody>
      </p:sp>
      <p:sp>
        <p:nvSpPr>
          <p:cNvPr id="18" name="Rectangle 29"/>
          <p:cNvSpPr>
            <a:spLocks noChangeArrowheads="1"/>
          </p:cNvSpPr>
          <p:nvPr/>
        </p:nvSpPr>
        <p:spPr bwMode="auto">
          <a:xfrm>
            <a:off x="7931750" y="4533905"/>
            <a:ext cx="56991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 sz="1200" b="0">
                <a:solidFill>
                  <a:srgbClr val="FF3300"/>
                </a:solidFill>
              </a:rPr>
              <a:t>c(b,k)</a:t>
            </a:r>
            <a:endParaRPr lang="fr-FR" sz="1200"/>
          </a:p>
        </p:txBody>
      </p:sp>
      <p:sp>
        <p:nvSpPr>
          <p:cNvPr id="19" name="Rectangle 30"/>
          <p:cNvSpPr>
            <a:spLocks noChangeArrowheads="1"/>
          </p:cNvSpPr>
          <p:nvPr/>
        </p:nvSpPr>
        <p:spPr bwMode="auto">
          <a:xfrm>
            <a:off x="8049225" y="3857630"/>
            <a:ext cx="59531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 sz="1200" b="0">
                <a:solidFill>
                  <a:srgbClr val="FF3300"/>
                </a:solidFill>
              </a:rPr>
              <a:t>c(A,b)</a:t>
            </a:r>
            <a:endParaRPr lang="fr-FR" sz="120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4573588" y="5735561"/>
            <a:ext cx="28559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sz="1200" b="0" dirty="0">
                <a:solidFill>
                  <a:srgbClr val="FF3300"/>
                </a:solidFill>
              </a:rPr>
              <a:t>g(n)=c(</a:t>
            </a:r>
            <a:r>
              <a:rPr lang="fr-FR" sz="1200" b="0" dirty="0" err="1">
                <a:solidFill>
                  <a:srgbClr val="FF3300"/>
                </a:solidFill>
              </a:rPr>
              <a:t>A,b</a:t>
            </a:r>
            <a:r>
              <a:rPr lang="fr-FR" sz="1200" b="0" dirty="0">
                <a:solidFill>
                  <a:srgbClr val="FF3300"/>
                </a:solidFill>
              </a:rPr>
              <a:t>)+c(</a:t>
            </a:r>
            <a:r>
              <a:rPr lang="fr-FR" sz="1200" b="0" dirty="0" err="1">
                <a:solidFill>
                  <a:srgbClr val="FF3300"/>
                </a:solidFill>
              </a:rPr>
              <a:t>b,k</a:t>
            </a:r>
            <a:r>
              <a:rPr lang="fr-FR" sz="1200" b="0" dirty="0">
                <a:solidFill>
                  <a:srgbClr val="FF3300"/>
                </a:solidFill>
              </a:rPr>
              <a:t>)+c(</a:t>
            </a:r>
            <a:r>
              <a:rPr lang="fr-FR" sz="1200" b="0" dirty="0" err="1">
                <a:solidFill>
                  <a:srgbClr val="FF3300"/>
                </a:solidFill>
              </a:rPr>
              <a:t>k,n</a:t>
            </a:r>
            <a:r>
              <a:rPr lang="fr-FR" sz="1200" b="0" dirty="0">
                <a:solidFill>
                  <a:srgbClr val="FF3300"/>
                </a:solidFill>
              </a:rPr>
              <a:t>’)+c(n’,n)</a:t>
            </a:r>
            <a:endParaRPr lang="fr-FR" sz="1200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5606855" y="6459994"/>
            <a:ext cx="315833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00B050"/>
                </a:solidFill>
              </a:rPr>
              <a:t>h(n)= estimation du coût entre n et G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4607348" y="6478425"/>
            <a:ext cx="6298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0070C0"/>
                </a:solidFill>
              </a:rPr>
              <a:t>BUT</a:t>
            </a:r>
          </a:p>
        </p:txBody>
      </p:sp>
      <p:cxnSp>
        <p:nvCxnSpPr>
          <p:cNvPr id="23" name="Connecteur droit avec flèche 18"/>
          <p:cNvCxnSpPr>
            <a:cxnSpLocks noChangeShapeType="1"/>
          </p:cNvCxnSpPr>
          <p:nvPr/>
        </p:nvCxnSpPr>
        <p:spPr bwMode="auto">
          <a:xfrm flipH="1">
            <a:off x="5328636" y="6148393"/>
            <a:ext cx="278219" cy="465489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250825" y="5157788"/>
            <a:ext cx="8208963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sz="1600" b="0" dirty="0"/>
              <a:t>Dans la vie réelle on utilise aussi l’heuristique:</a:t>
            </a:r>
          </a:p>
          <a:p>
            <a:pPr algn="l"/>
            <a:endParaRPr lang="fr-FR" sz="1600" b="0" dirty="0"/>
          </a:p>
          <a:p>
            <a:pPr algn="l"/>
            <a:r>
              <a:rPr lang="fr-FR" sz="1600" b="0" dirty="0"/>
              <a:t>Exemple:</a:t>
            </a:r>
            <a:r>
              <a:rPr lang="fr-FR" sz="1600" b="0" dirty="0">
                <a:solidFill>
                  <a:srgbClr val="0066FF"/>
                </a:solidFill>
              </a:rPr>
              <a:t> Au supermarché, on choisit la queue la moins longue ou alors on choisit la queue dans laquelle les clients ont le plus petit nombre d’objets dans leur panier.</a:t>
            </a:r>
          </a:p>
          <a:p>
            <a:pPr algn="l"/>
            <a:endParaRPr lang="fr-FR" sz="1600" b="0" dirty="0">
              <a:solidFill>
                <a:srgbClr val="0066FF"/>
              </a:solidFill>
            </a:endParaRPr>
          </a:p>
        </p:txBody>
      </p:sp>
      <p:sp>
        <p:nvSpPr>
          <p:cNvPr id="61444" name="Rectangle 6"/>
          <p:cNvSpPr>
            <a:spLocks noChangeArrowheads="1"/>
          </p:cNvSpPr>
          <p:nvPr/>
        </p:nvSpPr>
        <p:spPr bwMode="auto">
          <a:xfrm>
            <a:off x="0" y="981075"/>
            <a:ext cx="8458200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algn="l">
              <a:lnSpc>
                <a:spcPct val="90000"/>
              </a:lnSpc>
              <a:spcBef>
                <a:spcPct val="20000"/>
              </a:spcBef>
            </a:pPr>
            <a:r>
              <a:rPr lang="fr-FR" sz="1400" b="0" dirty="0">
                <a:solidFill>
                  <a:srgbClr val="FF3300"/>
                </a:solidFill>
              </a:rPr>
              <a:t>g(n) = profondeur du nœud n dans l’arbre de recherche</a:t>
            </a:r>
          </a:p>
          <a:p>
            <a:pPr marL="742950" lvl="1" indent="-285750" algn="l">
              <a:lnSpc>
                <a:spcPct val="90000"/>
              </a:lnSpc>
              <a:spcBef>
                <a:spcPct val="20000"/>
              </a:spcBef>
            </a:pPr>
            <a:r>
              <a:rPr lang="fr-FR" sz="1400" b="0" dirty="0">
                <a:solidFill>
                  <a:srgbClr val="FF3300"/>
                </a:solidFill>
              </a:rPr>
              <a:t>h1(n) = nombre de carrés mal placés dans ce nœud (sans le carré vide)</a:t>
            </a:r>
          </a:p>
          <a:p>
            <a:pPr marL="742950" lvl="1" indent="-285750" algn="l">
              <a:lnSpc>
                <a:spcPct val="90000"/>
              </a:lnSpc>
              <a:spcBef>
                <a:spcPct val="20000"/>
              </a:spcBef>
            </a:pPr>
            <a:r>
              <a:rPr lang="fr-FR" sz="1400" b="0" dirty="0">
                <a:solidFill>
                  <a:srgbClr val="FF3300"/>
                </a:solidFill>
              </a:rPr>
              <a:t>h2(n) = somme des distances “</a:t>
            </a:r>
            <a:r>
              <a:rPr lang="fr-FR" sz="1400" b="0" dirty="0" err="1">
                <a:solidFill>
                  <a:srgbClr val="FF3300"/>
                </a:solidFill>
              </a:rPr>
              <a:t>manhattan</a:t>
            </a:r>
            <a:r>
              <a:rPr lang="fr-FR" sz="1400" b="0" dirty="0">
                <a:solidFill>
                  <a:srgbClr val="FF3300"/>
                </a:solidFill>
              </a:rPr>
              <a:t>” de chaque carré par rapport à sa destination finale [sans tenir compte des obstacles]</a:t>
            </a:r>
          </a:p>
          <a:p>
            <a:pPr marL="742950" lvl="1" indent="-285750" algn="l">
              <a:lnSpc>
                <a:spcPct val="90000"/>
              </a:lnSpc>
              <a:spcBef>
                <a:spcPct val="20000"/>
              </a:spcBef>
            </a:pPr>
            <a:r>
              <a:rPr lang="fr-FR" sz="1400" b="0" dirty="0">
                <a:solidFill>
                  <a:schemeClr val="accent2"/>
                </a:solidFill>
              </a:rPr>
              <a:t>g(n) est important puisque l’on cherche le chemin le plus court!</a:t>
            </a:r>
          </a:p>
        </p:txBody>
      </p:sp>
      <p:graphicFrame>
        <p:nvGraphicFramePr>
          <p:cNvPr id="122911" name="Group 31"/>
          <p:cNvGraphicFramePr>
            <a:graphicFrameLocks noGrp="1"/>
          </p:cNvGraphicFramePr>
          <p:nvPr/>
        </p:nvGraphicFramePr>
        <p:xfrm>
          <a:off x="900113" y="3078163"/>
          <a:ext cx="1150937" cy="858203"/>
        </p:xfrm>
        <a:graphic>
          <a:graphicData uri="http://schemas.openxmlformats.org/drawingml/2006/table">
            <a:tbl>
              <a:tblPr/>
              <a:tblGrid>
                <a:gridCol w="38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2912" name="Group 32"/>
          <p:cNvGraphicFramePr>
            <a:graphicFrameLocks noGrp="1"/>
          </p:cNvGraphicFramePr>
          <p:nvPr/>
        </p:nvGraphicFramePr>
        <p:xfrm>
          <a:off x="3851275" y="3068638"/>
          <a:ext cx="1152525" cy="865188"/>
        </p:xfrm>
        <a:graphic>
          <a:graphicData uri="http://schemas.openxmlformats.org/drawingml/2006/table">
            <a:tbl>
              <a:tblPr/>
              <a:tblGrid>
                <a:gridCol w="3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481" name="Rectangle 51"/>
          <p:cNvSpPr>
            <a:spLocks noChangeArrowheads="1"/>
          </p:cNvSpPr>
          <p:nvPr/>
        </p:nvSpPr>
        <p:spPr bwMode="auto">
          <a:xfrm>
            <a:off x="755650" y="4152900"/>
            <a:ext cx="4572000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sz="1200" b="0" dirty="0">
                <a:solidFill>
                  <a:srgbClr val="0066FF"/>
                </a:solidFill>
              </a:rPr>
              <a:t>f1(n) = g(n) + h1(n) = 0 +( 4) = 4</a:t>
            </a:r>
          </a:p>
          <a:p>
            <a:pPr algn="l"/>
            <a:r>
              <a:rPr lang="fr-FR" sz="1200" b="0" dirty="0">
                <a:solidFill>
                  <a:srgbClr val="0066FF"/>
                </a:solidFill>
              </a:rPr>
              <a:t>f2(n) = g(n) + h2(n) = 0 + (1 + 1 + 1 + 2) = 5</a:t>
            </a:r>
          </a:p>
          <a:p>
            <a:pPr algn="l"/>
            <a:r>
              <a:rPr lang="fr-FR" sz="1200" b="0" dirty="0">
                <a:solidFill>
                  <a:srgbClr val="0066FF"/>
                </a:solidFill>
              </a:rPr>
              <a:t>Une solution optimale prend 5 mouvements</a:t>
            </a:r>
          </a:p>
          <a:p>
            <a:pPr algn="l"/>
            <a:endParaRPr lang="fr-FR" sz="1200" b="0" dirty="0">
              <a:solidFill>
                <a:srgbClr val="0066FF"/>
              </a:solidFill>
            </a:endParaRPr>
          </a:p>
          <a:p>
            <a:pPr algn="l"/>
            <a:r>
              <a:rPr lang="fr-FR" sz="1200" dirty="0">
                <a:solidFill>
                  <a:srgbClr val="FF3300"/>
                </a:solidFill>
              </a:rPr>
              <a:t>f2 est en effet une meilleure estimation que f1</a:t>
            </a:r>
          </a:p>
        </p:txBody>
      </p:sp>
      <p:sp>
        <p:nvSpPr>
          <p:cNvPr id="61482" name="Rectangle 52"/>
          <p:cNvSpPr>
            <a:spLocks noChangeArrowheads="1"/>
          </p:cNvSpPr>
          <p:nvPr/>
        </p:nvSpPr>
        <p:spPr bwMode="auto">
          <a:xfrm>
            <a:off x="0" y="541338"/>
            <a:ext cx="2216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/>
              <a:t>Exemple: 8_puzzle</a:t>
            </a:r>
            <a:endParaRPr lang="fr-CA"/>
          </a:p>
        </p:txBody>
      </p:sp>
      <p:sp>
        <p:nvSpPr>
          <p:cNvPr id="61483" name="Rectangle 53"/>
          <p:cNvSpPr>
            <a:spLocks noChangeArrowheads="1"/>
          </p:cNvSpPr>
          <p:nvPr/>
        </p:nvSpPr>
        <p:spPr bwMode="auto">
          <a:xfrm>
            <a:off x="468313" y="2276475"/>
            <a:ext cx="80645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sz="1400" b="0" dirty="0"/>
              <a:t>- f1(n) = g(n) + h1(n)</a:t>
            </a:r>
          </a:p>
          <a:p>
            <a:pPr algn="l"/>
            <a:r>
              <a:rPr lang="fr-FR" sz="1400" b="0" dirty="0"/>
              <a:t>- f2(n) = g(n) + h2(n) </a:t>
            </a:r>
            <a:r>
              <a:rPr lang="fr-FR" sz="1400" b="0" dirty="0">
                <a:sym typeface="Wingdings" pitchFamily="2" charset="2"/>
              </a:rPr>
              <a:t> Meilleure estimation (</a:t>
            </a:r>
            <a:r>
              <a:rPr lang="fr-FR" sz="1400" b="0" dirty="0" err="1">
                <a:sym typeface="Wingdings" pitchFamily="2" charset="2"/>
              </a:rPr>
              <a:t>vis-a-vis</a:t>
            </a:r>
            <a:r>
              <a:rPr lang="fr-FR" sz="1400" b="0" dirty="0">
                <a:sym typeface="Wingdings" pitchFamily="2" charset="2"/>
              </a:rPr>
              <a:t> du nombre d’étapes avant le but)</a:t>
            </a:r>
          </a:p>
        </p:txBody>
      </p:sp>
      <p:cxnSp>
        <p:nvCxnSpPr>
          <p:cNvPr id="3" name="Connecteur droit avec flèche 2"/>
          <p:cNvCxnSpPr/>
          <p:nvPr/>
        </p:nvCxnSpPr>
        <p:spPr>
          <a:xfrm>
            <a:off x="6624228" y="4479970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V="1">
            <a:off x="6624228" y="3109610"/>
            <a:ext cx="0" cy="13703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6621931" y="3123606"/>
            <a:ext cx="1152128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V="1">
            <a:off x="7774059" y="3123606"/>
            <a:ext cx="0" cy="137036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6444208" y="4367371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7776356" y="29249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7056276" y="425244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6552220" y="361366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9416" y="4973122"/>
            <a:ext cx="4090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rgbClr val="FF3300"/>
                </a:solidFill>
              </a:rPr>
              <a:t>Distance de “Manhattan”(A,B)= |x |+ |y|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4"/>
          <p:cNvSpPr>
            <a:spLocks noChangeArrowheads="1"/>
          </p:cNvSpPr>
          <p:nvPr/>
        </p:nvSpPr>
        <p:spPr bwMode="auto">
          <a:xfrm>
            <a:off x="827088" y="774700"/>
            <a:ext cx="7345362" cy="5156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2400" dirty="0"/>
              <a:t>L’Algorithme A*</a:t>
            </a:r>
          </a:p>
          <a:p>
            <a:pPr algn="l"/>
            <a:endParaRPr lang="fr-FR" b="0" dirty="0"/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1.Q </a:t>
            </a:r>
            <a:r>
              <a:rPr lang="fr-FR" b="0" i="1" dirty="0">
                <a:solidFill>
                  <a:srgbClr val="0066FF"/>
                </a:solidFill>
              </a:rPr>
              <a:t>← </a:t>
            </a:r>
            <a:r>
              <a:rPr lang="fr-FR" b="0" dirty="0" err="1">
                <a:solidFill>
                  <a:srgbClr val="0066FF"/>
                </a:solidFill>
              </a:rPr>
              <a:t>noeud</a:t>
            </a:r>
            <a:r>
              <a:rPr lang="fr-FR" b="0" dirty="0">
                <a:solidFill>
                  <a:srgbClr val="0066FF"/>
                </a:solidFill>
              </a:rPr>
              <a:t> initial</a:t>
            </a:r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2.C </a:t>
            </a:r>
            <a:r>
              <a:rPr lang="fr-FR" b="0" i="1" dirty="0">
                <a:solidFill>
                  <a:srgbClr val="0066FF"/>
                </a:solidFill>
              </a:rPr>
              <a:t>← </a:t>
            </a:r>
            <a:r>
              <a:rPr lang="fr-FR" b="0" dirty="0">
                <a:solidFill>
                  <a:srgbClr val="0066FF"/>
                </a:solidFill>
              </a:rPr>
              <a:t>vide</a:t>
            </a:r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3.</a:t>
            </a:r>
            <a:r>
              <a:rPr lang="fr-FR" dirty="0">
                <a:solidFill>
                  <a:srgbClr val="0066FF"/>
                </a:solidFill>
              </a:rPr>
              <a:t>répéter</a:t>
            </a:r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4. </a:t>
            </a:r>
            <a:r>
              <a:rPr lang="fr-FR" dirty="0">
                <a:solidFill>
                  <a:srgbClr val="0066FF"/>
                </a:solidFill>
              </a:rPr>
              <a:t>si </a:t>
            </a:r>
            <a:r>
              <a:rPr lang="fr-FR" b="0" dirty="0">
                <a:solidFill>
                  <a:srgbClr val="0066FF"/>
                </a:solidFill>
              </a:rPr>
              <a:t>Q est vide, </a:t>
            </a:r>
            <a:r>
              <a:rPr lang="fr-FR" dirty="0">
                <a:solidFill>
                  <a:srgbClr val="0066FF"/>
                </a:solidFill>
              </a:rPr>
              <a:t>retour </a:t>
            </a:r>
            <a:r>
              <a:rPr lang="fr-FR" b="0" dirty="0">
                <a:solidFill>
                  <a:srgbClr val="0066FF"/>
                </a:solidFill>
              </a:rPr>
              <a:t>avec échec</a:t>
            </a:r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5. n </a:t>
            </a:r>
            <a:r>
              <a:rPr lang="fr-FR" b="0" i="1" dirty="0">
                <a:solidFill>
                  <a:srgbClr val="0066FF"/>
                </a:solidFill>
              </a:rPr>
              <a:t>← </a:t>
            </a:r>
            <a:r>
              <a:rPr lang="fr-FR" b="0" dirty="0">
                <a:solidFill>
                  <a:srgbClr val="0066FF"/>
                </a:solidFill>
              </a:rPr>
              <a:t>premier élément de Q,</a:t>
            </a:r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	Q </a:t>
            </a:r>
            <a:r>
              <a:rPr lang="fr-FR" b="0" i="1" dirty="0">
                <a:solidFill>
                  <a:srgbClr val="0066FF"/>
                </a:solidFill>
              </a:rPr>
              <a:t>← </a:t>
            </a:r>
            <a:r>
              <a:rPr lang="fr-FR" b="0" dirty="0">
                <a:solidFill>
                  <a:srgbClr val="0066FF"/>
                </a:solidFill>
              </a:rPr>
              <a:t>reste(Q)</a:t>
            </a:r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6. </a:t>
            </a:r>
            <a:r>
              <a:rPr lang="fr-FR" dirty="0">
                <a:solidFill>
                  <a:srgbClr val="0066FF"/>
                </a:solidFill>
              </a:rPr>
              <a:t>si </a:t>
            </a:r>
            <a:r>
              <a:rPr lang="fr-FR" b="0" dirty="0">
                <a:solidFill>
                  <a:srgbClr val="0066FF"/>
                </a:solidFill>
              </a:rPr>
              <a:t>n est un </a:t>
            </a:r>
            <a:r>
              <a:rPr lang="fr-FR" b="0" dirty="0" err="1">
                <a:solidFill>
                  <a:srgbClr val="0066FF"/>
                </a:solidFill>
              </a:rPr>
              <a:t>noeud</a:t>
            </a:r>
            <a:r>
              <a:rPr lang="fr-FR" b="0" dirty="0">
                <a:solidFill>
                  <a:srgbClr val="0066FF"/>
                </a:solidFill>
              </a:rPr>
              <a:t> but,</a:t>
            </a:r>
          </a:p>
          <a:p>
            <a:pPr algn="l"/>
            <a:r>
              <a:rPr lang="fr-FR" dirty="0">
                <a:solidFill>
                  <a:srgbClr val="0066FF"/>
                </a:solidFill>
              </a:rPr>
              <a:t>	retour </a:t>
            </a:r>
            <a:r>
              <a:rPr lang="fr-FR" b="0" dirty="0">
                <a:solidFill>
                  <a:srgbClr val="0066FF"/>
                </a:solidFill>
              </a:rPr>
              <a:t>avec succès (chemin)</a:t>
            </a:r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7. </a:t>
            </a:r>
            <a:r>
              <a:rPr lang="fr-FR" dirty="0">
                <a:solidFill>
                  <a:srgbClr val="0066FF"/>
                </a:solidFill>
              </a:rPr>
              <a:t>si </a:t>
            </a:r>
            <a:r>
              <a:rPr lang="fr-FR" b="0" dirty="0">
                <a:solidFill>
                  <a:srgbClr val="0066FF"/>
                </a:solidFill>
              </a:rPr>
              <a:t>n </a:t>
            </a:r>
            <a:r>
              <a:rPr lang="fr-FR" sz="2000" b="0" i="1" dirty="0">
                <a:solidFill>
                  <a:srgbClr val="0066FF"/>
                </a:solidFill>
                <a:sym typeface="Symbol" pitchFamily="18" charset="2"/>
              </a:rPr>
              <a:t></a:t>
            </a:r>
            <a:r>
              <a:rPr lang="fr-FR" b="0" i="1" dirty="0">
                <a:solidFill>
                  <a:srgbClr val="0066FF"/>
                </a:solidFill>
              </a:rPr>
              <a:t> </a:t>
            </a:r>
            <a:r>
              <a:rPr lang="fr-FR" b="0" dirty="0">
                <a:solidFill>
                  <a:srgbClr val="0066FF"/>
                </a:solidFill>
              </a:rPr>
              <a:t>C ou a un coût inférieur (selon f) </a:t>
            </a:r>
            <a:r>
              <a:rPr lang="fr-FR" dirty="0">
                <a:solidFill>
                  <a:srgbClr val="0066FF"/>
                </a:solidFill>
              </a:rPr>
              <a:t>alors</a:t>
            </a:r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8. ajouter n à C (avec </a:t>
            </a:r>
            <a:r>
              <a:rPr lang="fr-FR" b="0" dirty="0" err="1">
                <a:solidFill>
                  <a:srgbClr val="0066FF"/>
                </a:solidFill>
              </a:rPr>
              <a:t>repointage</a:t>
            </a:r>
            <a:r>
              <a:rPr lang="fr-FR" b="0" dirty="0">
                <a:solidFill>
                  <a:srgbClr val="0066FF"/>
                </a:solidFill>
              </a:rPr>
              <a:t>)</a:t>
            </a:r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9. S </a:t>
            </a:r>
            <a:r>
              <a:rPr lang="fr-FR" b="0" i="1" dirty="0">
                <a:solidFill>
                  <a:srgbClr val="0066FF"/>
                </a:solidFill>
              </a:rPr>
              <a:t>← </a:t>
            </a:r>
            <a:r>
              <a:rPr lang="fr-FR" b="0" dirty="0" err="1">
                <a:solidFill>
                  <a:srgbClr val="0066FF"/>
                </a:solidFill>
              </a:rPr>
              <a:t>succ</a:t>
            </a:r>
            <a:r>
              <a:rPr lang="fr-FR" b="0" dirty="0">
                <a:solidFill>
                  <a:srgbClr val="0066FF"/>
                </a:solidFill>
              </a:rPr>
              <a:t>(n)</a:t>
            </a:r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10. Q </a:t>
            </a:r>
            <a:r>
              <a:rPr lang="fr-FR" b="0" i="1" dirty="0">
                <a:solidFill>
                  <a:srgbClr val="0066FF"/>
                </a:solidFill>
              </a:rPr>
              <a:t>← </a:t>
            </a:r>
            <a:r>
              <a:rPr lang="fr-FR" dirty="0">
                <a:solidFill>
                  <a:srgbClr val="0066FF"/>
                </a:solidFill>
              </a:rPr>
              <a:t>merge</a:t>
            </a:r>
            <a:r>
              <a:rPr lang="fr-FR" b="0" dirty="0">
                <a:solidFill>
                  <a:srgbClr val="0066FF"/>
                </a:solidFill>
              </a:rPr>
              <a:t>(Q,S) ( concaténer Q et S )</a:t>
            </a:r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11. Q </a:t>
            </a:r>
            <a:r>
              <a:rPr lang="fr-FR" b="0" i="1" dirty="0">
                <a:solidFill>
                  <a:srgbClr val="0066FF"/>
                </a:solidFill>
              </a:rPr>
              <a:t>← </a:t>
            </a:r>
            <a:r>
              <a:rPr lang="fr-FR" dirty="0">
                <a:solidFill>
                  <a:srgbClr val="0066FF"/>
                </a:solidFill>
              </a:rPr>
              <a:t>Ordo</a:t>
            </a:r>
            <a:r>
              <a:rPr lang="fr-FR" b="0" dirty="0">
                <a:solidFill>
                  <a:srgbClr val="0066FF"/>
                </a:solidFill>
              </a:rPr>
              <a:t>(</a:t>
            </a:r>
            <a:r>
              <a:rPr lang="fr-FR" b="0" dirty="0" err="1">
                <a:solidFill>
                  <a:srgbClr val="0066FF"/>
                </a:solidFill>
              </a:rPr>
              <a:t>Q,f</a:t>
            </a:r>
            <a:r>
              <a:rPr lang="fr-FR" b="0" dirty="0">
                <a:solidFill>
                  <a:srgbClr val="0066FF"/>
                </a:solidFill>
              </a:rPr>
              <a:t>)</a:t>
            </a:r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	(Q triée par ordre (dé)croissant de f(n) = g(n) + h(n))</a:t>
            </a:r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12. </a:t>
            </a:r>
            <a:r>
              <a:rPr lang="fr-FR" dirty="0" err="1">
                <a:solidFill>
                  <a:srgbClr val="0066FF"/>
                </a:solidFill>
              </a:rPr>
              <a:t>finsi</a:t>
            </a:r>
            <a:endParaRPr lang="fr-FR" dirty="0">
              <a:solidFill>
                <a:srgbClr val="0066FF"/>
              </a:solidFill>
            </a:endParaRPr>
          </a:p>
          <a:p>
            <a:pPr algn="l"/>
            <a:r>
              <a:rPr lang="fr-FR" b="0" dirty="0">
                <a:solidFill>
                  <a:srgbClr val="0066FF"/>
                </a:solidFill>
              </a:rPr>
              <a:t>13.</a:t>
            </a:r>
            <a:r>
              <a:rPr lang="fr-FR" dirty="0">
                <a:solidFill>
                  <a:srgbClr val="0066FF"/>
                </a:solidFill>
              </a:rPr>
              <a:t>fin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1" y="543444"/>
            <a:ext cx="4895850" cy="2914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91DEE342-C655-1B03-4B22-4A24B4127F5A}"/>
              </a:ext>
            </a:extLst>
          </p:cNvPr>
          <p:cNvSpPr txBox="1"/>
          <p:nvPr/>
        </p:nvSpPr>
        <p:spPr>
          <a:xfrm>
            <a:off x="7380312" y="764704"/>
            <a:ext cx="36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217342-C1CB-C171-21C1-71AAA15A06B1}"/>
              </a:ext>
            </a:extLst>
          </p:cNvPr>
          <p:cNvSpPr txBox="1"/>
          <p:nvPr/>
        </p:nvSpPr>
        <p:spPr>
          <a:xfrm>
            <a:off x="0" y="3429000"/>
            <a:ext cx="60423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[a(10)] 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sz="18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: </a:t>
            </a: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b(7+12),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(8+4), d(5+3)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[d(8), c(12),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d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k(7+2), I(9+1), i(10+4)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[k(9), I(10), c(12), i(14),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k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e(12+4), m(9+1), I(8+1)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[I(9),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c(12),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I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n(8+3)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c(12), n(13),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I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n(10+0)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[n(10), n(11), n(12),  c(12), i(14), e(16), (b(19)]</a:t>
            </a:r>
          </a:p>
          <a:p>
            <a:pPr marL="285750" indent="-285750">
              <a:buFontTx/>
              <a:buChar char="-"/>
            </a:pPr>
            <a:endParaRPr lang="fr-CA" dirty="0">
              <a:latin typeface="Times New Roman" panose="02020603050405020304" pitchFamily="18" charset="0"/>
              <a:ea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fr-CA" dirty="0">
              <a:latin typeface="Times New Roman" panose="02020603050405020304" pitchFamily="18" charset="0"/>
              <a:ea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4E912656-AE25-AD02-C2ED-DC48726C2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92D05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Déroulement d’algorithme A* </a:t>
            </a:r>
          </a:p>
        </p:txBody>
      </p:sp>
    </p:spTree>
    <p:extLst>
      <p:ext uri="{BB962C8B-B14F-4D97-AF65-F5344CB8AC3E}">
        <p14:creationId xmlns:p14="http://schemas.microsoft.com/office/powerpoint/2010/main" val="3842505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1" y="543444"/>
            <a:ext cx="4895850" cy="2914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91DEE342-C655-1B03-4B22-4A24B4127F5A}"/>
              </a:ext>
            </a:extLst>
          </p:cNvPr>
          <p:cNvSpPr txBox="1"/>
          <p:nvPr/>
        </p:nvSpPr>
        <p:spPr>
          <a:xfrm>
            <a:off x="7380312" y="764704"/>
            <a:ext cx="36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217342-C1CB-C171-21C1-71AAA15A06B1}"/>
              </a:ext>
            </a:extLst>
          </p:cNvPr>
          <p:cNvSpPr txBox="1"/>
          <p:nvPr/>
        </p:nvSpPr>
        <p:spPr>
          <a:xfrm>
            <a:off x="0" y="3429000"/>
            <a:ext cx="60423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[a(10)] 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: </a:t>
            </a: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b(7+12),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(8+4), d(5+3)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[d(8), c(12),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d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k(7+2), I(9+1), i(10+4)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[k(9), I(10), c(12), i(14),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k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e(12+4), m(9+1), I(8+1)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[I(9),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c(12),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I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n(8+3)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c(12), n(13),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I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n(10+0)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[n(10), n(11), n(12),  c(12), i(14), e(16), (b(19)]</a:t>
            </a:r>
          </a:p>
          <a:p>
            <a:pPr marL="285750" indent="-285750">
              <a:buFontTx/>
              <a:buChar char="-"/>
            </a:pPr>
            <a:endParaRPr lang="fr-CA" dirty="0">
              <a:latin typeface="Times New Roman" panose="02020603050405020304" pitchFamily="18" charset="0"/>
              <a:ea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fr-CA" dirty="0">
              <a:latin typeface="Times New Roman" panose="02020603050405020304" pitchFamily="18" charset="0"/>
              <a:ea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9DC71DC-32A8-4046-D24E-B018C3608EEF}"/>
              </a:ext>
            </a:extLst>
          </p:cNvPr>
          <p:cNvCxnSpPr>
            <a:cxnSpLocks/>
          </p:cNvCxnSpPr>
          <p:nvPr/>
        </p:nvCxnSpPr>
        <p:spPr>
          <a:xfrm flipH="1">
            <a:off x="6948264" y="1052736"/>
            <a:ext cx="587594" cy="717118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28EC2C7-8E98-064D-1A29-33FE6BA0E6E7}"/>
              </a:ext>
            </a:extLst>
          </p:cNvPr>
          <p:cNvCxnSpPr>
            <a:cxnSpLocks/>
          </p:cNvCxnSpPr>
          <p:nvPr/>
        </p:nvCxnSpPr>
        <p:spPr>
          <a:xfrm>
            <a:off x="7568672" y="1058582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ZoneTexte 109">
            <a:extLst>
              <a:ext uri="{FF2B5EF4-FFF2-40B4-BE49-F238E27FC236}">
                <a16:creationId xmlns:a16="http://schemas.microsoft.com/office/drawing/2014/main" id="{8E86BE65-C809-00A5-B3BA-9EA3AC940CE5}"/>
              </a:ext>
            </a:extLst>
          </p:cNvPr>
          <p:cNvSpPr txBox="1"/>
          <p:nvPr/>
        </p:nvSpPr>
        <p:spPr>
          <a:xfrm>
            <a:off x="6654467" y="1769854"/>
            <a:ext cx="587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highlight>
                  <a:srgbClr val="FFFF00"/>
                </a:highlight>
              </a:rPr>
              <a:t>d(8)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CE52C479-3E02-0AC4-114C-AD4D1EA0C2AB}"/>
              </a:ext>
            </a:extLst>
          </p:cNvPr>
          <p:cNvCxnSpPr>
            <a:cxnSpLocks/>
          </p:cNvCxnSpPr>
          <p:nvPr/>
        </p:nvCxnSpPr>
        <p:spPr>
          <a:xfrm flipH="1">
            <a:off x="7535858" y="1052736"/>
            <a:ext cx="16407" cy="103168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ZoneTexte 109">
            <a:extLst>
              <a:ext uri="{FF2B5EF4-FFF2-40B4-BE49-F238E27FC236}">
                <a16:creationId xmlns:a16="http://schemas.microsoft.com/office/drawing/2014/main" id="{7FDD1E6A-862D-2566-FBFC-93E1E351DD46}"/>
              </a:ext>
            </a:extLst>
          </p:cNvPr>
          <p:cNvSpPr txBox="1"/>
          <p:nvPr/>
        </p:nvSpPr>
        <p:spPr>
          <a:xfrm>
            <a:off x="7258468" y="2061661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c(12)</a:t>
            </a:r>
          </a:p>
        </p:txBody>
      </p:sp>
      <p:sp>
        <p:nvSpPr>
          <p:cNvPr id="35" name="ZoneTexte 109">
            <a:extLst>
              <a:ext uri="{FF2B5EF4-FFF2-40B4-BE49-F238E27FC236}">
                <a16:creationId xmlns:a16="http://schemas.microsoft.com/office/drawing/2014/main" id="{143D6063-990A-1BEE-A396-8EBD76EFF1B8}"/>
              </a:ext>
            </a:extLst>
          </p:cNvPr>
          <p:cNvSpPr txBox="1"/>
          <p:nvPr/>
        </p:nvSpPr>
        <p:spPr>
          <a:xfrm>
            <a:off x="7881691" y="1916832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b(19)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9CCB51BD-D6F6-0755-3B29-6FCDF6215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92D05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Déroulement d’algorithme A* </a:t>
            </a:r>
          </a:p>
        </p:txBody>
      </p:sp>
    </p:spTree>
    <p:extLst>
      <p:ext uri="{BB962C8B-B14F-4D97-AF65-F5344CB8AC3E}">
        <p14:creationId xmlns:p14="http://schemas.microsoft.com/office/powerpoint/2010/main" val="2350283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1" y="543444"/>
            <a:ext cx="4895850" cy="2914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91DEE342-C655-1B03-4B22-4A24B4127F5A}"/>
              </a:ext>
            </a:extLst>
          </p:cNvPr>
          <p:cNvSpPr txBox="1"/>
          <p:nvPr/>
        </p:nvSpPr>
        <p:spPr>
          <a:xfrm>
            <a:off x="7380312" y="764704"/>
            <a:ext cx="36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217342-C1CB-C171-21C1-71AAA15A06B1}"/>
              </a:ext>
            </a:extLst>
          </p:cNvPr>
          <p:cNvSpPr txBox="1"/>
          <p:nvPr/>
        </p:nvSpPr>
        <p:spPr>
          <a:xfrm>
            <a:off x="0" y="3429000"/>
            <a:ext cx="60423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[a(10)] 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: </a:t>
            </a: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b(7+12),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(8+4), d(5+3)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[d(8), c(12),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d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k(7+2), I(9+1), i(10+4)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[k(9), I(10), c(12), i(14),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k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e(12+4), m(9+1), I(8+1)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[I(9),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c(12),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I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n(8+3)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c(12), n(13),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I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n(10+0)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[n(10), n(11), n(12),  c(12), i(14), e(16), (b(19)]</a:t>
            </a:r>
          </a:p>
          <a:p>
            <a:pPr marL="285750" indent="-285750">
              <a:buFontTx/>
              <a:buChar char="-"/>
            </a:pPr>
            <a:endParaRPr lang="fr-CA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fr-CA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9DC71DC-32A8-4046-D24E-B018C3608EEF}"/>
              </a:ext>
            </a:extLst>
          </p:cNvPr>
          <p:cNvCxnSpPr>
            <a:cxnSpLocks/>
          </p:cNvCxnSpPr>
          <p:nvPr/>
        </p:nvCxnSpPr>
        <p:spPr>
          <a:xfrm flipH="1">
            <a:off x="6948264" y="1052736"/>
            <a:ext cx="587594" cy="717118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28EC2C7-8E98-064D-1A29-33FE6BA0E6E7}"/>
              </a:ext>
            </a:extLst>
          </p:cNvPr>
          <p:cNvCxnSpPr>
            <a:cxnSpLocks/>
          </p:cNvCxnSpPr>
          <p:nvPr/>
        </p:nvCxnSpPr>
        <p:spPr>
          <a:xfrm>
            <a:off x="7568672" y="1058582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ZoneTexte 109">
            <a:extLst>
              <a:ext uri="{FF2B5EF4-FFF2-40B4-BE49-F238E27FC236}">
                <a16:creationId xmlns:a16="http://schemas.microsoft.com/office/drawing/2014/main" id="{8E86BE65-C809-00A5-B3BA-9EA3AC940CE5}"/>
              </a:ext>
            </a:extLst>
          </p:cNvPr>
          <p:cNvSpPr txBox="1"/>
          <p:nvPr/>
        </p:nvSpPr>
        <p:spPr>
          <a:xfrm>
            <a:off x="6654467" y="1769854"/>
            <a:ext cx="587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highlight>
                  <a:srgbClr val="FF00FF"/>
                </a:highlight>
              </a:rPr>
              <a:t>d(8)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CE52C479-3E02-0AC4-114C-AD4D1EA0C2AB}"/>
              </a:ext>
            </a:extLst>
          </p:cNvPr>
          <p:cNvCxnSpPr>
            <a:cxnSpLocks/>
          </p:cNvCxnSpPr>
          <p:nvPr/>
        </p:nvCxnSpPr>
        <p:spPr>
          <a:xfrm flipH="1">
            <a:off x="7535858" y="1052736"/>
            <a:ext cx="16407" cy="103168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ZoneTexte 109">
            <a:extLst>
              <a:ext uri="{FF2B5EF4-FFF2-40B4-BE49-F238E27FC236}">
                <a16:creationId xmlns:a16="http://schemas.microsoft.com/office/drawing/2014/main" id="{7FDD1E6A-862D-2566-FBFC-93E1E351DD46}"/>
              </a:ext>
            </a:extLst>
          </p:cNvPr>
          <p:cNvSpPr txBox="1"/>
          <p:nvPr/>
        </p:nvSpPr>
        <p:spPr>
          <a:xfrm>
            <a:off x="7258468" y="2061661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c(12)</a:t>
            </a:r>
          </a:p>
        </p:txBody>
      </p:sp>
      <p:sp>
        <p:nvSpPr>
          <p:cNvPr id="35" name="ZoneTexte 109">
            <a:extLst>
              <a:ext uri="{FF2B5EF4-FFF2-40B4-BE49-F238E27FC236}">
                <a16:creationId xmlns:a16="http://schemas.microsoft.com/office/drawing/2014/main" id="{143D6063-990A-1BEE-A396-8EBD76EFF1B8}"/>
              </a:ext>
            </a:extLst>
          </p:cNvPr>
          <p:cNvSpPr txBox="1"/>
          <p:nvPr/>
        </p:nvSpPr>
        <p:spPr>
          <a:xfrm>
            <a:off x="7881691" y="1916832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b(19)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4F0CD7ED-D187-CF16-1A07-3C1DA9B1866D}"/>
              </a:ext>
            </a:extLst>
          </p:cNvPr>
          <p:cNvCxnSpPr>
            <a:cxnSpLocks/>
          </p:cNvCxnSpPr>
          <p:nvPr/>
        </p:nvCxnSpPr>
        <p:spPr>
          <a:xfrm>
            <a:off x="6948264" y="2101498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AD6409B-044E-770E-A4E3-16618B12D3CA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908841" y="2108408"/>
            <a:ext cx="39423" cy="1002742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BC042B4F-B59F-F48F-4584-EA0A12C4F5CA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139507" y="2108408"/>
            <a:ext cx="808757" cy="1002742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ZoneTexte 109">
            <a:extLst>
              <a:ext uri="{FF2B5EF4-FFF2-40B4-BE49-F238E27FC236}">
                <a16:creationId xmlns:a16="http://schemas.microsoft.com/office/drawing/2014/main" id="{1D2780D6-AF16-06A4-C07A-6C22D3BB7514}"/>
              </a:ext>
            </a:extLst>
          </p:cNvPr>
          <p:cNvSpPr txBox="1"/>
          <p:nvPr/>
        </p:nvSpPr>
        <p:spPr>
          <a:xfrm>
            <a:off x="6581505" y="3108243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I(10)</a:t>
            </a:r>
          </a:p>
        </p:txBody>
      </p:sp>
      <p:sp>
        <p:nvSpPr>
          <p:cNvPr id="4" name="ZoneTexte 109">
            <a:extLst>
              <a:ext uri="{FF2B5EF4-FFF2-40B4-BE49-F238E27FC236}">
                <a16:creationId xmlns:a16="http://schemas.microsoft.com/office/drawing/2014/main" id="{AAA8A983-FBF1-5AFC-5136-6E2BAC6B3210}"/>
              </a:ext>
            </a:extLst>
          </p:cNvPr>
          <p:cNvSpPr txBox="1"/>
          <p:nvPr/>
        </p:nvSpPr>
        <p:spPr>
          <a:xfrm>
            <a:off x="7132389" y="3012042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i(14)</a:t>
            </a:r>
          </a:p>
        </p:txBody>
      </p:sp>
      <p:sp>
        <p:nvSpPr>
          <p:cNvPr id="5" name="ZoneTexte 109">
            <a:extLst>
              <a:ext uri="{FF2B5EF4-FFF2-40B4-BE49-F238E27FC236}">
                <a16:creationId xmlns:a16="http://schemas.microsoft.com/office/drawing/2014/main" id="{5C5F303E-1A2A-4A0C-52C1-767301BB985F}"/>
              </a:ext>
            </a:extLst>
          </p:cNvPr>
          <p:cNvSpPr txBox="1"/>
          <p:nvPr/>
        </p:nvSpPr>
        <p:spPr>
          <a:xfrm>
            <a:off x="5732732" y="3127724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k(9)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382EF24-56B0-2B46-F71C-A90D7D10D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92D05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Déroulement d’algorithme A* </a:t>
            </a:r>
          </a:p>
        </p:txBody>
      </p:sp>
    </p:spTree>
    <p:extLst>
      <p:ext uri="{BB962C8B-B14F-4D97-AF65-F5344CB8AC3E}">
        <p14:creationId xmlns:p14="http://schemas.microsoft.com/office/powerpoint/2010/main" val="1519283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1" y="543444"/>
            <a:ext cx="4895850" cy="2914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91DEE342-C655-1B03-4B22-4A24B4127F5A}"/>
              </a:ext>
            </a:extLst>
          </p:cNvPr>
          <p:cNvSpPr txBox="1"/>
          <p:nvPr/>
        </p:nvSpPr>
        <p:spPr>
          <a:xfrm>
            <a:off x="7380312" y="764704"/>
            <a:ext cx="36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217342-C1CB-C171-21C1-71AAA15A06B1}"/>
              </a:ext>
            </a:extLst>
          </p:cNvPr>
          <p:cNvSpPr txBox="1"/>
          <p:nvPr/>
        </p:nvSpPr>
        <p:spPr>
          <a:xfrm>
            <a:off x="0" y="3429000"/>
            <a:ext cx="60423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[a(10)] 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: </a:t>
            </a: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b(7+12),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(8+4), d(5+3)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[d(8), c(12),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d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k(7+2), I(9+1), i(10+4)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[k(9), I(10), c(12), i(14),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k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e(12+4), m(9+1), I(8+1)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[I(9), I(10),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c(12),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I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n(8+3)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c(12), n(13),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I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n(10+0)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[n(10), n(11), n(12),  c(12), i(14), e(16), (b(19)]</a:t>
            </a:r>
          </a:p>
          <a:p>
            <a:pPr marL="285750" indent="-285750">
              <a:buFontTx/>
              <a:buChar char="-"/>
            </a:pPr>
            <a:endParaRPr lang="fr-CA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fr-CA" dirty="0">
              <a:latin typeface="Times New Roman" panose="02020603050405020304" pitchFamily="18" charset="0"/>
              <a:ea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9DC71DC-32A8-4046-D24E-B018C3608EEF}"/>
              </a:ext>
            </a:extLst>
          </p:cNvPr>
          <p:cNvCxnSpPr>
            <a:cxnSpLocks/>
          </p:cNvCxnSpPr>
          <p:nvPr/>
        </p:nvCxnSpPr>
        <p:spPr>
          <a:xfrm flipH="1">
            <a:off x="6948264" y="1052736"/>
            <a:ext cx="587594" cy="717118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28EC2C7-8E98-064D-1A29-33FE6BA0E6E7}"/>
              </a:ext>
            </a:extLst>
          </p:cNvPr>
          <p:cNvCxnSpPr>
            <a:cxnSpLocks/>
          </p:cNvCxnSpPr>
          <p:nvPr/>
        </p:nvCxnSpPr>
        <p:spPr>
          <a:xfrm>
            <a:off x="7568672" y="1058582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ZoneTexte 109">
            <a:extLst>
              <a:ext uri="{FF2B5EF4-FFF2-40B4-BE49-F238E27FC236}">
                <a16:creationId xmlns:a16="http://schemas.microsoft.com/office/drawing/2014/main" id="{8E86BE65-C809-00A5-B3BA-9EA3AC940CE5}"/>
              </a:ext>
            </a:extLst>
          </p:cNvPr>
          <p:cNvSpPr txBox="1"/>
          <p:nvPr/>
        </p:nvSpPr>
        <p:spPr>
          <a:xfrm>
            <a:off x="6654467" y="1769854"/>
            <a:ext cx="587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highlight>
                  <a:srgbClr val="FF00FF"/>
                </a:highlight>
              </a:rPr>
              <a:t>d(8)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CE52C479-3E02-0AC4-114C-AD4D1EA0C2AB}"/>
              </a:ext>
            </a:extLst>
          </p:cNvPr>
          <p:cNvCxnSpPr>
            <a:cxnSpLocks/>
          </p:cNvCxnSpPr>
          <p:nvPr/>
        </p:nvCxnSpPr>
        <p:spPr>
          <a:xfrm flipH="1">
            <a:off x="7535858" y="1052736"/>
            <a:ext cx="16407" cy="103168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ZoneTexte 109">
            <a:extLst>
              <a:ext uri="{FF2B5EF4-FFF2-40B4-BE49-F238E27FC236}">
                <a16:creationId xmlns:a16="http://schemas.microsoft.com/office/drawing/2014/main" id="{7FDD1E6A-862D-2566-FBFC-93E1E351DD46}"/>
              </a:ext>
            </a:extLst>
          </p:cNvPr>
          <p:cNvSpPr txBox="1"/>
          <p:nvPr/>
        </p:nvSpPr>
        <p:spPr>
          <a:xfrm>
            <a:off x="7258468" y="2061661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c(12)</a:t>
            </a:r>
          </a:p>
        </p:txBody>
      </p:sp>
      <p:sp>
        <p:nvSpPr>
          <p:cNvPr id="35" name="ZoneTexte 109">
            <a:extLst>
              <a:ext uri="{FF2B5EF4-FFF2-40B4-BE49-F238E27FC236}">
                <a16:creationId xmlns:a16="http://schemas.microsoft.com/office/drawing/2014/main" id="{143D6063-990A-1BEE-A396-8EBD76EFF1B8}"/>
              </a:ext>
            </a:extLst>
          </p:cNvPr>
          <p:cNvSpPr txBox="1"/>
          <p:nvPr/>
        </p:nvSpPr>
        <p:spPr>
          <a:xfrm>
            <a:off x="7881691" y="1916832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b(19)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4F0CD7ED-D187-CF16-1A07-3C1DA9B1866D}"/>
              </a:ext>
            </a:extLst>
          </p:cNvPr>
          <p:cNvCxnSpPr>
            <a:cxnSpLocks/>
          </p:cNvCxnSpPr>
          <p:nvPr/>
        </p:nvCxnSpPr>
        <p:spPr>
          <a:xfrm>
            <a:off x="6948264" y="2101498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ZoneTexte 109">
            <a:extLst>
              <a:ext uri="{FF2B5EF4-FFF2-40B4-BE49-F238E27FC236}">
                <a16:creationId xmlns:a16="http://schemas.microsoft.com/office/drawing/2014/main" id="{BCEEB339-26D7-4C50-050C-90DE58397FEB}"/>
              </a:ext>
            </a:extLst>
          </p:cNvPr>
          <p:cNvSpPr txBox="1"/>
          <p:nvPr/>
        </p:nvSpPr>
        <p:spPr>
          <a:xfrm>
            <a:off x="6581505" y="3108243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I(10)</a:t>
            </a:r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AD6409B-044E-770E-A4E3-16618B12D3CA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908841" y="2108408"/>
            <a:ext cx="39423" cy="1002742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BC042B4F-B59F-F48F-4584-EA0A12C4F5CA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139507" y="2108408"/>
            <a:ext cx="808757" cy="1002742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ZoneTexte 109">
            <a:extLst>
              <a:ext uri="{FF2B5EF4-FFF2-40B4-BE49-F238E27FC236}">
                <a16:creationId xmlns:a16="http://schemas.microsoft.com/office/drawing/2014/main" id="{B29C8312-AF72-54F9-A335-BF3DBB4EF62D}"/>
              </a:ext>
            </a:extLst>
          </p:cNvPr>
          <p:cNvSpPr txBox="1"/>
          <p:nvPr/>
        </p:nvSpPr>
        <p:spPr>
          <a:xfrm>
            <a:off x="7132389" y="3012042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i(14)</a:t>
            </a:r>
          </a:p>
        </p:txBody>
      </p:sp>
      <p:sp>
        <p:nvSpPr>
          <p:cNvPr id="45" name="ZoneTexte 109">
            <a:extLst>
              <a:ext uri="{FF2B5EF4-FFF2-40B4-BE49-F238E27FC236}">
                <a16:creationId xmlns:a16="http://schemas.microsoft.com/office/drawing/2014/main" id="{AC14EDD9-DE84-255E-5D60-5B3F534C29F2}"/>
              </a:ext>
            </a:extLst>
          </p:cNvPr>
          <p:cNvSpPr txBox="1"/>
          <p:nvPr/>
        </p:nvSpPr>
        <p:spPr>
          <a:xfrm>
            <a:off x="5732732" y="3127724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k(9)</a:t>
            </a: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5F963780-0040-50DF-0756-17611CAD290D}"/>
              </a:ext>
            </a:extLst>
          </p:cNvPr>
          <p:cNvCxnSpPr>
            <a:cxnSpLocks/>
          </p:cNvCxnSpPr>
          <p:nvPr/>
        </p:nvCxnSpPr>
        <p:spPr>
          <a:xfrm flipH="1">
            <a:off x="5178211" y="3458094"/>
            <a:ext cx="808757" cy="971964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E6D39C67-281F-823B-A5F3-697E1FD818DA}"/>
              </a:ext>
            </a:extLst>
          </p:cNvPr>
          <p:cNvCxnSpPr>
            <a:cxnSpLocks/>
          </p:cNvCxnSpPr>
          <p:nvPr/>
        </p:nvCxnSpPr>
        <p:spPr>
          <a:xfrm>
            <a:off x="5986968" y="3481722"/>
            <a:ext cx="124946" cy="95539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0A4FA28E-99DD-EA63-E86A-0275B29EB0E0}"/>
              </a:ext>
            </a:extLst>
          </p:cNvPr>
          <p:cNvCxnSpPr>
            <a:cxnSpLocks/>
          </p:cNvCxnSpPr>
          <p:nvPr/>
        </p:nvCxnSpPr>
        <p:spPr>
          <a:xfrm>
            <a:off x="5968068" y="3458094"/>
            <a:ext cx="817280" cy="70272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ZoneTexte 109">
            <a:extLst>
              <a:ext uri="{FF2B5EF4-FFF2-40B4-BE49-F238E27FC236}">
                <a16:creationId xmlns:a16="http://schemas.microsoft.com/office/drawing/2014/main" id="{BB397407-83AE-C144-60AC-85013300443F}"/>
              </a:ext>
            </a:extLst>
          </p:cNvPr>
          <p:cNvSpPr txBox="1"/>
          <p:nvPr/>
        </p:nvSpPr>
        <p:spPr>
          <a:xfrm>
            <a:off x="6543885" y="4159016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e(16)</a:t>
            </a:r>
          </a:p>
        </p:txBody>
      </p:sp>
      <p:sp>
        <p:nvSpPr>
          <p:cNvPr id="53" name="ZoneTexte 109">
            <a:extLst>
              <a:ext uri="{FF2B5EF4-FFF2-40B4-BE49-F238E27FC236}">
                <a16:creationId xmlns:a16="http://schemas.microsoft.com/office/drawing/2014/main" id="{ECDBF0C7-B726-B696-5D49-03A9510E7BE9}"/>
              </a:ext>
            </a:extLst>
          </p:cNvPr>
          <p:cNvSpPr txBox="1"/>
          <p:nvPr/>
        </p:nvSpPr>
        <p:spPr>
          <a:xfrm>
            <a:off x="5732732" y="4450523"/>
            <a:ext cx="758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highlight>
                  <a:srgbClr val="FFFF00"/>
                </a:highlight>
              </a:rPr>
              <a:t>m(10)</a:t>
            </a:r>
          </a:p>
        </p:txBody>
      </p:sp>
      <p:sp>
        <p:nvSpPr>
          <p:cNvPr id="54" name="ZoneTexte 109">
            <a:extLst>
              <a:ext uri="{FF2B5EF4-FFF2-40B4-BE49-F238E27FC236}">
                <a16:creationId xmlns:a16="http://schemas.microsoft.com/office/drawing/2014/main" id="{DCA91620-E6F0-E69C-7164-1C9A8F3A88D5}"/>
              </a:ext>
            </a:extLst>
          </p:cNvPr>
          <p:cNvSpPr txBox="1"/>
          <p:nvPr/>
        </p:nvSpPr>
        <p:spPr>
          <a:xfrm>
            <a:off x="4758383" y="4450523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I(9)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15AB2E10-BA86-B712-CAFC-4E2CDE126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92D05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Déroulement d’algorithme A* </a:t>
            </a:r>
          </a:p>
        </p:txBody>
      </p:sp>
    </p:spTree>
    <p:extLst>
      <p:ext uri="{BB962C8B-B14F-4D97-AF65-F5344CB8AC3E}">
        <p14:creationId xmlns:p14="http://schemas.microsoft.com/office/powerpoint/2010/main" val="1517536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1" y="543444"/>
            <a:ext cx="4895850" cy="2914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91DEE342-C655-1B03-4B22-4A24B4127F5A}"/>
              </a:ext>
            </a:extLst>
          </p:cNvPr>
          <p:cNvSpPr txBox="1"/>
          <p:nvPr/>
        </p:nvSpPr>
        <p:spPr>
          <a:xfrm>
            <a:off x="7380312" y="764704"/>
            <a:ext cx="36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217342-C1CB-C171-21C1-71AAA15A06B1}"/>
              </a:ext>
            </a:extLst>
          </p:cNvPr>
          <p:cNvSpPr txBox="1"/>
          <p:nvPr/>
        </p:nvSpPr>
        <p:spPr>
          <a:xfrm>
            <a:off x="0" y="3429000"/>
            <a:ext cx="60423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[a(10)] 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: </a:t>
            </a: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b(7+12),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(8+4), d(5+3)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[d(8), c(12),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d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k(7+2), I(9+1), i(10+4)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[k(9), I(10), c(12), i(14),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k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e(12+4), m(9+1), I(8+1)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[I(9), I(10),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c(12),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I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n(8+3)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[I(10),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n(11), c(12), n(13),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I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n(10+0)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[n(10), n(11), n(12),  c(12), i(14), e(16), (b(19)]</a:t>
            </a:r>
          </a:p>
          <a:p>
            <a:pPr marL="285750" indent="-285750">
              <a:buFontTx/>
              <a:buChar char="-"/>
            </a:pPr>
            <a:endParaRPr lang="fr-CA" dirty="0">
              <a:latin typeface="Times New Roman" panose="02020603050405020304" pitchFamily="18" charset="0"/>
              <a:ea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9DC71DC-32A8-4046-D24E-B018C3608EEF}"/>
              </a:ext>
            </a:extLst>
          </p:cNvPr>
          <p:cNvCxnSpPr>
            <a:cxnSpLocks/>
          </p:cNvCxnSpPr>
          <p:nvPr/>
        </p:nvCxnSpPr>
        <p:spPr>
          <a:xfrm flipH="1">
            <a:off x="6948264" y="1052736"/>
            <a:ext cx="587594" cy="717118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28EC2C7-8E98-064D-1A29-33FE6BA0E6E7}"/>
              </a:ext>
            </a:extLst>
          </p:cNvPr>
          <p:cNvCxnSpPr>
            <a:cxnSpLocks/>
          </p:cNvCxnSpPr>
          <p:nvPr/>
        </p:nvCxnSpPr>
        <p:spPr>
          <a:xfrm>
            <a:off x="7568672" y="1058582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ZoneTexte 109">
            <a:extLst>
              <a:ext uri="{FF2B5EF4-FFF2-40B4-BE49-F238E27FC236}">
                <a16:creationId xmlns:a16="http://schemas.microsoft.com/office/drawing/2014/main" id="{8E86BE65-C809-00A5-B3BA-9EA3AC940CE5}"/>
              </a:ext>
            </a:extLst>
          </p:cNvPr>
          <p:cNvSpPr txBox="1"/>
          <p:nvPr/>
        </p:nvSpPr>
        <p:spPr>
          <a:xfrm>
            <a:off x="6654467" y="1769854"/>
            <a:ext cx="587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highlight>
                  <a:srgbClr val="FF00FF"/>
                </a:highlight>
              </a:rPr>
              <a:t>d(8)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CE52C479-3E02-0AC4-114C-AD4D1EA0C2AB}"/>
              </a:ext>
            </a:extLst>
          </p:cNvPr>
          <p:cNvCxnSpPr>
            <a:cxnSpLocks/>
          </p:cNvCxnSpPr>
          <p:nvPr/>
        </p:nvCxnSpPr>
        <p:spPr>
          <a:xfrm flipH="1">
            <a:off x="7535858" y="1052736"/>
            <a:ext cx="16407" cy="103168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ZoneTexte 109">
            <a:extLst>
              <a:ext uri="{FF2B5EF4-FFF2-40B4-BE49-F238E27FC236}">
                <a16:creationId xmlns:a16="http://schemas.microsoft.com/office/drawing/2014/main" id="{7FDD1E6A-862D-2566-FBFC-93E1E351DD46}"/>
              </a:ext>
            </a:extLst>
          </p:cNvPr>
          <p:cNvSpPr txBox="1"/>
          <p:nvPr/>
        </p:nvSpPr>
        <p:spPr>
          <a:xfrm>
            <a:off x="7258468" y="2061661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c(12)</a:t>
            </a:r>
          </a:p>
        </p:txBody>
      </p:sp>
      <p:sp>
        <p:nvSpPr>
          <p:cNvPr id="35" name="ZoneTexte 109">
            <a:extLst>
              <a:ext uri="{FF2B5EF4-FFF2-40B4-BE49-F238E27FC236}">
                <a16:creationId xmlns:a16="http://schemas.microsoft.com/office/drawing/2014/main" id="{143D6063-990A-1BEE-A396-8EBD76EFF1B8}"/>
              </a:ext>
            </a:extLst>
          </p:cNvPr>
          <p:cNvSpPr txBox="1"/>
          <p:nvPr/>
        </p:nvSpPr>
        <p:spPr>
          <a:xfrm>
            <a:off x="7881691" y="1916832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b(19)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4F0CD7ED-D187-CF16-1A07-3C1DA9B1866D}"/>
              </a:ext>
            </a:extLst>
          </p:cNvPr>
          <p:cNvCxnSpPr>
            <a:cxnSpLocks/>
          </p:cNvCxnSpPr>
          <p:nvPr/>
        </p:nvCxnSpPr>
        <p:spPr>
          <a:xfrm>
            <a:off x="6948264" y="2101498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ZoneTexte 109">
            <a:extLst>
              <a:ext uri="{FF2B5EF4-FFF2-40B4-BE49-F238E27FC236}">
                <a16:creationId xmlns:a16="http://schemas.microsoft.com/office/drawing/2014/main" id="{BCEEB339-26D7-4C50-050C-90DE58397FEB}"/>
              </a:ext>
            </a:extLst>
          </p:cNvPr>
          <p:cNvSpPr txBox="1"/>
          <p:nvPr/>
        </p:nvSpPr>
        <p:spPr>
          <a:xfrm>
            <a:off x="6581505" y="3108243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I(10)</a:t>
            </a:r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AD6409B-044E-770E-A4E3-16618B12D3CA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908841" y="2108408"/>
            <a:ext cx="39423" cy="1002742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BC042B4F-B59F-F48F-4584-EA0A12C4F5CA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139507" y="2108408"/>
            <a:ext cx="808757" cy="1002742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ZoneTexte 109">
            <a:extLst>
              <a:ext uri="{FF2B5EF4-FFF2-40B4-BE49-F238E27FC236}">
                <a16:creationId xmlns:a16="http://schemas.microsoft.com/office/drawing/2014/main" id="{B29C8312-AF72-54F9-A335-BF3DBB4EF62D}"/>
              </a:ext>
            </a:extLst>
          </p:cNvPr>
          <p:cNvSpPr txBox="1"/>
          <p:nvPr/>
        </p:nvSpPr>
        <p:spPr>
          <a:xfrm>
            <a:off x="7132389" y="3012042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i(14)</a:t>
            </a:r>
          </a:p>
        </p:txBody>
      </p:sp>
      <p:sp>
        <p:nvSpPr>
          <p:cNvPr id="45" name="ZoneTexte 109">
            <a:extLst>
              <a:ext uri="{FF2B5EF4-FFF2-40B4-BE49-F238E27FC236}">
                <a16:creationId xmlns:a16="http://schemas.microsoft.com/office/drawing/2014/main" id="{AC14EDD9-DE84-255E-5D60-5B3F534C29F2}"/>
              </a:ext>
            </a:extLst>
          </p:cNvPr>
          <p:cNvSpPr txBox="1"/>
          <p:nvPr/>
        </p:nvSpPr>
        <p:spPr>
          <a:xfrm>
            <a:off x="5732732" y="3127724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k(9)</a:t>
            </a: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5F963780-0040-50DF-0756-17611CAD290D}"/>
              </a:ext>
            </a:extLst>
          </p:cNvPr>
          <p:cNvCxnSpPr>
            <a:cxnSpLocks/>
          </p:cNvCxnSpPr>
          <p:nvPr/>
        </p:nvCxnSpPr>
        <p:spPr>
          <a:xfrm flipH="1">
            <a:off x="5178211" y="3458094"/>
            <a:ext cx="808757" cy="971964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E6D39C67-281F-823B-A5F3-697E1FD818DA}"/>
              </a:ext>
            </a:extLst>
          </p:cNvPr>
          <p:cNvCxnSpPr>
            <a:cxnSpLocks/>
          </p:cNvCxnSpPr>
          <p:nvPr/>
        </p:nvCxnSpPr>
        <p:spPr>
          <a:xfrm>
            <a:off x="5986968" y="3481722"/>
            <a:ext cx="124946" cy="95539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0A4FA28E-99DD-EA63-E86A-0275B29EB0E0}"/>
              </a:ext>
            </a:extLst>
          </p:cNvPr>
          <p:cNvCxnSpPr>
            <a:cxnSpLocks/>
          </p:cNvCxnSpPr>
          <p:nvPr/>
        </p:nvCxnSpPr>
        <p:spPr>
          <a:xfrm>
            <a:off x="5968068" y="3458094"/>
            <a:ext cx="817280" cy="70272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ZoneTexte 109">
            <a:extLst>
              <a:ext uri="{FF2B5EF4-FFF2-40B4-BE49-F238E27FC236}">
                <a16:creationId xmlns:a16="http://schemas.microsoft.com/office/drawing/2014/main" id="{BB397407-83AE-C144-60AC-85013300443F}"/>
              </a:ext>
            </a:extLst>
          </p:cNvPr>
          <p:cNvSpPr txBox="1"/>
          <p:nvPr/>
        </p:nvSpPr>
        <p:spPr>
          <a:xfrm>
            <a:off x="6543885" y="4159016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e(16)</a:t>
            </a:r>
          </a:p>
        </p:txBody>
      </p:sp>
      <p:sp>
        <p:nvSpPr>
          <p:cNvPr id="53" name="ZoneTexte 109">
            <a:extLst>
              <a:ext uri="{FF2B5EF4-FFF2-40B4-BE49-F238E27FC236}">
                <a16:creationId xmlns:a16="http://schemas.microsoft.com/office/drawing/2014/main" id="{ECDBF0C7-B726-B696-5D49-03A9510E7BE9}"/>
              </a:ext>
            </a:extLst>
          </p:cNvPr>
          <p:cNvSpPr txBox="1"/>
          <p:nvPr/>
        </p:nvSpPr>
        <p:spPr>
          <a:xfrm>
            <a:off x="5732732" y="4450523"/>
            <a:ext cx="758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highlight>
                  <a:srgbClr val="FFFF00"/>
                </a:highlight>
              </a:rPr>
              <a:t>m(10)</a:t>
            </a:r>
          </a:p>
        </p:txBody>
      </p:sp>
      <p:sp>
        <p:nvSpPr>
          <p:cNvPr id="54" name="ZoneTexte 109">
            <a:extLst>
              <a:ext uri="{FF2B5EF4-FFF2-40B4-BE49-F238E27FC236}">
                <a16:creationId xmlns:a16="http://schemas.microsoft.com/office/drawing/2014/main" id="{DCA91620-E6F0-E69C-7164-1C9A8F3A88D5}"/>
              </a:ext>
            </a:extLst>
          </p:cNvPr>
          <p:cNvSpPr txBox="1"/>
          <p:nvPr/>
        </p:nvSpPr>
        <p:spPr>
          <a:xfrm>
            <a:off x="4758383" y="4450523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I(9)</a:t>
            </a:r>
          </a:p>
        </p:txBody>
      </p:sp>
      <p:sp>
        <p:nvSpPr>
          <p:cNvPr id="55" name="ZoneTexte 109">
            <a:extLst>
              <a:ext uri="{FF2B5EF4-FFF2-40B4-BE49-F238E27FC236}">
                <a16:creationId xmlns:a16="http://schemas.microsoft.com/office/drawing/2014/main" id="{8D00D9E2-9651-2DEA-8FCC-EE8933745A29}"/>
              </a:ext>
            </a:extLst>
          </p:cNvPr>
          <p:cNvSpPr txBox="1"/>
          <p:nvPr/>
        </p:nvSpPr>
        <p:spPr>
          <a:xfrm>
            <a:off x="5500676" y="5153244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n(11)</a:t>
            </a:r>
          </a:p>
        </p:txBody>
      </p: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D9EF2126-85CD-A91F-18B9-55D178B4B095}"/>
              </a:ext>
            </a:extLst>
          </p:cNvPr>
          <p:cNvCxnSpPr>
            <a:cxnSpLocks/>
            <a:endCxn id="54" idx="0"/>
          </p:cNvCxnSpPr>
          <p:nvPr/>
        </p:nvCxnSpPr>
        <p:spPr>
          <a:xfrm flipH="1" flipV="1">
            <a:off x="5137565" y="4450523"/>
            <a:ext cx="496510" cy="709775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BE5086FC-A9E0-EE5C-F543-C664AE661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92D05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Déroulement d’algorithme A* </a:t>
            </a:r>
          </a:p>
        </p:txBody>
      </p:sp>
    </p:spTree>
    <p:extLst>
      <p:ext uri="{BB962C8B-B14F-4D97-AF65-F5344CB8AC3E}">
        <p14:creationId xmlns:p14="http://schemas.microsoft.com/office/powerpoint/2010/main" val="1642206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1" y="543444"/>
            <a:ext cx="4895850" cy="2914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91DEE342-C655-1B03-4B22-4A24B4127F5A}"/>
              </a:ext>
            </a:extLst>
          </p:cNvPr>
          <p:cNvSpPr txBox="1"/>
          <p:nvPr/>
        </p:nvSpPr>
        <p:spPr>
          <a:xfrm>
            <a:off x="7380312" y="764704"/>
            <a:ext cx="36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217342-C1CB-C171-21C1-71AAA15A06B1}"/>
              </a:ext>
            </a:extLst>
          </p:cNvPr>
          <p:cNvSpPr txBox="1"/>
          <p:nvPr/>
        </p:nvSpPr>
        <p:spPr>
          <a:xfrm>
            <a:off x="0" y="3429000"/>
            <a:ext cx="60423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[a(10)] 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: </a:t>
            </a: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b(7+12),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(8+4), d(5+3)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[d(8), c(12),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d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k(7+2), I(9+1), i(10+4)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[k(9), I(10), c(12), i(14),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k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e(12+4), m(9+1), I(8+1)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[I(9), I(10),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c(12),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I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n(8+3)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n(11), c(12), n(13),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: I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n(10+0)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[n(10), n(11), n(12),  c(12), i(14), e(16), (b(19)]</a:t>
            </a:r>
          </a:p>
          <a:p>
            <a:pPr marL="285750" indent="-285750">
              <a:buFontTx/>
              <a:buChar char="-"/>
            </a:pPr>
            <a:endParaRPr lang="fr-CA" dirty="0">
              <a:latin typeface="Times New Roman" panose="02020603050405020304" pitchFamily="18" charset="0"/>
              <a:ea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9DC71DC-32A8-4046-D24E-B018C3608EEF}"/>
              </a:ext>
            </a:extLst>
          </p:cNvPr>
          <p:cNvCxnSpPr>
            <a:cxnSpLocks/>
          </p:cNvCxnSpPr>
          <p:nvPr/>
        </p:nvCxnSpPr>
        <p:spPr>
          <a:xfrm flipH="1">
            <a:off x="6948264" y="1052736"/>
            <a:ext cx="587594" cy="717118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28EC2C7-8E98-064D-1A29-33FE6BA0E6E7}"/>
              </a:ext>
            </a:extLst>
          </p:cNvPr>
          <p:cNvCxnSpPr>
            <a:cxnSpLocks/>
          </p:cNvCxnSpPr>
          <p:nvPr/>
        </p:nvCxnSpPr>
        <p:spPr>
          <a:xfrm>
            <a:off x="7568672" y="1058582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ZoneTexte 109">
            <a:extLst>
              <a:ext uri="{FF2B5EF4-FFF2-40B4-BE49-F238E27FC236}">
                <a16:creationId xmlns:a16="http://schemas.microsoft.com/office/drawing/2014/main" id="{8E86BE65-C809-00A5-B3BA-9EA3AC940CE5}"/>
              </a:ext>
            </a:extLst>
          </p:cNvPr>
          <p:cNvSpPr txBox="1"/>
          <p:nvPr/>
        </p:nvSpPr>
        <p:spPr>
          <a:xfrm>
            <a:off x="6654467" y="1769854"/>
            <a:ext cx="587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highlight>
                  <a:srgbClr val="FF00FF"/>
                </a:highlight>
              </a:rPr>
              <a:t>d(8)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CE52C479-3E02-0AC4-114C-AD4D1EA0C2AB}"/>
              </a:ext>
            </a:extLst>
          </p:cNvPr>
          <p:cNvCxnSpPr>
            <a:cxnSpLocks/>
          </p:cNvCxnSpPr>
          <p:nvPr/>
        </p:nvCxnSpPr>
        <p:spPr>
          <a:xfrm flipH="1">
            <a:off x="7535858" y="1052736"/>
            <a:ext cx="16407" cy="103168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ZoneTexte 109">
            <a:extLst>
              <a:ext uri="{FF2B5EF4-FFF2-40B4-BE49-F238E27FC236}">
                <a16:creationId xmlns:a16="http://schemas.microsoft.com/office/drawing/2014/main" id="{7FDD1E6A-862D-2566-FBFC-93E1E351DD46}"/>
              </a:ext>
            </a:extLst>
          </p:cNvPr>
          <p:cNvSpPr txBox="1"/>
          <p:nvPr/>
        </p:nvSpPr>
        <p:spPr>
          <a:xfrm>
            <a:off x="7258468" y="2061661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c(12)</a:t>
            </a:r>
          </a:p>
        </p:txBody>
      </p:sp>
      <p:sp>
        <p:nvSpPr>
          <p:cNvPr id="35" name="ZoneTexte 109">
            <a:extLst>
              <a:ext uri="{FF2B5EF4-FFF2-40B4-BE49-F238E27FC236}">
                <a16:creationId xmlns:a16="http://schemas.microsoft.com/office/drawing/2014/main" id="{143D6063-990A-1BEE-A396-8EBD76EFF1B8}"/>
              </a:ext>
            </a:extLst>
          </p:cNvPr>
          <p:cNvSpPr txBox="1"/>
          <p:nvPr/>
        </p:nvSpPr>
        <p:spPr>
          <a:xfrm>
            <a:off x="7881691" y="1916832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b(19)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4F0CD7ED-D187-CF16-1A07-3C1DA9B1866D}"/>
              </a:ext>
            </a:extLst>
          </p:cNvPr>
          <p:cNvCxnSpPr>
            <a:cxnSpLocks/>
          </p:cNvCxnSpPr>
          <p:nvPr/>
        </p:nvCxnSpPr>
        <p:spPr>
          <a:xfrm>
            <a:off x="6948264" y="2101498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ZoneTexte 109">
            <a:extLst>
              <a:ext uri="{FF2B5EF4-FFF2-40B4-BE49-F238E27FC236}">
                <a16:creationId xmlns:a16="http://schemas.microsoft.com/office/drawing/2014/main" id="{BCEEB339-26D7-4C50-050C-90DE58397FEB}"/>
              </a:ext>
            </a:extLst>
          </p:cNvPr>
          <p:cNvSpPr txBox="1"/>
          <p:nvPr/>
        </p:nvSpPr>
        <p:spPr>
          <a:xfrm>
            <a:off x="6607406" y="3107295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I(10)</a:t>
            </a:r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AD6409B-044E-770E-A4E3-16618B12D3CA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908841" y="2108408"/>
            <a:ext cx="39423" cy="1002742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BC042B4F-B59F-F48F-4584-EA0A12C4F5CA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139507" y="2108408"/>
            <a:ext cx="808757" cy="1002742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ZoneTexte 109">
            <a:extLst>
              <a:ext uri="{FF2B5EF4-FFF2-40B4-BE49-F238E27FC236}">
                <a16:creationId xmlns:a16="http://schemas.microsoft.com/office/drawing/2014/main" id="{B29C8312-AF72-54F9-A335-BF3DBB4EF62D}"/>
              </a:ext>
            </a:extLst>
          </p:cNvPr>
          <p:cNvSpPr txBox="1"/>
          <p:nvPr/>
        </p:nvSpPr>
        <p:spPr>
          <a:xfrm>
            <a:off x="7132389" y="3012042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i(14)</a:t>
            </a:r>
          </a:p>
        </p:txBody>
      </p:sp>
      <p:sp>
        <p:nvSpPr>
          <p:cNvPr id="45" name="ZoneTexte 109">
            <a:extLst>
              <a:ext uri="{FF2B5EF4-FFF2-40B4-BE49-F238E27FC236}">
                <a16:creationId xmlns:a16="http://schemas.microsoft.com/office/drawing/2014/main" id="{AC14EDD9-DE84-255E-5D60-5B3F534C29F2}"/>
              </a:ext>
            </a:extLst>
          </p:cNvPr>
          <p:cNvSpPr txBox="1"/>
          <p:nvPr/>
        </p:nvSpPr>
        <p:spPr>
          <a:xfrm>
            <a:off x="5732732" y="3127724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k(9)</a:t>
            </a: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5F963780-0040-50DF-0756-17611CAD290D}"/>
              </a:ext>
            </a:extLst>
          </p:cNvPr>
          <p:cNvCxnSpPr>
            <a:cxnSpLocks/>
          </p:cNvCxnSpPr>
          <p:nvPr/>
        </p:nvCxnSpPr>
        <p:spPr>
          <a:xfrm flipH="1">
            <a:off x="5178211" y="3458094"/>
            <a:ext cx="808757" cy="971964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E6D39C67-281F-823B-A5F3-697E1FD818DA}"/>
              </a:ext>
            </a:extLst>
          </p:cNvPr>
          <p:cNvCxnSpPr>
            <a:cxnSpLocks/>
          </p:cNvCxnSpPr>
          <p:nvPr/>
        </p:nvCxnSpPr>
        <p:spPr>
          <a:xfrm>
            <a:off x="5986968" y="3481722"/>
            <a:ext cx="124946" cy="95539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0A4FA28E-99DD-EA63-E86A-0275B29EB0E0}"/>
              </a:ext>
            </a:extLst>
          </p:cNvPr>
          <p:cNvCxnSpPr>
            <a:cxnSpLocks/>
          </p:cNvCxnSpPr>
          <p:nvPr/>
        </p:nvCxnSpPr>
        <p:spPr>
          <a:xfrm>
            <a:off x="5968068" y="3458094"/>
            <a:ext cx="817280" cy="70272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ZoneTexte 109">
            <a:extLst>
              <a:ext uri="{FF2B5EF4-FFF2-40B4-BE49-F238E27FC236}">
                <a16:creationId xmlns:a16="http://schemas.microsoft.com/office/drawing/2014/main" id="{BB397407-83AE-C144-60AC-85013300443F}"/>
              </a:ext>
            </a:extLst>
          </p:cNvPr>
          <p:cNvSpPr txBox="1"/>
          <p:nvPr/>
        </p:nvSpPr>
        <p:spPr>
          <a:xfrm>
            <a:off x="6543885" y="4159016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e(16)</a:t>
            </a:r>
          </a:p>
        </p:txBody>
      </p:sp>
      <p:sp>
        <p:nvSpPr>
          <p:cNvPr id="53" name="ZoneTexte 109">
            <a:extLst>
              <a:ext uri="{FF2B5EF4-FFF2-40B4-BE49-F238E27FC236}">
                <a16:creationId xmlns:a16="http://schemas.microsoft.com/office/drawing/2014/main" id="{ECDBF0C7-B726-B696-5D49-03A9510E7BE9}"/>
              </a:ext>
            </a:extLst>
          </p:cNvPr>
          <p:cNvSpPr txBox="1"/>
          <p:nvPr/>
        </p:nvSpPr>
        <p:spPr>
          <a:xfrm>
            <a:off x="5732732" y="4450523"/>
            <a:ext cx="758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highlight>
                  <a:srgbClr val="FFFF00"/>
                </a:highlight>
              </a:rPr>
              <a:t>m(10)</a:t>
            </a:r>
          </a:p>
        </p:txBody>
      </p:sp>
      <p:sp>
        <p:nvSpPr>
          <p:cNvPr id="54" name="ZoneTexte 109">
            <a:extLst>
              <a:ext uri="{FF2B5EF4-FFF2-40B4-BE49-F238E27FC236}">
                <a16:creationId xmlns:a16="http://schemas.microsoft.com/office/drawing/2014/main" id="{DCA91620-E6F0-E69C-7164-1C9A8F3A88D5}"/>
              </a:ext>
            </a:extLst>
          </p:cNvPr>
          <p:cNvSpPr txBox="1"/>
          <p:nvPr/>
        </p:nvSpPr>
        <p:spPr>
          <a:xfrm>
            <a:off x="4758383" y="4450523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I(9)</a:t>
            </a:r>
          </a:p>
        </p:txBody>
      </p:sp>
      <p:sp>
        <p:nvSpPr>
          <p:cNvPr id="55" name="ZoneTexte 109">
            <a:extLst>
              <a:ext uri="{FF2B5EF4-FFF2-40B4-BE49-F238E27FC236}">
                <a16:creationId xmlns:a16="http://schemas.microsoft.com/office/drawing/2014/main" id="{8D00D9E2-9651-2DEA-8FCC-EE8933745A29}"/>
              </a:ext>
            </a:extLst>
          </p:cNvPr>
          <p:cNvSpPr txBox="1"/>
          <p:nvPr/>
        </p:nvSpPr>
        <p:spPr>
          <a:xfrm>
            <a:off x="5500676" y="5153244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n(11)</a:t>
            </a:r>
          </a:p>
        </p:txBody>
      </p: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D9EF2126-85CD-A91F-18B9-55D178B4B095}"/>
              </a:ext>
            </a:extLst>
          </p:cNvPr>
          <p:cNvCxnSpPr>
            <a:cxnSpLocks/>
            <a:endCxn id="54" idx="0"/>
          </p:cNvCxnSpPr>
          <p:nvPr/>
        </p:nvCxnSpPr>
        <p:spPr>
          <a:xfrm flipH="1" flipV="1">
            <a:off x="5137565" y="4450523"/>
            <a:ext cx="496510" cy="709775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A280ABAF-A75A-D6C6-D233-2FECE07FF4B2}"/>
              </a:ext>
            </a:extLst>
          </p:cNvPr>
          <p:cNvCxnSpPr>
            <a:cxnSpLocks/>
          </p:cNvCxnSpPr>
          <p:nvPr/>
        </p:nvCxnSpPr>
        <p:spPr>
          <a:xfrm flipH="1" flipV="1">
            <a:off x="6971489" y="3400050"/>
            <a:ext cx="611238" cy="47329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ZoneTexte 109">
            <a:extLst>
              <a:ext uri="{FF2B5EF4-FFF2-40B4-BE49-F238E27FC236}">
                <a16:creationId xmlns:a16="http://schemas.microsoft.com/office/drawing/2014/main" id="{614E11F3-D3DC-14E5-F7E7-BCF2210A3137}"/>
              </a:ext>
            </a:extLst>
          </p:cNvPr>
          <p:cNvSpPr txBox="1"/>
          <p:nvPr/>
        </p:nvSpPr>
        <p:spPr>
          <a:xfrm>
            <a:off x="7365770" y="3928683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n(12)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BB4109C-7352-8E0A-0980-74A9E1E99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92D05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Déroulement d’algorithme A* </a:t>
            </a:r>
          </a:p>
        </p:txBody>
      </p:sp>
    </p:spTree>
    <p:extLst>
      <p:ext uri="{BB962C8B-B14F-4D97-AF65-F5344CB8AC3E}">
        <p14:creationId xmlns:p14="http://schemas.microsoft.com/office/powerpoint/2010/main" val="3211463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1" y="543444"/>
            <a:ext cx="4895850" cy="2914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91DEE342-C655-1B03-4B22-4A24B4127F5A}"/>
              </a:ext>
            </a:extLst>
          </p:cNvPr>
          <p:cNvSpPr txBox="1"/>
          <p:nvPr/>
        </p:nvSpPr>
        <p:spPr>
          <a:xfrm>
            <a:off x="7380312" y="764704"/>
            <a:ext cx="36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217342-C1CB-C171-21C1-71AAA15A06B1}"/>
              </a:ext>
            </a:extLst>
          </p:cNvPr>
          <p:cNvSpPr txBox="1"/>
          <p:nvPr/>
        </p:nvSpPr>
        <p:spPr>
          <a:xfrm>
            <a:off x="0" y="3429000"/>
            <a:ext cx="60423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[a(10)] 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: </a:t>
            </a: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b(7+12),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(8+4), d(5+3)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[d(8), c(12),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d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k(7+2), I(9+1), i(10+4)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[k(9), I(10), c(12), i(14),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k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e(12+4), m(9+1), I(8+1)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[I(9), I(10),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c(12),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I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n(8+3)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n(11), c(12), n(13),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m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n(10+0)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[n(10), n(11), n(12),  c(12), i(14), e(16), (b(19)]</a:t>
            </a:r>
          </a:p>
          <a:p>
            <a:pPr marL="285750" indent="-285750">
              <a:buFontTx/>
              <a:buChar char="-"/>
            </a:pPr>
            <a:endParaRPr lang="fr-CA" dirty="0">
              <a:latin typeface="Times New Roman" panose="02020603050405020304" pitchFamily="18" charset="0"/>
              <a:ea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9DC71DC-32A8-4046-D24E-B018C3608EEF}"/>
              </a:ext>
            </a:extLst>
          </p:cNvPr>
          <p:cNvCxnSpPr>
            <a:cxnSpLocks/>
          </p:cNvCxnSpPr>
          <p:nvPr/>
        </p:nvCxnSpPr>
        <p:spPr>
          <a:xfrm flipH="1">
            <a:off x="6948264" y="1052736"/>
            <a:ext cx="587594" cy="717118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28EC2C7-8E98-064D-1A29-33FE6BA0E6E7}"/>
              </a:ext>
            </a:extLst>
          </p:cNvPr>
          <p:cNvCxnSpPr>
            <a:cxnSpLocks/>
          </p:cNvCxnSpPr>
          <p:nvPr/>
        </p:nvCxnSpPr>
        <p:spPr>
          <a:xfrm>
            <a:off x="7568672" y="1058582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ZoneTexte 109">
            <a:extLst>
              <a:ext uri="{FF2B5EF4-FFF2-40B4-BE49-F238E27FC236}">
                <a16:creationId xmlns:a16="http://schemas.microsoft.com/office/drawing/2014/main" id="{8E86BE65-C809-00A5-B3BA-9EA3AC940CE5}"/>
              </a:ext>
            </a:extLst>
          </p:cNvPr>
          <p:cNvSpPr txBox="1"/>
          <p:nvPr/>
        </p:nvSpPr>
        <p:spPr>
          <a:xfrm>
            <a:off x="6654467" y="1769854"/>
            <a:ext cx="587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highlight>
                  <a:srgbClr val="FF00FF"/>
                </a:highlight>
              </a:rPr>
              <a:t>d(8)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CE52C479-3E02-0AC4-114C-AD4D1EA0C2AB}"/>
              </a:ext>
            </a:extLst>
          </p:cNvPr>
          <p:cNvCxnSpPr>
            <a:cxnSpLocks/>
          </p:cNvCxnSpPr>
          <p:nvPr/>
        </p:nvCxnSpPr>
        <p:spPr>
          <a:xfrm flipH="1">
            <a:off x="7535858" y="1052736"/>
            <a:ext cx="16407" cy="103168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ZoneTexte 109">
            <a:extLst>
              <a:ext uri="{FF2B5EF4-FFF2-40B4-BE49-F238E27FC236}">
                <a16:creationId xmlns:a16="http://schemas.microsoft.com/office/drawing/2014/main" id="{7FDD1E6A-862D-2566-FBFC-93E1E351DD46}"/>
              </a:ext>
            </a:extLst>
          </p:cNvPr>
          <p:cNvSpPr txBox="1"/>
          <p:nvPr/>
        </p:nvSpPr>
        <p:spPr>
          <a:xfrm>
            <a:off x="7258468" y="2061661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c(12)</a:t>
            </a:r>
          </a:p>
        </p:txBody>
      </p:sp>
      <p:sp>
        <p:nvSpPr>
          <p:cNvPr id="35" name="ZoneTexte 109">
            <a:extLst>
              <a:ext uri="{FF2B5EF4-FFF2-40B4-BE49-F238E27FC236}">
                <a16:creationId xmlns:a16="http://schemas.microsoft.com/office/drawing/2014/main" id="{143D6063-990A-1BEE-A396-8EBD76EFF1B8}"/>
              </a:ext>
            </a:extLst>
          </p:cNvPr>
          <p:cNvSpPr txBox="1"/>
          <p:nvPr/>
        </p:nvSpPr>
        <p:spPr>
          <a:xfrm>
            <a:off x="7881691" y="1916832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b(19)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4F0CD7ED-D187-CF16-1A07-3C1DA9B1866D}"/>
              </a:ext>
            </a:extLst>
          </p:cNvPr>
          <p:cNvCxnSpPr>
            <a:cxnSpLocks/>
          </p:cNvCxnSpPr>
          <p:nvPr/>
        </p:nvCxnSpPr>
        <p:spPr>
          <a:xfrm>
            <a:off x="6948264" y="2101498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ZoneTexte 109">
            <a:extLst>
              <a:ext uri="{FF2B5EF4-FFF2-40B4-BE49-F238E27FC236}">
                <a16:creationId xmlns:a16="http://schemas.microsoft.com/office/drawing/2014/main" id="{BCEEB339-26D7-4C50-050C-90DE58397FEB}"/>
              </a:ext>
            </a:extLst>
          </p:cNvPr>
          <p:cNvSpPr txBox="1"/>
          <p:nvPr/>
        </p:nvSpPr>
        <p:spPr>
          <a:xfrm>
            <a:off x="6607406" y="3107295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I(10)</a:t>
            </a:r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AD6409B-044E-770E-A4E3-16618B12D3CA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908841" y="2108408"/>
            <a:ext cx="39423" cy="1002742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BC042B4F-B59F-F48F-4584-EA0A12C4F5CA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139507" y="2108408"/>
            <a:ext cx="808757" cy="1002742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ZoneTexte 109">
            <a:extLst>
              <a:ext uri="{FF2B5EF4-FFF2-40B4-BE49-F238E27FC236}">
                <a16:creationId xmlns:a16="http://schemas.microsoft.com/office/drawing/2014/main" id="{B29C8312-AF72-54F9-A335-BF3DBB4EF62D}"/>
              </a:ext>
            </a:extLst>
          </p:cNvPr>
          <p:cNvSpPr txBox="1"/>
          <p:nvPr/>
        </p:nvSpPr>
        <p:spPr>
          <a:xfrm>
            <a:off x="7132389" y="3012042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i(14)</a:t>
            </a:r>
          </a:p>
        </p:txBody>
      </p:sp>
      <p:sp>
        <p:nvSpPr>
          <p:cNvPr id="45" name="ZoneTexte 109">
            <a:extLst>
              <a:ext uri="{FF2B5EF4-FFF2-40B4-BE49-F238E27FC236}">
                <a16:creationId xmlns:a16="http://schemas.microsoft.com/office/drawing/2014/main" id="{AC14EDD9-DE84-255E-5D60-5B3F534C29F2}"/>
              </a:ext>
            </a:extLst>
          </p:cNvPr>
          <p:cNvSpPr txBox="1"/>
          <p:nvPr/>
        </p:nvSpPr>
        <p:spPr>
          <a:xfrm>
            <a:off x="5732732" y="3127724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k(9)</a:t>
            </a: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5F963780-0040-50DF-0756-17611CAD290D}"/>
              </a:ext>
            </a:extLst>
          </p:cNvPr>
          <p:cNvCxnSpPr>
            <a:cxnSpLocks/>
          </p:cNvCxnSpPr>
          <p:nvPr/>
        </p:nvCxnSpPr>
        <p:spPr>
          <a:xfrm flipH="1">
            <a:off x="5178211" y="3458094"/>
            <a:ext cx="808757" cy="971964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E6D39C67-281F-823B-A5F3-697E1FD818DA}"/>
              </a:ext>
            </a:extLst>
          </p:cNvPr>
          <p:cNvCxnSpPr>
            <a:cxnSpLocks/>
          </p:cNvCxnSpPr>
          <p:nvPr/>
        </p:nvCxnSpPr>
        <p:spPr>
          <a:xfrm>
            <a:off x="5986968" y="3481722"/>
            <a:ext cx="124946" cy="95539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0A4FA28E-99DD-EA63-E86A-0275B29EB0E0}"/>
              </a:ext>
            </a:extLst>
          </p:cNvPr>
          <p:cNvCxnSpPr>
            <a:cxnSpLocks/>
          </p:cNvCxnSpPr>
          <p:nvPr/>
        </p:nvCxnSpPr>
        <p:spPr>
          <a:xfrm>
            <a:off x="5968068" y="3458094"/>
            <a:ext cx="817280" cy="70272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ZoneTexte 109">
            <a:extLst>
              <a:ext uri="{FF2B5EF4-FFF2-40B4-BE49-F238E27FC236}">
                <a16:creationId xmlns:a16="http://schemas.microsoft.com/office/drawing/2014/main" id="{BB397407-83AE-C144-60AC-85013300443F}"/>
              </a:ext>
            </a:extLst>
          </p:cNvPr>
          <p:cNvSpPr txBox="1"/>
          <p:nvPr/>
        </p:nvSpPr>
        <p:spPr>
          <a:xfrm>
            <a:off x="6543885" y="4159016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e(16)</a:t>
            </a:r>
          </a:p>
        </p:txBody>
      </p:sp>
      <p:sp>
        <p:nvSpPr>
          <p:cNvPr id="53" name="ZoneTexte 109">
            <a:extLst>
              <a:ext uri="{FF2B5EF4-FFF2-40B4-BE49-F238E27FC236}">
                <a16:creationId xmlns:a16="http://schemas.microsoft.com/office/drawing/2014/main" id="{ECDBF0C7-B726-B696-5D49-03A9510E7BE9}"/>
              </a:ext>
            </a:extLst>
          </p:cNvPr>
          <p:cNvSpPr txBox="1"/>
          <p:nvPr/>
        </p:nvSpPr>
        <p:spPr>
          <a:xfrm>
            <a:off x="5732732" y="4450523"/>
            <a:ext cx="758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highlight>
                  <a:srgbClr val="FF00FF"/>
                </a:highlight>
              </a:rPr>
              <a:t>m(10)</a:t>
            </a:r>
          </a:p>
        </p:txBody>
      </p:sp>
      <p:sp>
        <p:nvSpPr>
          <p:cNvPr id="54" name="ZoneTexte 109">
            <a:extLst>
              <a:ext uri="{FF2B5EF4-FFF2-40B4-BE49-F238E27FC236}">
                <a16:creationId xmlns:a16="http://schemas.microsoft.com/office/drawing/2014/main" id="{DCA91620-E6F0-E69C-7164-1C9A8F3A88D5}"/>
              </a:ext>
            </a:extLst>
          </p:cNvPr>
          <p:cNvSpPr txBox="1"/>
          <p:nvPr/>
        </p:nvSpPr>
        <p:spPr>
          <a:xfrm>
            <a:off x="4758383" y="4450523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I(9)</a:t>
            </a:r>
          </a:p>
        </p:txBody>
      </p:sp>
      <p:sp>
        <p:nvSpPr>
          <p:cNvPr id="55" name="ZoneTexte 109">
            <a:extLst>
              <a:ext uri="{FF2B5EF4-FFF2-40B4-BE49-F238E27FC236}">
                <a16:creationId xmlns:a16="http://schemas.microsoft.com/office/drawing/2014/main" id="{8D00D9E2-9651-2DEA-8FCC-EE8933745A29}"/>
              </a:ext>
            </a:extLst>
          </p:cNvPr>
          <p:cNvSpPr txBox="1"/>
          <p:nvPr/>
        </p:nvSpPr>
        <p:spPr>
          <a:xfrm>
            <a:off x="5500676" y="5153244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n(11)</a:t>
            </a:r>
          </a:p>
        </p:txBody>
      </p: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D9EF2126-85CD-A91F-18B9-55D178B4B095}"/>
              </a:ext>
            </a:extLst>
          </p:cNvPr>
          <p:cNvCxnSpPr>
            <a:cxnSpLocks/>
            <a:endCxn id="54" idx="0"/>
          </p:cNvCxnSpPr>
          <p:nvPr/>
        </p:nvCxnSpPr>
        <p:spPr>
          <a:xfrm flipH="1" flipV="1">
            <a:off x="5137565" y="4450523"/>
            <a:ext cx="496510" cy="709775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A280ABAF-A75A-D6C6-D233-2FECE07FF4B2}"/>
              </a:ext>
            </a:extLst>
          </p:cNvPr>
          <p:cNvCxnSpPr>
            <a:cxnSpLocks/>
          </p:cNvCxnSpPr>
          <p:nvPr/>
        </p:nvCxnSpPr>
        <p:spPr>
          <a:xfrm flipH="1" flipV="1">
            <a:off x="6971489" y="3400050"/>
            <a:ext cx="611238" cy="47329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ZoneTexte 109">
            <a:extLst>
              <a:ext uri="{FF2B5EF4-FFF2-40B4-BE49-F238E27FC236}">
                <a16:creationId xmlns:a16="http://schemas.microsoft.com/office/drawing/2014/main" id="{614E11F3-D3DC-14E5-F7E7-BCF2210A3137}"/>
              </a:ext>
            </a:extLst>
          </p:cNvPr>
          <p:cNvSpPr txBox="1"/>
          <p:nvPr/>
        </p:nvSpPr>
        <p:spPr>
          <a:xfrm>
            <a:off x="7365770" y="3928683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n(12)</a:t>
            </a:r>
          </a:p>
        </p:txBody>
      </p:sp>
      <p:sp>
        <p:nvSpPr>
          <p:cNvPr id="5" name="ZoneTexte 109">
            <a:extLst>
              <a:ext uri="{FF2B5EF4-FFF2-40B4-BE49-F238E27FC236}">
                <a16:creationId xmlns:a16="http://schemas.microsoft.com/office/drawing/2014/main" id="{473080CC-1F3A-1AFD-C48C-720F87B15723}"/>
              </a:ext>
            </a:extLst>
          </p:cNvPr>
          <p:cNvSpPr txBox="1"/>
          <p:nvPr/>
        </p:nvSpPr>
        <p:spPr>
          <a:xfrm>
            <a:off x="6477976" y="5229270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n(10)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75FF704-CAAB-BE0B-D4C0-E83464C33A88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6245920" y="4755979"/>
            <a:ext cx="611238" cy="47329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7">
            <a:extLst>
              <a:ext uri="{FF2B5EF4-FFF2-40B4-BE49-F238E27FC236}">
                <a16:creationId xmlns:a16="http://schemas.microsoft.com/office/drawing/2014/main" id="{68BF8B1B-39AF-AA61-C933-F76F6FFF6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92D05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Déroulement d’algorithme A* </a:t>
            </a:r>
          </a:p>
        </p:txBody>
      </p:sp>
    </p:spTree>
    <p:extLst>
      <p:ext uri="{BB962C8B-B14F-4D97-AF65-F5344CB8AC3E}">
        <p14:creationId xmlns:p14="http://schemas.microsoft.com/office/powerpoint/2010/main" val="2615604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1" y="543444"/>
            <a:ext cx="4895850" cy="2914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91DEE342-C655-1B03-4B22-4A24B4127F5A}"/>
              </a:ext>
            </a:extLst>
          </p:cNvPr>
          <p:cNvSpPr txBox="1"/>
          <p:nvPr/>
        </p:nvSpPr>
        <p:spPr>
          <a:xfrm>
            <a:off x="7380312" y="764704"/>
            <a:ext cx="36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217342-C1CB-C171-21C1-71AAA15A06B1}"/>
              </a:ext>
            </a:extLst>
          </p:cNvPr>
          <p:cNvSpPr txBox="1"/>
          <p:nvPr/>
        </p:nvSpPr>
        <p:spPr>
          <a:xfrm>
            <a:off x="0" y="3429000"/>
            <a:ext cx="60423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= 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[a(10)] 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: </a:t>
            </a: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b(7+12),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(8+4), d(5+3)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[d(8), c(12),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d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k(7+2), I(9+1), i(10+4)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[k(9), I(10), c(12), i(14), 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k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e(12+4), m(9+1), I(8+1)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[I(9), I(10),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c(12),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I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n(8+3)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(10), n(11), c(12), n(13), i(14), e(16), (b(19)]</a:t>
            </a:r>
          </a:p>
          <a:p>
            <a:pPr marL="285750" indent="-285750">
              <a:buFontTx/>
              <a:buChar char="-"/>
            </a:pPr>
            <a:r>
              <a:rPr lang="fr-C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: m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n(10+0)</a:t>
            </a:r>
          </a:p>
          <a:p>
            <a:pPr marL="285750" indent="-285750">
              <a:buFontTx/>
              <a:buChar char="-"/>
            </a:pPr>
            <a:r>
              <a:rPr lang="fr-C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fr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[n(10), n(11), n(12),  c(12), i(14), e(16), (b(19)]</a:t>
            </a:r>
          </a:p>
          <a:p>
            <a:pPr marL="285750" indent="-285750">
              <a:buFontTx/>
              <a:buChar char="-"/>
            </a:pPr>
            <a:r>
              <a:rPr lang="fr-CA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Dev = n(10) solution  le chemin solution est : a d k m n </a:t>
            </a: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fr-CA" dirty="0">
              <a:latin typeface="Times New Roman" panose="02020603050405020304" pitchFamily="18" charset="0"/>
              <a:ea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fr-C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9DC71DC-32A8-4046-D24E-B018C3608EEF}"/>
              </a:ext>
            </a:extLst>
          </p:cNvPr>
          <p:cNvCxnSpPr>
            <a:cxnSpLocks/>
          </p:cNvCxnSpPr>
          <p:nvPr/>
        </p:nvCxnSpPr>
        <p:spPr>
          <a:xfrm flipH="1">
            <a:off x="6948264" y="1052736"/>
            <a:ext cx="587594" cy="717118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28EC2C7-8E98-064D-1A29-33FE6BA0E6E7}"/>
              </a:ext>
            </a:extLst>
          </p:cNvPr>
          <p:cNvCxnSpPr>
            <a:cxnSpLocks/>
          </p:cNvCxnSpPr>
          <p:nvPr/>
        </p:nvCxnSpPr>
        <p:spPr>
          <a:xfrm>
            <a:off x="7568672" y="1058582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ZoneTexte 109">
            <a:extLst>
              <a:ext uri="{FF2B5EF4-FFF2-40B4-BE49-F238E27FC236}">
                <a16:creationId xmlns:a16="http://schemas.microsoft.com/office/drawing/2014/main" id="{8E86BE65-C809-00A5-B3BA-9EA3AC940CE5}"/>
              </a:ext>
            </a:extLst>
          </p:cNvPr>
          <p:cNvSpPr txBox="1"/>
          <p:nvPr/>
        </p:nvSpPr>
        <p:spPr>
          <a:xfrm>
            <a:off x="6654467" y="1769854"/>
            <a:ext cx="587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highlight>
                  <a:srgbClr val="FF00FF"/>
                </a:highlight>
              </a:rPr>
              <a:t>d(8)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CE52C479-3E02-0AC4-114C-AD4D1EA0C2AB}"/>
              </a:ext>
            </a:extLst>
          </p:cNvPr>
          <p:cNvCxnSpPr>
            <a:cxnSpLocks/>
          </p:cNvCxnSpPr>
          <p:nvPr/>
        </p:nvCxnSpPr>
        <p:spPr>
          <a:xfrm flipH="1">
            <a:off x="7535858" y="1052736"/>
            <a:ext cx="16407" cy="103168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ZoneTexte 109">
            <a:extLst>
              <a:ext uri="{FF2B5EF4-FFF2-40B4-BE49-F238E27FC236}">
                <a16:creationId xmlns:a16="http://schemas.microsoft.com/office/drawing/2014/main" id="{7FDD1E6A-862D-2566-FBFC-93E1E351DD46}"/>
              </a:ext>
            </a:extLst>
          </p:cNvPr>
          <p:cNvSpPr txBox="1"/>
          <p:nvPr/>
        </p:nvSpPr>
        <p:spPr>
          <a:xfrm>
            <a:off x="7258468" y="2061661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c(12)</a:t>
            </a:r>
          </a:p>
        </p:txBody>
      </p:sp>
      <p:sp>
        <p:nvSpPr>
          <p:cNvPr id="35" name="ZoneTexte 109">
            <a:extLst>
              <a:ext uri="{FF2B5EF4-FFF2-40B4-BE49-F238E27FC236}">
                <a16:creationId xmlns:a16="http://schemas.microsoft.com/office/drawing/2014/main" id="{143D6063-990A-1BEE-A396-8EBD76EFF1B8}"/>
              </a:ext>
            </a:extLst>
          </p:cNvPr>
          <p:cNvSpPr txBox="1"/>
          <p:nvPr/>
        </p:nvSpPr>
        <p:spPr>
          <a:xfrm>
            <a:off x="7881691" y="1916832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b(19)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4F0CD7ED-D187-CF16-1A07-3C1DA9B1866D}"/>
              </a:ext>
            </a:extLst>
          </p:cNvPr>
          <p:cNvCxnSpPr>
            <a:cxnSpLocks/>
          </p:cNvCxnSpPr>
          <p:nvPr/>
        </p:nvCxnSpPr>
        <p:spPr>
          <a:xfrm>
            <a:off x="6948264" y="2101498"/>
            <a:ext cx="478675" cy="8582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ZoneTexte 109">
            <a:extLst>
              <a:ext uri="{FF2B5EF4-FFF2-40B4-BE49-F238E27FC236}">
                <a16:creationId xmlns:a16="http://schemas.microsoft.com/office/drawing/2014/main" id="{BCEEB339-26D7-4C50-050C-90DE58397FEB}"/>
              </a:ext>
            </a:extLst>
          </p:cNvPr>
          <p:cNvSpPr txBox="1"/>
          <p:nvPr/>
        </p:nvSpPr>
        <p:spPr>
          <a:xfrm>
            <a:off x="6607406" y="3107295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I(10)</a:t>
            </a:r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AD6409B-044E-770E-A4E3-16618B12D3CA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908841" y="2108408"/>
            <a:ext cx="39423" cy="1002742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BC042B4F-B59F-F48F-4584-EA0A12C4F5CA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139507" y="2108408"/>
            <a:ext cx="808757" cy="1002742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ZoneTexte 109">
            <a:extLst>
              <a:ext uri="{FF2B5EF4-FFF2-40B4-BE49-F238E27FC236}">
                <a16:creationId xmlns:a16="http://schemas.microsoft.com/office/drawing/2014/main" id="{B29C8312-AF72-54F9-A335-BF3DBB4EF62D}"/>
              </a:ext>
            </a:extLst>
          </p:cNvPr>
          <p:cNvSpPr txBox="1"/>
          <p:nvPr/>
        </p:nvSpPr>
        <p:spPr>
          <a:xfrm>
            <a:off x="7132389" y="3012042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i(14)</a:t>
            </a:r>
          </a:p>
        </p:txBody>
      </p:sp>
      <p:sp>
        <p:nvSpPr>
          <p:cNvPr id="45" name="ZoneTexte 109">
            <a:extLst>
              <a:ext uri="{FF2B5EF4-FFF2-40B4-BE49-F238E27FC236}">
                <a16:creationId xmlns:a16="http://schemas.microsoft.com/office/drawing/2014/main" id="{AC14EDD9-DE84-255E-5D60-5B3F534C29F2}"/>
              </a:ext>
            </a:extLst>
          </p:cNvPr>
          <p:cNvSpPr txBox="1"/>
          <p:nvPr/>
        </p:nvSpPr>
        <p:spPr>
          <a:xfrm>
            <a:off x="5732732" y="3127724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k(9)</a:t>
            </a: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5F963780-0040-50DF-0756-17611CAD290D}"/>
              </a:ext>
            </a:extLst>
          </p:cNvPr>
          <p:cNvCxnSpPr>
            <a:cxnSpLocks/>
          </p:cNvCxnSpPr>
          <p:nvPr/>
        </p:nvCxnSpPr>
        <p:spPr>
          <a:xfrm flipH="1">
            <a:off x="5178211" y="3458094"/>
            <a:ext cx="808757" cy="971964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E6D39C67-281F-823B-A5F3-697E1FD818DA}"/>
              </a:ext>
            </a:extLst>
          </p:cNvPr>
          <p:cNvCxnSpPr>
            <a:cxnSpLocks/>
          </p:cNvCxnSpPr>
          <p:nvPr/>
        </p:nvCxnSpPr>
        <p:spPr>
          <a:xfrm>
            <a:off x="5986968" y="3481722"/>
            <a:ext cx="124946" cy="95539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0A4FA28E-99DD-EA63-E86A-0275B29EB0E0}"/>
              </a:ext>
            </a:extLst>
          </p:cNvPr>
          <p:cNvCxnSpPr>
            <a:cxnSpLocks/>
          </p:cNvCxnSpPr>
          <p:nvPr/>
        </p:nvCxnSpPr>
        <p:spPr>
          <a:xfrm>
            <a:off x="5968068" y="3458094"/>
            <a:ext cx="817280" cy="70272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ZoneTexte 109">
            <a:extLst>
              <a:ext uri="{FF2B5EF4-FFF2-40B4-BE49-F238E27FC236}">
                <a16:creationId xmlns:a16="http://schemas.microsoft.com/office/drawing/2014/main" id="{BB397407-83AE-C144-60AC-85013300443F}"/>
              </a:ext>
            </a:extLst>
          </p:cNvPr>
          <p:cNvSpPr txBox="1"/>
          <p:nvPr/>
        </p:nvSpPr>
        <p:spPr>
          <a:xfrm>
            <a:off x="6543885" y="4159016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e(16)</a:t>
            </a:r>
          </a:p>
        </p:txBody>
      </p:sp>
      <p:sp>
        <p:nvSpPr>
          <p:cNvPr id="53" name="ZoneTexte 109">
            <a:extLst>
              <a:ext uri="{FF2B5EF4-FFF2-40B4-BE49-F238E27FC236}">
                <a16:creationId xmlns:a16="http://schemas.microsoft.com/office/drawing/2014/main" id="{ECDBF0C7-B726-B696-5D49-03A9510E7BE9}"/>
              </a:ext>
            </a:extLst>
          </p:cNvPr>
          <p:cNvSpPr txBox="1"/>
          <p:nvPr/>
        </p:nvSpPr>
        <p:spPr>
          <a:xfrm>
            <a:off x="5732732" y="4450523"/>
            <a:ext cx="758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highlight>
                  <a:srgbClr val="FF00FF"/>
                </a:highlight>
              </a:rPr>
              <a:t>m(10)</a:t>
            </a:r>
          </a:p>
        </p:txBody>
      </p:sp>
      <p:sp>
        <p:nvSpPr>
          <p:cNvPr id="54" name="ZoneTexte 109">
            <a:extLst>
              <a:ext uri="{FF2B5EF4-FFF2-40B4-BE49-F238E27FC236}">
                <a16:creationId xmlns:a16="http://schemas.microsoft.com/office/drawing/2014/main" id="{DCA91620-E6F0-E69C-7164-1C9A8F3A88D5}"/>
              </a:ext>
            </a:extLst>
          </p:cNvPr>
          <p:cNvSpPr txBox="1"/>
          <p:nvPr/>
        </p:nvSpPr>
        <p:spPr>
          <a:xfrm>
            <a:off x="4758383" y="4450523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I(9)</a:t>
            </a:r>
          </a:p>
        </p:txBody>
      </p:sp>
      <p:sp>
        <p:nvSpPr>
          <p:cNvPr id="55" name="ZoneTexte 109">
            <a:extLst>
              <a:ext uri="{FF2B5EF4-FFF2-40B4-BE49-F238E27FC236}">
                <a16:creationId xmlns:a16="http://schemas.microsoft.com/office/drawing/2014/main" id="{8D00D9E2-9651-2DEA-8FCC-EE8933745A29}"/>
              </a:ext>
            </a:extLst>
          </p:cNvPr>
          <p:cNvSpPr txBox="1"/>
          <p:nvPr/>
        </p:nvSpPr>
        <p:spPr>
          <a:xfrm>
            <a:off x="5500676" y="5153244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n(11)</a:t>
            </a:r>
          </a:p>
        </p:txBody>
      </p: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D9EF2126-85CD-A91F-18B9-55D178B4B095}"/>
              </a:ext>
            </a:extLst>
          </p:cNvPr>
          <p:cNvCxnSpPr>
            <a:cxnSpLocks/>
            <a:endCxn id="54" idx="0"/>
          </p:cNvCxnSpPr>
          <p:nvPr/>
        </p:nvCxnSpPr>
        <p:spPr>
          <a:xfrm flipH="1" flipV="1">
            <a:off x="5137565" y="4450523"/>
            <a:ext cx="496510" cy="709775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A280ABAF-A75A-D6C6-D233-2FECE07FF4B2}"/>
              </a:ext>
            </a:extLst>
          </p:cNvPr>
          <p:cNvCxnSpPr>
            <a:cxnSpLocks/>
          </p:cNvCxnSpPr>
          <p:nvPr/>
        </p:nvCxnSpPr>
        <p:spPr>
          <a:xfrm flipH="1" flipV="1">
            <a:off x="6971489" y="3400050"/>
            <a:ext cx="611238" cy="47329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ZoneTexte 109">
            <a:extLst>
              <a:ext uri="{FF2B5EF4-FFF2-40B4-BE49-F238E27FC236}">
                <a16:creationId xmlns:a16="http://schemas.microsoft.com/office/drawing/2014/main" id="{614E11F3-D3DC-14E5-F7E7-BCF2210A3137}"/>
              </a:ext>
            </a:extLst>
          </p:cNvPr>
          <p:cNvSpPr txBox="1"/>
          <p:nvPr/>
        </p:nvSpPr>
        <p:spPr>
          <a:xfrm>
            <a:off x="7365770" y="3928683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FF00"/>
                </a:highlight>
              </a:rPr>
              <a:t>n(12)</a:t>
            </a:r>
          </a:p>
        </p:txBody>
      </p:sp>
      <p:sp>
        <p:nvSpPr>
          <p:cNvPr id="5" name="ZoneTexte 109">
            <a:extLst>
              <a:ext uri="{FF2B5EF4-FFF2-40B4-BE49-F238E27FC236}">
                <a16:creationId xmlns:a16="http://schemas.microsoft.com/office/drawing/2014/main" id="{473080CC-1F3A-1AFD-C48C-720F87B15723}"/>
              </a:ext>
            </a:extLst>
          </p:cNvPr>
          <p:cNvSpPr txBox="1"/>
          <p:nvPr/>
        </p:nvSpPr>
        <p:spPr>
          <a:xfrm>
            <a:off x="6477976" y="5229270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highlight>
                  <a:srgbClr val="FF00FF"/>
                </a:highlight>
              </a:rPr>
              <a:t>n(10)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75FF704-CAAB-BE0B-D4C0-E83464C33A88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6245920" y="4755979"/>
            <a:ext cx="611238" cy="47329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7">
            <a:extLst>
              <a:ext uri="{FF2B5EF4-FFF2-40B4-BE49-F238E27FC236}">
                <a16:creationId xmlns:a16="http://schemas.microsoft.com/office/drawing/2014/main" id="{09CE2691-3E03-C130-1A55-03FEBCDE3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92D05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Déroulement d’algorithme A* </a:t>
            </a:r>
          </a:p>
        </p:txBody>
      </p:sp>
    </p:spTree>
    <p:extLst>
      <p:ext uri="{BB962C8B-B14F-4D97-AF65-F5344CB8AC3E}">
        <p14:creationId xmlns:p14="http://schemas.microsoft.com/office/powerpoint/2010/main" val="495281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-28629" y="4653136"/>
            <a:ext cx="889248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fr-FR" sz="1400" b="1" dirty="0">
                <a:solidFill>
                  <a:srgbClr val="0070C0"/>
                </a:solidFill>
              </a:rPr>
              <a:t>Théorème1 : </a:t>
            </a:r>
            <a:r>
              <a:rPr lang="fr-FR" sz="1400" b="0" dirty="0"/>
              <a:t>si A* utilise une fonction heuristique admissible, c-à-d qui </a:t>
            </a:r>
            <a:r>
              <a:rPr lang="fr-FR" sz="1400" b="1" dirty="0"/>
              <a:t>ne surestime jamais le coût </a:t>
            </a:r>
            <a:r>
              <a:rPr lang="fr-FR" sz="1400" b="0" dirty="0"/>
              <a:t>réel alors A* </a:t>
            </a:r>
            <a:r>
              <a:rPr lang="fr-FR" sz="1400" b="1" dirty="0"/>
              <a:t>est optimal</a:t>
            </a:r>
          </a:p>
          <a:p>
            <a:r>
              <a:rPr lang="fr-FR" sz="1400" b="1" dirty="0">
                <a:solidFill>
                  <a:srgbClr val="0070C0"/>
                </a:solidFill>
              </a:rPr>
              <a:t>Théorème2 : </a:t>
            </a:r>
            <a:r>
              <a:rPr lang="fr-FR" sz="1400" dirty="0">
                <a:solidFill>
                  <a:srgbClr val="000000"/>
                </a:solidFill>
              </a:rPr>
              <a:t>Si A</a:t>
            </a:r>
            <a:r>
              <a:rPr lang="fr-FR" sz="1100" dirty="0">
                <a:solidFill>
                  <a:srgbClr val="000000"/>
                </a:solidFill>
              </a:rPr>
              <a:t>2</a:t>
            </a:r>
            <a:r>
              <a:rPr lang="fr-FR" sz="1400" dirty="0">
                <a:solidFill>
                  <a:srgbClr val="000000"/>
                </a:solidFill>
              </a:rPr>
              <a:t>* est mieux informé que A</a:t>
            </a:r>
            <a:r>
              <a:rPr lang="fr-FR" sz="1100" dirty="0">
                <a:solidFill>
                  <a:srgbClr val="000000"/>
                </a:solidFill>
              </a:rPr>
              <a:t>1</a:t>
            </a:r>
            <a:r>
              <a:rPr lang="fr-FR" sz="1400" dirty="0">
                <a:solidFill>
                  <a:srgbClr val="000000"/>
                </a:solidFill>
              </a:rPr>
              <a:t>*, alors lorsque leurs recherches sont terminées, tous les nœuds développés par A</a:t>
            </a:r>
            <a:r>
              <a:rPr lang="fr-FR" sz="1100" dirty="0">
                <a:solidFill>
                  <a:srgbClr val="000000"/>
                </a:solidFill>
              </a:rPr>
              <a:t>2</a:t>
            </a:r>
            <a:r>
              <a:rPr lang="fr-FR" sz="1400" dirty="0">
                <a:solidFill>
                  <a:srgbClr val="000000"/>
                </a:solidFill>
              </a:rPr>
              <a:t>* l’ont également été par A</a:t>
            </a:r>
            <a:r>
              <a:rPr lang="fr-FR" sz="1100" dirty="0">
                <a:solidFill>
                  <a:srgbClr val="000000"/>
                </a:solidFill>
              </a:rPr>
              <a:t>1</a:t>
            </a:r>
            <a:r>
              <a:rPr lang="fr-FR" sz="1400" dirty="0">
                <a:solidFill>
                  <a:srgbClr val="000000"/>
                </a:solidFill>
              </a:rPr>
              <a:t>* (et peut-être d’autres). </a:t>
            </a:r>
            <a:r>
              <a:rPr lang="fr-FR" sz="1200" dirty="0">
                <a:solidFill>
                  <a:srgbClr val="D00610"/>
                </a:solidFill>
              </a:rPr>
              <a:t> </a:t>
            </a:r>
            <a:r>
              <a:rPr lang="fr-FR" sz="1600" dirty="0">
                <a:solidFill>
                  <a:srgbClr val="000000"/>
                </a:solidFill>
              </a:rPr>
              <a:t>A</a:t>
            </a:r>
            <a:r>
              <a:rPr lang="fr-FR" sz="1100" dirty="0">
                <a:solidFill>
                  <a:srgbClr val="000000"/>
                </a:solidFill>
              </a:rPr>
              <a:t>2</a:t>
            </a:r>
            <a:r>
              <a:rPr lang="fr-FR" sz="1600" dirty="0">
                <a:solidFill>
                  <a:srgbClr val="000000"/>
                </a:solidFill>
              </a:rPr>
              <a:t>* est plus efficace que A</a:t>
            </a:r>
            <a:r>
              <a:rPr lang="fr-FR" sz="1100" dirty="0">
                <a:solidFill>
                  <a:srgbClr val="000000"/>
                </a:solidFill>
              </a:rPr>
              <a:t>1</a:t>
            </a:r>
            <a:r>
              <a:rPr lang="fr-FR" sz="1600" dirty="0">
                <a:solidFill>
                  <a:srgbClr val="000000"/>
                </a:solidFill>
              </a:rPr>
              <a:t>*</a:t>
            </a:r>
            <a:endParaRPr lang="fr-FR" sz="1100" dirty="0"/>
          </a:p>
          <a:p>
            <a:pPr algn="l"/>
            <a:endParaRPr lang="fr-FR" sz="1400" b="1" dirty="0"/>
          </a:p>
        </p:txBody>
      </p:sp>
      <p:sp>
        <p:nvSpPr>
          <p:cNvPr id="123908" name="Rectangle 4"/>
          <p:cNvSpPr>
            <a:spLocks noChangeArrowheads="1"/>
          </p:cNvSpPr>
          <p:nvPr/>
        </p:nvSpPr>
        <p:spPr bwMode="auto">
          <a:xfrm>
            <a:off x="179512" y="5853465"/>
            <a:ext cx="69119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une fonction heuristique admissible est toujours optimiste!</a:t>
            </a:r>
          </a:p>
          <a:p>
            <a:pPr algn="l"/>
            <a:r>
              <a:rPr lang="fr-FR" b="0" dirty="0"/>
              <a:t>• </a:t>
            </a:r>
            <a:r>
              <a:rPr lang="fr-FR" dirty="0"/>
              <a:t>exemple:</a:t>
            </a:r>
            <a:r>
              <a:rPr lang="fr-FR" b="0" dirty="0"/>
              <a:t> </a:t>
            </a:r>
            <a:r>
              <a:rPr lang="fr-FR" b="0" i="1" dirty="0">
                <a:solidFill>
                  <a:srgbClr val="0066FF"/>
                </a:solidFill>
              </a:rPr>
              <a:t>vol d'oiseau(n) </a:t>
            </a:r>
            <a:r>
              <a:rPr lang="fr-FR" b="0" dirty="0">
                <a:solidFill>
                  <a:srgbClr val="0066FF"/>
                </a:solidFill>
              </a:rPr>
              <a:t>ne surestime jamais la distance réelle.</a:t>
            </a:r>
          </a:p>
        </p:txBody>
      </p:sp>
      <p:sp>
        <p:nvSpPr>
          <p:cNvPr id="64518" name="Rectangle 8"/>
          <p:cNvSpPr>
            <a:spLocks noChangeArrowheads="1"/>
          </p:cNvSpPr>
          <p:nvPr/>
        </p:nvSpPr>
        <p:spPr bwMode="auto">
          <a:xfrm>
            <a:off x="-28629" y="412901"/>
            <a:ext cx="9144000" cy="8002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CA" b="1" dirty="0">
                <a:solidFill>
                  <a:srgbClr val="0066FF"/>
                </a:solidFill>
              </a:rPr>
              <a:t>Admissibilité</a:t>
            </a:r>
            <a:endParaRPr lang="fr-FR" b="1" dirty="0">
              <a:solidFill>
                <a:srgbClr val="0066FF"/>
              </a:solidFill>
            </a:endParaRPr>
          </a:p>
          <a:p>
            <a:pPr algn="l">
              <a:buFontTx/>
              <a:buChar char="•"/>
            </a:pPr>
            <a:r>
              <a:rPr lang="fr-FR" sz="1400" b="0" dirty="0"/>
              <a:t>A* utilise une heuristique </a:t>
            </a:r>
            <a:r>
              <a:rPr lang="fr-FR" sz="1400" b="0" dirty="0">
                <a:solidFill>
                  <a:srgbClr val="FF3300"/>
                </a:solidFill>
              </a:rPr>
              <a:t>admissible h</a:t>
            </a:r>
            <a:r>
              <a:rPr lang="fr-FR" sz="1400" b="0" dirty="0"/>
              <a:t>, c’est-à-dire </a:t>
            </a:r>
            <a:r>
              <a:rPr lang="fr-FR" sz="1400" b="0" dirty="0">
                <a:solidFill>
                  <a:srgbClr val="0066FF"/>
                </a:solidFill>
              </a:rPr>
              <a:t>h(n) ≤ </a:t>
            </a:r>
            <a:r>
              <a:rPr lang="fr-FR" sz="1400" b="0" i="1" dirty="0">
                <a:solidFill>
                  <a:srgbClr val="0066FF"/>
                </a:solidFill>
              </a:rPr>
              <a:t>h</a:t>
            </a:r>
            <a:r>
              <a:rPr lang="fr-FR" sz="1400" b="0" dirty="0">
                <a:solidFill>
                  <a:srgbClr val="0066FF"/>
                </a:solidFill>
              </a:rPr>
              <a:t>*(</a:t>
            </a:r>
            <a:r>
              <a:rPr lang="fr-FR" sz="1400" b="0" i="1" dirty="0">
                <a:solidFill>
                  <a:srgbClr val="0066FF"/>
                </a:solidFill>
              </a:rPr>
              <a:t>n</a:t>
            </a:r>
            <a:r>
              <a:rPr lang="fr-FR" sz="1400" b="0" dirty="0">
                <a:solidFill>
                  <a:srgbClr val="0066FF"/>
                </a:solidFill>
              </a:rPr>
              <a:t>), </a:t>
            </a:r>
            <a:r>
              <a:rPr lang="fr-FR" sz="1400" b="0" dirty="0"/>
              <a:t>où</a:t>
            </a:r>
            <a:r>
              <a:rPr lang="fr-FR" sz="1400" b="0" dirty="0">
                <a:solidFill>
                  <a:srgbClr val="0066FF"/>
                </a:solidFill>
              </a:rPr>
              <a:t> </a:t>
            </a:r>
            <a:r>
              <a:rPr lang="fr-FR" sz="1400" b="0" i="1" dirty="0">
                <a:solidFill>
                  <a:srgbClr val="0066FF"/>
                </a:solidFill>
              </a:rPr>
              <a:t>h</a:t>
            </a:r>
            <a:r>
              <a:rPr lang="fr-FR" sz="1400" b="0" dirty="0">
                <a:solidFill>
                  <a:srgbClr val="0066FF"/>
                </a:solidFill>
              </a:rPr>
              <a:t>*(</a:t>
            </a:r>
            <a:r>
              <a:rPr lang="fr-FR" sz="1400" b="0" i="1" dirty="0">
                <a:solidFill>
                  <a:srgbClr val="0066FF"/>
                </a:solidFill>
              </a:rPr>
              <a:t>n</a:t>
            </a:r>
            <a:r>
              <a:rPr lang="fr-FR" sz="1400" b="0" dirty="0">
                <a:solidFill>
                  <a:srgbClr val="0066FF"/>
                </a:solidFill>
              </a:rPr>
              <a:t>) </a:t>
            </a:r>
            <a:r>
              <a:rPr lang="fr-FR" sz="1400" b="0" dirty="0"/>
              <a:t>est le véritable coût pour se rendre de </a:t>
            </a:r>
            <a:r>
              <a:rPr lang="fr-FR" sz="1400" b="0" i="1" dirty="0"/>
              <a:t>n </a:t>
            </a:r>
            <a:r>
              <a:rPr lang="fr-FR" sz="1400" b="0" dirty="0"/>
              <a:t>au but.</a:t>
            </a:r>
          </a:p>
          <a:p>
            <a:pPr algn="l">
              <a:buFontTx/>
              <a:buChar char="•"/>
            </a:pPr>
            <a:r>
              <a:rPr lang="fr-FR" sz="1400" b="0" dirty="0"/>
              <a:t>A* Demande aussi que </a:t>
            </a:r>
            <a:r>
              <a:rPr lang="fr-FR" sz="1400" b="0" i="1" dirty="0">
                <a:solidFill>
                  <a:srgbClr val="0066FF"/>
                </a:solidFill>
              </a:rPr>
              <a:t>h</a:t>
            </a:r>
            <a:r>
              <a:rPr lang="fr-FR" sz="1400" b="0" dirty="0">
                <a:solidFill>
                  <a:srgbClr val="0066FF"/>
                </a:solidFill>
              </a:rPr>
              <a:t>(</a:t>
            </a:r>
            <a:r>
              <a:rPr lang="fr-FR" sz="1400" b="0" i="1" dirty="0">
                <a:solidFill>
                  <a:srgbClr val="0066FF"/>
                </a:solidFill>
              </a:rPr>
              <a:t>n</a:t>
            </a:r>
            <a:r>
              <a:rPr lang="fr-FR" sz="1400" b="0" dirty="0">
                <a:solidFill>
                  <a:srgbClr val="0066FF"/>
                </a:solidFill>
              </a:rPr>
              <a:t>) ≥ 0</a:t>
            </a:r>
            <a:r>
              <a:rPr lang="fr-FR" sz="1400" b="0" dirty="0"/>
              <a:t> et que </a:t>
            </a:r>
            <a:r>
              <a:rPr lang="fr-FR" sz="1400" b="0" i="1" dirty="0">
                <a:solidFill>
                  <a:srgbClr val="0066FF"/>
                </a:solidFill>
              </a:rPr>
              <a:t>h</a:t>
            </a:r>
            <a:r>
              <a:rPr lang="fr-FR" sz="1400" b="0" dirty="0">
                <a:solidFill>
                  <a:srgbClr val="0066FF"/>
                </a:solidFill>
              </a:rPr>
              <a:t>(</a:t>
            </a:r>
            <a:r>
              <a:rPr lang="fr-FR" sz="1400" b="0" i="1" dirty="0">
                <a:solidFill>
                  <a:srgbClr val="0066FF"/>
                </a:solidFill>
              </a:rPr>
              <a:t>G</a:t>
            </a:r>
            <a:r>
              <a:rPr lang="fr-FR" sz="1400" b="0" dirty="0">
                <a:solidFill>
                  <a:srgbClr val="0066FF"/>
                </a:solidFill>
              </a:rPr>
              <a:t>) = 0 </a:t>
            </a:r>
            <a:r>
              <a:rPr lang="fr-FR" sz="1400" b="0" dirty="0"/>
              <a:t>pour tous les buts </a:t>
            </a:r>
            <a:r>
              <a:rPr lang="fr-FR" sz="1400" b="0" i="1" dirty="0">
                <a:solidFill>
                  <a:srgbClr val="0066FF"/>
                </a:solidFill>
              </a:rPr>
              <a:t>G</a:t>
            </a:r>
            <a:r>
              <a:rPr lang="fr-FR" sz="1400" b="0" dirty="0"/>
              <a:t>.</a:t>
            </a:r>
          </a:p>
        </p:txBody>
      </p:sp>
      <p:sp>
        <p:nvSpPr>
          <p:cNvPr id="123913" name="Rectangle 9"/>
          <p:cNvSpPr>
            <a:spLocks noChangeArrowheads="1"/>
          </p:cNvSpPr>
          <p:nvPr/>
        </p:nvSpPr>
        <p:spPr bwMode="auto">
          <a:xfrm>
            <a:off x="-28629" y="1363813"/>
            <a:ext cx="9144000" cy="12311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CA" b="1" dirty="0">
                <a:solidFill>
                  <a:srgbClr val="0066FF"/>
                </a:solidFill>
              </a:rPr>
              <a:t>Dominance</a:t>
            </a:r>
            <a:endParaRPr lang="fr-FR" b="1" dirty="0">
              <a:solidFill>
                <a:srgbClr val="0066FF"/>
              </a:solidFill>
            </a:endParaRPr>
          </a:p>
          <a:p>
            <a:pPr algn="l"/>
            <a:r>
              <a:rPr lang="fr-FR" sz="1400" b="0" dirty="0">
                <a:solidFill>
                  <a:srgbClr val="FF3300"/>
                </a:solidFill>
              </a:rPr>
              <a:t>Si </a:t>
            </a:r>
            <a:r>
              <a:rPr lang="fr-FR" sz="1400" b="0" i="1" dirty="0">
                <a:solidFill>
                  <a:srgbClr val="FF3300"/>
                </a:solidFill>
              </a:rPr>
              <a:t>h2</a:t>
            </a:r>
            <a:r>
              <a:rPr lang="fr-FR" sz="1400" b="0" dirty="0">
                <a:solidFill>
                  <a:srgbClr val="FF3300"/>
                </a:solidFill>
              </a:rPr>
              <a:t>(</a:t>
            </a:r>
            <a:r>
              <a:rPr lang="fr-FR" sz="1400" b="0" i="1" dirty="0">
                <a:solidFill>
                  <a:srgbClr val="FF3300"/>
                </a:solidFill>
              </a:rPr>
              <a:t>n</a:t>
            </a:r>
            <a:r>
              <a:rPr lang="fr-FR" sz="1400" b="0" dirty="0">
                <a:solidFill>
                  <a:srgbClr val="FF3300"/>
                </a:solidFill>
              </a:rPr>
              <a:t>) ≥ </a:t>
            </a:r>
            <a:r>
              <a:rPr lang="fr-FR" sz="1400" b="0" i="1" dirty="0">
                <a:solidFill>
                  <a:srgbClr val="FF3300"/>
                </a:solidFill>
              </a:rPr>
              <a:t>h1</a:t>
            </a:r>
            <a:r>
              <a:rPr lang="fr-FR" sz="1400" b="0" dirty="0">
                <a:solidFill>
                  <a:srgbClr val="FF3300"/>
                </a:solidFill>
              </a:rPr>
              <a:t>(</a:t>
            </a:r>
            <a:r>
              <a:rPr lang="fr-FR" sz="1400" b="0" i="1" dirty="0">
                <a:solidFill>
                  <a:srgbClr val="FF3300"/>
                </a:solidFill>
              </a:rPr>
              <a:t>n</a:t>
            </a:r>
            <a:r>
              <a:rPr lang="fr-FR" sz="1400" b="0" dirty="0">
                <a:solidFill>
                  <a:srgbClr val="FF3300"/>
                </a:solidFill>
              </a:rPr>
              <a:t>) pour tout </a:t>
            </a:r>
            <a:r>
              <a:rPr lang="fr-FR" sz="1400" b="0" i="1" dirty="0">
                <a:solidFill>
                  <a:srgbClr val="FF3300"/>
                </a:solidFill>
              </a:rPr>
              <a:t>n </a:t>
            </a:r>
            <a:r>
              <a:rPr lang="fr-FR" sz="1400" b="0" dirty="0">
                <a:solidFill>
                  <a:srgbClr val="FF3300"/>
                </a:solidFill>
              </a:rPr>
              <a:t>(les deux étant admissibles), alors </a:t>
            </a:r>
            <a:r>
              <a:rPr lang="fr-FR" sz="1400" b="0" i="1" dirty="0">
                <a:solidFill>
                  <a:srgbClr val="0066FF"/>
                </a:solidFill>
              </a:rPr>
              <a:t>h2</a:t>
            </a:r>
            <a:r>
              <a:rPr lang="fr-FR" sz="1400" b="0" dirty="0">
                <a:solidFill>
                  <a:srgbClr val="FF3300"/>
                </a:solidFill>
              </a:rPr>
              <a:t> domine </a:t>
            </a:r>
            <a:r>
              <a:rPr lang="fr-FR" sz="1400" b="0" i="1" dirty="0">
                <a:solidFill>
                  <a:srgbClr val="0066FF"/>
                </a:solidFill>
              </a:rPr>
              <a:t>h1</a:t>
            </a:r>
            <a:r>
              <a:rPr lang="fr-FR" sz="1400" b="0" dirty="0">
                <a:solidFill>
                  <a:srgbClr val="FF3300"/>
                </a:solidFill>
              </a:rPr>
              <a:t> et par conséquent </a:t>
            </a:r>
            <a:r>
              <a:rPr lang="fr-FR" sz="1400" b="0" i="1" dirty="0">
                <a:solidFill>
                  <a:srgbClr val="0066FF"/>
                </a:solidFill>
              </a:rPr>
              <a:t>h2</a:t>
            </a:r>
            <a:r>
              <a:rPr lang="fr-FR" sz="1400" b="0" dirty="0">
                <a:solidFill>
                  <a:srgbClr val="FF3300"/>
                </a:solidFill>
              </a:rPr>
              <a:t> est meilleure que </a:t>
            </a:r>
            <a:r>
              <a:rPr lang="fr-FR" sz="1400" b="0" i="1" dirty="0">
                <a:solidFill>
                  <a:srgbClr val="0066FF"/>
                </a:solidFill>
              </a:rPr>
              <a:t>h1</a:t>
            </a:r>
            <a:r>
              <a:rPr lang="fr-FR" sz="1400" b="0" dirty="0">
                <a:solidFill>
                  <a:srgbClr val="FF3300"/>
                </a:solidFill>
              </a:rPr>
              <a:t>.</a:t>
            </a:r>
          </a:p>
          <a:p>
            <a:pPr algn="l"/>
            <a:endParaRPr lang="fr-FR" sz="1400" b="0" dirty="0">
              <a:solidFill>
                <a:srgbClr val="FF3300"/>
              </a:solidFill>
            </a:endParaRPr>
          </a:p>
          <a:p>
            <a:pPr algn="l"/>
            <a:r>
              <a:rPr lang="fr-FR" sz="1400" b="0" dirty="0"/>
              <a:t>Il est toujours préférable de choisir l’heuristique dominante, car elle va développer moins de nœuds</a:t>
            </a:r>
          </a:p>
          <a:p>
            <a:pPr algn="l"/>
            <a:endParaRPr lang="fr-FR" sz="1400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7564BB-A925-4229-B147-82AC66589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420888"/>
            <a:ext cx="5551706" cy="20433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/>
      <p:bldP spid="123908" grpId="0"/>
      <p:bldP spid="1239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77B1FE-433E-469D-93B9-74371EC98E84}"/>
              </a:ext>
            </a:extLst>
          </p:cNvPr>
          <p:cNvSpPr/>
          <p:nvPr/>
        </p:nvSpPr>
        <p:spPr>
          <a:xfrm>
            <a:off x="215516" y="316711"/>
            <a:ext cx="8712968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11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fr-FR" b="1" dirty="0">
                <a:solidFill>
                  <a:srgbClr val="3333FF"/>
                </a:solidFill>
                <a:latin typeface="Arial" panose="020B0604020202020204" pitchFamily="34" charset="0"/>
              </a:rPr>
              <a:t>FONCTION HEURISTIQUE CONSISTANTE </a:t>
            </a:r>
            <a:endParaRPr lang="fr-FR" dirty="0">
              <a:solidFill>
                <a:srgbClr val="3333FF"/>
              </a:solidFill>
              <a:latin typeface="Arial" panose="020B0604020202020204" pitchFamily="34" charset="0"/>
            </a:endParaRPr>
          </a:p>
          <a:p>
            <a:endParaRPr lang="fr-FR" b="1" dirty="0">
              <a:latin typeface="Candara" panose="020E0502030303020204" pitchFamily="34" charset="0"/>
            </a:endParaRPr>
          </a:p>
          <a:p>
            <a:endParaRPr lang="fr-FR" b="1" dirty="0">
              <a:latin typeface="Candara" panose="020E0502030303020204" pitchFamily="34" charset="0"/>
            </a:endParaRPr>
          </a:p>
          <a:p>
            <a:r>
              <a:rPr lang="fr-FR" b="1" dirty="0">
                <a:latin typeface="Candara" panose="020E0502030303020204" pitchFamily="34" charset="0"/>
              </a:rPr>
              <a:t> </a:t>
            </a:r>
            <a:r>
              <a:rPr lang="fr-FR" b="1" dirty="0">
                <a:latin typeface="Arial Rounded MT Bold" pitchFamily="34" charset="0"/>
              </a:rPr>
              <a:t>Une heuristique </a:t>
            </a:r>
            <a:r>
              <a:rPr lang="fr-FR" sz="2400" b="1" dirty="0">
                <a:latin typeface="Arial Rounded MT Bold" pitchFamily="34" charset="0"/>
              </a:rPr>
              <a:t>h </a:t>
            </a:r>
            <a:r>
              <a:rPr lang="fr-FR" b="1" dirty="0">
                <a:latin typeface="Arial Rounded MT Bold" pitchFamily="34" charset="0"/>
              </a:rPr>
              <a:t>est </a:t>
            </a:r>
            <a:r>
              <a:rPr lang="fr-FR" b="1" dirty="0">
                <a:solidFill>
                  <a:srgbClr val="FF0000"/>
                </a:solidFill>
                <a:latin typeface="Arial Rounded MT Bold" pitchFamily="34" charset="0"/>
              </a:rPr>
              <a:t>consistante</a:t>
            </a:r>
            <a:r>
              <a:rPr lang="fr-FR" b="1" dirty="0">
                <a:latin typeface="Arial Rounded MT Bold" pitchFamily="34" charset="0"/>
              </a:rPr>
              <a:t> (</a:t>
            </a:r>
            <a:r>
              <a:rPr lang="fr-FR" b="1" dirty="0">
                <a:solidFill>
                  <a:srgbClr val="FF0000"/>
                </a:solidFill>
                <a:latin typeface="Arial Rounded MT Bold" pitchFamily="34" charset="0"/>
              </a:rPr>
              <a:t>monotone</a:t>
            </a:r>
            <a:r>
              <a:rPr lang="fr-FR" b="1" dirty="0">
                <a:latin typeface="Arial Rounded MT Bold" pitchFamily="34" charset="0"/>
              </a:rPr>
              <a:t>)  si </a:t>
            </a:r>
          </a:p>
          <a:p>
            <a:endParaRPr lang="fr-FR" dirty="0">
              <a:latin typeface="Arial Rounded MT Bold" pitchFamily="34" charset="0"/>
            </a:endParaRPr>
          </a:p>
          <a:p>
            <a:r>
              <a:rPr lang="fr-FR" b="1" dirty="0">
                <a:latin typeface="Arial Rounded MT Bold" pitchFamily="34" charset="0"/>
              </a:rPr>
              <a:t>1. Pour tout nœud N et tout nœud successeur N’ de N : </a:t>
            </a:r>
            <a:endParaRPr lang="fr-FR" dirty="0">
              <a:latin typeface="Arial Rounded MT Bold" pitchFamily="34" charset="0"/>
            </a:endParaRPr>
          </a:p>
          <a:p>
            <a:endParaRPr lang="fr-FR" dirty="0">
              <a:latin typeface="Arial Rounded MT Bold" pitchFamily="34" charset="0"/>
            </a:endParaRPr>
          </a:p>
          <a:p>
            <a:pPr algn="ctr"/>
            <a:r>
              <a:rPr lang="pt-BR" sz="2800" b="1" dirty="0">
                <a:latin typeface="Arial Rounded MT Bold" pitchFamily="34" charset="0"/>
              </a:rPr>
              <a:t>h(N) </a:t>
            </a:r>
            <a:r>
              <a:rPr lang="pt-BR" sz="3600" dirty="0">
                <a:latin typeface="Arial Rounded MT Bold" pitchFamily="34" charset="0"/>
                <a:sym typeface="Symbol" panose="05050102010706020507" pitchFamily="18" charset="2"/>
              </a:rPr>
              <a:t></a:t>
            </a:r>
            <a:r>
              <a:rPr lang="pt-BR" sz="3600" dirty="0">
                <a:latin typeface="Arial Rounded MT Bold" pitchFamily="34" charset="0"/>
              </a:rPr>
              <a:t>  </a:t>
            </a:r>
            <a:r>
              <a:rPr lang="pt-BR" sz="2800" b="1" dirty="0">
                <a:latin typeface="Arial Rounded MT Bold" pitchFamily="34" charset="0"/>
              </a:rPr>
              <a:t>c(N,N’) + h(N’) </a:t>
            </a:r>
            <a:endParaRPr lang="pt-BR" sz="2800" dirty="0">
              <a:latin typeface="Arial Rounded MT Bold" pitchFamily="34" charset="0"/>
            </a:endParaRPr>
          </a:p>
          <a:p>
            <a:endParaRPr lang="fr-FR" dirty="0">
              <a:latin typeface="Arial Rounded MT Bold" pitchFamily="34" charset="0"/>
            </a:endParaRPr>
          </a:p>
          <a:p>
            <a:r>
              <a:rPr lang="fr-FR" b="1" dirty="0">
                <a:latin typeface="Arial Rounded MT Bold" pitchFamily="34" charset="0"/>
              </a:rPr>
              <a:t>2. Pour tout nœud BUT G: </a:t>
            </a:r>
            <a:endParaRPr lang="fr-FR" dirty="0">
              <a:latin typeface="Arial Rounded MT Bold" pitchFamily="34" charset="0"/>
            </a:endParaRPr>
          </a:p>
          <a:p>
            <a:endParaRPr lang="fr-FR" dirty="0">
              <a:latin typeface="Arial Rounded MT Bold" pitchFamily="34" charset="0"/>
            </a:endParaRPr>
          </a:p>
          <a:p>
            <a:r>
              <a:rPr lang="fr-FR" sz="2800" b="1" dirty="0">
                <a:latin typeface="Arial Rounded MT Bold" pitchFamily="34" charset="0"/>
              </a:rPr>
              <a:t>		h(G) = 0 </a:t>
            </a:r>
            <a:endParaRPr lang="fr-FR" sz="2800" dirty="0">
              <a:latin typeface="Arial Rounded MT Bold" pitchFamily="34" charset="0"/>
            </a:endParaRPr>
          </a:p>
          <a:p>
            <a:endParaRPr lang="fr-FR" dirty="0">
              <a:latin typeface="Wingdings" panose="05000000000000000000" pitchFamily="2" charset="2"/>
            </a:endParaRPr>
          </a:p>
          <a:p>
            <a:endParaRPr lang="fr-FR" dirty="0">
              <a:latin typeface="Wingdings" panose="05000000000000000000" pitchFamily="2" charset="2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35D1F16-FAFA-46DA-8286-1021E7A41EE7}"/>
              </a:ext>
            </a:extLst>
          </p:cNvPr>
          <p:cNvSpPr/>
          <p:nvPr/>
        </p:nvSpPr>
        <p:spPr>
          <a:xfrm>
            <a:off x="7164288" y="2636912"/>
            <a:ext cx="288032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CF98A23-C7BF-4DBE-AB00-DF96B0705ACB}"/>
              </a:ext>
            </a:extLst>
          </p:cNvPr>
          <p:cNvSpPr/>
          <p:nvPr/>
        </p:nvSpPr>
        <p:spPr>
          <a:xfrm>
            <a:off x="6156176" y="3861048"/>
            <a:ext cx="288032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6D4183-03F9-47DD-8A36-FBE90A4839FD}"/>
              </a:ext>
            </a:extLst>
          </p:cNvPr>
          <p:cNvSpPr/>
          <p:nvPr/>
        </p:nvSpPr>
        <p:spPr>
          <a:xfrm>
            <a:off x="7956376" y="5301208"/>
            <a:ext cx="288032" cy="3600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412093-E28A-4CA0-8BD7-9A1CDC6E3F47}"/>
              </a:ext>
            </a:extLst>
          </p:cNvPr>
          <p:cNvCxnSpPr>
            <a:stCxn id="3" idx="2"/>
            <a:endCxn id="4" idx="7"/>
          </p:cNvCxnSpPr>
          <p:nvPr/>
        </p:nvCxnSpPr>
        <p:spPr>
          <a:xfrm flipH="1">
            <a:off x="6402027" y="2816932"/>
            <a:ext cx="762261" cy="1096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78F8F4-0696-43CC-9322-399B2F511DA9}"/>
              </a:ext>
            </a:extLst>
          </p:cNvPr>
          <p:cNvCxnSpPr>
            <a:stCxn id="4" idx="4"/>
            <a:endCxn id="5" idx="2"/>
          </p:cNvCxnSpPr>
          <p:nvPr/>
        </p:nvCxnSpPr>
        <p:spPr>
          <a:xfrm>
            <a:off x="6300192" y="4221088"/>
            <a:ext cx="1656184" cy="1260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D1B2E3-9F0C-45B1-84E5-CED7BC4EEDCF}"/>
              </a:ext>
            </a:extLst>
          </p:cNvPr>
          <p:cNvCxnSpPr>
            <a:stCxn id="3" idx="5"/>
            <a:endCxn id="5" idx="0"/>
          </p:cNvCxnSpPr>
          <p:nvPr/>
        </p:nvCxnSpPr>
        <p:spPr>
          <a:xfrm>
            <a:off x="7410139" y="2944225"/>
            <a:ext cx="690253" cy="235698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7E7B974-7DF5-440F-BDAE-7843397F9A9C}"/>
              </a:ext>
            </a:extLst>
          </p:cNvPr>
          <p:cNvSpPr/>
          <p:nvPr/>
        </p:nvSpPr>
        <p:spPr>
          <a:xfrm>
            <a:off x="6997415" y="2324953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N</a:t>
            </a:r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A06DCD-D263-4859-8483-751EFDAFDDB7}"/>
              </a:ext>
            </a:extLst>
          </p:cNvPr>
          <p:cNvSpPr/>
          <p:nvPr/>
        </p:nvSpPr>
        <p:spPr>
          <a:xfrm>
            <a:off x="5862889" y="3530197"/>
            <a:ext cx="391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N’</a:t>
            </a:r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42AB9F-A689-43BC-AFDB-D88860A0EAA3}"/>
              </a:ext>
            </a:extLst>
          </p:cNvPr>
          <p:cNvSpPr/>
          <p:nvPr/>
        </p:nvSpPr>
        <p:spPr>
          <a:xfrm>
            <a:off x="8156663" y="5809987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G</a:t>
            </a:r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C5C4D8-88D6-490C-BE02-B92103F9274F}"/>
              </a:ext>
            </a:extLst>
          </p:cNvPr>
          <p:cNvSpPr/>
          <p:nvPr/>
        </p:nvSpPr>
        <p:spPr>
          <a:xfrm>
            <a:off x="7755265" y="3703017"/>
            <a:ext cx="6046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h(N)</a:t>
            </a: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AB4010-F2ED-4815-95B8-9F5988093152}"/>
              </a:ext>
            </a:extLst>
          </p:cNvPr>
          <p:cNvSpPr/>
          <p:nvPr/>
        </p:nvSpPr>
        <p:spPr>
          <a:xfrm>
            <a:off x="6333451" y="4666492"/>
            <a:ext cx="663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h(N’)</a:t>
            </a:r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DBB2C2-396F-4409-9A30-9C041E13799A}"/>
              </a:ext>
            </a:extLst>
          </p:cNvPr>
          <p:cNvSpPr/>
          <p:nvPr/>
        </p:nvSpPr>
        <p:spPr>
          <a:xfrm>
            <a:off x="6113995" y="3017777"/>
            <a:ext cx="9012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c(N,N’)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6642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/>
          <p:cNvSpPr>
            <a:spLocks noChangeArrowheads="1"/>
          </p:cNvSpPr>
          <p:nvPr/>
        </p:nvSpPr>
        <p:spPr bwMode="auto">
          <a:xfrm>
            <a:off x="0" y="908050"/>
            <a:ext cx="8893175" cy="45858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2800" b="0" dirty="0"/>
              <a:t>Propriétés de A*</a:t>
            </a:r>
          </a:p>
          <a:p>
            <a:pPr algn="l"/>
            <a:endParaRPr lang="fr-FR" sz="2400" b="0" dirty="0"/>
          </a:p>
          <a:p>
            <a:pPr algn="l"/>
            <a:r>
              <a:rPr lang="fr-FR" sz="2400" b="0" dirty="0">
                <a:solidFill>
                  <a:srgbClr val="0066FF"/>
                </a:solidFill>
              </a:rPr>
              <a:t>Complétude:</a:t>
            </a:r>
            <a:r>
              <a:rPr lang="fr-FR" sz="2400" b="0" dirty="0"/>
              <a:t> oui, à moins qu’il y est une infinité de nœuds avec </a:t>
            </a:r>
            <a:r>
              <a:rPr lang="fr-FR" sz="2400" b="0" i="1" dirty="0"/>
              <a:t>f </a:t>
            </a:r>
            <a:r>
              <a:rPr lang="fr-FR" sz="2400" b="0" dirty="0"/>
              <a:t>≤ </a:t>
            </a:r>
            <a:r>
              <a:rPr lang="fr-FR" sz="2400" b="0" i="1" dirty="0"/>
              <a:t>f</a:t>
            </a:r>
            <a:r>
              <a:rPr lang="fr-FR" sz="2400" b="0" dirty="0"/>
              <a:t>(</a:t>
            </a:r>
            <a:r>
              <a:rPr lang="fr-FR" sz="2400" b="0" i="1" dirty="0"/>
              <a:t>but</a:t>
            </a:r>
            <a:r>
              <a:rPr lang="fr-FR" sz="2400" b="0" dirty="0"/>
              <a:t>).</a:t>
            </a:r>
          </a:p>
          <a:p>
            <a:pPr algn="l"/>
            <a:endParaRPr lang="fr-FR" sz="2400" b="0" dirty="0"/>
          </a:p>
          <a:p>
            <a:pPr algn="l"/>
            <a:r>
              <a:rPr lang="fr-FR" sz="2400" b="0" dirty="0">
                <a:solidFill>
                  <a:srgbClr val="0066FF"/>
                </a:solidFill>
              </a:rPr>
              <a:t>Complexité de temps:</a:t>
            </a:r>
            <a:r>
              <a:rPr lang="fr-FR" sz="2400" b="0" dirty="0"/>
              <a:t> exponentielle selon la longueur de la solution.</a:t>
            </a:r>
          </a:p>
          <a:p>
            <a:pPr algn="l"/>
            <a:endParaRPr lang="fr-FR" sz="2400" b="0" dirty="0"/>
          </a:p>
          <a:p>
            <a:pPr algn="l"/>
            <a:r>
              <a:rPr lang="fr-FR" sz="2400" b="0" dirty="0">
                <a:solidFill>
                  <a:srgbClr val="0066FF"/>
                </a:solidFill>
              </a:rPr>
              <a:t>Complexité en espace:</a:t>
            </a:r>
            <a:r>
              <a:rPr lang="fr-FR" sz="2400" b="0" dirty="0"/>
              <a:t> elle garde tous les nœuds en mémoire: exponentielle selon la longueur de la solution.</a:t>
            </a:r>
          </a:p>
          <a:p>
            <a:pPr algn="l"/>
            <a:endParaRPr lang="fr-FR" sz="2400" b="0" dirty="0"/>
          </a:p>
          <a:p>
            <a:pPr algn="l"/>
            <a:r>
              <a:rPr lang="fr-FR" sz="2400" b="0" dirty="0">
                <a:solidFill>
                  <a:srgbClr val="0066FF"/>
                </a:solidFill>
              </a:rPr>
              <a:t>Optimale:</a:t>
            </a:r>
            <a:r>
              <a:rPr lang="fr-FR" sz="2400" b="0" dirty="0"/>
              <a:t> Oui Habituellement, on manque d’espace longtemps avant de manquer de temps.</a:t>
            </a:r>
          </a:p>
        </p:txBody>
      </p:sp>
      <p:sp>
        <p:nvSpPr>
          <p:cNvPr id="65539" name="Rectangle 5"/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33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/>
              <a:t>Intelligence Artificielle 		Recherche		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ChangeArrowheads="1"/>
          </p:cNvSpPr>
          <p:nvPr/>
        </p:nvSpPr>
        <p:spPr bwMode="auto">
          <a:xfrm>
            <a:off x="10345" y="836712"/>
            <a:ext cx="9133655" cy="5232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i="1" dirty="0"/>
              <a:t>Variantes de A*</a:t>
            </a:r>
          </a:p>
          <a:p>
            <a:pPr algn="l"/>
            <a:endParaRPr lang="fr-FR" sz="2400" i="1" dirty="0"/>
          </a:p>
          <a:p>
            <a:pPr algn="l"/>
            <a:r>
              <a:rPr lang="fr-FR" b="0" dirty="0"/>
              <a:t>• les problèmes réels sont très complexes</a:t>
            </a:r>
          </a:p>
          <a:p>
            <a:pPr algn="l"/>
            <a:r>
              <a:rPr lang="fr-FR" b="0" dirty="0"/>
              <a:t>• l'espace de recherche devient très grand</a:t>
            </a:r>
          </a:p>
          <a:p>
            <a:pPr algn="l"/>
            <a:r>
              <a:rPr lang="fr-FR" b="0" dirty="0"/>
              <a:t>• même les méthodes de recherche heuristiques deviennent inefficaces</a:t>
            </a:r>
          </a:p>
          <a:p>
            <a:pPr algn="l"/>
            <a:r>
              <a:rPr lang="fr-FR" b="0" dirty="0"/>
              <a:t>• A* connaît alors des problèmes de place-mémoire</a:t>
            </a:r>
          </a:p>
          <a:p>
            <a:pPr algn="l"/>
            <a:endParaRPr lang="fr-FR" b="0" dirty="0"/>
          </a:p>
          <a:p>
            <a:pPr algn="l"/>
            <a:r>
              <a:rPr lang="fr-FR" sz="2000" b="0" dirty="0"/>
              <a:t>2 variantes de A*:</a:t>
            </a:r>
          </a:p>
          <a:p>
            <a:pPr algn="l"/>
            <a:r>
              <a:rPr lang="fr-FR" sz="2000" b="0" dirty="0"/>
              <a:t>	</a:t>
            </a:r>
            <a:r>
              <a:rPr lang="fr-FR" sz="2000" b="0" dirty="0">
                <a:solidFill>
                  <a:srgbClr val="00B0F0"/>
                </a:solidFill>
              </a:rPr>
              <a:t>– IDA* </a:t>
            </a:r>
            <a:r>
              <a:rPr lang="fr-FR" sz="2000" b="0" dirty="0"/>
              <a:t>= A* avec approfondissement itératif</a:t>
            </a:r>
          </a:p>
          <a:p>
            <a:pPr algn="l"/>
            <a:r>
              <a:rPr lang="fr-FR" sz="1400" b="0" dirty="0"/>
              <a:t>		qui est un algorithme A* qui effectue des approfondissements successifs en rapport avec des 		valeurs limites pour f(n) ; IDA* est complète et optimale et sa complexité en espace mémoire est 		de l`ordre </a:t>
            </a:r>
            <a:r>
              <a:rPr lang="fr-FR" sz="1400" i="1" dirty="0"/>
              <a:t>O</a:t>
            </a:r>
            <a:r>
              <a:rPr lang="fr-FR" sz="1400" b="0" i="1" dirty="0"/>
              <a:t>(</a:t>
            </a:r>
            <a:r>
              <a:rPr lang="fr-FR" sz="1400" b="0" i="1" dirty="0" err="1"/>
              <a:t>b×d</a:t>
            </a:r>
            <a:r>
              <a:rPr lang="fr-FR" sz="1400" b="0" i="1" dirty="0"/>
              <a:t>)</a:t>
            </a:r>
            <a:r>
              <a:rPr lang="fr-FR" sz="2000" dirty="0"/>
              <a:t> </a:t>
            </a:r>
            <a:endParaRPr lang="fr-FR" sz="2000" b="0" dirty="0"/>
          </a:p>
          <a:p>
            <a:pPr algn="l"/>
            <a:r>
              <a:rPr lang="fr-FR" sz="2000" b="0" dirty="0"/>
              <a:t>	</a:t>
            </a:r>
            <a:r>
              <a:rPr lang="fr-FR" sz="2000" b="0" dirty="0">
                <a:solidFill>
                  <a:srgbClr val="00B0F0"/>
                </a:solidFill>
              </a:rPr>
              <a:t>– SMA* </a:t>
            </a:r>
            <a:r>
              <a:rPr lang="fr-FR" sz="2000" b="0" dirty="0"/>
              <a:t>= A* avec gestion de mémoire</a:t>
            </a:r>
          </a:p>
          <a:p>
            <a:pPr algn="l"/>
            <a:r>
              <a:rPr lang="fr-FR" sz="1400" b="0" dirty="0"/>
              <a:t>		qui est un algorithme A* qui effectue la gestion de sa propre mémoire disponible: élimine les 		nœuds ayant les valeurs de </a:t>
            </a:r>
            <a:r>
              <a:rPr lang="fr-FR" sz="1400" b="0" i="1" dirty="0"/>
              <a:t>f(n)</a:t>
            </a:r>
            <a:r>
              <a:rPr lang="fr-FR" sz="1400" b="0" dirty="0"/>
              <a:t> plus élevées quand la file ordonnée est pleine. L’algorithme 		SMA* est complet si l`espace mémoire disponible est suffisant pour contenir le chemin:</a:t>
            </a:r>
          </a:p>
          <a:p>
            <a:pPr algn="l"/>
            <a:r>
              <a:rPr lang="fr-FR" sz="1400" b="0" dirty="0"/>
              <a:t>		 état initial – état solution. </a:t>
            </a:r>
          </a:p>
          <a:p>
            <a:pPr algn="l"/>
            <a:r>
              <a:rPr lang="fr-FR" sz="1400" b="0" dirty="0"/>
              <a:t>		L’algorithme SMA* retourne toujours la meilleure solution qui peut être obtenue avec l’espace 		mémoire alloué.</a:t>
            </a:r>
            <a:r>
              <a:rPr lang="fr-FR" sz="1400" dirty="0"/>
              <a:t> </a:t>
            </a:r>
          </a:p>
        </p:txBody>
      </p:sp>
      <p:sp>
        <p:nvSpPr>
          <p:cNvPr id="67587" name="Rectangle 8"/>
          <p:cNvSpPr>
            <a:spLocks noChangeArrowheads="1"/>
          </p:cNvSpPr>
          <p:nvPr/>
        </p:nvSpPr>
        <p:spPr bwMode="auto">
          <a:xfrm>
            <a:off x="0" y="44450"/>
            <a:ext cx="9144000" cy="366713"/>
          </a:xfrm>
          <a:prstGeom prst="rect">
            <a:avLst/>
          </a:prstGeom>
          <a:solidFill>
            <a:srgbClr val="33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/>
              <a:t>Intelligence Artificielle 		Recherche		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412875"/>
            <a:ext cx="4170363" cy="34829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51920" y="3861048"/>
            <a:ext cx="419100" cy="247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5148064" y="1340768"/>
            <a:ext cx="3455988" cy="9159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 dirty="0"/>
              <a:t>• Meilleur d’abord gourmande</a:t>
            </a:r>
          </a:p>
          <a:p>
            <a:pPr algn="l"/>
            <a:r>
              <a:rPr lang="fr-FR" b="0" dirty="0"/>
              <a:t>• A*</a:t>
            </a:r>
          </a:p>
          <a:p>
            <a:pPr algn="l"/>
            <a:endParaRPr lang="fr-FR" dirty="0"/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468313" y="5661025"/>
            <a:ext cx="84391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/>
              <a:t>Dans quel ordre les noeuds sont développés pour chacun des algorithmes?</a:t>
            </a:r>
          </a:p>
        </p:txBody>
      </p:sp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69850" y="836613"/>
            <a:ext cx="20637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rgbClr val="FF3300"/>
                </a:solidFill>
              </a:rPr>
              <a:t>Exercice 1 (suite)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4931792" y="2276872"/>
            <a:ext cx="4176712" cy="3387725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200">
                <a:solidFill>
                  <a:srgbClr val="0066FF"/>
                </a:solidFill>
              </a:rPr>
              <a:t>L’Algorithme A*</a:t>
            </a:r>
          </a:p>
          <a:p>
            <a:pPr algn="l"/>
            <a:endParaRPr lang="fr-FR" sz="1200" b="0">
              <a:solidFill>
                <a:srgbClr val="0066FF"/>
              </a:solidFill>
            </a:endParaRPr>
          </a:p>
          <a:p>
            <a:pPr algn="l"/>
            <a:r>
              <a:rPr lang="fr-FR" sz="1200" b="0"/>
              <a:t>1.Q </a:t>
            </a:r>
            <a:r>
              <a:rPr lang="fr-FR" sz="1200" b="0" i="1"/>
              <a:t>← </a:t>
            </a:r>
            <a:r>
              <a:rPr lang="fr-FR" sz="1200" b="0"/>
              <a:t>noeud initial</a:t>
            </a:r>
          </a:p>
          <a:p>
            <a:pPr algn="l"/>
            <a:r>
              <a:rPr lang="fr-FR" sz="1200" b="0"/>
              <a:t>2.C </a:t>
            </a:r>
            <a:r>
              <a:rPr lang="fr-FR" sz="1200" b="0" i="1"/>
              <a:t>← </a:t>
            </a:r>
            <a:r>
              <a:rPr lang="fr-FR" sz="1200" b="0"/>
              <a:t>vide</a:t>
            </a:r>
          </a:p>
          <a:p>
            <a:pPr algn="l"/>
            <a:r>
              <a:rPr lang="fr-FR" sz="1200" b="0"/>
              <a:t>3.</a:t>
            </a:r>
            <a:r>
              <a:rPr lang="fr-FR" sz="1200"/>
              <a:t>répéter</a:t>
            </a:r>
          </a:p>
          <a:p>
            <a:pPr algn="l"/>
            <a:r>
              <a:rPr lang="fr-FR" sz="1200" b="0"/>
              <a:t>4. </a:t>
            </a:r>
            <a:r>
              <a:rPr lang="fr-FR" sz="1200"/>
              <a:t>si </a:t>
            </a:r>
            <a:r>
              <a:rPr lang="fr-FR" sz="1200" b="0"/>
              <a:t>Q est vide, </a:t>
            </a:r>
            <a:r>
              <a:rPr lang="fr-FR" sz="1200"/>
              <a:t>retour </a:t>
            </a:r>
            <a:r>
              <a:rPr lang="fr-FR" sz="1200" b="0"/>
              <a:t>avec échec</a:t>
            </a:r>
          </a:p>
          <a:p>
            <a:pPr algn="l"/>
            <a:r>
              <a:rPr lang="fr-FR" sz="1200" b="0"/>
              <a:t>5. n </a:t>
            </a:r>
            <a:r>
              <a:rPr lang="fr-FR" sz="1200" b="0" i="1"/>
              <a:t>← </a:t>
            </a:r>
            <a:r>
              <a:rPr lang="fr-FR" sz="1200" b="0"/>
              <a:t>premier élément de Q,</a:t>
            </a:r>
          </a:p>
          <a:p>
            <a:pPr algn="l"/>
            <a:r>
              <a:rPr lang="fr-FR" sz="1200" b="0"/>
              <a:t>	Q </a:t>
            </a:r>
            <a:r>
              <a:rPr lang="fr-FR" sz="1200" b="0" i="1"/>
              <a:t>← </a:t>
            </a:r>
            <a:r>
              <a:rPr lang="fr-FR" sz="1200" b="0"/>
              <a:t>reste(Q)</a:t>
            </a:r>
          </a:p>
          <a:p>
            <a:pPr algn="l"/>
            <a:r>
              <a:rPr lang="fr-FR" sz="1200" b="0"/>
              <a:t>6. </a:t>
            </a:r>
            <a:r>
              <a:rPr lang="fr-FR" sz="1200"/>
              <a:t>si </a:t>
            </a:r>
            <a:r>
              <a:rPr lang="fr-FR" sz="1200" b="0"/>
              <a:t>n est un noeud but,</a:t>
            </a:r>
          </a:p>
          <a:p>
            <a:pPr algn="l"/>
            <a:r>
              <a:rPr lang="fr-FR" sz="1200"/>
              <a:t>	retour </a:t>
            </a:r>
            <a:r>
              <a:rPr lang="fr-FR" sz="1200" b="0"/>
              <a:t>avec succès (chemin)</a:t>
            </a:r>
          </a:p>
          <a:p>
            <a:pPr algn="l"/>
            <a:r>
              <a:rPr lang="fr-FR" sz="1200" b="0"/>
              <a:t>7. </a:t>
            </a:r>
            <a:r>
              <a:rPr lang="fr-FR" sz="1200"/>
              <a:t>si </a:t>
            </a:r>
            <a:r>
              <a:rPr lang="fr-FR" sz="1200" b="0"/>
              <a:t>n </a:t>
            </a:r>
            <a:r>
              <a:rPr lang="fr-FR" sz="1200" b="0" i="1">
                <a:sym typeface="Symbol" pitchFamily="18" charset="2"/>
              </a:rPr>
              <a:t></a:t>
            </a:r>
            <a:r>
              <a:rPr lang="fr-FR" sz="1200" b="0" i="1"/>
              <a:t> </a:t>
            </a:r>
            <a:r>
              <a:rPr lang="fr-FR" sz="1200" b="0"/>
              <a:t>C ou a un coût inférieur (selon f) </a:t>
            </a:r>
            <a:r>
              <a:rPr lang="fr-FR" sz="1200"/>
              <a:t>alors</a:t>
            </a:r>
          </a:p>
          <a:p>
            <a:pPr algn="l"/>
            <a:r>
              <a:rPr lang="fr-FR" sz="1200" b="0"/>
              <a:t>8. ajouter n à C (avec repointage)</a:t>
            </a:r>
          </a:p>
          <a:p>
            <a:pPr algn="l"/>
            <a:r>
              <a:rPr lang="fr-FR" sz="1200" b="0"/>
              <a:t>9. S </a:t>
            </a:r>
            <a:r>
              <a:rPr lang="fr-FR" sz="1200" b="0" i="1"/>
              <a:t>← </a:t>
            </a:r>
            <a:r>
              <a:rPr lang="fr-FR" sz="1200" b="0"/>
              <a:t>succ(n)</a:t>
            </a:r>
          </a:p>
          <a:p>
            <a:pPr algn="l"/>
            <a:r>
              <a:rPr lang="fr-FR" sz="1200" b="0"/>
              <a:t>10. Q </a:t>
            </a:r>
            <a:r>
              <a:rPr lang="fr-FR" sz="1200" b="0" i="1"/>
              <a:t>← </a:t>
            </a:r>
            <a:r>
              <a:rPr lang="fr-FR" sz="1200"/>
              <a:t>merge</a:t>
            </a:r>
            <a:r>
              <a:rPr lang="fr-FR" sz="1200" b="0"/>
              <a:t>(Q,S) ( concaténer Q et S )</a:t>
            </a:r>
          </a:p>
          <a:p>
            <a:pPr algn="l"/>
            <a:r>
              <a:rPr lang="fr-FR" sz="1200" b="0"/>
              <a:t>11. Q </a:t>
            </a:r>
            <a:r>
              <a:rPr lang="fr-FR" sz="1200" b="0" i="1"/>
              <a:t>← </a:t>
            </a:r>
            <a:r>
              <a:rPr lang="fr-FR" sz="1200"/>
              <a:t>Ordo</a:t>
            </a:r>
            <a:r>
              <a:rPr lang="fr-FR" sz="1200" b="0"/>
              <a:t>(Q,f)</a:t>
            </a:r>
          </a:p>
          <a:p>
            <a:pPr algn="l"/>
            <a:r>
              <a:rPr lang="fr-FR" sz="1200" b="0"/>
              <a:t>           (Q triée par ordre (dé)croissant de f(n) = g(n) + h(n))</a:t>
            </a:r>
          </a:p>
          <a:p>
            <a:pPr algn="l"/>
            <a:r>
              <a:rPr lang="fr-FR" sz="1200" b="0"/>
              <a:t>12. </a:t>
            </a:r>
            <a:r>
              <a:rPr lang="fr-FR" sz="1200"/>
              <a:t>finsi</a:t>
            </a:r>
          </a:p>
          <a:p>
            <a:pPr algn="l"/>
            <a:r>
              <a:rPr lang="fr-FR" sz="1200" b="0"/>
              <a:t>13.</a:t>
            </a:r>
            <a:r>
              <a:rPr lang="fr-FR" sz="1200"/>
              <a:t>fin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0" y="765175"/>
            <a:ext cx="8964613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>
                <a:solidFill>
                  <a:srgbClr val="FF3300"/>
                </a:solidFill>
              </a:rPr>
              <a:t>Exercice 2</a:t>
            </a:r>
          </a:p>
          <a:p>
            <a:pPr algn="l"/>
            <a:r>
              <a:rPr lang="fr-FR" sz="1400" b="0"/>
              <a:t>Considérez le plan suivant ou les successeurs de chaque case sont les cases adjacentes dans les directions Nord, Sud, Est et Ouest sauf à la limite du plan ou s'il y a une barrière (ligne épaisse). Par exemple successeurs(J) = {D, K, F}. On suppose que chaque opérateur (N,S,E,O) à coût 1.</a:t>
            </a:r>
          </a:p>
        </p:txBody>
      </p:sp>
      <p:pic>
        <p:nvPicPr>
          <p:cNvPr id="706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113" y="1844675"/>
            <a:ext cx="2519362" cy="174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0" y="3716338"/>
            <a:ext cx="8929688" cy="143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sz="1400" b="0"/>
              <a:t>Le problème est de trouver un chemin de S vers F. On suppose que les successeurs sont engendrés dans l'ordre Est, Sud, Ouest et Nord. </a:t>
            </a:r>
          </a:p>
          <a:p>
            <a:pPr algn="l"/>
            <a:r>
              <a:rPr lang="fr-FR" sz="1400" b="0"/>
              <a:t>Donnez l'ordre des noeuds développés pour les 4 méthodes de recherche suivante:</a:t>
            </a:r>
          </a:p>
          <a:p>
            <a:pPr algn="l"/>
            <a:endParaRPr lang="fr-FR" sz="1400" b="0"/>
          </a:p>
          <a:p>
            <a:pPr algn="l"/>
            <a:r>
              <a:rPr lang="fr-FR" sz="1400" b="0"/>
              <a:t>1. Recherche en </a:t>
            </a:r>
            <a:r>
              <a:rPr lang="fr-FR" sz="1400" b="0">
                <a:solidFill>
                  <a:srgbClr val="0066FF"/>
                </a:solidFill>
              </a:rPr>
              <a:t>largeur d'abord, Coût Uniforme profondeur d'abord, et Profondeur itérative.</a:t>
            </a:r>
          </a:p>
          <a:p>
            <a:pPr algn="l"/>
            <a:r>
              <a:rPr lang="fr-FR" b="0"/>
              <a:t> </a:t>
            </a:r>
            <a:r>
              <a:rPr lang="fr-FR" sz="1400" b="0"/>
              <a:t>On suppose qu'on détecte des cycles, c.-à-d. on ne développe pas un noeud déjà développé avant.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0" y="2276475"/>
            <a:ext cx="882015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CA" dirty="0">
                <a:solidFill>
                  <a:srgbClr val="FF3300"/>
                </a:solidFill>
              </a:rPr>
              <a:t>Exercice 2 (suite)</a:t>
            </a:r>
          </a:p>
          <a:p>
            <a:pPr algn="l"/>
            <a:endParaRPr lang="fr-FR" dirty="0">
              <a:solidFill>
                <a:srgbClr val="FF3300"/>
              </a:solidFill>
            </a:endParaRPr>
          </a:p>
          <a:p>
            <a:pPr algn="l"/>
            <a:r>
              <a:rPr lang="fr-FR" sz="1400" b="0" dirty="0"/>
              <a:t>2. Recherche gourmande. On utilise l'heuristique h(case) = distance de Manhattan de la case avec la case F en supposant qu'il n'y a pas de barrière. Par exemple h(I) = 2 et h(S) = 4. Si deux </a:t>
            </a:r>
            <a:r>
              <a:rPr lang="fr-FR" sz="1400" b="0" dirty="0" err="1"/>
              <a:t>noeuds</a:t>
            </a:r>
            <a:r>
              <a:rPr lang="fr-FR" sz="1400" b="0" dirty="0"/>
              <a:t> ont la même valeur, c'est d'abord celui qui est le premier dans l'alphabet qui est développé.</a:t>
            </a:r>
          </a:p>
          <a:p>
            <a:pPr algn="l"/>
            <a:endParaRPr lang="fr-FR" sz="1400" b="0" dirty="0"/>
          </a:p>
          <a:p>
            <a:pPr algn="l"/>
            <a:endParaRPr lang="fr-FR" sz="1400" b="0" dirty="0"/>
          </a:p>
          <a:p>
            <a:pPr algn="l"/>
            <a:r>
              <a:rPr lang="fr-FR" sz="1400" b="0" dirty="0"/>
              <a:t> 3. Recherche A* avec même heuristique que pour la recherche gourmande. </a:t>
            </a:r>
          </a:p>
          <a:p>
            <a:pPr algn="l"/>
            <a:r>
              <a:rPr lang="fr-FR" sz="1400" b="0"/>
              <a:t>.</a:t>
            </a:r>
            <a:endParaRPr lang="fr-FR" sz="1400" b="0" dirty="0"/>
          </a:p>
          <a:p>
            <a:pPr algn="l"/>
            <a:endParaRPr lang="fr-FR" sz="1400" b="0" dirty="0"/>
          </a:p>
          <a:p>
            <a:pPr algn="l"/>
            <a:endParaRPr lang="fr-FR" sz="1400" b="0" dirty="0"/>
          </a:p>
          <a:p>
            <a:pPr algn="l"/>
            <a:r>
              <a:rPr lang="fr-FR" sz="1400" b="0" dirty="0">
                <a:solidFill>
                  <a:srgbClr val="0066FF"/>
                </a:solidFill>
              </a:rPr>
              <a:t>Questions diverses (Justifiez vos réponses):</a:t>
            </a:r>
          </a:p>
          <a:p>
            <a:pPr algn="l"/>
            <a:endParaRPr lang="fr-FR" sz="1400" b="0" dirty="0"/>
          </a:p>
          <a:p>
            <a:pPr algn="l"/>
            <a:r>
              <a:rPr lang="fr-FR" sz="1400" b="0" dirty="0"/>
              <a:t> Est-ce que h est admissible ?</a:t>
            </a:r>
          </a:p>
          <a:p>
            <a:pPr algn="l"/>
            <a:endParaRPr lang="fr-FR" sz="1400" b="0" dirty="0"/>
          </a:p>
          <a:p>
            <a:pPr algn="l"/>
            <a:r>
              <a:rPr lang="fr-FR" sz="1400" b="0" dirty="0"/>
              <a:t> Est-ce que h2(n) = min(2; h(n)) est admissible ?</a:t>
            </a:r>
          </a:p>
          <a:p>
            <a:pPr algn="l"/>
            <a:endParaRPr lang="fr-FR" sz="1400" b="0" dirty="0"/>
          </a:p>
          <a:p>
            <a:pPr algn="l"/>
            <a:r>
              <a:rPr lang="fr-FR" sz="1400" b="0" dirty="0"/>
              <a:t>Est-ce que h3(n) = max(2; h(n)) est admissible ?</a:t>
            </a:r>
          </a:p>
        </p:txBody>
      </p:sp>
      <p:pic>
        <p:nvPicPr>
          <p:cNvPr id="716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725" y="692150"/>
            <a:ext cx="2519363" cy="174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900113" y="2708275"/>
            <a:ext cx="4572000" cy="1739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b="0"/>
              <a:t>• Pourquoi étudier les jeux?</a:t>
            </a:r>
          </a:p>
          <a:p>
            <a:pPr algn="l"/>
            <a:endParaRPr lang="fr-FR" b="0"/>
          </a:p>
          <a:p>
            <a:pPr algn="l"/>
            <a:r>
              <a:rPr lang="fr-FR" b="0"/>
              <a:t>• Algorithme </a:t>
            </a:r>
            <a:r>
              <a:rPr lang="fr-FR" b="0" i="1"/>
              <a:t>MiniMax</a:t>
            </a:r>
          </a:p>
          <a:p>
            <a:pPr algn="l"/>
            <a:endParaRPr lang="fr-FR" b="0"/>
          </a:p>
          <a:p>
            <a:pPr algn="l"/>
            <a:r>
              <a:rPr lang="fr-FR" b="0"/>
              <a:t>• </a:t>
            </a:r>
            <a:r>
              <a:rPr lang="fr-FR" b="0" i="1"/>
              <a:t>MiniMax </a:t>
            </a:r>
            <a:r>
              <a:rPr lang="fr-FR" b="0"/>
              <a:t>avec élagage α-β</a:t>
            </a:r>
          </a:p>
          <a:p>
            <a:pPr algn="l"/>
            <a:endParaRPr lang="fr-FR" b="0"/>
          </a:p>
        </p:txBody>
      </p:sp>
      <p:pic>
        <p:nvPicPr>
          <p:cNvPr id="808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7763" y="4652963"/>
            <a:ext cx="1312862" cy="855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80900" name="Rectangle 4"/>
          <p:cNvSpPr>
            <a:spLocks noChangeArrowheads="1"/>
          </p:cNvSpPr>
          <p:nvPr/>
        </p:nvSpPr>
        <p:spPr bwMode="auto">
          <a:xfrm>
            <a:off x="6184900" y="5589588"/>
            <a:ext cx="1266825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200" b="0" i="1"/>
              <a:t>AIMA chapitre 6</a:t>
            </a:r>
          </a:p>
        </p:txBody>
      </p:sp>
      <p:sp>
        <p:nvSpPr>
          <p:cNvPr id="80902" name="Rectangle 6"/>
          <p:cNvSpPr>
            <a:spLocks noChangeArrowheads="1"/>
          </p:cNvSpPr>
          <p:nvPr/>
        </p:nvSpPr>
        <p:spPr bwMode="auto">
          <a:xfrm>
            <a:off x="2009775" y="931863"/>
            <a:ext cx="4205318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3600" b="1" dirty="0"/>
              <a:t>Algorithmes des jeux</a:t>
            </a:r>
            <a:endParaRPr lang="fr-FR" sz="3600" b="1" i="1" dirty="0"/>
          </a:p>
        </p:txBody>
      </p:sp>
      <p:sp>
        <p:nvSpPr>
          <p:cNvPr id="7" name="Rectangle 6"/>
          <p:cNvSpPr/>
          <p:nvPr/>
        </p:nvSpPr>
        <p:spPr>
          <a:xfrm>
            <a:off x="1979712" y="1412776"/>
            <a:ext cx="4025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(application des méthodes de recherche)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0" y="836712"/>
            <a:ext cx="9144000" cy="56323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fr-FR" sz="2400" b="0" dirty="0"/>
              <a:t>• 2 joueurs: MAX et MIN jouant à tour de rôle (MAX joue en premier)</a:t>
            </a:r>
          </a:p>
          <a:p>
            <a:pPr algn="l"/>
            <a:endParaRPr lang="fr-FR" sz="2400" b="0" dirty="0"/>
          </a:p>
          <a:p>
            <a:pPr algn="l"/>
            <a:r>
              <a:rPr lang="fr-FR" sz="2400" b="0" dirty="0"/>
              <a:t>• Espace d’états</a:t>
            </a:r>
          </a:p>
          <a:p>
            <a:pPr algn="l"/>
            <a:endParaRPr lang="fr-FR" sz="2400" b="0" dirty="0"/>
          </a:p>
          <a:p>
            <a:pPr algn="l"/>
            <a:r>
              <a:rPr lang="fr-FR" sz="2400" b="0" dirty="0"/>
              <a:t>• État initial</a:t>
            </a:r>
          </a:p>
          <a:p>
            <a:pPr algn="l"/>
            <a:endParaRPr lang="fr-FR" sz="2400" b="0" dirty="0"/>
          </a:p>
          <a:p>
            <a:pPr algn="l"/>
            <a:r>
              <a:rPr lang="fr-FR" sz="2400" b="0" dirty="0"/>
              <a:t>• Fonction « successeur » (règles de jeu)</a:t>
            </a:r>
          </a:p>
          <a:p>
            <a:pPr algn="l"/>
            <a:endParaRPr lang="fr-FR" sz="2400" b="0" dirty="0"/>
          </a:p>
          <a:p>
            <a:pPr algn="l"/>
            <a:r>
              <a:rPr lang="fr-FR" sz="2400" b="0" dirty="0"/>
              <a:t>• Test de fin de partie</a:t>
            </a:r>
          </a:p>
          <a:p>
            <a:pPr algn="l"/>
            <a:endParaRPr lang="fr-FR" sz="2400" b="0" dirty="0"/>
          </a:p>
          <a:p>
            <a:pPr algn="l"/>
            <a:r>
              <a:rPr lang="fr-FR" sz="2400" b="0" dirty="0"/>
              <a:t>• Fonction « score » indique si un état terminal est un état de gain (pour</a:t>
            </a:r>
          </a:p>
          <a:p>
            <a:pPr algn="l"/>
            <a:r>
              <a:rPr lang="fr-FR" sz="2400" b="0" dirty="0"/>
              <a:t>MAX), de perte ou de nul</a:t>
            </a:r>
          </a:p>
          <a:p>
            <a:pPr algn="l"/>
            <a:endParaRPr lang="fr-FR" sz="2400" b="0" dirty="0"/>
          </a:p>
          <a:p>
            <a:pPr algn="l"/>
            <a:r>
              <a:rPr lang="fr-FR" sz="2400" b="0" dirty="0"/>
              <a:t>• Connaissance parfaite des états, pas d’incertitude dans l’effet des</a:t>
            </a:r>
          </a:p>
          <a:p>
            <a:pPr algn="l"/>
            <a:r>
              <a:rPr lang="fr-FR" sz="2400" b="0" dirty="0"/>
              <a:t>fonctions « successeur »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1042988" y="1340768"/>
            <a:ext cx="7417444" cy="255454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fr-FR" sz="2000" b="0" dirty="0"/>
              <a:t>• </a:t>
            </a:r>
            <a:r>
              <a:rPr lang="fr-FR" sz="2000" b="0" i="1" dirty="0"/>
              <a:t>e</a:t>
            </a:r>
            <a:r>
              <a:rPr lang="fr-FR" sz="2000" b="0" dirty="0"/>
              <a:t>(s) = </a:t>
            </a:r>
            <a:r>
              <a:rPr lang="fr-FR" sz="2000" dirty="0"/>
              <a:t>+ </a:t>
            </a:r>
            <a:r>
              <a:rPr lang="fr-FR" sz="2000" b="0" dirty="0"/>
              <a:t>∞ si </a:t>
            </a:r>
            <a:r>
              <a:rPr lang="fr-FR" sz="2000" b="0" i="1" dirty="0"/>
              <a:t>s </a:t>
            </a:r>
            <a:r>
              <a:rPr lang="fr-FR" sz="2000" b="0" dirty="0"/>
              <a:t>est une situation de gain pour Max</a:t>
            </a:r>
          </a:p>
          <a:p>
            <a:pPr algn="l"/>
            <a:r>
              <a:rPr lang="fr-FR" sz="2000" b="0" dirty="0"/>
              <a:t>• </a:t>
            </a:r>
            <a:r>
              <a:rPr lang="fr-FR" sz="2000" b="0" i="1" dirty="0"/>
              <a:t>e(s) </a:t>
            </a:r>
            <a:r>
              <a:rPr lang="fr-FR" sz="2000" b="0" dirty="0"/>
              <a:t>= </a:t>
            </a:r>
            <a:r>
              <a:rPr lang="fr-FR" sz="2000" dirty="0"/>
              <a:t>- </a:t>
            </a:r>
            <a:r>
              <a:rPr lang="fr-FR" sz="2000" b="0" dirty="0"/>
              <a:t>∞ si </a:t>
            </a:r>
            <a:r>
              <a:rPr lang="fr-FR" sz="2000" b="0" i="1" dirty="0"/>
              <a:t>s </a:t>
            </a:r>
            <a:r>
              <a:rPr lang="fr-FR" sz="2000" b="0" dirty="0"/>
              <a:t>est une situation de gain pour Min</a:t>
            </a:r>
          </a:p>
          <a:p>
            <a:pPr algn="l"/>
            <a:r>
              <a:rPr lang="fr-FR" sz="2000" b="0" dirty="0"/>
              <a:t>• e(s) = une mesure du caractère "favorable" de s pour Max</a:t>
            </a:r>
          </a:p>
          <a:p>
            <a:pPr algn="l"/>
            <a:r>
              <a:rPr lang="fr-FR" sz="2000" b="0" dirty="0"/>
              <a:t>	&gt; 0 si s est considéré favorable pour Max</a:t>
            </a:r>
          </a:p>
          <a:p>
            <a:pPr algn="l"/>
            <a:r>
              <a:rPr lang="fr-FR" sz="2000" b="0" dirty="0"/>
              <a:t>	&lt; 0 si non</a:t>
            </a:r>
          </a:p>
          <a:p>
            <a:pPr algn="l"/>
            <a:endParaRPr lang="fr-FR" sz="2000" b="0" dirty="0">
              <a:solidFill>
                <a:srgbClr val="FF3300"/>
              </a:solidFill>
            </a:endParaRPr>
          </a:p>
          <a:p>
            <a:pPr algn="l"/>
            <a:r>
              <a:rPr lang="fr-FR" sz="2000" b="0" dirty="0">
                <a:solidFill>
                  <a:srgbClr val="FF3300"/>
                </a:solidFill>
              </a:rPr>
              <a:t>• exemple: </a:t>
            </a:r>
            <a:r>
              <a:rPr lang="fr-FR" sz="2000" b="0" dirty="0" err="1">
                <a:solidFill>
                  <a:srgbClr val="FF3300"/>
                </a:solidFill>
              </a:rPr>
              <a:t>Tic-Tac</a:t>
            </a:r>
            <a:r>
              <a:rPr lang="fr-FR" sz="2000" b="0" dirty="0">
                <a:solidFill>
                  <a:srgbClr val="FF3300"/>
                </a:solidFill>
              </a:rPr>
              <a:t>-</a:t>
            </a:r>
            <a:r>
              <a:rPr lang="fr-FR" sz="2000" b="0" dirty="0" err="1">
                <a:solidFill>
                  <a:srgbClr val="FF3300"/>
                </a:solidFill>
              </a:rPr>
              <a:t>Toe</a:t>
            </a:r>
            <a:r>
              <a:rPr lang="fr-FR" sz="2000" b="0" dirty="0">
                <a:solidFill>
                  <a:srgbClr val="FF3300"/>
                </a:solidFill>
              </a:rPr>
              <a:t> (Morpion)</a:t>
            </a:r>
          </a:p>
          <a:p>
            <a:pPr algn="l"/>
            <a:r>
              <a:rPr lang="fr-FR" sz="1400" b="0" dirty="0">
                <a:solidFill>
                  <a:srgbClr val="0066FF"/>
                </a:solidFill>
              </a:rPr>
              <a:t>e(s) =</a:t>
            </a:r>
            <a:r>
              <a:rPr lang="fr-FR" sz="2000" b="0" dirty="0">
                <a:solidFill>
                  <a:srgbClr val="0066FF"/>
                </a:solidFill>
              </a:rPr>
              <a:t> (</a:t>
            </a:r>
            <a:r>
              <a:rPr lang="fr-FR" sz="1400" b="0" dirty="0">
                <a:solidFill>
                  <a:srgbClr val="0066FF"/>
                </a:solidFill>
              </a:rPr>
              <a:t># lignes/cols/</a:t>
            </a:r>
            <a:r>
              <a:rPr lang="fr-FR" sz="1400" b="0" dirty="0" err="1">
                <a:solidFill>
                  <a:srgbClr val="0066FF"/>
                </a:solidFill>
              </a:rPr>
              <a:t>diags</a:t>
            </a:r>
            <a:r>
              <a:rPr lang="fr-FR" sz="1400" b="0" dirty="0">
                <a:solidFill>
                  <a:srgbClr val="0066FF"/>
                </a:solidFill>
              </a:rPr>
              <a:t> ouvertes pour Max</a:t>
            </a:r>
            <a:r>
              <a:rPr lang="fr-FR" sz="2000" b="0" dirty="0">
                <a:solidFill>
                  <a:srgbClr val="0066FF"/>
                </a:solidFill>
              </a:rPr>
              <a:t>)</a:t>
            </a:r>
            <a:r>
              <a:rPr lang="fr-FR" sz="1400" b="0" dirty="0">
                <a:solidFill>
                  <a:srgbClr val="0066FF"/>
                </a:solidFill>
              </a:rPr>
              <a:t>  -  </a:t>
            </a:r>
            <a:r>
              <a:rPr lang="fr-FR" sz="2000" b="0" dirty="0">
                <a:solidFill>
                  <a:srgbClr val="0066FF"/>
                </a:solidFill>
              </a:rPr>
              <a:t>(</a:t>
            </a:r>
            <a:r>
              <a:rPr lang="fr-FR" sz="1400" b="0" dirty="0">
                <a:solidFill>
                  <a:srgbClr val="0066FF"/>
                </a:solidFill>
              </a:rPr>
              <a:t># lignes/cols/</a:t>
            </a:r>
            <a:r>
              <a:rPr lang="fr-FR" sz="1400" b="0" dirty="0" err="1">
                <a:solidFill>
                  <a:srgbClr val="0066FF"/>
                </a:solidFill>
              </a:rPr>
              <a:t>diags</a:t>
            </a:r>
            <a:r>
              <a:rPr lang="fr-FR" sz="1400" b="0" dirty="0">
                <a:solidFill>
                  <a:srgbClr val="0066FF"/>
                </a:solidFill>
              </a:rPr>
              <a:t> ouvertes pour Min</a:t>
            </a:r>
            <a:r>
              <a:rPr lang="fr-FR" sz="2000" b="0" dirty="0">
                <a:solidFill>
                  <a:srgbClr val="0066FF"/>
                </a:solidFill>
              </a:rPr>
              <a:t>)</a:t>
            </a:r>
          </a:p>
        </p:txBody>
      </p:sp>
      <p:pic>
        <p:nvPicPr>
          <p:cNvPr id="860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94066" y="3933056"/>
            <a:ext cx="4219455" cy="123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765175"/>
            <a:ext cx="459177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000" b="1" dirty="0"/>
              <a:t>Fonction d'évaluation pour un état du jeu</a:t>
            </a:r>
          </a:p>
        </p:txBody>
      </p:sp>
      <p:sp>
        <p:nvSpPr>
          <p:cNvPr id="86022" name="Rectangle 6"/>
          <p:cNvSpPr>
            <a:spLocks noChangeArrowheads="1"/>
          </p:cNvSpPr>
          <p:nvPr/>
        </p:nvSpPr>
        <p:spPr bwMode="auto">
          <a:xfrm>
            <a:off x="0" y="5589588"/>
            <a:ext cx="9144000" cy="11695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sz="1400" b="1" i="1" dirty="0">
                <a:solidFill>
                  <a:schemeClr val="accent2"/>
                </a:solidFill>
              </a:rPr>
              <a:t>Il faut disposer d'une fonction d'évaluation statique capable de mesurer la qualité d'une configuration par rapport à un joueur (</a:t>
            </a:r>
            <a:r>
              <a:rPr lang="fr-FR" sz="1400" b="1" i="1" dirty="0" err="1">
                <a:solidFill>
                  <a:schemeClr val="accent2"/>
                </a:solidFill>
              </a:rPr>
              <a:t>gén.Max</a:t>
            </a:r>
            <a:r>
              <a:rPr lang="fr-FR" sz="1400" b="1" i="1" dirty="0">
                <a:solidFill>
                  <a:schemeClr val="accent2"/>
                </a:solidFill>
              </a:rPr>
              <a:t>)</a:t>
            </a:r>
          </a:p>
          <a:p>
            <a:pPr algn="l"/>
            <a:endParaRPr lang="fr-FR" sz="1400" b="1" i="1" dirty="0">
              <a:solidFill>
                <a:schemeClr val="accent2"/>
              </a:solidFill>
            </a:endParaRPr>
          </a:p>
          <a:p>
            <a:pPr algn="l"/>
            <a:r>
              <a:rPr lang="fr-FR" sz="1400" b="1" i="1" dirty="0">
                <a:solidFill>
                  <a:schemeClr val="accent2"/>
                </a:solidFill>
              </a:rPr>
              <a:t>– car il n'est pas possible de produire tout l'arbre de recherche jusqu'à la fin du jeu, </a:t>
            </a:r>
            <a:r>
              <a:rPr lang="fr-FR" sz="1400" b="1" i="1" dirty="0" err="1">
                <a:solidFill>
                  <a:schemeClr val="accent2"/>
                </a:solidFill>
              </a:rPr>
              <a:t>càd</a:t>
            </a:r>
            <a:r>
              <a:rPr lang="fr-FR" sz="1400" b="1" i="1" dirty="0">
                <a:solidFill>
                  <a:schemeClr val="accent2"/>
                </a:solidFill>
              </a:rPr>
              <a:t> au moment où la décision gain/perte/nul est claire.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4925" y="908050"/>
            <a:ext cx="9144000" cy="22891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>
                <a:solidFill>
                  <a:schemeClr val="accent2"/>
                </a:solidFill>
              </a:rPr>
              <a:t>Principe:</a:t>
            </a:r>
            <a:r>
              <a:rPr lang="fr-FR" b="0"/>
              <a:t> maximiser la valeur d'utilité pour Max avec l'hypothèse que Min joue parfaitement pour la minimiser,</a:t>
            </a:r>
          </a:p>
          <a:p>
            <a:pPr algn="l"/>
            <a:endParaRPr lang="fr-FR" b="0"/>
          </a:p>
          <a:p>
            <a:pPr algn="l"/>
            <a:r>
              <a:rPr lang="fr-FR" b="0"/>
              <a:t>– étendre l'arbre de jeu</a:t>
            </a:r>
          </a:p>
          <a:p>
            <a:pPr algn="l"/>
            <a:r>
              <a:rPr lang="fr-FR" b="0"/>
              <a:t>– calculer la valeur de la fonction de gain pour chaque noeud terminal</a:t>
            </a:r>
          </a:p>
          <a:p>
            <a:pPr algn="l"/>
            <a:r>
              <a:rPr lang="fr-FR" b="0"/>
              <a:t>– propager ces valeurs aux noeuds non-terminaux:</a:t>
            </a:r>
          </a:p>
          <a:p>
            <a:pPr algn="l"/>
            <a:r>
              <a:rPr lang="fr-FR" b="0"/>
              <a:t>	• la valeur minimum (adversaire) aux noeuds MIN</a:t>
            </a:r>
          </a:p>
          <a:p>
            <a:pPr algn="l"/>
            <a:r>
              <a:rPr lang="fr-FR" b="0"/>
              <a:t>	• la valeur maximum (joueur) aux noeuds MAX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0" y="4005263"/>
            <a:ext cx="9144000" cy="2006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sz="1400">
                <a:solidFill>
                  <a:schemeClr val="accent2"/>
                </a:solidFill>
              </a:rPr>
              <a:t>Formulation récursive de MiniMax</a:t>
            </a:r>
          </a:p>
          <a:p>
            <a:pPr algn="l"/>
            <a:endParaRPr lang="fr-FR" sz="1400" b="0"/>
          </a:p>
          <a:p>
            <a:pPr algn="l"/>
            <a:r>
              <a:rPr lang="fr-FR" sz="1400" b="0"/>
              <a:t>• Fonction MiniMax (noeud,profondeur)</a:t>
            </a:r>
          </a:p>
          <a:p>
            <a:pPr algn="l"/>
            <a:endParaRPr lang="fr-FR" sz="1400" b="0"/>
          </a:p>
          <a:p>
            <a:pPr algn="l"/>
            <a:r>
              <a:rPr lang="fr-FR" sz="1400" b="0"/>
              <a:t>– si profondeur = 0, retourner évaluation(noeud)</a:t>
            </a:r>
          </a:p>
          <a:p>
            <a:pPr algn="l"/>
            <a:r>
              <a:rPr lang="fr-FR" sz="1400" b="0"/>
              <a:t>– si c'est à MAX de jouer à ce noeud, retourner max MiniMax(n, profondeur - 1)</a:t>
            </a:r>
          </a:p>
          <a:p>
            <a:pPr algn="l"/>
            <a:r>
              <a:rPr lang="fr-FR" sz="1400" b="0"/>
              <a:t>– si c'est à MIN de jouer à ce noeud, retourner min MiniMax(n, profondeur - 1)</a:t>
            </a:r>
          </a:p>
          <a:p>
            <a:pPr algn="l"/>
            <a:endParaRPr lang="fr-FR" sz="1400" b="0"/>
          </a:p>
          <a:p>
            <a:pPr algn="l"/>
            <a:r>
              <a:rPr lang="fr-FR" sz="1400" b="0"/>
              <a:t>• ceci est calculé de manière "en profondeur" par l'utilisation d'une pile des appels récursifs.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3212976"/>
            <a:ext cx="3709342" cy="1724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3968" y="1754246"/>
            <a:ext cx="539774" cy="5539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43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68538" y="2812498"/>
            <a:ext cx="500856" cy="4942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437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27984" y="2812499"/>
            <a:ext cx="478334" cy="47204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4373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96640" y="2886573"/>
            <a:ext cx="528639" cy="50081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14374" name="Line 6"/>
          <p:cNvSpPr>
            <a:spLocks noChangeShapeType="1"/>
          </p:cNvSpPr>
          <p:nvPr/>
        </p:nvSpPr>
        <p:spPr bwMode="auto">
          <a:xfrm flipH="1">
            <a:off x="2592034" y="2276476"/>
            <a:ext cx="1979966" cy="5360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375" name="Line 7"/>
          <p:cNvSpPr>
            <a:spLocks noChangeShapeType="1"/>
          </p:cNvSpPr>
          <p:nvPr/>
        </p:nvSpPr>
        <p:spPr bwMode="auto">
          <a:xfrm>
            <a:off x="4572000" y="2276475"/>
            <a:ext cx="0" cy="60346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376" name="Line 8"/>
          <p:cNvSpPr>
            <a:spLocks noChangeShapeType="1"/>
          </p:cNvSpPr>
          <p:nvPr/>
        </p:nvSpPr>
        <p:spPr bwMode="auto">
          <a:xfrm>
            <a:off x="4572000" y="2276475"/>
            <a:ext cx="2087563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314377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8367" y="4797425"/>
            <a:ext cx="2682359" cy="7198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4378" name="Picture 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300559" y="4760913"/>
            <a:ext cx="3071641" cy="76372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4379" name="Picture 1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554119" y="4702348"/>
            <a:ext cx="1174452" cy="74287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14380" name="Line 12"/>
          <p:cNvSpPr>
            <a:spLocks noChangeShapeType="1"/>
          </p:cNvSpPr>
          <p:nvPr/>
        </p:nvSpPr>
        <p:spPr bwMode="auto">
          <a:xfrm flipH="1">
            <a:off x="575469" y="3284538"/>
            <a:ext cx="1821656" cy="1476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381" name="Line 13"/>
          <p:cNvSpPr>
            <a:spLocks noChangeShapeType="1"/>
          </p:cNvSpPr>
          <p:nvPr/>
        </p:nvSpPr>
        <p:spPr bwMode="auto">
          <a:xfrm flipH="1">
            <a:off x="1251693" y="3284538"/>
            <a:ext cx="1145432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382" name="Line 14"/>
          <p:cNvSpPr>
            <a:spLocks noChangeShapeType="1"/>
          </p:cNvSpPr>
          <p:nvPr/>
        </p:nvSpPr>
        <p:spPr bwMode="auto">
          <a:xfrm flipH="1">
            <a:off x="1789545" y="3284538"/>
            <a:ext cx="607579" cy="1476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383" name="Line 15"/>
          <p:cNvSpPr>
            <a:spLocks noChangeShapeType="1"/>
          </p:cNvSpPr>
          <p:nvPr/>
        </p:nvSpPr>
        <p:spPr bwMode="auto">
          <a:xfrm flipH="1">
            <a:off x="2268538" y="3284538"/>
            <a:ext cx="128587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384" name="Line 16"/>
          <p:cNvSpPr>
            <a:spLocks noChangeShapeType="1"/>
          </p:cNvSpPr>
          <p:nvPr/>
        </p:nvSpPr>
        <p:spPr bwMode="auto">
          <a:xfrm>
            <a:off x="2397125" y="3284538"/>
            <a:ext cx="389819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385" name="Line 17"/>
          <p:cNvSpPr>
            <a:spLocks noChangeShapeType="1"/>
          </p:cNvSpPr>
          <p:nvPr/>
        </p:nvSpPr>
        <p:spPr bwMode="auto">
          <a:xfrm flipH="1">
            <a:off x="3707903" y="3284538"/>
            <a:ext cx="937121" cy="1476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386" name="Line 18"/>
          <p:cNvSpPr>
            <a:spLocks noChangeShapeType="1"/>
          </p:cNvSpPr>
          <p:nvPr/>
        </p:nvSpPr>
        <p:spPr bwMode="auto">
          <a:xfrm flipH="1">
            <a:off x="4176463" y="3284538"/>
            <a:ext cx="468562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387" name="Line 19"/>
          <p:cNvSpPr>
            <a:spLocks noChangeShapeType="1"/>
          </p:cNvSpPr>
          <p:nvPr/>
        </p:nvSpPr>
        <p:spPr bwMode="auto">
          <a:xfrm>
            <a:off x="4645024" y="3284538"/>
            <a:ext cx="142875" cy="1476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388" name="Line 20"/>
          <p:cNvSpPr>
            <a:spLocks noChangeShapeType="1"/>
          </p:cNvSpPr>
          <p:nvPr/>
        </p:nvSpPr>
        <p:spPr bwMode="auto">
          <a:xfrm>
            <a:off x="4645025" y="3284538"/>
            <a:ext cx="719138" cy="1476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389" name="Line 21"/>
          <p:cNvSpPr>
            <a:spLocks noChangeShapeType="1"/>
          </p:cNvSpPr>
          <p:nvPr/>
        </p:nvSpPr>
        <p:spPr bwMode="auto">
          <a:xfrm>
            <a:off x="4645024" y="3284538"/>
            <a:ext cx="1163489" cy="1476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390" name="Line 22"/>
          <p:cNvSpPr>
            <a:spLocks noChangeShapeType="1"/>
          </p:cNvSpPr>
          <p:nvPr/>
        </p:nvSpPr>
        <p:spPr bwMode="auto">
          <a:xfrm>
            <a:off x="6732587" y="3286125"/>
            <a:ext cx="1007764" cy="1366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391" name="Line 23"/>
          <p:cNvSpPr>
            <a:spLocks noChangeShapeType="1"/>
          </p:cNvSpPr>
          <p:nvPr/>
        </p:nvSpPr>
        <p:spPr bwMode="auto">
          <a:xfrm>
            <a:off x="6732588" y="3286125"/>
            <a:ext cx="1727844" cy="1366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314392" name="Picture 2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817962" y="2924944"/>
            <a:ext cx="169862" cy="190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4393" name="Picture 2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932040" y="2924944"/>
            <a:ext cx="204787" cy="1809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4394" name="Picture 2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138441" y="3095625"/>
            <a:ext cx="169863" cy="190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89116" name="Rectangle 28"/>
          <p:cNvSpPr>
            <a:spLocks noChangeArrowheads="1"/>
          </p:cNvSpPr>
          <p:nvPr/>
        </p:nvSpPr>
        <p:spPr bwMode="auto">
          <a:xfrm>
            <a:off x="58738" y="548680"/>
            <a:ext cx="238591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000" b="1" dirty="0">
                <a:solidFill>
                  <a:srgbClr val="FF3300"/>
                </a:solidFill>
              </a:rPr>
              <a:t>Exemple: </a:t>
            </a:r>
            <a:r>
              <a:rPr lang="fr-FR" sz="2000" b="1" dirty="0" err="1">
                <a:solidFill>
                  <a:srgbClr val="FF3300"/>
                </a:solidFill>
              </a:rPr>
              <a:t>Tic-Tac</a:t>
            </a:r>
            <a:r>
              <a:rPr lang="fr-FR" sz="2000" b="1" dirty="0">
                <a:solidFill>
                  <a:srgbClr val="FF3300"/>
                </a:solidFill>
              </a:rPr>
              <a:t>-</a:t>
            </a:r>
            <a:r>
              <a:rPr lang="fr-FR" sz="2000" b="1" dirty="0" err="1">
                <a:solidFill>
                  <a:srgbClr val="FF3300"/>
                </a:solidFill>
              </a:rPr>
              <a:t>Toe</a:t>
            </a:r>
            <a:endParaRPr lang="fr-FR" sz="2000" b="1" dirty="0">
              <a:solidFill>
                <a:srgbClr val="FF3300"/>
              </a:solidFill>
            </a:endParaRPr>
          </a:p>
        </p:txBody>
      </p:sp>
      <p:sp>
        <p:nvSpPr>
          <p:cNvPr id="89117" name="Rectangle 29"/>
          <p:cNvSpPr>
            <a:spLocks noChangeArrowheads="1"/>
          </p:cNvSpPr>
          <p:nvPr/>
        </p:nvSpPr>
        <p:spPr bwMode="auto">
          <a:xfrm>
            <a:off x="250825" y="1052736"/>
            <a:ext cx="7654275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600" b="1" dirty="0">
                <a:solidFill>
                  <a:srgbClr val="0066FF"/>
                </a:solidFill>
              </a:rPr>
              <a:t>e(s) = (# lignes/cols/</a:t>
            </a:r>
            <a:r>
              <a:rPr lang="fr-FR" sz="1600" b="1" dirty="0" err="1">
                <a:solidFill>
                  <a:srgbClr val="0066FF"/>
                </a:solidFill>
              </a:rPr>
              <a:t>diags</a:t>
            </a:r>
            <a:r>
              <a:rPr lang="fr-FR" sz="1600" b="1" dirty="0">
                <a:solidFill>
                  <a:srgbClr val="0066FF"/>
                </a:solidFill>
              </a:rPr>
              <a:t> ouvertes pour Max)  -  (# lignes/cols/</a:t>
            </a:r>
            <a:r>
              <a:rPr lang="fr-FR" sz="1600" b="1" dirty="0" err="1">
                <a:solidFill>
                  <a:srgbClr val="0066FF"/>
                </a:solidFill>
              </a:rPr>
              <a:t>diags</a:t>
            </a:r>
            <a:r>
              <a:rPr lang="fr-FR" sz="1600" b="1" dirty="0">
                <a:solidFill>
                  <a:srgbClr val="0066FF"/>
                </a:solidFill>
              </a:rPr>
              <a:t> ouvertes pour Min)</a:t>
            </a:r>
          </a:p>
        </p:txBody>
      </p:sp>
      <p:sp>
        <p:nvSpPr>
          <p:cNvPr id="314398" name="AutoShape 30"/>
          <p:cNvSpPr>
            <a:spLocks noChangeArrowheads="1"/>
          </p:cNvSpPr>
          <p:nvPr/>
        </p:nvSpPr>
        <p:spPr bwMode="auto">
          <a:xfrm flipH="1" flipV="1">
            <a:off x="2916238" y="3068638"/>
            <a:ext cx="360362" cy="1584325"/>
          </a:xfrm>
          <a:prstGeom prst="curvedRightArrow">
            <a:avLst>
              <a:gd name="adj1" fmla="val 17057"/>
              <a:gd name="adj2" fmla="val 104986"/>
              <a:gd name="adj3" fmla="val 2643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399" name="AutoShape 31"/>
          <p:cNvSpPr>
            <a:spLocks noChangeArrowheads="1"/>
          </p:cNvSpPr>
          <p:nvPr/>
        </p:nvSpPr>
        <p:spPr bwMode="auto">
          <a:xfrm flipH="1" flipV="1">
            <a:off x="5413227" y="2879936"/>
            <a:ext cx="790575" cy="1655763"/>
          </a:xfrm>
          <a:prstGeom prst="curvedRightArrow">
            <a:avLst>
              <a:gd name="adj1" fmla="val 11099"/>
              <a:gd name="adj2" fmla="val 65653"/>
              <a:gd name="adj3" fmla="val 2643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400" name="AutoShape 32"/>
          <p:cNvSpPr>
            <a:spLocks noChangeArrowheads="1"/>
          </p:cNvSpPr>
          <p:nvPr/>
        </p:nvSpPr>
        <p:spPr bwMode="auto">
          <a:xfrm flipH="1" flipV="1">
            <a:off x="7236469" y="2673687"/>
            <a:ext cx="885150" cy="1763375"/>
          </a:xfrm>
          <a:prstGeom prst="curvedRightArrow">
            <a:avLst>
              <a:gd name="adj1" fmla="val 17057"/>
              <a:gd name="adj2" fmla="val 104986"/>
              <a:gd name="adj3" fmla="val 2643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401" name="Oval 33"/>
          <p:cNvSpPr>
            <a:spLocks noChangeArrowheads="1"/>
          </p:cNvSpPr>
          <p:nvPr/>
        </p:nvSpPr>
        <p:spPr bwMode="auto">
          <a:xfrm>
            <a:off x="2468563" y="5142774"/>
            <a:ext cx="636763" cy="36004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402" name="Oval 34"/>
          <p:cNvSpPr>
            <a:spLocks noChangeArrowheads="1"/>
          </p:cNvSpPr>
          <p:nvPr/>
        </p:nvSpPr>
        <p:spPr bwMode="auto">
          <a:xfrm>
            <a:off x="5710343" y="5229200"/>
            <a:ext cx="661857" cy="288032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403" name="Oval 35"/>
          <p:cNvSpPr>
            <a:spLocks noChangeArrowheads="1"/>
          </p:cNvSpPr>
          <p:nvPr/>
        </p:nvSpPr>
        <p:spPr bwMode="auto">
          <a:xfrm>
            <a:off x="7400626" y="5156178"/>
            <a:ext cx="679449" cy="36004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404" name="AutoShape 36"/>
          <p:cNvSpPr>
            <a:spLocks noChangeArrowheads="1"/>
          </p:cNvSpPr>
          <p:nvPr/>
        </p:nvSpPr>
        <p:spPr bwMode="auto">
          <a:xfrm rot="-3494614" flipH="1" flipV="1">
            <a:off x="5730875" y="992188"/>
            <a:ext cx="503237" cy="2376488"/>
          </a:xfrm>
          <a:prstGeom prst="curvedRightArrow">
            <a:avLst>
              <a:gd name="adj1" fmla="val 12374"/>
              <a:gd name="adj2" fmla="val 91387"/>
              <a:gd name="adj3" fmla="val 217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314405" name="Picture 3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906193" y="1916113"/>
            <a:ext cx="169863" cy="190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14406" name="Line 38"/>
          <p:cNvSpPr>
            <a:spLocks noChangeShapeType="1"/>
          </p:cNvSpPr>
          <p:nvPr/>
        </p:nvSpPr>
        <p:spPr bwMode="auto">
          <a:xfrm flipH="1">
            <a:off x="898525" y="2133600"/>
            <a:ext cx="35290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407" name="Line 39"/>
          <p:cNvSpPr>
            <a:spLocks noChangeShapeType="1"/>
          </p:cNvSpPr>
          <p:nvPr/>
        </p:nvSpPr>
        <p:spPr bwMode="auto">
          <a:xfrm flipH="1">
            <a:off x="900113" y="3213100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4408" name="Text Box 40"/>
          <p:cNvSpPr txBox="1">
            <a:spLocks noChangeArrowheads="1"/>
          </p:cNvSpPr>
          <p:nvPr/>
        </p:nvSpPr>
        <p:spPr bwMode="auto">
          <a:xfrm>
            <a:off x="179388" y="1916113"/>
            <a:ext cx="792162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/>
              <a:t>Max</a:t>
            </a:r>
            <a:endParaRPr lang="fr-FR"/>
          </a:p>
        </p:txBody>
      </p:sp>
      <p:sp>
        <p:nvSpPr>
          <p:cNvPr id="314409" name="Text Box 41"/>
          <p:cNvSpPr txBox="1">
            <a:spLocks noChangeArrowheads="1"/>
          </p:cNvSpPr>
          <p:nvPr/>
        </p:nvSpPr>
        <p:spPr bwMode="auto">
          <a:xfrm>
            <a:off x="179388" y="2997200"/>
            <a:ext cx="792162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/>
              <a:t>Min</a:t>
            </a:r>
            <a:endParaRPr lang="fr-FR"/>
          </a:p>
        </p:txBody>
      </p:sp>
      <p:sp>
        <p:nvSpPr>
          <p:cNvPr id="314410" name="Line 42"/>
          <p:cNvSpPr>
            <a:spLocks noChangeShapeType="1"/>
          </p:cNvSpPr>
          <p:nvPr/>
        </p:nvSpPr>
        <p:spPr bwMode="auto">
          <a:xfrm>
            <a:off x="4643438" y="2276475"/>
            <a:ext cx="2016125" cy="792163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1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1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314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3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31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31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31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31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31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314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314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31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314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3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3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31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314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314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0" dur="500"/>
                                        <p:tgtEl>
                                          <p:spTgt spid="31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3" dur="500"/>
                                        <p:tgtEl>
                                          <p:spTgt spid="31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6" dur="500"/>
                                        <p:tgtEl>
                                          <p:spTgt spid="31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9" dur="500"/>
                                        <p:tgtEl>
                                          <p:spTgt spid="31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4" dur="500"/>
                                        <p:tgtEl>
                                          <p:spTgt spid="31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7" dur="500"/>
                                        <p:tgtEl>
                                          <p:spTgt spid="31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0" dur="500"/>
                                        <p:tgtEl>
                                          <p:spTgt spid="31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5" dur="500"/>
                                        <p:tgtEl>
                                          <p:spTgt spid="314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0" dur="500"/>
                                        <p:tgtEl>
                                          <p:spTgt spid="31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4" dur="500"/>
                                        <p:tgtEl>
                                          <p:spTgt spid="31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9" dur="500"/>
                                        <p:tgtEl>
                                          <p:spTgt spid="314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4" dur="500"/>
                                        <p:tgtEl>
                                          <p:spTgt spid="314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8" dur="500"/>
                                        <p:tgtEl>
                                          <p:spTgt spid="31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3" dur="500"/>
                                        <p:tgtEl>
                                          <p:spTgt spid="314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8" dur="500"/>
                                        <p:tgtEl>
                                          <p:spTgt spid="31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2" dur="500"/>
                                        <p:tgtEl>
                                          <p:spTgt spid="31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7" dur="500"/>
                                        <p:tgtEl>
                                          <p:spTgt spid="314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1" dur="500"/>
                                        <p:tgtEl>
                                          <p:spTgt spid="31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6" dur="500"/>
                                        <p:tgtEl>
                                          <p:spTgt spid="314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4" grpId="0" animBg="1"/>
      <p:bldP spid="314375" grpId="0" animBg="1"/>
      <p:bldP spid="314376" grpId="0" animBg="1"/>
      <p:bldP spid="314380" grpId="0" animBg="1"/>
      <p:bldP spid="314381" grpId="0" animBg="1"/>
      <p:bldP spid="314382" grpId="0" animBg="1"/>
      <p:bldP spid="314383" grpId="0" animBg="1"/>
      <p:bldP spid="314384" grpId="0" animBg="1"/>
      <p:bldP spid="314385" grpId="0" animBg="1"/>
      <p:bldP spid="314386" grpId="0" animBg="1"/>
      <p:bldP spid="314387" grpId="0" animBg="1"/>
      <p:bldP spid="314388" grpId="0" animBg="1"/>
      <p:bldP spid="314389" grpId="0" animBg="1"/>
      <p:bldP spid="314390" grpId="0" animBg="1"/>
      <p:bldP spid="314391" grpId="0" animBg="1"/>
      <p:bldP spid="314398" grpId="0" animBg="1"/>
      <p:bldP spid="314399" grpId="0" animBg="1"/>
      <p:bldP spid="314400" grpId="0" animBg="1"/>
      <p:bldP spid="314401" grpId="0" animBg="1"/>
      <p:bldP spid="314402" grpId="0" animBg="1"/>
      <p:bldP spid="314403" grpId="0" animBg="1"/>
      <p:bldP spid="314404" grpId="0" animBg="1"/>
      <p:bldP spid="314406" grpId="0" animBg="1"/>
      <p:bldP spid="314407" grpId="0" animBg="1"/>
      <p:bldP spid="314408" grpId="0"/>
      <p:bldP spid="314409" grpId="0"/>
      <p:bldP spid="3144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0" y="765175"/>
            <a:ext cx="28638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400" b="0"/>
              <a:t>Algorithme MiniMax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E81FB2-5230-4B11-B88D-F9427F83BCE5}"/>
              </a:ext>
            </a:extLst>
          </p:cNvPr>
          <p:cNvSpPr/>
          <p:nvPr/>
        </p:nvSpPr>
        <p:spPr>
          <a:xfrm>
            <a:off x="179512" y="2276872"/>
            <a:ext cx="89644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3333FF"/>
                </a:solidFill>
              </a:rPr>
              <a:t>Algorithmes de remontée des étiquettes numériques</a:t>
            </a:r>
          </a:p>
          <a:p>
            <a:r>
              <a:rPr lang="fr-FR" sz="2400" dirty="0">
                <a:solidFill>
                  <a:srgbClr val="0070C0"/>
                </a:solidFill>
              </a:rPr>
              <a:t> </a:t>
            </a:r>
          </a:p>
          <a:p>
            <a:r>
              <a:rPr lang="fr-FR" sz="2400" dirty="0">
                <a:solidFill>
                  <a:srgbClr val="0070C0"/>
                </a:solidFill>
              </a:rPr>
              <a:t>❏ </a:t>
            </a:r>
            <a:r>
              <a:rPr lang="fr-FR" sz="2400" b="1" dirty="0">
                <a:solidFill>
                  <a:srgbClr val="FF0000"/>
                </a:solidFill>
              </a:rPr>
              <a:t>Si </a:t>
            </a:r>
            <a:r>
              <a:rPr lang="fr-FR" sz="2400" b="1" dirty="0" err="1">
                <a:solidFill>
                  <a:srgbClr val="FF0000"/>
                </a:solidFill>
              </a:rPr>
              <a:t>noeud</a:t>
            </a:r>
            <a:r>
              <a:rPr lang="fr-FR" sz="2400" b="1" dirty="0">
                <a:solidFill>
                  <a:srgbClr val="FF0000"/>
                </a:solidFill>
              </a:rPr>
              <a:t> Max </a:t>
            </a:r>
            <a:r>
              <a:rPr lang="fr-FR" sz="2400" dirty="0">
                <a:solidFill>
                  <a:srgbClr val="0070C0"/>
                </a:solidFill>
              </a:rPr>
              <a:t>: On remonte le Max des valeurs des successeurs </a:t>
            </a:r>
          </a:p>
          <a:p>
            <a:endParaRPr lang="fr-FR" sz="2400" dirty="0">
              <a:solidFill>
                <a:srgbClr val="0070C0"/>
              </a:solidFill>
            </a:endParaRPr>
          </a:p>
          <a:p>
            <a:r>
              <a:rPr lang="fr-FR" sz="2400" dirty="0">
                <a:solidFill>
                  <a:srgbClr val="0070C0"/>
                </a:solidFill>
              </a:rPr>
              <a:t>❏ </a:t>
            </a:r>
            <a:r>
              <a:rPr lang="fr-FR" sz="2400" b="1" dirty="0">
                <a:solidFill>
                  <a:srgbClr val="FF0000"/>
                </a:solidFill>
              </a:rPr>
              <a:t>Si nœud Min </a:t>
            </a:r>
            <a:r>
              <a:rPr lang="fr-FR" sz="2400" dirty="0">
                <a:solidFill>
                  <a:srgbClr val="0070C0"/>
                </a:solidFill>
              </a:rPr>
              <a:t>: On remonte le Min des valeurs des successeurs </a:t>
            </a:r>
          </a:p>
          <a:p>
            <a:endParaRPr lang="fr-FR" sz="2400" dirty="0">
              <a:solidFill>
                <a:srgbClr val="0070C0"/>
              </a:solidFill>
            </a:endParaRPr>
          </a:p>
          <a:p>
            <a:r>
              <a:rPr lang="fr-FR" sz="2400" dirty="0">
                <a:solidFill>
                  <a:srgbClr val="0070C0"/>
                </a:solidFill>
              </a:rPr>
              <a:t>❏ </a:t>
            </a:r>
            <a:r>
              <a:rPr lang="fr-FR" sz="2400" b="1" dirty="0">
                <a:solidFill>
                  <a:srgbClr val="FF0000"/>
                </a:solidFill>
              </a:rPr>
              <a:t>Si nœud Feuille </a:t>
            </a:r>
            <a:r>
              <a:rPr lang="fr-FR" sz="2400" dirty="0">
                <a:solidFill>
                  <a:srgbClr val="0070C0"/>
                </a:solidFill>
              </a:rPr>
              <a:t>alors valeur de la fonction d’évaluation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203464"/>
            <a:ext cx="7561263" cy="5168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3095625" cy="8771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CA" sz="2400" dirty="0"/>
              <a:t>Exercice : jeux</a:t>
            </a:r>
          </a:p>
          <a:p>
            <a:pPr algn="l">
              <a:spcBef>
                <a:spcPct val="50000"/>
              </a:spcBef>
            </a:pPr>
            <a:r>
              <a:rPr lang="fr-CA" dirty="0"/>
              <a:t>1- </a:t>
            </a:r>
            <a:r>
              <a:rPr lang="fr-CA" dirty="0" err="1"/>
              <a:t>MiniMax</a:t>
            </a:r>
            <a:endParaRPr lang="fr-CA" dirty="0"/>
          </a:p>
        </p:txBody>
      </p:sp>
      <p:sp>
        <p:nvSpPr>
          <p:cNvPr id="32" name="Text Box 4">
            <a:extLst>
              <a:ext uri="{FF2B5EF4-FFF2-40B4-BE49-F238E27FC236}">
                <a16:creationId xmlns:a16="http://schemas.microsoft.com/office/drawing/2014/main" id="{1D0F9E27-B75E-421F-8742-86E1F0E30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7" y="1563504"/>
            <a:ext cx="6477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b="1" dirty="0"/>
              <a:t>Max</a:t>
            </a: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72A2EA1C-D66E-4AFD-9BD6-6AEC65C42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839" y="2892316"/>
            <a:ext cx="6477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b="1" dirty="0"/>
              <a:t>Min</a:t>
            </a:r>
          </a:p>
        </p:txBody>
      </p:sp>
      <p:sp>
        <p:nvSpPr>
          <p:cNvPr id="34" name="Text Box 4">
            <a:extLst>
              <a:ext uri="{FF2B5EF4-FFF2-40B4-BE49-F238E27FC236}">
                <a16:creationId xmlns:a16="http://schemas.microsoft.com/office/drawing/2014/main" id="{C6F6AD2E-7A26-4036-9FEF-301EB1C66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4820" y="4077072"/>
            <a:ext cx="6477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b="1" dirty="0"/>
              <a:t>Max</a:t>
            </a:r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id="{2175FCA5-EAC3-4C43-8D72-36DD134AD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8977" y="4059684"/>
            <a:ext cx="43204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00B050"/>
                </a:solidFill>
              </a:rPr>
              <a:t>15</a:t>
            </a:r>
          </a:p>
        </p:txBody>
      </p:sp>
      <p:sp>
        <p:nvSpPr>
          <p:cNvPr id="36" name="Text Box 4">
            <a:extLst>
              <a:ext uri="{FF2B5EF4-FFF2-40B4-BE49-F238E27FC236}">
                <a16:creationId xmlns:a16="http://schemas.microsoft.com/office/drawing/2014/main" id="{6E120B70-A38E-4DB2-A2F0-5334E43B2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58" y="4059684"/>
            <a:ext cx="43204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00B050"/>
                </a:solidFill>
              </a:rPr>
              <a:t>19</a:t>
            </a:r>
          </a:p>
        </p:txBody>
      </p:sp>
      <p:sp>
        <p:nvSpPr>
          <p:cNvPr id="37" name="Text Box 4">
            <a:extLst>
              <a:ext uri="{FF2B5EF4-FFF2-40B4-BE49-F238E27FC236}">
                <a16:creationId xmlns:a16="http://schemas.microsoft.com/office/drawing/2014/main" id="{4DF68B43-88AF-41C3-9E2E-7B14DDCFB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9318" y="4059684"/>
            <a:ext cx="43204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00B050"/>
                </a:solidFill>
              </a:rPr>
              <a:t>16</a:t>
            </a:r>
          </a:p>
        </p:txBody>
      </p:sp>
      <p:sp>
        <p:nvSpPr>
          <p:cNvPr id="38" name="Text Box 4">
            <a:extLst>
              <a:ext uri="{FF2B5EF4-FFF2-40B4-BE49-F238E27FC236}">
                <a16:creationId xmlns:a16="http://schemas.microsoft.com/office/drawing/2014/main" id="{D8E66340-AF05-4EE9-AE11-B59600C1C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0743" y="4059684"/>
            <a:ext cx="43204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00B050"/>
                </a:solidFill>
              </a:rPr>
              <a:t>17</a:t>
            </a:r>
          </a:p>
        </p:txBody>
      </p:sp>
      <p:sp>
        <p:nvSpPr>
          <p:cNvPr id="39" name="Text Box 4">
            <a:extLst>
              <a:ext uri="{FF2B5EF4-FFF2-40B4-BE49-F238E27FC236}">
                <a16:creationId xmlns:a16="http://schemas.microsoft.com/office/drawing/2014/main" id="{636ADEC1-E336-4CB7-80EE-84375DFFF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8329" y="4063092"/>
            <a:ext cx="43204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40" name="Text Box 4">
            <a:extLst>
              <a:ext uri="{FF2B5EF4-FFF2-40B4-BE49-F238E27FC236}">
                <a16:creationId xmlns:a16="http://schemas.microsoft.com/office/drawing/2014/main" id="{B596D7FC-8DF8-49C1-B483-A28205D9F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4440" y="4063092"/>
            <a:ext cx="43204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00B050"/>
                </a:solidFill>
              </a:rPr>
              <a:t>23</a:t>
            </a:r>
          </a:p>
        </p:txBody>
      </p:sp>
      <p:sp>
        <p:nvSpPr>
          <p:cNvPr id="41" name="Text Box 4">
            <a:extLst>
              <a:ext uri="{FF2B5EF4-FFF2-40B4-BE49-F238E27FC236}">
                <a16:creationId xmlns:a16="http://schemas.microsoft.com/office/drawing/2014/main" id="{E8A33380-EFC7-4BF9-9160-C8B1D997E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855" y="3028356"/>
            <a:ext cx="43204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42" name="Text Box 4">
            <a:extLst>
              <a:ext uri="{FF2B5EF4-FFF2-40B4-BE49-F238E27FC236}">
                <a16:creationId xmlns:a16="http://schemas.microsoft.com/office/drawing/2014/main" id="{71FE0FF8-32F1-4B6A-988F-E4BD81DE6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289" y="2992653"/>
            <a:ext cx="43204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FF0000"/>
                </a:solidFill>
              </a:rPr>
              <a:t>16</a:t>
            </a:r>
          </a:p>
        </p:txBody>
      </p:sp>
      <p:sp>
        <p:nvSpPr>
          <p:cNvPr id="43" name="Text Box 4">
            <a:extLst>
              <a:ext uri="{FF2B5EF4-FFF2-40B4-BE49-F238E27FC236}">
                <a16:creationId xmlns:a16="http://schemas.microsoft.com/office/drawing/2014/main" id="{C68AB977-9DC7-442B-B2BB-259746F21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9319" y="2985086"/>
            <a:ext cx="43204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4" name="Text Box 4">
            <a:extLst>
              <a:ext uri="{FF2B5EF4-FFF2-40B4-BE49-F238E27FC236}">
                <a16:creationId xmlns:a16="http://schemas.microsoft.com/office/drawing/2014/main" id="{1AACEEEA-B99B-4A38-9B64-B5141EA7F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8695" y="1731347"/>
            <a:ext cx="43204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00B050"/>
                </a:solidFill>
              </a:rPr>
              <a:t>16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EDF266C0-809F-454D-9B3A-9EE903BFDE6F}"/>
              </a:ext>
            </a:extLst>
          </p:cNvPr>
          <p:cNvSpPr/>
          <p:nvPr/>
        </p:nvSpPr>
        <p:spPr>
          <a:xfrm>
            <a:off x="4085342" y="2098059"/>
            <a:ext cx="216024" cy="70025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665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-24891" y="852287"/>
            <a:ext cx="126419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600" b="1" dirty="0"/>
              <a:t>Élagage α - β</a:t>
            </a:r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25609" y="1147207"/>
            <a:ext cx="9144000" cy="1600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sz="1400" dirty="0"/>
              <a:t>Principe</a:t>
            </a:r>
          </a:p>
          <a:p>
            <a:pPr algn="l"/>
            <a:r>
              <a:rPr lang="fr-FR" sz="1400" b="0" dirty="0"/>
              <a:t>• étendre l'arbre de jeu jusqu'à une profondeur h par recherche en profondeur</a:t>
            </a:r>
          </a:p>
          <a:p>
            <a:pPr algn="l"/>
            <a:r>
              <a:rPr lang="fr-FR" sz="1400" b="0" dirty="0"/>
              <a:t>• ne plus générer les successeurs d'un </a:t>
            </a:r>
            <a:r>
              <a:rPr lang="fr-FR" sz="1400" b="0" dirty="0" err="1"/>
              <a:t>noeud</a:t>
            </a:r>
            <a:r>
              <a:rPr lang="fr-FR" sz="1400" b="0" dirty="0"/>
              <a:t> dès qu'il est évident que ce </a:t>
            </a:r>
            <a:r>
              <a:rPr lang="fr-FR" sz="1400" b="0" dirty="0" err="1"/>
              <a:t>noeud</a:t>
            </a:r>
            <a:r>
              <a:rPr lang="fr-FR" sz="1400" b="0" dirty="0"/>
              <a:t> ne sera pas choisi (compte tenu des </a:t>
            </a:r>
            <a:r>
              <a:rPr lang="fr-FR" sz="1400" b="0" dirty="0" err="1"/>
              <a:t>noeuds</a:t>
            </a:r>
            <a:r>
              <a:rPr lang="fr-FR" sz="1400" b="0" dirty="0"/>
              <a:t> déjà examinés)</a:t>
            </a:r>
          </a:p>
          <a:p>
            <a:pPr algn="l"/>
            <a:r>
              <a:rPr lang="fr-FR" sz="1400" b="0" dirty="0"/>
              <a:t>• chaque </a:t>
            </a:r>
            <a:r>
              <a:rPr lang="fr-FR" sz="1400" b="0" dirty="0" err="1"/>
              <a:t>noeud</a:t>
            </a:r>
            <a:r>
              <a:rPr lang="fr-FR" sz="1400" b="0" dirty="0"/>
              <a:t> Max garde la trace d'une α-valeur = valeur de son meilleur successeur trouvé jusqu'ici</a:t>
            </a:r>
          </a:p>
          <a:p>
            <a:pPr algn="l"/>
            <a:r>
              <a:rPr lang="fr-FR" sz="1400" b="0" dirty="0"/>
              <a:t>• chaque </a:t>
            </a:r>
            <a:r>
              <a:rPr lang="fr-FR" sz="1400" b="0" dirty="0" err="1"/>
              <a:t>noeud</a:t>
            </a:r>
            <a:r>
              <a:rPr lang="fr-FR" sz="1400" b="0" dirty="0"/>
              <a:t> Min garde la trace d'une β-valeur = valeur de son plus mauvais successeur trouvé jusqu'ici</a:t>
            </a:r>
          </a:p>
          <a:p>
            <a:pPr algn="l"/>
            <a:r>
              <a:rPr lang="fr-FR" sz="1400" b="0" dirty="0"/>
              <a:t>• valeurs initiales: α = - ∞ β = + ∞</a:t>
            </a:r>
          </a:p>
        </p:txBody>
      </p:sp>
      <p:sp>
        <p:nvSpPr>
          <p:cNvPr id="318468" name="Rectangle 4"/>
          <p:cNvSpPr>
            <a:spLocks noChangeArrowheads="1"/>
          </p:cNvSpPr>
          <p:nvPr/>
        </p:nvSpPr>
        <p:spPr bwMode="auto">
          <a:xfrm>
            <a:off x="25609" y="2758751"/>
            <a:ext cx="7235825" cy="7386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l"/>
            <a:r>
              <a:rPr lang="fr-FR" sz="1400" b="1" dirty="0"/>
              <a:t>2 règles</a:t>
            </a:r>
          </a:p>
          <a:p>
            <a:pPr marL="342900" indent="-342900" algn="l">
              <a:buFontTx/>
              <a:buAutoNum type="arabicPeriod"/>
            </a:pPr>
            <a:r>
              <a:rPr lang="fr-FR" sz="1400" b="0" dirty="0"/>
              <a:t>Interrompre la recherche d'un </a:t>
            </a:r>
            <a:r>
              <a:rPr lang="fr-FR" sz="1400" b="0" dirty="0" err="1"/>
              <a:t>noeud</a:t>
            </a:r>
            <a:r>
              <a:rPr lang="fr-FR" sz="1400" b="0" dirty="0"/>
              <a:t> Max si son α-valeur ≥ β-valeur de son </a:t>
            </a:r>
            <a:r>
              <a:rPr lang="fr-FR" sz="1400" b="0" dirty="0" err="1"/>
              <a:t>noeud</a:t>
            </a:r>
            <a:r>
              <a:rPr lang="fr-FR" sz="1400" b="0" dirty="0"/>
              <a:t>-parent</a:t>
            </a:r>
          </a:p>
          <a:p>
            <a:pPr marL="342900" indent="-342900" algn="l">
              <a:buFontTx/>
              <a:buAutoNum type="arabicPeriod"/>
            </a:pPr>
            <a:endParaRPr lang="fr-FR" sz="1400" b="0" dirty="0"/>
          </a:p>
        </p:txBody>
      </p:sp>
      <p:pic>
        <p:nvPicPr>
          <p:cNvPr id="31846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61192" y="3318468"/>
            <a:ext cx="2088430" cy="17013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847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174" y="5196426"/>
            <a:ext cx="1923604" cy="16615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18471" name="Rectangle 7"/>
          <p:cNvSpPr>
            <a:spLocks noChangeArrowheads="1"/>
          </p:cNvSpPr>
          <p:nvPr/>
        </p:nvSpPr>
        <p:spPr bwMode="auto">
          <a:xfrm>
            <a:off x="0" y="4906915"/>
            <a:ext cx="673864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400" b="0" dirty="0"/>
              <a:t>2. Interrompre la recherche d'un </a:t>
            </a:r>
            <a:r>
              <a:rPr lang="fr-FR" sz="1400" b="0" dirty="0" err="1"/>
              <a:t>noeud</a:t>
            </a:r>
            <a:r>
              <a:rPr lang="fr-FR" sz="1400" b="0" dirty="0"/>
              <a:t> Min si sa β-valeur ≤ α-valeur de son </a:t>
            </a:r>
            <a:r>
              <a:rPr lang="fr-FR" sz="1400" b="0" dirty="0" err="1"/>
              <a:t>noeud</a:t>
            </a:r>
            <a:r>
              <a:rPr lang="fr-FR" sz="1400" b="0" dirty="0"/>
              <a:t>-parent</a:t>
            </a:r>
          </a:p>
        </p:txBody>
      </p:sp>
      <p:sp>
        <p:nvSpPr>
          <p:cNvPr id="91144" name="Rectangle 8"/>
          <p:cNvSpPr>
            <a:spLocks noChangeArrowheads="1"/>
          </p:cNvSpPr>
          <p:nvPr/>
        </p:nvSpPr>
        <p:spPr bwMode="auto">
          <a:xfrm>
            <a:off x="-7194" y="432475"/>
            <a:ext cx="249299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000" b="1" dirty="0"/>
              <a:t>Réduction de l’espace</a:t>
            </a:r>
          </a:p>
        </p:txBody>
      </p:sp>
      <p:sp>
        <p:nvSpPr>
          <p:cNvPr id="318474" name="Text Box 10"/>
          <p:cNvSpPr txBox="1">
            <a:spLocks noChangeArrowheads="1"/>
          </p:cNvSpPr>
          <p:nvPr/>
        </p:nvSpPr>
        <p:spPr bwMode="auto">
          <a:xfrm>
            <a:off x="3861192" y="3463312"/>
            <a:ext cx="576262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200" dirty="0"/>
              <a:t>Max</a:t>
            </a:r>
            <a:endParaRPr lang="fr-FR" sz="1200" dirty="0"/>
          </a:p>
        </p:txBody>
      </p:sp>
      <p:sp>
        <p:nvSpPr>
          <p:cNvPr id="318475" name="Text Box 11"/>
          <p:cNvSpPr txBox="1">
            <a:spLocks noChangeArrowheads="1"/>
          </p:cNvSpPr>
          <p:nvPr/>
        </p:nvSpPr>
        <p:spPr bwMode="auto">
          <a:xfrm>
            <a:off x="3469207" y="5889894"/>
            <a:ext cx="576263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200" dirty="0"/>
              <a:t>Max</a:t>
            </a:r>
            <a:endParaRPr lang="fr-FR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8" grpId="0"/>
      <p:bldP spid="318471" grpId="0"/>
      <p:bldP spid="318474" grpId="0"/>
      <p:bldP spid="31847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67BE4C-8DB6-4FAC-A43B-1F0F33D80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8" y="1700808"/>
            <a:ext cx="8697857" cy="4536504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1965C118-5925-4FD7-B5C2-7DB348592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04813"/>
            <a:ext cx="6261394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3200" b="1" dirty="0"/>
              <a:t>Algorithme α – β (version française)</a:t>
            </a:r>
          </a:p>
        </p:txBody>
      </p:sp>
    </p:spTree>
    <p:extLst>
      <p:ext uri="{BB962C8B-B14F-4D97-AF65-F5344CB8AC3E}">
        <p14:creationId xmlns:p14="http://schemas.microsoft.com/office/powerpoint/2010/main" val="13079384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0" y="1628775"/>
            <a:ext cx="9144000" cy="28931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sz="1400" b="0" dirty="0"/>
              <a:t>• L'élagage n'affecte pas le résultat final,</a:t>
            </a:r>
          </a:p>
          <a:p>
            <a:pPr algn="l"/>
            <a:endParaRPr lang="fr-FR" sz="1400" b="0" dirty="0"/>
          </a:p>
          <a:p>
            <a:pPr algn="l"/>
            <a:r>
              <a:rPr lang="fr-FR" sz="1400" b="0" dirty="0"/>
              <a:t>• l'efficacité de l'élagage α </a:t>
            </a:r>
            <a:r>
              <a:rPr lang="fr-FR" sz="1400" b="0" i="1" dirty="0"/>
              <a:t>- </a:t>
            </a:r>
            <a:r>
              <a:rPr lang="fr-FR" sz="1400" b="0" dirty="0"/>
              <a:t>β est fonction de l'ordre d'apparition des </a:t>
            </a:r>
            <a:r>
              <a:rPr lang="fr-FR" sz="1400" b="0" dirty="0" err="1"/>
              <a:t>noeuds</a:t>
            </a:r>
            <a:r>
              <a:rPr lang="fr-FR" sz="1400" b="0" dirty="0"/>
              <a:t> successeurs,</a:t>
            </a:r>
          </a:p>
          <a:p>
            <a:pPr algn="l"/>
            <a:endParaRPr lang="fr-FR" sz="1400" dirty="0">
              <a:solidFill>
                <a:srgbClr val="0066FF"/>
              </a:solidFill>
            </a:endParaRPr>
          </a:p>
          <a:p>
            <a:pPr algn="l"/>
            <a:r>
              <a:rPr lang="fr-FR" sz="1400" dirty="0">
                <a:solidFill>
                  <a:srgbClr val="0066FF"/>
                </a:solidFill>
              </a:rPr>
              <a:t>complexité en temps</a:t>
            </a:r>
          </a:p>
          <a:p>
            <a:pPr algn="l"/>
            <a:endParaRPr lang="fr-FR" sz="1400" dirty="0">
              <a:solidFill>
                <a:srgbClr val="0066FF"/>
              </a:solidFill>
            </a:endParaRPr>
          </a:p>
          <a:p>
            <a:pPr algn="l"/>
            <a:r>
              <a:rPr lang="fr-FR" sz="1400" b="0" dirty="0"/>
              <a:t>• meilleur des cas: </a:t>
            </a:r>
            <a:r>
              <a:rPr lang="fr-FR" sz="1400" b="0" i="1" dirty="0"/>
              <a:t>O</a:t>
            </a:r>
            <a:r>
              <a:rPr lang="fr-FR" sz="1400" b="0" dirty="0"/>
              <a:t>(</a:t>
            </a:r>
            <a:r>
              <a:rPr lang="fr-FR" sz="1400" b="0" dirty="0" err="1"/>
              <a:t>b</a:t>
            </a:r>
            <a:r>
              <a:rPr lang="fr-FR" sz="1400" b="0" baseline="30000" dirty="0" err="1"/>
              <a:t>m</a:t>
            </a:r>
            <a:r>
              <a:rPr lang="fr-FR" sz="1400" b="0" baseline="30000" dirty="0"/>
              <a:t>/2</a:t>
            </a:r>
            <a:r>
              <a:rPr lang="fr-FR" sz="1400" b="0" dirty="0"/>
              <a:t>)</a:t>
            </a:r>
          </a:p>
          <a:p>
            <a:pPr algn="l"/>
            <a:r>
              <a:rPr lang="fr-FR" sz="1400" b="0" dirty="0"/>
              <a:t>– permet de doubler la profondeur de recherche pour atteindre une prédiction sur 8 niveaux et ainsi jouer "dignement" aux échecs</a:t>
            </a:r>
          </a:p>
          <a:p>
            <a:pPr algn="l"/>
            <a:endParaRPr lang="fr-FR" sz="1400" b="0" dirty="0"/>
          </a:p>
          <a:p>
            <a:pPr algn="l"/>
            <a:r>
              <a:rPr lang="fr-FR" sz="1400" b="0" dirty="0"/>
              <a:t>• pire des cas: identique à </a:t>
            </a:r>
            <a:r>
              <a:rPr lang="fr-FR" sz="1400" b="0" dirty="0" err="1"/>
              <a:t>MiniMax</a:t>
            </a:r>
            <a:endParaRPr lang="fr-FR" sz="1400" b="0" dirty="0"/>
          </a:p>
          <a:p>
            <a:pPr algn="l"/>
            <a:endParaRPr lang="fr-FR" sz="1400" b="0" dirty="0"/>
          </a:p>
          <a:p>
            <a:pPr algn="l"/>
            <a:r>
              <a:rPr lang="fr-FR" sz="1400" b="0" dirty="0"/>
              <a:t>• cas moyen: </a:t>
            </a:r>
            <a:r>
              <a:rPr lang="fr-FR" sz="1400" b="0" i="1" dirty="0"/>
              <a:t>O</a:t>
            </a:r>
            <a:r>
              <a:rPr lang="fr-FR" sz="1400" b="0" dirty="0"/>
              <a:t>((b/</a:t>
            </a:r>
            <a:r>
              <a:rPr lang="fr-FR" sz="1400" b="0" dirty="0" err="1"/>
              <a:t>logb</a:t>
            </a:r>
            <a:r>
              <a:rPr lang="fr-FR" sz="1400" b="0" dirty="0"/>
              <a:t>)</a:t>
            </a:r>
            <a:r>
              <a:rPr lang="fr-FR" sz="1400" b="0" baseline="30000" dirty="0"/>
              <a:t>m</a:t>
            </a:r>
            <a:r>
              <a:rPr lang="fr-FR" sz="1400" b="0" dirty="0"/>
              <a:t> ) [</a:t>
            </a:r>
            <a:r>
              <a:rPr lang="fr-FR" sz="1400" b="0" dirty="0" err="1"/>
              <a:t>Knuth&amp;Moore</a:t>
            </a:r>
            <a:r>
              <a:rPr lang="fr-FR" sz="1400" b="0" dirty="0"/>
              <a:t> 75]</a:t>
            </a:r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0" y="5373568"/>
            <a:ext cx="7812088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sz="2400" b="0" dirty="0"/>
              <a:t>Variantes de Alpha-Beta</a:t>
            </a:r>
          </a:p>
          <a:p>
            <a:pPr algn="l"/>
            <a:r>
              <a:rPr lang="fr-FR" sz="1600" b="0" dirty="0"/>
              <a:t>• Approfondissements itératifs</a:t>
            </a:r>
          </a:p>
          <a:p>
            <a:pPr algn="l"/>
            <a:r>
              <a:rPr lang="fr-FR" sz="1600" b="0" dirty="0"/>
              <a:t>• Étendre les </a:t>
            </a:r>
            <a:r>
              <a:rPr lang="fr-FR" sz="1600" b="0" dirty="0" err="1"/>
              <a:t>noeuds</a:t>
            </a:r>
            <a:r>
              <a:rPr lang="fr-FR" sz="1600" b="0" dirty="0"/>
              <a:t> singuliers (ceux qui présentent un </a:t>
            </a:r>
            <a:r>
              <a:rPr lang="fr-FR" sz="1600" b="0" dirty="0" err="1"/>
              <a:t>intérêtparticulier</a:t>
            </a:r>
            <a:r>
              <a:rPr lang="fr-FR" sz="1600" b="0" dirty="0"/>
              <a:t>) en priorité</a:t>
            </a: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0" y="908050"/>
            <a:ext cx="249747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400" b="0" dirty="0"/>
              <a:t>Propriétés de α - β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ChangeArrowheads="1"/>
          </p:cNvSpPr>
          <p:nvPr/>
        </p:nvSpPr>
        <p:spPr bwMode="auto">
          <a:xfrm>
            <a:off x="179512" y="2060848"/>
            <a:ext cx="8964613" cy="286232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FR" sz="2000" b="1" dirty="0"/>
              <a:t>Autres types de jeux</a:t>
            </a:r>
          </a:p>
          <a:p>
            <a:pPr algn="l"/>
            <a:endParaRPr lang="fr-CA" sz="2000" dirty="0"/>
          </a:p>
          <a:p>
            <a:pPr algn="l"/>
            <a:endParaRPr lang="fr-FR" sz="2000" dirty="0"/>
          </a:p>
          <a:p>
            <a:pPr algn="l"/>
            <a:r>
              <a:rPr lang="fr-FR" sz="2000" b="0" dirty="0"/>
              <a:t>• Jeux à plusieurs joueurs (&gt; 2), avec ou sans alliance (online par exemple)</a:t>
            </a:r>
          </a:p>
          <a:p>
            <a:pPr algn="l"/>
            <a:endParaRPr lang="fr-FR" sz="2000" b="0" dirty="0"/>
          </a:p>
          <a:p>
            <a:pPr algn="l"/>
            <a:r>
              <a:rPr lang="fr-FR" sz="2000" b="0" dirty="0"/>
              <a:t>• Jeux avec intervention du hasard dans la fonction « successeur » (ex lancer un dé)</a:t>
            </a:r>
          </a:p>
          <a:p>
            <a:pPr algn="l"/>
            <a:endParaRPr lang="fr-FR" sz="2000" b="0" dirty="0"/>
          </a:p>
          <a:p>
            <a:pPr algn="l"/>
            <a:r>
              <a:rPr lang="fr-FR" sz="2000" b="0" dirty="0"/>
              <a:t>• États partiellement connus (ex jeux de cartes)</a:t>
            </a:r>
          </a:p>
        </p:txBody>
      </p:sp>
    </p:spTree>
    <p:extLst>
      <p:ext uri="{BB962C8B-B14F-4D97-AF65-F5344CB8AC3E}">
        <p14:creationId xmlns:p14="http://schemas.microsoft.com/office/powerpoint/2010/main" val="15332979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3095625" cy="1282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CA" sz="2400" dirty="0"/>
              <a:t>Exercice : jeux</a:t>
            </a:r>
          </a:p>
          <a:p>
            <a:pPr algn="l">
              <a:spcBef>
                <a:spcPct val="50000"/>
              </a:spcBef>
            </a:pPr>
            <a:r>
              <a:rPr lang="fr-CA" dirty="0"/>
              <a:t>1- </a:t>
            </a:r>
            <a:r>
              <a:rPr lang="fr-CA" dirty="0" err="1"/>
              <a:t>MiniMax</a:t>
            </a:r>
            <a:endParaRPr lang="fr-CA" dirty="0"/>
          </a:p>
          <a:p>
            <a:pPr algn="l">
              <a:spcBef>
                <a:spcPct val="50000"/>
              </a:spcBef>
            </a:pPr>
            <a:r>
              <a:rPr lang="fr-CA" dirty="0"/>
              <a:t>2- Alpha-Beta</a:t>
            </a:r>
          </a:p>
        </p:txBody>
      </p:sp>
      <p:pic>
        <p:nvPicPr>
          <p:cNvPr id="972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650" y="1716088"/>
            <a:ext cx="7561263" cy="5168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5003800" y="1773238"/>
            <a:ext cx="6477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dirty="0"/>
              <a:t>Max</a:t>
            </a:r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7308850" y="3500438"/>
            <a:ext cx="10795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/>
              <a:t>Min</a:t>
            </a:r>
          </a:p>
        </p:txBody>
      </p:sp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7885113" y="4581525"/>
            <a:ext cx="6477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/>
              <a:t>Max</a:t>
            </a:r>
          </a:p>
        </p:txBody>
      </p:sp>
      <p:sp>
        <p:nvSpPr>
          <p:cNvPr id="328713" name="Text Box 9"/>
          <p:cNvSpPr txBox="1">
            <a:spLocks noChangeArrowheads="1"/>
          </p:cNvSpPr>
          <p:nvPr/>
        </p:nvSpPr>
        <p:spPr bwMode="auto">
          <a:xfrm>
            <a:off x="3995738" y="2205038"/>
            <a:ext cx="468312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FF3300"/>
                </a:solidFill>
              </a:rPr>
              <a:t>(-,+)</a:t>
            </a:r>
            <a:endParaRPr lang="fr-FR" sz="1200" b="0">
              <a:solidFill>
                <a:srgbClr val="FF3300"/>
              </a:solidFill>
            </a:endParaRPr>
          </a:p>
        </p:txBody>
      </p:sp>
      <p:sp>
        <p:nvSpPr>
          <p:cNvPr id="328714" name="Text Box 10"/>
          <p:cNvSpPr txBox="1">
            <a:spLocks noChangeArrowheads="1"/>
          </p:cNvSpPr>
          <p:nvPr/>
        </p:nvSpPr>
        <p:spPr bwMode="auto">
          <a:xfrm>
            <a:off x="2001838" y="3306763"/>
            <a:ext cx="468312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FF3300"/>
                </a:solidFill>
              </a:rPr>
              <a:t>(-,+)</a:t>
            </a:r>
            <a:endParaRPr lang="fr-FR" sz="1200" b="0">
              <a:solidFill>
                <a:srgbClr val="FF3300"/>
              </a:solidFill>
            </a:endParaRPr>
          </a:p>
        </p:txBody>
      </p:sp>
      <p:sp>
        <p:nvSpPr>
          <p:cNvPr id="328717" name="Text Box 13"/>
          <p:cNvSpPr txBox="1">
            <a:spLocks noChangeArrowheads="1"/>
          </p:cNvSpPr>
          <p:nvPr/>
        </p:nvSpPr>
        <p:spPr bwMode="auto">
          <a:xfrm>
            <a:off x="1331913" y="4508500"/>
            <a:ext cx="468312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FF3300"/>
                </a:solidFill>
              </a:rPr>
              <a:t>(-,+)</a:t>
            </a:r>
            <a:endParaRPr lang="fr-FR" sz="1200" b="0">
              <a:solidFill>
                <a:srgbClr val="FF3300"/>
              </a:solidFill>
            </a:endParaRPr>
          </a:p>
        </p:txBody>
      </p:sp>
      <p:sp>
        <p:nvSpPr>
          <p:cNvPr id="328718" name="Text Box 14"/>
          <p:cNvSpPr txBox="1">
            <a:spLocks noChangeArrowheads="1"/>
          </p:cNvSpPr>
          <p:nvPr/>
        </p:nvSpPr>
        <p:spPr bwMode="auto">
          <a:xfrm>
            <a:off x="2041525" y="4652963"/>
            <a:ext cx="585788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00CC00"/>
                </a:solidFill>
              </a:rPr>
              <a:t>(15,+)</a:t>
            </a:r>
            <a:endParaRPr lang="fr-FR" sz="1200" b="0">
              <a:solidFill>
                <a:srgbClr val="00CC00"/>
              </a:solidFill>
            </a:endParaRPr>
          </a:p>
        </p:txBody>
      </p:sp>
      <p:sp>
        <p:nvSpPr>
          <p:cNvPr id="328719" name="Text Box 15"/>
          <p:cNvSpPr txBox="1">
            <a:spLocks noChangeArrowheads="1"/>
          </p:cNvSpPr>
          <p:nvPr/>
        </p:nvSpPr>
        <p:spPr bwMode="auto">
          <a:xfrm>
            <a:off x="2771775" y="3586163"/>
            <a:ext cx="547688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00CC00"/>
                </a:solidFill>
              </a:rPr>
              <a:t>(-,15)</a:t>
            </a:r>
            <a:endParaRPr lang="fr-FR" sz="1200" b="0">
              <a:solidFill>
                <a:srgbClr val="00CC00"/>
              </a:solidFill>
            </a:endParaRPr>
          </a:p>
        </p:txBody>
      </p:sp>
      <p:sp>
        <p:nvSpPr>
          <p:cNvPr id="328720" name="Text Box 16"/>
          <p:cNvSpPr txBox="1">
            <a:spLocks noChangeArrowheads="1"/>
          </p:cNvSpPr>
          <p:nvPr/>
        </p:nvSpPr>
        <p:spPr bwMode="auto">
          <a:xfrm>
            <a:off x="2584450" y="4437063"/>
            <a:ext cx="547688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FF3300"/>
                </a:solidFill>
              </a:rPr>
              <a:t>(-,15)</a:t>
            </a:r>
            <a:endParaRPr lang="fr-FR" sz="1200" b="0">
              <a:solidFill>
                <a:srgbClr val="FF3300"/>
              </a:solidFill>
            </a:endParaRPr>
          </a:p>
        </p:txBody>
      </p:sp>
      <p:sp>
        <p:nvSpPr>
          <p:cNvPr id="328722" name="Text Box 18"/>
          <p:cNvSpPr txBox="1">
            <a:spLocks noChangeArrowheads="1"/>
          </p:cNvSpPr>
          <p:nvPr/>
        </p:nvSpPr>
        <p:spPr bwMode="auto">
          <a:xfrm>
            <a:off x="3276600" y="4868863"/>
            <a:ext cx="665163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00CC00"/>
                </a:solidFill>
              </a:rPr>
              <a:t>(19,15)</a:t>
            </a:r>
            <a:endParaRPr lang="fr-FR" sz="1200" b="0">
              <a:solidFill>
                <a:srgbClr val="00CC00"/>
              </a:solidFill>
            </a:endParaRPr>
          </a:p>
        </p:txBody>
      </p:sp>
      <p:sp>
        <p:nvSpPr>
          <p:cNvPr id="328723" name="Line 19"/>
          <p:cNvSpPr>
            <a:spLocks noChangeShapeType="1"/>
          </p:cNvSpPr>
          <p:nvPr/>
        </p:nvSpPr>
        <p:spPr bwMode="auto">
          <a:xfrm flipV="1">
            <a:off x="3203575" y="5373688"/>
            <a:ext cx="360363" cy="2873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28724" name="Text Box 20"/>
          <p:cNvSpPr txBox="1">
            <a:spLocks noChangeArrowheads="1"/>
          </p:cNvSpPr>
          <p:nvPr/>
        </p:nvSpPr>
        <p:spPr bwMode="auto">
          <a:xfrm>
            <a:off x="4932363" y="2205038"/>
            <a:ext cx="585787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 dirty="0">
                <a:solidFill>
                  <a:srgbClr val="00CC00"/>
                </a:solidFill>
              </a:rPr>
              <a:t>(15,+)</a:t>
            </a:r>
            <a:endParaRPr lang="fr-FR" sz="1200" b="0" dirty="0">
              <a:solidFill>
                <a:srgbClr val="00CC00"/>
              </a:solidFill>
            </a:endParaRPr>
          </a:p>
        </p:txBody>
      </p:sp>
      <p:sp>
        <p:nvSpPr>
          <p:cNvPr id="328725" name="Text Box 21"/>
          <p:cNvSpPr txBox="1">
            <a:spLocks noChangeArrowheads="1"/>
          </p:cNvSpPr>
          <p:nvPr/>
        </p:nvSpPr>
        <p:spPr bwMode="auto">
          <a:xfrm>
            <a:off x="4067175" y="3500438"/>
            <a:ext cx="585788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FF3300"/>
                </a:solidFill>
              </a:rPr>
              <a:t>(15,+)</a:t>
            </a:r>
            <a:endParaRPr lang="fr-FR" sz="1200" b="0">
              <a:solidFill>
                <a:srgbClr val="FF3300"/>
              </a:solidFill>
            </a:endParaRPr>
          </a:p>
        </p:txBody>
      </p:sp>
      <p:sp>
        <p:nvSpPr>
          <p:cNvPr id="328726" name="Text Box 22"/>
          <p:cNvSpPr txBox="1">
            <a:spLocks noChangeArrowheads="1"/>
          </p:cNvSpPr>
          <p:nvPr/>
        </p:nvSpPr>
        <p:spPr bwMode="auto">
          <a:xfrm>
            <a:off x="3708400" y="4365625"/>
            <a:ext cx="585788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FF3300"/>
                </a:solidFill>
              </a:rPr>
              <a:t>(15,+)</a:t>
            </a:r>
            <a:endParaRPr lang="fr-FR" sz="1200" b="0">
              <a:solidFill>
                <a:srgbClr val="FF3300"/>
              </a:solidFill>
            </a:endParaRPr>
          </a:p>
        </p:txBody>
      </p:sp>
      <p:sp>
        <p:nvSpPr>
          <p:cNvPr id="328727" name="Text Box 23"/>
          <p:cNvSpPr txBox="1">
            <a:spLocks noChangeArrowheads="1"/>
          </p:cNvSpPr>
          <p:nvPr/>
        </p:nvSpPr>
        <p:spPr bwMode="auto">
          <a:xfrm>
            <a:off x="4284663" y="4797425"/>
            <a:ext cx="5857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00CC00"/>
                </a:solidFill>
              </a:rPr>
              <a:t>(16,+)</a:t>
            </a:r>
            <a:endParaRPr lang="fr-FR" sz="1200" b="0">
              <a:solidFill>
                <a:srgbClr val="00CC00"/>
              </a:solidFill>
            </a:endParaRPr>
          </a:p>
        </p:txBody>
      </p:sp>
      <p:sp>
        <p:nvSpPr>
          <p:cNvPr id="328728" name="Text Box 24"/>
          <p:cNvSpPr txBox="1">
            <a:spLocks noChangeArrowheads="1"/>
          </p:cNvSpPr>
          <p:nvPr/>
        </p:nvSpPr>
        <p:spPr bwMode="auto">
          <a:xfrm>
            <a:off x="4965700" y="3573463"/>
            <a:ext cx="665163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00CC00"/>
                </a:solidFill>
              </a:rPr>
              <a:t>(15,16)</a:t>
            </a:r>
            <a:endParaRPr lang="fr-FR" sz="1200" b="0">
              <a:solidFill>
                <a:srgbClr val="00CC00"/>
              </a:solidFill>
            </a:endParaRPr>
          </a:p>
        </p:txBody>
      </p:sp>
      <p:sp>
        <p:nvSpPr>
          <p:cNvPr id="328729" name="Text Box 25"/>
          <p:cNvSpPr txBox="1">
            <a:spLocks noChangeArrowheads="1"/>
          </p:cNvSpPr>
          <p:nvPr/>
        </p:nvSpPr>
        <p:spPr bwMode="auto">
          <a:xfrm>
            <a:off x="4572000" y="4365625"/>
            <a:ext cx="665163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FF3300"/>
                </a:solidFill>
              </a:rPr>
              <a:t>(15,16)</a:t>
            </a:r>
            <a:endParaRPr lang="fr-FR" sz="1200" b="0">
              <a:solidFill>
                <a:srgbClr val="FF3300"/>
              </a:solidFill>
            </a:endParaRPr>
          </a:p>
        </p:txBody>
      </p:sp>
      <p:sp>
        <p:nvSpPr>
          <p:cNvPr id="328730" name="Text Box 26"/>
          <p:cNvSpPr txBox="1">
            <a:spLocks noChangeArrowheads="1"/>
          </p:cNvSpPr>
          <p:nvPr/>
        </p:nvSpPr>
        <p:spPr bwMode="auto">
          <a:xfrm>
            <a:off x="5326063" y="4868863"/>
            <a:ext cx="665162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00CC00"/>
                </a:solidFill>
              </a:rPr>
              <a:t>(17,16)</a:t>
            </a:r>
            <a:endParaRPr lang="fr-FR" sz="1200" b="0">
              <a:solidFill>
                <a:srgbClr val="00CC00"/>
              </a:solidFill>
            </a:endParaRPr>
          </a:p>
        </p:txBody>
      </p:sp>
      <p:sp>
        <p:nvSpPr>
          <p:cNvPr id="328731" name="Text Box 27"/>
          <p:cNvSpPr txBox="1">
            <a:spLocks noChangeArrowheads="1"/>
          </p:cNvSpPr>
          <p:nvPr/>
        </p:nvSpPr>
        <p:spPr bwMode="auto">
          <a:xfrm>
            <a:off x="4932363" y="2205038"/>
            <a:ext cx="585787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 dirty="0">
                <a:solidFill>
                  <a:srgbClr val="00CC00"/>
                </a:solidFill>
              </a:rPr>
              <a:t>(16,+)</a:t>
            </a:r>
            <a:endParaRPr lang="fr-FR" sz="1200" b="0" dirty="0">
              <a:solidFill>
                <a:srgbClr val="00CC00"/>
              </a:solidFill>
            </a:endParaRPr>
          </a:p>
        </p:txBody>
      </p:sp>
      <p:sp>
        <p:nvSpPr>
          <p:cNvPr id="328732" name="Text Box 28"/>
          <p:cNvSpPr txBox="1">
            <a:spLocks noChangeArrowheads="1"/>
          </p:cNvSpPr>
          <p:nvPr/>
        </p:nvSpPr>
        <p:spPr bwMode="auto">
          <a:xfrm>
            <a:off x="6218238" y="3586163"/>
            <a:ext cx="585787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FF3300"/>
                </a:solidFill>
              </a:rPr>
              <a:t>(16,+)</a:t>
            </a:r>
            <a:endParaRPr lang="fr-FR" sz="1200" b="0">
              <a:solidFill>
                <a:srgbClr val="FF3300"/>
              </a:solidFill>
            </a:endParaRPr>
          </a:p>
        </p:txBody>
      </p:sp>
      <p:sp>
        <p:nvSpPr>
          <p:cNvPr id="328733" name="Text Box 29"/>
          <p:cNvSpPr txBox="1">
            <a:spLocks noChangeArrowheads="1"/>
          </p:cNvSpPr>
          <p:nvPr/>
        </p:nvSpPr>
        <p:spPr bwMode="auto">
          <a:xfrm>
            <a:off x="6011863" y="4365625"/>
            <a:ext cx="5857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FF3300"/>
                </a:solidFill>
              </a:rPr>
              <a:t>(16,+)</a:t>
            </a:r>
            <a:endParaRPr lang="fr-FR" sz="1200" b="0">
              <a:solidFill>
                <a:srgbClr val="FF3300"/>
              </a:solidFill>
            </a:endParaRPr>
          </a:p>
        </p:txBody>
      </p:sp>
      <p:sp>
        <p:nvSpPr>
          <p:cNvPr id="328734" name="Text Box 30"/>
          <p:cNvSpPr txBox="1">
            <a:spLocks noChangeArrowheads="1"/>
          </p:cNvSpPr>
          <p:nvPr/>
        </p:nvSpPr>
        <p:spPr bwMode="auto">
          <a:xfrm>
            <a:off x="7054850" y="3644900"/>
            <a:ext cx="665163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00CC00"/>
                </a:solidFill>
              </a:rPr>
              <a:t>(16,16)</a:t>
            </a:r>
            <a:endParaRPr lang="fr-FR" sz="1200" b="0">
              <a:solidFill>
                <a:srgbClr val="00CC00"/>
              </a:solidFill>
            </a:endParaRPr>
          </a:p>
        </p:txBody>
      </p:sp>
      <p:sp>
        <p:nvSpPr>
          <p:cNvPr id="328735" name="Line 31"/>
          <p:cNvSpPr>
            <a:spLocks noChangeShapeType="1"/>
          </p:cNvSpPr>
          <p:nvPr/>
        </p:nvSpPr>
        <p:spPr bwMode="auto">
          <a:xfrm flipV="1">
            <a:off x="7019925" y="4149725"/>
            <a:ext cx="360363" cy="2873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28736" name="Text Box 32"/>
          <p:cNvSpPr txBox="1">
            <a:spLocks noChangeArrowheads="1"/>
          </p:cNvSpPr>
          <p:nvPr/>
        </p:nvSpPr>
        <p:spPr bwMode="auto">
          <a:xfrm>
            <a:off x="6697663" y="4797425"/>
            <a:ext cx="5857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sz="1200" b="0">
                <a:solidFill>
                  <a:srgbClr val="00CC00"/>
                </a:solidFill>
              </a:rPr>
              <a:t>(16,+)</a:t>
            </a:r>
            <a:endParaRPr lang="fr-FR" sz="1200" b="0">
              <a:solidFill>
                <a:srgbClr val="00CC00"/>
              </a:solidFill>
            </a:endParaRPr>
          </a:p>
        </p:txBody>
      </p:sp>
      <p:sp>
        <p:nvSpPr>
          <p:cNvPr id="328737" name="Text Box 33"/>
          <p:cNvSpPr txBox="1">
            <a:spLocks noChangeArrowheads="1"/>
          </p:cNvSpPr>
          <p:nvPr/>
        </p:nvSpPr>
        <p:spPr bwMode="auto">
          <a:xfrm>
            <a:off x="4573588" y="1771650"/>
            <a:ext cx="4381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>
                <a:solidFill>
                  <a:srgbClr val="00CC00"/>
                </a:solidFill>
              </a:rPr>
              <a:t>16</a:t>
            </a:r>
            <a:endParaRPr lang="fr-FR">
              <a:solidFill>
                <a:srgbClr val="00CC00"/>
              </a:solidFill>
            </a:endParaRPr>
          </a:p>
        </p:txBody>
      </p:sp>
      <p:sp>
        <p:nvSpPr>
          <p:cNvPr id="328738" name="Line 34"/>
          <p:cNvSpPr>
            <a:spLocks noChangeShapeType="1"/>
          </p:cNvSpPr>
          <p:nvPr/>
        </p:nvSpPr>
        <p:spPr bwMode="auto">
          <a:xfrm>
            <a:off x="4716463" y="2636838"/>
            <a:ext cx="0" cy="720725"/>
          </a:xfrm>
          <a:prstGeom prst="line">
            <a:avLst/>
          </a:prstGeom>
          <a:noFill/>
          <a:ln w="69850">
            <a:solidFill>
              <a:srgbClr val="3399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28739" name="Oval 35"/>
          <p:cNvSpPr>
            <a:spLocks noChangeArrowheads="1"/>
          </p:cNvSpPr>
          <p:nvPr/>
        </p:nvSpPr>
        <p:spPr bwMode="auto">
          <a:xfrm>
            <a:off x="4643438" y="1773238"/>
            <a:ext cx="360362" cy="360362"/>
          </a:xfrm>
          <a:prstGeom prst="ellipse">
            <a:avLst/>
          </a:prstGeom>
          <a:noFill/>
          <a:ln w="38100" algn="ctr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" name="Line 19">
            <a:extLst>
              <a:ext uri="{FF2B5EF4-FFF2-40B4-BE49-F238E27FC236}">
                <a16:creationId xmlns:a16="http://schemas.microsoft.com/office/drawing/2014/main" id="{59E91EF2-4923-8034-C0B6-93A39EC93F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2252" y="5208588"/>
            <a:ext cx="360363" cy="2873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046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2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2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2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2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2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2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32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32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32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32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32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32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32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32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32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32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2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32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32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328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13" grpId="0"/>
      <p:bldP spid="328714" grpId="0"/>
      <p:bldP spid="328717" grpId="0"/>
      <p:bldP spid="328718" grpId="0"/>
      <p:bldP spid="328719" grpId="0"/>
      <p:bldP spid="328719" grpId="1"/>
      <p:bldP spid="328720" grpId="0"/>
      <p:bldP spid="328722" grpId="0"/>
      <p:bldP spid="328723" grpId="0" animBg="1"/>
      <p:bldP spid="328724" grpId="0"/>
      <p:bldP spid="328725" grpId="0"/>
      <p:bldP spid="328726" grpId="0"/>
      <p:bldP spid="328727" grpId="0"/>
      <p:bldP spid="328728" grpId="0"/>
      <p:bldP spid="328728" grpId="1"/>
      <p:bldP spid="328729" grpId="0"/>
      <p:bldP spid="328730" grpId="0"/>
      <p:bldP spid="328731" grpId="0"/>
      <p:bldP spid="328732" grpId="0"/>
      <p:bldP spid="328733" grpId="0"/>
      <p:bldP spid="328734" grpId="0"/>
      <p:bldP spid="328735" grpId="0" animBg="1"/>
      <p:bldP spid="328736" grpId="0"/>
      <p:bldP spid="328737" grpId="0"/>
      <p:bldP spid="328738" grpId="0" animBg="1"/>
      <p:bldP spid="328739" grpId="0" animBg="1"/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1233" y="1880468"/>
            <a:ext cx="6661534" cy="30970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539750" y="765175"/>
            <a:ext cx="2664098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CA" b="1" dirty="0"/>
              <a:t>Exercice</a:t>
            </a:r>
          </a:p>
          <a:p>
            <a:r>
              <a:rPr lang="fr-CA" dirty="0"/>
              <a:t>Utiliser Alpha-Beta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83812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6013" y="549275"/>
            <a:ext cx="6805612" cy="59658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217835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4"/>
          <p:cNvSpPr>
            <a:spLocks noChangeArrowheads="1"/>
          </p:cNvSpPr>
          <p:nvPr/>
        </p:nvSpPr>
        <p:spPr bwMode="auto">
          <a:xfrm>
            <a:off x="-4697" y="0"/>
            <a:ext cx="9324975" cy="3387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endParaRPr lang="fr-FR" b="0" dirty="0"/>
          </a:p>
          <a:p>
            <a:pPr algn="l"/>
            <a:r>
              <a:rPr lang="fr-FR" b="1" i="1" dirty="0"/>
              <a:t>Extensions </a:t>
            </a:r>
            <a:endParaRPr lang="fr-FR" b="1" dirty="0"/>
          </a:p>
          <a:p>
            <a:pPr algn="l"/>
            <a:r>
              <a:rPr lang="fr-FR" dirty="0"/>
              <a:t>Plus de deux joueurs </a:t>
            </a:r>
            <a:endParaRPr lang="fr-FR" b="0" dirty="0"/>
          </a:p>
          <a:p>
            <a:pPr lvl="1" algn="l"/>
            <a:r>
              <a:rPr lang="fr-FR" b="0" dirty="0"/>
              <a:t>On peut traiter un jeu à plus de deux joueurs avec un algorithme classique de type minimax à condition d’effectuer quelques modifications. </a:t>
            </a:r>
          </a:p>
          <a:p>
            <a:pPr lvl="1" algn="l"/>
            <a:r>
              <a:rPr lang="fr-FR" b="0" dirty="0"/>
              <a:t>- au lieu de manipuler une valeur v, on va manipuler un </a:t>
            </a:r>
            <a:r>
              <a:rPr lang="fr-FR" dirty="0"/>
              <a:t>vecteur de valeurs </a:t>
            </a:r>
            <a:r>
              <a:rPr lang="fr-FR" b="0" i="1" dirty="0"/>
              <a:t>v1,…,</a:t>
            </a:r>
            <a:r>
              <a:rPr lang="fr-FR" b="0" i="1" dirty="0" err="1"/>
              <a:t>vn</a:t>
            </a:r>
            <a:r>
              <a:rPr lang="fr-FR" b="0" i="1" dirty="0"/>
              <a:t> </a:t>
            </a:r>
            <a:r>
              <a:rPr lang="fr-FR" b="0" dirty="0"/>
              <a:t>(une par joueur). Remarque : à deux joueurs on ne représentait qu’une valeur car le jeu étant à somme nulle, l’une dépendait de l’autre. Maintenant, ce n’est plus le cas. </a:t>
            </a:r>
          </a:p>
          <a:p>
            <a:pPr algn="l"/>
            <a:endParaRPr lang="fr-FR" b="0" dirty="0"/>
          </a:p>
          <a:p>
            <a:pPr algn="l"/>
            <a:r>
              <a:rPr lang="fr-FR" b="0" dirty="0"/>
              <a:t>- A chaque </a:t>
            </a:r>
            <a:r>
              <a:rPr lang="fr-FR" b="0" dirty="0" err="1"/>
              <a:t>noeud</a:t>
            </a:r>
            <a:r>
              <a:rPr lang="fr-FR" b="0" dirty="0"/>
              <a:t>, on fait remonter le vecteur de valeurs le plus favorable au joueur qui doit jouer à ce moment là. Donc, le vecteur où ce joueur a un </a:t>
            </a:r>
            <a:r>
              <a:rPr lang="fr-FR" b="0" i="1" dirty="0"/>
              <a:t>vi </a:t>
            </a:r>
            <a:r>
              <a:rPr lang="fr-FR" b="0" dirty="0"/>
              <a:t>maximal. </a:t>
            </a:r>
          </a:p>
          <a:p>
            <a:pPr algn="l"/>
            <a:r>
              <a:rPr lang="fr-FR" b="0" i="1" dirty="0"/>
              <a:t>Exemple : jeu à 3 joueurs</a:t>
            </a:r>
            <a:r>
              <a:rPr lang="fr-FR" dirty="0"/>
              <a:t> </a:t>
            </a:r>
          </a:p>
        </p:txBody>
      </p:sp>
      <p:pic>
        <p:nvPicPr>
          <p:cNvPr id="10137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113" y="3429000"/>
            <a:ext cx="3992562" cy="3017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349565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CBB7E4-7F17-2A9E-C59B-60CF91860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Kasparov vs IBM </a:t>
            </a:r>
            <a:r>
              <a:rPr lang="fr-FR" dirty="0" err="1"/>
              <a:t>Deep</a:t>
            </a:r>
            <a:r>
              <a:rPr lang="fr-FR" dirty="0"/>
              <a:t> </a:t>
            </a:r>
            <a:r>
              <a:rPr lang="fr-FR" dirty="0" err="1"/>
              <a:t>blue</a:t>
            </a:r>
            <a:endParaRPr lang="fr-FR" dirty="0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6D764E0A-0794-FD43-BFEB-4635658D5B82}"/>
              </a:ext>
            </a:extLst>
          </p:cNvPr>
          <p:cNvSpPr txBox="1"/>
          <p:nvPr/>
        </p:nvSpPr>
        <p:spPr>
          <a:xfrm>
            <a:off x="1043608" y="5229200"/>
            <a:ext cx="77768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fr-FR" sz="1200" b="0" i="0" u="none" strike="noStrike" baseline="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fr-FR" sz="18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1997: </a:t>
            </a:r>
            <a:r>
              <a:rPr lang="fr-FR" sz="1800" b="0" i="0" u="none" strike="noStrike" baseline="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Deep</a:t>
            </a:r>
            <a:r>
              <a:rPr lang="fr-FR" sz="18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 Blue gagne par 3 victoires, 1 défaite, et 2 nuls 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4" name="Picture 2" descr="Kasparov Vs. Deep Blue">
            <a:extLst>
              <a:ext uri="{FF2B5EF4-FFF2-40B4-BE49-F238E27FC236}">
                <a16:creationId xmlns:a16="http://schemas.microsoft.com/office/drawing/2014/main" id="{D3A05A95-755F-BA4D-F7FD-3DCEFCC43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50" y="2290763"/>
            <a:ext cx="3543300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F8A6BD-DD79-16DA-2E2C-F14059407A50}"/>
              </a:ext>
            </a:extLst>
          </p:cNvPr>
          <p:cNvSpPr txBox="1"/>
          <p:nvPr/>
        </p:nvSpPr>
        <p:spPr>
          <a:xfrm>
            <a:off x="1043608" y="5783198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fr-FR" sz="1200" b="0" i="0" u="none" strike="noStrike" baseline="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fr-FR" sz="18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2 Août 2003: Égalité (3-3)! 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5136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e Jie perd son deuxième jeu contre AlphaGo">
            <a:extLst>
              <a:ext uri="{FF2B5EF4-FFF2-40B4-BE49-F238E27FC236}">
                <a16:creationId xmlns:a16="http://schemas.microsoft.com/office/drawing/2014/main" id="{A5887A45-3C9E-46B4-9C8E-5761618DB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446" y="1628800"/>
            <a:ext cx="5199222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9CF3BA-EEC0-41C9-978E-ACDFD5CC36E6}"/>
              </a:ext>
            </a:extLst>
          </p:cNvPr>
          <p:cNvSpPr txBox="1"/>
          <p:nvPr/>
        </p:nvSpPr>
        <p:spPr>
          <a:xfrm>
            <a:off x="683568" y="5517232"/>
            <a:ext cx="77768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fr-FR" sz="1200" b="0" i="0" u="none" strike="noStrike" baseline="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fr-FR" sz="18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Mai 2017: L’IA </a:t>
            </a:r>
            <a:r>
              <a:rPr lang="fr-FR" sz="1800" b="1" i="0" u="none" strike="noStrike" baseline="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AlphaGo</a:t>
            </a:r>
            <a:r>
              <a:rPr lang="fr-FR" sz="1800" b="1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fr-FR" sz="18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(de DeepMind) défait </a:t>
            </a:r>
            <a:r>
              <a:rPr lang="fr-FR" sz="1800" b="0" i="0" u="none" strike="noStrike" baseline="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Ke</a:t>
            </a:r>
            <a:r>
              <a:rPr lang="fr-FR" sz="18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 Jie</a:t>
            </a:r>
            <a:r>
              <a:rPr lang="fr-FR" sz="1800" b="1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fr-FR" sz="18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(1e mondial) par 3 jeux à 0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A27D53-3B84-4263-94B5-B735C9FCC84A}"/>
              </a:ext>
            </a:extLst>
          </p:cNvPr>
          <p:cNvSpPr txBox="1"/>
          <p:nvPr/>
        </p:nvSpPr>
        <p:spPr>
          <a:xfrm>
            <a:off x="1759560" y="540087"/>
            <a:ext cx="53103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i="0" u="none" strike="noStrike" baseline="0" dirty="0" err="1">
                <a:solidFill>
                  <a:schemeClr val="accent2"/>
                </a:solidFill>
                <a:latin typeface="Comic Sans MS" panose="030F0702030302020204" pitchFamily="66" charset="0"/>
              </a:rPr>
              <a:t>Ke</a:t>
            </a:r>
            <a:r>
              <a:rPr lang="fr-FR" sz="3200" b="1" i="0" u="none" strike="noStrike" baseline="0" dirty="0">
                <a:solidFill>
                  <a:schemeClr val="accent2"/>
                </a:solidFill>
                <a:latin typeface="Comic Sans MS" panose="030F0702030302020204" pitchFamily="66" charset="0"/>
              </a:rPr>
              <a:t> Jie contre  </a:t>
            </a:r>
            <a:r>
              <a:rPr lang="fr-FR" sz="3200" b="1" i="0" u="none" strike="noStrike" baseline="0" dirty="0" err="1">
                <a:solidFill>
                  <a:schemeClr val="accent2"/>
                </a:solidFill>
                <a:latin typeface="Comic Sans MS" panose="030F0702030302020204" pitchFamily="66" charset="0"/>
              </a:rPr>
              <a:t>AlphaGo</a:t>
            </a:r>
            <a:endParaRPr lang="fr-FR" sz="3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2546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E318F5-D99F-4D25-AC45-C71EB0CC9836}"/>
              </a:ext>
            </a:extLst>
          </p:cNvPr>
          <p:cNvSpPr txBox="1"/>
          <p:nvPr/>
        </p:nvSpPr>
        <p:spPr>
          <a:xfrm>
            <a:off x="107504" y="0"/>
            <a:ext cx="9433048" cy="342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fr-FR" sz="105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fr-FR" sz="3600" b="0" i="0" u="none" strike="noStrike" baseline="0" dirty="0">
                <a:latin typeface="Calibri" panose="020F0502020204030204" pitchFamily="34" charset="0"/>
              </a:rPr>
              <a:t>Défis </a:t>
            </a:r>
          </a:p>
          <a:p>
            <a:r>
              <a:rPr lang="fr-FR" sz="2400" b="0" i="0" u="none" strike="noStrike" baseline="0" dirty="0">
                <a:latin typeface="Arial" panose="020B0604020202020204" pitchFamily="34" charset="0"/>
              </a:rPr>
              <a:t>•</a:t>
            </a:r>
            <a:r>
              <a:rPr lang="fr-FR" sz="2400" b="0" i="0" u="none" strike="noStrike" baseline="0" dirty="0">
                <a:latin typeface="Calibri" panose="020F0502020204030204" pitchFamily="34" charset="0"/>
              </a:rPr>
              <a:t>Jeux stratégies en temps réel combinant éléments discrets et continus. </a:t>
            </a:r>
          </a:p>
          <a:p>
            <a:r>
              <a:rPr lang="fr-FR" dirty="0">
                <a:latin typeface="Arial" panose="020B0604020202020204" pitchFamily="34" charset="0"/>
              </a:rPr>
              <a:t>	-</a:t>
            </a:r>
            <a:r>
              <a:rPr lang="fr-FR" b="0" i="0" u="none" strike="noStrike" baseline="0" dirty="0" err="1">
                <a:latin typeface="Calibri" panose="020F0502020204030204" pitchFamily="34" charset="0"/>
              </a:rPr>
              <a:t>StarCraft</a:t>
            </a:r>
            <a:r>
              <a:rPr lang="fr-FR" b="0" i="0" u="none" strike="noStrike" baseline="0" dirty="0">
                <a:latin typeface="Calibri" panose="020F0502020204030204" pitchFamily="34" charset="0"/>
              </a:rPr>
              <a:t> </a:t>
            </a:r>
          </a:p>
          <a:p>
            <a:r>
              <a:rPr lang="fr-FR" sz="2400" b="0" i="0" u="none" strike="noStrike" baseline="0" dirty="0">
                <a:latin typeface="Arial" panose="020B0604020202020204" pitchFamily="34" charset="0"/>
              </a:rPr>
              <a:t>•</a:t>
            </a:r>
            <a:r>
              <a:rPr lang="fr-FR" sz="2400" b="0" i="0" u="none" strike="noStrike" baseline="0" dirty="0">
                <a:latin typeface="Calibri" panose="020F0502020204030204" pitchFamily="34" charset="0"/>
              </a:rPr>
              <a:t>Jeux avec lois de la physiques. </a:t>
            </a:r>
          </a:p>
          <a:p>
            <a:r>
              <a:rPr lang="fr-FR" sz="2000" b="0" i="0" u="none" strike="noStrike" baseline="0" dirty="0">
                <a:latin typeface="Arial" panose="020B0604020202020204" pitchFamily="34" charset="0"/>
              </a:rPr>
              <a:t>	–</a:t>
            </a:r>
            <a:r>
              <a:rPr lang="fr-FR" sz="2000" b="0" i="0" u="none" strike="noStrike" baseline="0" dirty="0" err="1">
                <a:latin typeface="Calibri" panose="020F0502020204030204" pitchFamily="34" charset="0"/>
              </a:rPr>
              <a:t>Angry</a:t>
            </a:r>
            <a:r>
              <a:rPr lang="fr-FR" sz="2000" b="0" i="0" u="none" strike="noStrike" baseline="0" dirty="0">
                <a:latin typeface="Calibri" panose="020F0502020204030204" pitchFamily="34" charset="0"/>
              </a:rPr>
              <a:t> Bird </a:t>
            </a:r>
          </a:p>
          <a:p>
            <a:r>
              <a:rPr lang="fr-FR" sz="2000" b="0" i="0" u="none" strike="noStrike" baseline="0" dirty="0">
                <a:latin typeface="Arial" panose="020B0604020202020204" pitchFamily="34" charset="0"/>
              </a:rPr>
              <a:t>	–</a:t>
            </a:r>
            <a:r>
              <a:rPr lang="fr-FR" sz="2000" b="0" i="0" u="none" strike="noStrike" baseline="0" dirty="0">
                <a:latin typeface="Calibri" panose="020F0502020204030204" pitchFamily="34" charset="0"/>
              </a:rPr>
              <a:t>Billard </a:t>
            </a:r>
          </a:p>
          <a:p>
            <a:r>
              <a:rPr lang="fr-FR" sz="2400" b="0" i="0" u="none" strike="noStrike" baseline="0" dirty="0">
                <a:latin typeface="Arial" panose="020B0604020202020204" pitchFamily="34" charset="0"/>
              </a:rPr>
              <a:t>•</a:t>
            </a:r>
            <a:r>
              <a:rPr lang="fr-FR" sz="2400" b="0" i="0" u="none" strike="noStrike" baseline="0" dirty="0">
                <a:latin typeface="Calibri" panose="020F0502020204030204" pitchFamily="34" charset="0"/>
              </a:rPr>
              <a:t>Méthodes probabilistes </a:t>
            </a:r>
          </a:p>
          <a:p>
            <a:r>
              <a:rPr lang="fr-FR" sz="2000" b="0" i="0" u="none" strike="noStrike" baseline="0" dirty="0">
                <a:latin typeface="Arial" panose="020B0604020202020204" pitchFamily="34" charset="0"/>
              </a:rPr>
              <a:t>	</a:t>
            </a:r>
            <a:r>
              <a:rPr lang="fr-FR" sz="2000" b="1" i="0" u="none" strike="noStrike" baseline="0" dirty="0"/>
              <a:t>–</a:t>
            </a:r>
            <a:r>
              <a:rPr lang="fr-FR" sz="2000" b="1" i="1" u="none" strike="noStrike" baseline="0" dirty="0" err="1"/>
              <a:t>Random</a:t>
            </a:r>
            <a:r>
              <a:rPr lang="fr-FR" sz="2000" b="1" i="1" u="none" strike="noStrike" baseline="0" dirty="0"/>
              <a:t> </a:t>
            </a:r>
            <a:r>
              <a:rPr lang="fr-FR" sz="2000" b="1" i="1" u="none" strike="noStrike" baseline="0" dirty="0" err="1"/>
              <a:t>search</a:t>
            </a:r>
            <a:r>
              <a:rPr lang="fr-FR" sz="2000" b="1" i="1" u="none" strike="noStrike" baseline="0" dirty="0"/>
              <a:t> </a:t>
            </a:r>
            <a:r>
              <a:rPr lang="fr-FR" sz="2000" b="1" i="1" u="none" strike="noStrike" baseline="0" dirty="0" err="1"/>
              <a:t>trees</a:t>
            </a:r>
            <a:r>
              <a:rPr lang="fr-FR" sz="2000" b="1" i="1" u="none" strike="noStrike" baseline="0" dirty="0"/>
              <a:t>, </a:t>
            </a:r>
            <a:r>
              <a:rPr lang="fr-FR" sz="2000" b="0" i="0" u="none" strike="noStrike" baseline="0" dirty="0">
                <a:latin typeface="Calibri" panose="020F0502020204030204" pitchFamily="34" charset="0"/>
              </a:rPr>
              <a:t>Monte Carlo, Échantillonnage (sampling), etc. </a:t>
            </a:r>
          </a:p>
          <a:p>
            <a:r>
              <a:rPr lang="fr-FR" sz="2000" b="1" i="0" u="none" strike="noStrike" baseline="0" dirty="0"/>
              <a:t>	Apprentissage Par renforcement</a:t>
            </a:r>
            <a:endParaRPr lang="fr-FR" sz="20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88CCD-6CCF-4C31-B3C4-3DFE1523BD57}"/>
              </a:ext>
            </a:extLst>
          </p:cNvPr>
          <p:cNvSpPr txBox="1"/>
          <p:nvPr/>
        </p:nvSpPr>
        <p:spPr>
          <a:xfrm>
            <a:off x="107504" y="3608680"/>
            <a:ext cx="903649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fr-FR" sz="12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fr-FR" sz="3200" i="0" u="none" strike="noStrike" baseline="0" dirty="0">
                <a:latin typeface="Calibri" panose="020F0502020204030204" pitchFamily="34" charset="0"/>
              </a:rPr>
              <a:t>En Résumé:</a:t>
            </a:r>
          </a:p>
          <a:p>
            <a:endParaRPr lang="fr-FR" sz="1200" b="0" i="0" u="none" strike="noStrike" baseline="0" dirty="0">
              <a:latin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0" i="0" u="none" strike="noStrike" baseline="0" dirty="0">
                <a:latin typeface="Calibri" panose="020F0502020204030204" pitchFamily="34" charset="0"/>
              </a:rPr>
              <a:t>Il est amusant de pratiquer l’IA avec les jeux.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0" i="0" u="none" strike="noStrike" baseline="0" dirty="0">
                <a:latin typeface="Calibri" panose="020F0502020204030204" pitchFamily="34" charset="0"/>
              </a:rPr>
              <a:t>Les recherches sur les jeux révèlent des aspects fondamentaux intéressants applicables à d’autres domaines.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0" i="0" u="none" strike="noStrike" baseline="0" dirty="0">
                <a:latin typeface="Calibri" panose="020F0502020204030204" pitchFamily="34" charset="0"/>
              </a:rPr>
              <a:t>La perfection est généralement inatteignable dans les jeux : il faut approximer.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>
                <a:latin typeface="Calibri" panose="020F0502020204030204" pitchFamily="34" charset="0"/>
              </a:rPr>
              <a:t>Aujourdui</a:t>
            </a:r>
            <a:r>
              <a:rPr lang="fr-FR" sz="2400" dirty="0">
                <a:latin typeface="Calibri" panose="020F0502020204030204" pitchFamily="34" charset="0"/>
              </a:rPr>
              <a:t> (2024) vise à explorer ce domaine propice.</a:t>
            </a:r>
            <a:endParaRPr lang="fr-FR" sz="2400" b="0" i="0" u="none" strike="noStrike" baseline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0977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347864" y="2852936"/>
            <a:ext cx="1944216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48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2332274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9324</TotalTime>
  <Words>5670</Words>
  <Application>Microsoft Office PowerPoint</Application>
  <PresentationFormat>Affichage à l'écran (4:3)</PresentationFormat>
  <Paragraphs>705</Paragraphs>
  <Slides>48</Slides>
  <Notes>42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48</vt:i4>
      </vt:variant>
    </vt:vector>
  </HeadingPairs>
  <TitlesOfParts>
    <vt:vector size="59" baseType="lpstr">
      <vt:lpstr>Arial</vt:lpstr>
      <vt:lpstr>Arial Rounded MT Bold</vt:lpstr>
      <vt:lpstr>Calibri</vt:lpstr>
      <vt:lpstr>Candara</vt:lpstr>
      <vt:lpstr>Comic Sans MS</vt:lpstr>
      <vt:lpstr>Courier New</vt:lpstr>
      <vt:lpstr>Times New Roman</vt:lpstr>
      <vt:lpstr>Trebuchet MS</vt:lpstr>
      <vt:lpstr>Wingdings</vt:lpstr>
      <vt:lpstr>Wingdings 3</vt:lpstr>
      <vt:lpstr>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Kasparov vs IBM Deep blue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RECHERCHE (SUITE)</dc:title>
  <dc:creator>Preferred Customer</dc:creator>
  <cp:lastModifiedBy>said</cp:lastModifiedBy>
  <cp:revision>116</cp:revision>
  <dcterms:created xsi:type="dcterms:W3CDTF">2010-10-07T22:56:36Z</dcterms:created>
  <dcterms:modified xsi:type="dcterms:W3CDTF">2024-02-29T21:57:41Z</dcterms:modified>
</cp:coreProperties>
</file>