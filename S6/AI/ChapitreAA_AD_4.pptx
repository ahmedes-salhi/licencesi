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502" r:id="rId3"/>
    <p:sldId id="503" r:id="rId4"/>
    <p:sldId id="349" r:id="rId5"/>
    <p:sldId id="328" r:id="rId6"/>
    <p:sldId id="369" r:id="rId7"/>
    <p:sldId id="351" r:id="rId8"/>
    <p:sldId id="350" r:id="rId9"/>
    <p:sldId id="373" r:id="rId10"/>
    <p:sldId id="331" r:id="rId11"/>
    <p:sldId id="334" r:id="rId12"/>
    <p:sldId id="263" r:id="rId13"/>
    <p:sldId id="499" r:id="rId14"/>
    <p:sldId id="500" r:id="rId15"/>
    <p:sldId id="266" r:id="rId16"/>
    <p:sldId id="313" r:id="rId17"/>
    <p:sldId id="268" r:id="rId18"/>
    <p:sldId id="269" r:id="rId19"/>
    <p:sldId id="270" r:id="rId20"/>
    <p:sldId id="267" r:id="rId21"/>
    <p:sldId id="272" r:id="rId22"/>
    <p:sldId id="273" r:id="rId23"/>
    <p:sldId id="360" r:id="rId24"/>
    <p:sldId id="327" r:id="rId25"/>
    <p:sldId id="336" r:id="rId26"/>
    <p:sldId id="484" r:id="rId27"/>
    <p:sldId id="366" r:id="rId28"/>
    <p:sldId id="501" r:id="rId2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2" d="100"/>
          <a:sy n="92" d="100"/>
        </p:scale>
        <p:origin x="-498"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0FDFAB-54C0-40A1-A8FA-4934DF3A5D57}" type="datetimeFigureOut">
              <a:rPr lang="fr-FR" smtClean="0"/>
              <a:pPr/>
              <a:t>05/03/2024</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1B8D20-13F6-4709-B68E-004408B3064B}" type="slidenum">
              <a:rPr lang="fr-FR" smtClean="0"/>
              <a:pPr/>
              <a:t>‹N°›</a:t>
            </a:fld>
            <a:endParaRPr lang="fr-FR"/>
          </a:p>
        </p:txBody>
      </p:sp>
    </p:spTree>
    <p:extLst>
      <p:ext uri="{BB962C8B-B14F-4D97-AF65-F5344CB8AC3E}">
        <p14:creationId xmlns:p14="http://schemas.microsoft.com/office/powerpoint/2010/main" val="148865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1">
            <a:extLst>
              <a:ext uri="{FF2B5EF4-FFF2-40B4-BE49-F238E27FC236}">
                <a16:creationId xmlns="" xmlns:a16="http://schemas.microsoft.com/office/drawing/2014/main" id="{57B7DFB5-AE3B-4AB6-B30D-F8CDD7B9FA43}"/>
              </a:ext>
            </a:extLst>
          </p:cNvPr>
          <p:cNvSpPr>
            <a:spLocks noGrp="1" noRot="1" noChangeAspect="1" noChangeArrowheads="1" noTextEdit="1"/>
          </p:cNvSpPr>
          <p:nvPr>
            <p:ph type="sldImg"/>
          </p:nvPr>
        </p:nvSpPr>
        <p:spPr>
          <a:ln/>
        </p:spPr>
      </p:sp>
      <p:sp>
        <p:nvSpPr>
          <p:cNvPr id="5123" name="Rectangle 2">
            <a:extLst>
              <a:ext uri="{FF2B5EF4-FFF2-40B4-BE49-F238E27FC236}">
                <a16:creationId xmlns="" xmlns:a16="http://schemas.microsoft.com/office/drawing/2014/main" id="{862E0F28-877C-4104-8126-79372FDE9216}"/>
              </a:ext>
            </a:extLst>
          </p:cNvPr>
          <p:cNvSpPr txBox="1">
            <a:spLocks noGrp="1" noChangeArrowheads="1"/>
          </p:cNvSpPr>
          <p:nvPr>
            <p:ph type="body" idx="1"/>
          </p:nvPr>
        </p:nvSpPr>
        <p:spPr>
          <a:xfrm>
            <a:off x="987425" y="3228975"/>
            <a:ext cx="7899400" cy="306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lt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 xmlns:a16="http://schemas.microsoft.com/office/drawing/2014/main" id="{B01F8A6F-E5AC-4B5A-904D-BF654CA7D877}"/>
              </a:ext>
            </a:extLst>
          </p:cNvPr>
          <p:cNvSpPr>
            <a:spLocks noGrp="1" noRot="1" noChangeAspect="1" noChangeArrowheads="1" noTextEdit="1"/>
          </p:cNvSpPr>
          <p:nvPr>
            <p:ph type="sldImg"/>
          </p:nvPr>
        </p:nvSpPr>
        <p:spPr>
          <a:noFill/>
          <a:ln/>
          <a:extLst>
            <a:ext uri="{909E8E84-426E-40DD-AFC4-6F175D3DCCD1}">
              <a14:hiddenFill xmlns:a14="http://schemas.microsoft.com/office/drawing/2010/main">
                <a:solidFill>
                  <a:srgbClr val="FFFFFF"/>
                </a:solidFill>
              </a14:hiddenFill>
            </a:ext>
          </a:extLst>
        </p:spPr>
      </p:sp>
      <p:sp>
        <p:nvSpPr>
          <p:cNvPr id="8195" name="Rectangle 3">
            <a:extLst>
              <a:ext uri="{FF2B5EF4-FFF2-40B4-BE49-F238E27FC236}">
                <a16:creationId xmlns="" xmlns:a16="http://schemas.microsoft.com/office/drawing/2014/main" id="{9E312F17-DB62-414F-BA26-B525D221571B}"/>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 xmlns:a16="http://schemas.microsoft.com/office/drawing/2014/main" id="{012AEB2D-4605-42DA-BFCF-8C23CA881C47}"/>
              </a:ext>
            </a:extLst>
          </p:cNvPr>
          <p:cNvSpPr>
            <a:spLocks noGrp="1" noRot="1" noChangeAspect="1" noChangeArrowheads="1" noTextEdit="1"/>
          </p:cNvSpPr>
          <p:nvPr>
            <p:ph type="sldImg"/>
          </p:nvPr>
        </p:nvSpPr>
        <p:spPr>
          <a:noFill/>
          <a:ln/>
          <a:extLst>
            <a:ext uri="{909E8E84-426E-40DD-AFC4-6F175D3DCCD1}">
              <a14:hiddenFill xmlns:a14="http://schemas.microsoft.com/office/drawing/2010/main">
                <a:solidFill>
                  <a:srgbClr val="FFFFFF"/>
                </a:solidFill>
              </a14:hiddenFill>
            </a:ext>
          </a:extLst>
        </p:spPr>
      </p:sp>
      <p:sp>
        <p:nvSpPr>
          <p:cNvPr id="10243" name="Rectangle 3">
            <a:extLst>
              <a:ext uri="{FF2B5EF4-FFF2-40B4-BE49-F238E27FC236}">
                <a16:creationId xmlns="" xmlns:a16="http://schemas.microsoft.com/office/drawing/2014/main" id="{22F11E51-BE5A-4E56-9DF0-11841277539D}"/>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Notes Placeholder">
            <a:extLst>
              <a:ext uri="{FF2B5EF4-FFF2-40B4-BE49-F238E27FC236}">
                <a16:creationId xmlns="" xmlns:a16="http://schemas.microsoft.com/office/drawing/2014/main" id="{843105BE-7401-449B-9689-BDE85DECB3AF}"/>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 xmlns:a16="http://schemas.microsoft.com/office/drawing/2014/main" id="{B46A917B-FA1F-4876-902D-37758D879EF3}"/>
              </a:ext>
            </a:extLst>
          </p:cNvPr>
          <p:cNvSpPr>
            <a:spLocks noGrp="1" noRot="1" noChangeAspect="1" noChangeArrowheads="1" noTextEdit="1"/>
          </p:cNvSpPr>
          <p:nvPr>
            <p:ph type="sldImg"/>
          </p:nvPr>
        </p:nvSpPr>
        <p:spPr>
          <a:ln/>
        </p:spPr>
      </p:sp>
      <p:sp>
        <p:nvSpPr>
          <p:cNvPr id="14339" name="Rectangle 3">
            <a:extLst>
              <a:ext uri="{FF2B5EF4-FFF2-40B4-BE49-F238E27FC236}">
                <a16:creationId xmlns="" xmlns:a16="http://schemas.microsoft.com/office/drawing/2014/main" id="{590CA149-8E31-4378-ABA9-C18515815CDA}"/>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00"/>
            <a:endParaRPr lang="fr-FR" alt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 xmlns:a16="http://schemas.microsoft.com/office/drawing/2014/main" id="{3F1024A1-3306-4A5C-B16F-63F30869606C}"/>
              </a:ext>
            </a:extLst>
          </p:cNvPr>
          <p:cNvSpPr>
            <a:spLocks noGrp="1" noRot="1" noChangeAspect="1" noChangeArrowheads="1" noTextEdit="1"/>
          </p:cNvSpPr>
          <p:nvPr>
            <p:ph type="sldImg"/>
          </p:nvPr>
        </p:nvSpPr>
        <p:spPr>
          <a:noFill/>
          <a:ln/>
          <a:extLst>
            <a:ext uri="{909E8E84-426E-40DD-AFC4-6F175D3DCCD1}">
              <a14:hiddenFill xmlns:a14="http://schemas.microsoft.com/office/drawing/2010/main">
                <a:solidFill>
                  <a:srgbClr val="FFFFFF"/>
                </a:solidFill>
              </a14:hiddenFill>
            </a:ext>
          </a:extLst>
        </p:spPr>
      </p:sp>
      <p:sp>
        <p:nvSpPr>
          <p:cNvPr id="16387" name="Rectangle 3">
            <a:extLst>
              <a:ext uri="{FF2B5EF4-FFF2-40B4-BE49-F238E27FC236}">
                <a16:creationId xmlns="" xmlns:a16="http://schemas.microsoft.com/office/drawing/2014/main" id="{C79582FE-2EE8-45C0-B767-DF047176863F}"/>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 xmlns:a16="http://schemas.microsoft.com/office/drawing/2014/main" id="{19139C6E-78F5-4782-A596-83546D38FA2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1pPr>
            <a:lvl2pPr marL="742950" indent="-285750" defTabSz="9175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2pPr>
            <a:lvl3pPr marL="1143000" indent="-228600" defTabSz="9175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3pPr>
            <a:lvl4pPr marL="1600200" indent="-228600" defTabSz="9175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4pPr>
            <a:lvl5pPr marL="2057400" indent="-228600" defTabSz="9175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5pPr>
            <a:lvl6pPr marL="2514600" indent="-228600" defTabSz="917575"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6pPr>
            <a:lvl7pPr marL="2971800" indent="-228600" defTabSz="917575"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7pPr>
            <a:lvl8pPr marL="3429000" indent="-228600" defTabSz="917575"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8pPr>
            <a:lvl9pPr marL="3886200" indent="-228600" defTabSz="917575"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9pPr>
          </a:lstStyle>
          <a:p>
            <a:pPr>
              <a:spcBef>
                <a:spcPct val="0"/>
              </a:spcBef>
              <a:buClrTx/>
              <a:buSzTx/>
              <a:buFontTx/>
              <a:buNone/>
            </a:pPr>
            <a:fld id="{7F334E5E-26F6-4FF0-BD2F-45A4A4054727}" type="slidenum">
              <a:rPr lang="fr-FR" altLang="fr-FR">
                <a:solidFill>
                  <a:schemeClr val="tx1"/>
                </a:solidFill>
              </a:rPr>
              <a:pPr>
                <a:spcBef>
                  <a:spcPct val="0"/>
                </a:spcBef>
                <a:buClrTx/>
                <a:buSzTx/>
                <a:buFontTx/>
                <a:buNone/>
              </a:pPr>
              <a:t>9</a:t>
            </a:fld>
            <a:endParaRPr lang="fr-FR" altLang="fr-FR">
              <a:solidFill>
                <a:schemeClr val="tx1"/>
              </a:solidFill>
            </a:endParaRPr>
          </a:p>
        </p:txBody>
      </p:sp>
      <p:sp>
        <p:nvSpPr>
          <p:cNvPr id="18435" name="Rectangle 2">
            <a:extLst>
              <a:ext uri="{FF2B5EF4-FFF2-40B4-BE49-F238E27FC236}">
                <a16:creationId xmlns="" xmlns:a16="http://schemas.microsoft.com/office/drawing/2014/main" id="{FBC10F9A-9ECC-4B45-8508-0A3100A11C97}"/>
              </a:ext>
            </a:extLst>
          </p:cNvPr>
          <p:cNvSpPr>
            <a:spLocks noGrp="1" noRot="1" noChangeAspect="1" noChangeArrowheads="1" noTextEdit="1"/>
          </p:cNvSpPr>
          <p:nvPr>
            <p:ph type="sldImg"/>
          </p:nvPr>
        </p:nvSpPr>
        <p:spPr>
          <a:ln/>
        </p:spPr>
      </p:sp>
      <p:sp>
        <p:nvSpPr>
          <p:cNvPr id="18436" name="Rectangle 3">
            <a:extLst>
              <a:ext uri="{FF2B5EF4-FFF2-40B4-BE49-F238E27FC236}">
                <a16:creationId xmlns="" xmlns:a16="http://schemas.microsoft.com/office/drawing/2014/main" id="{9FEE595F-FC0A-4140-AC6C-3BCCB98FB6FA}"/>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 xmlns:a16="http://schemas.microsoft.com/office/drawing/2014/main" id="{C1227B6D-76B3-4FFC-8BC7-1D8FD579329A}"/>
              </a:ext>
            </a:extLst>
          </p:cNvPr>
          <p:cNvSpPr>
            <a:spLocks noGrp="1" noRot="1" noChangeAspect="1" noChangeArrowheads="1" noTextEdit="1"/>
          </p:cNvSpPr>
          <p:nvPr>
            <p:ph type="sldImg"/>
          </p:nvPr>
        </p:nvSpPr>
        <p:spPr>
          <a:noFill/>
          <a:ln/>
          <a:extLst>
            <a:ext uri="{909E8E84-426E-40DD-AFC4-6F175D3DCCD1}">
              <a14:hiddenFill xmlns:a14="http://schemas.microsoft.com/office/drawing/2010/main">
                <a:solidFill>
                  <a:srgbClr val="FFFFFF"/>
                </a:solidFill>
              </a14:hiddenFill>
            </a:ext>
          </a:extLst>
        </p:spPr>
      </p:sp>
      <p:sp>
        <p:nvSpPr>
          <p:cNvPr id="20483" name="Rectangle 3">
            <a:extLst>
              <a:ext uri="{FF2B5EF4-FFF2-40B4-BE49-F238E27FC236}">
                <a16:creationId xmlns="" xmlns:a16="http://schemas.microsoft.com/office/drawing/2014/main" id="{5DCCFD94-5B07-45D7-AB6A-E7ED0815FA3C}"/>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 xmlns:a16="http://schemas.microsoft.com/office/drawing/2014/main" id="{676133FA-C700-42DF-9B32-A02369942102}"/>
              </a:ext>
            </a:extLst>
          </p:cNvPr>
          <p:cNvSpPr>
            <a:spLocks noGrp="1" noRot="1" noChangeAspect="1" noChangeArrowheads="1" noTextEdit="1"/>
          </p:cNvSpPr>
          <p:nvPr>
            <p:ph type="sldImg"/>
          </p:nvPr>
        </p:nvSpPr>
        <p:spPr>
          <a:noFill/>
          <a:ln/>
          <a:extLst>
            <a:ext uri="{909E8E84-426E-40DD-AFC4-6F175D3DCCD1}">
              <a14:hiddenFill xmlns:a14="http://schemas.microsoft.com/office/drawing/2010/main">
                <a:solidFill>
                  <a:srgbClr val="FFFFFF"/>
                </a:solidFill>
              </a14:hiddenFill>
            </a:ext>
          </a:extLst>
        </p:spPr>
      </p:sp>
      <p:sp>
        <p:nvSpPr>
          <p:cNvPr id="22531" name="Rectangle 3">
            <a:extLst>
              <a:ext uri="{FF2B5EF4-FFF2-40B4-BE49-F238E27FC236}">
                <a16:creationId xmlns="" xmlns:a16="http://schemas.microsoft.com/office/drawing/2014/main" id="{CF143B05-E2B5-4926-AE5F-F4F2F8FDA915}"/>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1">
            <a:extLst>
              <a:ext uri="{FF2B5EF4-FFF2-40B4-BE49-F238E27FC236}">
                <a16:creationId xmlns="" xmlns:a16="http://schemas.microsoft.com/office/drawing/2014/main" id="{02DABF80-ADA9-4564-BD0A-11105188F4A4}"/>
              </a:ext>
            </a:extLst>
          </p:cNvPr>
          <p:cNvSpPr>
            <a:spLocks noGrp="1" noRot="1" noChangeAspect="1" noChangeArrowheads="1" noTextEdit="1"/>
          </p:cNvSpPr>
          <p:nvPr>
            <p:ph type="sldImg"/>
          </p:nvPr>
        </p:nvSpPr>
        <p:spPr>
          <a:ln/>
        </p:spPr>
      </p:sp>
      <p:sp>
        <p:nvSpPr>
          <p:cNvPr id="31747" name="Rectangle 2">
            <a:extLst>
              <a:ext uri="{FF2B5EF4-FFF2-40B4-BE49-F238E27FC236}">
                <a16:creationId xmlns="" xmlns:a16="http://schemas.microsoft.com/office/drawing/2014/main" id="{B47A88C6-4B1C-4165-B832-9DD375123BC1}"/>
              </a:ext>
            </a:extLst>
          </p:cNvPr>
          <p:cNvSpPr txBox="1">
            <a:spLocks noGrp="1" noChangeArrowheads="1"/>
          </p:cNvSpPr>
          <p:nvPr>
            <p:ph type="body" idx="1"/>
          </p:nvPr>
        </p:nvSpPr>
        <p:spPr>
          <a:xfrm>
            <a:off x="987425" y="3228975"/>
            <a:ext cx="7899400" cy="306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ltLang="fr-F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1">
            <a:extLst>
              <a:ext uri="{FF2B5EF4-FFF2-40B4-BE49-F238E27FC236}">
                <a16:creationId xmlns="" xmlns:a16="http://schemas.microsoft.com/office/drawing/2014/main" id="{DB933751-8820-47F7-ADE4-2A01284E6535}"/>
              </a:ext>
            </a:extLst>
          </p:cNvPr>
          <p:cNvSpPr>
            <a:spLocks noGrp="1" noRot="1" noChangeAspect="1" noChangeArrowheads="1" noTextEdit="1"/>
          </p:cNvSpPr>
          <p:nvPr>
            <p:ph type="sldImg"/>
          </p:nvPr>
        </p:nvSpPr>
        <p:spPr>
          <a:ln/>
        </p:spPr>
      </p:sp>
      <p:sp>
        <p:nvSpPr>
          <p:cNvPr id="35843" name="Rectangle 2">
            <a:extLst>
              <a:ext uri="{FF2B5EF4-FFF2-40B4-BE49-F238E27FC236}">
                <a16:creationId xmlns="" xmlns:a16="http://schemas.microsoft.com/office/drawing/2014/main" id="{0A7988D6-1F5E-445D-9FE6-6574248B22EA}"/>
              </a:ext>
            </a:extLst>
          </p:cNvPr>
          <p:cNvSpPr txBox="1">
            <a:spLocks noGrp="1" noChangeArrowheads="1"/>
          </p:cNvSpPr>
          <p:nvPr>
            <p:ph type="body" idx="1"/>
          </p:nvPr>
        </p:nvSpPr>
        <p:spPr>
          <a:xfrm>
            <a:off x="987425" y="3228975"/>
            <a:ext cx="7899400" cy="306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ltLang="fr-F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 xmlns:a16="http://schemas.microsoft.com/office/drawing/2014/main" id="{491AFBB0-E122-4118-AC3E-2C2BD26EC905}"/>
              </a:ext>
            </a:extLst>
          </p:cNvPr>
          <p:cNvSpPr>
            <a:spLocks noGrp="1" noRot="1" noChangeAspect="1" noChangeArrowheads="1" noTextEdit="1"/>
          </p:cNvSpPr>
          <p:nvPr>
            <p:ph type="sldImg"/>
          </p:nvPr>
        </p:nvSpPr>
        <p:spPr>
          <a:noFill/>
          <a:ln/>
          <a:extLst>
            <a:ext uri="{909E8E84-426E-40DD-AFC4-6F175D3DCCD1}">
              <a14:hiddenFill xmlns:a14="http://schemas.microsoft.com/office/drawing/2010/main">
                <a:solidFill>
                  <a:srgbClr val="FFFFFF"/>
                </a:solidFill>
              </a14:hiddenFill>
            </a:ext>
          </a:extLst>
        </p:spPr>
      </p:sp>
      <p:sp>
        <p:nvSpPr>
          <p:cNvPr id="37891" name="Rectangle 3">
            <a:extLst>
              <a:ext uri="{FF2B5EF4-FFF2-40B4-BE49-F238E27FC236}">
                <a16:creationId xmlns="" xmlns:a16="http://schemas.microsoft.com/office/drawing/2014/main" id="{CBEFE413-2405-4139-A99F-49AF2EC40342}"/>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1">
            <a:extLst>
              <a:ext uri="{FF2B5EF4-FFF2-40B4-BE49-F238E27FC236}">
                <a16:creationId xmlns="" xmlns:a16="http://schemas.microsoft.com/office/drawing/2014/main" id="{5C37B475-B89B-4E66-8100-799185B01D32}"/>
              </a:ext>
            </a:extLst>
          </p:cNvPr>
          <p:cNvSpPr>
            <a:spLocks noGrp="1" noRot="1" noChangeAspect="1" noChangeArrowheads="1" noTextEdit="1"/>
          </p:cNvSpPr>
          <p:nvPr>
            <p:ph type="sldImg"/>
          </p:nvPr>
        </p:nvSpPr>
        <p:spPr>
          <a:ln/>
        </p:spPr>
      </p:sp>
      <p:sp>
        <p:nvSpPr>
          <p:cNvPr id="41987" name="Rectangle 2">
            <a:extLst>
              <a:ext uri="{FF2B5EF4-FFF2-40B4-BE49-F238E27FC236}">
                <a16:creationId xmlns="" xmlns:a16="http://schemas.microsoft.com/office/drawing/2014/main" id="{236BFBA3-D7A4-4C04-95CA-772354DE0238}"/>
              </a:ext>
            </a:extLst>
          </p:cNvPr>
          <p:cNvSpPr txBox="1">
            <a:spLocks noGrp="1" noChangeArrowheads="1"/>
          </p:cNvSpPr>
          <p:nvPr>
            <p:ph type="body" idx="1"/>
          </p:nvPr>
        </p:nvSpPr>
        <p:spPr>
          <a:xfrm>
            <a:off x="987425" y="3228975"/>
            <a:ext cx="7899400" cy="306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ltLang="fr-F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1">
            <a:extLst>
              <a:ext uri="{FF2B5EF4-FFF2-40B4-BE49-F238E27FC236}">
                <a16:creationId xmlns="" xmlns:a16="http://schemas.microsoft.com/office/drawing/2014/main" id="{ECF16C01-67ED-4D43-9D5C-FD2BA85C1A81}"/>
              </a:ext>
            </a:extLst>
          </p:cNvPr>
          <p:cNvSpPr>
            <a:spLocks noGrp="1" noRot="1" noChangeAspect="1" noChangeArrowheads="1" noTextEdit="1"/>
          </p:cNvSpPr>
          <p:nvPr>
            <p:ph type="sldImg"/>
          </p:nvPr>
        </p:nvSpPr>
        <p:spPr>
          <a:ln/>
        </p:spPr>
      </p:sp>
      <p:sp>
        <p:nvSpPr>
          <p:cNvPr id="44035" name="Rectangle 2">
            <a:extLst>
              <a:ext uri="{FF2B5EF4-FFF2-40B4-BE49-F238E27FC236}">
                <a16:creationId xmlns="" xmlns:a16="http://schemas.microsoft.com/office/drawing/2014/main" id="{DA5B4464-9CCD-4372-B24D-42C69AA465EA}"/>
              </a:ext>
            </a:extLst>
          </p:cNvPr>
          <p:cNvSpPr txBox="1">
            <a:spLocks noGrp="1" noChangeArrowheads="1"/>
          </p:cNvSpPr>
          <p:nvPr>
            <p:ph type="body" idx="1"/>
          </p:nvPr>
        </p:nvSpPr>
        <p:spPr>
          <a:xfrm>
            <a:off x="987425" y="3228975"/>
            <a:ext cx="7899400" cy="306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ltLang="fr-F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1">
            <a:extLst>
              <a:ext uri="{FF2B5EF4-FFF2-40B4-BE49-F238E27FC236}">
                <a16:creationId xmlns="" xmlns:a16="http://schemas.microsoft.com/office/drawing/2014/main" id="{4A7C346F-2C22-4AEA-8B49-6136489DB88B}"/>
              </a:ext>
            </a:extLst>
          </p:cNvPr>
          <p:cNvSpPr>
            <a:spLocks noGrp="1" noRot="1" noChangeAspect="1" noChangeArrowheads="1" noTextEdit="1"/>
          </p:cNvSpPr>
          <p:nvPr>
            <p:ph type="sldImg"/>
          </p:nvPr>
        </p:nvSpPr>
        <p:spPr>
          <a:ln/>
        </p:spPr>
      </p:sp>
      <p:sp>
        <p:nvSpPr>
          <p:cNvPr id="47107" name="Rectangle 2">
            <a:extLst>
              <a:ext uri="{FF2B5EF4-FFF2-40B4-BE49-F238E27FC236}">
                <a16:creationId xmlns="" xmlns:a16="http://schemas.microsoft.com/office/drawing/2014/main" id="{17FBA5E1-36CA-433E-89A6-A8F752E34353}"/>
              </a:ext>
            </a:extLst>
          </p:cNvPr>
          <p:cNvSpPr txBox="1">
            <a:spLocks noGrp="1" noChangeArrowheads="1"/>
          </p:cNvSpPr>
          <p:nvPr>
            <p:ph type="body" idx="1"/>
          </p:nvPr>
        </p:nvSpPr>
        <p:spPr>
          <a:xfrm>
            <a:off x="987425" y="3228975"/>
            <a:ext cx="7899400" cy="306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ltLang="fr-F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1">
            <a:extLst>
              <a:ext uri="{FF2B5EF4-FFF2-40B4-BE49-F238E27FC236}">
                <a16:creationId xmlns="" xmlns:a16="http://schemas.microsoft.com/office/drawing/2014/main" id="{1755D186-247E-48CC-8710-966536A0AA4C}"/>
              </a:ext>
            </a:extLst>
          </p:cNvPr>
          <p:cNvSpPr>
            <a:spLocks noGrp="1" noRot="1" noChangeAspect="1" noChangeArrowheads="1" noTextEdit="1"/>
          </p:cNvSpPr>
          <p:nvPr>
            <p:ph type="sldImg"/>
          </p:nvPr>
        </p:nvSpPr>
        <p:spPr>
          <a:ln/>
        </p:spPr>
      </p:sp>
      <p:sp>
        <p:nvSpPr>
          <p:cNvPr id="39939" name="Rectangle 2">
            <a:extLst>
              <a:ext uri="{FF2B5EF4-FFF2-40B4-BE49-F238E27FC236}">
                <a16:creationId xmlns="" xmlns:a16="http://schemas.microsoft.com/office/drawing/2014/main" id="{994D6E0B-56CC-435A-A42D-C98FDB4B1B31}"/>
              </a:ext>
            </a:extLst>
          </p:cNvPr>
          <p:cNvSpPr txBox="1">
            <a:spLocks noGrp="1" noChangeArrowheads="1"/>
          </p:cNvSpPr>
          <p:nvPr>
            <p:ph type="body" idx="1"/>
          </p:nvPr>
        </p:nvSpPr>
        <p:spPr>
          <a:xfrm>
            <a:off x="987425" y="3228975"/>
            <a:ext cx="7899400" cy="306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ltLang="fr-F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1">
            <a:extLst>
              <a:ext uri="{FF2B5EF4-FFF2-40B4-BE49-F238E27FC236}">
                <a16:creationId xmlns="" xmlns:a16="http://schemas.microsoft.com/office/drawing/2014/main" id="{E7084EE8-48A6-4D6D-8AAE-0385B2D6E057}"/>
              </a:ext>
            </a:extLst>
          </p:cNvPr>
          <p:cNvSpPr>
            <a:spLocks noGrp="1" noRot="1" noChangeAspect="1" noChangeArrowheads="1" noTextEdit="1"/>
          </p:cNvSpPr>
          <p:nvPr>
            <p:ph type="sldImg"/>
          </p:nvPr>
        </p:nvSpPr>
        <p:spPr>
          <a:ln/>
        </p:spPr>
      </p:sp>
      <p:sp>
        <p:nvSpPr>
          <p:cNvPr id="51203" name="Rectangle 2">
            <a:extLst>
              <a:ext uri="{FF2B5EF4-FFF2-40B4-BE49-F238E27FC236}">
                <a16:creationId xmlns="" xmlns:a16="http://schemas.microsoft.com/office/drawing/2014/main" id="{EF9A3AFE-324A-4017-9902-14C4932F414A}"/>
              </a:ext>
            </a:extLst>
          </p:cNvPr>
          <p:cNvSpPr txBox="1">
            <a:spLocks noGrp="1" noChangeArrowheads="1"/>
          </p:cNvSpPr>
          <p:nvPr>
            <p:ph type="body" idx="1"/>
          </p:nvPr>
        </p:nvSpPr>
        <p:spPr>
          <a:xfrm>
            <a:off x="987425" y="3228975"/>
            <a:ext cx="7899400" cy="306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ltLang="fr-F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1">
            <a:extLst>
              <a:ext uri="{FF2B5EF4-FFF2-40B4-BE49-F238E27FC236}">
                <a16:creationId xmlns="" xmlns:a16="http://schemas.microsoft.com/office/drawing/2014/main" id="{88F2BB10-7575-431A-A80D-5EB1D4C7A8FA}"/>
              </a:ext>
            </a:extLst>
          </p:cNvPr>
          <p:cNvSpPr>
            <a:spLocks noGrp="1" noRot="1" noChangeAspect="1" noChangeArrowheads="1" noTextEdit="1"/>
          </p:cNvSpPr>
          <p:nvPr>
            <p:ph type="sldImg"/>
          </p:nvPr>
        </p:nvSpPr>
        <p:spPr>
          <a:ln/>
        </p:spPr>
      </p:sp>
      <p:sp>
        <p:nvSpPr>
          <p:cNvPr id="53251" name="Rectangle 2">
            <a:extLst>
              <a:ext uri="{FF2B5EF4-FFF2-40B4-BE49-F238E27FC236}">
                <a16:creationId xmlns="" xmlns:a16="http://schemas.microsoft.com/office/drawing/2014/main" id="{19773CE5-EE08-472C-B0FA-F2F87CB2707D}"/>
              </a:ext>
            </a:extLst>
          </p:cNvPr>
          <p:cNvSpPr txBox="1">
            <a:spLocks noGrp="1" noChangeArrowheads="1"/>
          </p:cNvSpPr>
          <p:nvPr>
            <p:ph type="body" idx="1"/>
          </p:nvPr>
        </p:nvSpPr>
        <p:spPr>
          <a:xfrm>
            <a:off x="987425" y="3228975"/>
            <a:ext cx="7899400" cy="306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ltLang="fr-F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 xmlns:a16="http://schemas.microsoft.com/office/drawing/2014/main" id="{389CCAC5-D008-4625-9654-27239F47A4C7}"/>
              </a:ext>
            </a:extLst>
          </p:cNvPr>
          <p:cNvSpPr>
            <a:spLocks noGrp="1" noRot="1" noChangeAspect="1" noChangeArrowheads="1" noTextEdit="1"/>
          </p:cNvSpPr>
          <p:nvPr>
            <p:ph type="sldImg"/>
          </p:nvPr>
        </p:nvSpPr>
        <p:spPr>
          <a:noFill/>
          <a:ln/>
          <a:extLst>
            <a:ext uri="{909E8E84-426E-40DD-AFC4-6F175D3DCCD1}">
              <a14:hiddenFill xmlns:a14="http://schemas.microsoft.com/office/drawing/2010/main">
                <a:solidFill>
                  <a:srgbClr val="FFFFFF"/>
                </a:solidFill>
              </a14:hiddenFill>
            </a:ext>
          </a:extLst>
        </p:spPr>
      </p:sp>
      <p:sp>
        <p:nvSpPr>
          <p:cNvPr id="56323" name="Rectangle 3">
            <a:extLst>
              <a:ext uri="{FF2B5EF4-FFF2-40B4-BE49-F238E27FC236}">
                <a16:creationId xmlns="" xmlns:a16="http://schemas.microsoft.com/office/drawing/2014/main" id="{1711700A-ABF3-4D2D-AD0D-C926830904A0}"/>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 xmlns:a16="http://schemas.microsoft.com/office/drawing/2014/main" id="{D9FF5ACF-3124-4EF0-8BA3-F2AA8244007D}"/>
              </a:ext>
            </a:extLst>
          </p:cNvPr>
          <p:cNvSpPr>
            <a:spLocks noGrp="1" noRot="1" noChangeAspect="1" noChangeArrowheads="1" noTextEdit="1"/>
          </p:cNvSpPr>
          <p:nvPr>
            <p:ph type="sldImg"/>
          </p:nvPr>
        </p:nvSpPr>
        <p:spPr>
          <a:noFill/>
          <a:ln/>
          <a:extLst>
            <a:ext uri="{909E8E84-426E-40DD-AFC4-6F175D3DCCD1}">
              <a14:hiddenFill xmlns:a14="http://schemas.microsoft.com/office/drawing/2010/main">
                <a:solidFill>
                  <a:srgbClr val="FFFFFF"/>
                </a:solidFill>
              </a14:hiddenFill>
            </a:ext>
          </a:extLst>
        </p:spPr>
      </p:sp>
      <p:sp>
        <p:nvSpPr>
          <p:cNvPr id="58371" name="Rectangle 3">
            <a:extLst>
              <a:ext uri="{FF2B5EF4-FFF2-40B4-BE49-F238E27FC236}">
                <a16:creationId xmlns="" xmlns:a16="http://schemas.microsoft.com/office/drawing/2014/main" id="{BB4526EB-C5E2-4B0F-B0B9-E4653BC971AA}"/>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 xmlns:a16="http://schemas.microsoft.com/office/drawing/2014/main" id="{128E34FF-7CE4-4EA9-829C-0AAA302B4EC5}"/>
              </a:ext>
            </a:extLst>
          </p:cNvPr>
          <p:cNvSpPr>
            <a:spLocks noGrp="1" noRot="1" noChangeAspect="1" noChangeArrowheads="1" noTextEdit="1"/>
          </p:cNvSpPr>
          <p:nvPr>
            <p:ph type="sldImg"/>
          </p:nvPr>
        </p:nvSpPr>
        <p:spPr>
          <a:ln/>
        </p:spPr>
      </p:sp>
      <p:sp>
        <p:nvSpPr>
          <p:cNvPr id="60419" name="Rectangle 3">
            <a:extLst>
              <a:ext uri="{FF2B5EF4-FFF2-40B4-BE49-F238E27FC236}">
                <a16:creationId xmlns="" xmlns:a16="http://schemas.microsoft.com/office/drawing/2014/main" id="{10FF418D-4832-4788-8BFD-58A57FBC623C}"/>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Times"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7C7B92-7A39-4F7C-8DBD-5F0DD7255D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 xmlns:a16="http://schemas.microsoft.com/office/drawing/2014/main" id="{5659B41D-DCD0-43D2-AE82-023041047A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 xmlns:a16="http://schemas.microsoft.com/office/drawing/2014/main" id="{13948983-53A8-4B20-B401-F19CB5D734BE}"/>
              </a:ext>
            </a:extLst>
          </p:cNvPr>
          <p:cNvSpPr>
            <a:spLocks noGrp="1"/>
          </p:cNvSpPr>
          <p:nvPr>
            <p:ph type="dt" sz="half" idx="10"/>
          </p:nvPr>
        </p:nvSpPr>
        <p:spPr/>
        <p:txBody>
          <a:bodyPr/>
          <a:lstStyle/>
          <a:p>
            <a:fld id="{FD460391-E66A-4B80-9AD6-5794A6FBA82D}" type="datetime1">
              <a:rPr lang="fr-FR" smtClean="0"/>
              <a:pPr/>
              <a:t>05/03/2024</a:t>
            </a:fld>
            <a:endParaRPr lang="fr-FR"/>
          </a:p>
        </p:txBody>
      </p:sp>
      <p:sp>
        <p:nvSpPr>
          <p:cNvPr id="5" name="Footer Placeholder 4">
            <a:extLst>
              <a:ext uri="{FF2B5EF4-FFF2-40B4-BE49-F238E27FC236}">
                <a16:creationId xmlns="" xmlns:a16="http://schemas.microsoft.com/office/drawing/2014/main" id="{BF8F1E84-4BE4-42A0-BED5-52677B91A94B}"/>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 xmlns:a16="http://schemas.microsoft.com/office/drawing/2014/main" id="{2799E9B6-9AA9-43C7-A223-4FC3E082BFDB}"/>
              </a:ext>
            </a:extLst>
          </p:cNvPr>
          <p:cNvSpPr>
            <a:spLocks noGrp="1"/>
          </p:cNvSpPr>
          <p:nvPr>
            <p:ph type="sldNum" sz="quarter" idx="12"/>
          </p:nvPr>
        </p:nvSpPr>
        <p:spPr/>
        <p:txBody>
          <a:bodyPr/>
          <a:lstStyle/>
          <a:p>
            <a:fld id="{EE5DF52D-0FE0-4249-9023-8B500BDB729B}" type="slidenum">
              <a:rPr lang="fr-FR" smtClean="0"/>
              <a:pPr/>
              <a:t>‹N°›</a:t>
            </a:fld>
            <a:endParaRPr lang="fr-FR"/>
          </a:p>
        </p:txBody>
      </p:sp>
    </p:spTree>
    <p:extLst>
      <p:ext uri="{BB962C8B-B14F-4D97-AF65-F5344CB8AC3E}">
        <p14:creationId xmlns:p14="http://schemas.microsoft.com/office/powerpoint/2010/main" val="2510220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6382DDF-D322-4C5B-9C40-F2984F86E4C3}"/>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 xmlns:a16="http://schemas.microsoft.com/office/drawing/2014/main" id="{BB0173E8-1616-4BE5-99B6-6C7B757F37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 xmlns:a16="http://schemas.microsoft.com/office/drawing/2014/main" id="{01AE0059-6722-4E34-A987-BF02F516776E}"/>
              </a:ext>
            </a:extLst>
          </p:cNvPr>
          <p:cNvSpPr>
            <a:spLocks noGrp="1"/>
          </p:cNvSpPr>
          <p:nvPr>
            <p:ph type="dt" sz="half" idx="10"/>
          </p:nvPr>
        </p:nvSpPr>
        <p:spPr/>
        <p:txBody>
          <a:bodyPr/>
          <a:lstStyle/>
          <a:p>
            <a:fld id="{2F64C90B-C66A-46E8-8131-D4AC1D21A5DA}" type="datetime1">
              <a:rPr lang="fr-FR" smtClean="0"/>
              <a:pPr/>
              <a:t>05/03/2024</a:t>
            </a:fld>
            <a:endParaRPr lang="fr-FR"/>
          </a:p>
        </p:txBody>
      </p:sp>
      <p:sp>
        <p:nvSpPr>
          <p:cNvPr id="5" name="Footer Placeholder 4">
            <a:extLst>
              <a:ext uri="{FF2B5EF4-FFF2-40B4-BE49-F238E27FC236}">
                <a16:creationId xmlns="" xmlns:a16="http://schemas.microsoft.com/office/drawing/2014/main" id="{89399EFD-FE5F-4D5C-A756-E070F53E0833}"/>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 xmlns:a16="http://schemas.microsoft.com/office/drawing/2014/main" id="{3DDE4B5B-C34E-4B46-9AE0-A647F33F975C}"/>
              </a:ext>
            </a:extLst>
          </p:cNvPr>
          <p:cNvSpPr>
            <a:spLocks noGrp="1"/>
          </p:cNvSpPr>
          <p:nvPr>
            <p:ph type="sldNum" sz="quarter" idx="12"/>
          </p:nvPr>
        </p:nvSpPr>
        <p:spPr/>
        <p:txBody>
          <a:bodyPr/>
          <a:lstStyle/>
          <a:p>
            <a:fld id="{EE5DF52D-0FE0-4249-9023-8B500BDB729B}" type="slidenum">
              <a:rPr lang="fr-FR" smtClean="0"/>
              <a:pPr/>
              <a:t>‹N°›</a:t>
            </a:fld>
            <a:endParaRPr lang="fr-FR"/>
          </a:p>
        </p:txBody>
      </p:sp>
    </p:spTree>
    <p:extLst>
      <p:ext uri="{BB962C8B-B14F-4D97-AF65-F5344CB8AC3E}">
        <p14:creationId xmlns:p14="http://schemas.microsoft.com/office/powerpoint/2010/main" val="3698682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0A5EF36-0BA5-4BAE-BB97-0948D4C5A1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 xmlns:a16="http://schemas.microsoft.com/office/drawing/2014/main" id="{9D1EEFD0-9929-4DC0-8607-F616FB04BF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D1CA983F-4511-4270-BABC-320C73D163F6}"/>
              </a:ext>
            </a:extLst>
          </p:cNvPr>
          <p:cNvSpPr>
            <a:spLocks noGrp="1"/>
          </p:cNvSpPr>
          <p:nvPr>
            <p:ph type="dt" sz="half" idx="10"/>
          </p:nvPr>
        </p:nvSpPr>
        <p:spPr/>
        <p:txBody>
          <a:bodyPr/>
          <a:lstStyle/>
          <a:p>
            <a:fld id="{19F6D913-1995-49DB-B07F-9DF0DC13DCB7}" type="datetime1">
              <a:rPr lang="fr-FR" smtClean="0"/>
              <a:pPr/>
              <a:t>05/03/2024</a:t>
            </a:fld>
            <a:endParaRPr lang="fr-FR"/>
          </a:p>
        </p:txBody>
      </p:sp>
      <p:sp>
        <p:nvSpPr>
          <p:cNvPr id="5" name="Footer Placeholder 4">
            <a:extLst>
              <a:ext uri="{FF2B5EF4-FFF2-40B4-BE49-F238E27FC236}">
                <a16:creationId xmlns="" xmlns:a16="http://schemas.microsoft.com/office/drawing/2014/main" id="{77AA8927-6FFF-4F0E-A50D-A394B36CDAE2}"/>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 xmlns:a16="http://schemas.microsoft.com/office/drawing/2014/main" id="{9D20CA4B-BD7D-4305-8DD3-130B3857F097}"/>
              </a:ext>
            </a:extLst>
          </p:cNvPr>
          <p:cNvSpPr>
            <a:spLocks noGrp="1"/>
          </p:cNvSpPr>
          <p:nvPr>
            <p:ph type="sldNum" sz="quarter" idx="12"/>
          </p:nvPr>
        </p:nvSpPr>
        <p:spPr/>
        <p:txBody>
          <a:bodyPr/>
          <a:lstStyle/>
          <a:p>
            <a:fld id="{EE5DF52D-0FE0-4249-9023-8B500BDB729B}" type="slidenum">
              <a:rPr lang="fr-FR" smtClean="0"/>
              <a:pPr/>
              <a:t>‹N°›</a:t>
            </a:fld>
            <a:endParaRPr lang="fr-FR"/>
          </a:p>
        </p:txBody>
      </p:sp>
    </p:spTree>
    <p:extLst>
      <p:ext uri="{BB962C8B-B14F-4D97-AF65-F5344CB8AC3E}">
        <p14:creationId xmlns:p14="http://schemas.microsoft.com/office/powerpoint/2010/main" val="4049171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A01C28-4477-4653-90C2-5B545B11EBA9}"/>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 xmlns:a16="http://schemas.microsoft.com/office/drawing/2014/main" id="{EF8BC44A-EE67-49FD-9E65-1600A0896C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 xmlns:a16="http://schemas.microsoft.com/office/drawing/2014/main" id="{05F5ACB9-3AE3-425C-8422-3CE5AFDE1B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 xmlns:a16="http://schemas.microsoft.com/office/drawing/2014/main" id="{4F60FECB-929F-40A1-A58F-ACFE6211BC1A}"/>
              </a:ext>
            </a:extLst>
          </p:cNvPr>
          <p:cNvSpPr>
            <a:spLocks noGrp="1"/>
          </p:cNvSpPr>
          <p:nvPr>
            <p:ph type="dt" sz="half" idx="10"/>
          </p:nvPr>
        </p:nvSpPr>
        <p:spPr/>
        <p:txBody>
          <a:bodyPr/>
          <a:lstStyle/>
          <a:p>
            <a:fld id="{67F51F0A-68CC-4EA7-B169-9519570FC8C5}" type="datetime1">
              <a:rPr lang="fr-FR" smtClean="0"/>
              <a:pPr/>
              <a:t>05/03/2024</a:t>
            </a:fld>
            <a:endParaRPr lang="fr-FR"/>
          </a:p>
        </p:txBody>
      </p:sp>
      <p:sp>
        <p:nvSpPr>
          <p:cNvPr id="6" name="Footer Placeholder 5">
            <a:extLst>
              <a:ext uri="{FF2B5EF4-FFF2-40B4-BE49-F238E27FC236}">
                <a16:creationId xmlns="" xmlns:a16="http://schemas.microsoft.com/office/drawing/2014/main" id="{D67DCDB5-865D-41C1-8678-9EC78526D06A}"/>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 xmlns:a16="http://schemas.microsoft.com/office/drawing/2014/main" id="{2F3470E7-BAFE-46A6-A5BF-7F951BACC9A0}"/>
              </a:ext>
            </a:extLst>
          </p:cNvPr>
          <p:cNvSpPr>
            <a:spLocks noGrp="1"/>
          </p:cNvSpPr>
          <p:nvPr>
            <p:ph type="sldNum" sz="quarter" idx="12"/>
          </p:nvPr>
        </p:nvSpPr>
        <p:spPr/>
        <p:txBody>
          <a:bodyPr/>
          <a:lstStyle/>
          <a:p>
            <a:fld id="{EE5DF52D-0FE0-4249-9023-8B500BDB729B}" type="slidenum">
              <a:rPr lang="fr-FR" smtClean="0"/>
              <a:pPr/>
              <a:t>‹N°›</a:t>
            </a:fld>
            <a:endParaRPr lang="fr-FR"/>
          </a:p>
        </p:txBody>
      </p:sp>
    </p:spTree>
    <p:extLst>
      <p:ext uri="{BB962C8B-B14F-4D97-AF65-F5344CB8AC3E}">
        <p14:creationId xmlns:p14="http://schemas.microsoft.com/office/powerpoint/2010/main" val="4114178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C4E7CC-3AED-43AF-B3C7-AA7840CE2B57}"/>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 xmlns:a16="http://schemas.microsoft.com/office/drawing/2014/main" id="{D92434C9-E065-47CE-B45F-8DA33B0C74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4E8ED822-7C3E-474C-B6B8-C3B1E9680E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 xmlns:a16="http://schemas.microsoft.com/office/drawing/2014/main" id="{F39D83D8-2224-4404-AF6E-B06F438719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CC587197-E1A4-4D44-AFA9-A911701BE5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 xmlns:a16="http://schemas.microsoft.com/office/drawing/2014/main" id="{212560DA-E67A-481C-AB7D-701587D145DF}"/>
              </a:ext>
            </a:extLst>
          </p:cNvPr>
          <p:cNvSpPr>
            <a:spLocks noGrp="1"/>
          </p:cNvSpPr>
          <p:nvPr>
            <p:ph type="dt" sz="half" idx="10"/>
          </p:nvPr>
        </p:nvSpPr>
        <p:spPr/>
        <p:txBody>
          <a:bodyPr/>
          <a:lstStyle/>
          <a:p>
            <a:fld id="{ED9BB951-0707-44B2-ADF8-88E17136369B}" type="datetime1">
              <a:rPr lang="fr-FR" smtClean="0"/>
              <a:pPr/>
              <a:t>05/03/2024</a:t>
            </a:fld>
            <a:endParaRPr lang="fr-FR"/>
          </a:p>
        </p:txBody>
      </p:sp>
      <p:sp>
        <p:nvSpPr>
          <p:cNvPr id="8" name="Footer Placeholder 7">
            <a:extLst>
              <a:ext uri="{FF2B5EF4-FFF2-40B4-BE49-F238E27FC236}">
                <a16:creationId xmlns="" xmlns:a16="http://schemas.microsoft.com/office/drawing/2014/main" id="{FBC6D9FA-2AE7-4C43-AF95-F17DEF6EFB87}"/>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 xmlns:a16="http://schemas.microsoft.com/office/drawing/2014/main" id="{A65BC23D-ACEE-41E5-AE22-A3032FCDF0C0}"/>
              </a:ext>
            </a:extLst>
          </p:cNvPr>
          <p:cNvSpPr>
            <a:spLocks noGrp="1"/>
          </p:cNvSpPr>
          <p:nvPr>
            <p:ph type="sldNum" sz="quarter" idx="12"/>
          </p:nvPr>
        </p:nvSpPr>
        <p:spPr/>
        <p:txBody>
          <a:bodyPr/>
          <a:lstStyle/>
          <a:p>
            <a:fld id="{EE5DF52D-0FE0-4249-9023-8B500BDB729B}" type="slidenum">
              <a:rPr lang="fr-FR" smtClean="0"/>
              <a:pPr/>
              <a:t>‹N°›</a:t>
            </a:fld>
            <a:endParaRPr lang="fr-FR"/>
          </a:p>
        </p:txBody>
      </p:sp>
    </p:spTree>
    <p:extLst>
      <p:ext uri="{BB962C8B-B14F-4D97-AF65-F5344CB8AC3E}">
        <p14:creationId xmlns:p14="http://schemas.microsoft.com/office/powerpoint/2010/main" val="267489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5D6885-0E7C-4365-9DAE-1986DA61E20B}"/>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 xmlns:a16="http://schemas.microsoft.com/office/drawing/2014/main" id="{1E8183C3-4043-4597-9E0F-0567C6DB4346}"/>
              </a:ext>
            </a:extLst>
          </p:cNvPr>
          <p:cNvSpPr>
            <a:spLocks noGrp="1"/>
          </p:cNvSpPr>
          <p:nvPr>
            <p:ph type="dt" sz="half" idx="10"/>
          </p:nvPr>
        </p:nvSpPr>
        <p:spPr/>
        <p:txBody>
          <a:bodyPr/>
          <a:lstStyle/>
          <a:p>
            <a:fld id="{E1A4BF57-19E3-4DB0-B531-0F581EFF6C90}" type="datetime1">
              <a:rPr lang="fr-FR" smtClean="0"/>
              <a:pPr/>
              <a:t>05/03/2024</a:t>
            </a:fld>
            <a:endParaRPr lang="fr-FR"/>
          </a:p>
        </p:txBody>
      </p:sp>
      <p:sp>
        <p:nvSpPr>
          <p:cNvPr id="4" name="Footer Placeholder 3">
            <a:extLst>
              <a:ext uri="{FF2B5EF4-FFF2-40B4-BE49-F238E27FC236}">
                <a16:creationId xmlns="" xmlns:a16="http://schemas.microsoft.com/office/drawing/2014/main" id="{09CD8FD7-CFBD-45F5-82C7-9EE9BA3644AC}"/>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 xmlns:a16="http://schemas.microsoft.com/office/drawing/2014/main" id="{C40A1DCE-C1A5-49F5-8B4F-42FB32B514A8}"/>
              </a:ext>
            </a:extLst>
          </p:cNvPr>
          <p:cNvSpPr>
            <a:spLocks noGrp="1"/>
          </p:cNvSpPr>
          <p:nvPr>
            <p:ph type="sldNum" sz="quarter" idx="12"/>
          </p:nvPr>
        </p:nvSpPr>
        <p:spPr/>
        <p:txBody>
          <a:bodyPr/>
          <a:lstStyle/>
          <a:p>
            <a:fld id="{EE5DF52D-0FE0-4249-9023-8B500BDB729B}" type="slidenum">
              <a:rPr lang="fr-FR" smtClean="0"/>
              <a:pPr/>
              <a:t>‹N°›</a:t>
            </a:fld>
            <a:endParaRPr lang="fr-FR"/>
          </a:p>
        </p:txBody>
      </p:sp>
    </p:spTree>
    <p:extLst>
      <p:ext uri="{BB962C8B-B14F-4D97-AF65-F5344CB8AC3E}">
        <p14:creationId xmlns:p14="http://schemas.microsoft.com/office/powerpoint/2010/main" val="2845365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92670609-D85C-4F25-B20E-BD107692CAC0}"/>
              </a:ext>
            </a:extLst>
          </p:cNvPr>
          <p:cNvSpPr>
            <a:spLocks noGrp="1"/>
          </p:cNvSpPr>
          <p:nvPr>
            <p:ph type="dt" sz="half" idx="10"/>
          </p:nvPr>
        </p:nvSpPr>
        <p:spPr/>
        <p:txBody>
          <a:bodyPr/>
          <a:lstStyle/>
          <a:p>
            <a:fld id="{3B87C575-CD73-4905-B7BE-BA1ADE5B8248}" type="datetime1">
              <a:rPr lang="fr-FR" smtClean="0"/>
              <a:pPr/>
              <a:t>05/03/2024</a:t>
            </a:fld>
            <a:endParaRPr lang="fr-FR"/>
          </a:p>
        </p:txBody>
      </p:sp>
      <p:sp>
        <p:nvSpPr>
          <p:cNvPr id="3" name="Footer Placeholder 2">
            <a:extLst>
              <a:ext uri="{FF2B5EF4-FFF2-40B4-BE49-F238E27FC236}">
                <a16:creationId xmlns="" xmlns:a16="http://schemas.microsoft.com/office/drawing/2014/main" id="{7F97CB07-FA49-4A73-99D1-E182F1477F3A}"/>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 xmlns:a16="http://schemas.microsoft.com/office/drawing/2014/main" id="{A1BCAC27-83DC-4278-8BAA-01A68F26F8CD}"/>
              </a:ext>
            </a:extLst>
          </p:cNvPr>
          <p:cNvSpPr>
            <a:spLocks noGrp="1"/>
          </p:cNvSpPr>
          <p:nvPr>
            <p:ph type="sldNum" sz="quarter" idx="12"/>
          </p:nvPr>
        </p:nvSpPr>
        <p:spPr/>
        <p:txBody>
          <a:bodyPr/>
          <a:lstStyle/>
          <a:p>
            <a:fld id="{EE5DF52D-0FE0-4249-9023-8B500BDB729B}" type="slidenum">
              <a:rPr lang="fr-FR" smtClean="0"/>
              <a:pPr/>
              <a:t>‹N°›</a:t>
            </a:fld>
            <a:endParaRPr lang="fr-FR"/>
          </a:p>
        </p:txBody>
      </p:sp>
    </p:spTree>
    <p:extLst>
      <p:ext uri="{BB962C8B-B14F-4D97-AF65-F5344CB8AC3E}">
        <p14:creationId xmlns:p14="http://schemas.microsoft.com/office/powerpoint/2010/main" val="2773796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4AC638A-C2CA-4F0E-B91B-444990D89F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 xmlns:a16="http://schemas.microsoft.com/office/drawing/2014/main" id="{0427727A-45F3-4A13-97C6-25BA2CDF6C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 xmlns:a16="http://schemas.microsoft.com/office/drawing/2014/main" id="{EEF79808-0282-4E03-AF56-D6F843DB89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E556CADB-9D0C-4EAB-A38F-480B27640CB3}"/>
              </a:ext>
            </a:extLst>
          </p:cNvPr>
          <p:cNvSpPr>
            <a:spLocks noGrp="1"/>
          </p:cNvSpPr>
          <p:nvPr>
            <p:ph type="dt" sz="half" idx="10"/>
          </p:nvPr>
        </p:nvSpPr>
        <p:spPr/>
        <p:txBody>
          <a:bodyPr/>
          <a:lstStyle/>
          <a:p>
            <a:fld id="{3D3CD3B2-06D7-47A6-AB8E-AD7A30BEA6A0}" type="datetime1">
              <a:rPr lang="fr-FR" smtClean="0"/>
              <a:pPr/>
              <a:t>05/03/2024</a:t>
            </a:fld>
            <a:endParaRPr lang="fr-FR"/>
          </a:p>
        </p:txBody>
      </p:sp>
      <p:sp>
        <p:nvSpPr>
          <p:cNvPr id="6" name="Footer Placeholder 5">
            <a:extLst>
              <a:ext uri="{FF2B5EF4-FFF2-40B4-BE49-F238E27FC236}">
                <a16:creationId xmlns="" xmlns:a16="http://schemas.microsoft.com/office/drawing/2014/main" id="{112FDE94-2ECD-4E1D-B219-78683572138F}"/>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 xmlns:a16="http://schemas.microsoft.com/office/drawing/2014/main" id="{7BC1456F-F7E2-473B-B995-96690ADE5DCA}"/>
              </a:ext>
            </a:extLst>
          </p:cNvPr>
          <p:cNvSpPr>
            <a:spLocks noGrp="1"/>
          </p:cNvSpPr>
          <p:nvPr>
            <p:ph type="sldNum" sz="quarter" idx="12"/>
          </p:nvPr>
        </p:nvSpPr>
        <p:spPr/>
        <p:txBody>
          <a:bodyPr/>
          <a:lstStyle/>
          <a:p>
            <a:fld id="{EE5DF52D-0FE0-4249-9023-8B500BDB729B}" type="slidenum">
              <a:rPr lang="fr-FR" smtClean="0"/>
              <a:pPr/>
              <a:t>‹N°›</a:t>
            </a:fld>
            <a:endParaRPr lang="fr-FR"/>
          </a:p>
        </p:txBody>
      </p:sp>
    </p:spTree>
    <p:extLst>
      <p:ext uri="{BB962C8B-B14F-4D97-AF65-F5344CB8AC3E}">
        <p14:creationId xmlns:p14="http://schemas.microsoft.com/office/powerpoint/2010/main" val="1010355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1D1567-761F-428A-A19A-24331C89D1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 xmlns:a16="http://schemas.microsoft.com/office/drawing/2014/main" id="{203D08AA-5629-4FBA-AC0C-AE03CEEC4D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 xmlns:a16="http://schemas.microsoft.com/office/drawing/2014/main" id="{3A69F6F7-24D1-43F4-9C54-8F612A9E73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17265500-1E18-4E7D-8FF2-83B27D5BF00E}"/>
              </a:ext>
            </a:extLst>
          </p:cNvPr>
          <p:cNvSpPr>
            <a:spLocks noGrp="1"/>
          </p:cNvSpPr>
          <p:nvPr>
            <p:ph type="dt" sz="half" idx="10"/>
          </p:nvPr>
        </p:nvSpPr>
        <p:spPr/>
        <p:txBody>
          <a:bodyPr/>
          <a:lstStyle/>
          <a:p>
            <a:fld id="{6C7CAC70-C203-40F9-BC8E-DB700B8465CC}" type="datetime1">
              <a:rPr lang="fr-FR" smtClean="0"/>
              <a:pPr/>
              <a:t>05/03/2024</a:t>
            </a:fld>
            <a:endParaRPr lang="fr-FR"/>
          </a:p>
        </p:txBody>
      </p:sp>
      <p:sp>
        <p:nvSpPr>
          <p:cNvPr id="6" name="Footer Placeholder 5">
            <a:extLst>
              <a:ext uri="{FF2B5EF4-FFF2-40B4-BE49-F238E27FC236}">
                <a16:creationId xmlns="" xmlns:a16="http://schemas.microsoft.com/office/drawing/2014/main" id="{14D4ACE2-8675-4A55-8095-792140A5AD86}"/>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 xmlns:a16="http://schemas.microsoft.com/office/drawing/2014/main" id="{2A38DEAE-ABFF-4D20-9959-96210C0E1C42}"/>
              </a:ext>
            </a:extLst>
          </p:cNvPr>
          <p:cNvSpPr>
            <a:spLocks noGrp="1"/>
          </p:cNvSpPr>
          <p:nvPr>
            <p:ph type="sldNum" sz="quarter" idx="12"/>
          </p:nvPr>
        </p:nvSpPr>
        <p:spPr/>
        <p:txBody>
          <a:bodyPr/>
          <a:lstStyle/>
          <a:p>
            <a:fld id="{EE5DF52D-0FE0-4249-9023-8B500BDB729B}" type="slidenum">
              <a:rPr lang="fr-FR" smtClean="0"/>
              <a:pPr/>
              <a:t>‹N°›</a:t>
            </a:fld>
            <a:endParaRPr lang="fr-FR"/>
          </a:p>
        </p:txBody>
      </p:sp>
    </p:spTree>
    <p:extLst>
      <p:ext uri="{BB962C8B-B14F-4D97-AF65-F5344CB8AC3E}">
        <p14:creationId xmlns:p14="http://schemas.microsoft.com/office/powerpoint/2010/main" val="3417592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0A192C5-6604-4693-8915-B64AD91C43A6}"/>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 xmlns:a16="http://schemas.microsoft.com/office/drawing/2014/main" id="{DCBEB0DA-12C3-4253-8DA6-E7DFED2041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 xmlns:a16="http://schemas.microsoft.com/office/drawing/2014/main" id="{0984929E-1421-4336-960C-6C5FFC261511}"/>
              </a:ext>
            </a:extLst>
          </p:cNvPr>
          <p:cNvSpPr>
            <a:spLocks noGrp="1"/>
          </p:cNvSpPr>
          <p:nvPr>
            <p:ph type="dt" sz="half" idx="10"/>
          </p:nvPr>
        </p:nvSpPr>
        <p:spPr/>
        <p:txBody>
          <a:bodyPr/>
          <a:lstStyle/>
          <a:p>
            <a:fld id="{0E685BDC-8894-4306-8394-6F8E8F21936A}" type="datetime1">
              <a:rPr lang="fr-FR" smtClean="0"/>
              <a:pPr/>
              <a:t>05/03/2024</a:t>
            </a:fld>
            <a:endParaRPr lang="fr-FR"/>
          </a:p>
        </p:txBody>
      </p:sp>
      <p:sp>
        <p:nvSpPr>
          <p:cNvPr id="5" name="Footer Placeholder 4">
            <a:extLst>
              <a:ext uri="{FF2B5EF4-FFF2-40B4-BE49-F238E27FC236}">
                <a16:creationId xmlns="" xmlns:a16="http://schemas.microsoft.com/office/drawing/2014/main" id="{0FFCBE8B-C583-4BED-8123-634B641F382D}"/>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 xmlns:a16="http://schemas.microsoft.com/office/drawing/2014/main" id="{146714F1-80FF-4E87-97A5-839149FE997F}"/>
              </a:ext>
            </a:extLst>
          </p:cNvPr>
          <p:cNvSpPr>
            <a:spLocks noGrp="1"/>
          </p:cNvSpPr>
          <p:nvPr>
            <p:ph type="sldNum" sz="quarter" idx="12"/>
          </p:nvPr>
        </p:nvSpPr>
        <p:spPr/>
        <p:txBody>
          <a:bodyPr/>
          <a:lstStyle/>
          <a:p>
            <a:fld id="{EE5DF52D-0FE0-4249-9023-8B500BDB729B}" type="slidenum">
              <a:rPr lang="fr-FR" smtClean="0"/>
              <a:pPr/>
              <a:t>‹N°›</a:t>
            </a:fld>
            <a:endParaRPr lang="fr-FR"/>
          </a:p>
        </p:txBody>
      </p:sp>
    </p:spTree>
    <p:extLst>
      <p:ext uri="{BB962C8B-B14F-4D97-AF65-F5344CB8AC3E}">
        <p14:creationId xmlns:p14="http://schemas.microsoft.com/office/powerpoint/2010/main" val="2606848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184A5951-3DC7-4894-8088-A1073BD05C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 xmlns:a16="http://schemas.microsoft.com/office/drawing/2014/main" id="{DD9891CE-91FB-4B36-885D-4C9F61EC80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 xmlns:a16="http://schemas.microsoft.com/office/drawing/2014/main" id="{D1FD18E7-5299-4C30-87FB-0309639842A1}"/>
              </a:ext>
            </a:extLst>
          </p:cNvPr>
          <p:cNvSpPr>
            <a:spLocks noGrp="1"/>
          </p:cNvSpPr>
          <p:nvPr>
            <p:ph type="dt" sz="half" idx="10"/>
          </p:nvPr>
        </p:nvSpPr>
        <p:spPr/>
        <p:txBody>
          <a:bodyPr/>
          <a:lstStyle/>
          <a:p>
            <a:fld id="{B65A3FFE-0AFD-4A49-B300-6EE3C3C7ACE4}" type="datetime1">
              <a:rPr lang="fr-FR" smtClean="0"/>
              <a:pPr/>
              <a:t>05/03/2024</a:t>
            </a:fld>
            <a:endParaRPr lang="fr-FR"/>
          </a:p>
        </p:txBody>
      </p:sp>
      <p:sp>
        <p:nvSpPr>
          <p:cNvPr id="5" name="Footer Placeholder 4">
            <a:extLst>
              <a:ext uri="{FF2B5EF4-FFF2-40B4-BE49-F238E27FC236}">
                <a16:creationId xmlns="" xmlns:a16="http://schemas.microsoft.com/office/drawing/2014/main" id="{3AFAE5EE-FC5D-4012-9CD9-20FC0A131EF7}"/>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 xmlns:a16="http://schemas.microsoft.com/office/drawing/2014/main" id="{1A67315F-47A2-4DDD-A6A1-ADD852355CB4}"/>
              </a:ext>
            </a:extLst>
          </p:cNvPr>
          <p:cNvSpPr>
            <a:spLocks noGrp="1"/>
          </p:cNvSpPr>
          <p:nvPr>
            <p:ph type="sldNum" sz="quarter" idx="12"/>
          </p:nvPr>
        </p:nvSpPr>
        <p:spPr/>
        <p:txBody>
          <a:bodyPr/>
          <a:lstStyle/>
          <a:p>
            <a:fld id="{EE5DF52D-0FE0-4249-9023-8B500BDB729B}" type="slidenum">
              <a:rPr lang="fr-FR" smtClean="0"/>
              <a:pPr/>
              <a:t>‹N°›</a:t>
            </a:fld>
            <a:endParaRPr lang="fr-FR"/>
          </a:p>
        </p:txBody>
      </p:sp>
    </p:spTree>
    <p:extLst>
      <p:ext uri="{BB962C8B-B14F-4D97-AF65-F5344CB8AC3E}">
        <p14:creationId xmlns:p14="http://schemas.microsoft.com/office/powerpoint/2010/main" val="3310382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609601" y="142876"/>
            <a:ext cx="10970684" cy="1406525"/>
          </a:xfrm>
        </p:spPr>
        <p:txBody>
          <a:bodyPr/>
          <a:lstStyle/>
          <a:p>
            <a:r>
              <a:rPr lang="fr-FR"/>
              <a:t>Cliquez pour modifier le style du titre</a:t>
            </a:r>
          </a:p>
        </p:txBody>
      </p:sp>
      <p:sp>
        <p:nvSpPr>
          <p:cNvPr id="3" name="Espace réservé du texte 2"/>
          <p:cNvSpPr>
            <a:spLocks noGrp="1"/>
          </p:cNvSpPr>
          <p:nvPr>
            <p:ph type="body" sz="half" idx="1"/>
          </p:nvPr>
        </p:nvSpPr>
        <p:spPr>
          <a:xfrm>
            <a:off x="609601" y="1600201"/>
            <a:ext cx="5382684" cy="452437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95484" y="1600201"/>
            <a:ext cx="5384800" cy="452437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225900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EDA82155-618A-4080-BE96-EC775A3D98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 xmlns:a16="http://schemas.microsoft.com/office/drawing/2014/main" id="{26F2C8FF-0877-43F1-A3F0-D09B1E9819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 xmlns:a16="http://schemas.microsoft.com/office/drawing/2014/main" id="{5291DCCD-05C9-4AD5-9B1F-7DC49FF22D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5D7AD0-B322-4E6B-BC41-FA4D33D4AFA9}" type="datetime1">
              <a:rPr lang="fr-FR" smtClean="0"/>
              <a:pPr/>
              <a:t>05/03/2024</a:t>
            </a:fld>
            <a:endParaRPr lang="fr-FR"/>
          </a:p>
        </p:txBody>
      </p:sp>
      <p:sp>
        <p:nvSpPr>
          <p:cNvPr id="5" name="Footer Placeholder 4">
            <a:extLst>
              <a:ext uri="{FF2B5EF4-FFF2-40B4-BE49-F238E27FC236}">
                <a16:creationId xmlns="" xmlns:a16="http://schemas.microsoft.com/office/drawing/2014/main" id="{9D03A436-7F12-4916-A4CB-60364A7CD5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a:extLst>
              <a:ext uri="{FF2B5EF4-FFF2-40B4-BE49-F238E27FC236}">
                <a16:creationId xmlns="" xmlns:a16="http://schemas.microsoft.com/office/drawing/2014/main" id="{C373B3C2-D433-49C6-8E68-2C38243CDB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5DF52D-0FE0-4249-9023-8B500BDB729B}" type="slidenum">
              <a:rPr lang="fr-FR" smtClean="0"/>
              <a:pPr/>
              <a:t>‹N°›</a:t>
            </a:fld>
            <a:endParaRPr lang="fr-FR"/>
          </a:p>
        </p:txBody>
      </p:sp>
    </p:spTree>
    <p:extLst>
      <p:ext uri="{BB962C8B-B14F-4D97-AF65-F5344CB8AC3E}">
        <p14:creationId xmlns:p14="http://schemas.microsoft.com/office/powerpoint/2010/main" val="2150126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slide" Target="slide21.xml"/></Relationships>
</file>

<file path=ppt/slides/_rels/slide2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slide" Target="slide20.xml"/><Relationship Id="rId7"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1">
            <a:extLst>
              <a:ext uri="{FF2B5EF4-FFF2-40B4-BE49-F238E27FC236}">
                <a16:creationId xmlns="" xmlns:a16="http://schemas.microsoft.com/office/drawing/2014/main" id="{E4C1DA91-809E-4CF1-A726-E3B1CA1453E8}"/>
              </a:ext>
            </a:extLst>
          </p:cNvPr>
          <p:cNvSpPr txBox="1">
            <a:spLocks noChangeArrowheads="1"/>
          </p:cNvSpPr>
          <p:nvPr/>
        </p:nvSpPr>
        <p:spPr bwMode="auto">
          <a:xfrm>
            <a:off x="3806826" y="2636838"/>
            <a:ext cx="4594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lnSpc>
                <a:spcPct val="96000"/>
              </a:lnSpc>
              <a:spcBef>
                <a:spcPct val="0"/>
              </a:spcBef>
              <a:buFont typeface="Arial" panose="020B0604020202020204" pitchFamily="34" charset="0"/>
              <a:buNone/>
            </a:pPr>
            <a:r>
              <a:rPr lang="en-GB" altLang="fr-FR" sz="3600" dirty="0">
                <a:solidFill>
                  <a:schemeClr val="tx1"/>
                </a:solidFill>
              </a:rPr>
              <a:t>Intelligence </a:t>
            </a:r>
            <a:r>
              <a:rPr lang="en-GB" altLang="fr-FR" sz="3600" dirty="0" err="1">
                <a:solidFill>
                  <a:schemeClr val="tx1"/>
                </a:solidFill>
              </a:rPr>
              <a:t>Artificielle</a:t>
            </a:r>
            <a:endParaRPr lang="en-GB" altLang="fr-FR" sz="3600" dirty="0">
              <a:solidFill>
                <a:schemeClr val="tx1"/>
              </a:solidFill>
            </a:endParaRPr>
          </a:p>
          <a:p>
            <a:pPr algn="ctr" eaLnBrk="1" hangingPunct="1">
              <a:spcBef>
                <a:spcPct val="0"/>
              </a:spcBef>
              <a:buFont typeface="Arial" panose="020B0604020202020204" pitchFamily="34" charset="0"/>
              <a:buNone/>
            </a:pPr>
            <a:r>
              <a:rPr lang="en-GB" altLang="fr-FR" sz="3600" dirty="0" err="1">
                <a:solidFill>
                  <a:schemeClr val="tx1"/>
                </a:solidFill>
              </a:rPr>
              <a:t>Apprentissage</a:t>
            </a:r>
            <a:endParaRPr lang="en-GB" altLang="fr-FR" sz="3600" dirty="0">
              <a:solidFill>
                <a:schemeClr val="tx1"/>
              </a:solidFill>
            </a:endParaRPr>
          </a:p>
        </p:txBody>
      </p:sp>
      <p:grpSp>
        <p:nvGrpSpPr>
          <p:cNvPr id="4099" name="Group 2">
            <a:extLst>
              <a:ext uri="{FF2B5EF4-FFF2-40B4-BE49-F238E27FC236}">
                <a16:creationId xmlns="" xmlns:a16="http://schemas.microsoft.com/office/drawing/2014/main" id="{91938977-C6F0-4AB7-9AC0-6075025EB3E7}"/>
              </a:ext>
            </a:extLst>
          </p:cNvPr>
          <p:cNvGrpSpPr>
            <a:grpSpLocks/>
          </p:cNvGrpSpPr>
          <p:nvPr/>
        </p:nvGrpSpPr>
        <p:grpSpPr bwMode="auto">
          <a:xfrm>
            <a:off x="0" y="44451"/>
            <a:ext cx="12191999" cy="506267"/>
            <a:chOff x="0" y="28"/>
            <a:chExt cx="5759" cy="230"/>
          </a:xfrm>
        </p:grpSpPr>
        <p:sp>
          <p:nvSpPr>
            <p:cNvPr id="4100" name="AutoShape 3">
              <a:extLst>
                <a:ext uri="{FF2B5EF4-FFF2-40B4-BE49-F238E27FC236}">
                  <a16:creationId xmlns="" xmlns:a16="http://schemas.microsoft.com/office/drawing/2014/main" id="{98B18CA3-B1E7-4DCA-9D1F-6732446889FC}"/>
                </a:ext>
              </a:extLst>
            </p:cNvPr>
            <p:cNvSpPr>
              <a:spLocks noChangeArrowheads="1"/>
            </p:cNvSpPr>
            <p:nvPr/>
          </p:nvSpPr>
          <p:spPr bwMode="auto">
            <a:xfrm>
              <a:off x="0" y="28"/>
              <a:ext cx="5760" cy="231"/>
            </a:xfrm>
            <a:prstGeom prst="roundRect">
              <a:avLst>
                <a:gd name="adj" fmla="val 431"/>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endParaRPr lang="fr-FR" altLang="fr-FR" sz="1800">
                <a:latin typeface="Times New Roman" panose="02020603050405020304" pitchFamily="18" charset="0"/>
              </a:endParaRPr>
            </a:p>
          </p:txBody>
        </p:sp>
        <p:sp>
          <p:nvSpPr>
            <p:cNvPr id="4101" name="Text Box 4">
              <a:extLst>
                <a:ext uri="{FF2B5EF4-FFF2-40B4-BE49-F238E27FC236}">
                  <a16:creationId xmlns="" xmlns:a16="http://schemas.microsoft.com/office/drawing/2014/main" id="{A3C96F6F-B867-4F30-BA1F-A673B7E09162}"/>
                </a:ext>
              </a:extLst>
            </p:cNvPr>
            <p:cNvSpPr txBox="1">
              <a:spLocks noChangeArrowheads="1"/>
            </p:cNvSpPr>
            <p:nvPr/>
          </p:nvSpPr>
          <p:spPr bwMode="auto">
            <a:xfrm>
              <a:off x="0" y="28"/>
              <a:ext cx="57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lnSpc>
                  <a:spcPct val="96000"/>
                </a:lnSpc>
                <a:spcBef>
                  <a:spcPct val="0"/>
                </a:spcBef>
                <a:buFont typeface="Arial" panose="020B0604020202020204" pitchFamily="34" charset="0"/>
                <a:buNone/>
              </a:pPr>
              <a:r>
                <a:rPr lang="en-GB" altLang="fr-FR" sz="1800" dirty="0">
                  <a:solidFill>
                    <a:schemeClr val="tx1"/>
                  </a:solidFill>
                </a:rPr>
                <a:t>Intelligence </a:t>
              </a:r>
              <a:r>
                <a:rPr lang="en-GB" altLang="fr-FR" sz="1800" dirty="0" err="1">
                  <a:solidFill>
                    <a:schemeClr val="tx1"/>
                  </a:solidFill>
                </a:rPr>
                <a:t>Artificielle</a:t>
              </a:r>
              <a:r>
                <a:rPr lang="en-GB" altLang="fr-FR" sz="1800" dirty="0">
                  <a:solidFill>
                    <a:schemeClr val="tx1"/>
                  </a:solidFill>
                </a:rPr>
                <a:t> 		</a:t>
              </a:r>
              <a:r>
                <a:rPr lang="en-GB" altLang="fr-FR" sz="1800" dirty="0" err="1">
                  <a:solidFill>
                    <a:schemeClr val="tx1"/>
                  </a:solidFill>
                </a:rPr>
                <a:t>Apprentissage</a:t>
              </a:r>
              <a:r>
                <a:rPr lang="en-GB" altLang="fr-FR" sz="1800" dirty="0">
                  <a:solidFill>
                    <a:schemeClr val="tx1"/>
                  </a:solidFill>
                </a:rPr>
                <a:t>			</a:t>
              </a:r>
            </a:p>
          </p:txBody>
        </p:sp>
      </p:grpSp>
      <p:sp>
        <p:nvSpPr>
          <p:cNvPr id="2" name="Slide Number Placeholder 1">
            <a:extLst>
              <a:ext uri="{FF2B5EF4-FFF2-40B4-BE49-F238E27FC236}">
                <a16:creationId xmlns="" xmlns:a16="http://schemas.microsoft.com/office/drawing/2014/main" id="{57EFAE87-B057-42C4-9299-F4B2644FCE17}"/>
              </a:ext>
            </a:extLst>
          </p:cNvPr>
          <p:cNvSpPr>
            <a:spLocks noGrp="1"/>
          </p:cNvSpPr>
          <p:nvPr>
            <p:ph type="sldNum" sz="quarter" idx="12"/>
          </p:nvPr>
        </p:nvSpPr>
        <p:spPr/>
        <p:txBody>
          <a:bodyPr/>
          <a:lstStyle/>
          <a:p>
            <a:fld id="{EE5DF52D-0FE0-4249-9023-8B500BDB729B}" type="slidenum">
              <a:rPr lang="fr-FR" smtClean="0"/>
              <a:pPr/>
              <a:t>1</a:t>
            </a:fld>
            <a:endParaRPr lang="fr-FR"/>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EE5DF52D-0FE0-4249-9023-8B500BDB729B}" type="slidenum">
              <a:rPr lang="fr-FR" smtClean="0"/>
              <a:pPr/>
              <a:t>2</a:t>
            </a:fld>
            <a:endParaRPr lang="fr-FR"/>
          </a:p>
        </p:txBody>
      </p:sp>
      <p:pic>
        <p:nvPicPr>
          <p:cNvPr id="4098" name="Picture 2" descr="https://miro.medium.com/v2/resize:fit:700/1*MkPk6IVlNyCjSmCIE000p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938" y="559262"/>
            <a:ext cx="11419608" cy="5991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0840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EE5DF52D-0FE0-4249-9023-8B500BDB729B}" type="slidenum">
              <a:rPr lang="fr-FR" smtClean="0"/>
              <a:pPr/>
              <a:t>3</a:t>
            </a:fld>
            <a:endParaRPr lang="fr-FR"/>
          </a:p>
        </p:txBody>
      </p:sp>
      <p:pic>
        <p:nvPicPr>
          <p:cNvPr id="3" name="Picture 2" descr="https://miro.medium.com/v2/resize:fit:5000/1*fQyGkO9bsCmEsGjS0EFlQw.jpeg"/>
          <p:cNvPicPr/>
          <p:nvPr/>
        </p:nvPicPr>
        <p:blipFill>
          <a:blip r:embed="rId2" cstate="print">
            <a:extLst>
              <a:ext uri="{28A0092B-C50C-407E-A947-70E740481C1C}">
                <a14:useLocalDpi xmlns:a14="http://schemas.microsoft.com/office/drawing/2010/main" val="0"/>
              </a:ext>
            </a:extLst>
          </a:blip>
          <a:stretch>
            <a:fillRect/>
          </a:stretch>
        </p:blipFill>
        <p:spPr bwMode="auto">
          <a:xfrm>
            <a:off x="2265218" y="12988"/>
            <a:ext cx="7045035" cy="3221182"/>
          </a:xfrm>
          <a:prstGeom prst="rect">
            <a:avLst/>
          </a:prstGeom>
          <a:noFill/>
          <a:extLst/>
        </p:spPr>
      </p:pic>
      <p:pic>
        <p:nvPicPr>
          <p:cNvPr id="4" name="Image 3" descr="GEN AI vs Traditional AI. Generative AI is a specific form of AI… | by  Anmol Talwar | Medium"/>
          <p:cNvPicPr/>
          <p:nvPr/>
        </p:nvPicPr>
        <p:blipFill>
          <a:blip r:embed="rId3">
            <a:extLst>
              <a:ext uri="{28A0092B-C50C-407E-A947-70E740481C1C}">
                <a14:useLocalDpi xmlns:a14="http://schemas.microsoft.com/office/drawing/2010/main" val="0"/>
              </a:ext>
            </a:extLst>
          </a:blip>
          <a:srcRect/>
          <a:stretch>
            <a:fillRect/>
          </a:stretch>
        </p:blipFill>
        <p:spPr bwMode="auto">
          <a:xfrm>
            <a:off x="3427238" y="3148445"/>
            <a:ext cx="5114089" cy="3467966"/>
          </a:xfrm>
          <a:prstGeom prst="rect">
            <a:avLst/>
          </a:prstGeom>
          <a:noFill/>
          <a:ln>
            <a:noFill/>
          </a:ln>
        </p:spPr>
      </p:pic>
    </p:spTree>
    <p:extLst>
      <p:ext uri="{BB962C8B-B14F-4D97-AF65-F5344CB8AC3E}">
        <p14:creationId xmlns:p14="http://schemas.microsoft.com/office/powerpoint/2010/main" val="4175894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 xmlns:a16="http://schemas.microsoft.com/office/drawing/2014/main" id="{D2A6090B-2C91-4771-879E-F324E50864DB}"/>
              </a:ext>
            </a:extLst>
          </p:cNvPr>
          <p:cNvSpPr>
            <a:spLocks noChangeArrowheads="1"/>
          </p:cNvSpPr>
          <p:nvPr/>
        </p:nvSpPr>
        <p:spPr bwMode="auto">
          <a:xfrm>
            <a:off x="1774825" y="4105275"/>
            <a:ext cx="8280400" cy="738188"/>
          </a:xfrm>
          <a:prstGeom prst="rect">
            <a:avLst/>
          </a:prstGeom>
          <a:noFill/>
          <a:ln>
            <a:noFill/>
          </a:ln>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defRPr/>
            </a:pPr>
            <a:r>
              <a:rPr lang="fr-CA" altLang="fr-FR" sz="2400" b="1" i="1" dirty="0">
                <a:solidFill>
                  <a:srgbClr val="0066FF"/>
                </a:solidFill>
                <a:latin typeface="+mn-lt"/>
              </a:rPr>
              <a:t>pourquoi apprendre ?</a:t>
            </a:r>
          </a:p>
          <a:p>
            <a:pPr>
              <a:spcBef>
                <a:spcPct val="0"/>
              </a:spcBef>
              <a:buClrTx/>
              <a:buSzTx/>
              <a:buFontTx/>
              <a:buNone/>
              <a:defRPr/>
            </a:pPr>
            <a:r>
              <a:rPr lang="fr-FR" altLang="en-US" sz="1800" i="1" dirty="0">
                <a:solidFill>
                  <a:srgbClr val="FF6600"/>
                </a:solidFill>
                <a:latin typeface="+mn-lt"/>
              </a:rPr>
              <a:t>(Complexité, système ouvert, comportement inconnu, environnement inconnu)</a:t>
            </a:r>
          </a:p>
        </p:txBody>
      </p:sp>
      <p:sp>
        <p:nvSpPr>
          <p:cNvPr id="181251" name="Rectangle 3">
            <a:extLst>
              <a:ext uri="{FF2B5EF4-FFF2-40B4-BE49-F238E27FC236}">
                <a16:creationId xmlns="" xmlns:a16="http://schemas.microsoft.com/office/drawing/2014/main" id="{D0B39E3E-81C7-47D0-9F4E-E168D31727F9}"/>
              </a:ext>
            </a:extLst>
          </p:cNvPr>
          <p:cNvSpPr>
            <a:spLocks noChangeArrowheads="1"/>
          </p:cNvSpPr>
          <p:nvPr/>
        </p:nvSpPr>
        <p:spPr bwMode="auto">
          <a:xfrm>
            <a:off x="1804988" y="4994275"/>
            <a:ext cx="6553200" cy="738188"/>
          </a:xfrm>
          <a:prstGeom prst="rect">
            <a:avLst/>
          </a:prstGeom>
          <a:noFill/>
          <a:ln>
            <a:noFill/>
          </a:ln>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defRPr/>
            </a:pPr>
            <a:r>
              <a:rPr lang="fr-CA" altLang="fr-FR" sz="2400" b="1" i="1" dirty="0">
                <a:solidFill>
                  <a:srgbClr val="0066FF"/>
                </a:solidFill>
                <a:latin typeface="+mn-lt"/>
              </a:rPr>
              <a:t>apprendre quoi ?</a:t>
            </a:r>
          </a:p>
          <a:p>
            <a:pPr>
              <a:spcBef>
                <a:spcPct val="0"/>
              </a:spcBef>
              <a:buClrTx/>
              <a:buSzTx/>
              <a:buFontTx/>
              <a:buNone/>
              <a:defRPr/>
            </a:pPr>
            <a:r>
              <a:rPr lang="fr-FR" altLang="en-US" sz="1800" i="1" dirty="0">
                <a:solidFill>
                  <a:srgbClr val="FF6600"/>
                </a:solidFill>
                <a:latin typeface="+mn-lt"/>
              </a:rPr>
              <a:t>(Compétence, organisation, coordination, communication)</a:t>
            </a:r>
          </a:p>
        </p:txBody>
      </p:sp>
      <p:sp>
        <p:nvSpPr>
          <p:cNvPr id="8196" name="Rectangle 4">
            <a:extLst>
              <a:ext uri="{FF2B5EF4-FFF2-40B4-BE49-F238E27FC236}">
                <a16:creationId xmlns="" xmlns:a16="http://schemas.microsoft.com/office/drawing/2014/main" id="{1ECA775A-97B1-4C7F-9CC0-D4A12B57FD4A}"/>
              </a:ext>
            </a:extLst>
          </p:cNvPr>
          <p:cNvSpPr>
            <a:spLocks noChangeArrowheads="1"/>
          </p:cNvSpPr>
          <p:nvPr/>
        </p:nvSpPr>
        <p:spPr bwMode="auto">
          <a:xfrm>
            <a:off x="1554163" y="3716338"/>
            <a:ext cx="1041054" cy="387798"/>
          </a:xfrm>
          <a:prstGeom prst="rect">
            <a:avLst/>
          </a:prstGeom>
          <a:noFill/>
          <a:ln>
            <a:noFill/>
          </a:ln>
        </p:spPr>
        <p:txBody>
          <a:bodyPr wrap="none">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defRPr/>
            </a:pPr>
            <a:r>
              <a:rPr lang="en-GB" altLang="fr-FR" sz="2000" b="1" dirty="0">
                <a:solidFill>
                  <a:schemeClr val="tx1"/>
                </a:solidFill>
                <a:latin typeface="+mn-lt"/>
              </a:rPr>
              <a:t>AGENTS</a:t>
            </a:r>
          </a:p>
        </p:txBody>
      </p:sp>
      <p:sp>
        <p:nvSpPr>
          <p:cNvPr id="181253" name="Rectangle 5">
            <a:extLst>
              <a:ext uri="{FF2B5EF4-FFF2-40B4-BE49-F238E27FC236}">
                <a16:creationId xmlns="" xmlns:a16="http://schemas.microsoft.com/office/drawing/2014/main" id="{6851545F-AE25-49BF-8F9A-1D6F6424FDF1}"/>
              </a:ext>
            </a:extLst>
          </p:cNvPr>
          <p:cNvSpPr>
            <a:spLocks noChangeArrowheads="1"/>
          </p:cNvSpPr>
          <p:nvPr/>
        </p:nvSpPr>
        <p:spPr bwMode="auto">
          <a:xfrm>
            <a:off x="1774825" y="5859464"/>
            <a:ext cx="6840538" cy="738187"/>
          </a:xfrm>
          <a:prstGeom prst="rect">
            <a:avLst/>
          </a:prstGeom>
          <a:noFill/>
          <a:ln>
            <a:noFill/>
          </a:ln>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defRPr/>
            </a:pPr>
            <a:r>
              <a:rPr lang="fr-CA" altLang="fr-FR" sz="2400" b="1" i="1" dirty="0">
                <a:solidFill>
                  <a:srgbClr val="0066FF"/>
                </a:solidFill>
                <a:latin typeface="+mn-lt"/>
              </a:rPr>
              <a:t>comment apprendre ?</a:t>
            </a:r>
          </a:p>
          <a:p>
            <a:pPr>
              <a:spcBef>
                <a:spcPct val="0"/>
              </a:spcBef>
              <a:buClrTx/>
              <a:buSzTx/>
              <a:buFontTx/>
              <a:buNone/>
              <a:defRPr/>
            </a:pPr>
            <a:r>
              <a:rPr lang="fr-FR" altLang="en-US" sz="1800" i="1" dirty="0">
                <a:solidFill>
                  <a:srgbClr val="FF6600"/>
                </a:solidFill>
                <a:latin typeface="+mn-lt"/>
              </a:rPr>
              <a:t>(</a:t>
            </a:r>
            <a:r>
              <a:rPr lang="fr-FR" altLang="en-US" sz="1800" i="1" dirty="0" err="1">
                <a:solidFill>
                  <a:srgbClr val="FF6600"/>
                </a:solidFill>
                <a:latin typeface="+mn-lt"/>
              </a:rPr>
              <a:t>isol</a:t>
            </a:r>
            <a:r>
              <a:rPr lang="en-US" altLang="en-US" sz="1800" i="1" dirty="0">
                <a:solidFill>
                  <a:srgbClr val="FF6600"/>
                </a:solidFill>
                <a:latin typeface="+mn-lt"/>
              </a:rPr>
              <a:t>é</a:t>
            </a:r>
            <a:r>
              <a:rPr lang="fr-FR" altLang="en-US" sz="1800" i="1" dirty="0">
                <a:solidFill>
                  <a:srgbClr val="FF6600"/>
                </a:solidFill>
                <a:latin typeface="+mn-lt"/>
              </a:rPr>
              <a:t> ou interactif, intégrer l’expérience des autres ...)</a:t>
            </a:r>
          </a:p>
        </p:txBody>
      </p:sp>
      <p:grpSp>
        <p:nvGrpSpPr>
          <p:cNvPr id="7174" name="Group 6">
            <a:extLst>
              <a:ext uri="{FF2B5EF4-FFF2-40B4-BE49-F238E27FC236}">
                <a16:creationId xmlns="" xmlns:a16="http://schemas.microsoft.com/office/drawing/2014/main" id="{AED5CBAA-214B-4604-9A82-121CC3B81B3A}"/>
              </a:ext>
            </a:extLst>
          </p:cNvPr>
          <p:cNvGrpSpPr>
            <a:grpSpLocks/>
          </p:cNvGrpSpPr>
          <p:nvPr/>
        </p:nvGrpSpPr>
        <p:grpSpPr bwMode="auto">
          <a:xfrm>
            <a:off x="1524001" y="44451"/>
            <a:ext cx="9142413" cy="365125"/>
            <a:chOff x="0" y="28"/>
            <a:chExt cx="5759" cy="230"/>
          </a:xfrm>
        </p:grpSpPr>
        <p:sp>
          <p:nvSpPr>
            <p:cNvPr id="7178" name="AutoShape 7">
              <a:extLst>
                <a:ext uri="{FF2B5EF4-FFF2-40B4-BE49-F238E27FC236}">
                  <a16:creationId xmlns="" xmlns:a16="http://schemas.microsoft.com/office/drawing/2014/main" id="{704F1EFD-6088-40D9-AE5D-41A4411C59E3}"/>
                </a:ext>
              </a:extLst>
            </p:cNvPr>
            <p:cNvSpPr>
              <a:spLocks noChangeArrowheads="1"/>
            </p:cNvSpPr>
            <p:nvPr/>
          </p:nvSpPr>
          <p:spPr bwMode="auto">
            <a:xfrm>
              <a:off x="0" y="28"/>
              <a:ext cx="5760" cy="231"/>
            </a:xfrm>
            <a:prstGeom prst="roundRect">
              <a:avLst>
                <a:gd name="adj" fmla="val 431"/>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endParaRPr lang="fr-FR" altLang="fr-FR" sz="1800">
                <a:latin typeface="Times New Roman" panose="02020603050405020304" pitchFamily="18" charset="0"/>
              </a:endParaRPr>
            </a:p>
          </p:txBody>
        </p:sp>
        <p:sp>
          <p:nvSpPr>
            <p:cNvPr id="7179" name="Text Box 8">
              <a:extLst>
                <a:ext uri="{FF2B5EF4-FFF2-40B4-BE49-F238E27FC236}">
                  <a16:creationId xmlns="" xmlns:a16="http://schemas.microsoft.com/office/drawing/2014/main" id="{919BCADA-0D8E-4366-A5F0-B64ACB476EDB}"/>
                </a:ext>
              </a:extLst>
            </p:cNvPr>
            <p:cNvSpPr txBox="1">
              <a:spLocks noChangeArrowheads="1"/>
            </p:cNvSpPr>
            <p:nvPr/>
          </p:nvSpPr>
          <p:spPr bwMode="auto">
            <a:xfrm>
              <a:off x="0" y="28"/>
              <a:ext cx="57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1800">
                  <a:solidFill>
                    <a:schemeClr val="tx1"/>
                  </a:solidFill>
                </a:rPr>
                <a:t>Intelligence Artificielle 		Apprentissage			</a:t>
              </a:r>
            </a:p>
          </p:txBody>
        </p:sp>
      </p:grpSp>
      <p:sp>
        <p:nvSpPr>
          <p:cNvPr id="2" name="Rectangle 1">
            <a:extLst>
              <a:ext uri="{FF2B5EF4-FFF2-40B4-BE49-F238E27FC236}">
                <a16:creationId xmlns="" xmlns:a16="http://schemas.microsoft.com/office/drawing/2014/main" id="{095CF952-DD18-49DE-A6F0-162CB1DA8768}"/>
              </a:ext>
            </a:extLst>
          </p:cNvPr>
          <p:cNvSpPr/>
          <p:nvPr/>
        </p:nvSpPr>
        <p:spPr>
          <a:xfrm>
            <a:off x="1541463" y="1103313"/>
            <a:ext cx="11118850" cy="862012"/>
          </a:xfrm>
          <a:prstGeom prst="rect">
            <a:avLst/>
          </a:prstGeom>
        </p:spPr>
        <p:txBody>
          <a:bodyPr>
            <a:spAutoFit/>
          </a:bodyPr>
          <a:lstStyle/>
          <a:p>
            <a:pPr eaLnBrk="1" hangingPunct="1">
              <a:defRPr/>
            </a:pPr>
            <a:r>
              <a:rPr lang="fr-CA" altLang="fr-FR" b="1" dirty="0"/>
              <a:t>Définition 1</a:t>
            </a:r>
            <a:r>
              <a:rPr lang="fr-CA" altLang="fr-FR" dirty="0"/>
              <a:t> (Larousse)</a:t>
            </a:r>
          </a:p>
          <a:p>
            <a:pPr eaLnBrk="1" hangingPunct="1">
              <a:defRPr/>
            </a:pPr>
            <a:r>
              <a:rPr lang="fr-CA" altLang="fr-FR" sz="1600" dirty="0"/>
              <a:t>- apprendre = acquérir de nouvelles connaissances: savoir, connaître, </a:t>
            </a:r>
          </a:p>
          <a:p>
            <a:pPr eaLnBrk="1" hangingPunct="1">
              <a:defRPr/>
            </a:pPr>
            <a:r>
              <a:rPr lang="fr-CA" altLang="fr-FR" sz="1600" dirty="0"/>
              <a:t>- apprendre = contracter de nouvelles habitudes: savoir-faire</a:t>
            </a:r>
          </a:p>
        </p:txBody>
      </p:sp>
      <p:sp>
        <p:nvSpPr>
          <p:cNvPr id="3" name="Rectangle 2">
            <a:extLst>
              <a:ext uri="{FF2B5EF4-FFF2-40B4-BE49-F238E27FC236}">
                <a16:creationId xmlns="" xmlns:a16="http://schemas.microsoft.com/office/drawing/2014/main" id="{9CBC8CEE-6B2A-4207-9298-42DA684F1A27}"/>
              </a:ext>
            </a:extLst>
          </p:cNvPr>
          <p:cNvSpPr/>
          <p:nvPr/>
        </p:nvSpPr>
        <p:spPr>
          <a:xfrm>
            <a:off x="1541464" y="439738"/>
            <a:ext cx="2305439" cy="523220"/>
          </a:xfrm>
          <a:prstGeom prst="rect">
            <a:avLst/>
          </a:prstGeom>
        </p:spPr>
        <p:txBody>
          <a:bodyPr wrap="none">
            <a:spAutoFit/>
          </a:bodyPr>
          <a:lstStyle/>
          <a:p>
            <a:pPr>
              <a:defRPr/>
            </a:pPr>
            <a:r>
              <a:rPr lang="en-GB" altLang="fr-FR" sz="2800" b="1" dirty="0" err="1"/>
              <a:t>Apprentissage</a:t>
            </a:r>
            <a:endParaRPr lang="fr-FR" sz="2800" dirty="0"/>
          </a:p>
        </p:txBody>
      </p:sp>
      <p:sp>
        <p:nvSpPr>
          <p:cNvPr id="4" name="Rectangle 3">
            <a:extLst>
              <a:ext uri="{FF2B5EF4-FFF2-40B4-BE49-F238E27FC236}">
                <a16:creationId xmlns="" xmlns:a16="http://schemas.microsoft.com/office/drawing/2014/main" id="{D74886C9-BC9F-4744-84BF-06278F6CC2F0}"/>
              </a:ext>
            </a:extLst>
          </p:cNvPr>
          <p:cNvSpPr/>
          <p:nvPr/>
        </p:nvSpPr>
        <p:spPr>
          <a:xfrm>
            <a:off x="1524001" y="2130426"/>
            <a:ext cx="9115425" cy="860425"/>
          </a:xfrm>
          <a:prstGeom prst="rect">
            <a:avLst/>
          </a:prstGeom>
        </p:spPr>
        <p:txBody>
          <a:bodyPr>
            <a:spAutoFit/>
          </a:bodyPr>
          <a:lstStyle/>
          <a:p>
            <a:pPr eaLnBrk="1" hangingPunct="1">
              <a:defRPr/>
            </a:pPr>
            <a:r>
              <a:rPr lang="fr-CA" altLang="fr-FR" dirty="0"/>
              <a:t> </a:t>
            </a:r>
            <a:r>
              <a:rPr lang="fr-CA" altLang="fr-FR" b="1" dirty="0"/>
              <a:t>Définition 2</a:t>
            </a:r>
            <a:r>
              <a:rPr lang="fr-CA" altLang="fr-FR" dirty="0"/>
              <a:t> (Intelligence artificielle - Simon)</a:t>
            </a:r>
          </a:p>
          <a:p>
            <a:pPr eaLnBrk="1" hangingPunct="1">
              <a:defRPr/>
            </a:pPr>
            <a:r>
              <a:rPr lang="fr-CA" altLang="fr-FR" sz="1600" dirty="0">
                <a:solidFill>
                  <a:srgbClr val="C00000"/>
                </a:solidFill>
              </a:rPr>
              <a:t>- </a:t>
            </a:r>
            <a:r>
              <a:rPr lang="fr-CA" altLang="fr-FR" sz="1600" b="1" dirty="0">
                <a:solidFill>
                  <a:srgbClr val="C00000"/>
                </a:solidFill>
              </a:rPr>
              <a:t>L’apprentissage induit des changements dans le système qui sont adaptatifs dans le sens qu’ils permettent au système de faire la même tâche une nouvelle fois plus efficacement</a:t>
            </a:r>
            <a:endParaRPr lang="fr-FR" sz="1600" b="1" dirty="0">
              <a:solidFill>
                <a:srgbClr val="C00000"/>
              </a:solidFill>
            </a:endParaRPr>
          </a:p>
        </p:txBody>
      </p:sp>
      <p:sp>
        <p:nvSpPr>
          <p:cNvPr id="5" name="Slide Number Placeholder 4">
            <a:extLst>
              <a:ext uri="{FF2B5EF4-FFF2-40B4-BE49-F238E27FC236}">
                <a16:creationId xmlns="" xmlns:a16="http://schemas.microsoft.com/office/drawing/2014/main" id="{6DF39B13-1751-40BB-9DB9-C38C6BE8CB49}"/>
              </a:ext>
            </a:extLst>
          </p:cNvPr>
          <p:cNvSpPr>
            <a:spLocks noGrp="1"/>
          </p:cNvSpPr>
          <p:nvPr>
            <p:ph type="sldNum" sz="quarter" idx="12"/>
          </p:nvPr>
        </p:nvSpPr>
        <p:spPr/>
        <p:txBody>
          <a:bodyPr/>
          <a:lstStyle/>
          <a:p>
            <a:fld id="{EE5DF52D-0FE0-4249-9023-8B500BDB729B}" type="slidenum">
              <a:rPr lang="fr-FR" smtClean="0"/>
              <a:pPr/>
              <a:t>4</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9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125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12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p:bldP spid="181251" grpId="0"/>
      <p:bldP spid="8196" grpId="0"/>
      <p:bldP spid="181253"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a:extLst>
              <a:ext uri="{FF2B5EF4-FFF2-40B4-BE49-F238E27FC236}">
                <a16:creationId xmlns="" xmlns:a16="http://schemas.microsoft.com/office/drawing/2014/main" id="{EF5ACE9E-9985-4900-BF48-5BF1B3E45653}"/>
              </a:ext>
            </a:extLst>
          </p:cNvPr>
          <p:cNvSpPr>
            <a:spLocks noGrp="1" noChangeArrowheads="1"/>
          </p:cNvSpPr>
          <p:nvPr>
            <p:ph type="title"/>
          </p:nvPr>
        </p:nvSpPr>
        <p:spPr>
          <a:xfrm>
            <a:off x="3686032" y="2768312"/>
            <a:ext cx="4553959" cy="1406525"/>
          </a:xfrm>
        </p:spPr>
        <p:txBody>
          <a:bodyPr/>
          <a:lstStyle/>
          <a:p>
            <a:pPr algn="ctr"/>
            <a:r>
              <a:rPr lang="fr-FR" altLang="fr-FR" sz="4000" dirty="0"/>
              <a:t>Techniques</a:t>
            </a:r>
            <a:br>
              <a:rPr lang="fr-FR" altLang="fr-FR" sz="4000" dirty="0"/>
            </a:br>
            <a:r>
              <a:rPr lang="fr-FR" altLang="fr-FR" sz="4000" dirty="0"/>
              <a:t> d’apprentissages</a:t>
            </a:r>
          </a:p>
        </p:txBody>
      </p:sp>
      <p:sp>
        <p:nvSpPr>
          <p:cNvPr id="9219" name="Rectangle 4">
            <a:extLst>
              <a:ext uri="{FF2B5EF4-FFF2-40B4-BE49-F238E27FC236}">
                <a16:creationId xmlns="" xmlns:a16="http://schemas.microsoft.com/office/drawing/2014/main" id="{190859E1-7BF5-49F1-88AB-244FBC65BD4E}"/>
              </a:ext>
            </a:extLst>
          </p:cNvPr>
          <p:cNvSpPr>
            <a:spLocks noChangeArrowheads="1"/>
          </p:cNvSpPr>
          <p:nvPr/>
        </p:nvSpPr>
        <p:spPr bwMode="auto">
          <a:xfrm>
            <a:off x="1560513" y="38101"/>
            <a:ext cx="9144000" cy="366713"/>
          </a:xfrm>
          <a:prstGeom prst="rect">
            <a:avLst/>
          </a:prstGeom>
          <a:solidFill>
            <a:srgbClr val="3366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fr-FR" altLang="fr-FR" sz="1800">
                <a:solidFill>
                  <a:schemeClr val="tx1"/>
                </a:solidFill>
              </a:rPr>
              <a:t>Intelligence Artificielle 		APPRENTISSAGE 	</a:t>
            </a:r>
          </a:p>
        </p:txBody>
      </p:sp>
      <p:sp>
        <p:nvSpPr>
          <p:cNvPr id="2" name="Slide Number Placeholder 1">
            <a:extLst>
              <a:ext uri="{FF2B5EF4-FFF2-40B4-BE49-F238E27FC236}">
                <a16:creationId xmlns="" xmlns:a16="http://schemas.microsoft.com/office/drawing/2014/main" id="{AF1D3185-A1A4-413B-9F42-C10BD7DEADC0}"/>
              </a:ext>
            </a:extLst>
          </p:cNvPr>
          <p:cNvSpPr>
            <a:spLocks noGrp="1"/>
          </p:cNvSpPr>
          <p:nvPr>
            <p:ph type="sldNum" sz="quarter" idx="12"/>
          </p:nvPr>
        </p:nvSpPr>
        <p:spPr/>
        <p:txBody>
          <a:bodyPr/>
          <a:lstStyle/>
          <a:p>
            <a:fld id="{EE5DF52D-0FE0-4249-9023-8B500BDB729B}" type="slidenum">
              <a:rPr lang="fr-FR" smtClean="0"/>
              <a:pPr/>
              <a:t>5</a:t>
            </a:fld>
            <a:endParaRPr lang="fr-F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 xmlns:a16="http://schemas.microsoft.com/office/drawing/2014/main" id="{AB818C88-2CDE-41C2-8264-750287D19A2A}"/>
              </a:ext>
            </a:extLst>
          </p:cNvPr>
          <p:cNvSpPr txBox="1">
            <a:spLocks noGrp="1"/>
          </p:cNvSpPr>
          <p:nvPr>
            <p:ph type="title"/>
          </p:nvPr>
        </p:nvSpPr>
        <p:spPr>
          <a:xfrm>
            <a:off x="616166" y="668338"/>
            <a:ext cx="11059681" cy="427037"/>
          </a:xfrm>
        </p:spPr>
        <p:txBody>
          <a:bodyPr rtlCol="0">
            <a:normAutofit fontScale="90000"/>
          </a:bodyPr>
          <a:lstStyle/>
          <a:p>
            <a:pPr marL="25168">
              <a:spcBef>
                <a:spcPts val="0"/>
              </a:spcBef>
              <a:defRPr/>
            </a:pPr>
            <a:r>
              <a:rPr spc="-258" dirty="0"/>
              <a:t>C</a:t>
            </a:r>
            <a:r>
              <a:rPr spc="20" dirty="0"/>
              <a:t>a</a:t>
            </a:r>
            <a:r>
              <a:rPr spc="-40" dirty="0"/>
              <a:t>ra</a:t>
            </a:r>
            <a:r>
              <a:rPr spc="-59" dirty="0"/>
              <a:t>ctéris</a:t>
            </a:r>
            <a:r>
              <a:rPr spc="99" dirty="0"/>
              <a:t>a</a:t>
            </a:r>
            <a:r>
              <a:rPr spc="-30" dirty="0"/>
              <a:t>tion</a:t>
            </a:r>
            <a:r>
              <a:rPr spc="129" dirty="0"/>
              <a:t> </a:t>
            </a:r>
            <a:r>
              <a:rPr spc="-30" dirty="0"/>
              <a:t>d</a:t>
            </a:r>
            <a:r>
              <a:rPr spc="-89" dirty="0"/>
              <a:t>es</a:t>
            </a:r>
            <a:r>
              <a:rPr spc="129" dirty="0"/>
              <a:t> </a:t>
            </a:r>
            <a:r>
              <a:rPr spc="-30" dirty="0"/>
              <a:t>tech</a:t>
            </a:r>
            <a:r>
              <a:rPr dirty="0"/>
              <a:t>n</a:t>
            </a:r>
            <a:r>
              <a:rPr spc="20" dirty="0"/>
              <a:t>iq</a:t>
            </a:r>
            <a:r>
              <a:rPr dirty="0"/>
              <a:t>u</a:t>
            </a:r>
            <a:r>
              <a:rPr spc="-89" dirty="0"/>
              <a:t>es</a:t>
            </a:r>
            <a:r>
              <a:rPr spc="129" dirty="0"/>
              <a:t> </a:t>
            </a:r>
            <a:r>
              <a:rPr spc="-30" dirty="0"/>
              <a:t>d</a:t>
            </a:r>
            <a:r>
              <a:rPr spc="-139" dirty="0"/>
              <a:t>e</a:t>
            </a:r>
            <a:r>
              <a:rPr spc="129" dirty="0"/>
              <a:t> </a:t>
            </a:r>
            <a:r>
              <a:rPr spc="149" dirty="0"/>
              <a:t>Ma</a:t>
            </a:r>
            <a:r>
              <a:rPr spc="-20" dirty="0"/>
              <a:t>ch</a:t>
            </a:r>
            <a:r>
              <a:rPr spc="20" dirty="0"/>
              <a:t>in</a:t>
            </a:r>
            <a:r>
              <a:rPr spc="-139" dirty="0"/>
              <a:t>e</a:t>
            </a:r>
            <a:r>
              <a:rPr spc="129" dirty="0"/>
              <a:t> </a:t>
            </a:r>
            <a:r>
              <a:rPr spc="20" dirty="0"/>
              <a:t>Le</a:t>
            </a:r>
            <a:r>
              <a:rPr spc="-59" dirty="0"/>
              <a:t>a</a:t>
            </a:r>
            <a:r>
              <a:rPr spc="-89" dirty="0"/>
              <a:t>rn</a:t>
            </a:r>
            <a:r>
              <a:rPr spc="20" dirty="0"/>
              <a:t>in</a:t>
            </a:r>
            <a:r>
              <a:rPr spc="159" dirty="0"/>
              <a:t>g</a:t>
            </a:r>
          </a:p>
        </p:txBody>
      </p:sp>
      <p:sp>
        <p:nvSpPr>
          <p:cNvPr id="4" name="object 4">
            <a:extLst>
              <a:ext uri="{FF2B5EF4-FFF2-40B4-BE49-F238E27FC236}">
                <a16:creationId xmlns="" xmlns:a16="http://schemas.microsoft.com/office/drawing/2014/main" id="{4A07C7CE-A501-4C5B-BFC0-DF3DDF1DE142}"/>
              </a:ext>
            </a:extLst>
          </p:cNvPr>
          <p:cNvSpPr/>
          <p:nvPr/>
        </p:nvSpPr>
        <p:spPr>
          <a:xfrm>
            <a:off x="1697038" y="1550989"/>
            <a:ext cx="8794750" cy="103187"/>
          </a:xfrm>
          <a:custGeom>
            <a:avLst/>
            <a:gdLst/>
            <a:ahLst/>
            <a:cxnLst/>
            <a:rect l="l" t="t" r="r" b="b"/>
            <a:pathLst>
              <a:path w="4438015" h="52069">
                <a:moveTo>
                  <a:pt x="0" y="51815"/>
                </a:moveTo>
                <a:lnTo>
                  <a:pt x="4437887" y="51815"/>
                </a:lnTo>
                <a:lnTo>
                  <a:pt x="4437887" y="0"/>
                </a:lnTo>
                <a:lnTo>
                  <a:pt x="0" y="0"/>
                </a:lnTo>
                <a:lnTo>
                  <a:pt x="0" y="51815"/>
                </a:lnTo>
                <a:close/>
              </a:path>
            </a:pathLst>
          </a:custGeom>
        </p:spPr>
        <p:txBody>
          <a:bodyPr lIns="0" tIns="0" rIns="0" bIns="0"/>
          <a:lstStyle/>
          <a:p>
            <a:pPr defTabSz="1812066">
              <a:defRPr/>
            </a:pPr>
            <a:endParaRPr sz="3567">
              <a:solidFill>
                <a:prstClr val="black"/>
              </a:solidFill>
              <a:latin typeface="Calibri"/>
            </a:endParaRPr>
          </a:p>
        </p:txBody>
      </p:sp>
      <p:sp>
        <p:nvSpPr>
          <p:cNvPr id="7" name="object 7">
            <a:extLst>
              <a:ext uri="{FF2B5EF4-FFF2-40B4-BE49-F238E27FC236}">
                <a16:creationId xmlns="" xmlns:a16="http://schemas.microsoft.com/office/drawing/2014/main" id="{55129BE5-EC14-4304-82E8-460E944A71F0}"/>
              </a:ext>
            </a:extLst>
          </p:cNvPr>
          <p:cNvSpPr/>
          <p:nvPr/>
        </p:nvSpPr>
        <p:spPr>
          <a:xfrm>
            <a:off x="1903414" y="2825750"/>
            <a:ext cx="8485187" cy="133350"/>
          </a:xfrm>
          <a:custGeom>
            <a:avLst/>
            <a:gdLst/>
            <a:ahLst/>
            <a:cxnLst/>
            <a:rect l="l" t="t" r="r" b="b"/>
            <a:pathLst>
              <a:path w="4282440" h="67309">
                <a:moveTo>
                  <a:pt x="0" y="67055"/>
                </a:moveTo>
                <a:lnTo>
                  <a:pt x="4282439" y="67055"/>
                </a:lnTo>
                <a:lnTo>
                  <a:pt x="4282439" y="0"/>
                </a:lnTo>
                <a:lnTo>
                  <a:pt x="0" y="0"/>
                </a:lnTo>
                <a:lnTo>
                  <a:pt x="0" y="67055"/>
                </a:lnTo>
                <a:close/>
              </a:path>
            </a:pathLst>
          </a:custGeom>
        </p:spPr>
        <p:txBody>
          <a:bodyPr lIns="0" tIns="0" rIns="0" bIns="0"/>
          <a:lstStyle/>
          <a:p>
            <a:pPr defTabSz="1812066">
              <a:defRPr/>
            </a:pPr>
            <a:endParaRPr sz="3567">
              <a:solidFill>
                <a:prstClr val="black"/>
              </a:solidFill>
              <a:latin typeface="Calibri"/>
            </a:endParaRPr>
          </a:p>
        </p:txBody>
      </p:sp>
      <p:sp>
        <p:nvSpPr>
          <p:cNvPr id="8" name="object 8">
            <a:extLst>
              <a:ext uri="{FF2B5EF4-FFF2-40B4-BE49-F238E27FC236}">
                <a16:creationId xmlns="" xmlns:a16="http://schemas.microsoft.com/office/drawing/2014/main" id="{C94FA229-4B71-407C-B96D-C0FE8E6F1FA2}"/>
              </a:ext>
            </a:extLst>
          </p:cNvPr>
          <p:cNvSpPr/>
          <p:nvPr/>
        </p:nvSpPr>
        <p:spPr>
          <a:xfrm>
            <a:off x="10485439" y="1285875"/>
            <a:ext cx="103187" cy="204788"/>
          </a:xfrm>
          <a:prstGeom prst="rect">
            <a:avLst/>
          </a:prstGeom>
          <a:blipFill>
            <a:blip r:embed="rId3" cstate="print"/>
            <a:stretch>
              <a:fillRect/>
            </a:stretch>
          </a:blipFill>
        </p:spPr>
        <p:txBody>
          <a:bodyPr lIns="0" tIns="0" rIns="0" bIns="0"/>
          <a:lstStyle/>
          <a:p>
            <a:pPr defTabSz="1812066">
              <a:defRPr/>
            </a:pPr>
            <a:endParaRPr sz="3567">
              <a:solidFill>
                <a:prstClr val="black"/>
              </a:solidFill>
              <a:latin typeface="Calibri"/>
            </a:endParaRPr>
          </a:p>
        </p:txBody>
      </p:sp>
      <p:sp>
        <p:nvSpPr>
          <p:cNvPr id="9" name="object 9">
            <a:extLst>
              <a:ext uri="{FF2B5EF4-FFF2-40B4-BE49-F238E27FC236}">
                <a16:creationId xmlns="" xmlns:a16="http://schemas.microsoft.com/office/drawing/2014/main" id="{771AAEEE-D188-418E-8A7A-2CDA087703D4}"/>
              </a:ext>
            </a:extLst>
          </p:cNvPr>
          <p:cNvSpPr/>
          <p:nvPr/>
        </p:nvSpPr>
        <p:spPr>
          <a:xfrm>
            <a:off x="10485439" y="1382713"/>
            <a:ext cx="103187" cy="1377950"/>
          </a:xfrm>
          <a:custGeom>
            <a:avLst/>
            <a:gdLst/>
            <a:ahLst/>
            <a:cxnLst/>
            <a:rect l="l" t="t" r="r" b="b"/>
            <a:pathLst>
              <a:path w="52070" h="695325">
                <a:moveTo>
                  <a:pt x="0" y="694943"/>
                </a:moveTo>
                <a:lnTo>
                  <a:pt x="51815" y="694943"/>
                </a:lnTo>
                <a:lnTo>
                  <a:pt x="51815" y="0"/>
                </a:lnTo>
                <a:lnTo>
                  <a:pt x="0" y="0"/>
                </a:lnTo>
                <a:lnTo>
                  <a:pt x="0" y="694943"/>
                </a:lnTo>
                <a:close/>
              </a:path>
            </a:pathLst>
          </a:custGeom>
        </p:spPr>
        <p:txBody>
          <a:bodyPr lIns="0" tIns="0" rIns="0" bIns="0"/>
          <a:lstStyle/>
          <a:p>
            <a:pPr defTabSz="1812066">
              <a:defRPr/>
            </a:pPr>
            <a:endParaRPr sz="3567">
              <a:solidFill>
                <a:prstClr val="black"/>
              </a:solidFill>
              <a:latin typeface="Calibri"/>
            </a:endParaRPr>
          </a:p>
        </p:txBody>
      </p:sp>
      <p:sp>
        <p:nvSpPr>
          <p:cNvPr id="12" name="object 12">
            <a:extLst>
              <a:ext uri="{FF2B5EF4-FFF2-40B4-BE49-F238E27FC236}">
                <a16:creationId xmlns="" xmlns:a16="http://schemas.microsoft.com/office/drawing/2014/main" id="{A9B909F3-5C16-464F-9394-C15EF4774277}"/>
              </a:ext>
            </a:extLst>
          </p:cNvPr>
          <p:cNvSpPr/>
          <p:nvPr/>
        </p:nvSpPr>
        <p:spPr>
          <a:xfrm>
            <a:off x="10485438" y="1336675"/>
            <a:ext cx="0" cy="25400"/>
          </a:xfrm>
          <a:custGeom>
            <a:avLst/>
            <a:gdLst/>
            <a:ahLst/>
            <a:cxnLst/>
            <a:rect l="l" t="t" r="r" b="b"/>
            <a:pathLst>
              <a:path h="12700">
                <a:moveTo>
                  <a:pt x="0" y="12691"/>
                </a:moveTo>
                <a:lnTo>
                  <a:pt x="0" y="0"/>
                </a:lnTo>
              </a:path>
            </a:pathLst>
          </a:custGeom>
          <a:ln w="3175">
            <a:solidFill>
              <a:srgbClr val="AFAFAF"/>
            </a:solidFill>
          </a:ln>
        </p:spPr>
        <p:txBody>
          <a:bodyPr lIns="0" tIns="0" rIns="0" bIns="0"/>
          <a:lstStyle/>
          <a:p>
            <a:pPr defTabSz="1812066">
              <a:defRPr/>
            </a:pPr>
            <a:endParaRPr sz="3567">
              <a:solidFill>
                <a:prstClr val="black"/>
              </a:solidFill>
              <a:latin typeface="Calibri"/>
            </a:endParaRPr>
          </a:p>
        </p:txBody>
      </p:sp>
      <p:sp>
        <p:nvSpPr>
          <p:cNvPr id="13" name="object 13">
            <a:extLst>
              <a:ext uri="{FF2B5EF4-FFF2-40B4-BE49-F238E27FC236}">
                <a16:creationId xmlns="" xmlns:a16="http://schemas.microsoft.com/office/drawing/2014/main" id="{D0E35DCC-B64B-404A-B61A-7C04E319378F}"/>
              </a:ext>
            </a:extLst>
          </p:cNvPr>
          <p:cNvSpPr/>
          <p:nvPr/>
        </p:nvSpPr>
        <p:spPr>
          <a:xfrm>
            <a:off x="10485438" y="1311275"/>
            <a:ext cx="0" cy="25400"/>
          </a:xfrm>
          <a:custGeom>
            <a:avLst/>
            <a:gdLst/>
            <a:ahLst/>
            <a:cxnLst/>
            <a:rect l="l" t="t" r="r" b="b"/>
            <a:pathLst>
              <a:path h="12700">
                <a:moveTo>
                  <a:pt x="0" y="12704"/>
                </a:moveTo>
                <a:lnTo>
                  <a:pt x="0" y="0"/>
                </a:lnTo>
              </a:path>
            </a:pathLst>
          </a:custGeom>
          <a:ln w="3175">
            <a:solidFill>
              <a:srgbClr val="CECECE"/>
            </a:solidFill>
          </a:ln>
        </p:spPr>
        <p:txBody>
          <a:bodyPr lIns="0" tIns="0" rIns="0" bIns="0"/>
          <a:lstStyle/>
          <a:p>
            <a:pPr defTabSz="1812066">
              <a:defRPr/>
            </a:pPr>
            <a:endParaRPr sz="3567">
              <a:solidFill>
                <a:prstClr val="black"/>
              </a:solidFill>
              <a:latin typeface="Calibri"/>
            </a:endParaRPr>
          </a:p>
        </p:txBody>
      </p:sp>
      <p:sp>
        <p:nvSpPr>
          <p:cNvPr id="14" name="object 14">
            <a:extLst>
              <a:ext uri="{FF2B5EF4-FFF2-40B4-BE49-F238E27FC236}">
                <a16:creationId xmlns="" xmlns:a16="http://schemas.microsoft.com/office/drawing/2014/main" id="{42EBA4A6-E673-410A-B1E4-31E0E53B7303}"/>
              </a:ext>
            </a:extLst>
          </p:cNvPr>
          <p:cNvSpPr/>
          <p:nvPr/>
        </p:nvSpPr>
        <p:spPr>
          <a:xfrm>
            <a:off x="10485438" y="1285875"/>
            <a:ext cx="0" cy="25400"/>
          </a:xfrm>
          <a:custGeom>
            <a:avLst/>
            <a:gdLst/>
            <a:ahLst/>
            <a:cxnLst/>
            <a:rect l="l" t="t" r="r" b="b"/>
            <a:pathLst>
              <a:path h="12700">
                <a:moveTo>
                  <a:pt x="0" y="12704"/>
                </a:moveTo>
                <a:lnTo>
                  <a:pt x="0" y="0"/>
                </a:lnTo>
              </a:path>
            </a:pathLst>
          </a:custGeom>
          <a:ln w="3175">
            <a:solidFill>
              <a:srgbClr val="EFEFEF"/>
            </a:solidFill>
          </a:ln>
        </p:spPr>
        <p:txBody>
          <a:bodyPr lIns="0" tIns="0" rIns="0" bIns="0"/>
          <a:lstStyle/>
          <a:p>
            <a:pPr defTabSz="1812066">
              <a:defRPr/>
            </a:pPr>
            <a:endParaRPr sz="3567">
              <a:solidFill>
                <a:prstClr val="black"/>
              </a:solidFill>
              <a:latin typeface="Calibri"/>
            </a:endParaRPr>
          </a:p>
        </p:txBody>
      </p:sp>
      <p:sp>
        <p:nvSpPr>
          <p:cNvPr id="5" name="Slide Number Placeholder 4">
            <a:extLst>
              <a:ext uri="{FF2B5EF4-FFF2-40B4-BE49-F238E27FC236}">
                <a16:creationId xmlns="" xmlns:a16="http://schemas.microsoft.com/office/drawing/2014/main" id="{7F55198F-58E8-4009-AFAC-1EF6B04778F0}"/>
              </a:ext>
            </a:extLst>
          </p:cNvPr>
          <p:cNvSpPr>
            <a:spLocks noGrp="1"/>
          </p:cNvSpPr>
          <p:nvPr>
            <p:ph type="sldNum" sz="quarter" idx="12"/>
          </p:nvPr>
        </p:nvSpPr>
        <p:spPr/>
        <p:txBody>
          <a:bodyPr/>
          <a:lstStyle/>
          <a:p>
            <a:fld id="{EE5DF52D-0FE0-4249-9023-8B500BDB729B}" type="slidenum">
              <a:rPr lang="fr-FR" smtClean="0"/>
              <a:pPr/>
              <a:t>6</a:t>
            </a:fld>
            <a:endParaRPr lang="fr-FR"/>
          </a:p>
        </p:txBody>
      </p:sp>
      <p:sp>
        <p:nvSpPr>
          <p:cNvPr id="6" name="AutoShape 2" descr="Overview of machine learning techniques.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1184" y="1490663"/>
            <a:ext cx="6391275" cy="474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Rectangle 4">
            <a:extLst>
              <a:ext uri="{FF2B5EF4-FFF2-40B4-BE49-F238E27FC236}">
                <a16:creationId xmlns="" xmlns:a16="http://schemas.microsoft.com/office/drawing/2014/main" id="{190859E1-7BF5-49F1-88AB-244FBC65BD4E}"/>
              </a:ext>
            </a:extLst>
          </p:cNvPr>
          <p:cNvSpPr>
            <a:spLocks noChangeArrowheads="1"/>
          </p:cNvSpPr>
          <p:nvPr/>
        </p:nvSpPr>
        <p:spPr bwMode="auto">
          <a:xfrm>
            <a:off x="1560513" y="38101"/>
            <a:ext cx="9144000" cy="366713"/>
          </a:xfrm>
          <a:prstGeom prst="rect">
            <a:avLst/>
          </a:prstGeom>
          <a:solidFill>
            <a:srgbClr val="3366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fr-FR" altLang="fr-FR" sz="1800">
                <a:solidFill>
                  <a:schemeClr val="tx1"/>
                </a:solidFill>
              </a:rPr>
              <a:t>Intelligence Artificielle 		APPRENTISSAGE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 xmlns:a16="http://schemas.microsoft.com/office/drawing/2014/main" id="{A37E8CAB-655A-478A-9CA1-33E62EE55BEE}"/>
              </a:ext>
            </a:extLst>
          </p:cNvPr>
          <p:cNvSpPr>
            <a:spLocks noChangeArrowheads="1"/>
          </p:cNvSpPr>
          <p:nvPr/>
        </p:nvSpPr>
        <p:spPr bwMode="auto">
          <a:xfrm>
            <a:off x="1524000" y="757238"/>
            <a:ext cx="91440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fr-CA" altLang="fr-FR" sz="2400" b="1" dirty="0">
              <a:solidFill>
                <a:schemeClr val="tx1"/>
              </a:solidFill>
            </a:endParaRPr>
          </a:p>
          <a:p>
            <a:pPr eaLnBrk="1" hangingPunct="1">
              <a:spcBef>
                <a:spcPct val="0"/>
              </a:spcBef>
              <a:buClrTx/>
              <a:buSzTx/>
              <a:buFontTx/>
              <a:buNone/>
            </a:pPr>
            <a:r>
              <a:rPr lang="fr-CA" altLang="fr-FR" sz="2000" dirty="0" smtClean="0">
                <a:solidFill>
                  <a:schemeClr val="accent2"/>
                </a:solidFill>
              </a:rPr>
              <a:t>Quatre types </a:t>
            </a:r>
            <a:r>
              <a:rPr lang="fr-CA" altLang="fr-FR" sz="2000" dirty="0">
                <a:solidFill>
                  <a:schemeClr val="accent2"/>
                </a:solidFill>
              </a:rPr>
              <a:t>d’apprentissage :</a:t>
            </a:r>
          </a:p>
          <a:p>
            <a:pPr eaLnBrk="1" hangingPunct="1">
              <a:spcBef>
                <a:spcPct val="0"/>
              </a:spcBef>
              <a:buClrTx/>
              <a:buSzTx/>
              <a:buFontTx/>
              <a:buNone/>
            </a:pPr>
            <a:endParaRPr lang="fr-CA" altLang="fr-FR" sz="2000" dirty="0">
              <a:solidFill>
                <a:schemeClr val="accent2"/>
              </a:solidFill>
            </a:endParaRPr>
          </a:p>
          <a:p>
            <a:pPr eaLnBrk="1" hangingPunct="1">
              <a:spcBef>
                <a:spcPct val="0"/>
              </a:spcBef>
              <a:buClrTx/>
              <a:buSzTx/>
              <a:buFontTx/>
              <a:buNone/>
            </a:pPr>
            <a:r>
              <a:rPr lang="fr-CA" altLang="fr-FR" sz="2400" b="1" dirty="0">
                <a:solidFill>
                  <a:srgbClr val="FF0000"/>
                </a:solidFill>
              </a:rPr>
              <a:t> </a:t>
            </a:r>
            <a:r>
              <a:rPr lang="fr-CA" altLang="fr-FR" sz="2400" b="1" i="1" dirty="0">
                <a:solidFill>
                  <a:srgbClr val="FF0000"/>
                </a:solidFill>
              </a:rPr>
              <a:t>Apprentissage supervisé</a:t>
            </a:r>
          </a:p>
          <a:p>
            <a:pPr eaLnBrk="1" hangingPunct="1">
              <a:spcBef>
                <a:spcPct val="0"/>
              </a:spcBef>
              <a:buClrTx/>
              <a:buSzTx/>
              <a:buFontTx/>
              <a:buNone/>
            </a:pPr>
            <a:r>
              <a:rPr lang="fr-CA" altLang="fr-FR" sz="2000" dirty="0">
                <a:solidFill>
                  <a:schemeClr val="accent2"/>
                </a:solidFill>
              </a:rPr>
              <a:t>	- Le retour désiré est connu.</a:t>
            </a:r>
          </a:p>
          <a:p>
            <a:pPr eaLnBrk="1" hangingPunct="1">
              <a:spcBef>
                <a:spcPct val="0"/>
              </a:spcBef>
              <a:buClrTx/>
              <a:buSzTx/>
              <a:buFontTx/>
              <a:buNone/>
            </a:pPr>
            <a:endParaRPr lang="fr-CA" altLang="fr-FR" sz="2000" dirty="0">
              <a:solidFill>
                <a:schemeClr val="accent2"/>
              </a:solidFill>
            </a:endParaRPr>
          </a:p>
          <a:p>
            <a:pPr eaLnBrk="1" hangingPunct="1">
              <a:spcBef>
                <a:spcPct val="0"/>
              </a:spcBef>
              <a:buClrTx/>
              <a:buSzTx/>
              <a:buFontTx/>
              <a:buNone/>
            </a:pPr>
            <a:r>
              <a:rPr lang="fr-CA" altLang="fr-FR" sz="2400" b="1" dirty="0">
                <a:solidFill>
                  <a:srgbClr val="FF0000"/>
                </a:solidFill>
              </a:rPr>
              <a:t> </a:t>
            </a:r>
            <a:r>
              <a:rPr lang="fr-CA" altLang="fr-FR" sz="2400" b="1" i="1" dirty="0">
                <a:solidFill>
                  <a:srgbClr val="FF0000"/>
                </a:solidFill>
              </a:rPr>
              <a:t>Apprentissage non supervisé</a:t>
            </a:r>
          </a:p>
          <a:p>
            <a:pPr eaLnBrk="1" hangingPunct="1">
              <a:spcBef>
                <a:spcPct val="0"/>
              </a:spcBef>
              <a:buClrTx/>
              <a:buSzTx/>
              <a:buFontTx/>
              <a:buNone/>
            </a:pPr>
            <a:r>
              <a:rPr lang="fr-CA" altLang="fr-FR" sz="2000" dirty="0">
                <a:solidFill>
                  <a:schemeClr val="accent2"/>
                </a:solidFill>
              </a:rPr>
              <a:t>	- Aucun indice. L’agent apprend à partir des relations entre les perceptions. Il apprend à prédire les perceptions à partir de celles du passé.</a:t>
            </a:r>
          </a:p>
          <a:p>
            <a:pPr eaLnBrk="1" hangingPunct="1">
              <a:spcBef>
                <a:spcPct val="0"/>
              </a:spcBef>
              <a:buClrTx/>
              <a:buSzTx/>
              <a:buFontTx/>
              <a:buNone/>
            </a:pPr>
            <a:r>
              <a:rPr lang="fr-CA" altLang="fr-FR" sz="2000" dirty="0">
                <a:solidFill>
                  <a:schemeClr val="accent2"/>
                </a:solidFill>
              </a:rPr>
              <a:t> </a:t>
            </a:r>
          </a:p>
          <a:p>
            <a:pPr eaLnBrk="1" hangingPunct="1">
              <a:spcBef>
                <a:spcPct val="0"/>
              </a:spcBef>
              <a:buClrTx/>
              <a:buSzTx/>
              <a:buFontTx/>
              <a:buNone/>
            </a:pPr>
            <a:r>
              <a:rPr lang="fr-CA" altLang="fr-FR" sz="2400" b="1" i="1" dirty="0">
                <a:solidFill>
                  <a:srgbClr val="FF0000"/>
                </a:solidFill>
              </a:rPr>
              <a:t>Apprentissage semi-supervisé</a:t>
            </a:r>
          </a:p>
          <a:p>
            <a:pPr eaLnBrk="1" hangingPunct="1">
              <a:spcBef>
                <a:spcPct val="0"/>
              </a:spcBef>
              <a:buClrTx/>
              <a:buSzTx/>
              <a:buFontTx/>
              <a:buNone/>
            </a:pPr>
            <a:r>
              <a:rPr lang="fr-CA" altLang="fr-FR" sz="2000" dirty="0">
                <a:solidFill>
                  <a:schemeClr val="accent2"/>
                </a:solidFill>
              </a:rPr>
              <a:t>	- Une partie de données avec le retour désiré, l’autre partie est sans retour. On utilise le supervisé qui va guider le non-supervisé</a:t>
            </a:r>
          </a:p>
          <a:p>
            <a:pPr eaLnBrk="1" hangingPunct="1">
              <a:spcBef>
                <a:spcPct val="0"/>
              </a:spcBef>
              <a:buClrTx/>
              <a:buSzTx/>
              <a:buFontTx/>
              <a:buNone/>
            </a:pPr>
            <a:r>
              <a:rPr lang="fr-CA" altLang="fr-FR" sz="2000" dirty="0">
                <a:solidFill>
                  <a:schemeClr val="accent2"/>
                </a:solidFill>
              </a:rPr>
              <a:t> </a:t>
            </a:r>
          </a:p>
          <a:p>
            <a:pPr eaLnBrk="1" hangingPunct="1">
              <a:spcBef>
                <a:spcPct val="0"/>
              </a:spcBef>
              <a:buClrTx/>
              <a:buSzTx/>
              <a:buFontTx/>
              <a:buNone/>
            </a:pPr>
            <a:r>
              <a:rPr lang="fr-CA" altLang="fr-FR" sz="2400" b="1" i="1" dirty="0">
                <a:solidFill>
                  <a:srgbClr val="FF0000"/>
                </a:solidFill>
              </a:rPr>
              <a:t>Apprentissage par renforcement</a:t>
            </a:r>
          </a:p>
          <a:p>
            <a:pPr eaLnBrk="1" hangingPunct="1">
              <a:spcBef>
                <a:spcPct val="0"/>
              </a:spcBef>
              <a:buClrTx/>
              <a:buSzTx/>
              <a:buFontTx/>
              <a:buNone/>
            </a:pPr>
            <a:r>
              <a:rPr lang="fr-CA" altLang="fr-FR" sz="2000" dirty="0">
                <a:solidFill>
                  <a:schemeClr val="accent2"/>
                </a:solidFill>
              </a:rPr>
              <a:t>	- Le résultat désiré est inconnu. L’évaluation de l’action est faite par 	récompense ou punition.</a:t>
            </a:r>
          </a:p>
        </p:txBody>
      </p:sp>
      <p:sp>
        <p:nvSpPr>
          <p:cNvPr id="13315" name="Rectangle 4">
            <a:extLst>
              <a:ext uri="{FF2B5EF4-FFF2-40B4-BE49-F238E27FC236}">
                <a16:creationId xmlns="" xmlns:a16="http://schemas.microsoft.com/office/drawing/2014/main" id="{E48FB0E8-325F-41D7-8D2E-A9CF8B6C26ED}"/>
              </a:ext>
            </a:extLst>
          </p:cNvPr>
          <p:cNvSpPr>
            <a:spLocks noChangeArrowheads="1"/>
          </p:cNvSpPr>
          <p:nvPr/>
        </p:nvSpPr>
        <p:spPr bwMode="auto">
          <a:xfrm>
            <a:off x="1560513" y="38101"/>
            <a:ext cx="9144000" cy="366713"/>
          </a:xfrm>
          <a:prstGeom prst="rect">
            <a:avLst/>
          </a:prstGeom>
          <a:solidFill>
            <a:srgbClr val="3366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fr-FR" altLang="fr-FR" sz="1800">
                <a:solidFill>
                  <a:schemeClr val="tx1"/>
                </a:solidFill>
              </a:rPr>
              <a:t>Intelligence Artificielle 		APPRENTISSAGE 	</a:t>
            </a:r>
          </a:p>
        </p:txBody>
      </p:sp>
      <p:sp>
        <p:nvSpPr>
          <p:cNvPr id="2" name="Slide Number Placeholder 1">
            <a:extLst>
              <a:ext uri="{FF2B5EF4-FFF2-40B4-BE49-F238E27FC236}">
                <a16:creationId xmlns="" xmlns:a16="http://schemas.microsoft.com/office/drawing/2014/main" id="{741902B3-4976-46AD-8E1A-A48D32DFA884}"/>
              </a:ext>
            </a:extLst>
          </p:cNvPr>
          <p:cNvSpPr>
            <a:spLocks noGrp="1"/>
          </p:cNvSpPr>
          <p:nvPr>
            <p:ph type="sldNum" sz="quarter" idx="12"/>
          </p:nvPr>
        </p:nvSpPr>
        <p:spPr/>
        <p:txBody>
          <a:bodyPr/>
          <a:lstStyle/>
          <a:p>
            <a:fld id="{EE5DF52D-0FE0-4249-9023-8B500BDB729B}" type="slidenum">
              <a:rPr lang="fr-FR" smtClean="0"/>
              <a:pPr/>
              <a:t>7</a:t>
            </a:fld>
            <a:endParaRPr lang="fr-F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a:extLst>
              <a:ext uri="{FF2B5EF4-FFF2-40B4-BE49-F238E27FC236}">
                <a16:creationId xmlns="" xmlns:a16="http://schemas.microsoft.com/office/drawing/2014/main" id="{DC6579F7-6C25-4666-BF2B-82A9BE96BBC9}"/>
              </a:ext>
            </a:extLst>
          </p:cNvPr>
          <p:cNvSpPr>
            <a:spLocks noGrp="1" noChangeArrowheads="1"/>
          </p:cNvSpPr>
          <p:nvPr>
            <p:ph type="title"/>
          </p:nvPr>
        </p:nvSpPr>
        <p:spPr>
          <a:xfrm>
            <a:off x="1981201" y="142876"/>
            <a:ext cx="8143875" cy="1406525"/>
          </a:xfrm>
        </p:spPr>
        <p:txBody>
          <a:bodyPr/>
          <a:lstStyle/>
          <a:p>
            <a:r>
              <a:rPr lang="fr-FR" altLang="fr-FR"/>
              <a:t>Types d’apprentissages</a:t>
            </a:r>
          </a:p>
        </p:txBody>
      </p:sp>
      <p:sp>
        <p:nvSpPr>
          <p:cNvPr id="183299" name="Rectangle 3">
            <a:extLst>
              <a:ext uri="{FF2B5EF4-FFF2-40B4-BE49-F238E27FC236}">
                <a16:creationId xmlns="" xmlns:a16="http://schemas.microsoft.com/office/drawing/2014/main" id="{17548A4C-A513-4892-A757-5724A8801806}"/>
              </a:ext>
            </a:extLst>
          </p:cNvPr>
          <p:cNvSpPr>
            <a:spLocks noGrp="1" noChangeArrowheads="1"/>
          </p:cNvSpPr>
          <p:nvPr>
            <p:ph type="body" idx="1"/>
          </p:nvPr>
        </p:nvSpPr>
        <p:spPr>
          <a:xfrm>
            <a:off x="1774826" y="1628776"/>
            <a:ext cx="8602663" cy="4899025"/>
          </a:xfrm>
        </p:spPr>
        <p:txBody>
          <a:bodyPr/>
          <a:lstStyle/>
          <a:p>
            <a:pPr marL="0" indent="0">
              <a:lnSpc>
                <a:spcPct val="130000"/>
              </a:lnSpc>
              <a:spcBef>
                <a:spcPct val="90000"/>
              </a:spcBef>
              <a:spcAft>
                <a:spcPct val="10000"/>
              </a:spcAft>
              <a:buClr>
                <a:srgbClr val="AD2700"/>
              </a:buClr>
              <a:buNone/>
              <a:tabLst>
                <a:tab pos="571500" algn="l"/>
              </a:tabLst>
              <a:defRPr/>
            </a:pPr>
            <a:r>
              <a:rPr lang="fr-FR" b="1" u="sng" dirty="0">
                <a:effectLst>
                  <a:outerShdw blurRad="38100" dist="38100" dir="2700000" algn="tl">
                    <a:srgbClr val="000000">
                      <a:alpha val="43137"/>
                    </a:srgbClr>
                  </a:outerShdw>
                </a:effectLst>
                <a:latin typeface="Times" charset="0"/>
              </a:rPr>
              <a:t>Apprentissage </a:t>
            </a:r>
            <a:r>
              <a:rPr lang="fr-FR" b="1" u="sng" dirty="0">
                <a:solidFill>
                  <a:srgbClr val="FF0000"/>
                </a:solidFill>
                <a:effectLst>
                  <a:outerShdw blurRad="38100" dist="38100" dir="2700000" algn="tl">
                    <a:srgbClr val="000000">
                      <a:alpha val="43137"/>
                    </a:srgbClr>
                  </a:outerShdw>
                </a:effectLst>
                <a:latin typeface="Times" charset="0"/>
              </a:rPr>
              <a:t>supervisé</a:t>
            </a:r>
            <a:endParaRPr lang="fr-FR" b="1" u="sng" dirty="0">
              <a:solidFill>
                <a:srgbClr val="FF0000"/>
              </a:solidFill>
              <a:effectLst>
                <a:outerShdw blurRad="38100" dist="38100" dir="2700000" algn="tl">
                  <a:srgbClr val="000000">
                    <a:alpha val="43137"/>
                  </a:srgbClr>
                </a:outerShdw>
              </a:effectLst>
              <a:latin typeface="Times" charset="0"/>
            </a:endParaRPr>
          </a:p>
          <a:p>
            <a:pPr marL="406400" indent="-381000">
              <a:lnSpc>
                <a:spcPct val="150000"/>
              </a:lnSpc>
              <a:spcBef>
                <a:spcPct val="0"/>
              </a:spcBef>
              <a:buNone/>
              <a:tabLst>
                <a:tab pos="571500" algn="l"/>
              </a:tabLst>
              <a:defRPr/>
            </a:pPr>
            <a:r>
              <a:rPr lang="fr-FR" sz="2200" dirty="0"/>
              <a:t>		À partir de l’</a:t>
            </a:r>
            <a:r>
              <a:rPr lang="fr-FR" sz="2200" i="1" dirty="0">
                <a:solidFill>
                  <a:srgbClr val="00279F"/>
                </a:solidFill>
              </a:rPr>
              <a:t>échantillon d’apprentissage</a:t>
            </a:r>
            <a:r>
              <a:rPr lang="fr-FR" sz="2200" dirty="0"/>
              <a:t>  </a:t>
            </a:r>
            <a:r>
              <a:rPr lang="fr-FR" sz="2200" dirty="0">
                <a:latin typeface="Lucida Calligraphy" pitchFamily="66" charset="0"/>
              </a:rPr>
              <a:t>S </a:t>
            </a:r>
            <a:r>
              <a:rPr lang="fr-FR" sz="2200" dirty="0"/>
              <a:t>= {(</a:t>
            </a:r>
            <a:r>
              <a:rPr lang="fr-FR" sz="2200" i="1" dirty="0"/>
              <a:t>x</a:t>
            </a:r>
            <a:r>
              <a:rPr lang="fr-FR" sz="2200" i="1" baseline="-25000" dirty="0"/>
              <a:t>i</a:t>
            </a:r>
            <a:r>
              <a:rPr lang="fr-FR" sz="2200" dirty="0"/>
              <a:t>, </a:t>
            </a:r>
            <a:r>
              <a:rPr lang="fr-FR" sz="2200" i="1" dirty="0" err="1"/>
              <a:t>u</a:t>
            </a:r>
            <a:r>
              <a:rPr lang="fr-FR" sz="2200" i="1" baseline="-25000" dirty="0" err="1"/>
              <a:t>i</a:t>
            </a:r>
            <a:r>
              <a:rPr lang="fr-FR" sz="2200" dirty="0"/>
              <a:t>)}</a:t>
            </a:r>
            <a:r>
              <a:rPr lang="fr-FR" sz="2200" i="1" baseline="-25000" dirty="0"/>
              <a:t>1,m</a:t>
            </a:r>
            <a:r>
              <a:rPr lang="fr-FR" sz="2200" dirty="0"/>
              <a:t>   </a:t>
            </a:r>
            <a:br>
              <a:rPr lang="fr-FR" sz="2200" dirty="0"/>
            </a:br>
            <a:r>
              <a:rPr lang="fr-FR" sz="2200" dirty="0"/>
              <a:t>on cherche une </a:t>
            </a:r>
            <a:r>
              <a:rPr lang="fr-FR" sz="2200" u="sng" dirty="0"/>
              <a:t>loi de dépendance</a:t>
            </a:r>
            <a:r>
              <a:rPr lang="fr-FR" sz="2200" dirty="0"/>
              <a:t> sous-jacente</a:t>
            </a:r>
          </a:p>
          <a:p>
            <a:pPr marL="838200" lvl="1" indent="-342900">
              <a:lnSpc>
                <a:spcPct val="150000"/>
              </a:lnSpc>
              <a:spcBef>
                <a:spcPct val="100000"/>
              </a:spcBef>
              <a:tabLst>
                <a:tab pos="571500" algn="l"/>
              </a:tabLst>
              <a:defRPr/>
            </a:pPr>
            <a:r>
              <a:rPr lang="fr-FR" sz="2200" dirty="0">
                <a:solidFill>
                  <a:srgbClr val="777777"/>
                </a:solidFill>
              </a:rPr>
              <a:t>Par exemple </a:t>
            </a:r>
            <a:r>
              <a:rPr lang="fr-FR" sz="2200" dirty="0"/>
              <a:t>une fonction </a:t>
            </a:r>
            <a:r>
              <a:rPr lang="fr-FR" sz="2200" i="1" dirty="0">
                <a:solidFill>
                  <a:srgbClr val="AD2700"/>
                </a:solidFill>
              </a:rPr>
              <a:t>h</a:t>
            </a:r>
            <a:r>
              <a:rPr lang="fr-FR" sz="2200" dirty="0"/>
              <a:t> aussi proche possible de </a:t>
            </a:r>
            <a:r>
              <a:rPr lang="fr-FR" sz="2200" i="1" dirty="0">
                <a:solidFill>
                  <a:srgbClr val="004E47"/>
                </a:solidFill>
              </a:rPr>
              <a:t>f</a:t>
            </a:r>
            <a:r>
              <a:rPr lang="fr-FR" sz="2200" dirty="0"/>
              <a:t>  (fonction cible) </a:t>
            </a:r>
            <a:br>
              <a:rPr lang="fr-FR" sz="2200" dirty="0"/>
            </a:br>
            <a:r>
              <a:rPr lang="fr-FR" sz="2200" dirty="0"/>
              <a:t>  </a:t>
            </a:r>
            <a:r>
              <a:rPr lang="fr-FR" sz="2200" dirty="0" err="1"/>
              <a:t>tq</a:t>
            </a:r>
            <a:r>
              <a:rPr lang="fr-FR" sz="2200" dirty="0"/>
              <a:t> :  </a:t>
            </a:r>
            <a:r>
              <a:rPr lang="fr-FR" sz="2200" i="1" dirty="0" err="1"/>
              <a:t>u</a:t>
            </a:r>
            <a:r>
              <a:rPr lang="fr-FR" sz="2200" i="1" baseline="-25000" dirty="0" err="1"/>
              <a:t>i</a:t>
            </a:r>
            <a:r>
              <a:rPr lang="fr-FR" sz="2200" dirty="0"/>
              <a:t> = </a:t>
            </a:r>
            <a:r>
              <a:rPr lang="fr-FR" sz="2200" i="1" dirty="0">
                <a:solidFill>
                  <a:srgbClr val="004E47"/>
                </a:solidFill>
              </a:rPr>
              <a:t>f</a:t>
            </a:r>
            <a:r>
              <a:rPr lang="fr-FR" sz="2200" dirty="0"/>
              <a:t>(</a:t>
            </a:r>
            <a:r>
              <a:rPr lang="fr-FR" sz="2200" i="1" dirty="0"/>
              <a:t>x</a:t>
            </a:r>
            <a:r>
              <a:rPr lang="fr-FR" sz="2200" i="1" baseline="-25000" dirty="0"/>
              <a:t>i</a:t>
            </a:r>
            <a:r>
              <a:rPr lang="fr-FR" sz="2200" dirty="0"/>
              <a:t>)</a:t>
            </a:r>
          </a:p>
          <a:p>
            <a:pPr marL="838200" lvl="1" indent="-342900">
              <a:lnSpc>
                <a:spcPct val="150000"/>
              </a:lnSpc>
              <a:tabLst>
                <a:tab pos="571500" algn="l"/>
              </a:tabLst>
              <a:defRPr/>
            </a:pPr>
            <a:r>
              <a:rPr lang="fr-FR" sz="2200" dirty="0">
                <a:solidFill>
                  <a:srgbClr val="777777"/>
                </a:solidFill>
              </a:rPr>
              <a:t>Ou bien </a:t>
            </a:r>
            <a:r>
              <a:rPr lang="fr-FR" sz="2200" dirty="0"/>
              <a:t>une distribution de probabilités  </a:t>
            </a:r>
            <a:r>
              <a:rPr lang="fr-FR" sz="2200" i="1" dirty="0">
                <a:solidFill>
                  <a:srgbClr val="AD2700"/>
                </a:solidFill>
              </a:rPr>
              <a:t>P</a:t>
            </a:r>
            <a:r>
              <a:rPr lang="fr-FR" sz="2200" dirty="0"/>
              <a:t>(</a:t>
            </a:r>
            <a:r>
              <a:rPr lang="fr-FR" sz="2200" i="1" dirty="0"/>
              <a:t>x</a:t>
            </a:r>
            <a:r>
              <a:rPr lang="fr-FR" sz="2200" i="1" baseline="-25000" dirty="0"/>
              <a:t>i</a:t>
            </a:r>
            <a:r>
              <a:rPr lang="fr-FR" sz="2200" dirty="0"/>
              <a:t>, </a:t>
            </a:r>
            <a:r>
              <a:rPr lang="fr-FR" sz="2200" i="1" dirty="0" err="1"/>
              <a:t>u</a:t>
            </a:r>
            <a:r>
              <a:rPr lang="fr-FR" sz="2200" i="1" baseline="-25000" dirty="0" err="1"/>
              <a:t>i</a:t>
            </a:r>
            <a:r>
              <a:rPr lang="fr-FR" sz="2200" dirty="0"/>
              <a:t>)</a:t>
            </a:r>
          </a:p>
          <a:p>
            <a:pPr marL="863600" lvl="1" indent="-381000">
              <a:lnSpc>
                <a:spcPct val="150000"/>
              </a:lnSpc>
              <a:spcBef>
                <a:spcPct val="100000"/>
              </a:spcBef>
              <a:buNone/>
              <a:tabLst>
                <a:tab pos="571500" algn="l"/>
              </a:tabLst>
              <a:defRPr/>
            </a:pPr>
            <a:r>
              <a:rPr lang="fr-FR" sz="2000" dirty="0"/>
              <a:t>		</a:t>
            </a:r>
            <a:r>
              <a:rPr lang="fr-FR" sz="2000" dirty="0">
                <a:solidFill>
                  <a:schemeClr val="folHlink"/>
                </a:solidFill>
              </a:rPr>
              <a:t>A</a:t>
            </a:r>
            <a:r>
              <a:rPr lang="fr-FR" sz="2000" dirty="0" smtClean="0">
                <a:solidFill>
                  <a:schemeClr val="folHlink"/>
                </a:solidFill>
              </a:rPr>
              <a:t>fin </a:t>
            </a:r>
            <a:r>
              <a:rPr lang="fr-FR" sz="2000" dirty="0">
                <a:solidFill>
                  <a:schemeClr val="folHlink"/>
                </a:solidFill>
              </a:rPr>
              <a:t>de prédire l’avenir</a:t>
            </a:r>
          </a:p>
        </p:txBody>
      </p:sp>
      <p:sp>
        <p:nvSpPr>
          <p:cNvPr id="15364" name="Rectangle 4">
            <a:extLst>
              <a:ext uri="{FF2B5EF4-FFF2-40B4-BE49-F238E27FC236}">
                <a16:creationId xmlns="" xmlns:a16="http://schemas.microsoft.com/office/drawing/2014/main" id="{7F2D5653-48A6-467C-9885-2A9D20C5DCE0}"/>
              </a:ext>
            </a:extLst>
          </p:cNvPr>
          <p:cNvSpPr>
            <a:spLocks noChangeArrowheads="1"/>
          </p:cNvSpPr>
          <p:nvPr/>
        </p:nvSpPr>
        <p:spPr bwMode="auto">
          <a:xfrm>
            <a:off x="1560513" y="38101"/>
            <a:ext cx="9144000" cy="366713"/>
          </a:xfrm>
          <a:prstGeom prst="rect">
            <a:avLst/>
          </a:prstGeom>
          <a:solidFill>
            <a:srgbClr val="3366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fr-FR" altLang="fr-FR" sz="1800">
                <a:solidFill>
                  <a:schemeClr val="tx1"/>
                </a:solidFill>
              </a:rPr>
              <a:t>Intelligence Artificielle 		APPRENTISSAGE 	</a:t>
            </a:r>
          </a:p>
        </p:txBody>
      </p:sp>
      <p:sp>
        <p:nvSpPr>
          <p:cNvPr id="2" name="Slide Number Placeholder 1">
            <a:extLst>
              <a:ext uri="{FF2B5EF4-FFF2-40B4-BE49-F238E27FC236}">
                <a16:creationId xmlns="" xmlns:a16="http://schemas.microsoft.com/office/drawing/2014/main" id="{FDBD7E03-7986-4CB5-8228-AA05FB223A1F}"/>
              </a:ext>
            </a:extLst>
          </p:cNvPr>
          <p:cNvSpPr>
            <a:spLocks noGrp="1"/>
          </p:cNvSpPr>
          <p:nvPr>
            <p:ph type="sldNum" sz="quarter" idx="12"/>
          </p:nvPr>
        </p:nvSpPr>
        <p:spPr/>
        <p:txBody>
          <a:bodyPr/>
          <a:lstStyle/>
          <a:p>
            <a:fld id="{EE5DF52D-0FE0-4249-9023-8B500BDB729B}" type="slidenum">
              <a:rPr lang="fr-FR" smtClean="0"/>
              <a:pPr/>
              <a:t>8</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32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329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329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329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832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9" grpId="0" build="p" bldLvl="3"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26">
            <a:extLst>
              <a:ext uri="{FF2B5EF4-FFF2-40B4-BE49-F238E27FC236}">
                <a16:creationId xmlns="" xmlns:a16="http://schemas.microsoft.com/office/drawing/2014/main" id="{BB0A864A-DB6D-488C-88DA-421BA68467A3}"/>
              </a:ext>
            </a:extLst>
          </p:cNvPr>
          <p:cNvSpPr>
            <a:spLocks noGrp="1" noChangeArrowheads="1"/>
          </p:cNvSpPr>
          <p:nvPr>
            <p:ph type="title"/>
          </p:nvPr>
        </p:nvSpPr>
        <p:spPr/>
        <p:txBody>
          <a:bodyPr>
            <a:normAutofit/>
          </a:bodyPr>
          <a:lstStyle/>
          <a:p>
            <a:pPr algn="ctr" eaLnBrk="1" hangingPunct="1">
              <a:lnSpc>
                <a:spcPct val="75000"/>
              </a:lnSpc>
            </a:pPr>
            <a:r>
              <a:rPr lang="fr-FR" altLang="fr-FR" sz="3200" b="1" dirty="0">
                <a:solidFill>
                  <a:srgbClr val="0000FF"/>
                </a:solidFill>
              </a:rPr>
              <a:t>APPRENTISSAGE SUPERVIS</a:t>
            </a:r>
            <a:r>
              <a:rPr lang="fr-FR" altLang="fr-FR" sz="3200" b="1" dirty="0">
                <a:solidFill>
                  <a:srgbClr val="0000FF"/>
                </a:solidFill>
                <a:cs typeface="Times New Roman" panose="02020603050405020304" pitchFamily="18" charset="0"/>
              </a:rPr>
              <a:t>É </a:t>
            </a:r>
            <a:r>
              <a:rPr lang="fr-FR" altLang="fr-FR" sz="3200" b="1" dirty="0" smtClean="0">
                <a:solidFill>
                  <a:srgbClr val="0000FF"/>
                </a:solidFill>
                <a:cs typeface="Times New Roman" panose="02020603050405020304" pitchFamily="18" charset="0"/>
              </a:rPr>
              <a:t>: R</a:t>
            </a:r>
            <a:r>
              <a:rPr lang="fr-FR" altLang="fr-FR" sz="3200" b="1" dirty="0" smtClean="0">
                <a:solidFill>
                  <a:srgbClr val="0000FF"/>
                </a:solidFill>
              </a:rPr>
              <a:t>égression </a:t>
            </a:r>
            <a:r>
              <a:rPr lang="fr-FR" altLang="fr-FR" sz="3200" b="1" dirty="0">
                <a:solidFill>
                  <a:srgbClr val="0000FF"/>
                </a:solidFill>
              </a:rPr>
              <a:t>et </a:t>
            </a:r>
            <a:r>
              <a:rPr lang="fr-FR" altLang="fr-FR" sz="3200" b="1" dirty="0" smtClean="0">
                <a:solidFill>
                  <a:srgbClr val="0000FF"/>
                </a:solidFill>
              </a:rPr>
              <a:t>Classification</a:t>
            </a:r>
            <a:endParaRPr lang="fr-FR" altLang="fr-FR" sz="3200" b="1" dirty="0">
              <a:solidFill>
                <a:srgbClr val="0000FF"/>
              </a:solidFill>
            </a:endParaRPr>
          </a:p>
        </p:txBody>
      </p:sp>
      <p:sp>
        <p:nvSpPr>
          <p:cNvPr id="17411" name="Rectangle 1027">
            <a:extLst>
              <a:ext uri="{FF2B5EF4-FFF2-40B4-BE49-F238E27FC236}">
                <a16:creationId xmlns="" xmlns:a16="http://schemas.microsoft.com/office/drawing/2014/main" id="{BEB1512E-3D5D-44D6-A822-8DC5B9077003}"/>
              </a:ext>
            </a:extLst>
          </p:cNvPr>
          <p:cNvSpPr>
            <a:spLocks noGrp="1" noChangeArrowheads="1"/>
          </p:cNvSpPr>
          <p:nvPr>
            <p:ph type="body" idx="1"/>
          </p:nvPr>
        </p:nvSpPr>
        <p:spPr>
          <a:xfrm>
            <a:off x="1524000" y="1150939"/>
            <a:ext cx="8839200" cy="1673225"/>
          </a:xfrm>
        </p:spPr>
        <p:txBody>
          <a:bodyPr/>
          <a:lstStyle/>
          <a:p>
            <a:pPr algn="ctr" eaLnBrk="1" hangingPunct="1">
              <a:buFontTx/>
              <a:buNone/>
            </a:pPr>
            <a:endParaRPr lang="fr-FR" altLang="fr-FR" b="1" dirty="0">
              <a:sym typeface="Wingdings" panose="05000000000000000000" pitchFamily="2" charset="2"/>
            </a:endParaRPr>
          </a:p>
          <a:p>
            <a:pPr eaLnBrk="1" hangingPunct="1">
              <a:buFontTx/>
              <a:buNone/>
            </a:pPr>
            <a:endParaRPr lang="fr-FR" altLang="fr-FR" sz="2400" b="1" dirty="0"/>
          </a:p>
          <a:p>
            <a:pPr eaLnBrk="1" hangingPunct="1">
              <a:spcBef>
                <a:spcPct val="0"/>
              </a:spcBef>
              <a:buFontTx/>
              <a:buNone/>
            </a:pPr>
            <a:r>
              <a:rPr lang="fr-FR" altLang="fr-FR" b="1" dirty="0"/>
              <a:t>          Régression                      Classification</a:t>
            </a:r>
          </a:p>
          <a:p>
            <a:pPr eaLnBrk="1" hangingPunct="1">
              <a:spcBef>
                <a:spcPct val="0"/>
              </a:spcBef>
              <a:buFontTx/>
              <a:buNone/>
            </a:pPr>
            <a:r>
              <a:rPr lang="fr-FR" altLang="fr-FR" sz="2400" b="1" dirty="0"/>
              <a:t>          (approximation)                      (y</a:t>
            </a:r>
            <a:r>
              <a:rPr lang="fr-FR" altLang="fr-FR" sz="2400" b="1" baseline="-25000" dirty="0"/>
              <a:t>i</a:t>
            </a:r>
            <a:r>
              <a:rPr lang="fr-FR" altLang="fr-FR" sz="2400" b="1" dirty="0"/>
              <a:t> = « étiquettes »)</a:t>
            </a:r>
          </a:p>
        </p:txBody>
      </p:sp>
      <p:pic>
        <p:nvPicPr>
          <p:cNvPr id="17412" name="Picture 1029" descr="classification">
            <a:extLst>
              <a:ext uri="{FF2B5EF4-FFF2-40B4-BE49-F238E27FC236}">
                <a16:creationId xmlns="" xmlns:a16="http://schemas.microsoft.com/office/drawing/2014/main" id="{6B60D448-E4E4-4F2F-810A-D4E1C4E965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4575" y="3824288"/>
            <a:ext cx="2617788" cy="253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Line 1030">
            <a:extLst>
              <a:ext uri="{FF2B5EF4-FFF2-40B4-BE49-F238E27FC236}">
                <a16:creationId xmlns="" xmlns:a16="http://schemas.microsoft.com/office/drawing/2014/main" id="{0E487B95-CFA4-41CC-89E3-069536E78EC3}"/>
              </a:ext>
            </a:extLst>
          </p:cNvPr>
          <p:cNvSpPr>
            <a:spLocks noChangeShapeType="1"/>
          </p:cNvSpPr>
          <p:nvPr/>
        </p:nvSpPr>
        <p:spPr bwMode="auto">
          <a:xfrm flipH="1" flipV="1">
            <a:off x="6056314" y="2819400"/>
            <a:ext cx="14287" cy="3657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414" name="Line 1031">
            <a:extLst>
              <a:ext uri="{FF2B5EF4-FFF2-40B4-BE49-F238E27FC236}">
                <a16:creationId xmlns="" xmlns:a16="http://schemas.microsoft.com/office/drawing/2014/main" id="{3DE3F856-4C04-4136-81C7-C9BD0ACFEEFD}"/>
              </a:ext>
            </a:extLst>
          </p:cNvPr>
          <p:cNvSpPr>
            <a:spLocks noChangeShapeType="1"/>
          </p:cNvSpPr>
          <p:nvPr/>
        </p:nvSpPr>
        <p:spPr bwMode="auto">
          <a:xfrm>
            <a:off x="1524000" y="2824163"/>
            <a:ext cx="9144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17415" name="Group 1055">
            <a:extLst>
              <a:ext uri="{FF2B5EF4-FFF2-40B4-BE49-F238E27FC236}">
                <a16:creationId xmlns="" xmlns:a16="http://schemas.microsoft.com/office/drawing/2014/main" id="{B0F8A62E-130E-412A-9709-99EA4C83D99B}"/>
              </a:ext>
            </a:extLst>
          </p:cNvPr>
          <p:cNvGrpSpPr>
            <a:grpSpLocks/>
          </p:cNvGrpSpPr>
          <p:nvPr/>
        </p:nvGrpSpPr>
        <p:grpSpPr bwMode="auto">
          <a:xfrm>
            <a:off x="1849438" y="3452813"/>
            <a:ext cx="3198812" cy="2355850"/>
            <a:chOff x="274" y="2558"/>
            <a:chExt cx="2015" cy="1484"/>
          </a:xfrm>
        </p:grpSpPr>
        <p:pic>
          <p:nvPicPr>
            <p:cNvPr id="17418" name="Picture 1028" descr="regression">
              <a:extLst>
                <a:ext uri="{FF2B5EF4-FFF2-40B4-BE49-F238E27FC236}">
                  <a16:creationId xmlns="" xmlns:a16="http://schemas.microsoft.com/office/drawing/2014/main" id="{E3895F8C-001C-4622-9AD0-56419EAF7B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 y="2558"/>
              <a:ext cx="1818" cy="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9" name="Text Box 1052">
              <a:extLst>
                <a:ext uri="{FF2B5EF4-FFF2-40B4-BE49-F238E27FC236}">
                  <a16:creationId xmlns="" xmlns:a16="http://schemas.microsoft.com/office/drawing/2014/main" id="{6E9BA9B0-1602-4CDF-BFC1-72C24877958E}"/>
                </a:ext>
              </a:extLst>
            </p:cNvPr>
            <p:cNvSpPr txBox="1">
              <a:spLocks noChangeArrowheads="1"/>
            </p:cNvSpPr>
            <p:nvPr/>
          </p:nvSpPr>
          <p:spPr bwMode="auto">
            <a:xfrm>
              <a:off x="1095" y="3830"/>
              <a:ext cx="45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fr-FR" altLang="fr-FR" sz="1600" b="1">
                  <a:solidFill>
                    <a:schemeClr val="tx1"/>
                  </a:solidFill>
                  <a:latin typeface="Times New Roman" panose="02020603050405020304" pitchFamily="18" charset="0"/>
                </a:rPr>
                <a:t>entrée</a:t>
              </a:r>
            </a:p>
          </p:txBody>
        </p:sp>
        <p:sp>
          <p:nvSpPr>
            <p:cNvPr id="17420" name="Text Box 1053">
              <a:extLst>
                <a:ext uri="{FF2B5EF4-FFF2-40B4-BE49-F238E27FC236}">
                  <a16:creationId xmlns="" xmlns:a16="http://schemas.microsoft.com/office/drawing/2014/main" id="{DA65C394-2349-4610-908F-A34C6F1B3525}"/>
                </a:ext>
              </a:extLst>
            </p:cNvPr>
            <p:cNvSpPr txBox="1">
              <a:spLocks noChangeArrowheads="1"/>
            </p:cNvSpPr>
            <p:nvPr/>
          </p:nvSpPr>
          <p:spPr bwMode="auto">
            <a:xfrm rot="-5400000">
              <a:off x="168" y="3126"/>
              <a:ext cx="42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fr-FR" altLang="fr-FR" sz="1600" b="1">
                  <a:solidFill>
                    <a:schemeClr val="tx1"/>
                  </a:solidFill>
                  <a:latin typeface="Times New Roman" panose="02020603050405020304" pitchFamily="18" charset="0"/>
                </a:rPr>
                <a:t>sortie</a:t>
              </a:r>
            </a:p>
          </p:txBody>
        </p:sp>
      </p:grpSp>
      <p:sp>
        <p:nvSpPr>
          <p:cNvPr id="17416" name="Text Box 1054">
            <a:extLst>
              <a:ext uri="{FF2B5EF4-FFF2-40B4-BE49-F238E27FC236}">
                <a16:creationId xmlns="" xmlns:a16="http://schemas.microsoft.com/office/drawing/2014/main" id="{E8CAEBB2-CF52-48E8-8AF2-9E0E138A6655}"/>
              </a:ext>
            </a:extLst>
          </p:cNvPr>
          <p:cNvSpPr txBox="1">
            <a:spLocks noChangeArrowheads="1"/>
          </p:cNvSpPr>
          <p:nvPr/>
        </p:nvSpPr>
        <p:spPr bwMode="auto">
          <a:xfrm>
            <a:off x="1731964" y="6057901"/>
            <a:ext cx="40925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fr-FR" altLang="fr-FR" sz="1800" b="1" i="1">
                <a:solidFill>
                  <a:schemeClr val="tx1"/>
                </a:solidFill>
                <a:latin typeface="Times New Roman" panose="02020603050405020304" pitchFamily="18" charset="0"/>
              </a:rPr>
              <a:t>points = exemples </a:t>
            </a:r>
            <a:r>
              <a:rPr lang="fr-FR" altLang="fr-FR" sz="1800" b="1" i="1">
                <a:solidFill>
                  <a:schemeClr val="tx1"/>
                </a:solidFill>
                <a:latin typeface="Times New Roman" panose="02020603050405020304" pitchFamily="18" charset="0"/>
                <a:sym typeface="Wingdings" panose="05000000000000000000" pitchFamily="2" charset="2"/>
              </a:rPr>
              <a:t> </a:t>
            </a:r>
            <a:r>
              <a:rPr lang="fr-FR" altLang="fr-FR" sz="1800" b="1" i="1">
                <a:solidFill>
                  <a:schemeClr val="tx1"/>
                </a:solidFill>
                <a:latin typeface="Times New Roman" panose="02020603050405020304" pitchFamily="18" charset="0"/>
              </a:rPr>
              <a:t>courbe = régression</a:t>
            </a:r>
          </a:p>
        </p:txBody>
      </p:sp>
      <p:sp>
        <p:nvSpPr>
          <p:cNvPr id="17417" name="Text Box 1056">
            <a:extLst>
              <a:ext uri="{FF2B5EF4-FFF2-40B4-BE49-F238E27FC236}">
                <a16:creationId xmlns="" xmlns:a16="http://schemas.microsoft.com/office/drawing/2014/main" id="{03E5EA06-1762-45B4-BDEC-D23995A84B9B}"/>
              </a:ext>
            </a:extLst>
          </p:cNvPr>
          <p:cNvSpPr txBox="1">
            <a:spLocks noChangeArrowheads="1"/>
          </p:cNvSpPr>
          <p:nvPr/>
        </p:nvSpPr>
        <p:spPr bwMode="auto">
          <a:xfrm>
            <a:off x="8701089" y="3856039"/>
            <a:ext cx="1887537" cy="258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FR" altLang="fr-FR" sz="1600" b="1" i="1" dirty="0">
                <a:solidFill>
                  <a:schemeClr val="tx1"/>
                </a:solidFill>
                <a:latin typeface="Times New Roman" panose="02020603050405020304" pitchFamily="18" charset="0"/>
              </a:rPr>
              <a:t>entrée = </a:t>
            </a:r>
            <a:br>
              <a:rPr lang="fr-FR" altLang="fr-FR" sz="1600" b="1" i="1" dirty="0">
                <a:solidFill>
                  <a:schemeClr val="tx1"/>
                </a:solidFill>
                <a:latin typeface="Times New Roman" panose="02020603050405020304" pitchFamily="18" charset="0"/>
              </a:rPr>
            </a:br>
            <a:r>
              <a:rPr lang="fr-FR" altLang="fr-FR" sz="1600" b="1" i="1" dirty="0">
                <a:solidFill>
                  <a:schemeClr val="tx1"/>
                </a:solidFill>
                <a:latin typeface="Times New Roman" panose="02020603050405020304" pitchFamily="18" charset="0"/>
              </a:rPr>
              <a:t>position point</a:t>
            </a:r>
            <a:br>
              <a:rPr lang="fr-FR" altLang="fr-FR" sz="1600" b="1" i="1" dirty="0">
                <a:solidFill>
                  <a:schemeClr val="tx1"/>
                </a:solidFill>
                <a:latin typeface="Times New Roman" panose="02020603050405020304" pitchFamily="18" charset="0"/>
              </a:rPr>
            </a:br>
            <a:endParaRPr lang="fr-FR" altLang="fr-FR" sz="900" b="1" i="1" dirty="0">
              <a:solidFill>
                <a:schemeClr val="tx1"/>
              </a:solidFill>
              <a:latin typeface="Times New Roman" panose="02020603050405020304" pitchFamily="18" charset="0"/>
            </a:endParaRPr>
          </a:p>
          <a:p>
            <a:pPr algn="ctr" eaLnBrk="1" hangingPunct="1">
              <a:spcBef>
                <a:spcPct val="0"/>
              </a:spcBef>
              <a:buClrTx/>
              <a:buSzTx/>
              <a:buFontTx/>
              <a:buNone/>
            </a:pPr>
            <a:r>
              <a:rPr lang="fr-FR" altLang="fr-FR" sz="1600" b="1" i="1" dirty="0">
                <a:solidFill>
                  <a:schemeClr val="tx1"/>
                </a:solidFill>
                <a:latin typeface="Times New Roman" panose="02020603050405020304" pitchFamily="18" charset="0"/>
              </a:rPr>
              <a:t>sortie désirée = classe (</a:t>
            </a:r>
            <a:r>
              <a:rPr lang="fr-FR" altLang="fr-FR" sz="1200" b="1" dirty="0">
                <a:solidFill>
                  <a:schemeClr val="tx1"/>
                </a:solidFill>
                <a:latin typeface="Times New Roman" panose="02020603050405020304" pitchFamily="18" charset="0"/>
                <a:sym typeface="Wingdings" panose="05000000000000000000" pitchFamily="2" charset="2"/>
              </a:rPr>
              <a:t></a:t>
            </a:r>
            <a:r>
              <a:rPr lang="fr-FR" altLang="fr-FR" sz="1600" b="1" i="1" dirty="0">
                <a:solidFill>
                  <a:schemeClr val="tx1"/>
                </a:solidFill>
                <a:latin typeface="Times New Roman" panose="02020603050405020304" pitchFamily="18" charset="0"/>
              </a:rPr>
              <a:t> =-1,+=+1)</a:t>
            </a:r>
            <a:br>
              <a:rPr lang="fr-FR" altLang="fr-FR" sz="1600" b="1" i="1" dirty="0">
                <a:solidFill>
                  <a:schemeClr val="tx1"/>
                </a:solidFill>
                <a:latin typeface="Times New Roman" panose="02020603050405020304" pitchFamily="18" charset="0"/>
              </a:rPr>
            </a:br>
            <a:r>
              <a:rPr lang="fr-FR" altLang="fr-FR" sz="1000" b="1" i="1" dirty="0">
                <a:solidFill>
                  <a:schemeClr val="tx1"/>
                </a:solidFill>
                <a:latin typeface="Times New Roman" panose="02020603050405020304" pitchFamily="18" charset="0"/>
              </a:rPr>
              <a:t/>
            </a:r>
            <a:br>
              <a:rPr lang="fr-FR" altLang="fr-FR" sz="1000" b="1" i="1" dirty="0">
                <a:solidFill>
                  <a:schemeClr val="tx1"/>
                </a:solidFill>
                <a:latin typeface="Times New Roman" panose="02020603050405020304" pitchFamily="18" charset="0"/>
              </a:rPr>
            </a:br>
            <a:r>
              <a:rPr lang="fr-FR" altLang="fr-FR" sz="1600" b="1" dirty="0">
                <a:solidFill>
                  <a:schemeClr val="tx1"/>
                </a:solidFill>
                <a:latin typeface="Times New Roman" panose="02020603050405020304" pitchFamily="18" charset="0"/>
                <a:sym typeface="Wingdings" panose="05000000000000000000" pitchFamily="2" charset="2"/>
              </a:rPr>
              <a:t></a:t>
            </a:r>
          </a:p>
          <a:p>
            <a:pPr algn="ctr" eaLnBrk="1" hangingPunct="1">
              <a:spcBef>
                <a:spcPct val="0"/>
              </a:spcBef>
              <a:buClrTx/>
              <a:buSzTx/>
              <a:buFontTx/>
              <a:buNone/>
            </a:pPr>
            <a:r>
              <a:rPr lang="fr-FR" altLang="fr-FR" sz="1600" b="1" i="1" dirty="0">
                <a:solidFill>
                  <a:schemeClr val="tx1"/>
                </a:solidFill>
                <a:latin typeface="Times New Roman" panose="02020603050405020304" pitchFamily="18" charset="0"/>
              </a:rPr>
              <a:t>Fonction étiquette=f(x)</a:t>
            </a:r>
            <a:br>
              <a:rPr lang="fr-FR" altLang="fr-FR" sz="1600" b="1" i="1" dirty="0">
                <a:solidFill>
                  <a:schemeClr val="tx1"/>
                </a:solidFill>
                <a:latin typeface="Times New Roman" panose="02020603050405020304" pitchFamily="18" charset="0"/>
              </a:rPr>
            </a:br>
            <a:r>
              <a:rPr lang="fr-FR" altLang="fr-FR" sz="1600" b="1" i="1" dirty="0">
                <a:solidFill>
                  <a:schemeClr val="tx1"/>
                </a:solidFill>
                <a:latin typeface="Times New Roman" panose="02020603050405020304" pitchFamily="18" charset="0"/>
              </a:rPr>
              <a:t> (et frontière de    </a:t>
            </a:r>
            <a:br>
              <a:rPr lang="fr-FR" altLang="fr-FR" sz="1600" b="1" i="1" dirty="0">
                <a:solidFill>
                  <a:schemeClr val="tx1"/>
                </a:solidFill>
                <a:latin typeface="Times New Roman" panose="02020603050405020304" pitchFamily="18" charset="0"/>
              </a:rPr>
            </a:br>
            <a:r>
              <a:rPr lang="fr-FR" altLang="fr-FR" sz="1600" b="1" i="1" dirty="0">
                <a:solidFill>
                  <a:schemeClr val="tx1"/>
                </a:solidFill>
                <a:latin typeface="Times New Roman" panose="02020603050405020304" pitchFamily="18" charset="0"/>
              </a:rPr>
              <a:t>     séparation)</a:t>
            </a:r>
          </a:p>
        </p:txBody>
      </p:sp>
      <p:sp>
        <p:nvSpPr>
          <p:cNvPr id="2" name="Slide Number Placeholder 1">
            <a:extLst>
              <a:ext uri="{FF2B5EF4-FFF2-40B4-BE49-F238E27FC236}">
                <a16:creationId xmlns="" xmlns:a16="http://schemas.microsoft.com/office/drawing/2014/main" id="{081AFF19-E76D-433D-A8CF-6C080C6BE346}"/>
              </a:ext>
            </a:extLst>
          </p:cNvPr>
          <p:cNvSpPr>
            <a:spLocks noGrp="1"/>
          </p:cNvSpPr>
          <p:nvPr>
            <p:ph type="sldNum" sz="quarter" idx="12"/>
          </p:nvPr>
        </p:nvSpPr>
        <p:spPr/>
        <p:txBody>
          <a:bodyPr/>
          <a:lstStyle/>
          <a:p>
            <a:fld id="{EE5DF52D-0FE0-4249-9023-8B500BDB729B}" type="slidenum">
              <a:rPr lang="fr-FR" smtClean="0"/>
              <a:pPr/>
              <a:t>9</a:t>
            </a:fld>
            <a:endParaRPr lang="fr-FR"/>
          </a:p>
        </p:txBody>
      </p:sp>
      <p:sp>
        <p:nvSpPr>
          <p:cNvPr id="14" name="Rectangle 3">
            <a:extLst>
              <a:ext uri="{FF2B5EF4-FFF2-40B4-BE49-F238E27FC236}">
                <a16:creationId xmlns="" xmlns:a16="http://schemas.microsoft.com/office/drawing/2014/main" id="{45FA27BC-5752-427B-BFD4-08FB00DBEEFD}"/>
              </a:ext>
            </a:extLst>
          </p:cNvPr>
          <p:cNvSpPr>
            <a:spLocks noChangeArrowheads="1"/>
          </p:cNvSpPr>
          <p:nvPr/>
        </p:nvSpPr>
        <p:spPr bwMode="auto">
          <a:xfrm>
            <a:off x="1560513" y="38101"/>
            <a:ext cx="9144000" cy="366713"/>
          </a:xfrm>
          <a:prstGeom prst="rect">
            <a:avLst/>
          </a:prstGeom>
          <a:solidFill>
            <a:srgbClr val="3366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fr-FR" altLang="fr-FR" sz="1800">
                <a:solidFill>
                  <a:schemeClr val="tx1"/>
                </a:solidFill>
              </a:rPr>
              <a:t>Intelligence Artificielle 		APPRENTISSAGE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 xmlns:a16="http://schemas.microsoft.com/office/drawing/2014/main" id="{68D44C0B-D4EA-498F-8A66-D5EF40D3284F}"/>
              </a:ext>
            </a:extLst>
          </p:cNvPr>
          <p:cNvSpPr>
            <a:spLocks noChangeArrowheads="1"/>
          </p:cNvSpPr>
          <p:nvPr/>
        </p:nvSpPr>
        <p:spPr bwMode="auto">
          <a:xfrm>
            <a:off x="1560513" y="586855"/>
            <a:ext cx="8486490" cy="4462760"/>
          </a:xfrm>
          <a:prstGeom prst="rect">
            <a:avLst/>
          </a:prstGeom>
          <a:noFill/>
          <a:ln w="12700">
            <a:noFill/>
            <a:miter lim="800000"/>
            <a:headEnd/>
            <a:tailEnd/>
          </a:ln>
          <a:effectLst/>
        </p:spPr>
        <p:txBody>
          <a:bodyPr wrap="none">
            <a:spAutoFit/>
          </a:bodyPr>
          <a:lstStyle/>
          <a:p>
            <a:pPr>
              <a:lnSpc>
                <a:spcPct val="130000"/>
              </a:lnSpc>
              <a:spcBef>
                <a:spcPct val="90000"/>
              </a:spcBef>
              <a:spcAft>
                <a:spcPct val="10000"/>
              </a:spcAft>
              <a:buClr>
                <a:srgbClr val="AD2700"/>
              </a:buClr>
              <a:defRPr/>
            </a:pPr>
            <a:r>
              <a:rPr lang="fr-FR" sz="2800" b="1" u="sng" dirty="0">
                <a:effectLst>
                  <a:outerShdw blurRad="38100" dist="38100" dir="2700000" algn="tl">
                    <a:srgbClr val="000000">
                      <a:alpha val="43137"/>
                    </a:srgbClr>
                  </a:outerShdw>
                </a:effectLst>
                <a:latin typeface="Times" charset="0"/>
              </a:rPr>
              <a:t>Apprentissage </a:t>
            </a:r>
            <a:r>
              <a:rPr lang="fr-FR" sz="3200" b="1" i="1" u="sng" dirty="0">
                <a:solidFill>
                  <a:schemeClr val="folHlink"/>
                </a:solidFill>
                <a:effectLst>
                  <a:outerShdw blurRad="38100" dist="38100" dir="2700000" algn="tl">
                    <a:srgbClr val="000000">
                      <a:alpha val="43137"/>
                    </a:srgbClr>
                  </a:outerShdw>
                </a:effectLst>
                <a:latin typeface="Times" charset="0"/>
              </a:rPr>
              <a:t>non supervisé</a:t>
            </a:r>
            <a:endParaRPr lang="fr-FR" sz="2800" b="1" u="sng" dirty="0">
              <a:effectLst>
                <a:outerShdw blurRad="38100" dist="38100" dir="2700000" algn="tl">
                  <a:srgbClr val="000000">
                    <a:alpha val="43137"/>
                  </a:srgbClr>
                </a:outerShdw>
              </a:effectLst>
              <a:latin typeface="Times" charset="0"/>
            </a:endParaRPr>
          </a:p>
          <a:p>
            <a:pPr marL="914400" lvl="1" indent="-457200">
              <a:lnSpc>
                <a:spcPct val="130000"/>
              </a:lnSpc>
              <a:spcAft>
                <a:spcPct val="10000"/>
              </a:spcAft>
              <a:buClr>
                <a:schemeClr val="tx2"/>
              </a:buClr>
              <a:buSzPct val="60000"/>
              <a:defRPr/>
            </a:pPr>
            <a:r>
              <a:rPr lang="fr-FR" sz="2400" b="1" dirty="0">
                <a:latin typeface="Times" charset="0"/>
              </a:rPr>
              <a:t>	De l’</a:t>
            </a:r>
            <a:r>
              <a:rPr lang="fr-FR" sz="2400" b="1" i="1" dirty="0">
                <a:solidFill>
                  <a:srgbClr val="00279F"/>
                </a:solidFill>
                <a:latin typeface="Times" charset="0"/>
              </a:rPr>
              <a:t>échantillon d’apprentissage</a:t>
            </a:r>
            <a:r>
              <a:rPr lang="fr-FR" sz="2400" b="1" dirty="0">
                <a:latin typeface="Times" charset="0"/>
              </a:rPr>
              <a:t>  </a:t>
            </a:r>
            <a:r>
              <a:rPr lang="fr-FR" sz="2800" b="1" dirty="0">
                <a:latin typeface="Lucida Calligraphy" pitchFamily="66" charset="0"/>
              </a:rPr>
              <a:t>S</a:t>
            </a:r>
            <a:r>
              <a:rPr lang="fr-FR" sz="2400" b="1" dirty="0">
                <a:latin typeface="Times" charset="0"/>
              </a:rPr>
              <a:t> = {(</a:t>
            </a:r>
            <a:r>
              <a:rPr lang="fr-FR" sz="2400" b="1" i="1" dirty="0">
                <a:latin typeface="Times" charset="0"/>
              </a:rPr>
              <a:t>x</a:t>
            </a:r>
            <a:r>
              <a:rPr lang="fr-FR" sz="2800" b="1" i="1" baseline="-25000" dirty="0">
                <a:latin typeface="Times" charset="0"/>
              </a:rPr>
              <a:t>i</a:t>
            </a:r>
            <a:r>
              <a:rPr lang="fr-FR" sz="2400" b="1" dirty="0">
                <a:latin typeface="Times" charset="0"/>
              </a:rPr>
              <a:t>)}</a:t>
            </a:r>
            <a:r>
              <a:rPr lang="fr-FR" sz="2800" b="1" i="1" baseline="-25000" dirty="0">
                <a:latin typeface="Times" charset="0"/>
              </a:rPr>
              <a:t>1,m</a:t>
            </a:r>
            <a:r>
              <a:rPr lang="fr-FR" sz="2400" b="1" dirty="0">
                <a:latin typeface="Times" charset="0"/>
              </a:rPr>
              <a:t>   </a:t>
            </a:r>
            <a:br>
              <a:rPr lang="fr-FR" sz="2400" b="1" dirty="0">
                <a:latin typeface="Times" charset="0"/>
              </a:rPr>
            </a:br>
            <a:r>
              <a:rPr lang="fr-FR" sz="2400" b="1" dirty="0">
                <a:latin typeface="Times" charset="0"/>
              </a:rPr>
              <a:t>on cherche des </a:t>
            </a:r>
            <a:r>
              <a:rPr lang="fr-FR" sz="2400" b="1" u="sng" dirty="0">
                <a:latin typeface="Times" charset="0"/>
              </a:rPr>
              <a:t>régularités</a:t>
            </a:r>
            <a:r>
              <a:rPr lang="fr-FR" sz="2400" b="1" dirty="0">
                <a:latin typeface="Times" charset="0"/>
              </a:rPr>
              <a:t> sous-jacente</a:t>
            </a:r>
          </a:p>
          <a:p>
            <a:pPr marL="1371600" lvl="2" indent="-457200">
              <a:lnSpc>
                <a:spcPct val="130000"/>
              </a:lnSpc>
              <a:spcBef>
                <a:spcPct val="120000"/>
              </a:spcBef>
              <a:buClr>
                <a:schemeClr val="tx2"/>
              </a:buClr>
              <a:buSzPct val="100000"/>
              <a:buFontTx/>
              <a:buChar char="–"/>
              <a:defRPr/>
            </a:pPr>
            <a:r>
              <a:rPr lang="fr-FR" sz="2000" b="1" dirty="0">
                <a:latin typeface="Times" charset="0"/>
              </a:rPr>
              <a:t>Sous forme d’une fonction : </a:t>
            </a:r>
            <a:r>
              <a:rPr lang="fr-FR" sz="2000" b="1" i="1" dirty="0">
                <a:solidFill>
                  <a:srgbClr val="AD2700"/>
                </a:solidFill>
                <a:latin typeface="Times" charset="0"/>
              </a:rPr>
              <a:t>régression</a:t>
            </a:r>
            <a:endParaRPr lang="fr-FR" sz="2000" b="1" dirty="0">
              <a:latin typeface="Times" charset="0"/>
            </a:endParaRPr>
          </a:p>
          <a:p>
            <a:pPr marL="1371600" lvl="2" indent="-457200">
              <a:lnSpc>
                <a:spcPct val="130000"/>
              </a:lnSpc>
              <a:spcBef>
                <a:spcPct val="30000"/>
              </a:spcBef>
              <a:buClr>
                <a:schemeClr val="tx2"/>
              </a:buClr>
              <a:buSzPct val="100000"/>
              <a:buFontTx/>
              <a:buChar char="–"/>
              <a:defRPr/>
            </a:pPr>
            <a:r>
              <a:rPr lang="fr-FR" sz="2000" b="1" dirty="0">
                <a:latin typeface="Times" charset="0"/>
              </a:rPr>
              <a:t>Sous forme de nuages de points (e.g. </a:t>
            </a:r>
            <a:r>
              <a:rPr lang="fr-FR" sz="2000" b="1" i="1" dirty="0">
                <a:solidFill>
                  <a:srgbClr val="AD2700"/>
                </a:solidFill>
                <a:latin typeface="Times" charset="0"/>
              </a:rPr>
              <a:t>mixture de gaussiennes</a:t>
            </a:r>
            <a:r>
              <a:rPr lang="fr-FR" sz="2000" b="1" dirty="0">
                <a:latin typeface="Times" charset="0"/>
              </a:rPr>
              <a:t>)</a:t>
            </a:r>
          </a:p>
          <a:p>
            <a:pPr marL="1371600" lvl="2" indent="-457200">
              <a:lnSpc>
                <a:spcPct val="130000"/>
              </a:lnSpc>
              <a:spcBef>
                <a:spcPct val="30000"/>
              </a:spcBef>
              <a:buClr>
                <a:schemeClr val="tx2"/>
              </a:buClr>
              <a:buSzPct val="100000"/>
              <a:buFontTx/>
              <a:buChar char="–"/>
              <a:defRPr/>
            </a:pPr>
            <a:r>
              <a:rPr lang="fr-FR" sz="2000" b="1" dirty="0">
                <a:latin typeface="Times" charset="0"/>
              </a:rPr>
              <a:t>Sous forme d’un modèle complexe (e.g. </a:t>
            </a:r>
            <a:r>
              <a:rPr lang="fr-FR" sz="2000" b="1" i="1" dirty="0">
                <a:solidFill>
                  <a:srgbClr val="AD2700"/>
                </a:solidFill>
                <a:latin typeface="Times" charset="0"/>
              </a:rPr>
              <a:t>réseau bayésien</a:t>
            </a:r>
            <a:r>
              <a:rPr lang="fr-FR" sz="2000" b="1" dirty="0">
                <a:latin typeface="Times" charset="0"/>
              </a:rPr>
              <a:t>)</a:t>
            </a:r>
          </a:p>
          <a:p>
            <a:pPr marL="914400" lvl="1" indent="-457200">
              <a:lnSpc>
                <a:spcPct val="130000"/>
              </a:lnSpc>
              <a:spcBef>
                <a:spcPct val="100000"/>
              </a:spcBef>
              <a:spcAft>
                <a:spcPct val="10000"/>
              </a:spcAft>
              <a:buClr>
                <a:schemeClr val="tx2"/>
              </a:buClr>
              <a:buSzPct val="60000"/>
              <a:defRPr/>
            </a:pPr>
            <a:r>
              <a:rPr lang="fr-FR" sz="2400" b="1" dirty="0">
                <a:latin typeface="Times" charset="0"/>
              </a:rPr>
              <a:t>	</a:t>
            </a:r>
            <a:r>
              <a:rPr lang="fr-FR" sz="2400" b="1" dirty="0">
                <a:solidFill>
                  <a:schemeClr val="folHlink"/>
                </a:solidFill>
                <a:latin typeface="Times" charset="0"/>
              </a:rPr>
              <a:t>afin de résumer, détecter des régularités, comprendre …</a:t>
            </a:r>
          </a:p>
        </p:txBody>
      </p:sp>
      <p:sp>
        <p:nvSpPr>
          <p:cNvPr id="19459" name="Rectangle 3">
            <a:extLst>
              <a:ext uri="{FF2B5EF4-FFF2-40B4-BE49-F238E27FC236}">
                <a16:creationId xmlns="" xmlns:a16="http://schemas.microsoft.com/office/drawing/2014/main" id="{45FA27BC-5752-427B-BFD4-08FB00DBEEFD}"/>
              </a:ext>
            </a:extLst>
          </p:cNvPr>
          <p:cNvSpPr>
            <a:spLocks noChangeArrowheads="1"/>
          </p:cNvSpPr>
          <p:nvPr/>
        </p:nvSpPr>
        <p:spPr bwMode="auto">
          <a:xfrm>
            <a:off x="1560513" y="38101"/>
            <a:ext cx="9144000" cy="366713"/>
          </a:xfrm>
          <a:prstGeom prst="rect">
            <a:avLst/>
          </a:prstGeom>
          <a:solidFill>
            <a:srgbClr val="3366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fr-FR" altLang="fr-FR" sz="1800">
                <a:solidFill>
                  <a:schemeClr val="tx1"/>
                </a:solidFill>
              </a:rPr>
              <a:t>Intelligence Artificielle 		APPRENTISSAGE 	</a:t>
            </a:r>
          </a:p>
        </p:txBody>
      </p:sp>
      <p:pic>
        <p:nvPicPr>
          <p:cNvPr id="2" name="Picture 1">
            <a:extLst>
              <a:ext uri="{FF2B5EF4-FFF2-40B4-BE49-F238E27FC236}">
                <a16:creationId xmlns="" xmlns:a16="http://schemas.microsoft.com/office/drawing/2014/main" id="{A37775B4-98F8-4049-9EC3-6D747A4C6587}"/>
              </a:ext>
            </a:extLst>
          </p:cNvPr>
          <p:cNvPicPr>
            <a:picLocks noChangeAspect="1"/>
          </p:cNvPicPr>
          <p:nvPr/>
        </p:nvPicPr>
        <p:blipFill>
          <a:blip r:embed="rId3"/>
          <a:stretch>
            <a:fillRect/>
          </a:stretch>
        </p:blipFill>
        <p:spPr>
          <a:xfrm>
            <a:off x="5663952" y="5025469"/>
            <a:ext cx="2016224" cy="1764196"/>
          </a:xfrm>
          <a:prstGeom prst="rect">
            <a:avLst/>
          </a:prstGeom>
        </p:spPr>
      </p:pic>
      <p:sp>
        <p:nvSpPr>
          <p:cNvPr id="3" name="Slide Number Placeholder 2">
            <a:extLst>
              <a:ext uri="{FF2B5EF4-FFF2-40B4-BE49-F238E27FC236}">
                <a16:creationId xmlns="" xmlns:a16="http://schemas.microsoft.com/office/drawing/2014/main" id="{8EF0DFB0-B5E4-4CB6-A876-7249D1EA7E2B}"/>
              </a:ext>
            </a:extLst>
          </p:cNvPr>
          <p:cNvSpPr>
            <a:spLocks noGrp="1"/>
          </p:cNvSpPr>
          <p:nvPr>
            <p:ph type="sldNum" sz="quarter" idx="12"/>
          </p:nvPr>
        </p:nvSpPr>
        <p:spPr/>
        <p:txBody>
          <a:bodyPr/>
          <a:lstStyle/>
          <a:p>
            <a:fld id="{EE5DF52D-0FE0-4249-9023-8B500BDB729B}" type="slidenum">
              <a:rPr lang="fr-FR" smtClean="0"/>
              <a:pPr/>
              <a:t>10</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878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878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8786">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8786">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1878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uiExpand="1" build="p" bldLvl="3"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 xmlns:a16="http://schemas.microsoft.com/office/drawing/2014/main" id="{695045DE-C911-475C-9058-7AC28E7E13AB}"/>
              </a:ext>
            </a:extLst>
          </p:cNvPr>
          <p:cNvSpPr>
            <a:spLocks noGrp="1" noChangeArrowheads="1"/>
          </p:cNvSpPr>
          <p:nvPr>
            <p:ph type="body" sz="half" idx="1"/>
          </p:nvPr>
        </p:nvSpPr>
        <p:spPr>
          <a:xfrm>
            <a:off x="1524000" y="1125539"/>
            <a:ext cx="7570788" cy="574675"/>
          </a:xfrm>
        </p:spPr>
        <p:txBody>
          <a:bodyPr>
            <a:normAutofit/>
          </a:bodyPr>
          <a:lstStyle/>
          <a:p>
            <a:pPr marL="0" indent="0">
              <a:spcBef>
                <a:spcPct val="20000"/>
              </a:spcBef>
              <a:buNone/>
              <a:tabLst>
                <a:tab pos="571500" algn="l"/>
              </a:tabLst>
              <a:defRPr/>
            </a:pPr>
            <a:r>
              <a:rPr lang="fr-FR" b="1" dirty="0">
                <a:latin typeface="Times" pitchFamily="18" charset="0"/>
                <a:cs typeface="Times" pitchFamily="18" charset="0"/>
              </a:rPr>
              <a:t>Apprentissage </a:t>
            </a:r>
            <a:r>
              <a:rPr lang="fr-FR" b="1" i="1" dirty="0">
                <a:solidFill>
                  <a:srgbClr val="00279F"/>
                </a:solidFill>
                <a:effectLst>
                  <a:outerShdw blurRad="38100" dist="38100" dir="2700000" algn="tl">
                    <a:srgbClr val="C0C0C0"/>
                  </a:outerShdw>
                </a:effectLst>
                <a:latin typeface="Times" pitchFamily="18" charset="0"/>
                <a:cs typeface="Times" pitchFamily="18" charset="0"/>
              </a:rPr>
              <a:t>par </a:t>
            </a:r>
            <a:r>
              <a:rPr lang="fr-FR" b="1" i="1" dirty="0" smtClean="0">
                <a:solidFill>
                  <a:srgbClr val="00279F"/>
                </a:solidFill>
                <a:effectLst>
                  <a:outerShdw blurRad="38100" dist="38100" dir="2700000" algn="tl">
                    <a:srgbClr val="C0C0C0"/>
                  </a:outerShdw>
                </a:effectLst>
                <a:latin typeface="Times" pitchFamily="18" charset="0"/>
                <a:cs typeface="Times" pitchFamily="18" charset="0"/>
              </a:rPr>
              <a:t>Renforcement</a:t>
            </a:r>
            <a:endParaRPr lang="fr-FR" b="1" dirty="0">
              <a:latin typeface="Times" pitchFamily="18" charset="0"/>
              <a:cs typeface="Times" pitchFamily="18" charset="0"/>
            </a:endParaRPr>
          </a:p>
        </p:txBody>
      </p:sp>
      <p:sp>
        <p:nvSpPr>
          <p:cNvPr id="123907" name="Rectangle 3">
            <a:extLst>
              <a:ext uri="{FF2B5EF4-FFF2-40B4-BE49-F238E27FC236}">
                <a16:creationId xmlns="" xmlns:a16="http://schemas.microsoft.com/office/drawing/2014/main" id="{B4AEDE95-D14E-4BBD-B639-DA59A7463196}"/>
              </a:ext>
            </a:extLst>
          </p:cNvPr>
          <p:cNvSpPr>
            <a:spLocks noChangeArrowheads="1"/>
          </p:cNvSpPr>
          <p:nvPr/>
        </p:nvSpPr>
        <p:spPr bwMode="auto">
          <a:xfrm>
            <a:off x="1524001" y="1628775"/>
            <a:ext cx="5508625" cy="4346126"/>
          </a:xfrm>
          <a:prstGeom prst="rect">
            <a:avLst/>
          </a:prstGeom>
          <a:noFill/>
          <a:ln w="12700">
            <a:noFill/>
            <a:miter lim="800000"/>
            <a:headEnd/>
            <a:tailEnd/>
          </a:ln>
          <a:effectLst/>
        </p:spPr>
        <p:txBody>
          <a:bodyPr lIns="90487" tIns="44450" rIns="90487" bIns="44450">
            <a:spAutoFit/>
          </a:bodyPr>
          <a:lstStyle/>
          <a:p>
            <a:pPr marL="292100" indent="-292100">
              <a:spcBef>
                <a:spcPts val="788"/>
              </a:spcBef>
              <a:buClr>
                <a:srgbClr val="000000"/>
              </a:buClr>
              <a:buSzPct val="100000"/>
              <a:tabLst>
                <a:tab pos="571500" algn="l"/>
              </a:tabLst>
              <a:defRPr/>
            </a:pPr>
            <a:r>
              <a:rPr lang="fr-FR" dirty="0">
                <a:latin typeface="Arial" pitchFamily="34" charset="0"/>
              </a:rPr>
              <a:t>Les </a:t>
            </a:r>
            <a:r>
              <a:rPr lang="fr-FR" dirty="0">
                <a:solidFill>
                  <a:srgbClr val="037C03"/>
                </a:solidFill>
                <a:latin typeface="Arial" pitchFamily="34" charset="0"/>
              </a:rPr>
              <a:t>données d’apprentissage</a:t>
            </a:r>
            <a:endParaRPr lang="fr-FR" dirty="0">
              <a:latin typeface="Arial" pitchFamily="34" charset="0"/>
            </a:endParaRPr>
          </a:p>
          <a:p>
            <a:pPr marL="762000" lvl="1" indent="-279400">
              <a:spcBef>
                <a:spcPts val="688"/>
              </a:spcBef>
              <a:buClr>
                <a:srgbClr val="000000"/>
              </a:buClr>
              <a:buSzPct val="100000"/>
              <a:buFont typeface="Arial" pitchFamily="34" charset="0"/>
              <a:buChar char="–"/>
              <a:tabLst>
                <a:tab pos="571500" algn="l"/>
              </a:tabLst>
              <a:defRPr/>
            </a:pPr>
            <a:r>
              <a:rPr lang="fr-FR" dirty="0">
                <a:latin typeface="Arial" pitchFamily="34" charset="0"/>
              </a:rPr>
              <a:t>Une séquence de perceptions, d’actions et de récompenses : (</a:t>
            </a:r>
            <a:r>
              <a:rPr lang="fr-FR" i="1" dirty="0">
                <a:latin typeface="Arial" pitchFamily="34" charset="0"/>
              </a:rPr>
              <a:t>s</a:t>
            </a:r>
            <a:r>
              <a:rPr lang="fr-FR" i="1" baseline="-25000" dirty="0">
                <a:latin typeface="Arial" pitchFamily="34" charset="0"/>
              </a:rPr>
              <a:t>t</a:t>
            </a:r>
            <a:r>
              <a:rPr lang="fr-FR" i="1" dirty="0">
                <a:latin typeface="Arial" pitchFamily="34" charset="0"/>
              </a:rPr>
              <a:t>, </a:t>
            </a:r>
            <a:r>
              <a:rPr lang="fr-FR" i="1" dirty="0" err="1">
                <a:latin typeface="Arial" pitchFamily="34" charset="0"/>
              </a:rPr>
              <a:t>a</a:t>
            </a:r>
            <a:r>
              <a:rPr lang="fr-FR" i="1" baseline="-25000" dirty="0" err="1">
                <a:latin typeface="Arial" pitchFamily="34" charset="0"/>
              </a:rPr>
              <a:t>t</a:t>
            </a:r>
            <a:r>
              <a:rPr lang="fr-FR" i="1" dirty="0">
                <a:latin typeface="Arial" pitchFamily="34" charset="0"/>
              </a:rPr>
              <a:t>, </a:t>
            </a:r>
            <a:r>
              <a:rPr lang="fr-FR" i="1" dirty="0" err="1">
                <a:latin typeface="Arial" pitchFamily="34" charset="0"/>
              </a:rPr>
              <a:t>r</a:t>
            </a:r>
            <a:r>
              <a:rPr lang="fr-FR" i="1" baseline="-25000" dirty="0" err="1">
                <a:latin typeface="Arial" pitchFamily="34" charset="0"/>
              </a:rPr>
              <a:t>t</a:t>
            </a:r>
            <a:r>
              <a:rPr lang="fr-FR" dirty="0">
                <a:latin typeface="Arial" pitchFamily="34" charset="0"/>
              </a:rPr>
              <a:t>)</a:t>
            </a:r>
            <a:r>
              <a:rPr lang="fr-FR" i="1" baseline="-25000" dirty="0">
                <a:latin typeface="Arial" pitchFamily="34" charset="0"/>
              </a:rPr>
              <a:t>t </a:t>
            </a:r>
            <a:r>
              <a:rPr lang="fr-FR" baseline="-25000" dirty="0">
                <a:latin typeface="Arial" pitchFamily="34" charset="0"/>
              </a:rPr>
              <a:t>= 1,</a:t>
            </a:r>
            <a:r>
              <a:rPr lang="fr-FR" baseline="-25000" dirty="0">
                <a:latin typeface="Symbol" pitchFamily="18" charset="2"/>
              </a:rPr>
              <a:t> ¥</a:t>
            </a:r>
            <a:endParaRPr lang="fr-FR" dirty="0">
              <a:latin typeface="Arial" pitchFamily="34" charset="0"/>
            </a:endParaRPr>
          </a:p>
          <a:p>
            <a:pPr marL="1244600" lvl="2" indent="-292100">
              <a:spcBef>
                <a:spcPts val="588"/>
              </a:spcBef>
              <a:buClr>
                <a:srgbClr val="000000"/>
              </a:buClr>
              <a:buSzPct val="100000"/>
              <a:buFont typeface="Arial" pitchFamily="34" charset="0"/>
              <a:buChar char="•"/>
              <a:tabLst>
                <a:tab pos="571500" algn="l"/>
              </a:tabLst>
              <a:defRPr/>
            </a:pPr>
            <a:r>
              <a:rPr lang="fr-FR" dirty="0">
                <a:latin typeface="Arial" pitchFamily="34" charset="0"/>
              </a:rPr>
              <a:t>Avec un </a:t>
            </a:r>
            <a:r>
              <a:rPr lang="fr-FR" dirty="0">
                <a:solidFill>
                  <a:srgbClr val="FF6600"/>
                </a:solidFill>
                <a:latin typeface="Arial" pitchFamily="34" charset="0"/>
              </a:rPr>
              <a:t>renforcement</a:t>
            </a:r>
            <a:r>
              <a:rPr lang="fr-FR" dirty="0">
                <a:latin typeface="Arial" pitchFamily="34" charset="0"/>
              </a:rPr>
              <a:t>  </a:t>
            </a:r>
            <a:r>
              <a:rPr lang="fr-FR" i="1" dirty="0" err="1">
                <a:latin typeface="Arial" pitchFamily="34" charset="0"/>
              </a:rPr>
              <a:t>r</a:t>
            </a:r>
            <a:r>
              <a:rPr lang="fr-FR" i="1" baseline="-25000" dirty="0" err="1">
                <a:latin typeface="Arial" pitchFamily="34" charset="0"/>
              </a:rPr>
              <a:t>t</a:t>
            </a:r>
            <a:r>
              <a:rPr lang="fr-FR" baseline="-25000" dirty="0">
                <a:latin typeface="Arial" pitchFamily="34" charset="0"/>
              </a:rPr>
              <a:t> </a:t>
            </a:r>
            <a:endParaRPr lang="fr-FR" b="1" dirty="0">
              <a:latin typeface="Arial" pitchFamily="34" charset="0"/>
            </a:endParaRPr>
          </a:p>
          <a:p>
            <a:pPr marL="1244600" lvl="2" indent="-292100">
              <a:spcBef>
                <a:spcPct val="40000"/>
              </a:spcBef>
              <a:buClr>
                <a:srgbClr val="000000"/>
              </a:buClr>
              <a:buSzPct val="100000"/>
              <a:buFont typeface="Arial" pitchFamily="34" charset="0"/>
              <a:buChar char="•"/>
              <a:tabLst>
                <a:tab pos="571500" algn="l"/>
              </a:tabLst>
              <a:defRPr/>
            </a:pPr>
            <a:r>
              <a:rPr lang="fr-FR" b="1" i="1" dirty="0" err="1">
                <a:latin typeface="Arial" pitchFamily="34" charset="0"/>
              </a:rPr>
              <a:t>r</a:t>
            </a:r>
            <a:r>
              <a:rPr lang="fr-FR" b="1" i="1" baseline="-25000" dirty="0" err="1">
                <a:latin typeface="Arial" pitchFamily="34" charset="0"/>
              </a:rPr>
              <a:t>t</a:t>
            </a:r>
            <a:r>
              <a:rPr lang="fr-FR" b="1" dirty="0">
                <a:latin typeface="Arial" pitchFamily="34" charset="0"/>
              </a:rPr>
              <a:t>  peut sanctionner des actions très antérieures à </a:t>
            </a:r>
            <a:r>
              <a:rPr lang="fr-FR" b="1" i="1" dirty="0">
                <a:latin typeface="Arial" pitchFamily="34" charset="0"/>
              </a:rPr>
              <a:t>t</a:t>
            </a:r>
            <a:r>
              <a:rPr lang="fr-FR" b="1" dirty="0">
                <a:latin typeface="Arial" pitchFamily="34" charset="0"/>
              </a:rPr>
              <a:t>  </a:t>
            </a:r>
            <a:endParaRPr lang="fr-FR" dirty="0">
              <a:latin typeface="Arial" pitchFamily="34" charset="0"/>
            </a:endParaRPr>
          </a:p>
          <a:p>
            <a:pPr marL="292100" indent="-292100">
              <a:spcBef>
                <a:spcPts val="788"/>
              </a:spcBef>
              <a:buClr>
                <a:srgbClr val="000000"/>
              </a:buClr>
              <a:buSzPct val="100000"/>
              <a:tabLst>
                <a:tab pos="571500" algn="l"/>
              </a:tabLst>
              <a:defRPr/>
            </a:pPr>
            <a:endParaRPr lang="fr-FR" u="sng" dirty="0">
              <a:solidFill>
                <a:srgbClr val="AD2700"/>
              </a:solidFill>
              <a:effectLst>
                <a:outerShdw blurRad="38100" dist="38100" dir="2700000" algn="tl">
                  <a:srgbClr val="C0C0C0"/>
                </a:outerShdw>
              </a:effectLst>
              <a:latin typeface="Arial" pitchFamily="34" charset="0"/>
            </a:endParaRPr>
          </a:p>
          <a:p>
            <a:pPr marL="292100" indent="-292100">
              <a:lnSpc>
                <a:spcPct val="140000"/>
              </a:lnSpc>
              <a:spcBef>
                <a:spcPts val="788"/>
              </a:spcBef>
              <a:buClr>
                <a:srgbClr val="000000"/>
              </a:buClr>
              <a:buSzPct val="100000"/>
              <a:tabLst>
                <a:tab pos="571500" algn="l"/>
              </a:tabLst>
              <a:defRPr/>
            </a:pPr>
            <a:r>
              <a:rPr lang="fr-FR" u="sng" dirty="0">
                <a:solidFill>
                  <a:srgbClr val="AD2700"/>
                </a:solidFill>
                <a:effectLst>
                  <a:outerShdw blurRad="38100" dist="38100" dir="2700000" algn="tl">
                    <a:srgbClr val="C0C0C0"/>
                  </a:outerShdw>
                </a:effectLst>
                <a:latin typeface="Arial" pitchFamily="34" charset="0"/>
              </a:rPr>
              <a:t>Le problème</a:t>
            </a:r>
            <a:r>
              <a:rPr lang="fr-FR" dirty="0">
                <a:latin typeface="Arial" pitchFamily="34" charset="0"/>
              </a:rPr>
              <a:t> </a:t>
            </a:r>
            <a:r>
              <a:rPr lang="fr-FR" b="1" dirty="0">
                <a:latin typeface="Arial" pitchFamily="34" charset="0"/>
              </a:rPr>
              <a:t>: </a:t>
            </a:r>
            <a:r>
              <a:rPr lang="fr-FR" dirty="0">
                <a:latin typeface="Arial" pitchFamily="34" charset="0"/>
              </a:rPr>
              <a:t>inférer une application : 		</a:t>
            </a:r>
            <a:r>
              <a:rPr lang="fr-FR" i="1" dirty="0">
                <a:solidFill>
                  <a:srgbClr val="004E47"/>
                </a:solidFill>
                <a:latin typeface="Arial" pitchFamily="34" charset="0"/>
              </a:rPr>
              <a:t>situation perçue</a:t>
            </a:r>
            <a:r>
              <a:rPr lang="fr-FR" dirty="0">
                <a:latin typeface="Arial" pitchFamily="34" charset="0"/>
              </a:rPr>
              <a:t> </a:t>
            </a:r>
            <a:r>
              <a:rPr lang="fr-FR" dirty="0">
                <a:latin typeface="Symbol" pitchFamily="18" charset="2"/>
              </a:rPr>
              <a:t></a:t>
            </a:r>
            <a:r>
              <a:rPr lang="fr-FR" i="1" dirty="0">
                <a:solidFill>
                  <a:srgbClr val="790015"/>
                </a:solidFill>
                <a:latin typeface="Arial" pitchFamily="34" charset="0"/>
              </a:rPr>
              <a:t> action </a:t>
            </a:r>
            <a:br>
              <a:rPr lang="fr-FR" i="1" dirty="0">
                <a:solidFill>
                  <a:srgbClr val="790015"/>
                </a:solidFill>
                <a:latin typeface="Arial" pitchFamily="34" charset="0"/>
              </a:rPr>
            </a:br>
            <a:r>
              <a:rPr lang="fr-FR" dirty="0">
                <a:latin typeface="Arial" pitchFamily="34" charset="0"/>
              </a:rPr>
              <a:t>afin de maximiser un gain sur le long terme </a:t>
            </a:r>
          </a:p>
          <a:p>
            <a:pPr marL="292100" indent="-292100">
              <a:lnSpc>
                <a:spcPct val="140000"/>
              </a:lnSpc>
              <a:spcBef>
                <a:spcPts val="788"/>
              </a:spcBef>
              <a:buClr>
                <a:srgbClr val="000000"/>
              </a:buClr>
              <a:buSzPct val="100000"/>
              <a:tabLst>
                <a:tab pos="571500" algn="l"/>
              </a:tabLst>
              <a:defRPr/>
            </a:pPr>
            <a:r>
              <a:rPr lang="fr-FR" sz="1400" b="1" i="1" dirty="0">
                <a:solidFill>
                  <a:srgbClr val="CC0000"/>
                </a:solidFill>
                <a:latin typeface="Arial" pitchFamily="34" charset="0"/>
              </a:rPr>
              <a:t>(Comment sacrifier petit gain à court terme au profit du meilleur gain à long terme ?)</a:t>
            </a:r>
          </a:p>
        </p:txBody>
      </p:sp>
      <p:sp>
        <p:nvSpPr>
          <p:cNvPr id="123908" name="Rectangle 4">
            <a:extLst>
              <a:ext uri="{FF2B5EF4-FFF2-40B4-BE49-F238E27FC236}">
                <a16:creationId xmlns="" xmlns:a16="http://schemas.microsoft.com/office/drawing/2014/main" id="{10D5954C-6898-42DF-989D-FE420060D2DF}"/>
              </a:ext>
            </a:extLst>
          </p:cNvPr>
          <p:cNvSpPr>
            <a:spLocks noChangeArrowheads="1"/>
          </p:cNvSpPr>
          <p:nvPr/>
        </p:nvSpPr>
        <p:spPr bwMode="auto">
          <a:xfrm>
            <a:off x="2776538" y="6229350"/>
            <a:ext cx="66556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FR" altLang="fr-FR" sz="1800" b="1" dirty="0">
                <a:solidFill>
                  <a:srgbClr val="00279F"/>
                </a:solidFill>
                <a:latin typeface="Times" panose="02020603050405020304" pitchFamily="18" charset="0"/>
              </a:rPr>
              <a:t>Apprentissage de réflexes</a:t>
            </a:r>
            <a:r>
              <a:rPr lang="fr-FR" altLang="fr-FR" sz="1800" b="1" dirty="0">
                <a:solidFill>
                  <a:schemeClr val="tx1"/>
                </a:solidFill>
                <a:latin typeface="Times" panose="02020603050405020304" pitchFamily="18" charset="0"/>
              </a:rPr>
              <a:t>  ...  -&gt; …  </a:t>
            </a:r>
            <a:r>
              <a:rPr lang="fr-FR" altLang="fr-FR" sz="1800" b="1" dirty="0">
                <a:solidFill>
                  <a:srgbClr val="081D58"/>
                </a:solidFill>
                <a:latin typeface="Times" panose="02020603050405020304" pitchFamily="18" charset="0"/>
              </a:rPr>
              <a:t>apprentissage de planification</a:t>
            </a:r>
          </a:p>
        </p:txBody>
      </p:sp>
      <p:pic>
        <p:nvPicPr>
          <p:cNvPr id="21509" name="Picture 5">
            <a:extLst>
              <a:ext uri="{FF2B5EF4-FFF2-40B4-BE49-F238E27FC236}">
                <a16:creationId xmlns="" xmlns:a16="http://schemas.microsoft.com/office/drawing/2014/main" id="{30EA8EAC-0508-4EAE-903A-39072C40CA9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959600" y="2205039"/>
            <a:ext cx="3454400" cy="2643187"/>
          </a:xfrm>
        </p:spPr>
      </p:pic>
      <p:sp>
        <p:nvSpPr>
          <p:cNvPr id="21510" name="Rectangle 6">
            <a:extLst>
              <a:ext uri="{FF2B5EF4-FFF2-40B4-BE49-F238E27FC236}">
                <a16:creationId xmlns="" xmlns:a16="http://schemas.microsoft.com/office/drawing/2014/main" id="{09685CC8-78CA-49D2-8E40-EDBCB974F513}"/>
              </a:ext>
            </a:extLst>
          </p:cNvPr>
          <p:cNvSpPr>
            <a:spLocks noChangeArrowheads="1"/>
          </p:cNvSpPr>
          <p:nvPr/>
        </p:nvSpPr>
        <p:spPr bwMode="auto">
          <a:xfrm>
            <a:off x="1560513" y="38101"/>
            <a:ext cx="9144000" cy="366713"/>
          </a:xfrm>
          <a:prstGeom prst="rect">
            <a:avLst/>
          </a:prstGeom>
          <a:solidFill>
            <a:srgbClr val="3366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fr-FR" altLang="fr-FR" sz="1800">
                <a:solidFill>
                  <a:schemeClr val="tx1"/>
                </a:solidFill>
              </a:rPr>
              <a:t>Intelligence Artificielle 		APPRENTISSAGE - Renforcement		</a:t>
            </a:r>
          </a:p>
        </p:txBody>
      </p:sp>
      <p:sp>
        <p:nvSpPr>
          <p:cNvPr id="21511" name="Rectangle 1">
            <a:extLst>
              <a:ext uri="{FF2B5EF4-FFF2-40B4-BE49-F238E27FC236}">
                <a16:creationId xmlns="" xmlns:a16="http://schemas.microsoft.com/office/drawing/2014/main" id="{427B5A11-1FAB-4F21-A792-F87CE7F01D83}"/>
              </a:ext>
            </a:extLst>
          </p:cNvPr>
          <p:cNvSpPr>
            <a:spLocks noChangeArrowheads="1"/>
          </p:cNvSpPr>
          <p:nvPr/>
        </p:nvSpPr>
        <p:spPr bwMode="auto">
          <a:xfrm>
            <a:off x="4503593" y="3273139"/>
            <a:ext cx="26860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ClrTx/>
              <a:buSzTx/>
              <a:buFontTx/>
              <a:buNone/>
            </a:pPr>
            <a:r>
              <a:rPr lang="en-GB" altLang="fr-FR" sz="1800" b="1" dirty="0" err="1">
                <a:solidFill>
                  <a:schemeClr val="tx1"/>
                </a:solidFill>
                <a:latin typeface="Times New Roman" panose="02020603050405020304" pitchFamily="18" charset="0"/>
              </a:rPr>
              <a:t>Apprentissage</a:t>
            </a:r>
            <a:r>
              <a:rPr lang="en-GB" altLang="fr-FR" sz="1800" b="1" dirty="0">
                <a:solidFill>
                  <a:schemeClr val="tx1"/>
                </a:solidFill>
                <a:latin typeface="Times New Roman" panose="02020603050405020304" pitchFamily="18" charset="0"/>
              </a:rPr>
              <a:t> </a:t>
            </a:r>
            <a:r>
              <a:rPr lang="en-GB" altLang="fr-FR" sz="1800" b="1" dirty="0" err="1">
                <a:solidFill>
                  <a:schemeClr val="tx1"/>
                </a:solidFill>
                <a:latin typeface="Times New Roman" panose="02020603050405020304" pitchFamily="18" charset="0"/>
              </a:rPr>
              <a:t>Supervisé</a:t>
            </a:r>
            <a:r>
              <a:rPr lang="en-GB" altLang="fr-FR" sz="1800" b="1" dirty="0">
                <a:solidFill>
                  <a:schemeClr val="tx1"/>
                </a:solidFill>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390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2390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2390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23907">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23907">
                                            <p:txEl>
                                              <p:pRg st="5" end="5"/>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23907">
                                            <p:txEl>
                                              <p:pRg st="6" end="6"/>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239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autoUpdateAnimBg="0"/>
      <p:bldP spid="123908"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1">
            <a:extLst>
              <a:ext uri="{FF2B5EF4-FFF2-40B4-BE49-F238E27FC236}">
                <a16:creationId xmlns="" xmlns:a16="http://schemas.microsoft.com/office/drawing/2014/main" id="{37BDC215-3ACB-4AF0-9F85-3E66D52566BE}"/>
              </a:ext>
            </a:extLst>
          </p:cNvPr>
          <p:cNvSpPr txBox="1">
            <a:spLocks noChangeArrowheads="1"/>
          </p:cNvSpPr>
          <p:nvPr/>
        </p:nvSpPr>
        <p:spPr bwMode="auto">
          <a:xfrm>
            <a:off x="571500" y="568325"/>
            <a:ext cx="11305309" cy="526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3600" b="1" dirty="0" err="1">
                <a:solidFill>
                  <a:schemeClr val="tx1"/>
                </a:solidFill>
              </a:rPr>
              <a:t>Apprentissage</a:t>
            </a:r>
            <a:r>
              <a:rPr lang="en-GB" altLang="fr-FR" sz="3600" b="1" dirty="0">
                <a:solidFill>
                  <a:schemeClr val="tx1"/>
                </a:solidFill>
              </a:rPr>
              <a:t> </a:t>
            </a:r>
            <a:r>
              <a:rPr lang="en-GB" altLang="fr-FR" sz="3600" b="1" dirty="0" err="1">
                <a:solidFill>
                  <a:schemeClr val="tx1"/>
                </a:solidFill>
              </a:rPr>
              <a:t>Supervisé</a:t>
            </a:r>
            <a:r>
              <a:rPr lang="en-GB" altLang="fr-FR" sz="3600" b="1" dirty="0" smtClean="0">
                <a:solidFill>
                  <a:schemeClr val="tx1"/>
                </a:solidFill>
              </a:rPr>
              <a:t>: </a:t>
            </a:r>
            <a:r>
              <a:rPr lang="en-GB" altLang="fr-FR" sz="3600" b="1" dirty="0" err="1" smtClean="0">
                <a:solidFill>
                  <a:schemeClr val="tx1"/>
                </a:solidFill>
              </a:rPr>
              <a:t>ca</a:t>
            </a:r>
            <a:r>
              <a:rPr lang="en-GB" altLang="fr-FR" sz="3600" b="1" dirty="0" err="1" smtClean="0">
                <a:solidFill>
                  <a:schemeClr val="tx1"/>
                </a:solidFill>
              </a:rPr>
              <a:t>s</a:t>
            </a:r>
            <a:r>
              <a:rPr lang="en-GB" altLang="fr-FR" sz="3600" b="1" dirty="0" smtClean="0">
                <a:solidFill>
                  <a:schemeClr val="tx1"/>
                </a:solidFill>
              </a:rPr>
              <a:t> classification</a:t>
            </a:r>
            <a:endParaRPr lang="en-GB" altLang="fr-FR" sz="3600" b="1" dirty="0">
              <a:solidFill>
                <a:schemeClr val="tx1"/>
              </a:solidFill>
            </a:endParaRPr>
          </a:p>
          <a:p>
            <a:pPr eaLnBrk="1" hangingPunct="1">
              <a:lnSpc>
                <a:spcPct val="96000"/>
              </a:lnSpc>
              <a:spcBef>
                <a:spcPct val="0"/>
              </a:spcBef>
              <a:buFont typeface="Arial" panose="020B0604020202020204" pitchFamily="34" charset="0"/>
              <a:buNone/>
            </a:pPr>
            <a:endParaRPr lang="en-GB" altLang="fr-FR" b="1" dirty="0">
              <a:solidFill>
                <a:srgbClr val="0000FF"/>
              </a:solidFill>
            </a:endParaRPr>
          </a:p>
          <a:p>
            <a:pPr eaLnBrk="1" hangingPunct="1">
              <a:lnSpc>
                <a:spcPct val="96000"/>
              </a:lnSpc>
              <a:spcBef>
                <a:spcPct val="0"/>
              </a:spcBef>
              <a:buFont typeface="Arial" panose="020B0604020202020204" pitchFamily="34" charset="0"/>
              <a:buNone/>
            </a:pPr>
            <a:r>
              <a:rPr lang="en-GB" altLang="fr-FR" b="1" dirty="0" err="1">
                <a:solidFill>
                  <a:srgbClr val="0000FF"/>
                </a:solidFill>
              </a:rPr>
              <a:t>A</a:t>
            </a:r>
            <a:r>
              <a:rPr lang="en-GB" altLang="fr-FR" b="1" dirty="0" err="1" smtClean="0">
                <a:solidFill>
                  <a:srgbClr val="0000FF"/>
                </a:solidFill>
              </a:rPr>
              <a:t>rbres</a:t>
            </a:r>
            <a:r>
              <a:rPr lang="en-GB" altLang="fr-FR" b="1" dirty="0" smtClean="0">
                <a:solidFill>
                  <a:srgbClr val="0000FF"/>
                </a:solidFill>
              </a:rPr>
              <a:t> </a:t>
            </a:r>
            <a:r>
              <a:rPr lang="en-GB" altLang="fr-FR" b="1" dirty="0">
                <a:solidFill>
                  <a:srgbClr val="0000FF"/>
                </a:solidFill>
              </a:rPr>
              <a:t>de </a:t>
            </a:r>
            <a:r>
              <a:rPr lang="en-GB" altLang="fr-FR" b="1" dirty="0" err="1">
                <a:solidFill>
                  <a:srgbClr val="0000FF"/>
                </a:solidFill>
              </a:rPr>
              <a:t>décision</a:t>
            </a:r>
            <a:r>
              <a:rPr lang="en-GB" altLang="fr-FR" b="1" dirty="0">
                <a:solidFill>
                  <a:srgbClr val="0000FF"/>
                </a:solidFill>
              </a:rPr>
              <a:t> </a:t>
            </a:r>
          </a:p>
          <a:p>
            <a:pPr eaLnBrk="1" hangingPunct="1">
              <a:spcBef>
                <a:spcPct val="0"/>
              </a:spcBef>
              <a:buFont typeface="Arial" panose="020B0604020202020204" pitchFamily="34" charset="0"/>
              <a:buNone/>
            </a:pPr>
            <a:endParaRPr lang="en-GB" altLang="fr-FR" sz="2000" dirty="0">
              <a:solidFill>
                <a:srgbClr val="0000FF"/>
              </a:solidFill>
            </a:endParaRPr>
          </a:p>
          <a:p>
            <a:pPr eaLnBrk="1" hangingPunct="1">
              <a:spcBef>
                <a:spcPct val="0"/>
              </a:spcBef>
              <a:buFont typeface="Arial" panose="020B0604020202020204" pitchFamily="34" charset="0"/>
              <a:buNone/>
            </a:pPr>
            <a:r>
              <a:rPr lang="en-GB" altLang="fr-FR" sz="2000" dirty="0" err="1">
                <a:solidFill>
                  <a:schemeClr val="tx1"/>
                </a:solidFill>
              </a:rPr>
              <a:t>Une</a:t>
            </a:r>
            <a:r>
              <a:rPr lang="en-GB" altLang="fr-FR" sz="2000" dirty="0">
                <a:solidFill>
                  <a:schemeClr val="tx1"/>
                </a:solidFill>
              </a:rPr>
              <a:t> des </a:t>
            </a:r>
            <a:r>
              <a:rPr lang="en-GB" altLang="fr-FR" sz="2000" dirty="0" err="1">
                <a:solidFill>
                  <a:schemeClr val="tx1"/>
                </a:solidFill>
              </a:rPr>
              <a:t>formes</a:t>
            </a:r>
            <a:r>
              <a:rPr lang="en-GB" altLang="fr-FR" sz="2000" dirty="0">
                <a:solidFill>
                  <a:schemeClr val="tx1"/>
                </a:solidFill>
              </a:rPr>
              <a:t> les plus simples </a:t>
            </a:r>
            <a:r>
              <a:rPr lang="en-GB" altLang="fr-FR" sz="2000" dirty="0" err="1">
                <a:solidFill>
                  <a:schemeClr val="tx1"/>
                </a:solidFill>
              </a:rPr>
              <a:t>d’apprentissage</a:t>
            </a:r>
            <a:r>
              <a:rPr lang="en-GB" altLang="fr-FR" sz="2000" dirty="0">
                <a:solidFill>
                  <a:schemeClr val="tx1"/>
                </a:solidFill>
              </a:rPr>
              <a:t>, </a:t>
            </a:r>
            <a:r>
              <a:rPr lang="en-GB" altLang="fr-FR" sz="2000" dirty="0" err="1">
                <a:solidFill>
                  <a:schemeClr val="tx1"/>
                </a:solidFill>
              </a:rPr>
              <a:t>mais</a:t>
            </a:r>
            <a:r>
              <a:rPr lang="en-GB" altLang="fr-FR" sz="2000" dirty="0">
                <a:solidFill>
                  <a:schemeClr val="tx1"/>
                </a:solidFill>
              </a:rPr>
              <a:t> tout de </a:t>
            </a:r>
            <a:r>
              <a:rPr lang="en-GB" altLang="fr-FR" sz="2000" dirty="0" err="1">
                <a:solidFill>
                  <a:schemeClr val="tx1"/>
                </a:solidFill>
              </a:rPr>
              <a:t>même</a:t>
            </a:r>
            <a:r>
              <a:rPr lang="en-GB" altLang="fr-FR" sz="2000" dirty="0">
                <a:solidFill>
                  <a:schemeClr val="tx1"/>
                </a:solidFill>
              </a:rPr>
              <a:t> </a:t>
            </a:r>
            <a:r>
              <a:rPr lang="en-GB" altLang="fr-FR" sz="2000" dirty="0" err="1">
                <a:solidFill>
                  <a:schemeClr val="tx1"/>
                </a:solidFill>
              </a:rPr>
              <a:t>une</a:t>
            </a:r>
            <a:r>
              <a:rPr lang="en-GB" altLang="fr-FR" sz="2000" dirty="0">
                <a:solidFill>
                  <a:schemeClr val="tx1"/>
                </a:solidFill>
              </a:rPr>
              <a:t> de </a:t>
            </a:r>
            <a:r>
              <a:rPr lang="en-GB" altLang="fr-FR" sz="2000" dirty="0" err="1">
                <a:solidFill>
                  <a:schemeClr val="tx1"/>
                </a:solidFill>
              </a:rPr>
              <a:t>celles</a:t>
            </a:r>
            <a:r>
              <a:rPr lang="en-GB" altLang="fr-FR" sz="2000" dirty="0">
                <a:solidFill>
                  <a:schemeClr val="tx1"/>
                </a:solidFill>
              </a:rPr>
              <a:t> qui </a:t>
            </a:r>
            <a:r>
              <a:rPr lang="en-GB" altLang="fr-FR" sz="2000" dirty="0" err="1">
                <a:solidFill>
                  <a:schemeClr val="tx1"/>
                </a:solidFill>
              </a:rPr>
              <a:t>connaissent</a:t>
            </a:r>
            <a:r>
              <a:rPr lang="en-GB" altLang="fr-FR" sz="2000" dirty="0">
                <a:solidFill>
                  <a:schemeClr val="tx1"/>
                </a:solidFill>
              </a:rPr>
              <a:t> le plus de </a:t>
            </a:r>
            <a:r>
              <a:rPr lang="en-GB" altLang="fr-FR" sz="2000" dirty="0" err="1">
                <a:solidFill>
                  <a:schemeClr val="tx1"/>
                </a:solidFill>
              </a:rPr>
              <a:t>succès</a:t>
            </a:r>
            <a:r>
              <a:rPr lang="en-GB" altLang="fr-FR" sz="2000" dirty="0">
                <a:solidFill>
                  <a:schemeClr val="tx1"/>
                </a:solidFill>
              </a:rPr>
              <a:t>.</a:t>
            </a:r>
          </a:p>
          <a:p>
            <a:pPr eaLnBrk="1" hangingPunct="1">
              <a:spcBef>
                <a:spcPct val="0"/>
              </a:spcBef>
              <a:buFont typeface="Arial" panose="020B0604020202020204" pitchFamily="34" charset="0"/>
              <a:buNone/>
            </a:pPr>
            <a:endParaRPr lang="en-GB" altLang="fr-FR" sz="2000" dirty="0">
              <a:solidFill>
                <a:schemeClr val="tx1"/>
              </a:solidFill>
            </a:endParaRPr>
          </a:p>
          <a:p>
            <a:pPr eaLnBrk="1" hangingPunct="1">
              <a:spcBef>
                <a:spcPct val="0"/>
              </a:spcBef>
              <a:buFont typeface="Arial" panose="020B0604020202020204" pitchFamily="34" charset="0"/>
              <a:buNone/>
            </a:pPr>
            <a:r>
              <a:rPr lang="en-GB" altLang="fr-FR" sz="2000" dirty="0">
                <a:solidFill>
                  <a:schemeClr val="tx1"/>
                </a:solidFill>
              </a:rPr>
              <a:t>À </a:t>
            </a:r>
            <a:r>
              <a:rPr lang="en-GB" altLang="fr-FR" sz="2000" dirty="0" err="1">
                <a:solidFill>
                  <a:schemeClr val="tx1"/>
                </a:solidFill>
              </a:rPr>
              <a:t>partir</a:t>
            </a:r>
            <a:r>
              <a:rPr lang="en-GB" altLang="fr-FR" sz="2000" dirty="0">
                <a:solidFill>
                  <a:schemeClr val="tx1"/>
                </a:solidFill>
              </a:rPr>
              <a:t> </a:t>
            </a:r>
            <a:r>
              <a:rPr lang="en-GB" altLang="fr-FR" sz="2000" dirty="0" err="1">
                <a:solidFill>
                  <a:schemeClr val="tx1"/>
                </a:solidFill>
              </a:rPr>
              <a:t>d’exemples</a:t>
            </a:r>
            <a:r>
              <a:rPr lang="en-GB" altLang="fr-FR" sz="2000" dirty="0">
                <a:solidFill>
                  <a:schemeClr val="tx1"/>
                </a:solidFill>
              </a:rPr>
              <a:t>, le but </a:t>
            </a:r>
            <a:r>
              <a:rPr lang="en-GB" altLang="fr-FR" sz="2000" dirty="0" err="1">
                <a:solidFill>
                  <a:schemeClr val="tx1"/>
                </a:solidFill>
              </a:rPr>
              <a:t>est</a:t>
            </a:r>
            <a:r>
              <a:rPr lang="en-GB" altLang="fr-FR" sz="2000" dirty="0">
                <a:solidFill>
                  <a:schemeClr val="tx1"/>
                </a:solidFill>
              </a:rPr>
              <a:t> </a:t>
            </a:r>
            <a:r>
              <a:rPr lang="en-GB" altLang="fr-FR" sz="2000" dirty="0" err="1">
                <a:solidFill>
                  <a:schemeClr val="tx1"/>
                </a:solidFill>
              </a:rPr>
              <a:t>d’apprendre</a:t>
            </a:r>
            <a:r>
              <a:rPr lang="en-GB" altLang="fr-FR" sz="2000" dirty="0">
                <a:solidFill>
                  <a:schemeClr val="tx1"/>
                </a:solidFill>
              </a:rPr>
              <a:t> des structures </a:t>
            </a:r>
            <a:r>
              <a:rPr lang="en-GB" altLang="fr-FR" sz="2000" dirty="0" err="1">
                <a:solidFill>
                  <a:schemeClr val="tx1"/>
                </a:solidFill>
              </a:rPr>
              <a:t>d’arbres</a:t>
            </a:r>
            <a:r>
              <a:rPr lang="en-GB" altLang="fr-FR" sz="2000" dirty="0">
                <a:solidFill>
                  <a:schemeClr val="tx1"/>
                </a:solidFill>
              </a:rPr>
              <a:t> </a:t>
            </a:r>
            <a:r>
              <a:rPr lang="en-GB" altLang="fr-FR" sz="2000" dirty="0" err="1">
                <a:solidFill>
                  <a:schemeClr val="tx1"/>
                </a:solidFill>
              </a:rPr>
              <a:t>permettant</a:t>
            </a:r>
            <a:r>
              <a:rPr lang="en-GB" altLang="fr-FR" sz="2000" dirty="0">
                <a:solidFill>
                  <a:schemeClr val="tx1"/>
                </a:solidFill>
              </a:rPr>
              <a:t> de </a:t>
            </a:r>
            <a:r>
              <a:rPr lang="en-GB" altLang="fr-FR" sz="2000" dirty="0" err="1">
                <a:solidFill>
                  <a:schemeClr val="tx1"/>
                </a:solidFill>
              </a:rPr>
              <a:t>prendre</a:t>
            </a:r>
            <a:r>
              <a:rPr lang="en-GB" altLang="fr-FR" sz="2000" dirty="0">
                <a:solidFill>
                  <a:schemeClr val="tx1"/>
                </a:solidFill>
              </a:rPr>
              <a:t> des </a:t>
            </a:r>
            <a:r>
              <a:rPr lang="en-GB" altLang="fr-FR" sz="2000" dirty="0" err="1">
                <a:solidFill>
                  <a:schemeClr val="tx1"/>
                </a:solidFill>
              </a:rPr>
              <a:t>décisions</a:t>
            </a:r>
            <a:r>
              <a:rPr lang="en-GB" altLang="fr-FR" sz="2000" dirty="0">
                <a:solidFill>
                  <a:schemeClr val="tx1"/>
                </a:solidFill>
              </a:rPr>
              <a:t>.</a:t>
            </a:r>
          </a:p>
          <a:p>
            <a:pPr eaLnBrk="1" hangingPunct="1">
              <a:spcBef>
                <a:spcPct val="0"/>
              </a:spcBef>
              <a:buFont typeface="Arial" panose="020B0604020202020204" pitchFamily="34" charset="0"/>
              <a:buNone/>
            </a:pPr>
            <a:endParaRPr lang="en-GB" altLang="fr-FR" sz="2000" dirty="0">
              <a:solidFill>
                <a:schemeClr val="tx1"/>
              </a:solidFill>
            </a:endParaRPr>
          </a:p>
          <a:p>
            <a:pPr eaLnBrk="1" hangingPunct="1">
              <a:spcBef>
                <a:spcPct val="0"/>
              </a:spcBef>
              <a:buFont typeface="Arial" panose="020B0604020202020204" pitchFamily="34" charset="0"/>
              <a:buNone/>
            </a:pPr>
            <a:r>
              <a:rPr lang="en-GB" altLang="fr-FR" sz="2000" dirty="0" err="1">
                <a:solidFill>
                  <a:srgbClr val="FF9900"/>
                </a:solidFill>
              </a:rPr>
              <a:t>Chaque</a:t>
            </a:r>
            <a:r>
              <a:rPr lang="en-GB" altLang="fr-FR" sz="2000" dirty="0">
                <a:solidFill>
                  <a:srgbClr val="FF9900"/>
                </a:solidFill>
              </a:rPr>
              <a:t> </a:t>
            </a:r>
            <a:r>
              <a:rPr lang="en-GB" altLang="fr-FR" sz="2000" dirty="0" err="1">
                <a:solidFill>
                  <a:srgbClr val="FF9900"/>
                </a:solidFill>
              </a:rPr>
              <a:t>noeud</a:t>
            </a:r>
            <a:r>
              <a:rPr lang="en-GB" altLang="fr-FR" sz="2000" dirty="0">
                <a:solidFill>
                  <a:srgbClr val="FF9900"/>
                </a:solidFill>
              </a:rPr>
              <a:t> </a:t>
            </a:r>
            <a:r>
              <a:rPr lang="en-GB" altLang="fr-FR" sz="2000" dirty="0" err="1">
                <a:solidFill>
                  <a:srgbClr val="FF9900"/>
                </a:solidFill>
              </a:rPr>
              <a:t>représente</a:t>
            </a:r>
            <a:r>
              <a:rPr lang="en-GB" altLang="fr-FR" sz="2000" dirty="0">
                <a:solidFill>
                  <a:srgbClr val="FF9900"/>
                </a:solidFill>
              </a:rPr>
              <a:t> un test à faire.</a:t>
            </a:r>
          </a:p>
          <a:p>
            <a:pPr eaLnBrk="1" hangingPunct="1">
              <a:spcBef>
                <a:spcPct val="0"/>
              </a:spcBef>
              <a:buFont typeface="Arial" panose="020B0604020202020204" pitchFamily="34" charset="0"/>
              <a:buNone/>
            </a:pPr>
            <a:endParaRPr lang="en-GB" altLang="fr-FR" sz="2000" dirty="0">
              <a:solidFill>
                <a:srgbClr val="FF9900"/>
              </a:solidFill>
            </a:endParaRPr>
          </a:p>
          <a:p>
            <a:pPr eaLnBrk="1" hangingPunct="1">
              <a:spcBef>
                <a:spcPct val="0"/>
              </a:spcBef>
              <a:buFont typeface="Arial" panose="020B0604020202020204" pitchFamily="34" charset="0"/>
              <a:buNone/>
            </a:pPr>
            <a:r>
              <a:rPr lang="en-GB" altLang="fr-FR" sz="2000" dirty="0" err="1">
                <a:solidFill>
                  <a:srgbClr val="FF9900"/>
                </a:solidFill>
              </a:rPr>
              <a:t>Chaque</a:t>
            </a:r>
            <a:r>
              <a:rPr lang="en-GB" altLang="fr-FR" sz="2000" dirty="0">
                <a:solidFill>
                  <a:srgbClr val="FF9900"/>
                </a:solidFill>
              </a:rPr>
              <a:t> </a:t>
            </a:r>
            <a:r>
              <a:rPr lang="en-GB" altLang="fr-FR" sz="2000" dirty="0" err="1">
                <a:solidFill>
                  <a:srgbClr val="FF9900"/>
                </a:solidFill>
              </a:rPr>
              <a:t>branche</a:t>
            </a:r>
            <a:r>
              <a:rPr lang="en-GB" altLang="fr-FR" sz="2000" dirty="0">
                <a:solidFill>
                  <a:srgbClr val="FF9900"/>
                </a:solidFill>
              </a:rPr>
              <a:t> </a:t>
            </a:r>
            <a:r>
              <a:rPr lang="en-GB" altLang="fr-FR" sz="2000" dirty="0" err="1">
                <a:solidFill>
                  <a:srgbClr val="FF9900"/>
                </a:solidFill>
              </a:rPr>
              <a:t>représente</a:t>
            </a:r>
            <a:r>
              <a:rPr lang="en-GB" altLang="fr-FR" sz="2000" dirty="0">
                <a:solidFill>
                  <a:srgbClr val="FF9900"/>
                </a:solidFill>
              </a:rPr>
              <a:t> </a:t>
            </a:r>
            <a:r>
              <a:rPr lang="en-GB" altLang="fr-FR" sz="2000" dirty="0" err="1">
                <a:solidFill>
                  <a:srgbClr val="FF9900"/>
                </a:solidFill>
              </a:rPr>
              <a:t>une</a:t>
            </a:r>
            <a:r>
              <a:rPr lang="en-GB" altLang="fr-FR" sz="2000" dirty="0">
                <a:solidFill>
                  <a:srgbClr val="FF9900"/>
                </a:solidFill>
              </a:rPr>
              <a:t> </a:t>
            </a:r>
            <a:r>
              <a:rPr lang="en-GB" altLang="fr-FR" sz="2000" dirty="0" err="1">
                <a:solidFill>
                  <a:srgbClr val="FF9900"/>
                </a:solidFill>
              </a:rPr>
              <a:t>valeur</a:t>
            </a:r>
            <a:r>
              <a:rPr lang="en-GB" altLang="fr-FR" sz="2000" dirty="0">
                <a:solidFill>
                  <a:srgbClr val="FF9900"/>
                </a:solidFill>
              </a:rPr>
              <a:t> possible </a:t>
            </a:r>
            <a:r>
              <a:rPr lang="en-GB" altLang="fr-FR" sz="2000" dirty="0" err="1">
                <a:solidFill>
                  <a:srgbClr val="FF9900"/>
                </a:solidFill>
              </a:rPr>
              <a:t>résultant</a:t>
            </a:r>
            <a:r>
              <a:rPr lang="en-GB" altLang="fr-FR" sz="2000" dirty="0">
                <a:solidFill>
                  <a:srgbClr val="FF9900"/>
                </a:solidFill>
              </a:rPr>
              <a:t> du test.</a:t>
            </a:r>
          </a:p>
          <a:p>
            <a:pPr eaLnBrk="1" hangingPunct="1">
              <a:spcBef>
                <a:spcPct val="0"/>
              </a:spcBef>
              <a:buFont typeface="Arial" panose="020B0604020202020204" pitchFamily="34" charset="0"/>
              <a:buNone/>
            </a:pPr>
            <a:endParaRPr lang="en-GB" altLang="fr-FR" sz="2000" dirty="0">
              <a:solidFill>
                <a:srgbClr val="FF9900"/>
              </a:solidFill>
            </a:endParaRPr>
          </a:p>
          <a:p>
            <a:pPr eaLnBrk="1" hangingPunct="1">
              <a:spcBef>
                <a:spcPct val="0"/>
              </a:spcBef>
              <a:buFont typeface="Arial" panose="020B0604020202020204" pitchFamily="34" charset="0"/>
              <a:buNone/>
            </a:pPr>
            <a:r>
              <a:rPr lang="en-GB" altLang="fr-FR" sz="2000" dirty="0" err="1">
                <a:solidFill>
                  <a:srgbClr val="FF9900"/>
                </a:solidFill>
              </a:rPr>
              <a:t>Une</a:t>
            </a:r>
            <a:r>
              <a:rPr lang="en-GB" altLang="fr-FR" sz="2000" dirty="0">
                <a:solidFill>
                  <a:srgbClr val="FF9900"/>
                </a:solidFill>
              </a:rPr>
              <a:t> </a:t>
            </a:r>
            <a:r>
              <a:rPr lang="en-GB" altLang="fr-FR" sz="2000" dirty="0" err="1">
                <a:solidFill>
                  <a:srgbClr val="FF9900"/>
                </a:solidFill>
              </a:rPr>
              <a:t>feuille</a:t>
            </a:r>
            <a:r>
              <a:rPr lang="en-GB" altLang="fr-FR" sz="2000" dirty="0">
                <a:solidFill>
                  <a:srgbClr val="FF9900"/>
                </a:solidFill>
              </a:rPr>
              <a:t> correspond à la </a:t>
            </a:r>
            <a:r>
              <a:rPr lang="en-GB" altLang="fr-FR" sz="2000" dirty="0" err="1">
                <a:solidFill>
                  <a:srgbClr val="FF9900"/>
                </a:solidFill>
              </a:rPr>
              <a:t>décision</a:t>
            </a:r>
            <a:r>
              <a:rPr lang="en-GB" altLang="fr-FR" sz="2000" dirty="0">
                <a:solidFill>
                  <a:srgbClr val="FF9900"/>
                </a:solidFill>
              </a:rPr>
              <a:t>.</a:t>
            </a:r>
          </a:p>
        </p:txBody>
      </p:sp>
      <p:grpSp>
        <p:nvGrpSpPr>
          <p:cNvPr id="30723" name="Group 2">
            <a:extLst>
              <a:ext uri="{FF2B5EF4-FFF2-40B4-BE49-F238E27FC236}">
                <a16:creationId xmlns="" xmlns:a16="http://schemas.microsoft.com/office/drawing/2014/main" id="{44040027-B8D4-487D-884D-EA08ED78E1AB}"/>
              </a:ext>
            </a:extLst>
          </p:cNvPr>
          <p:cNvGrpSpPr>
            <a:grpSpLocks/>
          </p:cNvGrpSpPr>
          <p:nvPr/>
        </p:nvGrpSpPr>
        <p:grpSpPr bwMode="auto">
          <a:xfrm>
            <a:off x="1524001" y="44451"/>
            <a:ext cx="9142413" cy="365125"/>
            <a:chOff x="0" y="28"/>
            <a:chExt cx="5759" cy="230"/>
          </a:xfrm>
        </p:grpSpPr>
        <p:sp>
          <p:nvSpPr>
            <p:cNvPr id="30724" name="AutoShape 3">
              <a:extLst>
                <a:ext uri="{FF2B5EF4-FFF2-40B4-BE49-F238E27FC236}">
                  <a16:creationId xmlns="" xmlns:a16="http://schemas.microsoft.com/office/drawing/2014/main" id="{3EEAE63A-EBC2-4FEB-B3CD-E088CD81218C}"/>
                </a:ext>
              </a:extLst>
            </p:cNvPr>
            <p:cNvSpPr>
              <a:spLocks noChangeArrowheads="1"/>
            </p:cNvSpPr>
            <p:nvPr/>
          </p:nvSpPr>
          <p:spPr bwMode="auto">
            <a:xfrm>
              <a:off x="0" y="28"/>
              <a:ext cx="5760" cy="231"/>
            </a:xfrm>
            <a:prstGeom prst="roundRect">
              <a:avLst>
                <a:gd name="adj" fmla="val 431"/>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endParaRPr lang="fr-FR" altLang="fr-FR" sz="1800">
                <a:latin typeface="Times New Roman" panose="02020603050405020304" pitchFamily="18" charset="0"/>
              </a:endParaRPr>
            </a:p>
          </p:txBody>
        </p:sp>
        <p:sp>
          <p:nvSpPr>
            <p:cNvPr id="30725" name="Text Box 4">
              <a:extLst>
                <a:ext uri="{FF2B5EF4-FFF2-40B4-BE49-F238E27FC236}">
                  <a16:creationId xmlns="" xmlns:a16="http://schemas.microsoft.com/office/drawing/2014/main" id="{41672865-58C6-4409-A27F-F7A79D5B31D1}"/>
                </a:ext>
              </a:extLst>
            </p:cNvPr>
            <p:cNvSpPr txBox="1">
              <a:spLocks noChangeArrowheads="1"/>
            </p:cNvSpPr>
            <p:nvPr/>
          </p:nvSpPr>
          <p:spPr bwMode="auto">
            <a:xfrm>
              <a:off x="0" y="28"/>
              <a:ext cx="57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1800">
                  <a:solidFill>
                    <a:schemeClr val="tx1"/>
                  </a:solidFill>
                </a:rPr>
                <a:t>Intelligence Artificielle 		Apprentissage			</a:t>
              </a:r>
            </a:p>
          </p:txBody>
        </p:sp>
      </p:grpSp>
      <p:sp>
        <p:nvSpPr>
          <p:cNvPr id="2" name="Slide Number Placeholder 1">
            <a:extLst>
              <a:ext uri="{FF2B5EF4-FFF2-40B4-BE49-F238E27FC236}">
                <a16:creationId xmlns="" xmlns:a16="http://schemas.microsoft.com/office/drawing/2014/main" id="{75EE7F56-94EC-456F-9179-09E26505C4EF}"/>
              </a:ext>
            </a:extLst>
          </p:cNvPr>
          <p:cNvSpPr>
            <a:spLocks noGrp="1"/>
          </p:cNvSpPr>
          <p:nvPr>
            <p:ph type="sldNum" sz="quarter" idx="12"/>
          </p:nvPr>
        </p:nvSpPr>
        <p:spPr/>
        <p:txBody>
          <a:bodyPr/>
          <a:lstStyle/>
          <a:p>
            <a:fld id="{EE5DF52D-0FE0-4249-9023-8B500BDB729B}" type="slidenum">
              <a:rPr lang="fr-FR" smtClean="0"/>
              <a:pPr/>
              <a:t>12</a:t>
            </a:fld>
            <a:endParaRPr lang="fr-FR"/>
          </a:p>
        </p:txBody>
      </p:sp>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41B7E370-B798-4A93-BD6B-63AD8DAE6316}"/>
              </a:ext>
            </a:extLst>
          </p:cNvPr>
          <p:cNvSpPr>
            <a:spLocks noGrp="1"/>
          </p:cNvSpPr>
          <p:nvPr>
            <p:ph type="sldNum" sz="quarter" idx="12"/>
          </p:nvPr>
        </p:nvSpPr>
        <p:spPr/>
        <p:txBody>
          <a:bodyPr/>
          <a:lstStyle/>
          <a:p>
            <a:fld id="{EE5DF52D-0FE0-4249-9023-8B500BDB729B}" type="slidenum">
              <a:rPr lang="fr-FR" smtClean="0"/>
              <a:pPr/>
              <a:t>13</a:t>
            </a:fld>
            <a:endParaRPr lang="fr-FR"/>
          </a:p>
        </p:txBody>
      </p:sp>
      <p:pic>
        <p:nvPicPr>
          <p:cNvPr id="4" name="Picture 3">
            <a:extLst>
              <a:ext uri="{FF2B5EF4-FFF2-40B4-BE49-F238E27FC236}">
                <a16:creationId xmlns="" xmlns:a16="http://schemas.microsoft.com/office/drawing/2014/main" id="{DE37DD45-C764-4B12-A698-26BFC7A7A7CE}"/>
              </a:ext>
            </a:extLst>
          </p:cNvPr>
          <p:cNvPicPr>
            <a:picLocks noChangeAspect="1"/>
          </p:cNvPicPr>
          <p:nvPr/>
        </p:nvPicPr>
        <p:blipFill>
          <a:blip r:embed="rId2"/>
          <a:stretch>
            <a:fillRect/>
          </a:stretch>
        </p:blipFill>
        <p:spPr>
          <a:xfrm>
            <a:off x="0" y="1510618"/>
            <a:ext cx="6550636" cy="4115143"/>
          </a:xfrm>
          <a:prstGeom prst="rect">
            <a:avLst/>
          </a:prstGeom>
        </p:spPr>
      </p:pic>
      <p:sp>
        <p:nvSpPr>
          <p:cNvPr id="6" name="TextBox 5">
            <a:extLst>
              <a:ext uri="{FF2B5EF4-FFF2-40B4-BE49-F238E27FC236}">
                <a16:creationId xmlns="" xmlns:a16="http://schemas.microsoft.com/office/drawing/2014/main" id="{3D8C8946-B0D9-4975-9ADF-294A5560453C}"/>
              </a:ext>
            </a:extLst>
          </p:cNvPr>
          <p:cNvSpPr txBox="1"/>
          <p:nvPr/>
        </p:nvSpPr>
        <p:spPr>
          <a:xfrm>
            <a:off x="108121" y="864287"/>
            <a:ext cx="11606083" cy="646331"/>
          </a:xfrm>
          <a:prstGeom prst="rect">
            <a:avLst/>
          </a:prstGeom>
          <a:noFill/>
        </p:spPr>
        <p:txBody>
          <a:bodyPr wrap="square">
            <a:spAutoFit/>
          </a:bodyPr>
          <a:lstStyle/>
          <a:p>
            <a:pPr algn="l"/>
            <a:r>
              <a:rPr lang="fr-FR" sz="1800" b="0" i="0" u="none" strike="noStrike" baseline="0" dirty="0">
                <a:latin typeface="CMR12"/>
              </a:rPr>
              <a:t>Considérons maintenant un exemple concret. Dans cet exemple, nous cherchons </a:t>
            </a:r>
            <a:r>
              <a:rPr lang="fr-FR" dirty="0">
                <a:latin typeface="CMR12"/>
              </a:rPr>
              <a:t>à</a:t>
            </a:r>
            <a:r>
              <a:rPr lang="fr-FR" sz="1800" b="0" i="0" u="none" strike="noStrike" baseline="0" dirty="0">
                <a:latin typeface="CMR12"/>
              </a:rPr>
              <a:t> détecter si un mail est un spam ou non. Nous disposons des données suivantes :</a:t>
            </a:r>
            <a:endParaRPr lang="fr-FR" dirty="0"/>
          </a:p>
        </p:txBody>
      </p:sp>
      <p:sp>
        <p:nvSpPr>
          <p:cNvPr id="7" name="TextBox 6">
            <a:extLst>
              <a:ext uri="{FF2B5EF4-FFF2-40B4-BE49-F238E27FC236}">
                <a16:creationId xmlns="" xmlns:a16="http://schemas.microsoft.com/office/drawing/2014/main" id="{B9368461-7E52-4933-88A2-9AFDB00764B3}"/>
              </a:ext>
            </a:extLst>
          </p:cNvPr>
          <p:cNvSpPr txBox="1"/>
          <p:nvPr/>
        </p:nvSpPr>
        <p:spPr>
          <a:xfrm>
            <a:off x="6726195" y="2014597"/>
            <a:ext cx="5667631" cy="4524315"/>
          </a:xfrm>
          <a:prstGeom prst="rect">
            <a:avLst/>
          </a:prstGeom>
          <a:noFill/>
        </p:spPr>
        <p:txBody>
          <a:bodyPr wrap="square">
            <a:spAutoFit/>
          </a:bodyPr>
          <a:lstStyle/>
          <a:p>
            <a:pPr algn="l"/>
            <a:r>
              <a:rPr lang="fr-FR" sz="1600" b="0" i="0" u="none" strike="noStrike" baseline="0" dirty="0">
                <a:latin typeface="CMR12"/>
              </a:rPr>
              <a:t>Ici nous avons les </a:t>
            </a:r>
            <a:r>
              <a:rPr lang="fr-FR" sz="1600" b="0" i="0" u="none" strike="noStrike" baseline="0" dirty="0">
                <a:solidFill>
                  <a:srgbClr val="0070C0"/>
                </a:solidFill>
                <a:latin typeface="CMR12"/>
              </a:rPr>
              <a:t>quatre</a:t>
            </a:r>
            <a:r>
              <a:rPr lang="fr-FR" sz="1600" b="0" i="0" u="none" strike="noStrike" baseline="0" dirty="0">
                <a:latin typeface="CMR12"/>
              </a:rPr>
              <a:t> attributs </a:t>
            </a:r>
          </a:p>
          <a:p>
            <a:pPr algn="l"/>
            <a:r>
              <a:rPr lang="fr-FR" sz="1600" dirty="0">
                <a:latin typeface="CMR12"/>
              </a:rPr>
              <a:t>-</a:t>
            </a:r>
            <a:r>
              <a:rPr lang="fr-FR" sz="1600" b="1" i="0" u="none" strike="noStrike" baseline="0" dirty="0">
                <a:solidFill>
                  <a:srgbClr val="0070C0"/>
                </a:solidFill>
                <a:latin typeface="CMBX12"/>
              </a:rPr>
              <a:t>Auteur </a:t>
            </a:r>
            <a:r>
              <a:rPr lang="fr-FR" sz="1600" b="0" i="0" u="none" strike="noStrike" baseline="0" dirty="0">
                <a:latin typeface="CMR12"/>
              </a:rPr>
              <a:t>(si l'auteur du mail est connu ou non), </a:t>
            </a:r>
          </a:p>
          <a:p>
            <a:pPr algn="l"/>
            <a:r>
              <a:rPr lang="fr-FR" sz="1600" dirty="0">
                <a:latin typeface="CMR12"/>
              </a:rPr>
              <a:t>-</a:t>
            </a:r>
            <a:r>
              <a:rPr lang="fr-FR" sz="1600" b="1" i="0" u="none" strike="noStrike" baseline="0" dirty="0" err="1">
                <a:solidFill>
                  <a:srgbClr val="0070C0"/>
                </a:solidFill>
                <a:latin typeface="CMBX12"/>
              </a:rPr>
              <a:t>MotCles</a:t>
            </a:r>
            <a:r>
              <a:rPr lang="fr-FR" sz="1600" b="0" i="0" u="none" strike="noStrike" baseline="0" dirty="0">
                <a:latin typeface="CMBX12"/>
              </a:rPr>
              <a:t> </a:t>
            </a:r>
            <a:r>
              <a:rPr lang="fr-FR" sz="1600" b="0" i="0" u="none" strike="noStrike" baseline="0" dirty="0">
                <a:latin typeface="CMR12"/>
              </a:rPr>
              <a:t>(si le message contient l'un d'un ensemble de mots associe aux spams), </a:t>
            </a:r>
          </a:p>
          <a:p>
            <a:pPr algn="l"/>
            <a:r>
              <a:rPr lang="fr-FR" sz="1600" dirty="0">
                <a:latin typeface="CMR12"/>
              </a:rPr>
              <a:t>-</a:t>
            </a:r>
            <a:r>
              <a:rPr lang="fr-FR" sz="1600" b="1" i="0" u="none" strike="noStrike" baseline="0" dirty="0">
                <a:solidFill>
                  <a:srgbClr val="0070C0"/>
                </a:solidFill>
                <a:latin typeface="CMBX12"/>
              </a:rPr>
              <a:t>HTML</a:t>
            </a:r>
            <a:r>
              <a:rPr lang="fr-FR" sz="1600" b="0" i="0" u="none" strike="noStrike" baseline="0" dirty="0">
                <a:latin typeface="CMBX12"/>
              </a:rPr>
              <a:t> </a:t>
            </a:r>
            <a:r>
              <a:rPr lang="fr-FR" sz="1600" b="0" i="0" u="none" strike="noStrike" baseline="0" dirty="0">
                <a:latin typeface="CMR12"/>
              </a:rPr>
              <a:t>(si le mail contient un lien html), </a:t>
            </a:r>
          </a:p>
          <a:p>
            <a:pPr algn="l"/>
            <a:r>
              <a:rPr lang="fr-FR" sz="1600" dirty="0">
                <a:latin typeface="CMR12"/>
              </a:rPr>
              <a:t>-</a:t>
            </a:r>
            <a:r>
              <a:rPr lang="fr-FR" sz="1600" b="1" i="0" u="none" strike="noStrike" baseline="0" dirty="0">
                <a:solidFill>
                  <a:srgbClr val="0070C0"/>
                </a:solidFill>
                <a:latin typeface="CMBX12"/>
              </a:rPr>
              <a:t>Majuscule</a:t>
            </a:r>
            <a:r>
              <a:rPr lang="fr-FR" sz="1600" b="0" i="0" u="none" strike="noStrike" baseline="0" dirty="0">
                <a:latin typeface="CMBX12"/>
              </a:rPr>
              <a:t> </a:t>
            </a:r>
            <a:r>
              <a:rPr lang="fr-FR" sz="1600" b="0" i="0" u="none" strike="noStrike" baseline="0" dirty="0">
                <a:latin typeface="CMR12"/>
              </a:rPr>
              <a:t>(si le message contient des mots en majuscules ou non) </a:t>
            </a:r>
          </a:p>
          <a:p>
            <a:pPr algn="l"/>
            <a:endParaRPr lang="fr-FR" sz="1600" dirty="0">
              <a:latin typeface="CMR12"/>
            </a:endParaRPr>
          </a:p>
          <a:p>
            <a:pPr algn="l"/>
            <a:r>
              <a:rPr lang="fr-FR" sz="1600" b="0" i="0" u="none" strike="noStrike" baseline="0" dirty="0">
                <a:latin typeface="CMR12"/>
              </a:rPr>
              <a:t>plus l'attribut cible </a:t>
            </a:r>
            <a:r>
              <a:rPr lang="fr-FR" sz="1600" b="1" i="0" u="none" strike="noStrike" baseline="0" dirty="0">
                <a:solidFill>
                  <a:srgbClr val="0070C0"/>
                </a:solidFill>
                <a:latin typeface="CMBX12"/>
              </a:rPr>
              <a:t>Spam</a:t>
            </a:r>
            <a:r>
              <a:rPr lang="fr-FR" sz="1600" b="0" i="0" u="none" strike="noStrike" baseline="0" dirty="0">
                <a:latin typeface="CMR12"/>
              </a:rPr>
              <a:t>. </a:t>
            </a:r>
          </a:p>
          <a:p>
            <a:pPr algn="l"/>
            <a:endParaRPr lang="fr-FR" sz="1600" dirty="0">
              <a:latin typeface="CMR12"/>
            </a:endParaRPr>
          </a:p>
          <a:p>
            <a:pPr algn="l"/>
            <a:endParaRPr lang="fr-FR" sz="1600" b="0" i="0" u="none" strike="noStrike" baseline="0" dirty="0">
              <a:latin typeface="CMR12"/>
            </a:endParaRPr>
          </a:p>
          <a:p>
            <a:pPr algn="l"/>
            <a:r>
              <a:rPr lang="fr-FR" sz="1600" b="0" i="0" u="none" strike="noStrike" baseline="0" dirty="0">
                <a:latin typeface="CMR12"/>
              </a:rPr>
              <a:t>Les domaines (de valeurs) des attributs sont : </a:t>
            </a:r>
          </a:p>
          <a:p>
            <a:pPr algn="l"/>
            <a:r>
              <a:rPr lang="fr-FR" sz="1600" b="1" i="0" u="none" strike="noStrike" baseline="0" dirty="0">
                <a:latin typeface="CMMI12"/>
              </a:rPr>
              <a:t>dom</a:t>
            </a:r>
            <a:r>
              <a:rPr lang="fr-FR" sz="1600" b="1" i="0" u="none" strike="noStrike" baseline="0" dirty="0">
                <a:latin typeface="CMR12"/>
              </a:rPr>
              <a:t>(</a:t>
            </a:r>
            <a:r>
              <a:rPr lang="fr-FR" sz="1600" b="1" i="0" u="none" strike="noStrike" baseline="0" dirty="0">
                <a:latin typeface="CMBX12"/>
              </a:rPr>
              <a:t>Auteur</a:t>
            </a:r>
            <a:r>
              <a:rPr lang="fr-FR" sz="1600" b="1" i="0" u="none" strike="noStrike" baseline="0" dirty="0">
                <a:latin typeface="CMR12"/>
              </a:rPr>
              <a:t>)= </a:t>
            </a:r>
            <a:r>
              <a:rPr lang="fr-FR" sz="1600" b="1" dirty="0">
                <a:latin typeface="CMSY10"/>
              </a:rPr>
              <a:t>{</a:t>
            </a:r>
            <a:r>
              <a:rPr lang="fr-FR" sz="1600" b="1" i="0" u="none" strike="noStrike" baseline="0" dirty="0">
                <a:latin typeface="CMTI12"/>
              </a:rPr>
              <a:t>connu</a:t>
            </a:r>
            <a:r>
              <a:rPr lang="fr-FR" sz="1600" b="1" i="0" u="none" strike="noStrike" baseline="0" dirty="0">
                <a:latin typeface="CMR12"/>
              </a:rPr>
              <a:t>, </a:t>
            </a:r>
            <a:r>
              <a:rPr lang="fr-FR" sz="1600" b="1" i="0" u="none" strike="noStrike" baseline="0" dirty="0">
                <a:latin typeface="CMTI12"/>
              </a:rPr>
              <a:t>inconnu</a:t>
            </a:r>
            <a:r>
              <a:rPr lang="fr-FR" sz="1600" b="1" dirty="0">
                <a:latin typeface="CMSY10"/>
              </a:rPr>
              <a:t>}</a:t>
            </a:r>
            <a:r>
              <a:rPr lang="fr-FR" sz="1600" b="1" i="0" u="none" strike="noStrike" baseline="0" dirty="0">
                <a:latin typeface="CMR12"/>
              </a:rPr>
              <a:t>,</a:t>
            </a:r>
          </a:p>
          <a:p>
            <a:pPr algn="l"/>
            <a:r>
              <a:rPr lang="fr-FR" sz="1600" b="1" i="0" u="none" strike="noStrike" baseline="0" dirty="0">
                <a:latin typeface="CMMI12"/>
              </a:rPr>
              <a:t>dom</a:t>
            </a:r>
            <a:r>
              <a:rPr lang="fr-FR" sz="1600" b="1" i="0" u="none" strike="noStrike" baseline="0" dirty="0">
                <a:latin typeface="CMR12"/>
              </a:rPr>
              <a:t>(</a:t>
            </a:r>
            <a:r>
              <a:rPr lang="fr-FR" sz="1600" b="1" i="0" u="none" strike="noStrike" baseline="0" dirty="0" err="1">
                <a:latin typeface="CMBX12"/>
              </a:rPr>
              <a:t>MotCles</a:t>
            </a:r>
            <a:r>
              <a:rPr lang="fr-FR" sz="1600" b="1" i="0" u="none" strike="noStrike" baseline="0" dirty="0">
                <a:latin typeface="CMR12"/>
              </a:rPr>
              <a:t>)= </a:t>
            </a:r>
            <a:r>
              <a:rPr lang="fr-FR" sz="1600" b="1" dirty="0">
                <a:latin typeface="CMSY10"/>
              </a:rPr>
              <a:t>{</a:t>
            </a:r>
            <a:r>
              <a:rPr lang="fr-FR" sz="1600" b="1" i="0" u="none" strike="noStrike" baseline="0" dirty="0">
                <a:latin typeface="CMTI12"/>
              </a:rPr>
              <a:t>oui</a:t>
            </a:r>
            <a:r>
              <a:rPr lang="fr-FR" sz="1600" b="1" i="0" u="none" strike="noStrike" baseline="0" dirty="0">
                <a:latin typeface="CMR12"/>
              </a:rPr>
              <a:t>, </a:t>
            </a:r>
            <a:r>
              <a:rPr lang="fr-FR" sz="1600" b="1" i="0" u="none" strike="noStrike" baseline="0" dirty="0">
                <a:latin typeface="CMTI12"/>
              </a:rPr>
              <a:t>non</a:t>
            </a:r>
            <a:r>
              <a:rPr lang="fr-FR" sz="1600" b="1" dirty="0">
                <a:latin typeface="CMSY10"/>
              </a:rPr>
              <a:t>}</a:t>
            </a:r>
            <a:r>
              <a:rPr lang="fr-FR" sz="1600" b="1" i="0" u="none" strike="noStrike" baseline="0" dirty="0">
                <a:latin typeface="CMR12"/>
              </a:rPr>
              <a:t>, </a:t>
            </a:r>
          </a:p>
          <a:p>
            <a:pPr algn="l"/>
            <a:r>
              <a:rPr lang="fr-FR" sz="1600" b="1" i="0" u="none" strike="noStrike" baseline="0" dirty="0">
                <a:latin typeface="CMMI12"/>
              </a:rPr>
              <a:t>dom</a:t>
            </a:r>
            <a:r>
              <a:rPr lang="fr-FR" sz="1600" b="1" i="0" u="none" strike="noStrike" baseline="0" dirty="0">
                <a:latin typeface="CMR12"/>
              </a:rPr>
              <a:t>(</a:t>
            </a:r>
            <a:r>
              <a:rPr lang="fr-FR" sz="1600" b="1" i="0" u="none" strike="noStrike" baseline="0" dirty="0">
                <a:latin typeface="CMBX12"/>
              </a:rPr>
              <a:t>HTML</a:t>
            </a:r>
            <a:r>
              <a:rPr lang="fr-FR" sz="1600" b="1" i="0" u="none" strike="noStrike" baseline="0" dirty="0">
                <a:latin typeface="CMR12"/>
              </a:rPr>
              <a:t>)= </a:t>
            </a:r>
            <a:r>
              <a:rPr lang="fr-FR" sz="1600" b="1" dirty="0">
                <a:latin typeface="CMSY10"/>
              </a:rPr>
              <a:t>{</a:t>
            </a:r>
            <a:r>
              <a:rPr lang="fr-FR" sz="1600" b="1" i="0" u="none" strike="noStrike" baseline="0" dirty="0">
                <a:latin typeface="CMTI12"/>
              </a:rPr>
              <a:t>oui</a:t>
            </a:r>
            <a:r>
              <a:rPr lang="fr-FR" sz="1600" b="1" i="0" u="none" strike="noStrike" baseline="0" dirty="0">
                <a:latin typeface="CMR12"/>
              </a:rPr>
              <a:t>, </a:t>
            </a:r>
            <a:r>
              <a:rPr lang="fr-FR" sz="1600" b="1" i="0" u="none" strike="noStrike" baseline="0" dirty="0">
                <a:latin typeface="CMTI12"/>
              </a:rPr>
              <a:t>non</a:t>
            </a:r>
            <a:r>
              <a:rPr lang="fr-FR" sz="1600" b="1" dirty="0">
                <a:latin typeface="CMSY10"/>
              </a:rPr>
              <a:t>}</a:t>
            </a:r>
            <a:r>
              <a:rPr lang="fr-FR" sz="1600" b="1" i="0" u="none" strike="noStrike" baseline="0" dirty="0">
                <a:latin typeface="CMR12"/>
              </a:rPr>
              <a:t>, </a:t>
            </a:r>
          </a:p>
          <a:p>
            <a:pPr algn="l"/>
            <a:r>
              <a:rPr lang="fr-FR" sz="1600" b="1" i="0" u="none" strike="noStrike" baseline="0" dirty="0">
                <a:latin typeface="CMMI12"/>
              </a:rPr>
              <a:t>dom</a:t>
            </a:r>
            <a:r>
              <a:rPr lang="fr-FR" sz="1600" b="1" i="0" u="none" strike="noStrike" baseline="0" dirty="0">
                <a:latin typeface="CMR12"/>
              </a:rPr>
              <a:t>(</a:t>
            </a:r>
            <a:r>
              <a:rPr lang="fr-FR" sz="1600" b="1" i="0" u="none" strike="noStrike" baseline="0" dirty="0">
                <a:latin typeface="CMBX12"/>
              </a:rPr>
              <a:t>Majuscule</a:t>
            </a:r>
            <a:r>
              <a:rPr lang="fr-FR" sz="1600" b="1" i="0" u="none" strike="noStrike" baseline="0" dirty="0">
                <a:latin typeface="CMR12"/>
              </a:rPr>
              <a:t>)=</a:t>
            </a:r>
            <a:r>
              <a:rPr lang="fr-FR" sz="1600" b="1" i="0" u="none" strike="noStrike" baseline="0" dirty="0">
                <a:latin typeface="CMSY10"/>
              </a:rPr>
              <a:t>{</a:t>
            </a:r>
            <a:r>
              <a:rPr lang="fr-FR" sz="1600" b="1" i="0" u="none" strike="noStrike" baseline="0" dirty="0">
                <a:latin typeface="CMTI12"/>
              </a:rPr>
              <a:t>oui</a:t>
            </a:r>
            <a:r>
              <a:rPr lang="fr-FR" sz="1600" b="1" i="0" u="none" strike="noStrike" baseline="0" dirty="0">
                <a:latin typeface="CMR12"/>
              </a:rPr>
              <a:t>, </a:t>
            </a:r>
            <a:r>
              <a:rPr lang="fr-FR" sz="1600" b="1" i="0" u="none" strike="noStrike" baseline="0" dirty="0">
                <a:latin typeface="CMTI12"/>
              </a:rPr>
              <a:t>non</a:t>
            </a:r>
            <a:r>
              <a:rPr lang="fr-FR" sz="1600" b="1" dirty="0">
                <a:latin typeface="CMSY10"/>
              </a:rPr>
              <a:t>}</a:t>
            </a:r>
            <a:r>
              <a:rPr lang="fr-FR" sz="1600" b="1" i="0" u="none" strike="noStrike" baseline="0" dirty="0">
                <a:latin typeface="CMR12"/>
              </a:rPr>
              <a:t>, </a:t>
            </a:r>
          </a:p>
          <a:p>
            <a:pPr algn="l"/>
            <a:r>
              <a:rPr lang="fr-FR" sz="1600" b="0" i="0" u="none" strike="noStrike" baseline="0" dirty="0">
                <a:latin typeface="CMR12"/>
              </a:rPr>
              <a:t>et </a:t>
            </a:r>
          </a:p>
          <a:p>
            <a:pPr algn="l"/>
            <a:r>
              <a:rPr lang="fr-FR" sz="1600" b="1" i="0" u="none" strike="noStrike" baseline="0" dirty="0">
                <a:latin typeface="CMMI12"/>
              </a:rPr>
              <a:t>dom</a:t>
            </a:r>
            <a:r>
              <a:rPr lang="fr-FR" sz="1600" b="1" i="0" u="none" strike="noStrike" baseline="0" dirty="0">
                <a:latin typeface="CMR12"/>
              </a:rPr>
              <a:t>(</a:t>
            </a:r>
            <a:r>
              <a:rPr lang="fr-FR" sz="1600" b="1" i="0" u="none" strike="noStrike" baseline="0" dirty="0">
                <a:latin typeface="CMBX12"/>
              </a:rPr>
              <a:t>Spam</a:t>
            </a:r>
            <a:r>
              <a:rPr lang="fr-FR" sz="1600" b="1" i="0" u="none" strike="noStrike" baseline="0" dirty="0">
                <a:latin typeface="CMR12"/>
              </a:rPr>
              <a:t>)= </a:t>
            </a:r>
            <a:r>
              <a:rPr lang="fr-FR" sz="1600" b="1" dirty="0">
                <a:latin typeface="CMSY10"/>
              </a:rPr>
              <a:t>{</a:t>
            </a:r>
            <a:r>
              <a:rPr lang="fr-FR" sz="1600" b="1" i="0" u="none" strike="noStrike" baseline="0" dirty="0">
                <a:latin typeface="CMTI12"/>
              </a:rPr>
              <a:t>oui</a:t>
            </a:r>
            <a:r>
              <a:rPr lang="fr-FR" sz="1600" b="1" i="0" u="none" strike="noStrike" baseline="0" dirty="0">
                <a:latin typeface="CMR12"/>
              </a:rPr>
              <a:t>, </a:t>
            </a:r>
            <a:r>
              <a:rPr lang="fr-FR" sz="1600" b="1" i="0" u="none" strike="noStrike" baseline="0" dirty="0">
                <a:latin typeface="CMTI12"/>
              </a:rPr>
              <a:t>non</a:t>
            </a:r>
            <a:r>
              <a:rPr lang="fr-FR" sz="1600" b="1" dirty="0">
                <a:latin typeface="CMSY10"/>
              </a:rPr>
              <a:t>}</a:t>
            </a:r>
            <a:r>
              <a:rPr lang="fr-FR" sz="1600" b="1" i="0" u="none" strike="noStrike" baseline="0" dirty="0">
                <a:latin typeface="CMR12"/>
              </a:rPr>
              <a:t>.</a:t>
            </a:r>
            <a:endParaRPr lang="fr-FR" sz="1600" b="1" dirty="0"/>
          </a:p>
        </p:txBody>
      </p:sp>
      <p:sp>
        <p:nvSpPr>
          <p:cNvPr id="9" name="TextBox 8">
            <a:extLst>
              <a:ext uri="{FF2B5EF4-FFF2-40B4-BE49-F238E27FC236}">
                <a16:creationId xmlns="" xmlns:a16="http://schemas.microsoft.com/office/drawing/2014/main" id="{CD6B4DBF-8111-4116-95D1-BD40B320D112}"/>
              </a:ext>
            </a:extLst>
          </p:cNvPr>
          <p:cNvSpPr txBox="1"/>
          <p:nvPr/>
        </p:nvSpPr>
        <p:spPr>
          <a:xfrm>
            <a:off x="108121" y="412528"/>
            <a:ext cx="6196912" cy="358240"/>
          </a:xfrm>
          <a:prstGeom prst="rect">
            <a:avLst/>
          </a:prstGeom>
          <a:noFill/>
        </p:spPr>
        <p:txBody>
          <a:bodyPr wrap="square">
            <a:spAutoFit/>
          </a:bodyPr>
          <a:lstStyle/>
          <a:p>
            <a:pPr eaLnBrk="1" hangingPunct="1">
              <a:lnSpc>
                <a:spcPct val="96000"/>
              </a:lnSpc>
              <a:spcBef>
                <a:spcPct val="0"/>
              </a:spcBef>
              <a:buFont typeface="Arial" panose="020B0604020202020204" pitchFamily="34" charset="0"/>
              <a:buNone/>
            </a:pPr>
            <a:r>
              <a:rPr lang="en-GB" altLang="fr-FR" dirty="0" err="1" smtClean="0">
                <a:solidFill>
                  <a:schemeClr val="tx1"/>
                </a:solidFill>
                <a:hlinkClick r:id="rId3" action="ppaction://hlinksldjump"/>
              </a:rPr>
              <a:t>Exemple</a:t>
            </a:r>
            <a:r>
              <a:rPr lang="en-GB" altLang="fr-FR" dirty="0" smtClean="0">
                <a:solidFill>
                  <a:schemeClr val="tx1"/>
                </a:solidFill>
              </a:rPr>
              <a:t> </a:t>
            </a:r>
            <a:r>
              <a:rPr lang="en-GB" altLang="fr-FR" dirty="0">
                <a:solidFill>
                  <a:schemeClr val="tx1"/>
                </a:solidFill>
              </a:rPr>
              <a:t>( </a:t>
            </a:r>
            <a:r>
              <a:rPr lang="fr-FR" altLang="fr-FR" dirty="0"/>
              <a:t>Détection des Spams dans les </a:t>
            </a:r>
            <a:r>
              <a:rPr lang="fr-FR" altLang="fr-FR" dirty="0" err="1"/>
              <a:t>émails</a:t>
            </a:r>
            <a:r>
              <a:rPr lang="en-GB" altLang="fr-FR" dirty="0">
                <a:solidFill>
                  <a:schemeClr val="tx1"/>
                </a:solidFill>
              </a:rPr>
              <a:t>)</a:t>
            </a:r>
          </a:p>
        </p:txBody>
      </p:sp>
      <p:grpSp>
        <p:nvGrpSpPr>
          <p:cNvPr id="8" name="Group 2">
            <a:extLst>
              <a:ext uri="{FF2B5EF4-FFF2-40B4-BE49-F238E27FC236}">
                <a16:creationId xmlns="" xmlns:a16="http://schemas.microsoft.com/office/drawing/2014/main" id="{44040027-B8D4-487D-884D-EA08ED78E1AB}"/>
              </a:ext>
            </a:extLst>
          </p:cNvPr>
          <p:cNvGrpSpPr>
            <a:grpSpLocks/>
          </p:cNvGrpSpPr>
          <p:nvPr/>
        </p:nvGrpSpPr>
        <p:grpSpPr bwMode="auto">
          <a:xfrm>
            <a:off x="1524001" y="44451"/>
            <a:ext cx="9142413" cy="365125"/>
            <a:chOff x="0" y="28"/>
            <a:chExt cx="5759" cy="230"/>
          </a:xfrm>
        </p:grpSpPr>
        <p:sp>
          <p:nvSpPr>
            <p:cNvPr id="10" name="AutoShape 3">
              <a:extLst>
                <a:ext uri="{FF2B5EF4-FFF2-40B4-BE49-F238E27FC236}">
                  <a16:creationId xmlns="" xmlns:a16="http://schemas.microsoft.com/office/drawing/2014/main" id="{3EEAE63A-EBC2-4FEB-B3CD-E088CD81218C}"/>
                </a:ext>
              </a:extLst>
            </p:cNvPr>
            <p:cNvSpPr>
              <a:spLocks noChangeArrowheads="1"/>
            </p:cNvSpPr>
            <p:nvPr/>
          </p:nvSpPr>
          <p:spPr bwMode="auto">
            <a:xfrm>
              <a:off x="0" y="28"/>
              <a:ext cx="5760" cy="231"/>
            </a:xfrm>
            <a:prstGeom prst="roundRect">
              <a:avLst>
                <a:gd name="adj" fmla="val 431"/>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endParaRPr lang="fr-FR" altLang="fr-FR" sz="1800">
                <a:latin typeface="Times New Roman" panose="02020603050405020304" pitchFamily="18" charset="0"/>
              </a:endParaRPr>
            </a:p>
          </p:txBody>
        </p:sp>
        <p:sp>
          <p:nvSpPr>
            <p:cNvPr id="11" name="Text Box 4">
              <a:extLst>
                <a:ext uri="{FF2B5EF4-FFF2-40B4-BE49-F238E27FC236}">
                  <a16:creationId xmlns="" xmlns:a16="http://schemas.microsoft.com/office/drawing/2014/main" id="{41672865-58C6-4409-A27F-F7A79D5B31D1}"/>
                </a:ext>
              </a:extLst>
            </p:cNvPr>
            <p:cNvSpPr txBox="1">
              <a:spLocks noChangeArrowheads="1"/>
            </p:cNvSpPr>
            <p:nvPr/>
          </p:nvSpPr>
          <p:spPr bwMode="auto">
            <a:xfrm>
              <a:off x="0" y="28"/>
              <a:ext cx="57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1800">
                  <a:solidFill>
                    <a:schemeClr val="tx1"/>
                  </a:solidFill>
                </a:rPr>
                <a:t>Intelligence Artificielle 		Apprentissage			</a:t>
              </a:r>
            </a:p>
          </p:txBody>
        </p:sp>
      </p:grpSp>
    </p:spTree>
    <p:extLst>
      <p:ext uri="{BB962C8B-B14F-4D97-AF65-F5344CB8AC3E}">
        <p14:creationId xmlns:p14="http://schemas.microsoft.com/office/powerpoint/2010/main" val="26398135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913E1846-211B-4F19-B2C6-20214D574BF1}"/>
              </a:ext>
            </a:extLst>
          </p:cNvPr>
          <p:cNvSpPr>
            <a:spLocks noGrp="1"/>
          </p:cNvSpPr>
          <p:nvPr>
            <p:ph type="sldNum" sz="quarter" idx="12"/>
          </p:nvPr>
        </p:nvSpPr>
        <p:spPr/>
        <p:txBody>
          <a:bodyPr/>
          <a:lstStyle/>
          <a:p>
            <a:fld id="{EE5DF52D-0FE0-4249-9023-8B500BDB729B}" type="slidenum">
              <a:rPr lang="fr-FR" smtClean="0"/>
              <a:pPr/>
              <a:t>14</a:t>
            </a:fld>
            <a:endParaRPr lang="fr-FR"/>
          </a:p>
        </p:txBody>
      </p:sp>
      <p:pic>
        <p:nvPicPr>
          <p:cNvPr id="6" name="Picture 5">
            <a:extLst>
              <a:ext uri="{FF2B5EF4-FFF2-40B4-BE49-F238E27FC236}">
                <a16:creationId xmlns="" xmlns:a16="http://schemas.microsoft.com/office/drawing/2014/main" id="{A5B9DD35-9723-4153-8177-E2AF5F0739FD}"/>
              </a:ext>
            </a:extLst>
          </p:cNvPr>
          <p:cNvPicPr>
            <a:picLocks noChangeAspect="1"/>
          </p:cNvPicPr>
          <p:nvPr/>
        </p:nvPicPr>
        <p:blipFill>
          <a:blip r:embed="rId2"/>
          <a:stretch>
            <a:fillRect/>
          </a:stretch>
        </p:blipFill>
        <p:spPr>
          <a:xfrm>
            <a:off x="218302" y="926555"/>
            <a:ext cx="6460671" cy="5394995"/>
          </a:xfrm>
          <a:prstGeom prst="rect">
            <a:avLst/>
          </a:prstGeom>
        </p:spPr>
      </p:pic>
      <p:sp>
        <p:nvSpPr>
          <p:cNvPr id="8" name="TextBox 7">
            <a:extLst>
              <a:ext uri="{FF2B5EF4-FFF2-40B4-BE49-F238E27FC236}">
                <a16:creationId xmlns="" xmlns:a16="http://schemas.microsoft.com/office/drawing/2014/main" id="{8F2658B9-F584-42AC-B60C-5BED02E8045C}"/>
              </a:ext>
            </a:extLst>
          </p:cNvPr>
          <p:cNvSpPr txBox="1"/>
          <p:nvPr/>
        </p:nvSpPr>
        <p:spPr>
          <a:xfrm>
            <a:off x="361624" y="666857"/>
            <a:ext cx="8491150" cy="369332"/>
          </a:xfrm>
          <a:prstGeom prst="rect">
            <a:avLst/>
          </a:prstGeom>
          <a:noFill/>
        </p:spPr>
        <p:txBody>
          <a:bodyPr wrap="square">
            <a:spAutoFit/>
          </a:bodyPr>
          <a:lstStyle/>
          <a:p>
            <a:r>
              <a:rPr lang="fr-FR" sz="1800" b="0" i="0" u="none" strike="noStrike" baseline="0" dirty="0">
                <a:latin typeface="CMR12"/>
              </a:rPr>
              <a:t>Un arbre de décision qui classe correctement tous les exemples:</a:t>
            </a:r>
            <a:endParaRPr lang="fr-FR" dirty="0"/>
          </a:p>
        </p:txBody>
      </p:sp>
      <p:pic>
        <p:nvPicPr>
          <p:cNvPr id="9" name="Picture 8">
            <a:extLst>
              <a:ext uri="{FF2B5EF4-FFF2-40B4-BE49-F238E27FC236}">
                <a16:creationId xmlns="" xmlns:a16="http://schemas.microsoft.com/office/drawing/2014/main" id="{06A6ABB3-E44C-4A4A-9A83-F8B155778AE8}"/>
              </a:ext>
            </a:extLst>
          </p:cNvPr>
          <p:cNvPicPr>
            <a:picLocks noChangeAspect="1"/>
          </p:cNvPicPr>
          <p:nvPr/>
        </p:nvPicPr>
        <p:blipFill>
          <a:blip r:embed="rId3"/>
          <a:stretch>
            <a:fillRect/>
          </a:stretch>
        </p:blipFill>
        <p:spPr>
          <a:xfrm>
            <a:off x="6877659" y="1391850"/>
            <a:ext cx="4992130" cy="3136082"/>
          </a:xfrm>
          <a:prstGeom prst="rect">
            <a:avLst/>
          </a:prstGeom>
        </p:spPr>
      </p:pic>
      <p:grpSp>
        <p:nvGrpSpPr>
          <p:cNvPr id="7" name="Group 2">
            <a:extLst>
              <a:ext uri="{FF2B5EF4-FFF2-40B4-BE49-F238E27FC236}">
                <a16:creationId xmlns="" xmlns:a16="http://schemas.microsoft.com/office/drawing/2014/main" id="{44040027-B8D4-487D-884D-EA08ED78E1AB}"/>
              </a:ext>
            </a:extLst>
          </p:cNvPr>
          <p:cNvGrpSpPr>
            <a:grpSpLocks/>
          </p:cNvGrpSpPr>
          <p:nvPr/>
        </p:nvGrpSpPr>
        <p:grpSpPr bwMode="auto">
          <a:xfrm>
            <a:off x="1524001" y="44451"/>
            <a:ext cx="9142413" cy="365125"/>
            <a:chOff x="0" y="28"/>
            <a:chExt cx="5759" cy="230"/>
          </a:xfrm>
        </p:grpSpPr>
        <p:sp>
          <p:nvSpPr>
            <p:cNvPr id="10" name="AutoShape 3">
              <a:extLst>
                <a:ext uri="{FF2B5EF4-FFF2-40B4-BE49-F238E27FC236}">
                  <a16:creationId xmlns="" xmlns:a16="http://schemas.microsoft.com/office/drawing/2014/main" id="{3EEAE63A-EBC2-4FEB-B3CD-E088CD81218C}"/>
                </a:ext>
              </a:extLst>
            </p:cNvPr>
            <p:cNvSpPr>
              <a:spLocks noChangeArrowheads="1"/>
            </p:cNvSpPr>
            <p:nvPr/>
          </p:nvSpPr>
          <p:spPr bwMode="auto">
            <a:xfrm>
              <a:off x="0" y="28"/>
              <a:ext cx="5760" cy="231"/>
            </a:xfrm>
            <a:prstGeom prst="roundRect">
              <a:avLst>
                <a:gd name="adj" fmla="val 431"/>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endParaRPr lang="fr-FR" altLang="fr-FR" sz="1800">
                <a:latin typeface="Times New Roman" panose="02020603050405020304" pitchFamily="18" charset="0"/>
              </a:endParaRPr>
            </a:p>
          </p:txBody>
        </p:sp>
        <p:sp>
          <p:nvSpPr>
            <p:cNvPr id="11" name="Text Box 4">
              <a:extLst>
                <a:ext uri="{FF2B5EF4-FFF2-40B4-BE49-F238E27FC236}">
                  <a16:creationId xmlns="" xmlns:a16="http://schemas.microsoft.com/office/drawing/2014/main" id="{41672865-58C6-4409-A27F-F7A79D5B31D1}"/>
                </a:ext>
              </a:extLst>
            </p:cNvPr>
            <p:cNvSpPr txBox="1">
              <a:spLocks noChangeArrowheads="1"/>
            </p:cNvSpPr>
            <p:nvPr/>
          </p:nvSpPr>
          <p:spPr bwMode="auto">
            <a:xfrm>
              <a:off x="0" y="28"/>
              <a:ext cx="57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1800">
                  <a:solidFill>
                    <a:schemeClr val="tx1"/>
                  </a:solidFill>
                </a:rPr>
                <a:t>Intelligence Artificielle 		Apprentissage			</a:t>
              </a:r>
            </a:p>
          </p:txBody>
        </p:sp>
      </p:grpSp>
    </p:spTree>
    <p:extLst>
      <p:ext uri="{BB962C8B-B14F-4D97-AF65-F5344CB8AC3E}">
        <p14:creationId xmlns:p14="http://schemas.microsoft.com/office/powerpoint/2010/main" val="26267513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1">
            <a:extLst>
              <a:ext uri="{FF2B5EF4-FFF2-40B4-BE49-F238E27FC236}">
                <a16:creationId xmlns="" xmlns:a16="http://schemas.microsoft.com/office/drawing/2014/main" id="{30078406-2F15-46FE-AF05-BEBFF089FD6E}"/>
              </a:ext>
            </a:extLst>
          </p:cNvPr>
          <p:cNvSpPr txBox="1">
            <a:spLocks noChangeArrowheads="1"/>
          </p:cNvSpPr>
          <p:nvPr/>
        </p:nvSpPr>
        <p:spPr bwMode="auto">
          <a:xfrm>
            <a:off x="1714500" y="949325"/>
            <a:ext cx="8820150" cy="330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dirty="0">
                <a:solidFill>
                  <a:schemeClr val="tx1"/>
                </a:solidFill>
              </a:rPr>
              <a:t>Comment </a:t>
            </a:r>
            <a:r>
              <a:rPr lang="en-GB" altLang="fr-FR" dirty="0" err="1">
                <a:solidFill>
                  <a:schemeClr val="tx1"/>
                </a:solidFill>
              </a:rPr>
              <a:t>Construire</a:t>
            </a:r>
            <a:r>
              <a:rPr lang="en-GB" altLang="fr-FR" dirty="0">
                <a:solidFill>
                  <a:schemeClr val="tx1"/>
                </a:solidFill>
              </a:rPr>
              <a:t> un </a:t>
            </a:r>
            <a:r>
              <a:rPr lang="en-GB" altLang="fr-FR" dirty="0" err="1">
                <a:solidFill>
                  <a:schemeClr val="tx1"/>
                </a:solidFill>
              </a:rPr>
              <a:t>arbre</a:t>
            </a:r>
            <a:r>
              <a:rPr lang="en-GB" altLang="fr-FR" dirty="0">
                <a:solidFill>
                  <a:schemeClr val="tx1"/>
                </a:solidFill>
              </a:rPr>
              <a:t> de decision?</a:t>
            </a:r>
          </a:p>
          <a:p>
            <a:pPr eaLnBrk="1" hangingPunct="1">
              <a:spcBef>
                <a:spcPct val="0"/>
              </a:spcBef>
              <a:buFont typeface="Arial" panose="020B0604020202020204" pitchFamily="34" charset="0"/>
              <a:buNone/>
            </a:pPr>
            <a:endParaRPr lang="en-GB" altLang="fr-FR" sz="1800" dirty="0">
              <a:solidFill>
                <a:schemeClr val="tx1"/>
              </a:solidFill>
            </a:endParaRPr>
          </a:p>
          <a:p>
            <a:pPr eaLnBrk="1" hangingPunct="1">
              <a:spcBef>
                <a:spcPct val="0"/>
              </a:spcBef>
              <a:buFont typeface="Arial" panose="020B0604020202020204" pitchFamily="34" charset="0"/>
              <a:buNone/>
            </a:pPr>
            <a:r>
              <a:rPr lang="en-GB" altLang="fr-FR" sz="2000" dirty="0" err="1">
                <a:solidFill>
                  <a:schemeClr val="tx1"/>
                </a:solidFill>
              </a:rPr>
              <a:t>L’apprentissage</a:t>
            </a:r>
            <a:r>
              <a:rPr lang="en-GB" altLang="fr-FR" sz="2000" dirty="0">
                <a:solidFill>
                  <a:schemeClr val="tx1"/>
                </a:solidFill>
              </a:rPr>
              <a:t> d’un </a:t>
            </a:r>
            <a:r>
              <a:rPr lang="en-GB" altLang="fr-FR" sz="2000" dirty="0" err="1">
                <a:solidFill>
                  <a:schemeClr val="tx1"/>
                </a:solidFill>
              </a:rPr>
              <a:t>arbre</a:t>
            </a:r>
            <a:r>
              <a:rPr lang="en-GB" altLang="fr-FR" sz="2000" dirty="0">
                <a:solidFill>
                  <a:schemeClr val="tx1"/>
                </a:solidFill>
              </a:rPr>
              <a:t> de </a:t>
            </a:r>
            <a:r>
              <a:rPr lang="en-GB" altLang="fr-FR" sz="2000" dirty="0" err="1">
                <a:solidFill>
                  <a:schemeClr val="tx1"/>
                </a:solidFill>
              </a:rPr>
              <a:t>décision</a:t>
            </a:r>
            <a:r>
              <a:rPr lang="en-GB" altLang="fr-FR" sz="2000" dirty="0">
                <a:solidFill>
                  <a:schemeClr val="tx1"/>
                </a:solidFill>
              </a:rPr>
              <a:t> </a:t>
            </a:r>
            <a:r>
              <a:rPr lang="en-GB" altLang="fr-FR" sz="2000" dirty="0" err="1">
                <a:solidFill>
                  <a:schemeClr val="tx1"/>
                </a:solidFill>
              </a:rPr>
              <a:t>est</a:t>
            </a:r>
            <a:r>
              <a:rPr lang="en-GB" altLang="fr-FR" sz="2000" dirty="0">
                <a:solidFill>
                  <a:schemeClr val="tx1"/>
                </a:solidFill>
              </a:rPr>
              <a:t> fait à </a:t>
            </a:r>
            <a:r>
              <a:rPr lang="en-GB" altLang="fr-FR" sz="2000" dirty="0" err="1">
                <a:solidFill>
                  <a:schemeClr val="tx1"/>
                </a:solidFill>
              </a:rPr>
              <a:t>partir</a:t>
            </a:r>
            <a:r>
              <a:rPr lang="en-GB" altLang="fr-FR" sz="2000" dirty="0">
                <a:solidFill>
                  <a:schemeClr val="tx1"/>
                </a:solidFill>
              </a:rPr>
              <a:t> </a:t>
            </a:r>
            <a:r>
              <a:rPr lang="en-GB" altLang="fr-FR" sz="2000" dirty="0" err="1">
                <a:solidFill>
                  <a:schemeClr val="tx1"/>
                </a:solidFill>
              </a:rPr>
              <a:t>d’exemples</a:t>
            </a:r>
            <a:r>
              <a:rPr lang="en-GB" altLang="fr-FR" sz="2000" dirty="0">
                <a:solidFill>
                  <a:schemeClr val="tx1"/>
                </a:solidFill>
              </a:rPr>
              <a:t> de </a:t>
            </a:r>
            <a:r>
              <a:rPr lang="en-GB" altLang="fr-FR" sz="2000" dirty="0" err="1">
                <a:solidFill>
                  <a:schemeClr val="tx1"/>
                </a:solidFill>
              </a:rPr>
              <a:t>valeurs</a:t>
            </a:r>
            <a:r>
              <a:rPr lang="en-GB" altLang="fr-FR" sz="2000" dirty="0">
                <a:solidFill>
                  <a:schemeClr val="tx1"/>
                </a:solidFill>
              </a:rPr>
              <a:t> </a:t>
            </a:r>
            <a:r>
              <a:rPr lang="en-GB" altLang="fr-FR" sz="2000" dirty="0" err="1">
                <a:solidFill>
                  <a:schemeClr val="tx1"/>
                </a:solidFill>
              </a:rPr>
              <a:t>d’attributs</a:t>
            </a:r>
            <a:r>
              <a:rPr lang="en-GB" altLang="fr-FR" sz="2000" dirty="0">
                <a:solidFill>
                  <a:schemeClr val="tx1"/>
                </a:solidFill>
              </a:rPr>
              <a:t> et de la </a:t>
            </a:r>
            <a:r>
              <a:rPr lang="en-GB" altLang="fr-FR" sz="2000" dirty="0" err="1">
                <a:solidFill>
                  <a:schemeClr val="tx1"/>
                </a:solidFill>
              </a:rPr>
              <a:t>valeur</a:t>
            </a:r>
            <a:r>
              <a:rPr lang="en-GB" altLang="fr-FR" sz="2000" dirty="0">
                <a:solidFill>
                  <a:schemeClr val="tx1"/>
                </a:solidFill>
              </a:rPr>
              <a:t> </a:t>
            </a:r>
            <a:r>
              <a:rPr lang="en-GB" altLang="fr-FR" sz="2000" dirty="0" err="1">
                <a:solidFill>
                  <a:schemeClr val="tx1"/>
                </a:solidFill>
              </a:rPr>
              <a:t>résultante</a:t>
            </a:r>
            <a:r>
              <a:rPr lang="en-GB" altLang="fr-FR" sz="2000" dirty="0">
                <a:solidFill>
                  <a:schemeClr val="tx1"/>
                </a:solidFill>
              </a:rPr>
              <a:t> du </a:t>
            </a:r>
            <a:r>
              <a:rPr lang="en-GB" altLang="fr-FR" sz="2000" dirty="0" err="1">
                <a:solidFill>
                  <a:schemeClr val="tx1"/>
                </a:solidFill>
              </a:rPr>
              <a:t>prédicat</a:t>
            </a:r>
            <a:r>
              <a:rPr lang="en-GB" altLang="fr-FR" sz="2000" dirty="0">
                <a:solidFill>
                  <a:schemeClr val="tx1"/>
                </a:solidFill>
              </a:rPr>
              <a:t> à </a:t>
            </a:r>
            <a:r>
              <a:rPr lang="en-GB" altLang="fr-FR" sz="2000" dirty="0" err="1">
                <a:solidFill>
                  <a:schemeClr val="tx1"/>
                </a:solidFill>
              </a:rPr>
              <a:t>apprendre</a:t>
            </a:r>
            <a:r>
              <a:rPr lang="en-GB" altLang="fr-FR" sz="2000" dirty="0">
                <a:solidFill>
                  <a:schemeClr val="tx1"/>
                </a:solidFill>
              </a:rPr>
              <a:t>.</a:t>
            </a:r>
          </a:p>
          <a:p>
            <a:pPr eaLnBrk="1" hangingPunct="1">
              <a:spcBef>
                <a:spcPct val="0"/>
              </a:spcBef>
              <a:buFont typeface="Arial" panose="020B0604020202020204" pitchFamily="34" charset="0"/>
              <a:buNone/>
            </a:pPr>
            <a:endParaRPr lang="en-GB" altLang="fr-FR" sz="2000" dirty="0">
              <a:solidFill>
                <a:schemeClr val="tx1"/>
              </a:solidFill>
            </a:endParaRPr>
          </a:p>
          <a:p>
            <a:pPr eaLnBrk="1" hangingPunct="1">
              <a:spcBef>
                <a:spcPct val="0"/>
              </a:spcBef>
              <a:buFont typeface="Arial" panose="020B0604020202020204" pitchFamily="34" charset="0"/>
              <a:buNone/>
            </a:pPr>
            <a:r>
              <a:rPr lang="en-GB" altLang="fr-FR" sz="2000" dirty="0" err="1">
                <a:solidFill>
                  <a:srgbClr val="FF9900"/>
                </a:solidFill>
              </a:rPr>
              <a:t>Exemple</a:t>
            </a:r>
            <a:r>
              <a:rPr lang="en-GB" altLang="fr-FR" sz="2000" dirty="0">
                <a:solidFill>
                  <a:srgbClr val="FF9900"/>
                </a:solidFill>
              </a:rPr>
              <a:t>  = ensemble de </a:t>
            </a:r>
            <a:r>
              <a:rPr lang="en-GB" altLang="fr-FR" sz="2000" dirty="0" err="1">
                <a:solidFill>
                  <a:srgbClr val="FF9900"/>
                </a:solidFill>
              </a:rPr>
              <a:t>valeurs</a:t>
            </a:r>
            <a:r>
              <a:rPr lang="en-GB" altLang="fr-FR" sz="2000" dirty="0">
                <a:solidFill>
                  <a:srgbClr val="FF9900"/>
                </a:solidFill>
              </a:rPr>
              <a:t> </a:t>
            </a:r>
            <a:r>
              <a:rPr lang="en-GB" altLang="fr-FR" sz="2000" dirty="0" err="1">
                <a:solidFill>
                  <a:srgbClr val="FF9900"/>
                </a:solidFill>
              </a:rPr>
              <a:t>d’attributs</a:t>
            </a:r>
            <a:r>
              <a:rPr lang="en-GB" altLang="fr-FR" sz="2000" dirty="0">
                <a:solidFill>
                  <a:srgbClr val="FF9900"/>
                </a:solidFill>
              </a:rPr>
              <a:t> (</a:t>
            </a:r>
            <a:r>
              <a:rPr lang="en-GB" altLang="fr-FR" sz="2000" dirty="0" err="1">
                <a:solidFill>
                  <a:srgbClr val="FF9900"/>
                </a:solidFill>
              </a:rPr>
              <a:t>propriétés</a:t>
            </a:r>
            <a:r>
              <a:rPr lang="en-GB" altLang="fr-FR" sz="2000" dirty="0">
                <a:solidFill>
                  <a:srgbClr val="FF9900"/>
                </a:solidFill>
              </a:rPr>
              <a:t>)</a:t>
            </a:r>
          </a:p>
          <a:p>
            <a:pPr eaLnBrk="1" hangingPunct="1">
              <a:spcBef>
                <a:spcPct val="0"/>
              </a:spcBef>
              <a:buFont typeface="Arial" panose="020B0604020202020204" pitchFamily="34" charset="0"/>
              <a:buNone/>
            </a:pPr>
            <a:endParaRPr lang="en-GB" altLang="fr-FR" sz="2000" dirty="0">
              <a:solidFill>
                <a:srgbClr val="FF9900"/>
              </a:solidFill>
            </a:endParaRPr>
          </a:p>
          <a:p>
            <a:pPr eaLnBrk="1" hangingPunct="1">
              <a:spcBef>
                <a:spcPct val="0"/>
              </a:spcBef>
              <a:buFont typeface="Arial" panose="020B0604020202020204" pitchFamily="34" charset="0"/>
              <a:buNone/>
            </a:pPr>
            <a:r>
              <a:rPr lang="en-GB" altLang="fr-FR" sz="2000" dirty="0">
                <a:solidFill>
                  <a:schemeClr val="tx1"/>
                </a:solidFill>
              </a:rPr>
              <a:t>La </a:t>
            </a:r>
            <a:r>
              <a:rPr lang="en-GB" altLang="fr-FR" sz="2000" dirty="0" err="1">
                <a:solidFill>
                  <a:schemeClr val="tx1"/>
                </a:solidFill>
              </a:rPr>
              <a:t>valeur</a:t>
            </a:r>
            <a:r>
              <a:rPr lang="en-GB" altLang="fr-FR" sz="2000" dirty="0">
                <a:solidFill>
                  <a:schemeClr val="tx1"/>
                </a:solidFill>
              </a:rPr>
              <a:t> du </a:t>
            </a:r>
            <a:r>
              <a:rPr lang="en-GB" altLang="fr-FR" sz="2000" dirty="0" err="1">
                <a:solidFill>
                  <a:schemeClr val="tx1"/>
                </a:solidFill>
              </a:rPr>
              <a:t>prédicat</a:t>
            </a:r>
            <a:r>
              <a:rPr lang="en-GB" altLang="fr-FR" sz="2000" dirty="0">
                <a:solidFill>
                  <a:schemeClr val="tx1"/>
                </a:solidFill>
              </a:rPr>
              <a:t> </a:t>
            </a:r>
            <a:r>
              <a:rPr lang="en-GB" altLang="fr-FR" sz="2000" dirty="0" err="1">
                <a:solidFill>
                  <a:schemeClr val="tx1"/>
                </a:solidFill>
              </a:rPr>
              <a:t>est</a:t>
            </a:r>
            <a:r>
              <a:rPr lang="en-GB" altLang="fr-FR" sz="2000" dirty="0">
                <a:solidFill>
                  <a:schemeClr val="tx1"/>
                </a:solidFill>
              </a:rPr>
              <a:t> </a:t>
            </a:r>
            <a:r>
              <a:rPr lang="en-GB" altLang="fr-FR" sz="2000" dirty="0" err="1">
                <a:solidFill>
                  <a:schemeClr val="tx1"/>
                </a:solidFill>
              </a:rPr>
              <a:t>appelée</a:t>
            </a:r>
            <a:r>
              <a:rPr lang="en-GB" altLang="fr-FR" sz="2000" dirty="0">
                <a:solidFill>
                  <a:schemeClr val="tx1"/>
                </a:solidFill>
              </a:rPr>
              <a:t> la classification de </a:t>
            </a:r>
            <a:r>
              <a:rPr lang="en-GB" altLang="fr-FR" sz="2000" dirty="0" err="1">
                <a:solidFill>
                  <a:schemeClr val="tx1"/>
                </a:solidFill>
              </a:rPr>
              <a:t>l’exemple</a:t>
            </a:r>
            <a:r>
              <a:rPr lang="en-GB" altLang="fr-FR" sz="2000" dirty="0">
                <a:solidFill>
                  <a:schemeClr val="tx1"/>
                </a:solidFill>
              </a:rPr>
              <a:t> </a:t>
            </a:r>
            <a:r>
              <a:rPr lang="en-GB" altLang="fr-FR" sz="1400" dirty="0">
                <a:solidFill>
                  <a:srgbClr val="FF9966"/>
                </a:solidFill>
              </a:rPr>
              <a:t>(ex: </a:t>
            </a:r>
            <a:r>
              <a:rPr lang="en-GB" altLang="fr-FR" sz="1400" dirty="0" err="1">
                <a:solidFill>
                  <a:srgbClr val="FF9966"/>
                </a:solidFill>
              </a:rPr>
              <a:t>Vrai</a:t>
            </a:r>
            <a:r>
              <a:rPr lang="en-GB" altLang="fr-FR" sz="1400" dirty="0">
                <a:solidFill>
                  <a:srgbClr val="FF9966"/>
                </a:solidFill>
              </a:rPr>
              <a:t> / Faux).</a:t>
            </a:r>
          </a:p>
          <a:p>
            <a:pPr eaLnBrk="1" hangingPunct="1">
              <a:spcBef>
                <a:spcPct val="0"/>
              </a:spcBef>
              <a:buFont typeface="Arial" panose="020B0604020202020204" pitchFamily="34" charset="0"/>
              <a:buNone/>
            </a:pPr>
            <a:endParaRPr lang="en-GB" altLang="fr-FR" sz="2000" dirty="0">
              <a:solidFill>
                <a:schemeClr val="tx1"/>
              </a:solidFill>
            </a:endParaRPr>
          </a:p>
          <a:p>
            <a:pPr eaLnBrk="1" hangingPunct="1">
              <a:spcBef>
                <a:spcPct val="0"/>
              </a:spcBef>
              <a:buFont typeface="Arial" panose="020B0604020202020204" pitchFamily="34" charset="0"/>
              <a:buNone/>
            </a:pPr>
            <a:r>
              <a:rPr lang="en-GB" altLang="fr-FR" sz="2000" dirty="0" err="1">
                <a:solidFill>
                  <a:schemeClr val="tx1"/>
                </a:solidFill>
              </a:rPr>
              <a:t>L’ensemble</a:t>
            </a:r>
            <a:r>
              <a:rPr lang="en-GB" altLang="fr-FR" sz="2000" dirty="0">
                <a:solidFill>
                  <a:schemeClr val="tx1"/>
                </a:solidFill>
              </a:rPr>
              <a:t> des </a:t>
            </a:r>
            <a:r>
              <a:rPr lang="en-GB" altLang="fr-FR" sz="2000" dirty="0" err="1">
                <a:solidFill>
                  <a:schemeClr val="tx1"/>
                </a:solidFill>
              </a:rPr>
              <a:t>exemples</a:t>
            </a:r>
            <a:r>
              <a:rPr lang="en-GB" altLang="fr-FR" sz="2000" dirty="0">
                <a:solidFill>
                  <a:schemeClr val="tx1"/>
                </a:solidFill>
              </a:rPr>
              <a:t> </a:t>
            </a:r>
            <a:r>
              <a:rPr lang="en-GB" altLang="fr-FR" sz="2000" dirty="0" err="1">
                <a:solidFill>
                  <a:schemeClr val="tx1"/>
                </a:solidFill>
              </a:rPr>
              <a:t>est</a:t>
            </a:r>
            <a:r>
              <a:rPr lang="en-GB" altLang="fr-FR" sz="2000" dirty="0">
                <a:solidFill>
                  <a:schemeClr val="tx1"/>
                </a:solidFill>
              </a:rPr>
              <a:t> </a:t>
            </a:r>
            <a:r>
              <a:rPr lang="en-GB" altLang="fr-FR" sz="2000" dirty="0" err="1">
                <a:solidFill>
                  <a:schemeClr val="tx1"/>
                </a:solidFill>
              </a:rPr>
              <a:t>appelé</a:t>
            </a:r>
            <a:r>
              <a:rPr lang="en-GB" altLang="fr-FR" sz="2000" dirty="0">
                <a:solidFill>
                  <a:schemeClr val="tx1"/>
                </a:solidFill>
              </a:rPr>
              <a:t> </a:t>
            </a:r>
            <a:r>
              <a:rPr lang="en-GB" altLang="fr-FR" sz="2000" dirty="0" err="1">
                <a:solidFill>
                  <a:srgbClr val="FF9966"/>
                </a:solidFill>
              </a:rPr>
              <a:t>l’ensemble</a:t>
            </a:r>
            <a:r>
              <a:rPr lang="en-GB" altLang="fr-FR" sz="2000" dirty="0">
                <a:solidFill>
                  <a:srgbClr val="FF9966"/>
                </a:solidFill>
              </a:rPr>
              <a:t> </a:t>
            </a:r>
            <a:r>
              <a:rPr lang="en-GB" altLang="fr-FR" sz="2000" dirty="0" err="1">
                <a:solidFill>
                  <a:srgbClr val="FF9966"/>
                </a:solidFill>
              </a:rPr>
              <a:t>d’entraînement</a:t>
            </a:r>
            <a:r>
              <a:rPr lang="en-GB" altLang="fr-FR" sz="2000" dirty="0">
                <a:solidFill>
                  <a:srgbClr val="FF9966"/>
                </a:solidFill>
              </a:rPr>
              <a:t>.</a:t>
            </a:r>
          </a:p>
        </p:txBody>
      </p:sp>
      <p:sp>
        <p:nvSpPr>
          <p:cNvPr id="34819" name="Text Box 2">
            <a:extLst>
              <a:ext uri="{FF2B5EF4-FFF2-40B4-BE49-F238E27FC236}">
                <a16:creationId xmlns="" xmlns:a16="http://schemas.microsoft.com/office/drawing/2014/main" id="{5E15B608-1929-4DBF-998B-B906E191B8CB}"/>
              </a:ext>
            </a:extLst>
          </p:cNvPr>
          <p:cNvSpPr txBox="1">
            <a:spLocks noChangeArrowheads="1"/>
          </p:cNvSpPr>
          <p:nvPr/>
        </p:nvSpPr>
        <p:spPr bwMode="auto">
          <a:xfrm>
            <a:off x="1558926" y="4921250"/>
            <a:ext cx="9109075" cy="1621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2000">
                <a:solidFill>
                  <a:srgbClr val="FF3333"/>
                </a:solidFill>
              </a:rPr>
              <a:t>Le but est de trouver le plus petit arbre qui </a:t>
            </a:r>
            <a:r>
              <a:rPr lang="fr-FR" altLang="fr-FR" sz="2000">
                <a:solidFill>
                  <a:srgbClr val="FF3333"/>
                </a:solidFill>
              </a:rPr>
              <a:t>respecte</a:t>
            </a:r>
            <a:r>
              <a:rPr lang="en-GB" altLang="fr-FR" sz="2000">
                <a:solidFill>
                  <a:srgbClr val="FF3333"/>
                </a:solidFill>
              </a:rPr>
              <a:t> l’ensemble d’entraînement.</a:t>
            </a:r>
          </a:p>
          <a:p>
            <a:pPr eaLnBrk="1" hangingPunct="1">
              <a:spcBef>
                <a:spcPct val="0"/>
              </a:spcBef>
              <a:buFont typeface="Arial" panose="020B0604020202020204" pitchFamily="34" charset="0"/>
              <a:buNone/>
            </a:pPr>
            <a:r>
              <a:rPr lang="en-GB" altLang="fr-FR" sz="2000">
                <a:solidFill>
                  <a:srgbClr val="FF3333"/>
                </a:solidFill>
              </a:rPr>
              <a:t>(NP-complex)</a:t>
            </a:r>
          </a:p>
          <a:p>
            <a:pPr eaLnBrk="1" hangingPunct="1">
              <a:spcBef>
                <a:spcPct val="0"/>
              </a:spcBef>
              <a:buFont typeface="Arial" panose="020B0604020202020204" pitchFamily="34" charset="0"/>
              <a:buNone/>
            </a:pPr>
            <a:endParaRPr lang="en-GB" altLang="fr-FR" sz="2000">
              <a:solidFill>
                <a:schemeClr val="tx1"/>
              </a:solidFill>
            </a:endParaRPr>
          </a:p>
          <a:p>
            <a:pPr eaLnBrk="1" hangingPunct="1">
              <a:spcBef>
                <a:spcPct val="0"/>
              </a:spcBef>
              <a:buFont typeface="Arial" panose="020B0604020202020204" pitchFamily="34" charset="0"/>
              <a:buNone/>
            </a:pPr>
            <a:r>
              <a:rPr lang="en-GB" altLang="fr-FR" sz="2000">
                <a:solidFill>
                  <a:schemeClr val="tx1"/>
                </a:solidFill>
              </a:rPr>
              <a:t>L’arbre doit extraire des tendances ou des comportements (</a:t>
            </a:r>
            <a:r>
              <a:rPr lang="fr-FR" altLang="fr-FR" sz="2000">
                <a:solidFill>
                  <a:schemeClr val="tx1"/>
                </a:solidFill>
              </a:rPr>
              <a:t>règles</a:t>
            </a:r>
            <a:r>
              <a:rPr lang="en-GB" altLang="fr-FR" sz="2000">
                <a:solidFill>
                  <a:schemeClr val="tx1"/>
                </a:solidFill>
              </a:rPr>
              <a:t>) </a:t>
            </a:r>
            <a:r>
              <a:rPr lang="fr-FR" altLang="fr-FR" sz="2000">
                <a:solidFill>
                  <a:schemeClr val="tx1"/>
                </a:solidFill>
              </a:rPr>
              <a:t>à</a:t>
            </a:r>
            <a:r>
              <a:rPr lang="en-GB" altLang="fr-FR" sz="2000">
                <a:solidFill>
                  <a:schemeClr val="tx1"/>
                </a:solidFill>
              </a:rPr>
              <a:t> partir des exemples.</a:t>
            </a:r>
          </a:p>
        </p:txBody>
      </p:sp>
      <p:grpSp>
        <p:nvGrpSpPr>
          <p:cNvPr id="34820" name="Group 3">
            <a:extLst>
              <a:ext uri="{FF2B5EF4-FFF2-40B4-BE49-F238E27FC236}">
                <a16:creationId xmlns="" xmlns:a16="http://schemas.microsoft.com/office/drawing/2014/main" id="{75CD9B6F-A706-4383-9E9F-3649ACFF17DC}"/>
              </a:ext>
            </a:extLst>
          </p:cNvPr>
          <p:cNvGrpSpPr>
            <a:grpSpLocks/>
          </p:cNvGrpSpPr>
          <p:nvPr/>
        </p:nvGrpSpPr>
        <p:grpSpPr bwMode="auto">
          <a:xfrm>
            <a:off x="1524001" y="44451"/>
            <a:ext cx="9142413" cy="365125"/>
            <a:chOff x="0" y="28"/>
            <a:chExt cx="5759" cy="230"/>
          </a:xfrm>
        </p:grpSpPr>
        <p:sp>
          <p:nvSpPr>
            <p:cNvPr id="34821" name="AutoShape 4">
              <a:extLst>
                <a:ext uri="{FF2B5EF4-FFF2-40B4-BE49-F238E27FC236}">
                  <a16:creationId xmlns="" xmlns:a16="http://schemas.microsoft.com/office/drawing/2014/main" id="{5C03C609-F108-41CD-9936-8ACB55A95E35}"/>
                </a:ext>
              </a:extLst>
            </p:cNvPr>
            <p:cNvSpPr>
              <a:spLocks noChangeArrowheads="1"/>
            </p:cNvSpPr>
            <p:nvPr/>
          </p:nvSpPr>
          <p:spPr bwMode="auto">
            <a:xfrm>
              <a:off x="0" y="28"/>
              <a:ext cx="5760" cy="231"/>
            </a:xfrm>
            <a:prstGeom prst="roundRect">
              <a:avLst>
                <a:gd name="adj" fmla="val 431"/>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endParaRPr lang="fr-FR" altLang="fr-FR" sz="1800">
                <a:latin typeface="Times New Roman" panose="02020603050405020304" pitchFamily="18" charset="0"/>
              </a:endParaRPr>
            </a:p>
          </p:txBody>
        </p:sp>
        <p:sp>
          <p:nvSpPr>
            <p:cNvPr id="34822" name="Text Box 5">
              <a:extLst>
                <a:ext uri="{FF2B5EF4-FFF2-40B4-BE49-F238E27FC236}">
                  <a16:creationId xmlns="" xmlns:a16="http://schemas.microsoft.com/office/drawing/2014/main" id="{6C270C3B-53D8-40E2-A2DB-6D8C4480F29B}"/>
                </a:ext>
              </a:extLst>
            </p:cNvPr>
            <p:cNvSpPr txBox="1">
              <a:spLocks noChangeArrowheads="1"/>
            </p:cNvSpPr>
            <p:nvPr/>
          </p:nvSpPr>
          <p:spPr bwMode="auto">
            <a:xfrm>
              <a:off x="0" y="28"/>
              <a:ext cx="57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1800">
                  <a:solidFill>
                    <a:schemeClr val="tx1"/>
                  </a:solidFill>
                </a:rPr>
                <a:t>Intelligence Artificielle 		Apprentissage			</a:t>
              </a:r>
            </a:p>
          </p:txBody>
        </p:sp>
      </p:grpSp>
      <p:sp>
        <p:nvSpPr>
          <p:cNvPr id="2" name="Slide Number Placeholder 1">
            <a:extLst>
              <a:ext uri="{FF2B5EF4-FFF2-40B4-BE49-F238E27FC236}">
                <a16:creationId xmlns="" xmlns:a16="http://schemas.microsoft.com/office/drawing/2014/main" id="{1EEDC704-D214-4BE1-93EB-FAD7A3F14FB4}"/>
              </a:ext>
            </a:extLst>
          </p:cNvPr>
          <p:cNvSpPr>
            <a:spLocks noGrp="1"/>
          </p:cNvSpPr>
          <p:nvPr>
            <p:ph type="sldNum" sz="quarter" idx="12"/>
          </p:nvPr>
        </p:nvSpPr>
        <p:spPr/>
        <p:txBody>
          <a:bodyPr/>
          <a:lstStyle/>
          <a:p>
            <a:fld id="{EE5DF52D-0FE0-4249-9023-8B500BDB729B}" type="slidenum">
              <a:rPr lang="fr-FR" smtClean="0"/>
              <a:pPr/>
              <a:t>15</a:t>
            </a:fld>
            <a:endParaRPr lang="fr-FR"/>
          </a:p>
        </p:txBody>
      </p:sp>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a:extLst>
              <a:ext uri="{FF2B5EF4-FFF2-40B4-BE49-F238E27FC236}">
                <a16:creationId xmlns="" xmlns:a16="http://schemas.microsoft.com/office/drawing/2014/main" id="{FBDE461F-BAB4-4300-9365-C7738E39C7DA}"/>
              </a:ext>
            </a:extLst>
          </p:cNvPr>
          <p:cNvSpPr>
            <a:spLocks noChangeArrowheads="1"/>
          </p:cNvSpPr>
          <p:nvPr/>
        </p:nvSpPr>
        <p:spPr bwMode="auto">
          <a:xfrm>
            <a:off x="1524000" y="981075"/>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None/>
            </a:pPr>
            <a:r>
              <a:rPr lang="fr-FR" altLang="fr-FR" sz="2000" b="1" dirty="0"/>
              <a:t>Procédure : construire-arbre(S) , S=ensemble d’exemples</a:t>
            </a:r>
          </a:p>
          <a:p>
            <a:pPr eaLnBrk="1" hangingPunct="1">
              <a:buFont typeface="Arial" panose="020B0604020202020204" pitchFamily="34" charset="0"/>
              <a:buNone/>
            </a:pPr>
            <a:r>
              <a:rPr lang="fr-FR" altLang="fr-FR" sz="2000" b="1" dirty="0"/>
              <a:t>Si</a:t>
            </a:r>
            <a:r>
              <a:rPr lang="fr-FR" altLang="fr-FR" sz="2000" dirty="0"/>
              <a:t> tous les exemples de </a:t>
            </a:r>
            <a:r>
              <a:rPr lang="fr-FR" altLang="fr-FR" sz="2000" b="1" dirty="0"/>
              <a:t>S </a:t>
            </a:r>
            <a:r>
              <a:rPr lang="fr-FR" altLang="fr-FR" sz="2000" dirty="0"/>
              <a:t>appartiennent à la même classe </a:t>
            </a:r>
            <a:r>
              <a:rPr lang="fr-FR" altLang="fr-FR" sz="2000" b="1" dirty="0"/>
              <a:t>alors</a:t>
            </a:r>
            <a:r>
              <a:rPr lang="fr-FR" altLang="fr-FR" sz="2000" dirty="0"/>
              <a:t> </a:t>
            </a:r>
          </a:p>
          <a:p>
            <a:pPr eaLnBrk="1" hangingPunct="1">
              <a:buFont typeface="Arial" panose="020B0604020202020204" pitchFamily="34" charset="0"/>
              <a:buNone/>
            </a:pPr>
            <a:r>
              <a:rPr lang="fr-FR" altLang="fr-FR" sz="2000" dirty="0"/>
              <a:t>	créer une feuille portant le nom de cette classe</a:t>
            </a:r>
          </a:p>
          <a:p>
            <a:pPr eaLnBrk="1" hangingPunct="1">
              <a:buFont typeface="Arial" panose="020B0604020202020204" pitchFamily="34" charset="0"/>
              <a:buNone/>
            </a:pPr>
            <a:r>
              <a:rPr lang="fr-FR" altLang="fr-FR" sz="2000" b="1" dirty="0"/>
              <a:t>sinon</a:t>
            </a:r>
            <a:r>
              <a:rPr lang="fr-FR" altLang="fr-FR" sz="2000" dirty="0"/>
              <a:t> </a:t>
            </a:r>
          </a:p>
          <a:p>
            <a:pPr eaLnBrk="1" hangingPunct="1">
              <a:buFont typeface="Arial" panose="020B0604020202020204" pitchFamily="34" charset="0"/>
              <a:buNone/>
            </a:pPr>
            <a:r>
              <a:rPr lang="fr-FR" altLang="fr-FR" sz="2000" dirty="0"/>
              <a:t>	choisir  un </a:t>
            </a:r>
            <a:r>
              <a:rPr lang="fr-FR" altLang="fr-FR" sz="2000" dirty="0">
                <a:solidFill>
                  <a:srgbClr val="FF0000"/>
                </a:solidFill>
              </a:rPr>
              <a:t>(Le meilleur)</a:t>
            </a:r>
            <a:r>
              <a:rPr lang="fr-FR" altLang="fr-FR" sz="2000" dirty="0"/>
              <a:t> attribut  A pour créer un nœud</a:t>
            </a:r>
          </a:p>
          <a:p>
            <a:pPr eaLnBrk="1" hangingPunct="1">
              <a:buFont typeface="Arial" panose="020B0604020202020204" pitchFamily="34" charset="0"/>
              <a:buNone/>
            </a:pPr>
            <a:r>
              <a:rPr lang="fr-FR" altLang="fr-FR" sz="2000" dirty="0"/>
              <a:t>	Le test associé à ce nœud sépare </a:t>
            </a:r>
            <a:r>
              <a:rPr lang="fr-FR" altLang="fr-FR" sz="2000" b="1" dirty="0"/>
              <a:t>S</a:t>
            </a:r>
            <a:r>
              <a:rPr lang="fr-FR" altLang="fr-FR" sz="2000" dirty="0"/>
              <a:t> en V parties : S</a:t>
            </a:r>
            <a:r>
              <a:rPr lang="fr-FR" altLang="fr-FR" sz="2000" baseline="-25000" dirty="0"/>
              <a:t>1</a:t>
            </a:r>
            <a:r>
              <a:rPr lang="fr-FR" altLang="fr-FR" sz="2000" dirty="0"/>
              <a:t>,,, S</a:t>
            </a:r>
            <a:r>
              <a:rPr lang="fr-FR" altLang="fr-FR" sz="2000" baseline="-25000" dirty="0"/>
              <a:t>v</a:t>
            </a:r>
          </a:p>
          <a:p>
            <a:pPr eaLnBrk="1" hangingPunct="1">
              <a:buFont typeface="Arial" panose="020B0604020202020204" pitchFamily="34" charset="0"/>
              <a:buNone/>
            </a:pPr>
            <a:r>
              <a:rPr lang="fr-FR" altLang="fr-FR" sz="2000" dirty="0"/>
              <a:t>	construire-arbre (</a:t>
            </a:r>
            <a:r>
              <a:rPr lang="fr-FR" altLang="fr-FR" sz="2000" dirty="0" err="1"/>
              <a:t>S</a:t>
            </a:r>
            <a:r>
              <a:rPr lang="fr-FR" altLang="fr-FR" sz="2000" baseline="-25000" dirty="0" err="1"/>
              <a:t>k</a:t>
            </a:r>
            <a:r>
              <a:rPr lang="fr-FR" altLang="fr-FR" sz="2000" dirty="0"/>
              <a:t>)   k=1,,,V   </a:t>
            </a:r>
            <a:r>
              <a:rPr lang="fr-FR" altLang="fr-FR" sz="1600" dirty="0">
                <a:solidFill>
                  <a:srgbClr val="FF0000"/>
                </a:solidFill>
              </a:rPr>
              <a:t>(V : nombre de valeurs de A)</a:t>
            </a:r>
          </a:p>
          <a:p>
            <a:pPr eaLnBrk="1" hangingPunct="1">
              <a:buFont typeface="Arial" panose="020B0604020202020204" pitchFamily="34" charset="0"/>
              <a:buNone/>
            </a:pPr>
            <a:r>
              <a:rPr lang="fr-FR" altLang="fr-FR" sz="2000" b="1" dirty="0" err="1"/>
              <a:t>finsi</a:t>
            </a:r>
            <a:endParaRPr lang="fr-FR" altLang="fr-FR" sz="2000" dirty="0"/>
          </a:p>
        </p:txBody>
      </p:sp>
      <p:sp>
        <p:nvSpPr>
          <p:cNvPr id="36867" name="Rectangle 5">
            <a:extLst>
              <a:ext uri="{FF2B5EF4-FFF2-40B4-BE49-F238E27FC236}">
                <a16:creationId xmlns="" xmlns:a16="http://schemas.microsoft.com/office/drawing/2014/main" id="{6E8D3106-37C3-4C4C-8339-D7834B40D27B}"/>
              </a:ext>
            </a:extLst>
          </p:cNvPr>
          <p:cNvSpPr>
            <a:spLocks noChangeArrowheads="1"/>
          </p:cNvSpPr>
          <p:nvPr/>
        </p:nvSpPr>
        <p:spPr bwMode="auto">
          <a:xfrm>
            <a:off x="1271588" y="115888"/>
            <a:ext cx="777240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Font typeface="Arial" panose="020B0604020202020204" pitchFamily="34" charset="0"/>
              <a:buNone/>
            </a:pPr>
            <a:r>
              <a:rPr lang="fr-FR" altLang="fr-FR" sz="4400"/>
              <a:t>Algorithme</a:t>
            </a:r>
          </a:p>
        </p:txBody>
      </p:sp>
      <p:grpSp>
        <p:nvGrpSpPr>
          <p:cNvPr id="36868" name="Group 6">
            <a:extLst>
              <a:ext uri="{FF2B5EF4-FFF2-40B4-BE49-F238E27FC236}">
                <a16:creationId xmlns="" xmlns:a16="http://schemas.microsoft.com/office/drawing/2014/main" id="{39E9B89D-6577-4455-BB85-F6C851AB691C}"/>
              </a:ext>
            </a:extLst>
          </p:cNvPr>
          <p:cNvGrpSpPr>
            <a:grpSpLocks/>
          </p:cNvGrpSpPr>
          <p:nvPr/>
        </p:nvGrpSpPr>
        <p:grpSpPr bwMode="auto">
          <a:xfrm>
            <a:off x="1524001" y="44451"/>
            <a:ext cx="9142413" cy="365125"/>
            <a:chOff x="0" y="28"/>
            <a:chExt cx="5759" cy="230"/>
          </a:xfrm>
        </p:grpSpPr>
        <p:sp>
          <p:nvSpPr>
            <p:cNvPr id="36886" name="AutoShape 7">
              <a:extLst>
                <a:ext uri="{FF2B5EF4-FFF2-40B4-BE49-F238E27FC236}">
                  <a16:creationId xmlns="" xmlns:a16="http://schemas.microsoft.com/office/drawing/2014/main" id="{3E8DE2CF-50FD-48B6-B1D6-9A3B15E238CB}"/>
                </a:ext>
              </a:extLst>
            </p:cNvPr>
            <p:cNvSpPr>
              <a:spLocks noChangeArrowheads="1"/>
            </p:cNvSpPr>
            <p:nvPr/>
          </p:nvSpPr>
          <p:spPr bwMode="auto">
            <a:xfrm>
              <a:off x="0" y="28"/>
              <a:ext cx="5760" cy="231"/>
            </a:xfrm>
            <a:prstGeom prst="roundRect">
              <a:avLst>
                <a:gd name="adj" fmla="val 431"/>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endParaRPr lang="fr-FR" altLang="fr-FR" sz="1800">
                <a:latin typeface="Times New Roman" panose="02020603050405020304" pitchFamily="18" charset="0"/>
              </a:endParaRPr>
            </a:p>
          </p:txBody>
        </p:sp>
        <p:sp>
          <p:nvSpPr>
            <p:cNvPr id="36887" name="Text Box 8">
              <a:extLst>
                <a:ext uri="{FF2B5EF4-FFF2-40B4-BE49-F238E27FC236}">
                  <a16:creationId xmlns="" xmlns:a16="http://schemas.microsoft.com/office/drawing/2014/main" id="{7A9199BF-369A-4E96-8AEB-16A412195B9C}"/>
                </a:ext>
              </a:extLst>
            </p:cNvPr>
            <p:cNvSpPr txBox="1">
              <a:spLocks noChangeArrowheads="1"/>
            </p:cNvSpPr>
            <p:nvPr/>
          </p:nvSpPr>
          <p:spPr bwMode="auto">
            <a:xfrm>
              <a:off x="0" y="28"/>
              <a:ext cx="57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1800">
                  <a:solidFill>
                    <a:schemeClr val="tx1"/>
                  </a:solidFill>
                </a:rPr>
                <a:t>Intelligence Artificielle 		Apprentissage			</a:t>
              </a:r>
            </a:p>
          </p:txBody>
        </p:sp>
      </p:grpSp>
      <p:sp>
        <p:nvSpPr>
          <p:cNvPr id="36869" name="Oval 9">
            <a:extLst>
              <a:ext uri="{FF2B5EF4-FFF2-40B4-BE49-F238E27FC236}">
                <a16:creationId xmlns="" xmlns:a16="http://schemas.microsoft.com/office/drawing/2014/main" id="{7A0A62DA-C433-4847-93EB-75C9F4EA6058}"/>
              </a:ext>
            </a:extLst>
          </p:cNvPr>
          <p:cNvSpPr>
            <a:spLocks noChangeArrowheads="1"/>
          </p:cNvSpPr>
          <p:nvPr/>
        </p:nvSpPr>
        <p:spPr bwMode="auto">
          <a:xfrm>
            <a:off x="7065964" y="4048126"/>
            <a:ext cx="1081087" cy="720725"/>
          </a:xfrm>
          <a:prstGeom prst="ellipse">
            <a:avLst/>
          </a:prstGeom>
          <a:solidFill>
            <a:srgbClr val="FFFF99"/>
          </a:solidFill>
          <a:ln w="9525">
            <a:solidFill>
              <a:schemeClr val="tx1"/>
            </a:solidFill>
            <a:round/>
            <a:headEnd/>
            <a:tailEnd/>
          </a:ln>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dirty="0">
                <a:solidFill>
                  <a:schemeClr val="tx1"/>
                </a:solidFill>
              </a:rPr>
              <a:t>Auteur</a:t>
            </a:r>
          </a:p>
          <a:p>
            <a:pPr algn="ctr" eaLnBrk="1" hangingPunct="1">
              <a:spcBef>
                <a:spcPct val="0"/>
              </a:spcBef>
              <a:buClrTx/>
              <a:buSzTx/>
              <a:buFontTx/>
              <a:buNone/>
            </a:pPr>
            <a:r>
              <a:rPr lang="fr-CA" altLang="fr-FR" sz="1800" dirty="0">
                <a:solidFill>
                  <a:schemeClr val="tx1"/>
                </a:solidFill>
              </a:rPr>
              <a:t>?</a:t>
            </a:r>
          </a:p>
        </p:txBody>
      </p:sp>
      <p:sp>
        <p:nvSpPr>
          <p:cNvPr id="98314" name="Line 10">
            <a:extLst>
              <a:ext uri="{FF2B5EF4-FFF2-40B4-BE49-F238E27FC236}">
                <a16:creationId xmlns="" xmlns:a16="http://schemas.microsoft.com/office/drawing/2014/main" id="{ED9DEC23-F8C3-4543-9F90-1E906367A0D2}"/>
              </a:ext>
            </a:extLst>
          </p:cNvPr>
          <p:cNvSpPr>
            <a:spLocks noChangeShapeType="1"/>
          </p:cNvSpPr>
          <p:nvPr/>
        </p:nvSpPr>
        <p:spPr bwMode="auto">
          <a:xfrm flipH="1">
            <a:off x="6599238" y="4608513"/>
            <a:ext cx="792162" cy="129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8315" name="Line 11">
            <a:extLst>
              <a:ext uri="{FF2B5EF4-FFF2-40B4-BE49-F238E27FC236}">
                <a16:creationId xmlns="" xmlns:a16="http://schemas.microsoft.com/office/drawing/2014/main" id="{9B3138C6-8606-47BE-9DDA-DD55C1A259FC}"/>
              </a:ext>
            </a:extLst>
          </p:cNvPr>
          <p:cNvSpPr>
            <a:spLocks noChangeShapeType="1"/>
          </p:cNvSpPr>
          <p:nvPr/>
        </p:nvSpPr>
        <p:spPr bwMode="auto">
          <a:xfrm>
            <a:off x="7607300" y="4608513"/>
            <a:ext cx="71438" cy="14398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8316" name="Rectangle 12">
            <a:extLst>
              <a:ext uri="{FF2B5EF4-FFF2-40B4-BE49-F238E27FC236}">
                <a16:creationId xmlns="" xmlns:a16="http://schemas.microsoft.com/office/drawing/2014/main" id="{AFE51452-8F2D-4444-87D6-2203A66E9F3C}"/>
              </a:ext>
            </a:extLst>
          </p:cNvPr>
          <p:cNvSpPr>
            <a:spLocks noChangeArrowheads="1"/>
          </p:cNvSpPr>
          <p:nvPr/>
        </p:nvSpPr>
        <p:spPr bwMode="auto">
          <a:xfrm>
            <a:off x="6443664" y="4883151"/>
            <a:ext cx="1006475" cy="36036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dirty="0">
                <a:solidFill>
                  <a:schemeClr val="tx1"/>
                </a:solidFill>
              </a:rPr>
              <a:t>inconnu</a:t>
            </a:r>
          </a:p>
        </p:txBody>
      </p:sp>
      <p:sp>
        <p:nvSpPr>
          <p:cNvPr id="98318" name="Line 14">
            <a:extLst>
              <a:ext uri="{FF2B5EF4-FFF2-40B4-BE49-F238E27FC236}">
                <a16:creationId xmlns="" xmlns:a16="http://schemas.microsoft.com/office/drawing/2014/main" id="{EC7485D5-FE92-401D-9CDE-F548B954FDC9}"/>
              </a:ext>
            </a:extLst>
          </p:cNvPr>
          <p:cNvSpPr>
            <a:spLocks noChangeShapeType="1"/>
          </p:cNvSpPr>
          <p:nvPr/>
        </p:nvSpPr>
        <p:spPr bwMode="auto">
          <a:xfrm>
            <a:off x="7894639" y="4535489"/>
            <a:ext cx="936625" cy="1296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8319" name="Rectangle 15">
            <a:extLst>
              <a:ext uri="{FF2B5EF4-FFF2-40B4-BE49-F238E27FC236}">
                <a16:creationId xmlns="" xmlns:a16="http://schemas.microsoft.com/office/drawing/2014/main" id="{7CEBA5D9-A7FA-46E1-B211-EE268124C191}"/>
              </a:ext>
            </a:extLst>
          </p:cNvPr>
          <p:cNvSpPr>
            <a:spLocks noChangeArrowheads="1"/>
          </p:cNvSpPr>
          <p:nvPr/>
        </p:nvSpPr>
        <p:spPr bwMode="auto">
          <a:xfrm>
            <a:off x="8328025" y="5041901"/>
            <a:ext cx="1081088" cy="360363"/>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dirty="0">
                <a:solidFill>
                  <a:srgbClr val="FFFF00"/>
                </a:solidFill>
              </a:rPr>
              <a:t>connu</a:t>
            </a:r>
          </a:p>
        </p:txBody>
      </p:sp>
      <p:sp>
        <p:nvSpPr>
          <p:cNvPr id="98320" name="Rectangle 16">
            <a:extLst>
              <a:ext uri="{FF2B5EF4-FFF2-40B4-BE49-F238E27FC236}">
                <a16:creationId xmlns="" xmlns:a16="http://schemas.microsoft.com/office/drawing/2014/main" id="{00A417E9-BB21-418D-816A-14611FF3929D}"/>
              </a:ext>
            </a:extLst>
          </p:cNvPr>
          <p:cNvSpPr>
            <a:spLocks noChangeArrowheads="1"/>
          </p:cNvSpPr>
          <p:nvPr/>
        </p:nvSpPr>
        <p:spPr bwMode="auto">
          <a:xfrm>
            <a:off x="5232401" y="6408738"/>
            <a:ext cx="1871663" cy="36036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dirty="0">
                <a:solidFill>
                  <a:schemeClr val="tx1"/>
                </a:solidFill>
              </a:rPr>
              <a:t>Spam=oui</a:t>
            </a:r>
          </a:p>
        </p:txBody>
      </p:sp>
      <p:sp>
        <p:nvSpPr>
          <p:cNvPr id="98321" name="Rectangle 17">
            <a:extLst>
              <a:ext uri="{FF2B5EF4-FFF2-40B4-BE49-F238E27FC236}">
                <a16:creationId xmlns="" xmlns:a16="http://schemas.microsoft.com/office/drawing/2014/main" id="{06212275-9884-4A35-B148-3D3D1719779D}"/>
              </a:ext>
            </a:extLst>
          </p:cNvPr>
          <p:cNvSpPr>
            <a:spLocks noChangeArrowheads="1"/>
          </p:cNvSpPr>
          <p:nvPr/>
        </p:nvSpPr>
        <p:spPr bwMode="auto">
          <a:xfrm>
            <a:off x="8147051" y="6308726"/>
            <a:ext cx="1871663" cy="36036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dirty="0">
                <a:solidFill>
                  <a:schemeClr val="tx1"/>
                </a:solidFill>
              </a:rPr>
              <a:t>Spam=non </a:t>
            </a:r>
          </a:p>
        </p:txBody>
      </p:sp>
      <p:sp>
        <p:nvSpPr>
          <p:cNvPr id="98322" name="Line 18">
            <a:extLst>
              <a:ext uri="{FF2B5EF4-FFF2-40B4-BE49-F238E27FC236}">
                <a16:creationId xmlns="" xmlns:a16="http://schemas.microsoft.com/office/drawing/2014/main" id="{CDCC1A33-AF13-4315-9389-231C0CCB41BE}"/>
              </a:ext>
            </a:extLst>
          </p:cNvPr>
          <p:cNvSpPr>
            <a:spLocks noChangeShapeType="1"/>
          </p:cNvSpPr>
          <p:nvPr/>
        </p:nvSpPr>
        <p:spPr bwMode="auto">
          <a:xfrm flipH="1">
            <a:off x="5951539" y="6048375"/>
            <a:ext cx="574674" cy="36036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8323" name="Line 19">
            <a:extLst>
              <a:ext uri="{FF2B5EF4-FFF2-40B4-BE49-F238E27FC236}">
                <a16:creationId xmlns="" xmlns:a16="http://schemas.microsoft.com/office/drawing/2014/main" id="{30EB6A87-69C3-4D6D-8546-C4EDF6979EAC}"/>
              </a:ext>
            </a:extLst>
          </p:cNvPr>
          <p:cNvSpPr>
            <a:spLocks noChangeShapeType="1"/>
          </p:cNvSpPr>
          <p:nvPr/>
        </p:nvSpPr>
        <p:spPr bwMode="auto">
          <a:xfrm>
            <a:off x="7751763" y="6092825"/>
            <a:ext cx="863600" cy="1714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8324" name="Line 20">
            <a:extLst>
              <a:ext uri="{FF2B5EF4-FFF2-40B4-BE49-F238E27FC236}">
                <a16:creationId xmlns="" xmlns:a16="http://schemas.microsoft.com/office/drawing/2014/main" id="{6C2AC55C-9F97-4803-A817-BEFD5E6BF4F9}"/>
              </a:ext>
            </a:extLst>
          </p:cNvPr>
          <p:cNvSpPr>
            <a:spLocks noChangeShapeType="1"/>
          </p:cNvSpPr>
          <p:nvPr/>
        </p:nvSpPr>
        <p:spPr bwMode="auto">
          <a:xfrm>
            <a:off x="9048750" y="5949951"/>
            <a:ext cx="285750" cy="385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8325" name="Oval 21">
            <a:extLst>
              <a:ext uri="{FF2B5EF4-FFF2-40B4-BE49-F238E27FC236}">
                <a16:creationId xmlns="" xmlns:a16="http://schemas.microsoft.com/office/drawing/2014/main" id="{23C8E5CD-4939-4AFD-A1E2-5414C3A0562D}"/>
              </a:ext>
            </a:extLst>
          </p:cNvPr>
          <p:cNvSpPr>
            <a:spLocks noChangeArrowheads="1"/>
          </p:cNvSpPr>
          <p:nvPr/>
        </p:nvSpPr>
        <p:spPr bwMode="auto">
          <a:xfrm>
            <a:off x="5951539" y="5734051"/>
            <a:ext cx="1152525" cy="360363"/>
          </a:xfrm>
          <a:prstGeom prst="ellipse">
            <a:avLst/>
          </a:prstGeom>
          <a:solidFill>
            <a:srgbClr val="FFFF99"/>
          </a:solidFill>
          <a:ln w="9525">
            <a:solidFill>
              <a:schemeClr val="tx1"/>
            </a:solidFill>
            <a:round/>
            <a:headEnd/>
            <a:tailEnd/>
          </a:ln>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dirty="0">
                <a:solidFill>
                  <a:schemeClr val="tx1"/>
                </a:solidFill>
              </a:rPr>
              <a:t>Html ?</a:t>
            </a:r>
          </a:p>
        </p:txBody>
      </p:sp>
      <p:sp>
        <p:nvSpPr>
          <p:cNvPr id="20" name="Rectangle 12">
            <a:extLst>
              <a:ext uri="{FF2B5EF4-FFF2-40B4-BE49-F238E27FC236}">
                <a16:creationId xmlns="" xmlns:a16="http://schemas.microsoft.com/office/drawing/2014/main" id="{84BCCD79-C5C4-488F-9CC7-460B373F02B4}"/>
              </a:ext>
            </a:extLst>
          </p:cNvPr>
          <p:cNvSpPr>
            <a:spLocks noChangeArrowheads="1"/>
          </p:cNvSpPr>
          <p:nvPr/>
        </p:nvSpPr>
        <p:spPr bwMode="auto">
          <a:xfrm>
            <a:off x="6456364" y="5191126"/>
            <a:ext cx="503237"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b="1">
                <a:solidFill>
                  <a:schemeClr val="tx1"/>
                </a:solidFill>
              </a:rPr>
              <a:t>[S</a:t>
            </a:r>
            <a:r>
              <a:rPr lang="fr-CA" altLang="fr-FR" sz="1800" b="1" baseline="-25000">
                <a:solidFill>
                  <a:schemeClr val="tx1"/>
                </a:solidFill>
              </a:rPr>
              <a:t>1</a:t>
            </a:r>
            <a:r>
              <a:rPr lang="fr-CA" altLang="fr-FR" sz="1800" b="1">
                <a:solidFill>
                  <a:schemeClr val="tx1"/>
                </a:solidFill>
              </a:rPr>
              <a:t>]</a:t>
            </a:r>
          </a:p>
        </p:txBody>
      </p:sp>
      <p:sp>
        <p:nvSpPr>
          <p:cNvPr id="22" name="Rectangle 12">
            <a:extLst>
              <a:ext uri="{FF2B5EF4-FFF2-40B4-BE49-F238E27FC236}">
                <a16:creationId xmlns="" xmlns:a16="http://schemas.microsoft.com/office/drawing/2014/main" id="{176FC273-DA4C-4435-BE2D-BF5EAD3F26FD}"/>
              </a:ext>
            </a:extLst>
          </p:cNvPr>
          <p:cNvSpPr>
            <a:spLocks noChangeArrowheads="1"/>
          </p:cNvSpPr>
          <p:nvPr/>
        </p:nvSpPr>
        <p:spPr bwMode="auto">
          <a:xfrm>
            <a:off x="8688389" y="5432426"/>
            <a:ext cx="503237"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b="1" dirty="0">
                <a:solidFill>
                  <a:schemeClr val="tx1"/>
                </a:solidFill>
              </a:rPr>
              <a:t>[S</a:t>
            </a:r>
            <a:r>
              <a:rPr lang="fr-CA" altLang="fr-FR" sz="1800" b="1" baseline="-25000" dirty="0">
                <a:solidFill>
                  <a:schemeClr val="tx1"/>
                </a:solidFill>
              </a:rPr>
              <a:t>2</a:t>
            </a:r>
            <a:r>
              <a:rPr lang="fr-CA" altLang="fr-FR" sz="1800" b="1" dirty="0">
                <a:solidFill>
                  <a:schemeClr val="tx1"/>
                </a:solidFill>
              </a:rPr>
              <a:t>]</a:t>
            </a:r>
          </a:p>
        </p:txBody>
      </p:sp>
      <p:sp>
        <p:nvSpPr>
          <p:cNvPr id="26" name="Rectangle 12">
            <a:extLst>
              <a:ext uri="{FF2B5EF4-FFF2-40B4-BE49-F238E27FC236}">
                <a16:creationId xmlns="" xmlns:a16="http://schemas.microsoft.com/office/drawing/2014/main" id="{031FE95D-80A7-4038-8503-6373F7F61FA3}"/>
              </a:ext>
            </a:extLst>
          </p:cNvPr>
          <p:cNvSpPr>
            <a:spLocks noChangeArrowheads="1"/>
          </p:cNvSpPr>
          <p:nvPr/>
        </p:nvSpPr>
        <p:spPr bwMode="auto">
          <a:xfrm>
            <a:off x="7319964" y="3687763"/>
            <a:ext cx="503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b="1">
                <a:solidFill>
                  <a:schemeClr val="tx1"/>
                </a:solidFill>
              </a:rPr>
              <a:t>[S]</a:t>
            </a:r>
          </a:p>
        </p:txBody>
      </p:sp>
      <p:sp>
        <p:nvSpPr>
          <p:cNvPr id="2" name="Slide Number Placeholder 1">
            <a:extLst>
              <a:ext uri="{FF2B5EF4-FFF2-40B4-BE49-F238E27FC236}">
                <a16:creationId xmlns="" xmlns:a16="http://schemas.microsoft.com/office/drawing/2014/main" id="{BC95A312-5BD2-4FFB-82D0-226D26330D2B}"/>
              </a:ext>
            </a:extLst>
          </p:cNvPr>
          <p:cNvSpPr>
            <a:spLocks noGrp="1"/>
          </p:cNvSpPr>
          <p:nvPr>
            <p:ph type="sldNum" sz="quarter" idx="12"/>
          </p:nvPr>
        </p:nvSpPr>
        <p:spPr/>
        <p:txBody>
          <a:bodyPr/>
          <a:lstStyle/>
          <a:p>
            <a:fld id="{EE5DF52D-0FE0-4249-9023-8B500BDB729B}" type="slidenum">
              <a:rPr lang="fr-FR" smtClean="0"/>
              <a:pPr/>
              <a:t>16</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83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83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83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83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83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9"/>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9"/>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9"/>
                                          </p:stCondLst>
                                        </p:cTn>
                                        <p:tgtEl>
                                          <p:spTgt spid="2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832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1" nodeType="clickEffect">
                                  <p:stCondLst>
                                    <p:cond delay="0"/>
                                  </p:stCondLst>
                                  <p:childTnLst>
                                    <p:set>
                                      <p:cBhvr>
                                        <p:cTn id="28" dur="1" fill="hold">
                                          <p:stCondLst>
                                            <p:cond delay="0"/>
                                          </p:stCondLst>
                                        </p:cTn>
                                        <p:tgtEl>
                                          <p:spTgt spid="983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83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8321"/>
                                        </p:tgtEl>
                                        <p:attrNameLst>
                                          <p:attrName>style.visibility</p:attrName>
                                        </p:attrNameLst>
                                      </p:cBhvr>
                                      <p:to>
                                        <p:strVal val="visible"/>
                                      </p:to>
                                    </p:set>
                                  </p:childTnLst>
                                </p:cTn>
                              </p:par>
                              <p:par>
                                <p:cTn id="33" presetID="1" presetClass="entr" presetSubtype="0" fill="hold" grpId="1" nodeType="withEffect">
                                  <p:stCondLst>
                                    <p:cond delay="0"/>
                                  </p:stCondLst>
                                  <p:childTnLst>
                                    <p:set>
                                      <p:cBhvr>
                                        <p:cTn id="34" dur="1" fill="hold">
                                          <p:stCondLst>
                                            <p:cond delay="0"/>
                                          </p:stCondLst>
                                        </p:cTn>
                                        <p:tgtEl>
                                          <p:spTgt spid="9832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83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832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83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16" grpId="0" animBg="1"/>
      <p:bldP spid="98319" grpId="0" animBg="1"/>
      <p:bldP spid="98320" grpId="0" animBg="1"/>
      <p:bldP spid="98320" grpId="1" animBg="1"/>
      <p:bldP spid="98321" grpId="0" animBg="1"/>
      <p:bldP spid="98321" grpId="1" animBg="1"/>
      <p:bldP spid="98325" grpId="0" animBg="1"/>
      <p:bldP spid="20" grpId="0"/>
      <p:bldP spid="22" grpId="0"/>
      <p:bldP spid="2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1">
            <a:extLst>
              <a:ext uri="{FF2B5EF4-FFF2-40B4-BE49-F238E27FC236}">
                <a16:creationId xmlns="" xmlns:a16="http://schemas.microsoft.com/office/drawing/2014/main" id="{A19468F3-9F15-4863-A821-FA4D8121EDF0}"/>
              </a:ext>
            </a:extLst>
          </p:cNvPr>
          <p:cNvSpPr txBox="1">
            <a:spLocks noChangeArrowheads="1"/>
          </p:cNvSpPr>
          <p:nvPr/>
        </p:nvSpPr>
        <p:spPr bwMode="auto">
          <a:xfrm>
            <a:off x="1524000" y="901701"/>
            <a:ext cx="9144000"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nSpc>
                <a:spcPct val="96000"/>
              </a:lnSpc>
              <a:spcBef>
                <a:spcPct val="0"/>
              </a:spcBef>
              <a:buNone/>
            </a:pPr>
            <a:r>
              <a:rPr lang="en-GB" altLang="fr-FR" dirty="0" err="1">
                <a:solidFill>
                  <a:schemeClr val="accent2"/>
                </a:solidFill>
              </a:rPr>
              <a:t>Algorithme</a:t>
            </a:r>
            <a:r>
              <a:rPr lang="en-GB" altLang="fr-FR" dirty="0">
                <a:solidFill>
                  <a:schemeClr val="accent2"/>
                </a:solidFill>
              </a:rPr>
              <a:t> </a:t>
            </a:r>
            <a:r>
              <a:rPr lang="en-GB" altLang="fr-FR" dirty="0" smtClean="0">
                <a:solidFill>
                  <a:schemeClr val="accent2"/>
                </a:solidFill>
              </a:rPr>
              <a:t>ID3 (</a:t>
            </a:r>
            <a:r>
              <a:rPr lang="fr-FR" dirty="0" err="1">
                <a:solidFill>
                  <a:schemeClr val="accent2">
                    <a:lumMod val="75000"/>
                  </a:schemeClr>
                </a:solidFill>
              </a:rPr>
              <a:t>Iterative</a:t>
            </a:r>
            <a:r>
              <a:rPr lang="fr-FR" dirty="0">
                <a:solidFill>
                  <a:schemeClr val="accent2">
                    <a:lumMod val="75000"/>
                  </a:schemeClr>
                </a:solidFill>
              </a:rPr>
              <a:t> Dichotomiser 3 )</a:t>
            </a:r>
            <a:endParaRPr lang="en-GB" altLang="fr-FR" dirty="0">
              <a:solidFill>
                <a:schemeClr val="accent2">
                  <a:lumMod val="75000"/>
                </a:schemeClr>
              </a:solidFill>
            </a:endParaRPr>
          </a:p>
          <a:p>
            <a:pPr eaLnBrk="1" hangingPunct="1">
              <a:spcBef>
                <a:spcPct val="0"/>
              </a:spcBef>
              <a:buFont typeface="Arial" panose="020B0604020202020204" pitchFamily="34" charset="0"/>
              <a:buNone/>
            </a:pPr>
            <a:endParaRPr lang="en-GB" altLang="fr-FR" sz="1800" dirty="0">
              <a:solidFill>
                <a:schemeClr val="accent2"/>
              </a:solidFill>
            </a:endParaRPr>
          </a:p>
          <a:p>
            <a:pPr eaLnBrk="1" hangingPunct="1">
              <a:spcBef>
                <a:spcPct val="0"/>
              </a:spcBef>
              <a:buFont typeface="Arial" panose="020B0604020202020204" pitchFamily="34" charset="0"/>
              <a:buNone/>
            </a:pPr>
            <a:r>
              <a:rPr lang="en-GB" altLang="fr-FR" sz="1800" dirty="0">
                <a:solidFill>
                  <a:schemeClr val="tx1"/>
                </a:solidFill>
              </a:rPr>
              <a:t>Il </a:t>
            </a:r>
            <a:r>
              <a:rPr lang="en-GB" altLang="fr-FR" sz="1800" dirty="0" err="1">
                <a:solidFill>
                  <a:schemeClr val="tx1"/>
                </a:solidFill>
              </a:rPr>
              <a:t>construit</a:t>
            </a:r>
            <a:r>
              <a:rPr lang="en-GB" altLang="fr-FR" sz="1800" dirty="0">
                <a:solidFill>
                  <a:schemeClr val="tx1"/>
                </a:solidFill>
              </a:rPr>
              <a:t> les </a:t>
            </a:r>
            <a:r>
              <a:rPr lang="en-GB" altLang="fr-FR" sz="1800" dirty="0" err="1">
                <a:solidFill>
                  <a:schemeClr val="tx1"/>
                </a:solidFill>
              </a:rPr>
              <a:t>arbres</a:t>
            </a:r>
            <a:r>
              <a:rPr lang="en-GB" altLang="fr-FR" sz="1800" dirty="0">
                <a:solidFill>
                  <a:schemeClr val="tx1"/>
                </a:solidFill>
              </a:rPr>
              <a:t> de </a:t>
            </a:r>
            <a:r>
              <a:rPr lang="en-GB" altLang="fr-FR" sz="1800" dirty="0" err="1">
                <a:solidFill>
                  <a:schemeClr val="tx1"/>
                </a:solidFill>
              </a:rPr>
              <a:t>décision</a:t>
            </a:r>
            <a:r>
              <a:rPr lang="en-GB" altLang="fr-FR" sz="1800" dirty="0">
                <a:solidFill>
                  <a:schemeClr val="tx1"/>
                </a:solidFill>
              </a:rPr>
              <a:t> de haut </a:t>
            </a:r>
            <a:r>
              <a:rPr lang="en-GB" altLang="fr-FR" sz="1800" dirty="0" err="1">
                <a:solidFill>
                  <a:schemeClr val="tx1"/>
                </a:solidFill>
              </a:rPr>
              <a:t>en</a:t>
            </a:r>
            <a:r>
              <a:rPr lang="en-GB" altLang="fr-FR" sz="1800" dirty="0">
                <a:solidFill>
                  <a:schemeClr val="tx1"/>
                </a:solidFill>
              </a:rPr>
              <a:t> bas.</a:t>
            </a:r>
          </a:p>
          <a:p>
            <a:pPr eaLnBrk="1" hangingPunct="1">
              <a:spcBef>
                <a:spcPct val="0"/>
              </a:spcBef>
              <a:buFont typeface="Arial" panose="020B0604020202020204" pitchFamily="34" charset="0"/>
              <a:buNone/>
            </a:pPr>
            <a:endParaRPr lang="en-GB" altLang="fr-FR" sz="1800" dirty="0">
              <a:solidFill>
                <a:schemeClr val="tx1"/>
              </a:solidFill>
            </a:endParaRPr>
          </a:p>
          <a:p>
            <a:pPr eaLnBrk="1" hangingPunct="1">
              <a:spcBef>
                <a:spcPct val="0"/>
              </a:spcBef>
              <a:buFont typeface="Arial" panose="020B0604020202020204" pitchFamily="34" charset="0"/>
              <a:buNone/>
            </a:pPr>
            <a:r>
              <a:rPr lang="en-GB" altLang="fr-FR" sz="1800" dirty="0">
                <a:solidFill>
                  <a:schemeClr val="tx1"/>
                </a:solidFill>
              </a:rPr>
              <a:t>Il place à la </a:t>
            </a:r>
            <a:r>
              <a:rPr lang="en-GB" altLang="fr-FR" sz="1800" dirty="0" err="1">
                <a:solidFill>
                  <a:schemeClr val="tx1"/>
                </a:solidFill>
              </a:rPr>
              <a:t>racine</a:t>
            </a:r>
            <a:r>
              <a:rPr lang="en-GB" altLang="fr-FR" sz="1800" dirty="0">
                <a:solidFill>
                  <a:schemeClr val="tx1"/>
                </a:solidFill>
              </a:rPr>
              <a:t> </a:t>
            </a:r>
            <a:r>
              <a:rPr lang="en-GB" altLang="fr-FR" sz="1800" dirty="0" err="1">
                <a:solidFill>
                  <a:schemeClr val="tx1"/>
                </a:solidFill>
              </a:rPr>
              <a:t>l’attribut</a:t>
            </a:r>
            <a:r>
              <a:rPr lang="en-GB" altLang="fr-FR" sz="1800" dirty="0">
                <a:solidFill>
                  <a:schemeClr val="tx1"/>
                </a:solidFill>
              </a:rPr>
              <a:t> le plus important, </a:t>
            </a:r>
            <a:r>
              <a:rPr lang="en-GB" altLang="fr-FR" sz="1800" dirty="0" err="1">
                <a:solidFill>
                  <a:schemeClr val="tx1"/>
                </a:solidFill>
              </a:rPr>
              <a:t>c’est</a:t>
            </a:r>
            <a:r>
              <a:rPr lang="en-GB" altLang="fr-FR" sz="1800" dirty="0">
                <a:solidFill>
                  <a:schemeClr val="tx1"/>
                </a:solidFill>
              </a:rPr>
              <a:t>-à-dire </a:t>
            </a:r>
            <a:r>
              <a:rPr lang="en-GB" altLang="fr-FR" sz="1800" dirty="0" err="1">
                <a:solidFill>
                  <a:schemeClr val="tx1"/>
                </a:solidFill>
              </a:rPr>
              <a:t>celui</a:t>
            </a:r>
            <a:r>
              <a:rPr lang="en-GB" altLang="fr-FR" sz="1800" dirty="0">
                <a:solidFill>
                  <a:schemeClr val="tx1"/>
                </a:solidFill>
              </a:rPr>
              <a:t> qui </a:t>
            </a:r>
            <a:r>
              <a:rPr lang="en-GB" altLang="fr-FR" sz="1800" dirty="0" err="1">
                <a:solidFill>
                  <a:schemeClr val="tx1"/>
                </a:solidFill>
              </a:rPr>
              <a:t>sépare</a:t>
            </a:r>
            <a:r>
              <a:rPr lang="en-GB" altLang="fr-FR" sz="1800" dirty="0">
                <a:solidFill>
                  <a:schemeClr val="tx1"/>
                </a:solidFill>
              </a:rPr>
              <a:t> au </a:t>
            </a:r>
            <a:r>
              <a:rPr lang="en-GB" altLang="fr-FR" sz="1800" dirty="0" err="1">
                <a:solidFill>
                  <a:schemeClr val="tx1"/>
                </a:solidFill>
              </a:rPr>
              <a:t>mieux</a:t>
            </a:r>
            <a:r>
              <a:rPr lang="en-GB" altLang="fr-FR" sz="1800" dirty="0">
                <a:solidFill>
                  <a:schemeClr val="tx1"/>
                </a:solidFill>
              </a:rPr>
              <a:t> les </a:t>
            </a:r>
            <a:r>
              <a:rPr lang="en-GB" altLang="fr-FR" sz="1800" dirty="0" err="1">
                <a:solidFill>
                  <a:schemeClr val="tx1"/>
                </a:solidFill>
              </a:rPr>
              <a:t>exemples</a:t>
            </a:r>
            <a:r>
              <a:rPr lang="en-GB" altLang="fr-FR" sz="1800" dirty="0">
                <a:solidFill>
                  <a:schemeClr val="tx1"/>
                </a:solidFill>
              </a:rPr>
              <a:t> </a:t>
            </a:r>
            <a:r>
              <a:rPr lang="en-GB" altLang="fr-FR" sz="1800" dirty="0" err="1">
                <a:solidFill>
                  <a:schemeClr val="tx1"/>
                </a:solidFill>
              </a:rPr>
              <a:t>positifs</a:t>
            </a:r>
            <a:r>
              <a:rPr lang="en-GB" altLang="fr-FR" sz="1800" dirty="0">
                <a:solidFill>
                  <a:schemeClr val="tx1"/>
                </a:solidFill>
              </a:rPr>
              <a:t> et </a:t>
            </a:r>
            <a:r>
              <a:rPr lang="en-GB" altLang="fr-FR" sz="1800" dirty="0" err="1">
                <a:solidFill>
                  <a:schemeClr val="tx1"/>
                </a:solidFill>
              </a:rPr>
              <a:t>négatifs</a:t>
            </a:r>
            <a:r>
              <a:rPr lang="en-GB" altLang="fr-FR" sz="1800" dirty="0">
                <a:solidFill>
                  <a:schemeClr val="tx1"/>
                </a:solidFill>
              </a:rPr>
              <a:t>.</a:t>
            </a:r>
          </a:p>
          <a:p>
            <a:pPr eaLnBrk="1" hangingPunct="1">
              <a:spcBef>
                <a:spcPct val="0"/>
              </a:spcBef>
              <a:buFont typeface="Arial" panose="020B0604020202020204" pitchFamily="34" charset="0"/>
              <a:buNone/>
            </a:pPr>
            <a:endParaRPr lang="en-GB" altLang="fr-FR" sz="1800" dirty="0">
              <a:solidFill>
                <a:schemeClr val="tx1"/>
              </a:solidFill>
            </a:endParaRPr>
          </a:p>
          <a:p>
            <a:pPr eaLnBrk="1" hangingPunct="1">
              <a:spcBef>
                <a:spcPct val="0"/>
              </a:spcBef>
              <a:buFont typeface="Arial" panose="020B0604020202020204" pitchFamily="34" charset="0"/>
              <a:buNone/>
            </a:pPr>
            <a:r>
              <a:rPr lang="en-GB" altLang="fr-FR" sz="1800" dirty="0">
                <a:solidFill>
                  <a:schemeClr val="tx1"/>
                </a:solidFill>
              </a:rPr>
              <a:t>Par la suite, il y a un nouveau </a:t>
            </a:r>
            <a:r>
              <a:rPr lang="en-GB" altLang="fr-FR" sz="1800" dirty="0" err="1">
                <a:solidFill>
                  <a:schemeClr val="tx1"/>
                </a:solidFill>
              </a:rPr>
              <a:t>noeud</a:t>
            </a:r>
            <a:r>
              <a:rPr lang="en-GB" altLang="fr-FR" sz="1800" dirty="0">
                <a:solidFill>
                  <a:schemeClr val="tx1"/>
                </a:solidFill>
              </a:rPr>
              <a:t> pour </a:t>
            </a:r>
            <a:r>
              <a:rPr lang="en-GB" altLang="fr-FR" sz="1800" dirty="0" err="1">
                <a:solidFill>
                  <a:schemeClr val="tx1"/>
                </a:solidFill>
              </a:rPr>
              <a:t>chacune</a:t>
            </a:r>
            <a:r>
              <a:rPr lang="en-GB" altLang="fr-FR" sz="1800" dirty="0">
                <a:solidFill>
                  <a:schemeClr val="tx1"/>
                </a:solidFill>
              </a:rPr>
              <a:t> des </a:t>
            </a:r>
            <a:r>
              <a:rPr lang="en-GB" altLang="fr-FR" sz="1800" dirty="0" err="1">
                <a:solidFill>
                  <a:schemeClr val="tx1"/>
                </a:solidFill>
              </a:rPr>
              <a:t>valeurs</a:t>
            </a:r>
            <a:r>
              <a:rPr lang="en-GB" altLang="fr-FR" sz="1800" dirty="0">
                <a:solidFill>
                  <a:schemeClr val="tx1"/>
                </a:solidFill>
              </a:rPr>
              <a:t> </a:t>
            </a:r>
            <a:r>
              <a:rPr lang="en-GB" altLang="fr-FR" sz="1800" dirty="0" err="1">
                <a:solidFill>
                  <a:schemeClr val="tx1"/>
                </a:solidFill>
              </a:rPr>
              <a:t>possibles</a:t>
            </a:r>
            <a:r>
              <a:rPr lang="en-GB" altLang="fr-FR" sz="1800" dirty="0">
                <a:solidFill>
                  <a:schemeClr val="tx1"/>
                </a:solidFill>
              </a:rPr>
              <a:t> de </a:t>
            </a:r>
            <a:r>
              <a:rPr lang="en-GB" altLang="fr-FR" sz="1800" dirty="0" err="1">
                <a:solidFill>
                  <a:schemeClr val="tx1"/>
                </a:solidFill>
              </a:rPr>
              <a:t>cet</a:t>
            </a:r>
            <a:r>
              <a:rPr lang="en-GB" altLang="fr-FR" sz="1800" dirty="0">
                <a:solidFill>
                  <a:schemeClr val="tx1"/>
                </a:solidFill>
              </a:rPr>
              <a:t> </a:t>
            </a:r>
            <a:r>
              <a:rPr lang="fr-FR" altLang="fr-FR" sz="1800" dirty="0">
                <a:solidFill>
                  <a:schemeClr val="tx1"/>
                </a:solidFill>
              </a:rPr>
              <a:t>attribut</a:t>
            </a:r>
            <a:r>
              <a:rPr lang="en-GB" altLang="fr-FR" sz="1800" dirty="0">
                <a:solidFill>
                  <a:schemeClr val="tx1"/>
                </a:solidFill>
              </a:rPr>
              <a:t>.</a:t>
            </a:r>
          </a:p>
          <a:p>
            <a:pPr eaLnBrk="1" hangingPunct="1">
              <a:spcBef>
                <a:spcPct val="0"/>
              </a:spcBef>
              <a:buFont typeface="Arial" panose="020B0604020202020204" pitchFamily="34" charset="0"/>
              <a:buNone/>
            </a:pPr>
            <a:r>
              <a:rPr lang="en-GB" altLang="fr-FR" sz="1800" dirty="0">
                <a:solidFill>
                  <a:schemeClr val="tx1"/>
                </a:solidFill>
              </a:rPr>
              <a:t>Pour </a:t>
            </a:r>
            <a:r>
              <a:rPr lang="en-GB" altLang="fr-FR" sz="1800" dirty="0" err="1">
                <a:solidFill>
                  <a:schemeClr val="tx1"/>
                </a:solidFill>
              </a:rPr>
              <a:t>chacun</a:t>
            </a:r>
            <a:r>
              <a:rPr lang="en-GB" altLang="fr-FR" sz="1800" dirty="0">
                <a:solidFill>
                  <a:schemeClr val="tx1"/>
                </a:solidFill>
              </a:rPr>
              <a:t> de </a:t>
            </a:r>
            <a:r>
              <a:rPr lang="en-GB" altLang="fr-FR" sz="1800" dirty="0" err="1">
                <a:solidFill>
                  <a:schemeClr val="tx1"/>
                </a:solidFill>
              </a:rPr>
              <a:t>ces</a:t>
            </a:r>
            <a:r>
              <a:rPr lang="en-GB" altLang="fr-FR" sz="1800" dirty="0">
                <a:solidFill>
                  <a:schemeClr val="tx1"/>
                </a:solidFill>
              </a:rPr>
              <a:t> </a:t>
            </a:r>
            <a:r>
              <a:rPr lang="en-GB" altLang="fr-FR" sz="1800" dirty="0" err="1">
                <a:solidFill>
                  <a:schemeClr val="tx1"/>
                </a:solidFill>
              </a:rPr>
              <a:t>noeuds</a:t>
            </a:r>
            <a:r>
              <a:rPr lang="en-GB" altLang="fr-FR" sz="1800" dirty="0">
                <a:solidFill>
                  <a:schemeClr val="tx1"/>
                </a:solidFill>
              </a:rPr>
              <a:t>, on recommence le test avec le sous-ensemble des </a:t>
            </a:r>
            <a:r>
              <a:rPr lang="en-GB" altLang="fr-FR" sz="1800" dirty="0" err="1">
                <a:solidFill>
                  <a:schemeClr val="tx1"/>
                </a:solidFill>
              </a:rPr>
              <a:t>exemples</a:t>
            </a:r>
            <a:r>
              <a:rPr lang="en-GB" altLang="fr-FR" sz="1800" dirty="0">
                <a:solidFill>
                  <a:schemeClr val="tx1"/>
                </a:solidFill>
              </a:rPr>
              <a:t> </a:t>
            </a:r>
            <a:r>
              <a:rPr lang="en-GB" altLang="fr-FR" sz="1800" dirty="0" err="1">
                <a:solidFill>
                  <a:schemeClr val="tx1"/>
                </a:solidFill>
              </a:rPr>
              <a:t>d'entraînement</a:t>
            </a:r>
            <a:r>
              <a:rPr lang="en-GB" altLang="fr-FR" sz="1800" dirty="0">
                <a:solidFill>
                  <a:schemeClr val="tx1"/>
                </a:solidFill>
              </a:rPr>
              <a:t> qui </a:t>
            </a:r>
            <a:r>
              <a:rPr lang="en-GB" altLang="fr-FR" sz="1800" dirty="0" err="1">
                <a:solidFill>
                  <a:schemeClr val="tx1"/>
                </a:solidFill>
              </a:rPr>
              <a:t>ont</a:t>
            </a:r>
            <a:r>
              <a:rPr lang="en-GB" altLang="fr-FR" sz="1800" dirty="0">
                <a:solidFill>
                  <a:schemeClr val="tx1"/>
                </a:solidFill>
              </a:rPr>
              <a:t> </a:t>
            </a:r>
            <a:r>
              <a:rPr lang="en-GB" altLang="fr-FR" sz="1800" dirty="0" err="1">
                <a:solidFill>
                  <a:schemeClr val="tx1"/>
                </a:solidFill>
              </a:rPr>
              <a:t>été</a:t>
            </a:r>
            <a:r>
              <a:rPr lang="en-GB" altLang="fr-FR" sz="1800" dirty="0">
                <a:solidFill>
                  <a:schemeClr val="tx1"/>
                </a:solidFill>
              </a:rPr>
              <a:t> </a:t>
            </a:r>
            <a:r>
              <a:rPr lang="en-GB" altLang="fr-FR" sz="1800" dirty="0" err="1">
                <a:solidFill>
                  <a:schemeClr val="tx1"/>
                </a:solidFill>
              </a:rPr>
              <a:t>classés</a:t>
            </a:r>
            <a:r>
              <a:rPr lang="en-GB" altLang="fr-FR" sz="1800" dirty="0">
                <a:solidFill>
                  <a:schemeClr val="tx1"/>
                </a:solidFill>
              </a:rPr>
              <a:t> dans </a:t>
            </a:r>
            <a:r>
              <a:rPr lang="en-GB" altLang="fr-FR" sz="1800" dirty="0" err="1">
                <a:solidFill>
                  <a:schemeClr val="tx1"/>
                </a:solidFill>
              </a:rPr>
              <a:t>ce</a:t>
            </a:r>
            <a:r>
              <a:rPr lang="en-GB" altLang="fr-FR" sz="1800" dirty="0">
                <a:solidFill>
                  <a:schemeClr val="tx1"/>
                </a:solidFill>
              </a:rPr>
              <a:t> </a:t>
            </a:r>
            <a:r>
              <a:rPr lang="en-GB" altLang="fr-FR" sz="1800" dirty="0" err="1">
                <a:solidFill>
                  <a:schemeClr val="tx1"/>
                </a:solidFill>
              </a:rPr>
              <a:t>noeud</a:t>
            </a:r>
            <a:r>
              <a:rPr lang="en-GB" altLang="fr-FR" sz="1800" dirty="0">
                <a:solidFill>
                  <a:schemeClr val="tx1"/>
                </a:solidFill>
              </a:rPr>
              <a:t>.</a:t>
            </a:r>
          </a:p>
        </p:txBody>
      </p:sp>
      <p:grpSp>
        <p:nvGrpSpPr>
          <p:cNvPr id="40963" name="Group 2">
            <a:extLst>
              <a:ext uri="{FF2B5EF4-FFF2-40B4-BE49-F238E27FC236}">
                <a16:creationId xmlns="" xmlns:a16="http://schemas.microsoft.com/office/drawing/2014/main" id="{EC911170-25DB-4500-A165-FBB0B577782C}"/>
              </a:ext>
            </a:extLst>
          </p:cNvPr>
          <p:cNvGrpSpPr>
            <a:grpSpLocks/>
          </p:cNvGrpSpPr>
          <p:nvPr/>
        </p:nvGrpSpPr>
        <p:grpSpPr bwMode="auto">
          <a:xfrm>
            <a:off x="1524001" y="44451"/>
            <a:ext cx="9142413" cy="365125"/>
            <a:chOff x="0" y="28"/>
            <a:chExt cx="5759" cy="230"/>
          </a:xfrm>
        </p:grpSpPr>
        <p:sp>
          <p:nvSpPr>
            <p:cNvPr id="40967" name="AutoShape 3">
              <a:extLst>
                <a:ext uri="{FF2B5EF4-FFF2-40B4-BE49-F238E27FC236}">
                  <a16:creationId xmlns="" xmlns:a16="http://schemas.microsoft.com/office/drawing/2014/main" id="{E1EADD3E-1E74-4518-8738-3A3CDB55376B}"/>
                </a:ext>
              </a:extLst>
            </p:cNvPr>
            <p:cNvSpPr>
              <a:spLocks noChangeArrowheads="1"/>
            </p:cNvSpPr>
            <p:nvPr/>
          </p:nvSpPr>
          <p:spPr bwMode="auto">
            <a:xfrm>
              <a:off x="0" y="28"/>
              <a:ext cx="5760" cy="231"/>
            </a:xfrm>
            <a:prstGeom prst="roundRect">
              <a:avLst>
                <a:gd name="adj" fmla="val 431"/>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endParaRPr lang="fr-FR" altLang="fr-FR" sz="1800">
                <a:latin typeface="Times New Roman" panose="02020603050405020304" pitchFamily="18" charset="0"/>
              </a:endParaRPr>
            </a:p>
          </p:txBody>
        </p:sp>
        <p:sp>
          <p:nvSpPr>
            <p:cNvPr id="40968" name="Text Box 4">
              <a:extLst>
                <a:ext uri="{FF2B5EF4-FFF2-40B4-BE49-F238E27FC236}">
                  <a16:creationId xmlns="" xmlns:a16="http://schemas.microsoft.com/office/drawing/2014/main" id="{9975BA24-F112-48B1-876F-D6598C8EBB08}"/>
                </a:ext>
              </a:extLst>
            </p:cNvPr>
            <p:cNvSpPr txBox="1">
              <a:spLocks noChangeArrowheads="1"/>
            </p:cNvSpPr>
            <p:nvPr/>
          </p:nvSpPr>
          <p:spPr bwMode="auto">
            <a:xfrm>
              <a:off x="0" y="28"/>
              <a:ext cx="57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1800">
                  <a:solidFill>
                    <a:schemeClr val="tx1"/>
                  </a:solidFill>
                </a:rPr>
                <a:t>Intelligence Artificielle 		Apprentissage			</a:t>
              </a:r>
            </a:p>
          </p:txBody>
        </p:sp>
      </p:grpSp>
      <p:pic>
        <p:nvPicPr>
          <p:cNvPr id="40964" name="Picture 5">
            <a:extLst>
              <a:ext uri="{FF2B5EF4-FFF2-40B4-BE49-F238E27FC236}">
                <a16:creationId xmlns="" xmlns:a16="http://schemas.microsoft.com/office/drawing/2014/main" id="{16CEB3BE-43B0-4CBC-8DAC-FDD1441361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7825" y="4078288"/>
            <a:ext cx="5905500" cy="273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1">
            <a:extLst>
              <a:ext uri="{FF2B5EF4-FFF2-40B4-BE49-F238E27FC236}">
                <a16:creationId xmlns="" xmlns:a16="http://schemas.microsoft.com/office/drawing/2014/main" id="{06E2124A-315D-4357-A212-635383098EC2}"/>
              </a:ext>
            </a:extLst>
          </p:cNvPr>
          <p:cNvSpPr>
            <a:spLocks noChangeArrowheads="1"/>
          </p:cNvSpPr>
          <p:nvPr/>
        </p:nvSpPr>
        <p:spPr bwMode="auto">
          <a:xfrm>
            <a:off x="1674814" y="542925"/>
            <a:ext cx="817562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2400" b="1" dirty="0">
                <a:solidFill>
                  <a:schemeClr val="tx1"/>
                </a:solidFill>
              </a:rPr>
              <a:t>Le </a:t>
            </a:r>
            <a:r>
              <a:rPr lang="en-GB" altLang="fr-FR" sz="2400" b="1" dirty="0" err="1">
                <a:solidFill>
                  <a:schemeClr val="tx1"/>
                </a:solidFill>
              </a:rPr>
              <a:t>Choix</a:t>
            </a:r>
            <a:r>
              <a:rPr lang="en-GB" altLang="fr-FR" sz="2400" b="1" dirty="0">
                <a:solidFill>
                  <a:schemeClr val="tx1"/>
                </a:solidFill>
              </a:rPr>
              <a:t> du </a:t>
            </a:r>
            <a:r>
              <a:rPr lang="en-GB" altLang="fr-FR" sz="2400" b="1" dirty="0" err="1">
                <a:solidFill>
                  <a:schemeClr val="tx1"/>
                </a:solidFill>
              </a:rPr>
              <a:t>meilleur</a:t>
            </a:r>
            <a:r>
              <a:rPr lang="en-GB" altLang="fr-FR" sz="2400" b="1" dirty="0">
                <a:solidFill>
                  <a:schemeClr val="tx1"/>
                </a:solidFill>
              </a:rPr>
              <a:t> </a:t>
            </a:r>
            <a:r>
              <a:rPr lang="en-GB" altLang="fr-FR" sz="2400" b="1" dirty="0" err="1">
                <a:solidFill>
                  <a:schemeClr val="tx1"/>
                </a:solidFill>
              </a:rPr>
              <a:t>Attribut</a:t>
            </a:r>
            <a:r>
              <a:rPr lang="en-GB" altLang="fr-FR" sz="2400" b="1" dirty="0">
                <a:solidFill>
                  <a:schemeClr val="tx1"/>
                </a:solidFill>
              </a:rPr>
              <a:t> ( </a:t>
            </a:r>
            <a:r>
              <a:rPr lang="en-GB" altLang="fr-FR" sz="2400" b="1" dirty="0" err="1">
                <a:solidFill>
                  <a:schemeClr val="tx1"/>
                </a:solidFill>
              </a:rPr>
              <a:t>plusieurs</a:t>
            </a:r>
            <a:r>
              <a:rPr lang="en-GB" altLang="fr-FR" sz="2400" b="1" dirty="0">
                <a:solidFill>
                  <a:schemeClr val="tx1"/>
                </a:solidFill>
              </a:rPr>
              <a:t> </a:t>
            </a:r>
            <a:r>
              <a:rPr lang="en-GB" altLang="fr-FR" sz="2400" b="1" dirty="0" err="1">
                <a:solidFill>
                  <a:schemeClr val="tx1"/>
                </a:solidFill>
              </a:rPr>
              <a:t>Algorithmes</a:t>
            </a:r>
            <a:r>
              <a:rPr lang="en-GB" altLang="fr-FR" sz="2400" b="1" dirty="0">
                <a:solidFill>
                  <a:schemeClr val="tx1"/>
                </a:solidFill>
              </a:rPr>
              <a:t>)</a:t>
            </a:r>
          </a:p>
        </p:txBody>
      </p:sp>
      <p:sp>
        <p:nvSpPr>
          <p:cNvPr id="2" name="Slide Number Placeholder 1">
            <a:extLst>
              <a:ext uri="{FF2B5EF4-FFF2-40B4-BE49-F238E27FC236}">
                <a16:creationId xmlns="" xmlns:a16="http://schemas.microsoft.com/office/drawing/2014/main" id="{025D69DB-BADA-4FD7-B16F-C8E806117CD3}"/>
              </a:ext>
            </a:extLst>
          </p:cNvPr>
          <p:cNvSpPr>
            <a:spLocks noGrp="1"/>
          </p:cNvSpPr>
          <p:nvPr>
            <p:ph type="sldNum" sz="quarter" idx="12"/>
          </p:nvPr>
        </p:nvSpPr>
        <p:spPr/>
        <p:txBody>
          <a:bodyPr/>
          <a:lstStyle/>
          <a:p>
            <a:fld id="{EE5DF52D-0FE0-4249-9023-8B500BDB729B}" type="slidenum">
              <a:rPr lang="fr-FR" smtClean="0"/>
              <a:pPr/>
              <a:t>17</a:t>
            </a:fld>
            <a:endParaRPr lang="fr-FR"/>
          </a:p>
        </p:txBody>
      </p:sp>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1">
            <a:extLst>
              <a:ext uri="{FF2B5EF4-FFF2-40B4-BE49-F238E27FC236}">
                <a16:creationId xmlns="" xmlns:a16="http://schemas.microsoft.com/office/drawing/2014/main" id="{436800AA-EDDE-4ECB-BE63-B4426C0FCB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088" y="1317375"/>
            <a:ext cx="6913562"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011" name="Group 2">
            <a:extLst>
              <a:ext uri="{FF2B5EF4-FFF2-40B4-BE49-F238E27FC236}">
                <a16:creationId xmlns="" xmlns:a16="http://schemas.microsoft.com/office/drawing/2014/main" id="{0E7EBDB9-1015-4EF1-8805-1E782A185834}"/>
              </a:ext>
            </a:extLst>
          </p:cNvPr>
          <p:cNvGrpSpPr>
            <a:grpSpLocks/>
          </p:cNvGrpSpPr>
          <p:nvPr/>
        </p:nvGrpSpPr>
        <p:grpSpPr bwMode="auto">
          <a:xfrm>
            <a:off x="1524001" y="44451"/>
            <a:ext cx="9142413" cy="365125"/>
            <a:chOff x="0" y="28"/>
            <a:chExt cx="5759" cy="230"/>
          </a:xfrm>
        </p:grpSpPr>
        <p:sp>
          <p:nvSpPr>
            <p:cNvPr id="43013" name="AutoShape 3">
              <a:extLst>
                <a:ext uri="{FF2B5EF4-FFF2-40B4-BE49-F238E27FC236}">
                  <a16:creationId xmlns="" xmlns:a16="http://schemas.microsoft.com/office/drawing/2014/main" id="{63ECD2ED-5BC0-4B4A-9D52-4C652B23C46E}"/>
                </a:ext>
              </a:extLst>
            </p:cNvPr>
            <p:cNvSpPr>
              <a:spLocks noChangeArrowheads="1"/>
            </p:cNvSpPr>
            <p:nvPr/>
          </p:nvSpPr>
          <p:spPr bwMode="auto">
            <a:xfrm>
              <a:off x="0" y="28"/>
              <a:ext cx="5760" cy="231"/>
            </a:xfrm>
            <a:prstGeom prst="roundRect">
              <a:avLst>
                <a:gd name="adj" fmla="val 431"/>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endParaRPr lang="fr-FR" altLang="fr-FR" sz="1800">
                <a:latin typeface="Times New Roman" panose="02020603050405020304" pitchFamily="18" charset="0"/>
              </a:endParaRPr>
            </a:p>
          </p:txBody>
        </p:sp>
        <p:sp>
          <p:nvSpPr>
            <p:cNvPr id="43014" name="Text Box 4">
              <a:extLst>
                <a:ext uri="{FF2B5EF4-FFF2-40B4-BE49-F238E27FC236}">
                  <a16:creationId xmlns="" xmlns:a16="http://schemas.microsoft.com/office/drawing/2014/main" id="{D518BD7D-ADF6-43CA-A765-2D7D60DC4442}"/>
                </a:ext>
              </a:extLst>
            </p:cNvPr>
            <p:cNvSpPr txBox="1">
              <a:spLocks noChangeArrowheads="1"/>
            </p:cNvSpPr>
            <p:nvPr/>
          </p:nvSpPr>
          <p:spPr bwMode="auto">
            <a:xfrm>
              <a:off x="0" y="28"/>
              <a:ext cx="57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1800">
                  <a:solidFill>
                    <a:schemeClr val="tx1"/>
                  </a:solidFill>
                </a:rPr>
                <a:t>Intelligence Artificielle 		Apprentissage			</a:t>
              </a:r>
            </a:p>
          </p:txBody>
        </p:sp>
      </p:grpSp>
      <p:sp>
        <p:nvSpPr>
          <p:cNvPr id="43012" name="Rectangle 6">
            <a:extLst>
              <a:ext uri="{FF2B5EF4-FFF2-40B4-BE49-F238E27FC236}">
                <a16:creationId xmlns="" xmlns:a16="http://schemas.microsoft.com/office/drawing/2014/main" id="{64AC8EF9-C700-4AB3-9826-925E3CF5B0A3}"/>
              </a:ext>
            </a:extLst>
          </p:cNvPr>
          <p:cNvSpPr>
            <a:spLocks noChangeArrowheads="1"/>
          </p:cNvSpPr>
          <p:nvPr/>
        </p:nvSpPr>
        <p:spPr bwMode="auto">
          <a:xfrm>
            <a:off x="2351088" y="5589588"/>
            <a:ext cx="6673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FR" altLang="fr-FR" sz="1800">
                <a:solidFill>
                  <a:srgbClr val="FF0000"/>
                </a:solidFill>
                <a:latin typeface="Times New Roman" panose="02020603050405020304" pitchFamily="18" charset="0"/>
              </a:rPr>
              <a:t>l’Entropie mesure alors le degré de l’hétérogénité  dans une population</a:t>
            </a:r>
          </a:p>
        </p:txBody>
      </p:sp>
      <p:sp>
        <p:nvSpPr>
          <p:cNvPr id="2" name="Slide Number Placeholder 1">
            <a:extLst>
              <a:ext uri="{FF2B5EF4-FFF2-40B4-BE49-F238E27FC236}">
                <a16:creationId xmlns="" xmlns:a16="http://schemas.microsoft.com/office/drawing/2014/main" id="{05FC5B7F-A086-43C2-85BA-CA571DD53731}"/>
              </a:ext>
            </a:extLst>
          </p:cNvPr>
          <p:cNvSpPr>
            <a:spLocks noGrp="1"/>
          </p:cNvSpPr>
          <p:nvPr>
            <p:ph type="sldNum" sz="quarter" idx="12"/>
          </p:nvPr>
        </p:nvSpPr>
        <p:spPr/>
        <p:txBody>
          <a:bodyPr/>
          <a:lstStyle/>
          <a:p>
            <a:fld id="{EE5DF52D-0FE0-4249-9023-8B500BDB729B}" type="slidenum">
              <a:rPr lang="fr-FR" smtClean="0"/>
              <a:pPr/>
              <a:t>18</a:t>
            </a:fld>
            <a:endParaRPr lang="fr-FR"/>
          </a:p>
        </p:txBody>
      </p:sp>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1">
            <a:extLst>
              <a:ext uri="{FF2B5EF4-FFF2-40B4-BE49-F238E27FC236}">
                <a16:creationId xmlns="" xmlns:a16="http://schemas.microsoft.com/office/drawing/2014/main" id="{B21E8882-EF35-4B04-9081-FAADD23C1182}"/>
              </a:ext>
            </a:extLst>
          </p:cNvPr>
          <p:cNvSpPr txBox="1">
            <a:spLocks noChangeArrowheads="1"/>
          </p:cNvSpPr>
          <p:nvPr/>
        </p:nvSpPr>
        <p:spPr bwMode="auto">
          <a:xfrm>
            <a:off x="1452563" y="873063"/>
            <a:ext cx="9396413" cy="4847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2800" dirty="0" err="1">
                <a:solidFill>
                  <a:schemeClr val="accent2"/>
                </a:solidFill>
              </a:rPr>
              <a:t>Choix</a:t>
            </a:r>
            <a:r>
              <a:rPr lang="en-GB" altLang="fr-FR" sz="2800" dirty="0">
                <a:solidFill>
                  <a:schemeClr val="accent2"/>
                </a:solidFill>
              </a:rPr>
              <a:t> de </a:t>
            </a:r>
            <a:r>
              <a:rPr lang="en-GB" altLang="fr-FR" sz="2800" dirty="0" err="1">
                <a:solidFill>
                  <a:schemeClr val="accent2"/>
                </a:solidFill>
              </a:rPr>
              <a:t>l’attribut</a:t>
            </a:r>
            <a:endParaRPr lang="en-GB" altLang="fr-FR" sz="2800" dirty="0">
              <a:solidFill>
                <a:schemeClr val="accent2"/>
              </a:solidFill>
            </a:endParaRPr>
          </a:p>
          <a:p>
            <a:pPr eaLnBrk="1" hangingPunct="1">
              <a:spcBef>
                <a:spcPct val="0"/>
              </a:spcBef>
              <a:buFont typeface="Arial" panose="020B0604020202020204" pitchFamily="34" charset="0"/>
              <a:buNone/>
            </a:pPr>
            <a:r>
              <a:rPr lang="en-GB" altLang="fr-FR" sz="1800" dirty="0">
                <a:solidFill>
                  <a:schemeClr val="tx1"/>
                </a:solidFill>
              </a:rPr>
              <a:t>On </a:t>
            </a:r>
            <a:r>
              <a:rPr lang="en-GB" altLang="fr-FR" sz="1800" dirty="0" err="1">
                <a:solidFill>
                  <a:schemeClr val="tx1"/>
                </a:solidFill>
              </a:rPr>
              <a:t>choisit</a:t>
            </a:r>
            <a:r>
              <a:rPr lang="en-GB" altLang="fr-FR" sz="1800" dirty="0">
                <a:solidFill>
                  <a:schemeClr val="tx1"/>
                </a:solidFill>
              </a:rPr>
              <a:t> </a:t>
            </a:r>
            <a:r>
              <a:rPr lang="en-GB" altLang="fr-FR" sz="1800" dirty="0" err="1">
                <a:solidFill>
                  <a:schemeClr val="tx1"/>
                </a:solidFill>
              </a:rPr>
              <a:t>l'attribut</a:t>
            </a:r>
            <a:r>
              <a:rPr lang="en-GB" altLang="fr-FR" sz="1800" dirty="0">
                <a:solidFill>
                  <a:schemeClr val="tx1"/>
                </a:solidFill>
              </a:rPr>
              <a:t> </a:t>
            </a:r>
            <a:r>
              <a:rPr lang="en-GB" altLang="fr-FR" sz="1800" dirty="0" err="1">
                <a:solidFill>
                  <a:schemeClr val="tx1"/>
                </a:solidFill>
              </a:rPr>
              <a:t>ayant</a:t>
            </a:r>
            <a:r>
              <a:rPr lang="en-GB" altLang="fr-FR" sz="1800" dirty="0">
                <a:solidFill>
                  <a:schemeClr val="tx1"/>
                </a:solidFill>
              </a:rPr>
              <a:t> le </a:t>
            </a:r>
            <a:r>
              <a:rPr lang="en-GB" altLang="fr-FR" sz="1800" dirty="0" err="1">
                <a:solidFill>
                  <a:schemeClr val="tx1"/>
                </a:solidFill>
              </a:rPr>
              <a:t>meilleur</a:t>
            </a:r>
            <a:r>
              <a:rPr lang="en-GB" altLang="fr-FR" sz="1800" dirty="0">
                <a:solidFill>
                  <a:schemeClr val="tx1"/>
                </a:solidFill>
              </a:rPr>
              <a:t> gain </a:t>
            </a:r>
            <a:r>
              <a:rPr lang="en-GB" altLang="fr-FR" sz="1800" dirty="0" err="1">
                <a:solidFill>
                  <a:schemeClr val="tx1"/>
                </a:solidFill>
              </a:rPr>
              <a:t>d'information</a:t>
            </a:r>
            <a:r>
              <a:rPr lang="en-GB" altLang="fr-FR" sz="1800" dirty="0">
                <a:solidFill>
                  <a:schemeClr val="tx1"/>
                </a:solidFill>
              </a:rPr>
              <a:t>:</a:t>
            </a:r>
          </a:p>
          <a:p>
            <a:pPr eaLnBrk="1" hangingPunct="1">
              <a:spcBef>
                <a:spcPct val="0"/>
              </a:spcBef>
              <a:buFont typeface="Arial" panose="020B0604020202020204" pitchFamily="34" charset="0"/>
              <a:buNone/>
            </a:pPr>
            <a:endParaRPr lang="en-GB" altLang="fr-FR" sz="1800" dirty="0">
              <a:solidFill>
                <a:schemeClr val="tx1"/>
              </a:solidFill>
            </a:endParaRPr>
          </a:p>
          <a:p>
            <a:pPr eaLnBrk="1" hangingPunct="1">
              <a:spcBef>
                <a:spcPct val="0"/>
              </a:spcBef>
              <a:buFont typeface="Arial" panose="020B0604020202020204" pitchFamily="34" charset="0"/>
              <a:buNone/>
            </a:pPr>
            <a:endParaRPr lang="en-GB" altLang="fr-FR" sz="1800" dirty="0">
              <a:solidFill>
                <a:schemeClr val="tx1"/>
              </a:solidFill>
            </a:endParaRPr>
          </a:p>
          <a:p>
            <a:pPr eaLnBrk="1" hangingPunct="1">
              <a:spcBef>
                <a:spcPct val="0"/>
              </a:spcBef>
              <a:buFont typeface="Arial" panose="020B0604020202020204" pitchFamily="34" charset="0"/>
              <a:buNone/>
            </a:pPr>
            <a:endParaRPr lang="en-GB" altLang="fr-FR" sz="1800" dirty="0">
              <a:solidFill>
                <a:schemeClr val="tx1"/>
              </a:solidFill>
            </a:endParaRPr>
          </a:p>
          <a:p>
            <a:pPr eaLnBrk="1" hangingPunct="1">
              <a:spcBef>
                <a:spcPct val="0"/>
              </a:spcBef>
              <a:buFont typeface="Arial" panose="020B0604020202020204" pitchFamily="34" charset="0"/>
              <a:buNone/>
            </a:pPr>
            <a:endParaRPr lang="en-GB" altLang="fr-FR" sz="1800" dirty="0">
              <a:solidFill>
                <a:schemeClr val="tx1"/>
              </a:solidFill>
            </a:endParaRPr>
          </a:p>
          <a:p>
            <a:pPr eaLnBrk="1" hangingPunct="1">
              <a:spcBef>
                <a:spcPct val="0"/>
              </a:spcBef>
              <a:buFont typeface="Arial" panose="020B0604020202020204" pitchFamily="34" charset="0"/>
              <a:buNone/>
            </a:pPr>
            <a:endParaRPr lang="en-GB" altLang="fr-FR" sz="1800" dirty="0">
              <a:solidFill>
                <a:schemeClr val="tx1"/>
              </a:solidFill>
            </a:endParaRPr>
          </a:p>
          <a:p>
            <a:pPr eaLnBrk="1" hangingPunct="1">
              <a:spcBef>
                <a:spcPct val="0"/>
              </a:spcBef>
              <a:buFont typeface="Arial" panose="020B0604020202020204" pitchFamily="34" charset="0"/>
              <a:buNone/>
            </a:pPr>
            <a:endParaRPr lang="en-GB" altLang="fr-FR" sz="1800" dirty="0">
              <a:solidFill>
                <a:schemeClr val="tx1"/>
              </a:solidFill>
            </a:endParaRPr>
          </a:p>
          <a:p>
            <a:pPr eaLnBrk="1" hangingPunct="1">
              <a:spcBef>
                <a:spcPct val="0"/>
              </a:spcBef>
              <a:buFont typeface="Arial" panose="020B0604020202020204" pitchFamily="34" charset="0"/>
              <a:buNone/>
            </a:pPr>
            <a:endParaRPr lang="en-GB" altLang="fr-FR" sz="1800" dirty="0">
              <a:solidFill>
                <a:schemeClr val="tx1"/>
              </a:solidFill>
            </a:endParaRPr>
          </a:p>
          <a:p>
            <a:pPr eaLnBrk="1" hangingPunct="1">
              <a:spcBef>
                <a:spcPct val="0"/>
              </a:spcBef>
              <a:buFont typeface="Arial" panose="020B0604020202020204" pitchFamily="34" charset="0"/>
              <a:buNone/>
            </a:pPr>
            <a:endParaRPr lang="en-GB" altLang="fr-FR" sz="1800" dirty="0">
              <a:solidFill>
                <a:schemeClr val="tx1"/>
              </a:solidFill>
            </a:endParaRPr>
          </a:p>
          <a:p>
            <a:pPr eaLnBrk="1" hangingPunct="1">
              <a:spcBef>
                <a:spcPct val="0"/>
              </a:spcBef>
              <a:buFont typeface="Arial" panose="020B0604020202020204" pitchFamily="34" charset="0"/>
              <a:buNone/>
            </a:pPr>
            <a:endParaRPr lang="en-GB" altLang="fr-FR" sz="1800" dirty="0">
              <a:solidFill>
                <a:schemeClr val="tx1"/>
              </a:solidFill>
            </a:endParaRPr>
          </a:p>
          <a:p>
            <a:pPr eaLnBrk="1" hangingPunct="1">
              <a:spcBef>
                <a:spcPct val="0"/>
              </a:spcBef>
              <a:buFont typeface="Arial" panose="020B0604020202020204" pitchFamily="34" charset="0"/>
              <a:buNone/>
            </a:pPr>
            <a:endParaRPr lang="en-GB" altLang="fr-FR" sz="1800" dirty="0">
              <a:solidFill>
                <a:schemeClr val="tx1"/>
              </a:solidFill>
            </a:endParaRPr>
          </a:p>
          <a:p>
            <a:pPr eaLnBrk="1" hangingPunct="1">
              <a:spcBef>
                <a:spcPct val="0"/>
              </a:spcBef>
              <a:buFont typeface="Arial" panose="020B0604020202020204" pitchFamily="34" charset="0"/>
              <a:buNone/>
            </a:pPr>
            <a:r>
              <a:rPr lang="en-GB" altLang="fr-FR" sz="1400" b="1" i="1" dirty="0">
                <a:solidFill>
                  <a:srgbClr val="FF9966"/>
                </a:solidFill>
              </a:rPr>
              <a:t>S </a:t>
            </a:r>
            <a:r>
              <a:rPr lang="en-GB" altLang="fr-FR" sz="1400" b="1" dirty="0">
                <a:solidFill>
                  <a:srgbClr val="FF9966"/>
                </a:solidFill>
              </a:rPr>
              <a:t>: les </a:t>
            </a:r>
            <a:r>
              <a:rPr lang="en-GB" altLang="fr-FR" sz="1400" b="1" dirty="0" err="1">
                <a:solidFill>
                  <a:srgbClr val="FF9966"/>
                </a:solidFill>
              </a:rPr>
              <a:t>exemples</a:t>
            </a:r>
            <a:r>
              <a:rPr lang="en-GB" altLang="fr-FR" sz="1400" b="1" dirty="0">
                <a:solidFill>
                  <a:srgbClr val="FF9966"/>
                </a:solidFill>
              </a:rPr>
              <a:t> </a:t>
            </a:r>
            <a:r>
              <a:rPr lang="en-GB" altLang="fr-FR" sz="1400" b="1" dirty="0" err="1">
                <a:solidFill>
                  <a:srgbClr val="FF9966"/>
                </a:solidFill>
              </a:rPr>
              <a:t>d'entraînement</a:t>
            </a:r>
            <a:r>
              <a:rPr lang="en-GB" altLang="fr-FR" sz="1400" b="1" dirty="0">
                <a:solidFill>
                  <a:srgbClr val="FF9966"/>
                </a:solidFill>
              </a:rPr>
              <a:t>.</a:t>
            </a:r>
          </a:p>
          <a:p>
            <a:pPr eaLnBrk="1" hangingPunct="1">
              <a:spcBef>
                <a:spcPct val="0"/>
              </a:spcBef>
              <a:buFont typeface="Arial" panose="020B0604020202020204" pitchFamily="34" charset="0"/>
              <a:buNone/>
            </a:pPr>
            <a:r>
              <a:rPr lang="en-GB" altLang="fr-FR" sz="1400" b="1" i="1" dirty="0">
                <a:solidFill>
                  <a:srgbClr val="FF9966"/>
                </a:solidFill>
              </a:rPr>
              <a:t>A </a:t>
            </a:r>
            <a:r>
              <a:rPr lang="en-GB" altLang="fr-FR" sz="1400" b="1" dirty="0">
                <a:solidFill>
                  <a:srgbClr val="FF9966"/>
                </a:solidFill>
              </a:rPr>
              <a:t>: </a:t>
            </a:r>
            <a:r>
              <a:rPr lang="en-GB" altLang="fr-FR" sz="1400" b="1" dirty="0" err="1">
                <a:solidFill>
                  <a:srgbClr val="FF9966"/>
                </a:solidFill>
              </a:rPr>
              <a:t>l'attribut</a:t>
            </a:r>
            <a:r>
              <a:rPr lang="en-GB" altLang="fr-FR" sz="1400" b="1" dirty="0">
                <a:solidFill>
                  <a:srgbClr val="FF9966"/>
                </a:solidFill>
              </a:rPr>
              <a:t> à tester.</a:t>
            </a:r>
          </a:p>
          <a:p>
            <a:pPr eaLnBrk="1" hangingPunct="1">
              <a:spcBef>
                <a:spcPct val="0"/>
              </a:spcBef>
              <a:buFont typeface="Arial" panose="020B0604020202020204" pitchFamily="34" charset="0"/>
              <a:buNone/>
            </a:pPr>
            <a:r>
              <a:rPr lang="en-GB" altLang="fr-FR" sz="1400" b="1" i="1" dirty="0">
                <a:solidFill>
                  <a:srgbClr val="FF9966"/>
                </a:solidFill>
              </a:rPr>
              <a:t>V</a:t>
            </a:r>
            <a:r>
              <a:rPr lang="en-GB" altLang="fr-FR" sz="1400" b="1" dirty="0">
                <a:solidFill>
                  <a:srgbClr val="FF9966"/>
                </a:solidFill>
              </a:rPr>
              <a:t>(</a:t>
            </a:r>
            <a:r>
              <a:rPr lang="en-GB" altLang="fr-FR" sz="1400" b="1" i="1" dirty="0">
                <a:solidFill>
                  <a:srgbClr val="FF9966"/>
                </a:solidFill>
              </a:rPr>
              <a:t>A</a:t>
            </a:r>
            <a:r>
              <a:rPr lang="en-GB" altLang="fr-FR" sz="1400" b="1" dirty="0">
                <a:solidFill>
                  <a:srgbClr val="FF9966"/>
                </a:solidFill>
              </a:rPr>
              <a:t>) : les </a:t>
            </a:r>
            <a:r>
              <a:rPr lang="en-GB" altLang="fr-FR" sz="1400" b="1" dirty="0" err="1">
                <a:solidFill>
                  <a:srgbClr val="FF9966"/>
                </a:solidFill>
              </a:rPr>
              <a:t>valeurs</a:t>
            </a:r>
            <a:r>
              <a:rPr lang="en-GB" altLang="fr-FR" sz="1400" b="1" dirty="0">
                <a:solidFill>
                  <a:srgbClr val="FF9966"/>
                </a:solidFill>
              </a:rPr>
              <a:t> </a:t>
            </a:r>
            <a:r>
              <a:rPr lang="en-GB" altLang="fr-FR" sz="1400" b="1" dirty="0" err="1">
                <a:solidFill>
                  <a:srgbClr val="FF9966"/>
                </a:solidFill>
              </a:rPr>
              <a:t>possibles</a:t>
            </a:r>
            <a:r>
              <a:rPr lang="en-GB" altLang="fr-FR" sz="1400" b="1" dirty="0">
                <a:solidFill>
                  <a:srgbClr val="FF9966"/>
                </a:solidFill>
              </a:rPr>
              <a:t> de </a:t>
            </a:r>
            <a:r>
              <a:rPr lang="en-GB" altLang="fr-FR" sz="1400" b="1" dirty="0" err="1">
                <a:solidFill>
                  <a:srgbClr val="FF9966"/>
                </a:solidFill>
              </a:rPr>
              <a:t>l'attribut</a:t>
            </a:r>
            <a:r>
              <a:rPr lang="en-GB" altLang="fr-FR" sz="1400" b="1" dirty="0">
                <a:solidFill>
                  <a:srgbClr val="FF9966"/>
                </a:solidFill>
              </a:rPr>
              <a:t> </a:t>
            </a:r>
            <a:r>
              <a:rPr lang="en-GB" altLang="fr-FR" sz="1400" b="1" i="1" dirty="0">
                <a:solidFill>
                  <a:srgbClr val="FF9966"/>
                </a:solidFill>
              </a:rPr>
              <a:t>A</a:t>
            </a:r>
            <a:r>
              <a:rPr lang="en-GB" altLang="fr-FR" sz="1400" b="1" dirty="0">
                <a:solidFill>
                  <a:srgbClr val="FF9966"/>
                </a:solidFill>
              </a:rPr>
              <a:t>.</a:t>
            </a:r>
          </a:p>
          <a:p>
            <a:pPr eaLnBrk="1" hangingPunct="1">
              <a:spcBef>
                <a:spcPct val="0"/>
              </a:spcBef>
              <a:buFont typeface="Arial" panose="020B0604020202020204" pitchFamily="34" charset="0"/>
              <a:buNone/>
            </a:pPr>
            <a:r>
              <a:rPr lang="en-GB" altLang="fr-FR" sz="1400" b="1" i="1" dirty="0" err="1">
                <a:solidFill>
                  <a:srgbClr val="FF9966"/>
                </a:solidFill>
              </a:rPr>
              <a:t>S</a:t>
            </a:r>
            <a:r>
              <a:rPr lang="en-GB" altLang="fr-FR" sz="1400" b="1" i="1" baseline="-25000" dirty="0" err="1">
                <a:solidFill>
                  <a:srgbClr val="FF9966"/>
                </a:solidFill>
              </a:rPr>
              <a:t>v</a:t>
            </a:r>
            <a:r>
              <a:rPr lang="en-GB" altLang="fr-FR" sz="1400" b="1" i="1" dirty="0">
                <a:solidFill>
                  <a:srgbClr val="FF9966"/>
                </a:solidFill>
              </a:rPr>
              <a:t> </a:t>
            </a:r>
            <a:r>
              <a:rPr lang="en-GB" altLang="fr-FR" sz="1400" b="1" dirty="0">
                <a:solidFill>
                  <a:srgbClr val="FF9966"/>
                </a:solidFill>
              </a:rPr>
              <a:t>: le sous-ensemble de </a:t>
            </a:r>
            <a:r>
              <a:rPr lang="en-GB" altLang="fr-FR" sz="1400" b="1" i="1" dirty="0">
                <a:solidFill>
                  <a:srgbClr val="FF9966"/>
                </a:solidFill>
              </a:rPr>
              <a:t>S </a:t>
            </a:r>
            <a:r>
              <a:rPr lang="en-GB" altLang="fr-FR" sz="1400" b="1" dirty="0">
                <a:solidFill>
                  <a:srgbClr val="FF9966"/>
                </a:solidFill>
              </a:rPr>
              <a:t>qui </a:t>
            </a:r>
            <a:r>
              <a:rPr lang="en-GB" altLang="fr-FR" sz="1400" b="1" dirty="0" err="1">
                <a:solidFill>
                  <a:srgbClr val="FF9966"/>
                </a:solidFill>
              </a:rPr>
              <a:t>contient</a:t>
            </a:r>
            <a:r>
              <a:rPr lang="en-GB" altLang="fr-FR" sz="1400" b="1" dirty="0">
                <a:solidFill>
                  <a:srgbClr val="FF9966"/>
                </a:solidFill>
              </a:rPr>
              <a:t> les </a:t>
            </a:r>
            <a:r>
              <a:rPr lang="en-GB" altLang="fr-FR" sz="1400" b="1" dirty="0" err="1">
                <a:solidFill>
                  <a:srgbClr val="FF9966"/>
                </a:solidFill>
              </a:rPr>
              <a:t>exemples</a:t>
            </a:r>
            <a:r>
              <a:rPr lang="en-GB" altLang="fr-FR" sz="1400" b="1" dirty="0">
                <a:solidFill>
                  <a:srgbClr val="FF9966"/>
                </a:solidFill>
              </a:rPr>
              <a:t> qui </a:t>
            </a:r>
            <a:r>
              <a:rPr lang="en-GB" altLang="fr-FR" sz="1400" b="1" dirty="0" err="1">
                <a:solidFill>
                  <a:srgbClr val="FF9966"/>
                </a:solidFill>
              </a:rPr>
              <a:t>ont</a:t>
            </a:r>
            <a:r>
              <a:rPr lang="en-GB" altLang="fr-FR" sz="1400" b="1" dirty="0">
                <a:solidFill>
                  <a:srgbClr val="FF9966"/>
                </a:solidFill>
              </a:rPr>
              <a:t> la </a:t>
            </a:r>
            <a:r>
              <a:rPr lang="en-GB" altLang="fr-FR" sz="1400" b="1" dirty="0" err="1">
                <a:solidFill>
                  <a:srgbClr val="FF9966"/>
                </a:solidFill>
              </a:rPr>
              <a:t>valeur</a:t>
            </a:r>
            <a:r>
              <a:rPr lang="en-GB" altLang="fr-FR" sz="1400" b="1" dirty="0">
                <a:solidFill>
                  <a:srgbClr val="FF9966"/>
                </a:solidFill>
              </a:rPr>
              <a:t> </a:t>
            </a:r>
            <a:r>
              <a:rPr lang="en-GB" altLang="fr-FR" sz="1400" b="1" i="1" dirty="0">
                <a:solidFill>
                  <a:srgbClr val="FF9966"/>
                </a:solidFill>
              </a:rPr>
              <a:t>v </a:t>
            </a:r>
            <a:r>
              <a:rPr lang="en-GB" altLang="fr-FR" sz="1400" b="1" dirty="0">
                <a:solidFill>
                  <a:srgbClr val="FF9966"/>
                </a:solidFill>
              </a:rPr>
              <a:t>pour </a:t>
            </a:r>
            <a:r>
              <a:rPr lang="en-GB" altLang="fr-FR" sz="1400" b="1" dirty="0" err="1">
                <a:solidFill>
                  <a:srgbClr val="FF9966"/>
                </a:solidFill>
              </a:rPr>
              <a:t>l'attribut</a:t>
            </a:r>
            <a:r>
              <a:rPr lang="en-GB" altLang="fr-FR" sz="1400" b="1" dirty="0">
                <a:solidFill>
                  <a:srgbClr val="FF9966"/>
                </a:solidFill>
              </a:rPr>
              <a:t> </a:t>
            </a:r>
            <a:r>
              <a:rPr lang="en-GB" altLang="fr-FR" sz="1400" b="1" i="1" dirty="0">
                <a:solidFill>
                  <a:srgbClr val="FF9966"/>
                </a:solidFill>
              </a:rPr>
              <a:t>A</a:t>
            </a:r>
            <a:r>
              <a:rPr lang="en-GB" altLang="fr-FR" sz="1400" b="1" dirty="0">
                <a:solidFill>
                  <a:srgbClr val="FF9966"/>
                </a:solidFill>
              </a:rPr>
              <a:t>.</a:t>
            </a:r>
          </a:p>
          <a:p>
            <a:pPr eaLnBrk="1" hangingPunct="1">
              <a:spcBef>
                <a:spcPct val="0"/>
              </a:spcBef>
              <a:buFont typeface="Arial" panose="020B0604020202020204" pitchFamily="34" charset="0"/>
              <a:buNone/>
            </a:pPr>
            <a:r>
              <a:rPr lang="en-GB" altLang="fr-FR" sz="1400" b="1" i="1" dirty="0">
                <a:solidFill>
                  <a:srgbClr val="FF9966"/>
                </a:solidFill>
              </a:rPr>
              <a:t>c </a:t>
            </a:r>
            <a:r>
              <a:rPr lang="en-GB" altLang="fr-FR" sz="1400" b="1" dirty="0">
                <a:solidFill>
                  <a:srgbClr val="FF9966"/>
                </a:solidFill>
              </a:rPr>
              <a:t>: le </a:t>
            </a:r>
            <a:r>
              <a:rPr lang="en-GB" altLang="fr-FR" sz="1400" b="1" dirty="0" err="1">
                <a:solidFill>
                  <a:srgbClr val="FF9966"/>
                </a:solidFill>
              </a:rPr>
              <a:t>nombre</a:t>
            </a:r>
            <a:r>
              <a:rPr lang="en-GB" altLang="fr-FR" sz="1400" b="1" dirty="0">
                <a:solidFill>
                  <a:srgbClr val="FF9966"/>
                </a:solidFill>
              </a:rPr>
              <a:t> de </a:t>
            </a:r>
            <a:r>
              <a:rPr lang="en-GB" altLang="fr-FR" sz="1400" b="1" dirty="0" err="1">
                <a:solidFill>
                  <a:srgbClr val="FF9966"/>
                </a:solidFill>
              </a:rPr>
              <a:t>valeurs</a:t>
            </a:r>
            <a:r>
              <a:rPr lang="en-GB" altLang="fr-FR" sz="1400" b="1" dirty="0">
                <a:solidFill>
                  <a:srgbClr val="FF9966"/>
                </a:solidFill>
              </a:rPr>
              <a:t> </a:t>
            </a:r>
            <a:r>
              <a:rPr lang="en-GB" altLang="fr-FR" sz="1400" b="1" dirty="0" err="1">
                <a:solidFill>
                  <a:srgbClr val="FF9966"/>
                </a:solidFill>
              </a:rPr>
              <a:t>possibles</a:t>
            </a:r>
            <a:r>
              <a:rPr lang="en-GB" altLang="fr-FR" sz="1400" b="1" dirty="0">
                <a:solidFill>
                  <a:srgbClr val="FF9966"/>
                </a:solidFill>
              </a:rPr>
              <a:t> pour la </a:t>
            </a:r>
            <a:r>
              <a:rPr lang="en-GB" altLang="fr-FR" sz="1400" b="1" dirty="0" err="1">
                <a:solidFill>
                  <a:srgbClr val="FF9966"/>
                </a:solidFill>
              </a:rPr>
              <a:t>fonction</a:t>
            </a:r>
            <a:r>
              <a:rPr lang="en-GB" altLang="fr-FR" sz="1400" b="1" dirty="0">
                <a:solidFill>
                  <a:srgbClr val="FF9966"/>
                </a:solidFill>
              </a:rPr>
              <a:t> </a:t>
            </a:r>
            <a:r>
              <a:rPr lang="en-GB" altLang="fr-FR" sz="1400" b="1" dirty="0" err="1">
                <a:solidFill>
                  <a:srgbClr val="FF9966"/>
                </a:solidFill>
              </a:rPr>
              <a:t>visée</a:t>
            </a:r>
            <a:r>
              <a:rPr lang="en-GB" altLang="fr-FR" sz="1400" b="1" dirty="0">
                <a:solidFill>
                  <a:srgbClr val="FF9966"/>
                </a:solidFill>
              </a:rPr>
              <a:t> (classes).</a:t>
            </a:r>
          </a:p>
          <a:p>
            <a:pPr eaLnBrk="1" hangingPunct="1">
              <a:spcBef>
                <a:spcPct val="0"/>
              </a:spcBef>
              <a:buFont typeface="Arial" panose="020B0604020202020204" pitchFamily="34" charset="0"/>
              <a:buNone/>
            </a:pPr>
            <a:r>
              <a:rPr lang="en-GB" altLang="fr-FR" sz="1400" b="1" i="1" dirty="0">
                <a:solidFill>
                  <a:srgbClr val="FF9966"/>
                </a:solidFill>
              </a:rPr>
              <a:t>pi </a:t>
            </a:r>
            <a:r>
              <a:rPr lang="en-GB" altLang="fr-FR" sz="1400" b="1" dirty="0">
                <a:solidFill>
                  <a:srgbClr val="FF9966"/>
                </a:solidFill>
              </a:rPr>
              <a:t>: la proportion des </a:t>
            </a:r>
            <a:r>
              <a:rPr lang="en-GB" altLang="fr-FR" sz="1400" b="1" dirty="0" err="1">
                <a:solidFill>
                  <a:srgbClr val="FF9966"/>
                </a:solidFill>
              </a:rPr>
              <a:t>exemples</a:t>
            </a:r>
            <a:r>
              <a:rPr lang="en-GB" altLang="fr-FR" sz="1400" b="1" dirty="0">
                <a:solidFill>
                  <a:srgbClr val="FF9966"/>
                </a:solidFill>
              </a:rPr>
              <a:t> </a:t>
            </a:r>
            <a:r>
              <a:rPr lang="en-GB" altLang="fr-FR" sz="1400" b="1" dirty="0" err="1">
                <a:solidFill>
                  <a:srgbClr val="FF9966"/>
                </a:solidFill>
              </a:rPr>
              <a:t>dans</a:t>
            </a:r>
            <a:r>
              <a:rPr lang="en-GB" altLang="fr-FR" sz="1400" b="1" dirty="0">
                <a:solidFill>
                  <a:srgbClr val="FF9966"/>
                </a:solidFill>
              </a:rPr>
              <a:t> </a:t>
            </a:r>
            <a:r>
              <a:rPr lang="en-GB" altLang="fr-FR" sz="1400" b="1" i="1" dirty="0">
                <a:solidFill>
                  <a:srgbClr val="FF9966"/>
                </a:solidFill>
              </a:rPr>
              <a:t>S </a:t>
            </a:r>
            <a:r>
              <a:rPr lang="en-GB" altLang="fr-FR" sz="1400" b="1" dirty="0">
                <a:solidFill>
                  <a:srgbClr val="FF9966"/>
                </a:solidFill>
              </a:rPr>
              <a:t>qui </a:t>
            </a:r>
            <a:r>
              <a:rPr lang="en-GB" altLang="fr-FR" sz="1400" b="1" dirty="0" err="1">
                <a:solidFill>
                  <a:srgbClr val="FF9966"/>
                </a:solidFill>
              </a:rPr>
              <a:t>ont</a:t>
            </a:r>
            <a:r>
              <a:rPr lang="en-GB" altLang="fr-FR" sz="1400" b="1" dirty="0">
                <a:solidFill>
                  <a:srgbClr val="FF9966"/>
                </a:solidFill>
              </a:rPr>
              <a:t> </a:t>
            </a:r>
            <a:r>
              <a:rPr lang="en-GB" altLang="fr-FR" sz="1400" b="1" i="1" dirty="0">
                <a:solidFill>
                  <a:srgbClr val="FF9966"/>
                </a:solidFill>
              </a:rPr>
              <a:t>i </a:t>
            </a:r>
            <a:r>
              <a:rPr lang="en-GB" altLang="fr-FR" sz="1400" b="1" dirty="0" err="1">
                <a:solidFill>
                  <a:srgbClr val="FF9966"/>
                </a:solidFill>
              </a:rPr>
              <a:t>comme</a:t>
            </a:r>
            <a:r>
              <a:rPr lang="en-GB" altLang="fr-FR" sz="1400" b="1" dirty="0">
                <a:solidFill>
                  <a:srgbClr val="FF9966"/>
                </a:solidFill>
              </a:rPr>
              <a:t> </a:t>
            </a:r>
            <a:r>
              <a:rPr lang="en-GB" altLang="fr-FR" sz="1400" b="1" dirty="0" err="1">
                <a:solidFill>
                  <a:srgbClr val="FF9966"/>
                </a:solidFill>
              </a:rPr>
              <a:t>valeur</a:t>
            </a:r>
            <a:r>
              <a:rPr lang="en-GB" altLang="fr-FR" sz="1400" b="1" dirty="0">
                <a:solidFill>
                  <a:srgbClr val="FF9966"/>
                </a:solidFill>
              </a:rPr>
              <a:t> pour la </a:t>
            </a:r>
            <a:r>
              <a:rPr lang="en-GB" altLang="fr-FR" sz="1400" b="1" dirty="0" err="1">
                <a:solidFill>
                  <a:srgbClr val="FF9966"/>
                </a:solidFill>
              </a:rPr>
              <a:t>fonction</a:t>
            </a:r>
            <a:r>
              <a:rPr lang="en-GB" altLang="fr-FR" sz="1400" b="1" dirty="0">
                <a:solidFill>
                  <a:srgbClr val="FF9966"/>
                </a:solidFill>
              </a:rPr>
              <a:t> </a:t>
            </a:r>
            <a:r>
              <a:rPr lang="en-GB" altLang="fr-FR" sz="1400" b="1" dirty="0" err="1">
                <a:solidFill>
                  <a:srgbClr val="FF9966"/>
                </a:solidFill>
              </a:rPr>
              <a:t>visée</a:t>
            </a:r>
            <a:r>
              <a:rPr lang="en-GB" altLang="fr-FR" sz="1400" b="1" dirty="0">
                <a:solidFill>
                  <a:srgbClr val="FF9966"/>
                </a:solidFill>
              </a:rPr>
              <a:t>.</a:t>
            </a:r>
          </a:p>
        </p:txBody>
      </p:sp>
      <p:pic>
        <p:nvPicPr>
          <p:cNvPr id="46083" name="Picture 2">
            <a:extLst>
              <a:ext uri="{FF2B5EF4-FFF2-40B4-BE49-F238E27FC236}">
                <a16:creationId xmlns="" xmlns:a16="http://schemas.microsoft.com/office/drawing/2014/main" id="{E941D101-CCDD-443C-AE13-47CB624D65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1842" y="2174875"/>
            <a:ext cx="6121400"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6084" name="Group 3">
            <a:extLst>
              <a:ext uri="{FF2B5EF4-FFF2-40B4-BE49-F238E27FC236}">
                <a16:creationId xmlns="" xmlns:a16="http://schemas.microsoft.com/office/drawing/2014/main" id="{49483863-CC42-4C50-87D9-76B54DEBA3FC}"/>
              </a:ext>
            </a:extLst>
          </p:cNvPr>
          <p:cNvGrpSpPr>
            <a:grpSpLocks/>
          </p:cNvGrpSpPr>
          <p:nvPr/>
        </p:nvGrpSpPr>
        <p:grpSpPr bwMode="auto">
          <a:xfrm>
            <a:off x="1524001" y="44451"/>
            <a:ext cx="9142413" cy="365125"/>
            <a:chOff x="0" y="28"/>
            <a:chExt cx="5759" cy="230"/>
          </a:xfrm>
        </p:grpSpPr>
        <p:sp>
          <p:nvSpPr>
            <p:cNvPr id="46085" name="AutoShape 4">
              <a:extLst>
                <a:ext uri="{FF2B5EF4-FFF2-40B4-BE49-F238E27FC236}">
                  <a16:creationId xmlns="" xmlns:a16="http://schemas.microsoft.com/office/drawing/2014/main" id="{B036E4AF-A63B-495F-BB72-9100B471EB49}"/>
                </a:ext>
              </a:extLst>
            </p:cNvPr>
            <p:cNvSpPr>
              <a:spLocks noChangeArrowheads="1"/>
            </p:cNvSpPr>
            <p:nvPr/>
          </p:nvSpPr>
          <p:spPr bwMode="auto">
            <a:xfrm>
              <a:off x="0" y="28"/>
              <a:ext cx="5760" cy="231"/>
            </a:xfrm>
            <a:prstGeom prst="roundRect">
              <a:avLst>
                <a:gd name="adj" fmla="val 431"/>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endParaRPr lang="fr-FR" altLang="fr-FR" sz="1800">
                <a:latin typeface="Times New Roman" panose="02020603050405020304" pitchFamily="18" charset="0"/>
              </a:endParaRPr>
            </a:p>
          </p:txBody>
        </p:sp>
        <p:sp>
          <p:nvSpPr>
            <p:cNvPr id="46086" name="Text Box 5">
              <a:extLst>
                <a:ext uri="{FF2B5EF4-FFF2-40B4-BE49-F238E27FC236}">
                  <a16:creationId xmlns="" xmlns:a16="http://schemas.microsoft.com/office/drawing/2014/main" id="{EDEC4ABF-8BCA-4835-924B-F616E1763F51}"/>
                </a:ext>
              </a:extLst>
            </p:cNvPr>
            <p:cNvSpPr txBox="1">
              <a:spLocks noChangeArrowheads="1"/>
            </p:cNvSpPr>
            <p:nvPr/>
          </p:nvSpPr>
          <p:spPr bwMode="auto">
            <a:xfrm>
              <a:off x="0" y="28"/>
              <a:ext cx="57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1800">
                  <a:solidFill>
                    <a:schemeClr val="tx1"/>
                  </a:solidFill>
                </a:rPr>
                <a:t>Intelligence Artificielle 		Apprentissage			</a:t>
              </a:r>
            </a:p>
          </p:txBody>
        </p:sp>
      </p:grpSp>
      <p:sp>
        <p:nvSpPr>
          <p:cNvPr id="2" name="Slide Number Placeholder 1">
            <a:extLst>
              <a:ext uri="{FF2B5EF4-FFF2-40B4-BE49-F238E27FC236}">
                <a16:creationId xmlns="" xmlns:a16="http://schemas.microsoft.com/office/drawing/2014/main" id="{213577F7-61C1-4826-887B-0F1DF094E2E5}"/>
              </a:ext>
            </a:extLst>
          </p:cNvPr>
          <p:cNvSpPr>
            <a:spLocks noGrp="1"/>
          </p:cNvSpPr>
          <p:nvPr>
            <p:ph type="sldNum" sz="quarter" idx="12"/>
          </p:nvPr>
        </p:nvSpPr>
        <p:spPr/>
        <p:txBody>
          <a:bodyPr/>
          <a:lstStyle/>
          <a:p>
            <a:fld id="{EE5DF52D-0FE0-4249-9023-8B500BDB729B}" type="slidenum">
              <a:rPr lang="fr-FR" smtClean="0"/>
              <a:pPr/>
              <a:t>19</a:t>
            </a:fld>
            <a:endParaRPr lang="fr-FR"/>
          </a:p>
        </p:txBody>
      </p:sp>
      <p:sp>
        <p:nvSpPr>
          <p:cNvPr id="8" name="Oval 9">
            <a:extLst>
              <a:ext uri="{FF2B5EF4-FFF2-40B4-BE49-F238E27FC236}">
                <a16:creationId xmlns="" xmlns:a16="http://schemas.microsoft.com/office/drawing/2014/main" id="{7A0A62DA-C433-4847-93EB-75C9F4EA6058}"/>
              </a:ext>
            </a:extLst>
          </p:cNvPr>
          <p:cNvSpPr>
            <a:spLocks noChangeArrowheads="1"/>
          </p:cNvSpPr>
          <p:nvPr/>
        </p:nvSpPr>
        <p:spPr bwMode="auto">
          <a:xfrm>
            <a:off x="9515477" y="964195"/>
            <a:ext cx="1081087" cy="720725"/>
          </a:xfrm>
          <a:prstGeom prst="ellipse">
            <a:avLst/>
          </a:prstGeom>
          <a:solidFill>
            <a:srgbClr val="FFFF99"/>
          </a:solidFill>
          <a:ln w="9525">
            <a:solidFill>
              <a:schemeClr val="tx1"/>
            </a:solidFill>
            <a:round/>
            <a:headEnd/>
            <a:tailEnd/>
          </a:ln>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dirty="0">
                <a:solidFill>
                  <a:schemeClr val="tx1"/>
                </a:solidFill>
              </a:rPr>
              <a:t>Auteur</a:t>
            </a:r>
          </a:p>
          <a:p>
            <a:pPr algn="ctr" eaLnBrk="1" hangingPunct="1">
              <a:spcBef>
                <a:spcPct val="0"/>
              </a:spcBef>
              <a:buClrTx/>
              <a:buSzTx/>
              <a:buFontTx/>
              <a:buNone/>
            </a:pPr>
            <a:r>
              <a:rPr lang="fr-CA" altLang="fr-FR" sz="1800" dirty="0">
                <a:solidFill>
                  <a:schemeClr val="tx1"/>
                </a:solidFill>
              </a:rPr>
              <a:t>?</a:t>
            </a:r>
          </a:p>
        </p:txBody>
      </p:sp>
      <p:sp>
        <p:nvSpPr>
          <p:cNvPr id="9" name="Line 10">
            <a:extLst>
              <a:ext uri="{FF2B5EF4-FFF2-40B4-BE49-F238E27FC236}">
                <a16:creationId xmlns="" xmlns:a16="http://schemas.microsoft.com/office/drawing/2014/main" id="{ED9DEC23-F8C3-4543-9F90-1E906367A0D2}"/>
              </a:ext>
            </a:extLst>
          </p:cNvPr>
          <p:cNvSpPr>
            <a:spLocks noChangeShapeType="1"/>
          </p:cNvSpPr>
          <p:nvPr/>
        </p:nvSpPr>
        <p:spPr bwMode="auto">
          <a:xfrm flipH="1">
            <a:off x="9288379" y="1524582"/>
            <a:ext cx="552534" cy="9810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 name="Rectangle 12">
            <a:extLst>
              <a:ext uri="{FF2B5EF4-FFF2-40B4-BE49-F238E27FC236}">
                <a16:creationId xmlns="" xmlns:a16="http://schemas.microsoft.com/office/drawing/2014/main" id="{AFE51452-8F2D-4444-87D6-2203A66E9F3C}"/>
              </a:ext>
            </a:extLst>
          </p:cNvPr>
          <p:cNvSpPr>
            <a:spLocks noChangeArrowheads="1"/>
          </p:cNvSpPr>
          <p:nvPr/>
        </p:nvSpPr>
        <p:spPr bwMode="auto">
          <a:xfrm>
            <a:off x="8893177" y="1799220"/>
            <a:ext cx="1006475" cy="36036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dirty="0">
                <a:solidFill>
                  <a:schemeClr val="tx1"/>
                </a:solidFill>
              </a:rPr>
              <a:t>inconnu</a:t>
            </a:r>
          </a:p>
        </p:txBody>
      </p:sp>
      <p:sp>
        <p:nvSpPr>
          <p:cNvPr id="12" name="Line 14">
            <a:extLst>
              <a:ext uri="{FF2B5EF4-FFF2-40B4-BE49-F238E27FC236}">
                <a16:creationId xmlns="" xmlns:a16="http://schemas.microsoft.com/office/drawing/2014/main" id="{EC7485D5-FE92-401D-9CDE-F548B954FDC9}"/>
              </a:ext>
            </a:extLst>
          </p:cNvPr>
          <p:cNvSpPr>
            <a:spLocks noChangeShapeType="1"/>
          </p:cNvSpPr>
          <p:nvPr/>
        </p:nvSpPr>
        <p:spPr bwMode="auto">
          <a:xfrm>
            <a:off x="10344153" y="1451559"/>
            <a:ext cx="793750" cy="1096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3" name="Rectangle 15">
            <a:extLst>
              <a:ext uri="{FF2B5EF4-FFF2-40B4-BE49-F238E27FC236}">
                <a16:creationId xmlns="" xmlns:a16="http://schemas.microsoft.com/office/drawing/2014/main" id="{7CEBA5D9-A7FA-46E1-B211-EE268124C191}"/>
              </a:ext>
            </a:extLst>
          </p:cNvPr>
          <p:cNvSpPr>
            <a:spLocks noChangeArrowheads="1"/>
          </p:cNvSpPr>
          <p:nvPr/>
        </p:nvSpPr>
        <p:spPr bwMode="auto">
          <a:xfrm>
            <a:off x="10777538" y="1957970"/>
            <a:ext cx="1081088" cy="360363"/>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dirty="0">
                <a:solidFill>
                  <a:srgbClr val="FFFF00"/>
                </a:solidFill>
              </a:rPr>
              <a:t>connu</a:t>
            </a:r>
          </a:p>
        </p:txBody>
      </p:sp>
      <p:sp>
        <p:nvSpPr>
          <p:cNvPr id="19" name="Oval 21">
            <a:extLst>
              <a:ext uri="{FF2B5EF4-FFF2-40B4-BE49-F238E27FC236}">
                <a16:creationId xmlns="" xmlns:a16="http://schemas.microsoft.com/office/drawing/2014/main" id="{23C8E5CD-4939-4AFD-A1E2-5414C3A0562D}"/>
              </a:ext>
            </a:extLst>
          </p:cNvPr>
          <p:cNvSpPr>
            <a:spLocks noChangeArrowheads="1"/>
          </p:cNvSpPr>
          <p:nvPr/>
        </p:nvSpPr>
        <p:spPr bwMode="auto">
          <a:xfrm>
            <a:off x="9840913" y="3044614"/>
            <a:ext cx="1008063" cy="504702"/>
          </a:xfrm>
          <a:prstGeom prst="ellipse">
            <a:avLst/>
          </a:prstGeom>
          <a:solidFill>
            <a:srgbClr val="FFFF99"/>
          </a:solidFill>
          <a:ln w="9525">
            <a:solidFill>
              <a:schemeClr val="tx1"/>
            </a:solidFill>
            <a:round/>
            <a:headEnd/>
            <a:tailEnd/>
          </a:ln>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dirty="0">
                <a:solidFill>
                  <a:schemeClr val="tx1"/>
                </a:solidFill>
              </a:rPr>
              <a:t>Html ?</a:t>
            </a:r>
          </a:p>
        </p:txBody>
      </p:sp>
      <p:sp>
        <p:nvSpPr>
          <p:cNvPr id="20" name="Rectangle 12">
            <a:extLst>
              <a:ext uri="{FF2B5EF4-FFF2-40B4-BE49-F238E27FC236}">
                <a16:creationId xmlns="" xmlns:a16="http://schemas.microsoft.com/office/drawing/2014/main" id="{84BCCD79-C5C4-488F-9CC7-460B373F02B4}"/>
              </a:ext>
            </a:extLst>
          </p:cNvPr>
          <p:cNvSpPr>
            <a:spLocks noChangeArrowheads="1"/>
          </p:cNvSpPr>
          <p:nvPr/>
        </p:nvSpPr>
        <p:spPr bwMode="auto">
          <a:xfrm>
            <a:off x="8905877" y="2107195"/>
            <a:ext cx="503237"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b="1" dirty="0">
                <a:solidFill>
                  <a:schemeClr val="tx1"/>
                </a:solidFill>
              </a:rPr>
              <a:t>[S</a:t>
            </a:r>
            <a:r>
              <a:rPr lang="fr-CA" altLang="fr-FR" sz="1800" b="1" baseline="-25000" dirty="0">
                <a:solidFill>
                  <a:schemeClr val="tx1"/>
                </a:solidFill>
              </a:rPr>
              <a:t>1</a:t>
            </a:r>
            <a:r>
              <a:rPr lang="fr-CA" altLang="fr-FR" sz="1800" b="1" dirty="0">
                <a:solidFill>
                  <a:schemeClr val="tx1"/>
                </a:solidFill>
              </a:rPr>
              <a:t>]</a:t>
            </a:r>
          </a:p>
        </p:txBody>
      </p:sp>
      <p:sp>
        <p:nvSpPr>
          <p:cNvPr id="21" name="Rectangle 12">
            <a:extLst>
              <a:ext uri="{FF2B5EF4-FFF2-40B4-BE49-F238E27FC236}">
                <a16:creationId xmlns="" xmlns:a16="http://schemas.microsoft.com/office/drawing/2014/main" id="{176FC273-DA4C-4435-BE2D-BF5EAD3F26FD}"/>
              </a:ext>
            </a:extLst>
          </p:cNvPr>
          <p:cNvSpPr>
            <a:spLocks noChangeArrowheads="1"/>
          </p:cNvSpPr>
          <p:nvPr/>
        </p:nvSpPr>
        <p:spPr bwMode="auto">
          <a:xfrm>
            <a:off x="11137902" y="2348495"/>
            <a:ext cx="503237"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b="1" dirty="0">
                <a:solidFill>
                  <a:schemeClr val="tx1"/>
                </a:solidFill>
              </a:rPr>
              <a:t>[S</a:t>
            </a:r>
            <a:r>
              <a:rPr lang="fr-CA" altLang="fr-FR" sz="1800" b="1" baseline="-25000" dirty="0">
                <a:solidFill>
                  <a:schemeClr val="tx1"/>
                </a:solidFill>
              </a:rPr>
              <a:t>2</a:t>
            </a:r>
            <a:r>
              <a:rPr lang="fr-CA" altLang="fr-FR" sz="1800" b="1" dirty="0">
                <a:solidFill>
                  <a:schemeClr val="tx1"/>
                </a:solidFill>
              </a:rPr>
              <a:t>]</a:t>
            </a:r>
          </a:p>
        </p:txBody>
      </p:sp>
      <p:sp>
        <p:nvSpPr>
          <p:cNvPr id="22" name="Rectangle 12">
            <a:extLst>
              <a:ext uri="{FF2B5EF4-FFF2-40B4-BE49-F238E27FC236}">
                <a16:creationId xmlns="" xmlns:a16="http://schemas.microsoft.com/office/drawing/2014/main" id="{031FE95D-80A7-4038-8503-6373F7F61FA3}"/>
              </a:ext>
            </a:extLst>
          </p:cNvPr>
          <p:cNvSpPr>
            <a:spLocks noChangeArrowheads="1"/>
          </p:cNvSpPr>
          <p:nvPr/>
        </p:nvSpPr>
        <p:spPr bwMode="auto">
          <a:xfrm>
            <a:off x="9769477" y="603832"/>
            <a:ext cx="503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b="1" dirty="0">
                <a:solidFill>
                  <a:schemeClr val="tx1"/>
                </a:solidFill>
              </a:rPr>
              <a:t>[S]</a:t>
            </a:r>
          </a:p>
        </p:txBody>
      </p:sp>
      <p:sp>
        <p:nvSpPr>
          <p:cNvPr id="23" name="Line 10">
            <a:extLst>
              <a:ext uri="{FF2B5EF4-FFF2-40B4-BE49-F238E27FC236}">
                <a16:creationId xmlns="" xmlns:a16="http://schemas.microsoft.com/office/drawing/2014/main" id="{ED9DEC23-F8C3-4543-9F90-1E906367A0D2}"/>
              </a:ext>
            </a:extLst>
          </p:cNvPr>
          <p:cNvSpPr>
            <a:spLocks noChangeShapeType="1"/>
          </p:cNvSpPr>
          <p:nvPr/>
        </p:nvSpPr>
        <p:spPr bwMode="auto">
          <a:xfrm flipH="1">
            <a:off x="9769477" y="3529513"/>
            <a:ext cx="356772" cy="5422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4" name="Line 10">
            <a:extLst>
              <a:ext uri="{FF2B5EF4-FFF2-40B4-BE49-F238E27FC236}">
                <a16:creationId xmlns="" xmlns:a16="http://schemas.microsoft.com/office/drawing/2014/main" id="{ED9DEC23-F8C3-4543-9F90-1E906367A0D2}"/>
              </a:ext>
            </a:extLst>
          </p:cNvPr>
          <p:cNvSpPr>
            <a:spLocks noChangeShapeType="1"/>
          </p:cNvSpPr>
          <p:nvPr/>
        </p:nvSpPr>
        <p:spPr bwMode="auto">
          <a:xfrm>
            <a:off x="10624097" y="3499037"/>
            <a:ext cx="498891" cy="5053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5" name="Rectangle 12">
            <a:extLst>
              <a:ext uri="{FF2B5EF4-FFF2-40B4-BE49-F238E27FC236}">
                <a16:creationId xmlns="" xmlns:a16="http://schemas.microsoft.com/office/drawing/2014/main" id="{84BCCD79-C5C4-488F-9CC7-460B373F02B4}"/>
              </a:ext>
            </a:extLst>
          </p:cNvPr>
          <p:cNvSpPr>
            <a:spLocks noChangeArrowheads="1"/>
          </p:cNvSpPr>
          <p:nvPr/>
        </p:nvSpPr>
        <p:spPr bwMode="auto">
          <a:xfrm>
            <a:off x="9383545" y="3944689"/>
            <a:ext cx="503237"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b="1" dirty="0">
                <a:solidFill>
                  <a:schemeClr val="tx1"/>
                </a:solidFill>
              </a:rPr>
              <a:t>[</a:t>
            </a:r>
            <a:r>
              <a:rPr lang="fr-CA" altLang="fr-FR" sz="1800" b="1" dirty="0" smtClean="0">
                <a:solidFill>
                  <a:schemeClr val="tx1"/>
                </a:solidFill>
              </a:rPr>
              <a:t>S’</a:t>
            </a:r>
            <a:r>
              <a:rPr lang="fr-CA" altLang="fr-FR" sz="1800" b="1" baseline="-25000" dirty="0" smtClean="0">
                <a:solidFill>
                  <a:schemeClr val="tx1"/>
                </a:solidFill>
              </a:rPr>
              <a:t>1</a:t>
            </a:r>
            <a:r>
              <a:rPr lang="fr-CA" altLang="fr-FR" sz="1800" b="1" dirty="0">
                <a:solidFill>
                  <a:schemeClr val="tx1"/>
                </a:solidFill>
              </a:rPr>
              <a:t>]</a:t>
            </a:r>
          </a:p>
        </p:txBody>
      </p:sp>
      <p:sp>
        <p:nvSpPr>
          <p:cNvPr id="26" name="Rectangle 12">
            <a:extLst>
              <a:ext uri="{FF2B5EF4-FFF2-40B4-BE49-F238E27FC236}">
                <a16:creationId xmlns="" xmlns:a16="http://schemas.microsoft.com/office/drawing/2014/main" id="{84BCCD79-C5C4-488F-9CC7-460B373F02B4}"/>
              </a:ext>
            </a:extLst>
          </p:cNvPr>
          <p:cNvSpPr>
            <a:spLocks noChangeArrowheads="1"/>
          </p:cNvSpPr>
          <p:nvPr/>
        </p:nvSpPr>
        <p:spPr bwMode="auto">
          <a:xfrm>
            <a:off x="10895935" y="3940175"/>
            <a:ext cx="503237"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b="1" dirty="0">
                <a:solidFill>
                  <a:schemeClr val="tx1"/>
                </a:solidFill>
              </a:rPr>
              <a:t>[</a:t>
            </a:r>
            <a:r>
              <a:rPr lang="fr-CA" altLang="fr-FR" sz="1800" b="1" dirty="0" smtClean="0">
                <a:solidFill>
                  <a:schemeClr val="tx1"/>
                </a:solidFill>
              </a:rPr>
              <a:t>S’</a:t>
            </a:r>
            <a:r>
              <a:rPr lang="fr-CA" altLang="fr-FR" sz="1800" b="1" baseline="-25000" dirty="0" smtClean="0">
                <a:solidFill>
                  <a:schemeClr val="tx1"/>
                </a:solidFill>
              </a:rPr>
              <a:t>2</a:t>
            </a:r>
            <a:r>
              <a:rPr lang="fr-CA" altLang="fr-FR" sz="1800" b="1" dirty="0" smtClean="0">
                <a:solidFill>
                  <a:schemeClr val="tx1"/>
                </a:solidFill>
              </a:rPr>
              <a:t>]</a:t>
            </a:r>
            <a:endParaRPr lang="fr-CA" altLang="fr-FR" sz="1800" b="1" dirty="0">
              <a:solidFill>
                <a:schemeClr val="tx1"/>
              </a:solidFill>
            </a:endParaRPr>
          </a:p>
        </p:txBody>
      </p:sp>
      <p:sp>
        <p:nvSpPr>
          <p:cNvPr id="27" name="Rectangle 12">
            <a:extLst>
              <a:ext uri="{FF2B5EF4-FFF2-40B4-BE49-F238E27FC236}">
                <a16:creationId xmlns="" xmlns:a16="http://schemas.microsoft.com/office/drawing/2014/main" id="{AFE51452-8F2D-4444-87D6-2203A66E9F3C}"/>
              </a:ext>
            </a:extLst>
          </p:cNvPr>
          <p:cNvSpPr>
            <a:spLocks noChangeArrowheads="1"/>
          </p:cNvSpPr>
          <p:nvPr/>
        </p:nvSpPr>
        <p:spPr bwMode="auto">
          <a:xfrm>
            <a:off x="9525379" y="3572294"/>
            <a:ext cx="602833" cy="36036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dirty="0" smtClean="0">
                <a:solidFill>
                  <a:schemeClr val="tx1"/>
                </a:solidFill>
              </a:rPr>
              <a:t>oui</a:t>
            </a:r>
            <a:endParaRPr lang="fr-CA" altLang="fr-FR" sz="1800" dirty="0">
              <a:solidFill>
                <a:schemeClr val="tx1"/>
              </a:solidFill>
            </a:endParaRPr>
          </a:p>
        </p:txBody>
      </p:sp>
      <p:sp>
        <p:nvSpPr>
          <p:cNvPr id="28" name="Rectangle 12">
            <a:extLst>
              <a:ext uri="{FF2B5EF4-FFF2-40B4-BE49-F238E27FC236}">
                <a16:creationId xmlns="" xmlns:a16="http://schemas.microsoft.com/office/drawing/2014/main" id="{AFE51452-8F2D-4444-87D6-2203A66E9F3C}"/>
              </a:ext>
            </a:extLst>
          </p:cNvPr>
          <p:cNvSpPr>
            <a:spLocks noChangeArrowheads="1"/>
          </p:cNvSpPr>
          <p:nvPr/>
        </p:nvSpPr>
        <p:spPr bwMode="auto">
          <a:xfrm>
            <a:off x="10690524" y="3544512"/>
            <a:ext cx="602833" cy="36036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dirty="0" smtClean="0">
                <a:solidFill>
                  <a:schemeClr val="tx1"/>
                </a:solidFill>
              </a:rPr>
              <a:t>non</a:t>
            </a:r>
            <a:endParaRPr lang="fr-CA" altLang="fr-FR" sz="1800" dirty="0">
              <a:solidFill>
                <a:schemeClr val="tx1"/>
              </a:solidFill>
            </a:endParaRPr>
          </a:p>
        </p:txBody>
      </p:sp>
      <p:sp>
        <p:nvSpPr>
          <p:cNvPr id="29" name="Rectangle 12">
            <a:extLst>
              <a:ext uri="{FF2B5EF4-FFF2-40B4-BE49-F238E27FC236}">
                <a16:creationId xmlns="" xmlns:a16="http://schemas.microsoft.com/office/drawing/2014/main" id="{031FE95D-80A7-4038-8503-6373F7F61FA3}"/>
              </a:ext>
            </a:extLst>
          </p:cNvPr>
          <p:cNvSpPr>
            <a:spLocks noChangeArrowheads="1"/>
          </p:cNvSpPr>
          <p:nvPr/>
        </p:nvSpPr>
        <p:spPr bwMode="auto">
          <a:xfrm>
            <a:off x="10087062" y="2644564"/>
            <a:ext cx="503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fr-CA" altLang="fr-FR" sz="1800" b="1" dirty="0">
                <a:solidFill>
                  <a:schemeClr val="tx1"/>
                </a:solidFill>
              </a:rPr>
              <a:t>[S]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9"/>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9"/>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9"/>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9"/>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9"/>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9"/>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9" grpId="0" animBg="1"/>
      <p:bldP spid="20" grpId="0"/>
      <p:bldP spid="21" grpId="0"/>
      <p:bldP spid="22" grpId="0"/>
      <p:bldP spid="25" grpId="0"/>
      <p:bldP spid="26" grpId="0"/>
      <p:bldP spid="27" grpId="0" animBg="1"/>
      <p:bldP spid="28" grpId="0" animBg="1"/>
      <p:bldP spid="2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1">
            <a:extLst>
              <a:ext uri="{FF2B5EF4-FFF2-40B4-BE49-F238E27FC236}">
                <a16:creationId xmlns="" xmlns:a16="http://schemas.microsoft.com/office/drawing/2014/main" id="{BA54658F-04DF-4904-8901-95359CF17E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2708276"/>
            <a:ext cx="4824413" cy="343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Text Box 2">
            <a:extLst>
              <a:ext uri="{FF2B5EF4-FFF2-40B4-BE49-F238E27FC236}">
                <a16:creationId xmlns="" xmlns:a16="http://schemas.microsoft.com/office/drawing/2014/main" id="{76162136-E2A4-48A5-8A43-B213DEE6E37F}"/>
              </a:ext>
            </a:extLst>
          </p:cNvPr>
          <p:cNvSpPr txBox="1">
            <a:spLocks noChangeArrowheads="1"/>
          </p:cNvSpPr>
          <p:nvPr/>
        </p:nvSpPr>
        <p:spPr bwMode="auto">
          <a:xfrm>
            <a:off x="1919288" y="404814"/>
            <a:ext cx="8748712"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a:solidFill>
                  <a:schemeClr val="tx1"/>
                </a:solidFill>
                <a:hlinkClick r:id="rId4" action="ppaction://hlinksldjump"/>
              </a:rPr>
              <a:t>Exemple</a:t>
            </a:r>
            <a:endParaRPr lang="en-GB" altLang="fr-FR">
              <a:solidFill>
                <a:schemeClr val="tx1"/>
              </a:solidFill>
            </a:endParaRPr>
          </a:p>
          <a:p>
            <a:pPr eaLnBrk="1" hangingPunct="1">
              <a:spcBef>
                <a:spcPct val="0"/>
              </a:spcBef>
              <a:buFont typeface="Arial" panose="020B0604020202020204" pitchFamily="34" charset="0"/>
              <a:buNone/>
            </a:pPr>
            <a:endParaRPr lang="en-GB" altLang="fr-FR" sz="1800">
              <a:solidFill>
                <a:schemeClr val="tx1"/>
              </a:solidFill>
            </a:endParaRPr>
          </a:p>
          <a:p>
            <a:pPr eaLnBrk="1" hangingPunct="1">
              <a:spcBef>
                <a:spcPct val="0"/>
              </a:spcBef>
              <a:buFont typeface="Arial" panose="020B0604020202020204" pitchFamily="34" charset="0"/>
              <a:buNone/>
            </a:pPr>
            <a:r>
              <a:rPr lang="en-GB" altLang="fr-FR" sz="1800">
                <a:solidFill>
                  <a:schemeClr val="tx1"/>
                </a:solidFill>
              </a:rPr>
              <a:t>Est-ce une bonne journée pour jouer au tennis ?</a:t>
            </a:r>
          </a:p>
          <a:p>
            <a:pPr eaLnBrk="1" hangingPunct="1">
              <a:spcBef>
                <a:spcPct val="0"/>
              </a:spcBef>
              <a:buFont typeface="Arial" panose="020B0604020202020204" pitchFamily="34" charset="0"/>
              <a:buNone/>
            </a:pPr>
            <a:r>
              <a:rPr lang="en-GB" altLang="fr-FR" sz="1800">
                <a:solidFill>
                  <a:schemeClr val="tx1"/>
                </a:solidFill>
              </a:rPr>
              <a:t>Attributs : </a:t>
            </a:r>
            <a:r>
              <a:rPr lang="en-GB" altLang="fr-FR" sz="1800">
                <a:solidFill>
                  <a:srgbClr val="FF9900"/>
                </a:solidFill>
              </a:rPr>
              <a:t>ciel, Température, Humdité et vent  (caracteristiques d’une journée) </a:t>
            </a:r>
          </a:p>
          <a:p>
            <a:pPr eaLnBrk="1" hangingPunct="1">
              <a:spcBef>
                <a:spcPct val="0"/>
              </a:spcBef>
              <a:buFont typeface="Arial" panose="020B0604020202020204" pitchFamily="34" charset="0"/>
              <a:buNone/>
            </a:pPr>
            <a:r>
              <a:rPr lang="en-GB" altLang="fr-FR" sz="1800">
                <a:solidFill>
                  <a:schemeClr val="tx1"/>
                </a:solidFill>
              </a:rPr>
              <a:t>2 Classes</a:t>
            </a:r>
            <a:r>
              <a:rPr lang="en-GB" altLang="fr-FR" sz="1800">
                <a:solidFill>
                  <a:srgbClr val="FF9900"/>
                </a:solidFill>
              </a:rPr>
              <a:t>: </a:t>
            </a:r>
            <a:r>
              <a:rPr lang="en-GB" altLang="fr-FR" sz="1800">
                <a:solidFill>
                  <a:srgbClr val="0000FF"/>
                </a:solidFill>
              </a:rPr>
              <a:t>Jouer( OUI )</a:t>
            </a:r>
            <a:r>
              <a:rPr lang="en-GB" altLang="fr-FR" sz="1800">
                <a:solidFill>
                  <a:srgbClr val="FF9900"/>
                </a:solidFill>
              </a:rPr>
              <a:t> , </a:t>
            </a:r>
            <a:r>
              <a:rPr lang="en-GB" altLang="fr-FR" sz="1800">
                <a:solidFill>
                  <a:srgbClr val="FF0000"/>
                </a:solidFill>
              </a:rPr>
              <a:t>ne pas jouer (NON)</a:t>
            </a:r>
          </a:p>
          <a:p>
            <a:pPr eaLnBrk="1" hangingPunct="1">
              <a:spcBef>
                <a:spcPct val="0"/>
              </a:spcBef>
              <a:buFont typeface="Arial" panose="020B0604020202020204" pitchFamily="34" charset="0"/>
              <a:buNone/>
            </a:pPr>
            <a:r>
              <a:rPr lang="en-GB" altLang="fr-FR" sz="1800">
                <a:solidFill>
                  <a:schemeClr val="tx1"/>
                </a:solidFill>
              </a:rPr>
              <a:t>Les exemples:</a:t>
            </a:r>
            <a:r>
              <a:rPr lang="en-GB" altLang="fr-FR" sz="1800">
                <a:solidFill>
                  <a:srgbClr val="FF9900"/>
                </a:solidFill>
              </a:rPr>
              <a:t> les journées</a:t>
            </a:r>
          </a:p>
        </p:txBody>
      </p:sp>
      <p:grpSp>
        <p:nvGrpSpPr>
          <p:cNvPr id="38916" name="Group 3">
            <a:extLst>
              <a:ext uri="{FF2B5EF4-FFF2-40B4-BE49-F238E27FC236}">
                <a16:creationId xmlns="" xmlns:a16="http://schemas.microsoft.com/office/drawing/2014/main" id="{126F50E0-9206-4195-87A9-7D55B1C628DE}"/>
              </a:ext>
            </a:extLst>
          </p:cNvPr>
          <p:cNvGrpSpPr>
            <a:grpSpLocks/>
          </p:cNvGrpSpPr>
          <p:nvPr/>
        </p:nvGrpSpPr>
        <p:grpSpPr bwMode="auto">
          <a:xfrm>
            <a:off x="1524001" y="44451"/>
            <a:ext cx="9142413" cy="365125"/>
            <a:chOff x="0" y="28"/>
            <a:chExt cx="5759" cy="230"/>
          </a:xfrm>
        </p:grpSpPr>
        <p:sp>
          <p:nvSpPr>
            <p:cNvPr id="38921" name="AutoShape 4">
              <a:extLst>
                <a:ext uri="{FF2B5EF4-FFF2-40B4-BE49-F238E27FC236}">
                  <a16:creationId xmlns="" xmlns:a16="http://schemas.microsoft.com/office/drawing/2014/main" id="{06349524-BAF3-4980-8A1E-C3AD48B70F82}"/>
                </a:ext>
              </a:extLst>
            </p:cNvPr>
            <p:cNvSpPr>
              <a:spLocks noChangeArrowheads="1"/>
            </p:cNvSpPr>
            <p:nvPr/>
          </p:nvSpPr>
          <p:spPr bwMode="auto">
            <a:xfrm>
              <a:off x="0" y="28"/>
              <a:ext cx="5760" cy="231"/>
            </a:xfrm>
            <a:prstGeom prst="roundRect">
              <a:avLst>
                <a:gd name="adj" fmla="val 431"/>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endParaRPr lang="fr-FR" altLang="fr-FR" sz="1800">
                <a:latin typeface="Times New Roman" panose="02020603050405020304" pitchFamily="18" charset="0"/>
              </a:endParaRPr>
            </a:p>
          </p:txBody>
        </p:sp>
        <p:sp>
          <p:nvSpPr>
            <p:cNvPr id="38922" name="Text Box 5">
              <a:extLst>
                <a:ext uri="{FF2B5EF4-FFF2-40B4-BE49-F238E27FC236}">
                  <a16:creationId xmlns="" xmlns:a16="http://schemas.microsoft.com/office/drawing/2014/main" id="{51DA35C1-8D01-4ED1-BBC2-262909EF2FE1}"/>
                </a:ext>
              </a:extLst>
            </p:cNvPr>
            <p:cNvSpPr txBox="1">
              <a:spLocks noChangeArrowheads="1"/>
            </p:cNvSpPr>
            <p:nvPr/>
          </p:nvSpPr>
          <p:spPr bwMode="auto">
            <a:xfrm>
              <a:off x="0" y="28"/>
              <a:ext cx="57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1800">
                  <a:solidFill>
                    <a:schemeClr val="tx1"/>
                  </a:solidFill>
                </a:rPr>
                <a:t>Intelligence Artificielle 		Apprentissage		</a:t>
              </a:r>
            </a:p>
          </p:txBody>
        </p:sp>
      </p:grpSp>
      <p:sp>
        <p:nvSpPr>
          <p:cNvPr id="38917" name="Text Box 7">
            <a:extLst>
              <a:ext uri="{FF2B5EF4-FFF2-40B4-BE49-F238E27FC236}">
                <a16:creationId xmlns="" xmlns:a16="http://schemas.microsoft.com/office/drawing/2014/main" id="{52ABF861-F54F-458F-9199-58A280939DD3}"/>
              </a:ext>
            </a:extLst>
          </p:cNvPr>
          <p:cNvSpPr txBox="1">
            <a:spLocks noChangeArrowheads="1"/>
          </p:cNvSpPr>
          <p:nvPr/>
        </p:nvSpPr>
        <p:spPr bwMode="auto">
          <a:xfrm>
            <a:off x="6888163" y="2636838"/>
            <a:ext cx="35290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50000"/>
              </a:spcBef>
              <a:buClrTx/>
              <a:buSzTx/>
              <a:buFontTx/>
              <a:buNone/>
            </a:pPr>
            <a:r>
              <a:rPr lang="fr-CA" altLang="fr-FR" sz="1800">
                <a:latin typeface="Times New Roman" panose="02020603050405020304" pitchFamily="18" charset="0"/>
              </a:rPr>
              <a:t>Les valeurs de l’attribut </a:t>
            </a:r>
            <a:r>
              <a:rPr lang="fr-CA" altLang="fr-FR" sz="1800">
                <a:solidFill>
                  <a:srgbClr val="FF0000"/>
                </a:solidFill>
                <a:latin typeface="Times New Roman" panose="02020603050405020304" pitchFamily="18" charset="0"/>
              </a:rPr>
              <a:t>Ciel </a:t>
            </a:r>
            <a:r>
              <a:rPr lang="fr-CA" altLang="fr-FR" sz="1800">
                <a:latin typeface="Times New Roman" panose="02020603050405020304" pitchFamily="18" charset="0"/>
              </a:rPr>
              <a:t>sont : </a:t>
            </a:r>
            <a:r>
              <a:rPr lang="fr-CA" altLang="fr-FR" sz="1800">
                <a:solidFill>
                  <a:srgbClr val="0000FF"/>
                </a:solidFill>
                <a:latin typeface="Times New Roman" panose="02020603050405020304" pitchFamily="18" charset="0"/>
              </a:rPr>
              <a:t>Ensoleillé, nuageux et pluvieux</a:t>
            </a:r>
          </a:p>
        </p:txBody>
      </p:sp>
      <p:sp>
        <p:nvSpPr>
          <p:cNvPr id="38918" name="Text Box 8">
            <a:extLst>
              <a:ext uri="{FF2B5EF4-FFF2-40B4-BE49-F238E27FC236}">
                <a16:creationId xmlns="" xmlns:a16="http://schemas.microsoft.com/office/drawing/2014/main" id="{56ADED5B-D069-47CE-908B-7D0BDDD57379}"/>
              </a:ext>
            </a:extLst>
          </p:cNvPr>
          <p:cNvSpPr txBox="1">
            <a:spLocks noChangeArrowheads="1"/>
          </p:cNvSpPr>
          <p:nvPr/>
        </p:nvSpPr>
        <p:spPr bwMode="auto">
          <a:xfrm>
            <a:off x="6888164" y="3573463"/>
            <a:ext cx="37798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50000"/>
              </a:spcBef>
              <a:buClrTx/>
              <a:buSzTx/>
              <a:buFontTx/>
              <a:buNone/>
            </a:pPr>
            <a:r>
              <a:rPr lang="fr-CA" altLang="fr-FR" sz="1800">
                <a:latin typeface="Times New Roman" panose="02020603050405020304" pitchFamily="18" charset="0"/>
              </a:rPr>
              <a:t>Les valeurs de l’attribut </a:t>
            </a:r>
            <a:r>
              <a:rPr lang="fr-CA" altLang="fr-FR" sz="1800">
                <a:solidFill>
                  <a:srgbClr val="FF0000"/>
                </a:solidFill>
                <a:latin typeface="Times New Roman" panose="02020603050405020304" pitchFamily="18" charset="0"/>
              </a:rPr>
              <a:t>Température</a:t>
            </a:r>
            <a:r>
              <a:rPr lang="fr-CA" altLang="fr-FR" sz="1800">
                <a:latin typeface="Times New Roman" panose="02020603050405020304" pitchFamily="18" charset="0"/>
              </a:rPr>
              <a:t> sont: </a:t>
            </a:r>
            <a:r>
              <a:rPr lang="fr-CA" altLang="fr-FR" sz="1800">
                <a:solidFill>
                  <a:srgbClr val="0000FF"/>
                </a:solidFill>
                <a:latin typeface="Times New Roman" panose="02020603050405020304" pitchFamily="18" charset="0"/>
              </a:rPr>
              <a:t>chaude, tempérée, et froide</a:t>
            </a:r>
          </a:p>
        </p:txBody>
      </p:sp>
      <p:sp>
        <p:nvSpPr>
          <p:cNvPr id="38919" name="Text Box 9">
            <a:extLst>
              <a:ext uri="{FF2B5EF4-FFF2-40B4-BE49-F238E27FC236}">
                <a16:creationId xmlns="" xmlns:a16="http://schemas.microsoft.com/office/drawing/2014/main" id="{DC1C34E8-3BA3-4AAA-9672-E7E0FB61D71F}"/>
              </a:ext>
            </a:extLst>
          </p:cNvPr>
          <p:cNvSpPr txBox="1">
            <a:spLocks noChangeArrowheads="1"/>
          </p:cNvSpPr>
          <p:nvPr/>
        </p:nvSpPr>
        <p:spPr bwMode="auto">
          <a:xfrm>
            <a:off x="6888164" y="4581525"/>
            <a:ext cx="37798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50000"/>
              </a:spcBef>
              <a:buClrTx/>
              <a:buSzTx/>
              <a:buFontTx/>
              <a:buNone/>
            </a:pPr>
            <a:r>
              <a:rPr lang="fr-CA" altLang="fr-FR" sz="1800">
                <a:latin typeface="Times New Roman" panose="02020603050405020304" pitchFamily="18" charset="0"/>
              </a:rPr>
              <a:t>Les valeurs de l’attribut </a:t>
            </a:r>
            <a:r>
              <a:rPr lang="fr-CA" altLang="fr-FR" sz="1800">
                <a:solidFill>
                  <a:srgbClr val="FF0000"/>
                </a:solidFill>
                <a:latin typeface="Times New Roman" panose="02020603050405020304" pitchFamily="18" charset="0"/>
              </a:rPr>
              <a:t>Humidité</a:t>
            </a:r>
            <a:r>
              <a:rPr lang="fr-CA" altLang="fr-FR" sz="1800">
                <a:latin typeface="Times New Roman" panose="02020603050405020304" pitchFamily="18" charset="0"/>
              </a:rPr>
              <a:t> sont: </a:t>
            </a:r>
            <a:r>
              <a:rPr lang="fr-CA" altLang="fr-FR" sz="1800">
                <a:solidFill>
                  <a:srgbClr val="0000FF"/>
                </a:solidFill>
                <a:latin typeface="Times New Roman" panose="02020603050405020304" pitchFamily="18" charset="0"/>
              </a:rPr>
              <a:t>élevée et normal</a:t>
            </a:r>
          </a:p>
        </p:txBody>
      </p:sp>
      <p:sp>
        <p:nvSpPr>
          <p:cNvPr id="38920" name="Text Box 10">
            <a:extLst>
              <a:ext uri="{FF2B5EF4-FFF2-40B4-BE49-F238E27FC236}">
                <a16:creationId xmlns="" xmlns:a16="http://schemas.microsoft.com/office/drawing/2014/main" id="{1711954E-479E-4174-B749-33FE8FFE8427}"/>
              </a:ext>
            </a:extLst>
          </p:cNvPr>
          <p:cNvSpPr txBox="1">
            <a:spLocks noChangeArrowheads="1"/>
          </p:cNvSpPr>
          <p:nvPr/>
        </p:nvSpPr>
        <p:spPr bwMode="auto">
          <a:xfrm>
            <a:off x="6816725" y="5595938"/>
            <a:ext cx="37798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50000"/>
              </a:spcBef>
              <a:buClrTx/>
              <a:buSzTx/>
              <a:buFontTx/>
              <a:buNone/>
            </a:pPr>
            <a:r>
              <a:rPr lang="fr-CA" altLang="fr-FR" sz="1800">
                <a:latin typeface="Times New Roman" panose="02020603050405020304" pitchFamily="18" charset="0"/>
              </a:rPr>
              <a:t>Les valeurs de l’attribut </a:t>
            </a:r>
            <a:r>
              <a:rPr lang="fr-CA" altLang="fr-FR" sz="1800">
                <a:solidFill>
                  <a:srgbClr val="FF0000"/>
                </a:solidFill>
                <a:latin typeface="Times New Roman" panose="02020603050405020304" pitchFamily="18" charset="0"/>
              </a:rPr>
              <a:t>Vent</a:t>
            </a:r>
            <a:r>
              <a:rPr lang="fr-CA" altLang="fr-FR" sz="1800">
                <a:latin typeface="Times New Roman" panose="02020603050405020304" pitchFamily="18" charset="0"/>
              </a:rPr>
              <a:t> sont: </a:t>
            </a:r>
            <a:r>
              <a:rPr lang="fr-CA" altLang="fr-FR" sz="1800">
                <a:solidFill>
                  <a:srgbClr val="0000FF"/>
                </a:solidFill>
                <a:latin typeface="Times New Roman" panose="02020603050405020304" pitchFamily="18" charset="0"/>
              </a:rPr>
              <a:t>faible et fort</a:t>
            </a:r>
          </a:p>
        </p:txBody>
      </p:sp>
      <p:sp>
        <p:nvSpPr>
          <p:cNvPr id="2" name="Slide Number Placeholder 1">
            <a:extLst>
              <a:ext uri="{FF2B5EF4-FFF2-40B4-BE49-F238E27FC236}">
                <a16:creationId xmlns="" xmlns:a16="http://schemas.microsoft.com/office/drawing/2014/main" id="{584E62CD-C3B4-4A52-B133-B2499A72ACF7}"/>
              </a:ext>
            </a:extLst>
          </p:cNvPr>
          <p:cNvSpPr>
            <a:spLocks noGrp="1"/>
          </p:cNvSpPr>
          <p:nvPr>
            <p:ph type="sldNum" sz="quarter" idx="12"/>
          </p:nvPr>
        </p:nvSpPr>
        <p:spPr/>
        <p:txBody>
          <a:bodyPr/>
          <a:lstStyle/>
          <a:p>
            <a:fld id="{EE5DF52D-0FE0-4249-9023-8B500BDB729B}" type="slidenum">
              <a:rPr lang="fr-FR" smtClean="0"/>
              <a:pPr/>
              <a:t>20</a:t>
            </a:fld>
            <a:endParaRPr lang="fr-FR"/>
          </a:p>
        </p:txBody>
      </p:sp>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ext Box 1">
            <a:extLst>
              <a:ext uri="{FF2B5EF4-FFF2-40B4-BE49-F238E27FC236}">
                <a16:creationId xmlns="" xmlns:a16="http://schemas.microsoft.com/office/drawing/2014/main" id="{91F70209-FB3A-424F-8DE5-743739A8725F}"/>
              </a:ext>
            </a:extLst>
          </p:cNvPr>
          <p:cNvSpPr txBox="1">
            <a:spLocks noChangeArrowheads="1"/>
          </p:cNvSpPr>
          <p:nvPr/>
        </p:nvSpPr>
        <p:spPr bwMode="auto">
          <a:xfrm>
            <a:off x="1524000" y="723901"/>
            <a:ext cx="9144000"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2400" b="1" dirty="0" err="1">
                <a:solidFill>
                  <a:schemeClr val="accent2"/>
                </a:solidFill>
                <a:hlinkClick r:id="rId3" action="ppaction://hlinksldjump"/>
              </a:rPr>
              <a:t>Exemple</a:t>
            </a:r>
            <a:r>
              <a:rPr lang="en-GB" altLang="fr-FR" sz="2400" b="1" dirty="0">
                <a:solidFill>
                  <a:schemeClr val="accent2"/>
                </a:solidFill>
              </a:rPr>
              <a:t> ( </a:t>
            </a:r>
            <a:r>
              <a:rPr lang="en-GB" altLang="fr-FR" sz="2400" b="1" dirty="0" err="1">
                <a:solidFill>
                  <a:schemeClr val="accent2"/>
                </a:solidFill>
              </a:rPr>
              <a:t>arbre</a:t>
            </a:r>
            <a:r>
              <a:rPr lang="en-GB" altLang="fr-FR" sz="2400" b="1" dirty="0">
                <a:solidFill>
                  <a:schemeClr val="accent2"/>
                </a:solidFill>
              </a:rPr>
              <a:t> ID3)</a:t>
            </a:r>
          </a:p>
          <a:p>
            <a:pPr eaLnBrk="1" hangingPunct="1">
              <a:spcBef>
                <a:spcPct val="0"/>
              </a:spcBef>
              <a:buFont typeface="Arial" panose="020B0604020202020204" pitchFamily="34" charset="0"/>
              <a:buNone/>
            </a:pPr>
            <a:r>
              <a:rPr lang="en-GB" altLang="fr-FR" sz="1400" dirty="0" err="1">
                <a:solidFill>
                  <a:schemeClr val="tx1"/>
                </a:solidFill>
              </a:rPr>
              <a:t>Premièrement</a:t>
            </a:r>
            <a:r>
              <a:rPr lang="en-GB" altLang="fr-FR" sz="1400" dirty="0">
                <a:solidFill>
                  <a:schemeClr val="tx1"/>
                </a:solidFill>
              </a:rPr>
              <a:t>, </a:t>
            </a:r>
            <a:r>
              <a:rPr lang="en-GB" altLang="fr-FR" sz="1400" dirty="0" err="1">
                <a:solidFill>
                  <a:schemeClr val="tx1"/>
                </a:solidFill>
              </a:rPr>
              <a:t>il</a:t>
            </a:r>
            <a:r>
              <a:rPr lang="en-GB" altLang="fr-FR" sz="1400" dirty="0">
                <a:solidFill>
                  <a:schemeClr val="tx1"/>
                </a:solidFill>
              </a:rPr>
              <a:t> </a:t>
            </a:r>
            <a:r>
              <a:rPr lang="en-GB" altLang="fr-FR" sz="1400" dirty="0" err="1">
                <a:solidFill>
                  <a:schemeClr val="tx1"/>
                </a:solidFill>
              </a:rPr>
              <a:t>faut</a:t>
            </a:r>
            <a:r>
              <a:rPr lang="en-GB" altLang="fr-FR" sz="1400" dirty="0">
                <a:solidFill>
                  <a:schemeClr val="tx1"/>
                </a:solidFill>
              </a:rPr>
              <a:t> </a:t>
            </a:r>
            <a:r>
              <a:rPr lang="en-GB" altLang="fr-FR" sz="1400" dirty="0" err="1">
                <a:solidFill>
                  <a:schemeClr val="tx1"/>
                </a:solidFill>
              </a:rPr>
              <a:t>choisir</a:t>
            </a:r>
            <a:r>
              <a:rPr lang="en-GB" altLang="fr-FR" sz="1400" dirty="0">
                <a:solidFill>
                  <a:schemeClr val="tx1"/>
                </a:solidFill>
              </a:rPr>
              <a:t> la </a:t>
            </a:r>
            <a:r>
              <a:rPr lang="en-GB" altLang="fr-FR" sz="1400" dirty="0" err="1">
                <a:solidFill>
                  <a:schemeClr val="tx1"/>
                </a:solidFill>
              </a:rPr>
              <a:t>racine</a:t>
            </a:r>
            <a:r>
              <a:rPr lang="en-GB" altLang="fr-FR" sz="1400" dirty="0">
                <a:solidFill>
                  <a:schemeClr val="tx1"/>
                </a:solidFill>
              </a:rPr>
              <a:t> de </a:t>
            </a:r>
            <a:r>
              <a:rPr lang="en-GB" altLang="fr-FR" sz="1400" dirty="0" err="1">
                <a:solidFill>
                  <a:schemeClr val="tx1"/>
                </a:solidFill>
              </a:rPr>
              <a:t>l'arbre</a:t>
            </a:r>
            <a:r>
              <a:rPr lang="en-GB" altLang="fr-FR" sz="1400" dirty="0">
                <a:solidFill>
                  <a:schemeClr val="tx1"/>
                </a:solidFill>
              </a:rPr>
              <a:t>.</a:t>
            </a:r>
          </a:p>
          <a:p>
            <a:pPr eaLnBrk="1" hangingPunct="1">
              <a:spcBef>
                <a:spcPct val="0"/>
              </a:spcBef>
              <a:buFont typeface="Arial" panose="020B0604020202020204" pitchFamily="34" charset="0"/>
              <a:buNone/>
            </a:pPr>
            <a:r>
              <a:rPr lang="en-GB" altLang="fr-FR" sz="1400" dirty="0">
                <a:solidFill>
                  <a:schemeClr val="tx1"/>
                </a:solidFill>
              </a:rPr>
              <a:t>Pour </a:t>
            </a:r>
            <a:r>
              <a:rPr lang="en-GB" altLang="fr-FR" sz="1400" dirty="0" err="1">
                <a:solidFill>
                  <a:schemeClr val="tx1"/>
                </a:solidFill>
              </a:rPr>
              <a:t>cela</a:t>
            </a:r>
            <a:r>
              <a:rPr lang="en-GB" altLang="fr-FR" sz="1400" dirty="0">
                <a:solidFill>
                  <a:schemeClr val="tx1"/>
                </a:solidFill>
              </a:rPr>
              <a:t>, nous </a:t>
            </a:r>
            <a:r>
              <a:rPr lang="en-GB" altLang="fr-FR" sz="1400" dirty="0" err="1">
                <a:solidFill>
                  <a:schemeClr val="tx1"/>
                </a:solidFill>
              </a:rPr>
              <a:t>allons</a:t>
            </a:r>
            <a:r>
              <a:rPr lang="en-GB" altLang="fr-FR" sz="1400" dirty="0">
                <a:solidFill>
                  <a:schemeClr val="tx1"/>
                </a:solidFill>
              </a:rPr>
              <a:t> </a:t>
            </a:r>
            <a:r>
              <a:rPr lang="en-GB" altLang="fr-FR" sz="1400" dirty="0" err="1">
                <a:solidFill>
                  <a:schemeClr val="tx1"/>
                </a:solidFill>
              </a:rPr>
              <a:t>choisir</a:t>
            </a:r>
            <a:r>
              <a:rPr lang="en-GB" altLang="fr-FR" sz="1400" dirty="0">
                <a:solidFill>
                  <a:schemeClr val="tx1"/>
                </a:solidFill>
              </a:rPr>
              <a:t> </a:t>
            </a:r>
            <a:r>
              <a:rPr lang="en-GB" altLang="fr-FR" sz="1400" dirty="0" err="1">
                <a:solidFill>
                  <a:schemeClr val="tx1"/>
                </a:solidFill>
              </a:rPr>
              <a:t>l'attribut</a:t>
            </a:r>
            <a:r>
              <a:rPr lang="en-GB" altLang="fr-FR" sz="1400" dirty="0">
                <a:solidFill>
                  <a:schemeClr val="tx1"/>
                </a:solidFill>
              </a:rPr>
              <a:t> qui a le plus grand gain </a:t>
            </a:r>
            <a:r>
              <a:rPr lang="en-GB" altLang="fr-FR" sz="1400" dirty="0" err="1">
                <a:solidFill>
                  <a:schemeClr val="tx1"/>
                </a:solidFill>
              </a:rPr>
              <a:t>d'information</a:t>
            </a:r>
            <a:r>
              <a:rPr lang="en-GB" altLang="fr-FR" sz="1400" dirty="0">
                <a:solidFill>
                  <a:schemeClr val="tx1"/>
                </a:solidFill>
              </a:rPr>
              <a:t>.</a:t>
            </a:r>
          </a:p>
          <a:p>
            <a:pPr eaLnBrk="1" hangingPunct="1">
              <a:spcBef>
                <a:spcPct val="0"/>
              </a:spcBef>
              <a:buFont typeface="Arial" panose="020B0604020202020204" pitchFamily="34" charset="0"/>
              <a:buNone/>
            </a:pPr>
            <a:r>
              <a:rPr lang="en-GB" altLang="fr-FR" sz="1400" dirty="0">
                <a:solidFill>
                  <a:srgbClr val="FF9900"/>
                </a:solidFill>
              </a:rPr>
              <a:t>– Pour </a:t>
            </a:r>
            <a:r>
              <a:rPr lang="en-GB" altLang="fr-FR" sz="1400" dirty="0" err="1">
                <a:solidFill>
                  <a:srgbClr val="FF9900"/>
                </a:solidFill>
              </a:rPr>
              <a:t>calculer</a:t>
            </a:r>
            <a:r>
              <a:rPr lang="en-GB" altLang="fr-FR" sz="1400" dirty="0">
                <a:solidFill>
                  <a:srgbClr val="FF9900"/>
                </a:solidFill>
              </a:rPr>
              <a:t> le gain </a:t>
            </a:r>
            <a:r>
              <a:rPr lang="en-GB" altLang="fr-FR" sz="1400" dirty="0" err="1">
                <a:solidFill>
                  <a:srgbClr val="FF9900"/>
                </a:solidFill>
              </a:rPr>
              <a:t>d'information</a:t>
            </a:r>
            <a:r>
              <a:rPr lang="en-GB" altLang="fr-FR" sz="1400" dirty="0">
                <a:solidFill>
                  <a:srgbClr val="FF9900"/>
                </a:solidFill>
              </a:rPr>
              <a:t>, nous </a:t>
            </a:r>
            <a:r>
              <a:rPr lang="en-GB" altLang="fr-FR" sz="1400" dirty="0" err="1">
                <a:solidFill>
                  <a:srgbClr val="FF9900"/>
                </a:solidFill>
              </a:rPr>
              <a:t>devons</a:t>
            </a:r>
            <a:r>
              <a:rPr lang="en-GB" altLang="fr-FR" sz="1400" dirty="0">
                <a:solidFill>
                  <a:srgbClr val="FF9900"/>
                </a:solidFill>
              </a:rPr>
              <a:t> </a:t>
            </a:r>
            <a:r>
              <a:rPr lang="en-GB" altLang="fr-FR" sz="1400" dirty="0" err="1">
                <a:solidFill>
                  <a:srgbClr val="FF9900"/>
                </a:solidFill>
              </a:rPr>
              <a:t>d'abord</a:t>
            </a:r>
            <a:r>
              <a:rPr lang="en-GB" altLang="fr-FR" sz="1400" dirty="0">
                <a:solidFill>
                  <a:srgbClr val="FF9900"/>
                </a:solidFill>
              </a:rPr>
              <a:t> </a:t>
            </a:r>
            <a:r>
              <a:rPr lang="en-GB" altLang="fr-FR" sz="1400" dirty="0" err="1">
                <a:solidFill>
                  <a:srgbClr val="FF9900"/>
                </a:solidFill>
              </a:rPr>
              <a:t>calculer</a:t>
            </a:r>
            <a:r>
              <a:rPr lang="en-GB" altLang="fr-FR" sz="1400" dirty="0">
                <a:solidFill>
                  <a:srgbClr val="FF9900"/>
                </a:solidFill>
              </a:rPr>
              <a:t> </a:t>
            </a:r>
            <a:r>
              <a:rPr lang="en-GB" altLang="fr-FR" sz="1400" dirty="0" err="1">
                <a:solidFill>
                  <a:srgbClr val="FF9900"/>
                </a:solidFill>
              </a:rPr>
              <a:t>l'entropie</a:t>
            </a:r>
            <a:r>
              <a:rPr lang="en-GB" altLang="fr-FR" sz="1400" dirty="0">
                <a:solidFill>
                  <a:srgbClr val="FF9900"/>
                </a:solidFill>
              </a:rPr>
              <a:t> des </a:t>
            </a:r>
            <a:r>
              <a:rPr lang="en-GB" altLang="fr-FR" sz="1400" dirty="0" err="1">
                <a:solidFill>
                  <a:srgbClr val="FF9900"/>
                </a:solidFill>
              </a:rPr>
              <a:t>exemples</a:t>
            </a:r>
            <a:r>
              <a:rPr lang="en-GB" altLang="fr-FR" sz="1400" dirty="0">
                <a:solidFill>
                  <a:srgbClr val="FF9900"/>
                </a:solidFill>
              </a:rPr>
              <a:t> </a:t>
            </a:r>
            <a:r>
              <a:rPr lang="en-GB" altLang="fr-FR" sz="1400" dirty="0" err="1">
                <a:solidFill>
                  <a:srgbClr val="FF9900"/>
                </a:solidFill>
              </a:rPr>
              <a:t>d'entraînement</a:t>
            </a:r>
            <a:r>
              <a:rPr lang="en-GB" altLang="fr-FR" sz="1400" dirty="0">
                <a:solidFill>
                  <a:srgbClr val="FF9900"/>
                </a:solidFill>
              </a:rPr>
              <a:t>. </a:t>
            </a:r>
          </a:p>
          <a:p>
            <a:pPr eaLnBrk="1" hangingPunct="1">
              <a:spcBef>
                <a:spcPct val="0"/>
              </a:spcBef>
              <a:buFont typeface="Arial" panose="020B0604020202020204" pitchFamily="34" charset="0"/>
              <a:buNone/>
            </a:pPr>
            <a:r>
              <a:rPr lang="en-GB" altLang="fr-FR" sz="1400" dirty="0">
                <a:solidFill>
                  <a:srgbClr val="FF9900"/>
                </a:solidFill>
              </a:rPr>
              <a:t>– Il y a </a:t>
            </a:r>
            <a:r>
              <a:rPr lang="en-GB" altLang="fr-FR" sz="1400" dirty="0">
                <a:solidFill>
                  <a:srgbClr val="00B050"/>
                </a:solidFill>
              </a:rPr>
              <a:t>9</a:t>
            </a:r>
            <a:r>
              <a:rPr lang="en-GB" altLang="fr-FR" sz="1400" dirty="0">
                <a:solidFill>
                  <a:srgbClr val="FF9900"/>
                </a:solidFill>
              </a:rPr>
              <a:t> </a:t>
            </a:r>
            <a:r>
              <a:rPr lang="en-GB" altLang="fr-FR" sz="1400" dirty="0" err="1">
                <a:solidFill>
                  <a:srgbClr val="FF9900"/>
                </a:solidFill>
              </a:rPr>
              <a:t>exemples</a:t>
            </a:r>
            <a:r>
              <a:rPr lang="en-GB" altLang="fr-FR" sz="1400" dirty="0">
                <a:solidFill>
                  <a:srgbClr val="FF9900"/>
                </a:solidFill>
              </a:rPr>
              <a:t> </a:t>
            </a:r>
            <a:r>
              <a:rPr lang="en-GB" altLang="fr-FR" sz="1400" dirty="0" err="1">
                <a:solidFill>
                  <a:srgbClr val="00B050"/>
                </a:solidFill>
              </a:rPr>
              <a:t>positifs</a:t>
            </a:r>
            <a:r>
              <a:rPr lang="en-GB" altLang="fr-FR" sz="1400" dirty="0">
                <a:solidFill>
                  <a:srgbClr val="FF9900"/>
                </a:solidFill>
              </a:rPr>
              <a:t> et </a:t>
            </a:r>
            <a:r>
              <a:rPr lang="en-GB" altLang="fr-FR" sz="1400" dirty="0">
                <a:solidFill>
                  <a:srgbClr val="FF0000"/>
                </a:solidFill>
              </a:rPr>
              <a:t>5</a:t>
            </a:r>
            <a:r>
              <a:rPr lang="en-GB" altLang="fr-FR" sz="1400" dirty="0">
                <a:solidFill>
                  <a:srgbClr val="FF9900"/>
                </a:solidFill>
              </a:rPr>
              <a:t> </a:t>
            </a:r>
            <a:r>
              <a:rPr lang="en-GB" altLang="fr-FR" sz="1400" dirty="0" err="1">
                <a:solidFill>
                  <a:srgbClr val="FF9900"/>
                </a:solidFill>
              </a:rPr>
              <a:t>exemples</a:t>
            </a:r>
            <a:r>
              <a:rPr lang="en-GB" altLang="fr-FR" sz="1400" dirty="0">
                <a:solidFill>
                  <a:srgbClr val="FF9900"/>
                </a:solidFill>
              </a:rPr>
              <a:t> </a:t>
            </a:r>
            <a:r>
              <a:rPr lang="en-GB" altLang="fr-FR" sz="1400" dirty="0" err="1">
                <a:solidFill>
                  <a:srgbClr val="FF0000"/>
                </a:solidFill>
              </a:rPr>
              <a:t>négatifs</a:t>
            </a:r>
            <a:r>
              <a:rPr lang="en-GB" altLang="fr-FR" sz="1400" dirty="0">
                <a:solidFill>
                  <a:srgbClr val="FF9900"/>
                </a:solidFill>
              </a:rPr>
              <a:t>, </a:t>
            </a:r>
            <a:r>
              <a:rPr lang="en-GB" altLang="fr-FR" sz="1400" dirty="0">
                <a:solidFill>
                  <a:schemeClr val="tx1"/>
                </a:solidFill>
              </a:rPr>
              <a:t> </a:t>
            </a:r>
            <a:r>
              <a:rPr lang="en-GB" altLang="fr-FR" sz="1400" dirty="0" err="1">
                <a:solidFill>
                  <a:schemeClr val="tx1"/>
                </a:solidFill>
              </a:rPr>
              <a:t>sur</a:t>
            </a:r>
            <a:r>
              <a:rPr lang="en-GB" altLang="fr-FR" sz="1400" dirty="0">
                <a:solidFill>
                  <a:schemeClr val="tx1"/>
                </a:solidFill>
              </a:rPr>
              <a:t> un total de 14, </a:t>
            </a:r>
            <a:r>
              <a:rPr lang="en-GB" altLang="fr-FR" sz="1400" dirty="0" err="1">
                <a:solidFill>
                  <a:srgbClr val="FF9900"/>
                </a:solidFill>
              </a:rPr>
              <a:t>donc</a:t>
            </a:r>
            <a:r>
              <a:rPr lang="en-GB" altLang="fr-FR" sz="1400" dirty="0">
                <a:solidFill>
                  <a:srgbClr val="FF9900"/>
                </a:solidFill>
              </a:rPr>
              <a:t> nous </a:t>
            </a:r>
            <a:r>
              <a:rPr lang="en-GB" altLang="fr-FR" sz="1400" dirty="0" err="1">
                <a:solidFill>
                  <a:srgbClr val="FF9900"/>
                </a:solidFill>
              </a:rPr>
              <a:t>obtenons</a:t>
            </a:r>
            <a:r>
              <a:rPr lang="en-GB" altLang="fr-FR" sz="1400" dirty="0">
                <a:solidFill>
                  <a:srgbClr val="FF9900"/>
                </a:solidFill>
              </a:rPr>
              <a:t> </a:t>
            </a:r>
            <a:r>
              <a:rPr lang="en-GB" altLang="fr-FR" sz="1400" dirty="0" err="1">
                <a:solidFill>
                  <a:srgbClr val="FF9900"/>
                </a:solidFill>
              </a:rPr>
              <a:t>une</a:t>
            </a:r>
            <a:r>
              <a:rPr lang="en-GB" altLang="fr-FR" sz="1400" dirty="0">
                <a:solidFill>
                  <a:srgbClr val="FF9900"/>
                </a:solidFill>
              </a:rPr>
              <a:t> </a:t>
            </a:r>
            <a:r>
              <a:rPr lang="en-GB" altLang="fr-FR" sz="1400" dirty="0" err="1">
                <a:solidFill>
                  <a:srgbClr val="FF9900"/>
                </a:solidFill>
              </a:rPr>
              <a:t>entropie</a:t>
            </a:r>
            <a:r>
              <a:rPr lang="en-GB" altLang="fr-FR" sz="1400" dirty="0">
                <a:solidFill>
                  <a:srgbClr val="FF9900"/>
                </a:solidFill>
              </a:rPr>
              <a:t> de:</a:t>
            </a:r>
          </a:p>
          <a:p>
            <a:pPr eaLnBrk="1" hangingPunct="1">
              <a:spcBef>
                <a:spcPct val="0"/>
              </a:spcBef>
              <a:buFont typeface="Arial" panose="020B0604020202020204" pitchFamily="34" charset="0"/>
              <a:buNone/>
            </a:pPr>
            <a:endParaRPr lang="en-GB" altLang="fr-FR" sz="1400" dirty="0">
              <a:solidFill>
                <a:srgbClr val="FF9900"/>
              </a:solidFill>
            </a:endParaRPr>
          </a:p>
          <a:p>
            <a:pPr eaLnBrk="1" hangingPunct="1">
              <a:spcBef>
                <a:spcPct val="0"/>
              </a:spcBef>
              <a:buFont typeface="Arial" panose="020B0604020202020204" pitchFamily="34" charset="0"/>
              <a:buNone/>
            </a:pPr>
            <a:endParaRPr lang="en-GB" altLang="fr-FR" sz="1800" dirty="0">
              <a:solidFill>
                <a:schemeClr val="tx1"/>
              </a:solidFill>
            </a:endParaRPr>
          </a:p>
          <a:p>
            <a:pPr eaLnBrk="1" hangingPunct="1">
              <a:spcBef>
                <a:spcPct val="0"/>
              </a:spcBef>
              <a:buFont typeface="Arial" panose="020B0604020202020204" pitchFamily="34" charset="0"/>
              <a:buNone/>
            </a:pPr>
            <a:endParaRPr lang="en-GB" altLang="fr-FR" sz="1800" dirty="0">
              <a:solidFill>
                <a:schemeClr val="tx1"/>
              </a:solidFill>
            </a:endParaRPr>
          </a:p>
          <a:p>
            <a:pPr eaLnBrk="1" hangingPunct="1">
              <a:spcBef>
                <a:spcPct val="0"/>
              </a:spcBef>
              <a:buFont typeface="Arial" panose="020B0604020202020204" pitchFamily="34" charset="0"/>
              <a:buNone/>
            </a:pPr>
            <a:endParaRPr lang="en-GB" altLang="fr-FR" sz="1400" dirty="0">
              <a:solidFill>
                <a:schemeClr val="tx1"/>
              </a:solidFill>
            </a:endParaRPr>
          </a:p>
          <a:p>
            <a:pPr eaLnBrk="1" hangingPunct="1">
              <a:spcBef>
                <a:spcPct val="0"/>
              </a:spcBef>
              <a:buFont typeface="Arial" panose="020B0604020202020204" pitchFamily="34" charset="0"/>
              <a:buNone/>
            </a:pPr>
            <a:r>
              <a:rPr lang="en-GB" altLang="fr-FR" sz="1400" dirty="0" err="1">
                <a:solidFill>
                  <a:schemeClr val="tx1"/>
                </a:solidFill>
              </a:rPr>
              <a:t>Maintenant</a:t>
            </a:r>
            <a:r>
              <a:rPr lang="en-GB" altLang="fr-FR" sz="1400" dirty="0">
                <a:solidFill>
                  <a:schemeClr val="tx1"/>
                </a:solidFill>
              </a:rPr>
              <a:t>, nous </a:t>
            </a:r>
            <a:r>
              <a:rPr lang="en-GB" altLang="fr-FR" sz="1400" dirty="0" err="1">
                <a:solidFill>
                  <a:schemeClr val="tx1"/>
                </a:solidFill>
              </a:rPr>
              <a:t>allons</a:t>
            </a:r>
            <a:r>
              <a:rPr lang="en-GB" altLang="fr-FR" sz="1400" dirty="0">
                <a:solidFill>
                  <a:schemeClr val="tx1"/>
                </a:solidFill>
              </a:rPr>
              <a:t> </a:t>
            </a:r>
            <a:r>
              <a:rPr lang="en-GB" altLang="fr-FR" sz="1400" dirty="0" err="1">
                <a:solidFill>
                  <a:schemeClr val="tx1"/>
                </a:solidFill>
              </a:rPr>
              <a:t>calculer</a:t>
            </a:r>
            <a:r>
              <a:rPr lang="en-GB" altLang="fr-FR" sz="1400" dirty="0">
                <a:solidFill>
                  <a:schemeClr val="tx1"/>
                </a:solidFill>
              </a:rPr>
              <a:t> le gain </a:t>
            </a:r>
            <a:r>
              <a:rPr lang="en-GB" altLang="fr-FR" sz="1400" dirty="0" err="1">
                <a:solidFill>
                  <a:schemeClr val="tx1"/>
                </a:solidFill>
              </a:rPr>
              <a:t>d'information</a:t>
            </a:r>
            <a:r>
              <a:rPr lang="en-GB" altLang="fr-FR" sz="1400" dirty="0">
                <a:solidFill>
                  <a:schemeClr val="tx1"/>
                </a:solidFill>
              </a:rPr>
              <a:t> pour le premier </a:t>
            </a:r>
            <a:r>
              <a:rPr lang="en-GB" altLang="fr-FR" sz="1400" dirty="0" err="1">
                <a:solidFill>
                  <a:schemeClr val="tx1"/>
                </a:solidFill>
              </a:rPr>
              <a:t>attribut</a:t>
            </a:r>
            <a:r>
              <a:rPr lang="en-GB" altLang="fr-FR" sz="1400" dirty="0">
                <a:solidFill>
                  <a:schemeClr val="tx1"/>
                </a:solidFill>
              </a:rPr>
              <a:t>, </a:t>
            </a:r>
            <a:r>
              <a:rPr lang="en-GB" altLang="fr-FR" sz="1400" dirty="0" err="1">
                <a:solidFill>
                  <a:schemeClr val="tx1"/>
                </a:solidFill>
              </a:rPr>
              <a:t>l'attribut</a:t>
            </a:r>
            <a:r>
              <a:rPr lang="en-GB" altLang="fr-FR" sz="1400" dirty="0">
                <a:solidFill>
                  <a:schemeClr val="tx1"/>
                </a:solidFill>
              </a:rPr>
              <a:t> </a:t>
            </a:r>
            <a:r>
              <a:rPr lang="en-GB" altLang="fr-FR" sz="1400" b="1" i="1" dirty="0" err="1">
                <a:solidFill>
                  <a:schemeClr val="accent2"/>
                </a:solidFill>
              </a:rPr>
              <a:t>Ciel</a:t>
            </a:r>
            <a:r>
              <a:rPr lang="en-GB" altLang="fr-FR" sz="1400" dirty="0">
                <a:solidFill>
                  <a:schemeClr val="tx1"/>
                </a:solidFill>
              </a:rPr>
              <a:t>.</a:t>
            </a:r>
          </a:p>
          <a:p>
            <a:pPr eaLnBrk="1" hangingPunct="1">
              <a:spcBef>
                <a:spcPct val="0"/>
              </a:spcBef>
              <a:buFont typeface="Arial" panose="020B0604020202020204" pitchFamily="34" charset="0"/>
              <a:buNone/>
            </a:pPr>
            <a:r>
              <a:rPr lang="en-GB" altLang="fr-FR" sz="1400" dirty="0">
                <a:solidFill>
                  <a:srgbClr val="FF9900"/>
                </a:solidFill>
              </a:rPr>
              <a:t>– </a:t>
            </a:r>
            <a:r>
              <a:rPr lang="en-GB" altLang="fr-FR" sz="1400" dirty="0" err="1">
                <a:solidFill>
                  <a:srgbClr val="FF9900"/>
                </a:solidFill>
              </a:rPr>
              <a:t>Cet</a:t>
            </a:r>
            <a:r>
              <a:rPr lang="en-GB" altLang="fr-FR" sz="1400" dirty="0">
                <a:solidFill>
                  <a:srgbClr val="FF9900"/>
                </a:solidFill>
              </a:rPr>
              <a:t> </a:t>
            </a:r>
            <a:r>
              <a:rPr lang="en-GB" altLang="fr-FR" sz="1400" dirty="0" err="1">
                <a:solidFill>
                  <a:srgbClr val="FF9900"/>
                </a:solidFill>
              </a:rPr>
              <a:t>attribut</a:t>
            </a:r>
            <a:r>
              <a:rPr lang="en-GB" altLang="fr-FR" sz="1400" dirty="0">
                <a:solidFill>
                  <a:srgbClr val="FF9900"/>
                </a:solidFill>
              </a:rPr>
              <a:t> a 3 </a:t>
            </a:r>
            <a:r>
              <a:rPr lang="en-GB" altLang="fr-FR" sz="1400" dirty="0" err="1">
                <a:solidFill>
                  <a:srgbClr val="FF9900"/>
                </a:solidFill>
              </a:rPr>
              <a:t>valeurs</a:t>
            </a:r>
            <a:r>
              <a:rPr lang="en-GB" altLang="fr-FR" sz="1400" dirty="0">
                <a:solidFill>
                  <a:srgbClr val="FF9900"/>
                </a:solidFill>
              </a:rPr>
              <a:t> </a:t>
            </a:r>
            <a:r>
              <a:rPr lang="en-GB" altLang="fr-FR" sz="1400" dirty="0" err="1">
                <a:solidFill>
                  <a:srgbClr val="FF9900"/>
                </a:solidFill>
              </a:rPr>
              <a:t>possibles</a:t>
            </a:r>
            <a:r>
              <a:rPr lang="en-GB" altLang="fr-FR" sz="1400" dirty="0">
                <a:solidFill>
                  <a:srgbClr val="FF9900"/>
                </a:solidFill>
              </a:rPr>
              <a:t>, </a:t>
            </a:r>
            <a:r>
              <a:rPr lang="en-GB" altLang="fr-FR" sz="1400" dirty="0" err="1">
                <a:solidFill>
                  <a:srgbClr val="FF9900"/>
                </a:solidFill>
              </a:rPr>
              <a:t>donc</a:t>
            </a:r>
            <a:r>
              <a:rPr lang="en-GB" altLang="fr-FR" sz="1400" dirty="0">
                <a:solidFill>
                  <a:srgbClr val="FF9900"/>
                </a:solidFill>
              </a:rPr>
              <a:t> les </a:t>
            </a:r>
            <a:r>
              <a:rPr lang="en-GB" altLang="fr-FR" sz="1400" dirty="0" err="1">
                <a:solidFill>
                  <a:srgbClr val="FF9900"/>
                </a:solidFill>
              </a:rPr>
              <a:t>exemples</a:t>
            </a:r>
            <a:r>
              <a:rPr lang="en-GB" altLang="fr-FR" sz="1400" dirty="0">
                <a:solidFill>
                  <a:srgbClr val="FF9900"/>
                </a:solidFill>
              </a:rPr>
              <a:t> </a:t>
            </a:r>
            <a:r>
              <a:rPr lang="en-GB" altLang="fr-FR" sz="1400" dirty="0" err="1">
                <a:solidFill>
                  <a:srgbClr val="FF9900"/>
                </a:solidFill>
              </a:rPr>
              <a:t>d'entraînement</a:t>
            </a:r>
            <a:r>
              <a:rPr lang="en-GB" altLang="fr-FR" sz="1400" dirty="0">
                <a:solidFill>
                  <a:srgbClr val="FF9900"/>
                </a:solidFill>
              </a:rPr>
              <a:t> </a:t>
            </a:r>
            <a:r>
              <a:rPr lang="en-GB" altLang="fr-FR" sz="1400" dirty="0" err="1">
                <a:solidFill>
                  <a:srgbClr val="FF9900"/>
                </a:solidFill>
              </a:rPr>
              <a:t>seront</a:t>
            </a:r>
            <a:r>
              <a:rPr lang="en-GB" altLang="fr-FR" sz="1400" dirty="0">
                <a:solidFill>
                  <a:srgbClr val="FF9900"/>
                </a:solidFill>
              </a:rPr>
              <a:t> </a:t>
            </a:r>
            <a:r>
              <a:rPr lang="en-GB" altLang="fr-FR" sz="1400" dirty="0" err="1">
                <a:solidFill>
                  <a:srgbClr val="FF9900"/>
                </a:solidFill>
              </a:rPr>
              <a:t>regroupés</a:t>
            </a:r>
            <a:r>
              <a:rPr lang="en-GB" altLang="fr-FR" sz="1400" dirty="0">
                <a:solidFill>
                  <a:srgbClr val="FF9900"/>
                </a:solidFill>
              </a:rPr>
              <a:t> en 3 sous-ensembles.</a:t>
            </a:r>
          </a:p>
          <a:p>
            <a:pPr eaLnBrk="1" hangingPunct="1">
              <a:spcBef>
                <a:spcPct val="0"/>
              </a:spcBef>
              <a:buFont typeface="Arial" panose="020B0604020202020204" pitchFamily="34" charset="0"/>
              <a:buNone/>
            </a:pPr>
            <a:r>
              <a:rPr lang="en-GB" altLang="fr-FR" sz="1400" dirty="0">
                <a:solidFill>
                  <a:srgbClr val="FF9900"/>
                </a:solidFill>
              </a:rPr>
              <a:t>– Nous </a:t>
            </a:r>
            <a:r>
              <a:rPr lang="en-GB" altLang="fr-FR" sz="1400" dirty="0" err="1">
                <a:solidFill>
                  <a:srgbClr val="FF9900"/>
                </a:solidFill>
              </a:rPr>
              <a:t>commençons</a:t>
            </a:r>
            <a:r>
              <a:rPr lang="en-GB" altLang="fr-FR" sz="1400" dirty="0">
                <a:solidFill>
                  <a:srgbClr val="FF9900"/>
                </a:solidFill>
              </a:rPr>
              <a:t> </a:t>
            </a:r>
            <a:r>
              <a:rPr lang="en-GB" altLang="fr-FR" sz="1400" dirty="0" err="1">
                <a:solidFill>
                  <a:srgbClr val="FF9900"/>
                </a:solidFill>
              </a:rPr>
              <a:t>donc</a:t>
            </a:r>
            <a:r>
              <a:rPr lang="en-GB" altLang="fr-FR" sz="1400" dirty="0">
                <a:solidFill>
                  <a:srgbClr val="FF9900"/>
                </a:solidFill>
              </a:rPr>
              <a:t> par </a:t>
            </a:r>
            <a:r>
              <a:rPr lang="en-GB" altLang="fr-FR" sz="1400" dirty="0" err="1">
                <a:solidFill>
                  <a:srgbClr val="FF9900"/>
                </a:solidFill>
              </a:rPr>
              <a:t>calculer</a:t>
            </a:r>
            <a:r>
              <a:rPr lang="en-GB" altLang="fr-FR" sz="1400" dirty="0">
                <a:solidFill>
                  <a:srgbClr val="FF9900"/>
                </a:solidFill>
              </a:rPr>
              <a:t> </a:t>
            </a:r>
            <a:r>
              <a:rPr lang="en-GB" altLang="fr-FR" sz="1400" dirty="0" err="1">
                <a:solidFill>
                  <a:srgbClr val="FF9900"/>
                </a:solidFill>
              </a:rPr>
              <a:t>l'entropie</a:t>
            </a:r>
            <a:r>
              <a:rPr lang="en-GB" altLang="fr-FR" sz="1400" dirty="0">
                <a:solidFill>
                  <a:srgbClr val="FF9900"/>
                </a:solidFill>
              </a:rPr>
              <a:t> des 3 sous-ensembles:</a:t>
            </a:r>
          </a:p>
          <a:p>
            <a:pPr eaLnBrk="1" hangingPunct="1">
              <a:spcBef>
                <a:spcPct val="0"/>
              </a:spcBef>
              <a:buFont typeface="Arial" panose="020B0604020202020204" pitchFamily="34" charset="0"/>
              <a:buNone/>
            </a:pPr>
            <a:r>
              <a:rPr lang="en-GB" altLang="fr-FR" sz="1400" dirty="0" err="1">
                <a:solidFill>
                  <a:srgbClr val="FF0000"/>
                </a:solidFill>
              </a:rPr>
              <a:t>S</a:t>
            </a:r>
            <a:r>
              <a:rPr lang="en-GB" altLang="fr-FR" sz="1400" baseline="-25000" dirty="0" err="1">
                <a:solidFill>
                  <a:srgbClr val="FF0000"/>
                </a:solidFill>
              </a:rPr>
              <a:t>ensoleillé</a:t>
            </a:r>
            <a:r>
              <a:rPr lang="en-GB" altLang="fr-FR" sz="1400" dirty="0">
                <a:solidFill>
                  <a:srgbClr val="FF0000"/>
                </a:solidFill>
              </a:rPr>
              <a:t>={j</a:t>
            </a:r>
            <a:r>
              <a:rPr lang="en-GB" altLang="fr-FR" sz="1400" baseline="-25000" dirty="0">
                <a:solidFill>
                  <a:srgbClr val="FF0000"/>
                </a:solidFill>
              </a:rPr>
              <a:t>1</a:t>
            </a:r>
            <a:r>
              <a:rPr lang="en-GB" altLang="fr-FR" sz="1400" baseline="30000" dirty="0">
                <a:solidFill>
                  <a:srgbClr val="FF0000"/>
                </a:solidFill>
              </a:rPr>
              <a:t>-</a:t>
            </a:r>
            <a:r>
              <a:rPr lang="en-GB" altLang="fr-FR" sz="1400" dirty="0">
                <a:solidFill>
                  <a:srgbClr val="FF0000"/>
                </a:solidFill>
              </a:rPr>
              <a:t>, j</a:t>
            </a:r>
            <a:r>
              <a:rPr lang="en-GB" altLang="fr-FR" sz="1400" baseline="-25000" dirty="0">
                <a:solidFill>
                  <a:srgbClr val="FF0000"/>
                </a:solidFill>
              </a:rPr>
              <a:t>2</a:t>
            </a:r>
            <a:r>
              <a:rPr lang="en-GB" altLang="fr-FR" sz="1400" baseline="30000" dirty="0">
                <a:solidFill>
                  <a:srgbClr val="FF0000"/>
                </a:solidFill>
              </a:rPr>
              <a:t>-</a:t>
            </a:r>
            <a:r>
              <a:rPr lang="en-GB" altLang="fr-FR" sz="1400" dirty="0">
                <a:solidFill>
                  <a:srgbClr val="FF0000"/>
                </a:solidFill>
              </a:rPr>
              <a:t>, j</a:t>
            </a:r>
            <a:r>
              <a:rPr lang="en-GB" altLang="fr-FR" sz="1400" baseline="-25000" dirty="0">
                <a:solidFill>
                  <a:srgbClr val="FF0000"/>
                </a:solidFill>
              </a:rPr>
              <a:t>8</a:t>
            </a:r>
            <a:r>
              <a:rPr lang="en-GB" altLang="fr-FR" sz="1400" baseline="30000" dirty="0">
                <a:solidFill>
                  <a:srgbClr val="FF0000"/>
                </a:solidFill>
              </a:rPr>
              <a:t>-</a:t>
            </a:r>
            <a:r>
              <a:rPr lang="en-GB" altLang="fr-FR" sz="1400" dirty="0">
                <a:solidFill>
                  <a:srgbClr val="FF0000"/>
                </a:solidFill>
              </a:rPr>
              <a:t>, j</a:t>
            </a:r>
            <a:r>
              <a:rPr lang="en-GB" altLang="fr-FR" sz="1400" baseline="-25000" dirty="0">
                <a:solidFill>
                  <a:srgbClr val="FF0000"/>
                </a:solidFill>
              </a:rPr>
              <a:t>9</a:t>
            </a:r>
            <a:r>
              <a:rPr lang="en-GB" altLang="fr-FR" sz="1400" baseline="30000" dirty="0">
                <a:solidFill>
                  <a:srgbClr val="FF0000"/>
                </a:solidFill>
              </a:rPr>
              <a:t>+</a:t>
            </a:r>
            <a:r>
              <a:rPr lang="en-GB" altLang="fr-FR" sz="1400" dirty="0">
                <a:solidFill>
                  <a:srgbClr val="FF0000"/>
                </a:solidFill>
              </a:rPr>
              <a:t>, j</a:t>
            </a:r>
            <a:r>
              <a:rPr lang="en-GB" altLang="fr-FR" sz="1400" baseline="-25000" dirty="0">
                <a:solidFill>
                  <a:srgbClr val="FF0000"/>
                </a:solidFill>
              </a:rPr>
              <a:t>11</a:t>
            </a:r>
            <a:r>
              <a:rPr lang="en-GB" altLang="fr-FR" sz="1400" baseline="30000" dirty="0">
                <a:solidFill>
                  <a:srgbClr val="FF0000"/>
                </a:solidFill>
              </a:rPr>
              <a:t>+</a:t>
            </a:r>
            <a:r>
              <a:rPr lang="en-GB" altLang="fr-FR" sz="1400" dirty="0">
                <a:solidFill>
                  <a:srgbClr val="FF0000"/>
                </a:solidFill>
              </a:rPr>
              <a:t>}</a:t>
            </a:r>
            <a:r>
              <a:rPr lang="en-GB" altLang="fr-FR" sz="1400" dirty="0">
                <a:solidFill>
                  <a:srgbClr val="FF9900"/>
                </a:solidFill>
              </a:rPr>
              <a:t> </a:t>
            </a:r>
          </a:p>
          <a:p>
            <a:pPr eaLnBrk="1" hangingPunct="1">
              <a:spcBef>
                <a:spcPct val="0"/>
              </a:spcBef>
              <a:buFontTx/>
              <a:buNone/>
            </a:pPr>
            <a:r>
              <a:rPr lang="en-GB" altLang="fr-FR" sz="1400" dirty="0" err="1">
                <a:solidFill>
                  <a:srgbClr val="FF0000"/>
                </a:solidFill>
              </a:rPr>
              <a:t>S</a:t>
            </a:r>
            <a:r>
              <a:rPr lang="en-GB" altLang="fr-FR" sz="1400" baseline="-25000" dirty="0" err="1">
                <a:solidFill>
                  <a:srgbClr val="FF0000"/>
                </a:solidFill>
              </a:rPr>
              <a:t>nuageux</a:t>
            </a:r>
            <a:r>
              <a:rPr lang="en-GB" altLang="fr-FR" sz="1400" dirty="0">
                <a:solidFill>
                  <a:srgbClr val="FF0000"/>
                </a:solidFill>
              </a:rPr>
              <a:t>={j</a:t>
            </a:r>
            <a:r>
              <a:rPr lang="en-GB" altLang="fr-FR" sz="1400" baseline="-25000" dirty="0">
                <a:solidFill>
                  <a:srgbClr val="FF0000"/>
                </a:solidFill>
              </a:rPr>
              <a:t>3</a:t>
            </a:r>
            <a:r>
              <a:rPr lang="en-GB" altLang="fr-FR" sz="1400" baseline="30000" dirty="0">
                <a:solidFill>
                  <a:srgbClr val="FF0000"/>
                </a:solidFill>
              </a:rPr>
              <a:t>+</a:t>
            </a:r>
            <a:r>
              <a:rPr lang="en-GB" altLang="fr-FR" sz="1400" dirty="0">
                <a:solidFill>
                  <a:srgbClr val="FF0000"/>
                </a:solidFill>
              </a:rPr>
              <a:t>, j</a:t>
            </a:r>
            <a:r>
              <a:rPr lang="en-GB" altLang="fr-FR" sz="1400" baseline="-25000" dirty="0">
                <a:solidFill>
                  <a:srgbClr val="FF0000"/>
                </a:solidFill>
              </a:rPr>
              <a:t>7</a:t>
            </a:r>
            <a:r>
              <a:rPr lang="en-GB" altLang="fr-FR" sz="1400" baseline="30000" dirty="0">
                <a:solidFill>
                  <a:srgbClr val="FF0000"/>
                </a:solidFill>
              </a:rPr>
              <a:t>+</a:t>
            </a:r>
            <a:r>
              <a:rPr lang="en-GB" altLang="fr-FR" sz="1400" dirty="0">
                <a:solidFill>
                  <a:srgbClr val="FF0000"/>
                </a:solidFill>
              </a:rPr>
              <a:t>, j</a:t>
            </a:r>
            <a:r>
              <a:rPr lang="en-GB" altLang="fr-FR" sz="1400" baseline="-25000" dirty="0">
                <a:solidFill>
                  <a:srgbClr val="FF0000"/>
                </a:solidFill>
              </a:rPr>
              <a:t>12</a:t>
            </a:r>
            <a:r>
              <a:rPr lang="en-GB" altLang="fr-FR" sz="1400" baseline="30000" dirty="0">
                <a:solidFill>
                  <a:srgbClr val="FF0000"/>
                </a:solidFill>
              </a:rPr>
              <a:t>+</a:t>
            </a:r>
            <a:r>
              <a:rPr lang="en-GB" altLang="fr-FR" sz="1400" dirty="0">
                <a:solidFill>
                  <a:srgbClr val="FF0000"/>
                </a:solidFill>
              </a:rPr>
              <a:t>, j</a:t>
            </a:r>
            <a:r>
              <a:rPr lang="en-GB" altLang="fr-FR" sz="1400" baseline="-25000" dirty="0">
                <a:solidFill>
                  <a:srgbClr val="FF0000"/>
                </a:solidFill>
              </a:rPr>
              <a:t>13</a:t>
            </a:r>
            <a:r>
              <a:rPr lang="en-GB" altLang="fr-FR" sz="1400" baseline="30000" dirty="0">
                <a:solidFill>
                  <a:srgbClr val="FF0000"/>
                </a:solidFill>
              </a:rPr>
              <a:t>+</a:t>
            </a:r>
            <a:r>
              <a:rPr lang="en-GB" altLang="fr-FR" sz="1400" dirty="0">
                <a:solidFill>
                  <a:srgbClr val="FF0000"/>
                </a:solidFill>
              </a:rPr>
              <a:t>}</a:t>
            </a:r>
            <a:r>
              <a:rPr lang="en-GB" altLang="fr-FR" sz="1400" dirty="0">
                <a:solidFill>
                  <a:srgbClr val="FF9900"/>
                </a:solidFill>
              </a:rPr>
              <a:t> </a:t>
            </a:r>
          </a:p>
          <a:p>
            <a:pPr eaLnBrk="1" hangingPunct="1">
              <a:spcBef>
                <a:spcPct val="0"/>
              </a:spcBef>
              <a:buFontTx/>
              <a:buNone/>
            </a:pPr>
            <a:r>
              <a:rPr lang="en-GB" altLang="fr-FR" sz="1400" dirty="0" err="1">
                <a:solidFill>
                  <a:srgbClr val="FF0000"/>
                </a:solidFill>
              </a:rPr>
              <a:t>S</a:t>
            </a:r>
            <a:r>
              <a:rPr lang="en-GB" altLang="fr-FR" sz="1400" baseline="-25000" dirty="0" err="1">
                <a:solidFill>
                  <a:srgbClr val="FF0000"/>
                </a:solidFill>
              </a:rPr>
              <a:t>pluvieux</a:t>
            </a:r>
            <a:r>
              <a:rPr lang="en-GB" altLang="fr-FR" sz="1400" dirty="0">
                <a:solidFill>
                  <a:srgbClr val="FF0000"/>
                </a:solidFill>
              </a:rPr>
              <a:t>={j</a:t>
            </a:r>
            <a:r>
              <a:rPr lang="en-GB" altLang="fr-FR" sz="1400" baseline="-25000" dirty="0">
                <a:solidFill>
                  <a:srgbClr val="FF0000"/>
                </a:solidFill>
              </a:rPr>
              <a:t>4</a:t>
            </a:r>
            <a:r>
              <a:rPr lang="en-GB" altLang="fr-FR" sz="1400" baseline="30000" dirty="0">
                <a:solidFill>
                  <a:srgbClr val="FF0000"/>
                </a:solidFill>
              </a:rPr>
              <a:t>+</a:t>
            </a:r>
            <a:r>
              <a:rPr lang="en-GB" altLang="fr-FR" sz="1400" dirty="0">
                <a:solidFill>
                  <a:srgbClr val="FF0000"/>
                </a:solidFill>
              </a:rPr>
              <a:t>, j</a:t>
            </a:r>
            <a:r>
              <a:rPr lang="en-GB" altLang="fr-FR" sz="1400" baseline="-25000" dirty="0">
                <a:solidFill>
                  <a:srgbClr val="FF0000"/>
                </a:solidFill>
              </a:rPr>
              <a:t>5</a:t>
            </a:r>
            <a:r>
              <a:rPr lang="en-GB" altLang="fr-FR" sz="1400" baseline="30000" dirty="0">
                <a:solidFill>
                  <a:srgbClr val="FF0000"/>
                </a:solidFill>
              </a:rPr>
              <a:t>+</a:t>
            </a:r>
            <a:r>
              <a:rPr lang="en-GB" altLang="fr-FR" sz="1400" dirty="0">
                <a:solidFill>
                  <a:srgbClr val="FF0000"/>
                </a:solidFill>
              </a:rPr>
              <a:t>, j</a:t>
            </a:r>
            <a:r>
              <a:rPr lang="en-GB" altLang="fr-FR" sz="1400" baseline="-25000" dirty="0">
                <a:solidFill>
                  <a:srgbClr val="FF0000"/>
                </a:solidFill>
              </a:rPr>
              <a:t>6</a:t>
            </a:r>
            <a:r>
              <a:rPr lang="en-GB" altLang="fr-FR" sz="1400" baseline="30000" dirty="0">
                <a:solidFill>
                  <a:srgbClr val="FF0000"/>
                </a:solidFill>
              </a:rPr>
              <a:t>-</a:t>
            </a:r>
            <a:r>
              <a:rPr lang="en-GB" altLang="fr-FR" sz="1400" dirty="0">
                <a:solidFill>
                  <a:srgbClr val="FF0000"/>
                </a:solidFill>
              </a:rPr>
              <a:t>, j</a:t>
            </a:r>
            <a:r>
              <a:rPr lang="en-GB" altLang="fr-FR" sz="1400" baseline="-25000" dirty="0">
                <a:solidFill>
                  <a:srgbClr val="FF0000"/>
                </a:solidFill>
              </a:rPr>
              <a:t>10</a:t>
            </a:r>
            <a:r>
              <a:rPr lang="en-GB" altLang="fr-FR" sz="1400" baseline="30000" dirty="0">
                <a:solidFill>
                  <a:srgbClr val="FF0000"/>
                </a:solidFill>
              </a:rPr>
              <a:t>+</a:t>
            </a:r>
            <a:r>
              <a:rPr lang="en-GB" altLang="fr-FR" sz="1400" dirty="0">
                <a:solidFill>
                  <a:srgbClr val="FF0000"/>
                </a:solidFill>
              </a:rPr>
              <a:t>, j</a:t>
            </a:r>
            <a:r>
              <a:rPr lang="en-GB" altLang="fr-FR" sz="1400" baseline="-25000" dirty="0">
                <a:solidFill>
                  <a:srgbClr val="FF0000"/>
                </a:solidFill>
              </a:rPr>
              <a:t>14</a:t>
            </a:r>
            <a:r>
              <a:rPr lang="en-GB" altLang="fr-FR" sz="1400" baseline="30000" dirty="0">
                <a:solidFill>
                  <a:srgbClr val="FF0000"/>
                </a:solidFill>
              </a:rPr>
              <a:t>-</a:t>
            </a:r>
            <a:r>
              <a:rPr lang="en-GB" altLang="fr-FR" sz="1400" dirty="0">
                <a:solidFill>
                  <a:srgbClr val="FF0000"/>
                </a:solidFill>
              </a:rPr>
              <a:t>}</a:t>
            </a:r>
            <a:r>
              <a:rPr lang="en-GB" altLang="fr-FR" sz="1400" dirty="0">
                <a:solidFill>
                  <a:srgbClr val="FF9900"/>
                </a:solidFill>
              </a:rPr>
              <a:t> </a:t>
            </a:r>
          </a:p>
          <a:p>
            <a:pPr eaLnBrk="1" hangingPunct="1">
              <a:spcBef>
                <a:spcPct val="0"/>
              </a:spcBef>
              <a:buFont typeface="Arial" panose="020B0604020202020204" pitchFamily="34" charset="0"/>
              <a:buNone/>
            </a:pPr>
            <a:endParaRPr lang="en-GB" altLang="fr-FR" sz="1400" dirty="0">
              <a:solidFill>
                <a:srgbClr val="FF9900"/>
              </a:solidFill>
            </a:endParaRPr>
          </a:p>
          <a:p>
            <a:pPr eaLnBrk="1" hangingPunct="1">
              <a:spcBef>
                <a:spcPct val="0"/>
              </a:spcBef>
              <a:buFont typeface="Arial" panose="020B0604020202020204" pitchFamily="34" charset="0"/>
              <a:buNone/>
            </a:pPr>
            <a:endParaRPr lang="en-GB" altLang="fr-FR" sz="1400" dirty="0">
              <a:solidFill>
                <a:schemeClr val="tx1"/>
              </a:solidFill>
            </a:endParaRPr>
          </a:p>
          <a:p>
            <a:pPr eaLnBrk="1" hangingPunct="1">
              <a:spcBef>
                <a:spcPct val="0"/>
              </a:spcBef>
              <a:buFont typeface="Arial" panose="020B0604020202020204" pitchFamily="34" charset="0"/>
              <a:buNone/>
            </a:pPr>
            <a:endParaRPr lang="en-GB" altLang="fr-FR" sz="1400" dirty="0">
              <a:solidFill>
                <a:schemeClr val="tx1"/>
              </a:solidFill>
            </a:endParaRPr>
          </a:p>
          <a:p>
            <a:pPr eaLnBrk="1" hangingPunct="1">
              <a:spcBef>
                <a:spcPct val="0"/>
              </a:spcBef>
              <a:buFont typeface="Arial" panose="020B0604020202020204" pitchFamily="34" charset="0"/>
              <a:buNone/>
            </a:pPr>
            <a:r>
              <a:rPr lang="en-GB" altLang="fr-FR" sz="1400" dirty="0">
                <a:solidFill>
                  <a:schemeClr val="tx1"/>
                </a:solidFill>
              </a:rPr>
              <a:t>Le </a:t>
            </a:r>
            <a:r>
              <a:rPr lang="en-GB" altLang="fr-FR" sz="1400" dirty="0" err="1">
                <a:solidFill>
                  <a:schemeClr val="tx1"/>
                </a:solidFill>
              </a:rPr>
              <a:t>calcul</a:t>
            </a:r>
            <a:r>
              <a:rPr lang="en-GB" altLang="fr-FR" sz="1400" dirty="0">
                <a:solidFill>
                  <a:schemeClr val="tx1"/>
                </a:solidFill>
              </a:rPr>
              <a:t> du gain </a:t>
            </a:r>
            <a:r>
              <a:rPr lang="en-GB" altLang="fr-FR" sz="1400" dirty="0" err="1">
                <a:solidFill>
                  <a:schemeClr val="tx1"/>
                </a:solidFill>
              </a:rPr>
              <a:t>d’information</a:t>
            </a:r>
            <a:r>
              <a:rPr lang="en-GB" altLang="fr-FR" sz="1400" dirty="0">
                <a:solidFill>
                  <a:schemeClr val="tx1"/>
                </a:solidFill>
              </a:rPr>
              <a:t> pour </a:t>
            </a:r>
            <a:r>
              <a:rPr lang="en-GB" altLang="fr-FR" sz="1400" dirty="0" err="1">
                <a:solidFill>
                  <a:schemeClr val="tx1"/>
                </a:solidFill>
              </a:rPr>
              <a:t>l’attribut</a:t>
            </a:r>
            <a:endParaRPr lang="en-GB" altLang="fr-FR" sz="1400" dirty="0">
              <a:solidFill>
                <a:schemeClr val="tx1"/>
              </a:solidFill>
            </a:endParaRPr>
          </a:p>
          <a:p>
            <a:pPr eaLnBrk="1" hangingPunct="1">
              <a:spcBef>
                <a:spcPct val="0"/>
              </a:spcBef>
              <a:buFont typeface="Arial" panose="020B0604020202020204" pitchFamily="34" charset="0"/>
              <a:buNone/>
            </a:pPr>
            <a:r>
              <a:rPr lang="en-GB" altLang="fr-FR" sz="1400" b="1" i="1" dirty="0" err="1">
                <a:solidFill>
                  <a:schemeClr val="tx1"/>
                </a:solidFill>
              </a:rPr>
              <a:t>Ciel</a:t>
            </a:r>
            <a:r>
              <a:rPr lang="en-GB" altLang="fr-FR" sz="1400" i="1" dirty="0">
                <a:solidFill>
                  <a:schemeClr val="tx1"/>
                </a:solidFill>
              </a:rPr>
              <a:t> </a:t>
            </a:r>
            <a:r>
              <a:rPr lang="en-GB" altLang="fr-FR" sz="1400" dirty="0" err="1">
                <a:solidFill>
                  <a:schemeClr val="tx1"/>
                </a:solidFill>
              </a:rPr>
              <a:t>va</a:t>
            </a:r>
            <a:r>
              <a:rPr lang="en-GB" altLang="fr-FR" sz="1400" dirty="0">
                <a:solidFill>
                  <a:schemeClr val="tx1"/>
                </a:solidFill>
              </a:rPr>
              <a:t> </a:t>
            </a:r>
            <a:r>
              <a:rPr lang="en-GB" altLang="fr-FR" sz="1400" dirty="0" err="1">
                <a:solidFill>
                  <a:schemeClr val="tx1"/>
                </a:solidFill>
              </a:rPr>
              <a:t>donc</a:t>
            </a:r>
            <a:r>
              <a:rPr lang="en-GB" altLang="fr-FR" sz="1400" dirty="0">
                <a:solidFill>
                  <a:schemeClr val="tx1"/>
                </a:solidFill>
              </a:rPr>
              <a:t> </a:t>
            </a:r>
            <a:r>
              <a:rPr lang="en-GB" altLang="fr-FR" sz="1400" dirty="0" err="1">
                <a:solidFill>
                  <a:schemeClr val="tx1"/>
                </a:solidFill>
              </a:rPr>
              <a:t>donner</a:t>
            </a:r>
            <a:r>
              <a:rPr lang="en-GB" altLang="fr-FR" sz="1400" dirty="0">
                <a:solidFill>
                  <a:schemeClr val="tx1"/>
                </a:solidFill>
              </a:rPr>
              <a:t>:</a:t>
            </a:r>
          </a:p>
          <a:p>
            <a:pPr eaLnBrk="1" hangingPunct="1">
              <a:spcBef>
                <a:spcPct val="0"/>
              </a:spcBef>
              <a:buFont typeface="Arial" panose="020B0604020202020204" pitchFamily="34" charset="0"/>
              <a:buNone/>
            </a:pPr>
            <a:endParaRPr lang="en-GB" altLang="fr-FR" sz="1400" dirty="0">
              <a:solidFill>
                <a:schemeClr val="tx1"/>
              </a:solidFill>
            </a:endParaRPr>
          </a:p>
          <a:p>
            <a:pPr eaLnBrk="1" hangingPunct="1">
              <a:spcBef>
                <a:spcPct val="0"/>
              </a:spcBef>
              <a:buFont typeface="Arial" panose="020B0604020202020204" pitchFamily="34" charset="0"/>
              <a:buNone/>
            </a:pPr>
            <a:endParaRPr lang="en-GB" altLang="fr-FR" sz="1400" dirty="0">
              <a:solidFill>
                <a:schemeClr val="tx1"/>
              </a:solidFill>
            </a:endParaRPr>
          </a:p>
        </p:txBody>
      </p:sp>
      <p:pic>
        <p:nvPicPr>
          <p:cNvPr id="50179" name="Picture 2">
            <a:extLst>
              <a:ext uri="{FF2B5EF4-FFF2-40B4-BE49-F238E27FC236}">
                <a16:creationId xmlns="" xmlns:a16="http://schemas.microsoft.com/office/drawing/2014/main" id="{03337C38-C009-4D81-871A-B4BF896EF7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2314" y="2033588"/>
            <a:ext cx="4465637"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9" name="Picture 3">
            <a:extLst>
              <a:ext uri="{FF2B5EF4-FFF2-40B4-BE49-F238E27FC236}">
                <a16:creationId xmlns="" xmlns:a16="http://schemas.microsoft.com/office/drawing/2014/main" id="{619658E2-FC3B-4FFD-8328-4127AEABE6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46600" y="3573463"/>
            <a:ext cx="5365750"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Picture 4">
            <a:extLst>
              <a:ext uri="{FF2B5EF4-FFF2-40B4-BE49-F238E27FC236}">
                <a16:creationId xmlns="" xmlns:a16="http://schemas.microsoft.com/office/drawing/2014/main" id="{20C0046D-2A29-4E5A-84E6-D6B1F07BE63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8863" y="5300664"/>
            <a:ext cx="5110162" cy="155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0182" name="Group 5">
            <a:extLst>
              <a:ext uri="{FF2B5EF4-FFF2-40B4-BE49-F238E27FC236}">
                <a16:creationId xmlns="" xmlns:a16="http://schemas.microsoft.com/office/drawing/2014/main" id="{6F80D320-CB87-4B59-A927-D6BB2E5B7C19}"/>
              </a:ext>
            </a:extLst>
          </p:cNvPr>
          <p:cNvGrpSpPr>
            <a:grpSpLocks/>
          </p:cNvGrpSpPr>
          <p:nvPr/>
        </p:nvGrpSpPr>
        <p:grpSpPr bwMode="auto">
          <a:xfrm>
            <a:off x="1524001" y="44451"/>
            <a:ext cx="9142413" cy="365125"/>
            <a:chOff x="0" y="28"/>
            <a:chExt cx="5759" cy="230"/>
          </a:xfrm>
        </p:grpSpPr>
        <p:sp>
          <p:nvSpPr>
            <p:cNvPr id="50185" name="AutoShape 6">
              <a:extLst>
                <a:ext uri="{FF2B5EF4-FFF2-40B4-BE49-F238E27FC236}">
                  <a16:creationId xmlns="" xmlns:a16="http://schemas.microsoft.com/office/drawing/2014/main" id="{B6239C35-68F0-4346-AE7E-688A519B397F}"/>
                </a:ext>
              </a:extLst>
            </p:cNvPr>
            <p:cNvSpPr>
              <a:spLocks noChangeArrowheads="1"/>
            </p:cNvSpPr>
            <p:nvPr/>
          </p:nvSpPr>
          <p:spPr bwMode="auto">
            <a:xfrm>
              <a:off x="0" y="28"/>
              <a:ext cx="5760" cy="231"/>
            </a:xfrm>
            <a:prstGeom prst="roundRect">
              <a:avLst>
                <a:gd name="adj" fmla="val 431"/>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endParaRPr lang="fr-FR" altLang="fr-FR" sz="1800">
                <a:latin typeface="Times New Roman" panose="02020603050405020304" pitchFamily="18" charset="0"/>
              </a:endParaRPr>
            </a:p>
          </p:txBody>
        </p:sp>
        <p:sp>
          <p:nvSpPr>
            <p:cNvPr id="50186" name="Text Box 7">
              <a:extLst>
                <a:ext uri="{FF2B5EF4-FFF2-40B4-BE49-F238E27FC236}">
                  <a16:creationId xmlns="" xmlns:a16="http://schemas.microsoft.com/office/drawing/2014/main" id="{978B698F-3E58-4F08-BC34-CDE52566069A}"/>
                </a:ext>
              </a:extLst>
            </p:cNvPr>
            <p:cNvSpPr txBox="1">
              <a:spLocks noChangeArrowheads="1"/>
            </p:cNvSpPr>
            <p:nvPr/>
          </p:nvSpPr>
          <p:spPr bwMode="auto">
            <a:xfrm>
              <a:off x="0" y="28"/>
              <a:ext cx="57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1800">
                  <a:solidFill>
                    <a:schemeClr val="tx1"/>
                  </a:solidFill>
                </a:rPr>
                <a:t>Intelligence Artificielle 		Apprentissage			</a:t>
              </a:r>
            </a:p>
          </p:txBody>
        </p:sp>
      </p:grpSp>
      <p:pic>
        <p:nvPicPr>
          <p:cNvPr id="50183" name="Picture 9">
            <a:extLst>
              <a:ext uri="{FF2B5EF4-FFF2-40B4-BE49-F238E27FC236}">
                <a16:creationId xmlns="" xmlns:a16="http://schemas.microsoft.com/office/drawing/2014/main" id="{706E436D-E261-4AC8-9F2C-5E9BE469225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91401" y="476251"/>
            <a:ext cx="309562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4" name="Picture 10">
            <a:extLst>
              <a:ext uri="{FF2B5EF4-FFF2-40B4-BE49-F238E27FC236}">
                <a16:creationId xmlns="" xmlns:a16="http://schemas.microsoft.com/office/drawing/2014/main" id="{CC984FD6-FC88-4841-BDC3-0DEE38B43B4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73950" y="4314826"/>
            <a:ext cx="319405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 xmlns:a16="http://schemas.microsoft.com/office/drawing/2014/main" id="{B976960E-E288-4344-8707-D0E51A8497F1}"/>
              </a:ext>
            </a:extLst>
          </p:cNvPr>
          <p:cNvSpPr>
            <a:spLocks noGrp="1"/>
          </p:cNvSpPr>
          <p:nvPr>
            <p:ph type="sldNum" sz="quarter" idx="12"/>
          </p:nvPr>
        </p:nvSpPr>
        <p:spPr/>
        <p:txBody>
          <a:bodyPr/>
          <a:lstStyle/>
          <a:p>
            <a:fld id="{EE5DF52D-0FE0-4249-9023-8B500BDB729B}" type="slidenum">
              <a:rPr lang="fr-FR" smtClean="0"/>
              <a:pPr/>
              <a:t>21</a:t>
            </a:fld>
            <a:endParaRPr lang="fr-F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9457">
                                            <p:txEl>
                                              <p:pRg st="9" end="9"/>
                                            </p:txEl>
                                          </p:spTgt>
                                        </p:tgtEl>
                                        <p:attrNameLst>
                                          <p:attrName>style.visibility</p:attrName>
                                        </p:attrNameLst>
                                      </p:cBhvr>
                                      <p:to>
                                        <p:strVal val="visible"/>
                                      </p:to>
                                    </p:set>
                                    <p:animEffect transition="in" filter="checkerboard(across)">
                                      <p:cBhvr>
                                        <p:cTn id="7" dur="500"/>
                                        <p:tgtEl>
                                          <p:spTgt spid="19457">
                                            <p:txEl>
                                              <p:pRg st="9" end="9"/>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9457">
                                            <p:txEl>
                                              <p:pRg st="10" end="10"/>
                                            </p:txEl>
                                          </p:spTgt>
                                        </p:tgtEl>
                                        <p:attrNameLst>
                                          <p:attrName>style.visibility</p:attrName>
                                        </p:attrNameLst>
                                      </p:cBhvr>
                                      <p:to>
                                        <p:strVal val="visible"/>
                                      </p:to>
                                    </p:set>
                                    <p:animEffect transition="in" filter="checkerboard(across)">
                                      <p:cBhvr>
                                        <p:cTn id="10" dur="500"/>
                                        <p:tgtEl>
                                          <p:spTgt spid="19457">
                                            <p:txEl>
                                              <p:pRg st="10" end="10"/>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19457">
                                            <p:txEl>
                                              <p:pRg st="11" end="11"/>
                                            </p:txEl>
                                          </p:spTgt>
                                        </p:tgtEl>
                                        <p:attrNameLst>
                                          <p:attrName>style.visibility</p:attrName>
                                        </p:attrNameLst>
                                      </p:cBhvr>
                                      <p:to>
                                        <p:strVal val="visible"/>
                                      </p:to>
                                    </p:set>
                                    <p:animEffect transition="in" filter="checkerboard(across)">
                                      <p:cBhvr>
                                        <p:cTn id="13" dur="500"/>
                                        <p:tgtEl>
                                          <p:spTgt spid="19457">
                                            <p:txEl>
                                              <p:pRg st="11" end="11"/>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19457">
                                            <p:txEl>
                                              <p:pRg st="12" end="12"/>
                                            </p:txEl>
                                          </p:spTgt>
                                        </p:tgtEl>
                                        <p:attrNameLst>
                                          <p:attrName>style.visibility</p:attrName>
                                        </p:attrNameLst>
                                      </p:cBhvr>
                                      <p:to>
                                        <p:strVal val="visible"/>
                                      </p:to>
                                    </p:set>
                                    <p:animEffect transition="in" filter="checkerboard(across)">
                                      <p:cBhvr>
                                        <p:cTn id="16" dur="500"/>
                                        <p:tgtEl>
                                          <p:spTgt spid="19457">
                                            <p:txEl>
                                              <p:pRg st="12" end="12"/>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19457">
                                            <p:txEl>
                                              <p:pRg st="13" end="13"/>
                                            </p:txEl>
                                          </p:spTgt>
                                        </p:tgtEl>
                                        <p:attrNameLst>
                                          <p:attrName>style.visibility</p:attrName>
                                        </p:attrNameLst>
                                      </p:cBhvr>
                                      <p:to>
                                        <p:strVal val="visible"/>
                                      </p:to>
                                    </p:set>
                                    <p:animEffect transition="in" filter="checkerboard(across)">
                                      <p:cBhvr>
                                        <p:cTn id="19" dur="500"/>
                                        <p:tgtEl>
                                          <p:spTgt spid="19457">
                                            <p:txEl>
                                              <p:pRg st="13" end="13"/>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19457">
                                            <p:txEl>
                                              <p:pRg st="14" end="14"/>
                                            </p:txEl>
                                          </p:spTgt>
                                        </p:tgtEl>
                                        <p:attrNameLst>
                                          <p:attrName>style.visibility</p:attrName>
                                        </p:attrNameLst>
                                      </p:cBhvr>
                                      <p:to>
                                        <p:strVal val="visible"/>
                                      </p:to>
                                    </p:set>
                                    <p:animEffect transition="in" filter="checkerboard(across)">
                                      <p:cBhvr>
                                        <p:cTn id="22" dur="500"/>
                                        <p:tgtEl>
                                          <p:spTgt spid="19457">
                                            <p:txEl>
                                              <p:pRg st="14" end="1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9459"/>
                                        </p:tgtEl>
                                        <p:attrNameLst>
                                          <p:attrName>style.visibility</p:attrName>
                                        </p:attrNameLst>
                                      </p:cBhvr>
                                      <p:to>
                                        <p:strVal val="visible"/>
                                      </p:to>
                                    </p:set>
                                    <p:animEffect transition="in" filter="box(in)">
                                      <p:cBhvr>
                                        <p:cTn id="27" dur="500"/>
                                        <p:tgtEl>
                                          <p:spTgt spid="1945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19457">
                                            <p:txEl>
                                              <p:pRg st="18" end="18"/>
                                            </p:txEl>
                                          </p:spTgt>
                                        </p:tgtEl>
                                        <p:attrNameLst>
                                          <p:attrName>style.visibility</p:attrName>
                                        </p:attrNameLst>
                                      </p:cBhvr>
                                      <p:to>
                                        <p:strVal val="visible"/>
                                      </p:to>
                                    </p:set>
                                    <p:animEffect transition="in" filter="checkerboard(across)">
                                      <p:cBhvr>
                                        <p:cTn id="32" dur="500"/>
                                        <p:tgtEl>
                                          <p:spTgt spid="19457">
                                            <p:txEl>
                                              <p:pRg st="18" end="18"/>
                                            </p:txEl>
                                          </p:spTgt>
                                        </p:tgtEl>
                                      </p:cBhvr>
                                    </p:animEffect>
                                  </p:childTnLst>
                                </p:cTn>
                              </p:par>
                              <p:par>
                                <p:cTn id="33" presetID="5" presetClass="entr" presetSubtype="10" fill="hold" nodeType="withEffect">
                                  <p:stCondLst>
                                    <p:cond delay="0"/>
                                  </p:stCondLst>
                                  <p:childTnLst>
                                    <p:set>
                                      <p:cBhvr>
                                        <p:cTn id="34" dur="1" fill="hold">
                                          <p:stCondLst>
                                            <p:cond delay="0"/>
                                          </p:stCondLst>
                                        </p:cTn>
                                        <p:tgtEl>
                                          <p:spTgt spid="19457">
                                            <p:txEl>
                                              <p:pRg st="19" end="19"/>
                                            </p:txEl>
                                          </p:spTgt>
                                        </p:tgtEl>
                                        <p:attrNameLst>
                                          <p:attrName>style.visibility</p:attrName>
                                        </p:attrNameLst>
                                      </p:cBhvr>
                                      <p:to>
                                        <p:strVal val="visible"/>
                                      </p:to>
                                    </p:set>
                                    <p:animEffect transition="in" filter="checkerboard(across)">
                                      <p:cBhvr>
                                        <p:cTn id="35" dur="500"/>
                                        <p:tgtEl>
                                          <p:spTgt spid="19457">
                                            <p:txEl>
                                              <p:pRg st="19" end="19"/>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16" fill="hold" nodeType="clickEffect">
                                  <p:stCondLst>
                                    <p:cond delay="0"/>
                                  </p:stCondLst>
                                  <p:childTnLst>
                                    <p:set>
                                      <p:cBhvr>
                                        <p:cTn id="39" dur="1" fill="hold">
                                          <p:stCondLst>
                                            <p:cond delay="0"/>
                                          </p:stCondLst>
                                        </p:cTn>
                                        <p:tgtEl>
                                          <p:spTgt spid="19460"/>
                                        </p:tgtEl>
                                        <p:attrNameLst>
                                          <p:attrName>style.visibility</p:attrName>
                                        </p:attrNameLst>
                                      </p:cBhvr>
                                      <p:to>
                                        <p:strVal val="visible"/>
                                      </p:to>
                                    </p:set>
                                    <p:animEffect transition="in" filter="box(in)">
                                      <p:cBhvr>
                                        <p:cTn id="40" dur="500"/>
                                        <p:tgtEl>
                                          <p:spTgt spid="19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 Box 1">
            <a:extLst>
              <a:ext uri="{FF2B5EF4-FFF2-40B4-BE49-F238E27FC236}">
                <a16:creationId xmlns="" xmlns:a16="http://schemas.microsoft.com/office/drawing/2014/main" id="{03314DF6-4E00-4297-8BBC-0F1D16A774FA}"/>
              </a:ext>
            </a:extLst>
          </p:cNvPr>
          <p:cNvSpPr txBox="1">
            <a:spLocks noChangeArrowheads="1"/>
          </p:cNvSpPr>
          <p:nvPr/>
        </p:nvSpPr>
        <p:spPr bwMode="auto">
          <a:xfrm>
            <a:off x="1524000" y="404813"/>
            <a:ext cx="9144000" cy="472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2000" b="1">
                <a:solidFill>
                  <a:schemeClr val="tx1"/>
                </a:solidFill>
              </a:rPr>
              <a:t>Exemple</a:t>
            </a:r>
          </a:p>
          <a:p>
            <a:pPr eaLnBrk="1" hangingPunct="1">
              <a:spcBef>
                <a:spcPct val="0"/>
              </a:spcBef>
              <a:buFont typeface="Arial" panose="020B0604020202020204" pitchFamily="34" charset="0"/>
              <a:buNone/>
            </a:pPr>
            <a:r>
              <a:rPr lang="en-GB" altLang="fr-FR" sz="1400">
                <a:solidFill>
                  <a:schemeClr val="tx1"/>
                </a:solidFill>
              </a:rPr>
              <a:t>On calcul le gain de la même manière pour les trois autres attributs:</a:t>
            </a:r>
          </a:p>
          <a:p>
            <a:pPr eaLnBrk="1" hangingPunct="1">
              <a:spcBef>
                <a:spcPct val="0"/>
              </a:spcBef>
              <a:buFont typeface="Arial" panose="020B0604020202020204" pitchFamily="34" charset="0"/>
              <a:buNone/>
            </a:pPr>
            <a:r>
              <a:rPr lang="en-GB" altLang="fr-FR" sz="1400">
                <a:solidFill>
                  <a:schemeClr val="tx1"/>
                </a:solidFill>
              </a:rPr>
              <a:t>L'attribut qui a le plus grand gain d'information est l'attribut </a:t>
            </a:r>
            <a:r>
              <a:rPr lang="en-GB" altLang="fr-FR" sz="1400" i="1">
                <a:solidFill>
                  <a:schemeClr val="accent2"/>
                </a:solidFill>
              </a:rPr>
              <a:t>Ciel</a:t>
            </a:r>
            <a:r>
              <a:rPr lang="en-GB" altLang="fr-FR" sz="1400">
                <a:solidFill>
                  <a:schemeClr val="tx1"/>
                </a:solidFill>
              </a:rPr>
              <a:t>, donc se sera la racine de l'arbre de décision.</a:t>
            </a:r>
          </a:p>
          <a:p>
            <a:pPr eaLnBrk="1" hangingPunct="1">
              <a:spcBef>
                <a:spcPct val="0"/>
              </a:spcBef>
              <a:buFont typeface="Arial" panose="020B0604020202020204" pitchFamily="34" charset="0"/>
              <a:buNone/>
            </a:pPr>
            <a:endParaRPr lang="en-GB" altLang="fr-FR" sz="1800">
              <a:solidFill>
                <a:schemeClr val="tx1"/>
              </a:solidFill>
            </a:endParaRPr>
          </a:p>
          <a:p>
            <a:pPr eaLnBrk="1" hangingPunct="1">
              <a:spcBef>
                <a:spcPct val="0"/>
              </a:spcBef>
              <a:buFont typeface="Arial" panose="020B0604020202020204" pitchFamily="34" charset="0"/>
              <a:buNone/>
            </a:pPr>
            <a:endParaRPr lang="en-GB" altLang="fr-FR" sz="1800">
              <a:solidFill>
                <a:schemeClr val="tx1"/>
              </a:solidFill>
            </a:endParaRPr>
          </a:p>
          <a:p>
            <a:pPr eaLnBrk="1" hangingPunct="1">
              <a:spcBef>
                <a:spcPct val="0"/>
              </a:spcBef>
              <a:buFont typeface="Arial" panose="020B0604020202020204" pitchFamily="34" charset="0"/>
              <a:buNone/>
            </a:pPr>
            <a:endParaRPr lang="en-GB" altLang="fr-FR" sz="1800">
              <a:solidFill>
                <a:schemeClr val="tx1"/>
              </a:solidFill>
            </a:endParaRPr>
          </a:p>
          <a:p>
            <a:pPr eaLnBrk="1" hangingPunct="1">
              <a:spcBef>
                <a:spcPct val="0"/>
              </a:spcBef>
              <a:buFont typeface="Arial" panose="020B0604020202020204" pitchFamily="34" charset="0"/>
              <a:buNone/>
            </a:pPr>
            <a:endParaRPr lang="en-GB" altLang="fr-FR" sz="1800">
              <a:solidFill>
                <a:schemeClr val="tx1"/>
              </a:solidFill>
            </a:endParaRPr>
          </a:p>
          <a:p>
            <a:pPr eaLnBrk="1" hangingPunct="1">
              <a:spcBef>
                <a:spcPct val="0"/>
              </a:spcBef>
              <a:buFont typeface="Arial" panose="020B0604020202020204" pitchFamily="34" charset="0"/>
              <a:buNone/>
            </a:pPr>
            <a:r>
              <a:rPr lang="en-GB" altLang="fr-FR" sz="1400">
                <a:solidFill>
                  <a:schemeClr val="tx1"/>
                </a:solidFill>
              </a:rPr>
              <a:t>En séparant les exemples selon les valeurs de l’attributs </a:t>
            </a:r>
            <a:r>
              <a:rPr lang="en-GB" altLang="fr-FR" sz="1400" i="1">
                <a:solidFill>
                  <a:schemeClr val="tx1"/>
                </a:solidFill>
              </a:rPr>
              <a:t>Ciel</a:t>
            </a:r>
            <a:r>
              <a:rPr lang="en-GB" altLang="fr-FR" sz="1400">
                <a:solidFill>
                  <a:schemeClr val="tx1"/>
                </a:solidFill>
              </a:rPr>
              <a:t>, on obtient l’arbre partiel:</a:t>
            </a:r>
          </a:p>
          <a:p>
            <a:pPr eaLnBrk="1" hangingPunct="1">
              <a:spcBef>
                <a:spcPct val="0"/>
              </a:spcBef>
              <a:buFont typeface="Arial" panose="020B0604020202020204" pitchFamily="34" charset="0"/>
              <a:buNone/>
            </a:pPr>
            <a:endParaRPr lang="en-GB" altLang="fr-FR" sz="1400">
              <a:solidFill>
                <a:schemeClr val="tx1"/>
              </a:solidFill>
            </a:endParaRPr>
          </a:p>
          <a:p>
            <a:pPr eaLnBrk="1" hangingPunct="1">
              <a:spcBef>
                <a:spcPct val="0"/>
              </a:spcBef>
              <a:buFontTx/>
              <a:buNone/>
            </a:pPr>
            <a:r>
              <a:rPr lang="en-GB" altLang="fr-FR" sz="1400">
                <a:solidFill>
                  <a:srgbClr val="FF0000"/>
                </a:solidFill>
              </a:rPr>
              <a:t>S</a:t>
            </a:r>
            <a:r>
              <a:rPr lang="en-GB" altLang="fr-FR" sz="1400" baseline="-25000">
                <a:solidFill>
                  <a:srgbClr val="FF0000"/>
                </a:solidFill>
              </a:rPr>
              <a:t>ensoleillé</a:t>
            </a:r>
            <a:r>
              <a:rPr lang="en-GB" altLang="fr-FR" sz="1400">
                <a:solidFill>
                  <a:srgbClr val="FF0000"/>
                </a:solidFill>
              </a:rPr>
              <a:t>={j</a:t>
            </a:r>
            <a:r>
              <a:rPr lang="en-GB" altLang="fr-FR" sz="1400" baseline="-25000">
                <a:solidFill>
                  <a:srgbClr val="FF0000"/>
                </a:solidFill>
              </a:rPr>
              <a:t>1</a:t>
            </a:r>
            <a:r>
              <a:rPr lang="en-GB" altLang="fr-FR" sz="1400" baseline="30000">
                <a:solidFill>
                  <a:srgbClr val="FF0000"/>
                </a:solidFill>
              </a:rPr>
              <a:t>-</a:t>
            </a:r>
            <a:r>
              <a:rPr lang="en-GB" altLang="fr-FR" sz="1400">
                <a:solidFill>
                  <a:srgbClr val="FF0000"/>
                </a:solidFill>
              </a:rPr>
              <a:t>, j</a:t>
            </a:r>
            <a:r>
              <a:rPr lang="en-GB" altLang="fr-FR" sz="1400" baseline="-25000">
                <a:solidFill>
                  <a:srgbClr val="FF0000"/>
                </a:solidFill>
              </a:rPr>
              <a:t>2</a:t>
            </a:r>
            <a:r>
              <a:rPr lang="en-GB" altLang="fr-FR" sz="1400" baseline="30000">
                <a:solidFill>
                  <a:srgbClr val="FF0000"/>
                </a:solidFill>
              </a:rPr>
              <a:t>-</a:t>
            </a:r>
            <a:r>
              <a:rPr lang="en-GB" altLang="fr-FR" sz="1400">
                <a:solidFill>
                  <a:srgbClr val="FF0000"/>
                </a:solidFill>
              </a:rPr>
              <a:t>, j</a:t>
            </a:r>
            <a:r>
              <a:rPr lang="en-GB" altLang="fr-FR" sz="1400" baseline="-25000">
                <a:solidFill>
                  <a:srgbClr val="FF0000"/>
                </a:solidFill>
              </a:rPr>
              <a:t>8</a:t>
            </a:r>
            <a:r>
              <a:rPr lang="en-GB" altLang="fr-FR" sz="1400" baseline="30000">
                <a:solidFill>
                  <a:srgbClr val="FF0000"/>
                </a:solidFill>
              </a:rPr>
              <a:t>-</a:t>
            </a:r>
            <a:r>
              <a:rPr lang="en-GB" altLang="fr-FR" sz="1400">
                <a:solidFill>
                  <a:srgbClr val="FF0000"/>
                </a:solidFill>
              </a:rPr>
              <a:t>, j</a:t>
            </a:r>
            <a:r>
              <a:rPr lang="en-GB" altLang="fr-FR" sz="1400" baseline="-25000">
                <a:solidFill>
                  <a:srgbClr val="FF0000"/>
                </a:solidFill>
              </a:rPr>
              <a:t>9</a:t>
            </a:r>
            <a:r>
              <a:rPr lang="en-GB" altLang="fr-FR" sz="1400" baseline="30000">
                <a:solidFill>
                  <a:srgbClr val="FF0000"/>
                </a:solidFill>
              </a:rPr>
              <a:t>+</a:t>
            </a:r>
            <a:r>
              <a:rPr lang="en-GB" altLang="fr-FR" sz="1400">
                <a:solidFill>
                  <a:srgbClr val="FF0000"/>
                </a:solidFill>
              </a:rPr>
              <a:t>, j</a:t>
            </a:r>
            <a:r>
              <a:rPr lang="en-GB" altLang="fr-FR" sz="1400" baseline="-25000">
                <a:solidFill>
                  <a:srgbClr val="FF0000"/>
                </a:solidFill>
              </a:rPr>
              <a:t>11</a:t>
            </a:r>
            <a:r>
              <a:rPr lang="en-GB" altLang="fr-FR" sz="1400" baseline="30000">
                <a:solidFill>
                  <a:srgbClr val="FF0000"/>
                </a:solidFill>
              </a:rPr>
              <a:t>+</a:t>
            </a:r>
            <a:r>
              <a:rPr lang="en-GB" altLang="fr-FR" sz="1400">
                <a:solidFill>
                  <a:srgbClr val="FF0000"/>
                </a:solidFill>
              </a:rPr>
              <a:t>}</a:t>
            </a:r>
            <a:r>
              <a:rPr lang="en-GB" altLang="fr-FR" sz="1400">
                <a:solidFill>
                  <a:srgbClr val="FF9900"/>
                </a:solidFill>
              </a:rPr>
              <a:t> </a:t>
            </a:r>
          </a:p>
          <a:p>
            <a:pPr eaLnBrk="1" hangingPunct="1">
              <a:spcBef>
                <a:spcPct val="0"/>
              </a:spcBef>
              <a:buFontTx/>
              <a:buNone/>
            </a:pPr>
            <a:r>
              <a:rPr lang="en-GB" altLang="fr-FR" sz="1400">
                <a:solidFill>
                  <a:srgbClr val="FF0000"/>
                </a:solidFill>
              </a:rPr>
              <a:t>S</a:t>
            </a:r>
            <a:r>
              <a:rPr lang="en-GB" altLang="fr-FR" sz="1400" baseline="-25000">
                <a:solidFill>
                  <a:srgbClr val="FF0000"/>
                </a:solidFill>
              </a:rPr>
              <a:t>nuageuxé</a:t>
            </a:r>
            <a:r>
              <a:rPr lang="en-GB" altLang="fr-FR" sz="1400">
                <a:solidFill>
                  <a:srgbClr val="FF0000"/>
                </a:solidFill>
              </a:rPr>
              <a:t>={j</a:t>
            </a:r>
            <a:r>
              <a:rPr lang="en-GB" altLang="fr-FR" sz="1400" baseline="-25000">
                <a:solidFill>
                  <a:srgbClr val="FF0000"/>
                </a:solidFill>
              </a:rPr>
              <a:t>3</a:t>
            </a:r>
            <a:r>
              <a:rPr lang="en-GB" altLang="fr-FR" sz="1400" baseline="30000">
                <a:solidFill>
                  <a:srgbClr val="FF0000"/>
                </a:solidFill>
              </a:rPr>
              <a:t>+</a:t>
            </a:r>
            <a:r>
              <a:rPr lang="en-GB" altLang="fr-FR" sz="1400">
                <a:solidFill>
                  <a:srgbClr val="FF0000"/>
                </a:solidFill>
              </a:rPr>
              <a:t>, j</a:t>
            </a:r>
            <a:r>
              <a:rPr lang="en-GB" altLang="fr-FR" sz="1400" baseline="-25000">
                <a:solidFill>
                  <a:srgbClr val="FF0000"/>
                </a:solidFill>
              </a:rPr>
              <a:t>7</a:t>
            </a:r>
            <a:r>
              <a:rPr lang="en-GB" altLang="fr-FR" sz="1400" baseline="30000">
                <a:solidFill>
                  <a:srgbClr val="FF0000"/>
                </a:solidFill>
              </a:rPr>
              <a:t>+</a:t>
            </a:r>
            <a:r>
              <a:rPr lang="en-GB" altLang="fr-FR" sz="1400">
                <a:solidFill>
                  <a:srgbClr val="FF0000"/>
                </a:solidFill>
              </a:rPr>
              <a:t>, j</a:t>
            </a:r>
            <a:r>
              <a:rPr lang="en-GB" altLang="fr-FR" sz="1400" baseline="-25000">
                <a:solidFill>
                  <a:srgbClr val="FF0000"/>
                </a:solidFill>
              </a:rPr>
              <a:t>12</a:t>
            </a:r>
            <a:r>
              <a:rPr lang="en-GB" altLang="fr-FR" sz="1400" baseline="30000">
                <a:solidFill>
                  <a:srgbClr val="FF0000"/>
                </a:solidFill>
              </a:rPr>
              <a:t>+</a:t>
            </a:r>
            <a:r>
              <a:rPr lang="en-GB" altLang="fr-FR" sz="1400">
                <a:solidFill>
                  <a:srgbClr val="FF0000"/>
                </a:solidFill>
              </a:rPr>
              <a:t>, j</a:t>
            </a:r>
            <a:r>
              <a:rPr lang="en-GB" altLang="fr-FR" sz="1400" baseline="-25000">
                <a:solidFill>
                  <a:srgbClr val="FF0000"/>
                </a:solidFill>
              </a:rPr>
              <a:t>13</a:t>
            </a:r>
            <a:r>
              <a:rPr lang="en-GB" altLang="fr-FR" sz="1400" baseline="30000">
                <a:solidFill>
                  <a:srgbClr val="FF0000"/>
                </a:solidFill>
              </a:rPr>
              <a:t>+</a:t>
            </a:r>
            <a:r>
              <a:rPr lang="en-GB" altLang="fr-FR" sz="1400">
                <a:solidFill>
                  <a:srgbClr val="FF0000"/>
                </a:solidFill>
              </a:rPr>
              <a:t>}</a:t>
            </a:r>
            <a:r>
              <a:rPr lang="en-GB" altLang="fr-FR" sz="1400">
                <a:solidFill>
                  <a:srgbClr val="FF9900"/>
                </a:solidFill>
              </a:rPr>
              <a:t> </a:t>
            </a:r>
          </a:p>
          <a:p>
            <a:pPr eaLnBrk="1" hangingPunct="1">
              <a:spcBef>
                <a:spcPct val="0"/>
              </a:spcBef>
              <a:buFontTx/>
              <a:buNone/>
            </a:pPr>
            <a:r>
              <a:rPr lang="en-GB" altLang="fr-FR" sz="1400">
                <a:solidFill>
                  <a:srgbClr val="FF0000"/>
                </a:solidFill>
              </a:rPr>
              <a:t>S</a:t>
            </a:r>
            <a:r>
              <a:rPr lang="en-GB" altLang="fr-FR" sz="1400" baseline="-25000">
                <a:solidFill>
                  <a:srgbClr val="FF0000"/>
                </a:solidFill>
              </a:rPr>
              <a:t>pluvieux</a:t>
            </a:r>
            <a:r>
              <a:rPr lang="en-GB" altLang="fr-FR" sz="1400">
                <a:solidFill>
                  <a:srgbClr val="FF0000"/>
                </a:solidFill>
              </a:rPr>
              <a:t>={j</a:t>
            </a:r>
            <a:r>
              <a:rPr lang="en-GB" altLang="fr-FR" sz="1400" baseline="-25000">
                <a:solidFill>
                  <a:srgbClr val="FF0000"/>
                </a:solidFill>
              </a:rPr>
              <a:t>4</a:t>
            </a:r>
            <a:r>
              <a:rPr lang="en-GB" altLang="fr-FR" sz="1400" baseline="30000">
                <a:solidFill>
                  <a:srgbClr val="FF0000"/>
                </a:solidFill>
              </a:rPr>
              <a:t>+</a:t>
            </a:r>
            <a:r>
              <a:rPr lang="en-GB" altLang="fr-FR" sz="1400">
                <a:solidFill>
                  <a:srgbClr val="FF0000"/>
                </a:solidFill>
              </a:rPr>
              <a:t>, j</a:t>
            </a:r>
            <a:r>
              <a:rPr lang="en-GB" altLang="fr-FR" sz="1400" baseline="-25000">
                <a:solidFill>
                  <a:srgbClr val="FF0000"/>
                </a:solidFill>
              </a:rPr>
              <a:t>5</a:t>
            </a:r>
            <a:r>
              <a:rPr lang="en-GB" altLang="fr-FR" sz="1400" baseline="30000">
                <a:solidFill>
                  <a:srgbClr val="FF0000"/>
                </a:solidFill>
              </a:rPr>
              <a:t>+</a:t>
            </a:r>
            <a:r>
              <a:rPr lang="en-GB" altLang="fr-FR" sz="1400">
                <a:solidFill>
                  <a:srgbClr val="FF0000"/>
                </a:solidFill>
              </a:rPr>
              <a:t>, j</a:t>
            </a:r>
            <a:r>
              <a:rPr lang="en-GB" altLang="fr-FR" sz="1400" baseline="-25000">
                <a:solidFill>
                  <a:srgbClr val="FF0000"/>
                </a:solidFill>
              </a:rPr>
              <a:t>6</a:t>
            </a:r>
            <a:r>
              <a:rPr lang="en-GB" altLang="fr-FR" sz="1400" baseline="30000">
                <a:solidFill>
                  <a:srgbClr val="FF0000"/>
                </a:solidFill>
              </a:rPr>
              <a:t>-</a:t>
            </a:r>
            <a:r>
              <a:rPr lang="en-GB" altLang="fr-FR" sz="1400">
                <a:solidFill>
                  <a:srgbClr val="FF0000"/>
                </a:solidFill>
              </a:rPr>
              <a:t>, j</a:t>
            </a:r>
            <a:r>
              <a:rPr lang="en-GB" altLang="fr-FR" sz="1400" baseline="-25000">
                <a:solidFill>
                  <a:srgbClr val="FF0000"/>
                </a:solidFill>
              </a:rPr>
              <a:t>10</a:t>
            </a:r>
            <a:r>
              <a:rPr lang="en-GB" altLang="fr-FR" sz="1400" baseline="30000">
                <a:solidFill>
                  <a:srgbClr val="FF0000"/>
                </a:solidFill>
              </a:rPr>
              <a:t>+</a:t>
            </a:r>
            <a:r>
              <a:rPr lang="en-GB" altLang="fr-FR" sz="1400">
                <a:solidFill>
                  <a:srgbClr val="FF0000"/>
                </a:solidFill>
              </a:rPr>
              <a:t>, j</a:t>
            </a:r>
            <a:r>
              <a:rPr lang="en-GB" altLang="fr-FR" sz="1400" baseline="-25000">
                <a:solidFill>
                  <a:srgbClr val="FF0000"/>
                </a:solidFill>
              </a:rPr>
              <a:t>14</a:t>
            </a:r>
            <a:r>
              <a:rPr lang="en-GB" altLang="fr-FR" sz="1400" baseline="30000">
                <a:solidFill>
                  <a:srgbClr val="FF0000"/>
                </a:solidFill>
              </a:rPr>
              <a:t>-</a:t>
            </a:r>
            <a:r>
              <a:rPr lang="en-GB" altLang="fr-FR" sz="1400">
                <a:solidFill>
                  <a:srgbClr val="FF0000"/>
                </a:solidFill>
              </a:rPr>
              <a:t>}</a:t>
            </a:r>
            <a:r>
              <a:rPr lang="en-GB" altLang="fr-FR" sz="1400">
                <a:solidFill>
                  <a:srgbClr val="FF9900"/>
                </a:solidFill>
              </a:rPr>
              <a:t> </a:t>
            </a:r>
          </a:p>
          <a:p>
            <a:pPr eaLnBrk="1" hangingPunct="1">
              <a:spcBef>
                <a:spcPct val="0"/>
              </a:spcBef>
              <a:buFont typeface="Arial" panose="020B0604020202020204" pitchFamily="34" charset="0"/>
              <a:buNone/>
            </a:pPr>
            <a:endParaRPr lang="en-GB" altLang="fr-FR" sz="1400">
              <a:solidFill>
                <a:schemeClr val="tx1"/>
              </a:solidFill>
            </a:endParaRPr>
          </a:p>
          <a:p>
            <a:pPr eaLnBrk="1" hangingPunct="1">
              <a:spcBef>
                <a:spcPct val="0"/>
              </a:spcBef>
              <a:buFont typeface="Arial" panose="020B0604020202020204" pitchFamily="34" charset="0"/>
              <a:buNone/>
            </a:pPr>
            <a:endParaRPr lang="en-GB" altLang="fr-FR" sz="1400">
              <a:solidFill>
                <a:schemeClr val="tx1"/>
              </a:solidFill>
            </a:endParaRPr>
          </a:p>
          <a:p>
            <a:pPr eaLnBrk="1" hangingPunct="1">
              <a:spcBef>
                <a:spcPct val="0"/>
              </a:spcBef>
              <a:buFont typeface="Arial" panose="020B0604020202020204" pitchFamily="34" charset="0"/>
              <a:buNone/>
            </a:pPr>
            <a:endParaRPr lang="en-GB" altLang="fr-FR" sz="1400">
              <a:solidFill>
                <a:schemeClr val="tx1"/>
              </a:solidFill>
            </a:endParaRPr>
          </a:p>
          <a:p>
            <a:pPr eaLnBrk="1" hangingPunct="1">
              <a:spcBef>
                <a:spcPct val="0"/>
              </a:spcBef>
              <a:buFont typeface="Arial" panose="020B0604020202020204" pitchFamily="34" charset="0"/>
              <a:buNone/>
            </a:pPr>
            <a:r>
              <a:rPr lang="en-GB" altLang="fr-FR" sz="1400">
                <a:solidFill>
                  <a:schemeClr val="tx1"/>
                </a:solidFill>
              </a:rPr>
              <a:t>On peut voir que lorsque le ciel est nuageux, </a:t>
            </a:r>
            <a:r>
              <a:rPr lang="en-GB" altLang="fr-FR" sz="1400">
                <a:solidFill>
                  <a:srgbClr val="FF9900"/>
                </a:solidFill>
              </a:rPr>
              <a:t>il reste uniquement des exemples positifs</a:t>
            </a:r>
            <a:r>
              <a:rPr lang="en-GB" altLang="fr-FR" sz="1400">
                <a:solidFill>
                  <a:schemeClr val="tx1"/>
                </a:solidFill>
              </a:rPr>
              <a:t>, donc ce noeud devient une feuille avec une valeur de </a:t>
            </a:r>
            <a:r>
              <a:rPr lang="en-GB" altLang="fr-FR" sz="1400" i="1">
                <a:solidFill>
                  <a:srgbClr val="FF9900"/>
                </a:solidFill>
              </a:rPr>
              <a:t>Oui</a:t>
            </a:r>
            <a:r>
              <a:rPr lang="en-GB" altLang="fr-FR" sz="1400" i="1">
                <a:solidFill>
                  <a:schemeClr val="tx1"/>
                </a:solidFill>
              </a:rPr>
              <a:t> </a:t>
            </a:r>
            <a:r>
              <a:rPr lang="en-GB" altLang="fr-FR" sz="1400">
                <a:solidFill>
                  <a:schemeClr val="tx1"/>
                </a:solidFill>
              </a:rPr>
              <a:t>pour la fonction visée.</a:t>
            </a:r>
          </a:p>
          <a:p>
            <a:pPr eaLnBrk="1" hangingPunct="1">
              <a:spcBef>
                <a:spcPct val="0"/>
              </a:spcBef>
              <a:buFont typeface="Arial" panose="020B0604020202020204" pitchFamily="34" charset="0"/>
              <a:buNone/>
            </a:pPr>
            <a:r>
              <a:rPr lang="en-GB" altLang="fr-FR" sz="1400">
                <a:solidFill>
                  <a:schemeClr val="tx1"/>
                </a:solidFill>
              </a:rPr>
              <a:t>Pour les deux autres noeuds, </a:t>
            </a:r>
            <a:r>
              <a:rPr lang="en-GB" altLang="fr-FR" sz="1400">
                <a:solidFill>
                  <a:srgbClr val="FF9900"/>
                </a:solidFill>
              </a:rPr>
              <a:t>il y a encore des exemples positifs et négatifs</a:t>
            </a:r>
            <a:r>
              <a:rPr lang="en-GB" altLang="fr-FR" sz="1400">
                <a:solidFill>
                  <a:schemeClr val="tx1"/>
                </a:solidFill>
              </a:rPr>
              <a:t>, alors il faut recommencer le même calcul du gain d'information, mais avec les sous-ensembles restant.</a:t>
            </a:r>
          </a:p>
          <a:p>
            <a:pPr eaLnBrk="1" hangingPunct="1">
              <a:spcBef>
                <a:spcPct val="0"/>
              </a:spcBef>
              <a:buFont typeface="Arial" panose="020B0604020202020204" pitchFamily="34" charset="0"/>
              <a:buNone/>
            </a:pPr>
            <a:endParaRPr lang="en-GB" altLang="fr-FR" sz="1400">
              <a:solidFill>
                <a:schemeClr val="tx1"/>
              </a:solidFill>
            </a:endParaRPr>
          </a:p>
        </p:txBody>
      </p:sp>
      <p:pic>
        <p:nvPicPr>
          <p:cNvPr id="52227" name="Picture 2">
            <a:extLst>
              <a:ext uri="{FF2B5EF4-FFF2-40B4-BE49-F238E27FC236}">
                <a16:creationId xmlns="" xmlns:a16="http://schemas.microsoft.com/office/drawing/2014/main" id="{EAF65FEF-9444-4B91-8F3C-4EFFA46664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3114" y="1196976"/>
            <a:ext cx="2808287" cy="104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3" name="Picture 3">
            <a:extLst>
              <a:ext uri="{FF2B5EF4-FFF2-40B4-BE49-F238E27FC236}">
                <a16:creationId xmlns="" xmlns:a16="http://schemas.microsoft.com/office/drawing/2014/main" id="{B5B2B0B5-4E93-454B-9BD9-4CDF52DE22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0064" y="2611439"/>
            <a:ext cx="3354387" cy="136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4" name="Picture 4">
            <a:extLst>
              <a:ext uri="{FF2B5EF4-FFF2-40B4-BE49-F238E27FC236}">
                <a16:creationId xmlns="" xmlns:a16="http://schemas.microsoft.com/office/drawing/2014/main" id="{0D0FEB53-C0E5-47E8-A292-F2D92A9419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4826" y="4873626"/>
            <a:ext cx="3527425"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2230" name="Group 5">
            <a:extLst>
              <a:ext uri="{FF2B5EF4-FFF2-40B4-BE49-F238E27FC236}">
                <a16:creationId xmlns="" xmlns:a16="http://schemas.microsoft.com/office/drawing/2014/main" id="{A9E5DBAD-45EC-4AE8-A40B-E0ED01117182}"/>
              </a:ext>
            </a:extLst>
          </p:cNvPr>
          <p:cNvGrpSpPr>
            <a:grpSpLocks/>
          </p:cNvGrpSpPr>
          <p:nvPr/>
        </p:nvGrpSpPr>
        <p:grpSpPr bwMode="auto">
          <a:xfrm>
            <a:off x="1524001" y="44451"/>
            <a:ext cx="9142413" cy="365125"/>
            <a:chOff x="0" y="28"/>
            <a:chExt cx="5759" cy="230"/>
          </a:xfrm>
        </p:grpSpPr>
        <p:sp>
          <p:nvSpPr>
            <p:cNvPr id="52232" name="AutoShape 6">
              <a:extLst>
                <a:ext uri="{FF2B5EF4-FFF2-40B4-BE49-F238E27FC236}">
                  <a16:creationId xmlns="" xmlns:a16="http://schemas.microsoft.com/office/drawing/2014/main" id="{41CD2AD0-9267-42A3-A4EC-94540D86EC97}"/>
                </a:ext>
              </a:extLst>
            </p:cNvPr>
            <p:cNvSpPr>
              <a:spLocks noChangeArrowheads="1"/>
            </p:cNvSpPr>
            <p:nvPr/>
          </p:nvSpPr>
          <p:spPr bwMode="auto">
            <a:xfrm>
              <a:off x="0" y="28"/>
              <a:ext cx="5760" cy="231"/>
            </a:xfrm>
            <a:prstGeom prst="roundRect">
              <a:avLst>
                <a:gd name="adj" fmla="val 431"/>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endParaRPr lang="fr-FR" altLang="fr-FR" sz="1800">
                <a:latin typeface="Times New Roman" panose="02020603050405020304" pitchFamily="18" charset="0"/>
              </a:endParaRPr>
            </a:p>
          </p:txBody>
        </p:sp>
        <p:sp>
          <p:nvSpPr>
            <p:cNvPr id="52233" name="Text Box 7">
              <a:extLst>
                <a:ext uri="{FF2B5EF4-FFF2-40B4-BE49-F238E27FC236}">
                  <a16:creationId xmlns="" xmlns:a16="http://schemas.microsoft.com/office/drawing/2014/main" id="{2C11A01D-C462-4473-A710-9753E3D0314E}"/>
                </a:ext>
              </a:extLst>
            </p:cNvPr>
            <p:cNvSpPr txBox="1">
              <a:spLocks noChangeArrowheads="1"/>
            </p:cNvSpPr>
            <p:nvPr/>
          </p:nvSpPr>
          <p:spPr bwMode="auto">
            <a:xfrm>
              <a:off x="0" y="28"/>
              <a:ext cx="57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1800">
                  <a:solidFill>
                    <a:schemeClr val="tx1"/>
                  </a:solidFill>
                </a:rPr>
                <a:t>Intelligence Artificielle 		Apprentissage			</a:t>
              </a:r>
            </a:p>
          </p:txBody>
        </p:sp>
      </p:grpSp>
      <p:sp>
        <p:nvSpPr>
          <p:cNvPr id="20489" name="Text Box 9">
            <a:extLst>
              <a:ext uri="{FF2B5EF4-FFF2-40B4-BE49-F238E27FC236}">
                <a16:creationId xmlns="" xmlns:a16="http://schemas.microsoft.com/office/drawing/2014/main" id="{28CA3301-6CC2-478F-BC98-C5D888FE442E}"/>
              </a:ext>
            </a:extLst>
          </p:cNvPr>
          <p:cNvSpPr txBox="1">
            <a:spLocks noChangeArrowheads="1"/>
          </p:cNvSpPr>
          <p:nvPr/>
        </p:nvSpPr>
        <p:spPr bwMode="auto">
          <a:xfrm>
            <a:off x="5270501" y="4851401"/>
            <a:ext cx="5434013" cy="198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50000"/>
              </a:spcBef>
              <a:buClrTx/>
              <a:buSzTx/>
              <a:buFontTx/>
              <a:buNone/>
            </a:pPr>
            <a:r>
              <a:rPr lang="fr-CA" altLang="fr-FR" sz="1800" dirty="0">
                <a:latin typeface="Times New Roman" panose="02020603050405020304" pitchFamily="18" charset="0"/>
              </a:rPr>
              <a:t>On a alors  les règles de décision:</a:t>
            </a:r>
          </a:p>
          <a:p>
            <a:pPr>
              <a:spcBef>
                <a:spcPct val="50000"/>
              </a:spcBef>
              <a:buClrTx/>
              <a:buSzTx/>
              <a:buFontTx/>
              <a:buNone/>
            </a:pPr>
            <a:r>
              <a:rPr lang="fr-CA" altLang="fr-FR" sz="1400" b="1" dirty="0">
                <a:solidFill>
                  <a:srgbClr val="0070C0"/>
                </a:solidFill>
                <a:latin typeface="Times New Roman" panose="02020603050405020304" pitchFamily="18" charset="0"/>
              </a:rPr>
              <a:t>SI le ciel est ensoleillé et l’humidité est élevée ALORS on ne joue pas </a:t>
            </a:r>
          </a:p>
          <a:p>
            <a:pPr>
              <a:spcBef>
                <a:spcPct val="50000"/>
              </a:spcBef>
              <a:buClrTx/>
              <a:buSzTx/>
              <a:buFontTx/>
              <a:buNone/>
            </a:pPr>
            <a:r>
              <a:rPr lang="fr-CA" altLang="fr-FR" sz="1400" b="1" dirty="0">
                <a:solidFill>
                  <a:srgbClr val="0070C0"/>
                </a:solidFill>
                <a:latin typeface="Times New Roman" panose="02020603050405020304" pitchFamily="18" charset="0"/>
              </a:rPr>
              <a:t>SI le ciel est ensoleillé et l’humidité est normale ALORS on joue</a:t>
            </a:r>
          </a:p>
          <a:p>
            <a:pPr>
              <a:spcBef>
                <a:spcPct val="50000"/>
              </a:spcBef>
              <a:buClrTx/>
              <a:buSzTx/>
              <a:buFontTx/>
              <a:buNone/>
            </a:pPr>
            <a:r>
              <a:rPr lang="fr-CA" altLang="fr-FR" sz="1400" b="1" dirty="0">
                <a:solidFill>
                  <a:srgbClr val="0070C0"/>
                </a:solidFill>
                <a:latin typeface="Times New Roman" panose="02020603050405020304" pitchFamily="18" charset="0"/>
              </a:rPr>
              <a:t>SI le ciel est nuageux ALORS on joue</a:t>
            </a:r>
          </a:p>
          <a:p>
            <a:pPr>
              <a:spcBef>
                <a:spcPct val="50000"/>
              </a:spcBef>
              <a:buClrTx/>
              <a:buSzTx/>
              <a:buFontTx/>
              <a:buNone/>
            </a:pPr>
            <a:r>
              <a:rPr lang="fr-CA" altLang="fr-FR" sz="1400" b="1" dirty="0">
                <a:solidFill>
                  <a:srgbClr val="0070C0"/>
                </a:solidFill>
                <a:latin typeface="Times New Roman" panose="02020603050405020304" pitchFamily="18" charset="0"/>
              </a:rPr>
              <a:t>SI le ciel est pluvieux et le vent est fort ALORS on ne joue pas</a:t>
            </a:r>
          </a:p>
          <a:p>
            <a:pPr>
              <a:spcBef>
                <a:spcPct val="50000"/>
              </a:spcBef>
              <a:buClrTx/>
              <a:buSzTx/>
              <a:buFontTx/>
              <a:buNone/>
            </a:pPr>
            <a:r>
              <a:rPr lang="fr-CA" altLang="fr-FR" sz="1400" b="1" dirty="0">
                <a:solidFill>
                  <a:srgbClr val="0070C0"/>
                </a:solidFill>
                <a:latin typeface="Times New Roman" panose="02020603050405020304" pitchFamily="18" charset="0"/>
              </a:rPr>
              <a:t>SI le ciel est pluvieux et le vent est faible ALORS on joue</a:t>
            </a:r>
            <a:endParaRPr lang="fr-FR" altLang="fr-FR" sz="1400" b="1" dirty="0">
              <a:solidFill>
                <a:srgbClr val="0070C0"/>
              </a:solidFill>
              <a:latin typeface="Times New Roman" panose="02020603050405020304" pitchFamily="18" charset="0"/>
            </a:endParaRPr>
          </a:p>
        </p:txBody>
      </p:sp>
      <p:sp>
        <p:nvSpPr>
          <p:cNvPr id="2" name="Slide Number Placeholder 1">
            <a:extLst>
              <a:ext uri="{FF2B5EF4-FFF2-40B4-BE49-F238E27FC236}">
                <a16:creationId xmlns="" xmlns:a16="http://schemas.microsoft.com/office/drawing/2014/main" id="{27B6327B-4576-4176-89C3-70CAE07C766B}"/>
              </a:ext>
            </a:extLst>
          </p:cNvPr>
          <p:cNvSpPr>
            <a:spLocks noGrp="1"/>
          </p:cNvSpPr>
          <p:nvPr>
            <p:ph type="sldNum" sz="quarter" idx="12"/>
          </p:nvPr>
        </p:nvSpPr>
        <p:spPr/>
        <p:txBody>
          <a:bodyPr/>
          <a:lstStyle/>
          <a:p>
            <a:fld id="{EE5DF52D-0FE0-4249-9023-8B500BDB729B}" type="slidenum">
              <a:rPr lang="fr-FR" smtClean="0"/>
              <a:pPr/>
              <a:t>22</a:t>
            </a:fld>
            <a:endParaRPr lang="fr-F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0481">
                                            <p:txEl>
                                              <p:pRg st="7" end="7"/>
                                            </p:txEl>
                                          </p:spTgt>
                                        </p:tgtEl>
                                        <p:attrNameLst>
                                          <p:attrName>style.visibility</p:attrName>
                                        </p:attrNameLst>
                                      </p:cBhvr>
                                      <p:to>
                                        <p:strVal val="visible"/>
                                      </p:to>
                                    </p:set>
                                    <p:animEffect transition="in" filter="checkerboard(across)">
                                      <p:cBhvr>
                                        <p:cTn id="7" dur="500"/>
                                        <p:tgtEl>
                                          <p:spTgt spid="20481">
                                            <p:txEl>
                                              <p:pRg st="7" end="7"/>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0481">
                                            <p:txEl>
                                              <p:pRg st="9" end="9"/>
                                            </p:txEl>
                                          </p:spTgt>
                                        </p:tgtEl>
                                        <p:attrNameLst>
                                          <p:attrName>style.visibility</p:attrName>
                                        </p:attrNameLst>
                                      </p:cBhvr>
                                      <p:to>
                                        <p:strVal val="visible"/>
                                      </p:to>
                                    </p:set>
                                    <p:animEffect transition="in" filter="checkerboard(across)">
                                      <p:cBhvr>
                                        <p:cTn id="12" dur="500"/>
                                        <p:tgtEl>
                                          <p:spTgt spid="20481">
                                            <p:txEl>
                                              <p:pRg st="9" end="9"/>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0481">
                                            <p:txEl>
                                              <p:pRg st="10" end="10"/>
                                            </p:txEl>
                                          </p:spTgt>
                                        </p:tgtEl>
                                        <p:attrNameLst>
                                          <p:attrName>style.visibility</p:attrName>
                                        </p:attrNameLst>
                                      </p:cBhvr>
                                      <p:to>
                                        <p:strVal val="visible"/>
                                      </p:to>
                                    </p:set>
                                    <p:animEffect transition="in" filter="checkerboard(across)">
                                      <p:cBhvr>
                                        <p:cTn id="17" dur="500"/>
                                        <p:tgtEl>
                                          <p:spTgt spid="20481">
                                            <p:txEl>
                                              <p:pRg st="10" end="1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20481">
                                            <p:txEl>
                                              <p:pRg st="11" end="11"/>
                                            </p:txEl>
                                          </p:spTgt>
                                        </p:tgtEl>
                                        <p:attrNameLst>
                                          <p:attrName>style.visibility</p:attrName>
                                        </p:attrNameLst>
                                      </p:cBhvr>
                                      <p:to>
                                        <p:strVal val="visible"/>
                                      </p:to>
                                    </p:set>
                                    <p:animEffect transition="in" filter="checkerboard(across)">
                                      <p:cBhvr>
                                        <p:cTn id="22" dur="500"/>
                                        <p:tgtEl>
                                          <p:spTgt spid="20481">
                                            <p:txEl>
                                              <p:pRg st="11" end="1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20483"/>
                                        </p:tgtEl>
                                        <p:attrNameLst>
                                          <p:attrName>style.visibility</p:attrName>
                                        </p:attrNameLst>
                                      </p:cBhvr>
                                      <p:to>
                                        <p:strVal val="visible"/>
                                      </p:to>
                                    </p:set>
                                    <p:animEffect transition="in" filter="box(in)">
                                      <p:cBhvr>
                                        <p:cTn id="27" dur="500"/>
                                        <p:tgtEl>
                                          <p:spTgt spid="2048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20481">
                                            <p:txEl>
                                              <p:pRg st="15" end="15"/>
                                            </p:txEl>
                                          </p:spTgt>
                                        </p:tgtEl>
                                        <p:attrNameLst>
                                          <p:attrName>style.visibility</p:attrName>
                                        </p:attrNameLst>
                                      </p:cBhvr>
                                      <p:to>
                                        <p:strVal val="visible"/>
                                      </p:to>
                                    </p:set>
                                    <p:animEffect transition="in" filter="checkerboard(across)">
                                      <p:cBhvr>
                                        <p:cTn id="32" dur="500"/>
                                        <p:tgtEl>
                                          <p:spTgt spid="20481">
                                            <p:txEl>
                                              <p:pRg st="15" end="1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20481">
                                            <p:txEl>
                                              <p:pRg st="16" end="16"/>
                                            </p:txEl>
                                          </p:spTgt>
                                        </p:tgtEl>
                                        <p:attrNameLst>
                                          <p:attrName>style.visibility</p:attrName>
                                        </p:attrNameLst>
                                      </p:cBhvr>
                                      <p:to>
                                        <p:strVal val="visible"/>
                                      </p:to>
                                    </p:set>
                                    <p:animEffect transition="in" filter="checkerboard(across)">
                                      <p:cBhvr>
                                        <p:cTn id="37" dur="500"/>
                                        <p:tgtEl>
                                          <p:spTgt spid="20481">
                                            <p:txEl>
                                              <p:pRg st="16" end="1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20484"/>
                                        </p:tgtEl>
                                        <p:attrNameLst>
                                          <p:attrName>style.visibility</p:attrName>
                                        </p:attrNameLst>
                                      </p:cBhvr>
                                      <p:to>
                                        <p:strVal val="visible"/>
                                      </p:to>
                                    </p:set>
                                    <p:animEffect transition="in" filter="box(in)">
                                      <p:cBhvr>
                                        <p:cTn id="42" dur="500"/>
                                        <p:tgtEl>
                                          <p:spTgt spid="2048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20489"/>
                                        </p:tgtEl>
                                        <p:attrNameLst>
                                          <p:attrName>style.visibility</p:attrName>
                                        </p:attrNameLst>
                                      </p:cBhvr>
                                      <p:to>
                                        <p:strVal val="visible"/>
                                      </p:to>
                                    </p:set>
                                    <p:animEffect transition="in" filter="checkerboard(across)">
                                      <p:cBhvr>
                                        <p:cTn id="47" dur="500"/>
                                        <p:tgtEl>
                                          <p:spTgt spid="20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4">
            <a:extLst>
              <a:ext uri="{FF2B5EF4-FFF2-40B4-BE49-F238E27FC236}">
                <a16:creationId xmlns="" xmlns:a16="http://schemas.microsoft.com/office/drawing/2014/main" id="{9C935EC8-6598-43E5-A78F-B909BFC56F1E}"/>
              </a:ext>
            </a:extLst>
          </p:cNvPr>
          <p:cNvSpPr>
            <a:spLocks noChangeArrowheads="1"/>
          </p:cNvSpPr>
          <p:nvPr/>
        </p:nvSpPr>
        <p:spPr bwMode="auto">
          <a:xfrm>
            <a:off x="1524000" y="466726"/>
            <a:ext cx="9036050" cy="655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FR" altLang="fr-FR" sz="1800" b="1" dirty="0">
                <a:latin typeface="Times New Roman" panose="02020603050405020304" pitchFamily="18" charset="0"/>
              </a:rPr>
              <a:t>Exercice</a:t>
            </a:r>
            <a:r>
              <a:rPr lang="fr-FR" altLang="fr-FR" sz="1200" b="1" dirty="0">
                <a:latin typeface="Times New Roman" panose="02020603050405020304" pitchFamily="18" charset="0"/>
              </a:rPr>
              <a:t> </a:t>
            </a:r>
            <a:r>
              <a:rPr lang="fr-FR" altLang="fr-FR" sz="1200" b="1" dirty="0" smtClean="0">
                <a:latin typeface="Times New Roman" panose="02020603050405020304" pitchFamily="18" charset="0"/>
              </a:rPr>
              <a:t> 1</a:t>
            </a:r>
            <a:endParaRPr lang="fr-FR" altLang="fr-FR" sz="1200" b="1" dirty="0">
              <a:latin typeface="Times New Roman" panose="02020603050405020304" pitchFamily="18" charset="0"/>
            </a:endParaRPr>
          </a:p>
          <a:p>
            <a:pPr>
              <a:spcBef>
                <a:spcPct val="0"/>
              </a:spcBef>
              <a:buClrTx/>
              <a:buSzTx/>
              <a:buFontTx/>
              <a:buNone/>
            </a:pPr>
            <a:r>
              <a:rPr lang="fr-FR" altLang="fr-FR" sz="1200" dirty="0">
                <a:latin typeface="Times New Roman" panose="02020603050405020304" pitchFamily="18" charset="0"/>
              </a:rPr>
              <a:t>On veut déterminer si on aime ou pas un restaurant donné</a:t>
            </a:r>
          </a:p>
          <a:p>
            <a:pPr>
              <a:spcBef>
                <a:spcPct val="0"/>
              </a:spcBef>
              <a:buClrTx/>
              <a:buSzTx/>
              <a:buFontTx/>
              <a:buNone/>
            </a:pPr>
            <a:r>
              <a:rPr lang="fr-FR" altLang="fr-FR" sz="1200" dirty="0">
                <a:latin typeface="Times New Roman" panose="02020603050405020304" pitchFamily="18" charset="0"/>
              </a:rPr>
              <a:t>Les attributs étudiés sont : le prix et le type de ce qui est à manger</a:t>
            </a:r>
          </a:p>
          <a:p>
            <a:pPr>
              <a:spcBef>
                <a:spcPct val="0"/>
              </a:spcBef>
              <a:buClrTx/>
              <a:buSzTx/>
              <a:buFontTx/>
              <a:buNone/>
            </a:pPr>
            <a:r>
              <a:rPr lang="fr-FR" altLang="fr-FR" sz="1200" dirty="0">
                <a:latin typeface="Times New Roman" panose="02020603050405020304" pitchFamily="18" charset="0"/>
              </a:rPr>
              <a:t>Les valeurs  pour Prix : Bas(B), Moyen(M) et Haut(H)</a:t>
            </a:r>
          </a:p>
          <a:p>
            <a:pPr>
              <a:spcBef>
                <a:spcPct val="0"/>
              </a:spcBef>
              <a:buClrTx/>
              <a:buSzTx/>
              <a:buFontTx/>
              <a:buNone/>
            </a:pPr>
            <a:r>
              <a:rPr lang="fr-FR" altLang="fr-FR" sz="1200" dirty="0">
                <a:latin typeface="Times New Roman" panose="02020603050405020304" pitchFamily="18" charset="0"/>
              </a:rPr>
              <a:t>Les valeurs  pour Type : Tagine (T) et Couscous(C).</a:t>
            </a:r>
          </a:p>
          <a:p>
            <a:pPr>
              <a:spcBef>
                <a:spcPct val="0"/>
              </a:spcBef>
              <a:buClrTx/>
              <a:buSzTx/>
              <a:buFontTx/>
              <a:buNone/>
            </a:pPr>
            <a:r>
              <a:rPr lang="fr-FR" altLang="fr-FR" sz="1200" dirty="0">
                <a:latin typeface="Times New Roman" panose="02020603050405020304" pitchFamily="18" charset="0"/>
              </a:rPr>
              <a:t>Les classes : Aimer (+) et Ne pas Aimer (-)</a:t>
            </a:r>
          </a:p>
          <a:p>
            <a:pPr>
              <a:spcBef>
                <a:spcPct val="0"/>
              </a:spcBef>
              <a:buClrTx/>
              <a:buSzTx/>
              <a:buFontTx/>
              <a:buNone/>
            </a:pPr>
            <a:r>
              <a:rPr lang="fr-FR" altLang="fr-FR" sz="1200" dirty="0">
                <a:latin typeface="Times New Roman" panose="02020603050405020304" pitchFamily="18" charset="0"/>
              </a:rPr>
              <a:t>On utilise les exemples d’apprentissage suivants :</a:t>
            </a:r>
          </a:p>
          <a:p>
            <a:pPr>
              <a:spcBef>
                <a:spcPct val="0"/>
              </a:spcBef>
              <a:buClrTx/>
              <a:buSzTx/>
              <a:buFontTx/>
              <a:buNone/>
            </a:pPr>
            <a:endParaRPr lang="fr-FR" altLang="fr-FR" sz="1200" dirty="0">
              <a:latin typeface="Times New Roman" panose="02020603050405020304" pitchFamily="18" charset="0"/>
            </a:endParaRPr>
          </a:p>
          <a:p>
            <a:pPr>
              <a:spcBef>
                <a:spcPct val="0"/>
              </a:spcBef>
              <a:buClrTx/>
              <a:buSzTx/>
              <a:buFontTx/>
              <a:buNone/>
            </a:pPr>
            <a:endParaRPr lang="fr-FR" altLang="fr-FR" sz="1200" dirty="0">
              <a:latin typeface="Times New Roman" panose="02020603050405020304" pitchFamily="18" charset="0"/>
            </a:endParaRPr>
          </a:p>
          <a:p>
            <a:pPr>
              <a:spcBef>
                <a:spcPct val="0"/>
              </a:spcBef>
              <a:buClrTx/>
              <a:buSzTx/>
              <a:buFontTx/>
              <a:buNone/>
            </a:pPr>
            <a:endParaRPr lang="fr-FR" altLang="fr-FR" sz="1200" dirty="0">
              <a:latin typeface="Times New Roman" panose="02020603050405020304" pitchFamily="18" charset="0"/>
            </a:endParaRPr>
          </a:p>
          <a:p>
            <a:pPr>
              <a:spcBef>
                <a:spcPct val="0"/>
              </a:spcBef>
              <a:buClrTx/>
              <a:buSzTx/>
              <a:buFontTx/>
              <a:buNone/>
            </a:pPr>
            <a:endParaRPr lang="fr-FR" altLang="fr-FR" sz="1200" dirty="0">
              <a:latin typeface="Times New Roman" panose="02020603050405020304" pitchFamily="18" charset="0"/>
            </a:endParaRPr>
          </a:p>
          <a:p>
            <a:pPr>
              <a:spcBef>
                <a:spcPct val="0"/>
              </a:spcBef>
              <a:buClrTx/>
              <a:buSzTx/>
              <a:buFontTx/>
              <a:buNone/>
            </a:pPr>
            <a:endParaRPr lang="fr-FR" altLang="fr-FR" sz="1200" dirty="0">
              <a:latin typeface="Times New Roman" panose="02020603050405020304" pitchFamily="18" charset="0"/>
            </a:endParaRPr>
          </a:p>
          <a:p>
            <a:pPr>
              <a:spcBef>
                <a:spcPct val="0"/>
              </a:spcBef>
              <a:buClrTx/>
              <a:buSzTx/>
              <a:buFontTx/>
              <a:buNone/>
            </a:pPr>
            <a:endParaRPr lang="fr-FR" altLang="fr-FR" sz="1200" dirty="0">
              <a:latin typeface="Times New Roman" panose="02020603050405020304" pitchFamily="18" charset="0"/>
            </a:endParaRPr>
          </a:p>
          <a:p>
            <a:pPr>
              <a:spcBef>
                <a:spcPct val="0"/>
              </a:spcBef>
              <a:buClrTx/>
              <a:buSzTx/>
              <a:buFontTx/>
              <a:buNone/>
            </a:pPr>
            <a:endParaRPr lang="fr-FR" altLang="fr-FR" sz="1200" dirty="0">
              <a:latin typeface="Times New Roman" panose="02020603050405020304" pitchFamily="18" charset="0"/>
            </a:endParaRPr>
          </a:p>
          <a:p>
            <a:pPr>
              <a:spcBef>
                <a:spcPct val="0"/>
              </a:spcBef>
              <a:buClrTx/>
              <a:buSzTx/>
              <a:buFontTx/>
              <a:buNone/>
            </a:pPr>
            <a:endParaRPr lang="fr-FR" altLang="fr-FR" sz="1200" dirty="0">
              <a:latin typeface="Times New Roman" panose="02020603050405020304" pitchFamily="18" charset="0"/>
            </a:endParaRPr>
          </a:p>
          <a:p>
            <a:pPr>
              <a:spcBef>
                <a:spcPct val="0"/>
              </a:spcBef>
              <a:buClrTx/>
              <a:buSzTx/>
              <a:buFontTx/>
              <a:buNone/>
            </a:pPr>
            <a:endParaRPr lang="fr-FR" altLang="fr-FR" sz="1200" dirty="0">
              <a:latin typeface="Times New Roman" panose="02020603050405020304" pitchFamily="18" charset="0"/>
            </a:endParaRPr>
          </a:p>
          <a:p>
            <a:pPr>
              <a:spcBef>
                <a:spcPct val="0"/>
              </a:spcBef>
              <a:buClrTx/>
              <a:buSzTx/>
              <a:buFontTx/>
              <a:buNone/>
            </a:pPr>
            <a:endParaRPr lang="fr-FR" altLang="fr-FR" sz="1200" dirty="0">
              <a:latin typeface="Times New Roman" panose="02020603050405020304" pitchFamily="18" charset="0"/>
            </a:endParaRPr>
          </a:p>
          <a:p>
            <a:pPr>
              <a:spcBef>
                <a:spcPct val="0"/>
              </a:spcBef>
              <a:buClrTx/>
              <a:buSzTx/>
              <a:buFontTx/>
              <a:buNone/>
            </a:pPr>
            <a:endParaRPr lang="fr-FR" altLang="fr-FR" sz="1200" dirty="0">
              <a:latin typeface="Times New Roman" panose="02020603050405020304" pitchFamily="18" charset="0"/>
            </a:endParaRPr>
          </a:p>
          <a:p>
            <a:pPr>
              <a:spcBef>
                <a:spcPct val="0"/>
              </a:spcBef>
              <a:buClrTx/>
              <a:buSzTx/>
              <a:buFontTx/>
              <a:buNone/>
            </a:pPr>
            <a:endParaRPr lang="fr-FR" altLang="fr-FR" sz="1200" dirty="0">
              <a:latin typeface="Times New Roman" panose="02020603050405020304" pitchFamily="18" charset="0"/>
            </a:endParaRPr>
          </a:p>
          <a:p>
            <a:pPr>
              <a:spcBef>
                <a:spcPct val="0"/>
              </a:spcBef>
              <a:buClrTx/>
              <a:buSzTx/>
              <a:buFontTx/>
              <a:buChar char="-"/>
            </a:pPr>
            <a:r>
              <a:rPr lang="fr-FR" altLang="fr-FR" sz="1200" dirty="0">
                <a:latin typeface="Times New Roman" panose="02020603050405020304" pitchFamily="18" charset="0"/>
              </a:rPr>
              <a:t> Est-ce que l’arbre T1 classifie bien les exemples ?  </a:t>
            </a:r>
          </a:p>
          <a:p>
            <a:pPr>
              <a:spcBef>
                <a:spcPct val="0"/>
              </a:spcBef>
              <a:buClrTx/>
              <a:buSzTx/>
              <a:buFontTx/>
              <a:buNone/>
            </a:pPr>
            <a:endParaRPr lang="fr-FR" altLang="fr-FR" sz="1200" dirty="0">
              <a:latin typeface="Times New Roman" panose="02020603050405020304" pitchFamily="18" charset="0"/>
            </a:endParaRPr>
          </a:p>
          <a:p>
            <a:pPr>
              <a:spcBef>
                <a:spcPct val="0"/>
              </a:spcBef>
              <a:buClrTx/>
              <a:buSzTx/>
              <a:buFontTx/>
              <a:buNone/>
            </a:pPr>
            <a:r>
              <a:rPr lang="fr-FR" altLang="fr-FR" sz="1200" dirty="0">
                <a:latin typeface="Times New Roman" panose="02020603050405020304" pitchFamily="18" charset="0"/>
              </a:rPr>
              <a:t>- En commençant par l’attribut  Prix, Donner l’arbre obtenu T2. </a:t>
            </a:r>
          </a:p>
          <a:p>
            <a:pPr>
              <a:spcBef>
                <a:spcPct val="0"/>
              </a:spcBef>
              <a:buClrTx/>
              <a:buSzTx/>
              <a:buFontTx/>
              <a:buNone/>
            </a:pPr>
            <a:endParaRPr lang="fr-FR" altLang="fr-FR" sz="1200" dirty="0">
              <a:latin typeface="Times New Roman" panose="02020603050405020304" pitchFamily="18" charset="0"/>
            </a:endParaRPr>
          </a:p>
          <a:p>
            <a:pPr>
              <a:spcBef>
                <a:spcPct val="0"/>
              </a:spcBef>
              <a:buClrTx/>
              <a:buSzTx/>
              <a:buFontTx/>
              <a:buNone/>
            </a:pPr>
            <a:r>
              <a:rPr lang="fr-FR" altLang="fr-FR" sz="1200" dirty="0">
                <a:latin typeface="Times New Roman" panose="02020603050405020304" pitchFamily="18" charset="0"/>
              </a:rPr>
              <a:t>- Calculer le gain (par ID3) pour l’attribut Prix</a:t>
            </a:r>
          </a:p>
          <a:p>
            <a:pPr>
              <a:spcBef>
                <a:spcPct val="0"/>
              </a:spcBef>
              <a:buClrTx/>
              <a:buSzTx/>
              <a:buFontTx/>
              <a:buNone/>
            </a:pPr>
            <a:endParaRPr lang="fr-FR" altLang="fr-FR" sz="1200" dirty="0">
              <a:latin typeface="Times New Roman" panose="02020603050405020304" pitchFamily="18" charset="0"/>
            </a:endParaRPr>
          </a:p>
          <a:p>
            <a:pPr>
              <a:spcBef>
                <a:spcPct val="0"/>
              </a:spcBef>
              <a:buClrTx/>
              <a:buSzTx/>
              <a:buFontTx/>
              <a:buNone/>
            </a:pPr>
            <a:r>
              <a:rPr lang="fr-FR" altLang="fr-FR" sz="1200" dirty="0">
                <a:latin typeface="Times New Roman" panose="02020603050405020304" pitchFamily="18" charset="0"/>
              </a:rPr>
              <a:t>- Calculer le gain (par ID3) pour l’attribut Type</a:t>
            </a:r>
          </a:p>
          <a:p>
            <a:pPr>
              <a:spcBef>
                <a:spcPct val="0"/>
              </a:spcBef>
              <a:buClrTx/>
              <a:buSzTx/>
              <a:buFontTx/>
              <a:buNone/>
            </a:pPr>
            <a:endParaRPr lang="fr-FR" altLang="fr-FR" sz="1200" dirty="0">
              <a:latin typeface="Times New Roman" panose="02020603050405020304" pitchFamily="18" charset="0"/>
            </a:endParaRPr>
          </a:p>
          <a:p>
            <a:pPr>
              <a:spcBef>
                <a:spcPct val="0"/>
              </a:spcBef>
              <a:buClrTx/>
              <a:buSzTx/>
              <a:buFontTx/>
              <a:buNone/>
            </a:pPr>
            <a:r>
              <a:rPr lang="fr-FR" altLang="fr-FR" sz="1200" dirty="0">
                <a:latin typeface="Times New Roman" panose="02020603050405020304" pitchFamily="18" charset="0"/>
              </a:rPr>
              <a:t>- Construire alors l’arbre  T3</a:t>
            </a:r>
          </a:p>
          <a:p>
            <a:pPr>
              <a:spcBef>
                <a:spcPct val="0"/>
              </a:spcBef>
              <a:buClrTx/>
              <a:buSzTx/>
              <a:buFontTx/>
              <a:buNone/>
            </a:pPr>
            <a:endParaRPr lang="fr-FR" altLang="fr-FR" sz="1200" dirty="0">
              <a:latin typeface="Times New Roman" panose="02020603050405020304" pitchFamily="18" charset="0"/>
            </a:endParaRPr>
          </a:p>
          <a:p>
            <a:pPr>
              <a:spcBef>
                <a:spcPct val="0"/>
              </a:spcBef>
              <a:buClrTx/>
              <a:buSzTx/>
              <a:buFontTx/>
              <a:buNone/>
            </a:pPr>
            <a:r>
              <a:rPr lang="fr-FR" altLang="fr-FR" sz="1200" dirty="0">
                <a:latin typeface="Times New Roman" panose="02020603050405020304" pitchFamily="18" charset="0"/>
              </a:rPr>
              <a:t>- Traduire l’arbre T3 en règles</a:t>
            </a:r>
          </a:p>
          <a:p>
            <a:pPr>
              <a:spcBef>
                <a:spcPct val="0"/>
              </a:spcBef>
              <a:buClrTx/>
              <a:buSzTx/>
              <a:buFontTx/>
              <a:buNone/>
            </a:pPr>
            <a:endParaRPr lang="fr-FR" altLang="fr-FR" sz="1200" dirty="0">
              <a:latin typeface="Times New Roman" panose="02020603050405020304" pitchFamily="18" charset="0"/>
            </a:endParaRPr>
          </a:p>
          <a:p>
            <a:pPr>
              <a:spcBef>
                <a:spcPct val="0"/>
              </a:spcBef>
              <a:buClrTx/>
              <a:buSzTx/>
              <a:buFontTx/>
              <a:buNone/>
            </a:pPr>
            <a:endParaRPr lang="fr-FR" altLang="fr-FR" sz="1200" dirty="0">
              <a:latin typeface="Times New Roman" panose="02020603050405020304" pitchFamily="18" charset="0"/>
            </a:endParaRPr>
          </a:p>
          <a:p>
            <a:pPr>
              <a:spcBef>
                <a:spcPct val="0"/>
              </a:spcBef>
              <a:buClrTx/>
              <a:buSzTx/>
              <a:buFontTx/>
              <a:buNone/>
            </a:pPr>
            <a:r>
              <a:rPr lang="fr-FR" altLang="fr-FR" sz="1200" b="1" dirty="0">
                <a:latin typeface="Times New Roman" panose="02020603050405020304" pitchFamily="18" charset="0"/>
              </a:rPr>
              <a:t>log2=1, log1/2=-1, log1/3 = -1.585, log2/3 = -0.585, log2/5=-1.322 ,log3/5=-0.737</a:t>
            </a:r>
          </a:p>
          <a:p>
            <a:pPr>
              <a:spcBef>
                <a:spcPct val="50000"/>
              </a:spcBef>
              <a:buClrTx/>
              <a:buSzTx/>
              <a:buFontTx/>
              <a:buNone/>
            </a:pPr>
            <a:endParaRPr lang="fr-FR" altLang="fr-FR" sz="1200" b="1" dirty="0">
              <a:latin typeface="Times New Roman" panose="02020603050405020304" pitchFamily="18" charset="0"/>
            </a:endParaRPr>
          </a:p>
        </p:txBody>
      </p:sp>
      <p:sp>
        <p:nvSpPr>
          <p:cNvPr id="54275" name="Line 5">
            <a:extLst>
              <a:ext uri="{FF2B5EF4-FFF2-40B4-BE49-F238E27FC236}">
                <a16:creationId xmlns="" xmlns:a16="http://schemas.microsoft.com/office/drawing/2014/main" id="{BFAE17B7-E177-42B2-8ACC-08A0FEEEA15B}"/>
              </a:ext>
            </a:extLst>
          </p:cNvPr>
          <p:cNvSpPr>
            <a:spLocks noChangeShapeType="1"/>
          </p:cNvSpPr>
          <p:nvPr/>
        </p:nvSpPr>
        <p:spPr bwMode="auto">
          <a:xfrm>
            <a:off x="7630587" y="1822905"/>
            <a:ext cx="269875" cy="4572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54276" name="Line 6">
            <a:extLst>
              <a:ext uri="{FF2B5EF4-FFF2-40B4-BE49-F238E27FC236}">
                <a16:creationId xmlns="" xmlns:a16="http://schemas.microsoft.com/office/drawing/2014/main" id="{CBABAE16-522A-4A2D-8A98-6474238F3633}"/>
              </a:ext>
            </a:extLst>
          </p:cNvPr>
          <p:cNvSpPr>
            <a:spLocks noChangeShapeType="1"/>
          </p:cNvSpPr>
          <p:nvPr/>
        </p:nvSpPr>
        <p:spPr bwMode="auto">
          <a:xfrm flipH="1">
            <a:off x="7703612" y="1011694"/>
            <a:ext cx="217487" cy="5095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54277" name="Text Box 7">
            <a:extLst>
              <a:ext uri="{FF2B5EF4-FFF2-40B4-BE49-F238E27FC236}">
                <a16:creationId xmlns="" xmlns:a16="http://schemas.microsoft.com/office/drawing/2014/main" id="{825F26CA-155E-46F0-B2E6-1DB14D8DD6B0}"/>
              </a:ext>
            </a:extLst>
          </p:cNvPr>
          <p:cNvSpPr txBox="1">
            <a:spLocks noChangeArrowheads="1"/>
          </p:cNvSpPr>
          <p:nvPr/>
        </p:nvSpPr>
        <p:spPr bwMode="auto">
          <a:xfrm>
            <a:off x="7811561" y="2221368"/>
            <a:ext cx="3429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zh-CN" sz="1200">
                <a:latin typeface="Times New Roman" panose="02020603050405020304" pitchFamily="18" charset="0"/>
                <a:ea typeface="SimSun" panose="02010600030101010101" pitchFamily="2" charset="-122"/>
              </a:rPr>
              <a:t>+</a:t>
            </a:r>
            <a:endParaRPr lang="fr-FR" altLang="fr-FR" sz="1800">
              <a:latin typeface="Times New Roman" panose="02020603050405020304" pitchFamily="18" charset="0"/>
            </a:endParaRPr>
          </a:p>
        </p:txBody>
      </p:sp>
      <p:sp>
        <p:nvSpPr>
          <p:cNvPr id="54278" name="Text Box 8">
            <a:extLst>
              <a:ext uri="{FF2B5EF4-FFF2-40B4-BE49-F238E27FC236}">
                <a16:creationId xmlns="" xmlns:a16="http://schemas.microsoft.com/office/drawing/2014/main" id="{861F7E2B-6A51-47A6-8E03-BBC5DB74150B}"/>
              </a:ext>
            </a:extLst>
          </p:cNvPr>
          <p:cNvSpPr txBox="1">
            <a:spLocks noChangeArrowheads="1"/>
          </p:cNvSpPr>
          <p:nvPr/>
        </p:nvSpPr>
        <p:spPr bwMode="auto">
          <a:xfrm>
            <a:off x="7197199" y="2210255"/>
            <a:ext cx="2524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zh-CN" sz="1200">
                <a:latin typeface="Times New Roman" panose="02020603050405020304" pitchFamily="18" charset="0"/>
                <a:ea typeface="SimSun" panose="02010600030101010101" pitchFamily="2" charset="-122"/>
              </a:rPr>
              <a:t>-</a:t>
            </a:r>
            <a:endParaRPr lang="fr-FR" altLang="fr-FR" sz="1800">
              <a:latin typeface="Times New Roman" panose="02020603050405020304" pitchFamily="18" charset="0"/>
            </a:endParaRPr>
          </a:p>
        </p:txBody>
      </p:sp>
      <p:sp>
        <p:nvSpPr>
          <p:cNvPr id="54279" name="Line 9">
            <a:extLst>
              <a:ext uri="{FF2B5EF4-FFF2-40B4-BE49-F238E27FC236}">
                <a16:creationId xmlns="" xmlns:a16="http://schemas.microsoft.com/office/drawing/2014/main" id="{0264590D-FA84-4F90-BBCC-B98FFE10FF49}"/>
              </a:ext>
            </a:extLst>
          </p:cNvPr>
          <p:cNvSpPr>
            <a:spLocks noChangeShapeType="1"/>
          </p:cNvSpPr>
          <p:nvPr/>
        </p:nvSpPr>
        <p:spPr bwMode="auto">
          <a:xfrm>
            <a:off x="8102074" y="991055"/>
            <a:ext cx="288925" cy="469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54280" name="Line 10">
            <a:extLst>
              <a:ext uri="{FF2B5EF4-FFF2-40B4-BE49-F238E27FC236}">
                <a16:creationId xmlns="" xmlns:a16="http://schemas.microsoft.com/office/drawing/2014/main" id="{9423F125-2745-4748-8661-76147160A725}"/>
              </a:ext>
            </a:extLst>
          </p:cNvPr>
          <p:cNvSpPr>
            <a:spLocks noChangeShapeType="1"/>
          </p:cNvSpPr>
          <p:nvPr/>
        </p:nvSpPr>
        <p:spPr bwMode="auto">
          <a:xfrm flipH="1">
            <a:off x="7305149" y="1822905"/>
            <a:ext cx="180975" cy="4714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54281" name="Oval 11">
            <a:extLst>
              <a:ext uri="{FF2B5EF4-FFF2-40B4-BE49-F238E27FC236}">
                <a16:creationId xmlns="" xmlns:a16="http://schemas.microsoft.com/office/drawing/2014/main" id="{95AF75AA-ECCA-4595-9E18-03252DCBB01F}"/>
              </a:ext>
            </a:extLst>
          </p:cNvPr>
          <p:cNvSpPr>
            <a:spLocks noChangeArrowheads="1"/>
          </p:cNvSpPr>
          <p:nvPr/>
        </p:nvSpPr>
        <p:spPr bwMode="auto">
          <a:xfrm>
            <a:off x="7268637" y="1497469"/>
            <a:ext cx="714375" cy="325437"/>
          </a:xfrm>
          <a:prstGeom prst="ellipse">
            <a:avLst/>
          </a:prstGeom>
          <a:solidFill>
            <a:srgbClr val="FFFFFF"/>
          </a:solidFill>
          <a:ln w="9525">
            <a:solidFill>
              <a:srgbClr val="000000"/>
            </a:solidFill>
            <a:round/>
            <a:headEnd/>
            <a:tailEnd/>
          </a:ln>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zh-CN" sz="1200">
                <a:latin typeface="Times New Roman" panose="02020603050405020304" pitchFamily="18" charset="0"/>
                <a:ea typeface="SimSun" panose="02010600030101010101" pitchFamily="2" charset="-122"/>
              </a:rPr>
              <a:t>Prix</a:t>
            </a:r>
            <a:endParaRPr lang="fr-FR" altLang="fr-FR" sz="1800">
              <a:latin typeface="Times New Roman" panose="02020603050405020304" pitchFamily="18" charset="0"/>
            </a:endParaRPr>
          </a:p>
        </p:txBody>
      </p:sp>
      <p:sp>
        <p:nvSpPr>
          <p:cNvPr id="54282" name="Oval 12">
            <a:extLst>
              <a:ext uri="{FF2B5EF4-FFF2-40B4-BE49-F238E27FC236}">
                <a16:creationId xmlns="" xmlns:a16="http://schemas.microsoft.com/office/drawing/2014/main" id="{930D49B2-1AE8-409F-8491-2226040389DA}"/>
              </a:ext>
            </a:extLst>
          </p:cNvPr>
          <p:cNvSpPr>
            <a:spLocks noChangeArrowheads="1"/>
          </p:cNvSpPr>
          <p:nvPr/>
        </p:nvSpPr>
        <p:spPr bwMode="auto">
          <a:xfrm>
            <a:off x="7667098" y="665618"/>
            <a:ext cx="750888" cy="342900"/>
          </a:xfrm>
          <a:prstGeom prst="ellipse">
            <a:avLst/>
          </a:prstGeom>
          <a:solidFill>
            <a:srgbClr val="FFFFFF"/>
          </a:solidFill>
          <a:ln w="9525">
            <a:solidFill>
              <a:srgbClr val="000000"/>
            </a:solidFill>
            <a:round/>
            <a:headEnd/>
            <a:tailEnd/>
          </a:ln>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zh-CN" sz="1200">
                <a:latin typeface="Times New Roman" panose="02020603050405020304" pitchFamily="18" charset="0"/>
                <a:ea typeface="SimSun" panose="02010600030101010101" pitchFamily="2" charset="-122"/>
              </a:rPr>
              <a:t>Type</a:t>
            </a:r>
            <a:endParaRPr lang="fr-FR" altLang="fr-FR" sz="1800">
              <a:latin typeface="Times New Roman" panose="02020603050405020304" pitchFamily="18" charset="0"/>
            </a:endParaRPr>
          </a:p>
        </p:txBody>
      </p:sp>
      <p:sp>
        <p:nvSpPr>
          <p:cNvPr id="54283" name="Text Box 13">
            <a:extLst>
              <a:ext uri="{FF2B5EF4-FFF2-40B4-BE49-F238E27FC236}">
                <a16:creationId xmlns="" xmlns:a16="http://schemas.microsoft.com/office/drawing/2014/main" id="{8C0826FB-6372-4625-B917-E2324B3BD5E4}"/>
              </a:ext>
            </a:extLst>
          </p:cNvPr>
          <p:cNvSpPr txBox="1">
            <a:spLocks noChangeArrowheads="1"/>
          </p:cNvSpPr>
          <p:nvPr/>
        </p:nvSpPr>
        <p:spPr bwMode="auto">
          <a:xfrm>
            <a:off x="7630586" y="1062493"/>
            <a:ext cx="254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zh-CN" sz="1200">
                <a:latin typeface="Times New Roman" panose="02020603050405020304" pitchFamily="18" charset="0"/>
                <a:ea typeface="SimSun" panose="02010600030101010101" pitchFamily="2" charset="-122"/>
              </a:rPr>
              <a:t>T</a:t>
            </a:r>
            <a:endParaRPr lang="fr-FR" altLang="fr-FR" sz="1800">
              <a:latin typeface="Times New Roman" panose="02020603050405020304" pitchFamily="18" charset="0"/>
            </a:endParaRPr>
          </a:p>
        </p:txBody>
      </p:sp>
      <p:sp>
        <p:nvSpPr>
          <p:cNvPr id="54284" name="Text Box 14">
            <a:extLst>
              <a:ext uri="{FF2B5EF4-FFF2-40B4-BE49-F238E27FC236}">
                <a16:creationId xmlns="" xmlns:a16="http://schemas.microsoft.com/office/drawing/2014/main" id="{16ECC12C-043E-47B9-BEA8-A96A4AFEACF1}"/>
              </a:ext>
            </a:extLst>
          </p:cNvPr>
          <p:cNvSpPr txBox="1">
            <a:spLocks noChangeArrowheads="1"/>
          </p:cNvSpPr>
          <p:nvPr/>
        </p:nvSpPr>
        <p:spPr bwMode="auto">
          <a:xfrm>
            <a:off x="8136998" y="1025980"/>
            <a:ext cx="254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zh-CN" sz="1200" dirty="0">
                <a:latin typeface="Times New Roman" panose="02020603050405020304" pitchFamily="18" charset="0"/>
                <a:ea typeface="SimSun" panose="02010600030101010101" pitchFamily="2" charset="-122"/>
              </a:rPr>
              <a:t>C</a:t>
            </a:r>
            <a:endParaRPr lang="fr-FR" altLang="fr-FR" sz="1800" dirty="0">
              <a:latin typeface="Times New Roman" panose="02020603050405020304" pitchFamily="18" charset="0"/>
            </a:endParaRPr>
          </a:p>
        </p:txBody>
      </p:sp>
      <p:sp>
        <p:nvSpPr>
          <p:cNvPr id="54285" name="Text Box 15">
            <a:extLst>
              <a:ext uri="{FF2B5EF4-FFF2-40B4-BE49-F238E27FC236}">
                <a16:creationId xmlns="" xmlns:a16="http://schemas.microsoft.com/office/drawing/2014/main" id="{83644F29-0133-42F6-89B7-13656D3DA651}"/>
              </a:ext>
            </a:extLst>
          </p:cNvPr>
          <p:cNvSpPr txBox="1">
            <a:spLocks noChangeArrowheads="1"/>
          </p:cNvSpPr>
          <p:nvPr/>
        </p:nvSpPr>
        <p:spPr bwMode="auto">
          <a:xfrm>
            <a:off x="8246536" y="1389518"/>
            <a:ext cx="3429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zh-CN" sz="1200">
                <a:latin typeface="Times New Roman" panose="02020603050405020304" pitchFamily="18" charset="0"/>
                <a:ea typeface="SimSun" panose="02010600030101010101" pitchFamily="2" charset="-122"/>
              </a:rPr>
              <a:t>+</a:t>
            </a:r>
            <a:endParaRPr lang="fr-FR" altLang="fr-FR" sz="1800">
              <a:latin typeface="Times New Roman" panose="02020603050405020304" pitchFamily="18" charset="0"/>
            </a:endParaRPr>
          </a:p>
        </p:txBody>
      </p:sp>
      <p:sp>
        <p:nvSpPr>
          <p:cNvPr id="54286" name="Text Box 16">
            <a:extLst>
              <a:ext uri="{FF2B5EF4-FFF2-40B4-BE49-F238E27FC236}">
                <a16:creationId xmlns="" xmlns:a16="http://schemas.microsoft.com/office/drawing/2014/main" id="{BE40FBD4-8F83-48B1-B15B-709EF386ACFB}"/>
              </a:ext>
            </a:extLst>
          </p:cNvPr>
          <p:cNvSpPr txBox="1">
            <a:spLocks noChangeArrowheads="1"/>
          </p:cNvSpPr>
          <p:nvPr/>
        </p:nvSpPr>
        <p:spPr bwMode="auto">
          <a:xfrm>
            <a:off x="7775048" y="1932443"/>
            <a:ext cx="254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zh-CN" sz="1200">
                <a:latin typeface="Times New Roman" panose="02020603050405020304" pitchFamily="18" charset="0"/>
                <a:ea typeface="SimSun" panose="02010600030101010101" pitchFamily="2" charset="-122"/>
              </a:rPr>
              <a:t>B</a:t>
            </a:r>
            <a:endParaRPr lang="fr-FR" altLang="fr-FR" sz="1800">
              <a:latin typeface="Times New Roman" panose="02020603050405020304" pitchFamily="18" charset="0"/>
            </a:endParaRPr>
          </a:p>
        </p:txBody>
      </p:sp>
      <p:sp>
        <p:nvSpPr>
          <p:cNvPr id="54287" name="Text Box 17">
            <a:extLst>
              <a:ext uri="{FF2B5EF4-FFF2-40B4-BE49-F238E27FC236}">
                <a16:creationId xmlns="" xmlns:a16="http://schemas.microsoft.com/office/drawing/2014/main" id="{002376B2-FB52-472E-9C32-083C737BE07D}"/>
              </a:ext>
            </a:extLst>
          </p:cNvPr>
          <p:cNvSpPr txBox="1">
            <a:spLocks noChangeArrowheads="1"/>
          </p:cNvSpPr>
          <p:nvPr/>
        </p:nvSpPr>
        <p:spPr bwMode="auto">
          <a:xfrm>
            <a:off x="7124174" y="1895930"/>
            <a:ext cx="2889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zh-CN" sz="1200">
                <a:latin typeface="Times New Roman" panose="02020603050405020304" pitchFamily="18" charset="0"/>
                <a:ea typeface="SimSun" panose="02010600030101010101" pitchFamily="2" charset="-122"/>
              </a:rPr>
              <a:t>M</a:t>
            </a:r>
            <a:endParaRPr lang="fr-FR" altLang="fr-FR" sz="1800">
              <a:latin typeface="Times New Roman" panose="02020603050405020304" pitchFamily="18" charset="0"/>
            </a:endParaRPr>
          </a:p>
        </p:txBody>
      </p:sp>
      <p:sp>
        <p:nvSpPr>
          <p:cNvPr id="54288" name="Text Box 18">
            <a:extLst>
              <a:ext uri="{FF2B5EF4-FFF2-40B4-BE49-F238E27FC236}">
                <a16:creationId xmlns="" xmlns:a16="http://schemas.microsoft.com/office/drawing/2014/main" id="{7BEE1979-B00A-453A-8D57-B81019C2DA5D}"/>
              </a:ext>
            </a:extLst>
          </p:cNvPr>
          <p:cNvSpPr txBox="1">
            <a:spLocks noChangeArrowheads="1"/>
          </p:cNvSpPr>
          <p:nvPr/>
        </p:nvSpPr>
        <p:spPr bwMode="auto">
          <a:xfrm>
            <a:off x="7290861" y="2484299"/>
            <a:ext cx="863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50000"/>
              </a:spcBef>
              <a:buClrTx/>
              <a:buSzTx/>
              <a:buFontTx/>
              <a:buNone/>
            </a:pPr>
            <a:r>
              <a:rPr lang="fr-FR" altLang="fr-FR" sz="1800" dirty="0">
                <a:latin typeface="Times New Roman" panose="02020603050405020304" pitchFamily="18" charset="0"/>
              </a:rPr>
              <a:t>T1</a:t>
            </a:r>
          </a:p>
        </p:txBody>
      </p:sp>
      <p:graphicFrame>
        <p:nvGraphicFramePr>
          <p:cNvPr id="190642" name="Group 178">
            <a:extLst>
              <a:ext uri="{FF2B5EF4-FFF2-40B4-BE49-F238E27FC236}">
                <a16:creationId xmlns="" xmlns:a16="http://schemas.microsoft.com/office/drawing/2014/main" id="{2DE2C44F-3445-4A71-9E0D-4CCB11A7C83A}"/>
              </a:ext>
            </a:extLst>
          </p:cNvPr>
          <p:cNvGraphicFramePr>
            <a:graphicFrameLocks noGrp="1"/>
          </p:cNvGraphicFramePr>
          <p:nvPr/>
        </p:nvGraphicFramePr>
        <p:xfrm>
          <a:off x="1847851" y="2060575"/>
          <a:ext cx="3527425" cy="1555750"/>
        </p:xfrm>
        <a:graphic>
          <a:graphicData uri="http://schemas.openxmlformats.org/drawingml/2006/table">
            <a:tbl>
              <a:tblPr/>
              <a:tblGrid>
                <a:gridCol w="830263">
                  <a:extLst>
                    <a:ext uri="{9D8B030D-6E8A-4147-A177-3AD203B41FA5}">
                      <a16:colId xmlns="" xmlns:a16="http://schemas.microsoft.com/office/drawing/2014/main" val="20000"/>
                    </a:ext>
                  </a:extLst>
                </a:gridCol>
                <a:gridCol w="593725">
                  <a:extLst>
                    <a:ext uri="{9D8B030D-6E8A-4147-A177-3AD203B41FA5}">
                      <a16:colId xmlns="" xmlns:a16="http://schemas.microsoft.com/office/drawing/2014/main" val="20001"/>
                    </a:ext>
                  </a:extLst>
                </a:gridCol>
                <a:gridCol w="592137">
                  <a:extLst>
                    <a:ext uri="{9D8B030D-6E8A-4147-A177-3AD203B41FA5}">
                      <a16:colId xmlns="" xmlns:a16="http://schemas.microsoft.com/office/drawing/2014/main" val="20002"/>
                    </a:ext>
                  </a:extLst>
                </a:gridCol>
                <a:gridCol w="1511300">
                  <a:extLst>
                    <a:ext uri="{9D8B030D-6E8A-4147-A177-3AD203B41FA5}">
                      <a16:colId xmlns="" xmlns:a16="http://schemas.microsoft.com/office/drawing/2014/main" val="20003"/>
                    </a:ext>
                  </a:extLst>
                </a:gridCol>
              </a:tblGrid>
              <a:tr h="26035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exemple</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Type</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Prix</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Classe</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18415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1</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T</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B</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20002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2</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C</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B</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18415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3</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T</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M</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18415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4</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C</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M</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18415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5</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C</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H</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a:ln>
                            <a:noFill/>
                          </a:ln>
                          <a:solidFill>
                            <a:schemeClr val="tx1"/>
                          </a:solidFill>
                          <a:effectLst/>
                          <a:latin typeface="Arial" pitchFamily="34" charset="0"/>
                          <a:ea typeface="Times New Roman" pitchFamily="18" charset="0"/>
                          <a:cs typeface="TimesNewRoman"/>
                        </a:rPr>
                        <a:t>-</a:t>
                      </a:r>
                      <a:endParaRPr kumimoji="0" lang="en-GB" sz="2400" b="0" i="0" u="none" strike="noStrike" cap="none" normalizeH="0" baseline="0">
                        <a:ln>
                          <a:noFill/>
                        </a:ln>
                        <a:solidFill>
                          <a:schemeClr val="tx1"/>
                        </a:solidFill>
                        <a:effectLst/>
                        <a:latin typeface="Arial" pitchFamily="34" charset="0"/>
                        <a:ea typeface="Times New Roman" pitchFamily="18" charset="0"/>
                        <a:cs typeface="TimesNewRoman"/>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bl>
          </a:graphicData>
        </a:graphic>
      </p:graphicFrame>
      <p:sp>
        <p:nvSpPr>
          <p:cNvPr id="2" name="Slide Number Placeholder 1">
            <a:extLst>
              <a:ext uri="{FF2B5EF4-FFF2-40B4-BE49-F238E27FC236}">
                <a16:creationId xmlns="" xmlns:a16="http://schemas.microsoft.com/office/drawing/2014/main" id="{8211C3C8-31AA-44CB-8D1C-23DA1E880E5C}"/>
              </a:ext>
            </a:extLst>
          </p:cNvPr>
          <p:cNvSpPr>
            <a:spLocks noGrp="1"/>
          </p:cNvSpPr>
          <p:nvPr>
            <p:ph type="sldNum" sz="quarter" idx="12"/>
          </p:nvPr>
        </p:nvSpPr>
        <p:spPr/>
        <p:txBody>
          <a:bodyPr/>
          <a:lstStyle/>
          <a:p>
            <a:fld id="{EE5DF52D-0FE0-4249-9023-8B500BDB729B}" type="slidenum">
              <a:rPr lang="fr-FR" smtClean="0"/>
              <a:pPr/>
              <a:t>23</a:t>
            </a:fld>
            <a:endParaRPr lang="fr-FR"/>
          </a:p>
        </p:txBody>
      </p:sp>
      <p:sp>
        <p:nvSpPr>
          <p:cNvPr id="19" name="Line 5">
            <a:extLst>
              <a:ext uri="{FF2B5EF4-FFF2-40B4-BE49-F238E27FC236}">
                <a16:creationId xmlns="" xmlns:a16="http://schemas.microsoft.com/office/drawing/2014/main" id="{BFAE17B7-E177-42B2-8ACC-08A0FEEEA15B}"/>
              </a:ext>
            </a:extLst>
          </p:cNvPr>
          <p:cNvSpPr>
            <a:spLocks noChangeShapeType="1"/>
          </p:cNvSpPr>
          <p:nvPr/>
        </p:nvSpPr>
        <p:spPr bwMode="auto">
          <a:xfrm>
            <a:off x="8112144" y="4212833"/>
            <a:ext cx="269875" cy="4572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 name="Line 6">
            <a:extLst>
              <a:ext uri="{FF2B5EF4-FFF2-40B4-BE49-F238E27FC236}">
                <a16:creationId xmlns="" xmlns:a16="http://schemas.microsoft.com/office/drawing/2014/main" id="{CBABAE16-522A-4A2D-8A98-6474238F3633}"/>
              </a:ext>
            </a:extLst>
          </p:cNvPr>
          <p:cNvSpPr>
            <a:spLocks noChangeShapeType="1"/>
          </p:cNvSpPr>
          <p:nvPr/>
        </p:nvSpPr>
        <p:spPr bwMode="auto">
          <a:xfrm flipH="1">
            <a:off x="7383731" y="3420015"/>
            <a:ext cx="217487" cy="5095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 name="Text Box 8">
            <a:extLst>
              <a:ext uri="{FF2B5EF4-FFF2-40B4-BE49-F238E27FC236}">
                <a16:creationId xmlns="" xmlns:a16="http://schemas.microsoft.com/office/drawing/2014/main" id="{861F7E2B-6A51-47A6-8E03-BBC5DB74150B}"/>
              </a:ext>
            </a:extLst>
          </p:cNvPr>
          <p:cNvSpPr txBox="1">
            <a:spLocks noChangeArrowheads="1"/>
          </p:cNvSpPr>
          <p:nvPr/>
        </p:nvSpPr>
        <p:spPr bwMode="auto">
          <a:xfrm>
            <a:off x="7601218" y="4636620"/>
            <a:ext cx="2524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zh-CN" sz="1200">
                <a:latin typeface="Times New Roman" panose="02020603050405020304" pitchFamily="18" charset="0"/>
                <a:ea typeface="SimSun" panose="02010600030101010101" pitchFamily="2" charset="-122"/>
              </a:rPr>
              <a:t>-</a:t>
            </a:r>
            <a:endParaRPr lang="fr-FR" altLang="fr-FR" sz="1800">
              <a:latin typeface="Times New Roman" panose="02020603050405020304" pitchFamily="18" charset="0"/>
            </a:endParaRPr>
          </a:p>
        </p:txBody>
      </p:sp>
      <p:sp>
        <p:nvSpPr>
          <p:cNvPr id="23" name="Line 9">
            <a:extLst>
              <a:ext uri="{FF2B5EF4-FFF2-40B4-BE49-F238E27FC236}">
                <a16:creationId xmlns="" xmlns:a16="http://schemas.microsoft.com/office/drawing/2014/main" id="{0264590D-FA84-4F90-BBCC-B98FFE10FF49}"/>
              </a:ext>
            </a:extLst>
          </p:cNvPr>
          <p:cNvSpPr>
            <a:spLocks noChangeShapeType="1"/>
          </p:cNvSpPr>
          <p:nvPr/>
        </p:nvSpPr>
        <p:spPr bwMode="auto">
          <a:xfrm>
            <a:off x="7782193" y="3399376"/>
            <a:ext cx="288925" cy="469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4" name="Line 10">
            <a:extLst>
              <a:ext uri="{FF2B5EF4-FFF2-40B4-BE49-F238E27FC236}">
                <a16:creationId xmlns="" xmlns:a16="http://schemas.microsoft.com/office/drawing/2014/main" id="{9423F125-2745-4748-8661-76147160A725}"/>
              </a:ext>
            </a:extLst>
          </p:cNvPr>
          <p:cNvSpPr>
            <a:spLocks noChangeShapeType="1"/>
          </p:cNvSpPr>
          <p:nvPr/>
        </p:nvSpPr>
        <p:spPr bwMode="auto">
          <a:xfrm flipH="1">
            <a:off x="7683936" y="4165132"/>
            <a:ext cx="180975" cy="4714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5" name="Oval 11">
            <a:extLst>
              <a:ext uri="{FF2B5EF4-FFF2-40B4-BE49-F238E27FC236}">
                <a16:creationId xmlns="" xmlns:a16="http://schemas.microsoft.com/office/drawing/2014/main" id="{95AF75AA-ECCA-4595-9E18-03252DCBB01F}"/>
              </a:ext>
            </a:extLst>
          </p:cNvPr>
          <p:cNvSpPr>
            <a:spLocks noChangeArrowheads="1"/>
          </p:cNvSpPr>
          <p:nvPr/>
        </p:nvSpPr>
        <p:spPr bwMode="auto">
          <a:xfrm>
            <a:off x="7667644" y="3853983"/>
            <a:ext cx="714375" cy="325437"/>
          </a:xfrm>
          <a:prstGeom prst="ellipse">
            <a:avLst/>
          </a:prstGeom>
          <a:solidFill>
            <a:srgbClr val="FFFFFF"/>
          </a:solidFill>
          <a:ln w="9525">
            <a:solidFill>
              <a:srgbClr val="000000"/>
            </a:solidFill>
            <a:round/>
            <a:headEnd/>
            <a:tailEnd/>
          </a:ln>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fr-FR" sz="1200" dirty="0" smtClean="0">
                <a:latin typeface="Times New Roman" panose="02020603050405020304" pitchFamily="18" charset="0"/>
                <a:ea typeface="SimSun" panose="02010600030101010101" pitchFamily="2" charset="-122"/>
              </a:rPr>
              <a:t>Type</a:t>
            </a:r>
            <a:endParaRPr lang="fr-FR" altLang="fr-FR" sz="1800" dirty="0">
              <a:latin typeface="Times New Roman" panose="02020603050405020304" pitchFamily="18" charset="0"/>
            </a:endParaRPr>
          </a:p>
        </p:txBody>
      </p:sp>
      <p:sp>
        <p:nvSpPr>
          <p:cNvPr id="26" name="Oval 12">
            <a:extLst>
              <a:ext uri="{FF2B5EF4-FFF2-40B4-BE49-F238E27FC236}">
                <a16:creationId xmlns="" xmlns:a16="http://schemas.microsoft.com/office/drawing/2014/main" id="{930D49B2-1AE8-409F-8491-2226040389DA}"/>
              </a:ext>
            </a:extLst>
          </p:cNvPr>
          <p:cNvSpPr>
            <a:spLocks noChangeArrowheads="1"/>
          </p:cNvSpPr>
          <p:nvPr/>
        </p:nvSpPr>
        <p:spPr bwMode="auto">
          <a:xfrm>
            <a:off x="7347217" y="3073939"/>
            <a:ext cx="750888" cy="342900"/>
          </a:xfrm>
          <a:prstGeom prst="ellipse">
            <a:avLst/>
          </a:prstGeom>
          <a:solidFill>
            <a:srgbClr val="FFFFFF"/>
          </a:solidFill>
          <a:ln w="9525">
            <a:solidFill>
              <a:srgbClr val="000000"/>
            </a:solidFill>
            <a:round/>
            <a:headEnd/>
            <a:tailEnd/>
          </a:ln>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fr-FR" sz="1200" dirty="0" smtClean="0">
                <a:latin typeface="Times New Roman" panose="02020603050405020304" pitchFamily="18" charset="0"/>
                <a:ea typeface="SimSun" panose="02010600030101010101" pitchFamily="2" charset="-122"/>
              </a:rPr>
              <a:t>Prix</a:t>
            </a:r>
            <a:endParaRPr lang="fr-FR" altLang="fr-FR" sz="1800" dirty="0">
              <a:latin typeface="Times New Roman" panose="02020603050405020304" pitchFamily="18" charset="0"/>
            </a:endParaRPr>
          </a:p>
        </p:txBody>
      </p:sp>
      <p:sp>
        <p:nvSpPr>
          <p:cNvPr id="27" name="Text Box 13">
            <a:extLst>
              <a:ext uri="{FF2B5EF4-FFF2-40B4-BE49-F238E27FC236}">
                <a16:creationId xmlns="" xmlns:a16="http://schemas.microsoft.com/office/drawing/2014/main" id="{8C0826FB-6372-4625-B917-E2324B3BD5E4}"/>
              </a:ext>
            </a:extLst>
          </p:cNvPr>
          <p:cNvSpPr txBox="1">
            <a:spLocks noChangeArrowheads="1"/>
          </p:cNvSpPr>
          <p:nvPr/>
        </p:nvSpPr>
        <p:spPr bwMode="auto">
          <a:xfrm>
            <a:off x="7310705" y="3470814"/>
            <a:ext cx="254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fr-FR" sz="1200" dirty="0">
                <a:latin typeface="Times New Roman" panose="02020603050405020304" pitchFamily="18" charset="0"/>
                <a:ea typeface="SimSun" panose="02010600030101010101" pitchFamily="2" charset="-122"/>
              </a:rPr>
              <a:t>B</a:t>
            </a:r>
            <a:endParaRPr lang="fr-FR" altLang="fr-FR" sz="1800" dirty="0">
              <a:latin typeface="Times New Roman" panose="02020603050405020304" pitchFamily="18" charset="0"/>
            </a:endParaRPr>
          </a:p>
        </p:txBody>
      </p:sp>
      <p:sp>
        <p:nvSpPr>
          <p:cNvPr id="28" name="Text Box 14">
            <a:extLst>
              <a:ext uri="{FF2B5EF4-FFF2-40B4-BE49-F238E27FC236}">
                <a16:creationId xmlns="" xmlns:a16="http://schemas.microsoft.com/office/drawing/2014/main" id="{16ECC12C-043E-47B9-BEA8-A96A4AFEACF1}"/>
              </a:ext>
            </a:extLst>
          </p:cNvPr>
          <p:cNvSpPr txBox="1">
            <a:spLocks noChangeArrowheads="1"/>
          </p:cNvSpPr>
          <p:nvPr/>
        </p:nvSpPr>
        <p:spPr bwMode="auto">
          <a:xfrm>
            <a:off x="7817117" y="3434301"/>
            <a:ext cx="254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fr-FR" sz="1200" dirty="0">
                <a:latin typeface="Times New Roman" panose="02020603050405020304" pitchFamily="18" charset="0"/>
                <a:ea typeface="SimSun" panose="02010600030101010101" pitchFamily="2" charset="-122"/>
              </a:rPr>
              <a:t>M</a:t>
            </a:r>
            <a:endParaRPr lang="fr-FR" altLang="fr-FR" sz="1800" dirty="0">
              <a:latin typeface="Times New Roman" panose="02020603050405020304" pitchFamily="18" charset="0"/>
            </a:endParaRPr>
          </a:p>
        </p:txBody>
      </p:sp>
      <p:sp>
        <p:nvSpPr>
          <p:cNvPr id="29" name="Text Box 15">
            <a:extLst>
              <a:ext uri="{FF2B5EF4-FFF2-40B4-BE49-F238E27FC236}">
                <a16:creationId xmlns="" xmlns:a16="http://schemas.microsoft.com/office/drawing/2014/main" id="{83644F29-0133-42F6-89B7-13656D3DA651}"/>
              </a:ext>
            </a:extLst>
          </p:cNvPr>
          <p:cNvSpPr txBox="1">
            <a:spLocks noChangeArrowheads="1"/>
          </p:cNvSpPr>
          <p:nvPr/>
        </p:nvSpPr>
        <p:spPr bwMode="auto">
          <a:xfrm>
            <a:off x="8245909" y="4645236"/>
            <a:ext cx="3429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zh-CN" sz="1200" dirty="0">
                <a:latin typeface="Times New Roman" panose="02020603050405020304" pitchFamily="18" charset="0"/>
                <a:ea typeface="SimSun" panose="02010600030101010101" pitchFamily="2" charset="-122"/>
              </a:rPr>
              <a:t>+</a:t>
            </a:r>
            <a:endParaRPr lang="fr-FR" altLang="fr-FR" sz="1800" dirty="0">
              <a:latin typeface="Times New Roman" panose="02020603050405020304" pitchFamily="18" charset="0"/>
            </a:endParaRPr>
          </a:p>
        </p:txBody>
      </p:sp>
      <p:sp>
        <p:nvSpPr>
          <p:cNvPr id="30" name="Text Box 16">
            <a:extLst>
              <a:ext uri="{FF2B5EF4-FFF2-40B4-BE49-F238E27FC236}">
                <a16:creationId xmlns="" xmlns:a16="http://schemas.microsoft.com/office/drawing/2014/main" id="{BE40FBD4-8F83-48B1-B15B-709EF386ACFB}"/>
              </a:ext>
            </a:extLst>
          </p:cNvPr>
          <p:cNvSpPr txBox="1">
            <a:spLocks noChangeArrowheads="1"/>
          </p:cNvSpPr>
          <p:nvPr/>
        </p:nvSpPr>
        <p:spPr bwMode="auto">
          <a:xfrm>
            <a:off x="8200581" y="4286576"/>
            <a:ext cx="254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zh-CN" sz="1200" dirty="0" smtClean="0">
                <a:latin typeface="Times New Roman" panose="02020603050405020304" pitchFamily="18" charset="0"/>
                <a:ea typeface="SimSun" panose="02010600030101010101" pitchFamily="2" charset="-122"/>
              </a:rPr>
              <a:t>C</a:t>
            </a:r>
            <a:endParaRPr lang="fr-FR" altLang="fr-FR" sz="1800" dirty="0">
              <a:latin typeface="Times New Roman" panose="02020603050405020304" pitchFamily="18" charset="0"/>
            </a:endParaRPr>
          </a:p>
        </p:txBody>
      </p:sp>
      <p:sp>
        <p:nvSpPr>
          <p:cNvPr id="32" name="Text Box 18">
            <a:extLst>
              <a:ext uri="{FF2B5EF4-FFF2-40B4-BE49-F238E27FC236}">
                <a16:creationId xmlns="" xmlns:a16="http://schemas.microsoft.com/office/drawing/2014/main" id="{7BEE1979-B00A-453A-8D57-B81019C2DA5D}"/>
              </a:ext>
            </a:extLst>
          </p:cNvPr>
          <p:cNvSpPr txBox="1">
            <a:spLocks noChangeArrowheads="1"/>
          </p:cNvSpPr>
          <p:nvPr/>
        </p:nvSpPr>
        <p:spPr bwMode="auto">
          <a:xfrm>
            <a:off x="7611495" y="4880052"/>
            <a:ext cx="863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50000"/>
              </a:spcBef>
              <a:buClrTx/>
              <a:buSzTx/>
              <a:buFontTx/>
              <a:buNone/>
            </a:pPr>
            <a:r>
              <a:rPr lang="fr-FR" altLang="fr-FR" sz="1800" dirty="0" smtClean="0">
                <a:latin typeface="Times New Roman" panose="02020603050405020304" pitchFamily="18" charset="0"/>
              </a:rPr>
              <a:t>T2</a:t>
            </a:r>
            <a:endParaRPr lang="fr-FR" altLang="fr-FR" sz="1800" dirty="0">
              <a:latin typeface="Times New Roman" panose="02020603050405020304" pitchFamily="18" charset="0"/>
            </a:endParaRPr>
          </a:p>
        </p:txBody>
      </p:sp>
      <p:sp>
        <p:nvSpPr>
          <p:cNvPr id="33" name="Line 9">
            <a:extLst>
              <a:ext uri="{FF2B5EF4-FFF2-40B4-BE49-F238E27FC236}">
                <a16:creationId xmlns="" xmlns:a16="http://schemas.microsoft.com/office/drawing/2014/main" id="{0264590D-FA84-4F90-BBCC-B98FFE10FF49}"/>
              </a:ext>
            </a:extLst>
          </p:cNvPr>
          <p:cNvSpPr>
            <a:spLocks noChangeShapeType="1"/>
          </p:cNvSpPr>
          <p:nvPr/>
        </p:nvSpPr>
        <p:spPr bwMode="auto">
          <a:xfrm>
            <a:off x="8066354" y="3313650"/>
            <a:ext cx="522455" cy="61595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34" name="Text Box 14">
            <a:extLst>
              <a:ext uri="{FF2B5EF4-FFF2-40B4-BE49-F238E27FC236}">
                <a16:creationId xmlns="" xmlns:a16="http://schemas.microsoft.com/office/drawing/2014/main" id="{16ECC12C-043E-47B9-BEA8-A96A4AFEACF1}"/>
              </a:ext>
            </a:extLst>
          </p:cNvPr>
          <p:cNvSpPr txBox="1">
            <a:spLocks noChangeArrowheads="1"/>
          </p:cNvSpPr>
          <p:nvPr/>
        </p:nvSpPr>
        <p:spPr bwMode="auto">
          <a:xfrm>
            <a:off x="8334809" y="3405726"/>
            <a:ext cx="254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en-US" altLang="fr-FR" sz="1200" dirty="0" smtClean="0">
                <a:latin typeface="Times New Roman" panose="02020603050405020304" pitchFamily="18" charset="0"/>
              </a:rPr>
              <a:t>H</a:t>
            </a:r>
            <a:endParaRPr lang="fr-FR" altLang="fr-FR" sz="1200" dirty="0">
              <a:latin typeface="Times New Roman" panose="02020603050405020304" pitchFamily="18" charset="0"/>
            </a:endParaRPr>
          </a:p>
        </p:txBody>
      </p:sp>
      <p:sp>
        <p:nvSpPr>
          <p:cNvPr id="35" name="Text Box 15">
            <a:extLst>
              <a:ext uri="{FF2B5EF4-FFF2-40B4-BE49-F238E27FC236}">
                <a16:creationId xmlns="" xmlns:a16="http://schemas.microsoft.com/office/drawing/2014/main" id="{83644F29-0133-42F6-89B7-13656D3DA651}"/>
              </a:ext>
            </a:extLst>
          </p:cNvPr>
          <p:cNvSpPr txBox="1">
            <a:spLocks noChangeArrowheads="1"/>
          </p:cNvSpPr>
          <p:nvPr/>
        </p:nvSpPr>
        <p:spPr bwMode="auto">
          <a:xfrm>
            <a:off x="7284943" y="3853983"/>
            <a:ext cx="3429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zh-CN" sz="1200">
                <a:latin typeface="Times New Roman" panose="02020603050405020304" pitchFamily="18" charset="0"/>
                <a:ea typeface="SimSun" panose="02010600030101010101" pitchFamily="2" charset="-122"/>
              </a:rPr>
              <a:t>+</a:t>
            </a:r>
            <a:endParaRPr lang="fr-FR" altLang="fr-FR" sz="1800">
              <a:latin typeface="Times New Roman" panose="02020603050405020304" pitchFamily="18" charset="0"/>
            </a:endParaRPr>
          </a:p>
        </p:txBody>
      </p:sp>
      <p:sp>
        <p:nvSpPr>
          <p:cNvPr id="36" name="Text Box 8">
            <a:extLst>
              <a:ext uri="{FF2B5EF4-FFF2-40B4-BE49-F238E27FC236}">
                <a16:creationId xmlns="" xmlns:a16="http://schemas.microsoft.com/office/drawing/2014/main" id="{861F7E2B-6A51-47A6-8E03-BBC5DB74150B}"/>
              </a:ext>
            </a:extLst>
          </p:cNvPr>
          <p:cNvSpPr txBox="1">
            <a:spLocks noChangeArrowheads="1"/>
          </p:cNvSpPr>
          <p:nvPr/>
        </p:nvSpPr>
        <p:spPr bwMode="auto">
          <a:xfrm>
            <a:off x="8475095" y="3821314"/>
            <a:ext cx="2524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zh-CN" sz="1200">
                <a:latin typeface="Times New Roman" panose="02020603050405020304" pitchFamily="18" charset="0"/>
                <a:ea typeface="SimSun" panose="02010600030101010101" pitchFamily="2" charset="-122"/>
              </a:rPr>
              <a:t>-</a:t>
            </a:r>
            <a:endParaRPr lang="fr-FR" altLang="fr-FR" sz="1800">
              <a:latin typeface="Times New Roman" panose="02020603050405020304" pitchFamily="18" charset="0"/>
            </a:endParaRPr>
          </a:p>
        </p:txBody>
      </p:sp>
      <p:sp>
        <p:nvSpPr>
          <p:cNvPr id="37" name="Text Box 16">
            <a:extLst>
              <a:ext uri="{FF2B5EF4-FFF2-40B4-BE49-F238E27FC236}">
                <a16:creationId xmlns="" xmlns:a16="http://schemas.microsoft.com/office/drawing/2014/main" id="{BE40FBD4-8F83-48B1-B15B-709EF386ACFB}"/>
              </a:ext>
            </a:extLst>
          </p:cNvPr>
          <p:cNvSpPr txBox="1">
            <a:spLocks noChangeArrowheads="1"/>
          </p:cNvSpPr>
          <p:nvPr/>
        </p:nvSpPr>
        <p:spPr bwMode="auto">
          <a:xfrm>
            <a:off x="7528027" y="4248281"/>
            <a:ext cx="254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zh-CN" sz="1200" dirty="0" smtClean="0">
                <a:latin typeface="Times New Roman" panose="02020603050405020304" pitchFamily="18" charset="0"/>
                <a:ea typeface="SimSun" panose="02010600030101010101" pitchFamily="2" charset="-122"/>
              </a:rPr>
              <a:t>T</a:t>
            </a:r>
            <a:endParaRPr lang="fr-FR" altLang="fr-FR" sz="1800" dirty="0">
              <a:latin typeface="Times New Roman" panose="02020603050405020304" pitchFamily="18" charset="0"/>
            </a:endParaRPr>
          </a:p>
        </p:txBody>
      </p:sp>
      <p:sp>
        <p:nvSpPr>
          <p:cNvPr id="3" name="Rectangle 2"/>
          <p:cNvSpPr/>
          <p:nvPr/>
        </p:nvSpPr>
        <p:spPr>
          <a:xfrm>
            <a:off x="8692060" y="140293"/>
            <a:ext cx="3498073" cy="4739759"/>
          </a:xfrm>
          <a:prstGeom prst="rect">
            <a:avLst/>
          </a:prstGeom>
        </p:spPr>
        <p:txBody>
          <a:bodyPr wrap="none">
            <a:spAutoFit/>
          </a:bodyPr>
          <a:lstStyle/>
          <a:p>
            <a:pPr>
              <a:spcBef>
                <a:spcPct val="0"/>
              </a:spcBef>
              <a:buClrTx/>
              <a:buSzTx/>
              <a:buFontTx/>
              <a:buNone/>
            </a:pPr>
            <a:r>
              <a:rPr lang="en-US" altLang="fr-FR" sz="1400" dirty="0" smtClean="0"/>
              <a:t>S={1,2,3,4,5}</a:t>
            </a:r>
          </a:p>
          <a:p>
            <a:pPr>
              <a:spcBef>
                <a:spcPct val="0"/>
              </a:spcBef>
              <a:buClrTx/>
              <a:buSzTx/>
              <a:buFontTx/>
              <a:buNone/>
            </a:pPr>
            <a:r>
              <a:rPr lang="en-US" altLang="fr-FR" sz="1400" dirty="0" smtClean="0"/>
              <a:t>En(S)=-3/5log3/5 -2/5log(2/5)=0,97</a:t>
            </a:r>
          </a:p>
          <a:p>
            <a:pPr>
              <a:spcBef>
                <a:spcPct val="0"/>
              </a:spcBef>
              <a:buClrTx/>
              <a:buSzTx/>
              <a:buFontTx/>
              <a:buNone/>
            </a:pPr>
            <a:r>
              <a:rPr lang="en-US" altLang="fr-FR" sz="1400" dirty="0" smtClean="0">
                <a:solidFill>
                  <a:srgbClr val="FF0000"/>
                </a:solidFill>
              </a:rPr>
              <a:t>Prix:</a:t>
            </a:r>
          </a:p>
          <a:p>
            <a:pPr>
              <a:spcBef>
                <a:spcPct val="0"/>
              </a:spcBef>
              <a:buClrTx/>
              <a:buSzTx/>
              <a:buFontTx/>
              <a:buNone/>
            </a:pPr>
            <a:r>
              <a:rPr lang="en-US" altLang="fr-FR" sz="1400" dirty="0" smtClean="0"/>
              <a:t>S</a:t>
            </a:r>
            <a:r>
              <a:rPr lang="en-US" altLang="fr-FR" sz="1000" dirty="0" smtClean="0"/>
              <a:t>B</a:t>
            </a:r>
            <a:r>
              <a:rPr lang="en-US" altLang="fr-FR" sz="1400" dirty="0" smtClean="0"/>
              <a:t>={1,2}</a:t>
            </a:r>
          </a:p>
          <a:p>
            <a:pPr>
              <a:spcBef>
                <a:spcPct val="0"/>
              </a:spcBef>
            </a:pPr>
            <a:r>
              <a:rPr lang="en-US" altLang="fr-FR" sz="1400" dirty="0"/>
              <a:t>S</a:t>
            </a:r>
            <a:r>
              <a:rPr lang="en-US" altLang="fr-FR" sz="1000" dirty="0" smtClean="0"/>
              <a:t>M</a:t>
            </a:r>
            <a:r>
              <a:rPr lang="en-US" altLang="fr-FR" sz="1400" dirty="0" smtClean="0"/>
              <a:t>={3,4}</a:t>
            </a:r>
          </a:p>
          <a:p>
            <a:pPr>
              <a:spcBef>
                <a:spcPct val="0"/>
              </a:spcBef>
            </a:pPr>
            <a:r>
              <a:rPr lang="en-US" altLang="fr-FR" sz="1400" dirty="0"/>
              <a:t>S</a:t>
            </a:r>
            <a:r>
              <a:rPr lang="en-US" altLang="fr-FR" sz="1000" dirty="0" smtClean="0"/>
              <a:t>H</a:t>
            </a:r>
            <a:r>
              <a:rPr lang="en-US" altLang="fr-FR" sz="1400" dirty="0" smtClean="0"/>
              <a:t>={5}</a:t>
            </a:r>
            <a:endParaRPr lang="en-US" altLang="fr-FR" sz="1400" dirty="0"/>
          </a:p>
          <a:p>
            <a:pPr>
              <a:spcBef>
                <a:spcPct val="0"/>
              </a:spcBef>
            </a:pPr>
            <a:r>
              <a:rPr lang="en-US" altLang="fr-FR" sz="1400" dirty="0" smtClean="0"/>
              <a:t>En(S</a:t>
            </a:r>
            <a:r>
              <a:rPr lang="en-US" altLang="fr-FR" sz="1000" dirty="0" smtClean="0"/>
              <a:t>B</a:t>
            </a:r>
            <a:r>
              <a:rPr lang="en-US" altLang="fr-FR" sz="1400" dirty="0" smtClean="0"/>
              <a:t>)=-2/2log2/2-0/2log0/2=0</a:t>
            </a:r>
            <a:endParaRPr lang="en-US" altLang="fr-FR" sz="1400" dirty="0"/>
          </a:p>
          <a:p>
            <a:pPr>
              <a:spcBef>
                <a:spcPct val="0"/>
              </a:spcBef>
            </a:pPr>
            <a:r>
              <a:rPr lang="en-US" altLang="fr-FR" sz="1400" dirty="0" smtClean="0"/>
              <a:t>En(S</a:t>
            </a:r>
            <a:r>
              <a:rPr lang="en-US" altLang="fr-FR" sz="1000" dirty="0" smtClean="0"/>
              <a:t>M</a:t>
            </a:r>
            <a:r>
              <a:rPr lang="en-US" altLang="fr-FR" sz="1400" dirty="0" smtClean="0"/>
              <a:t>)=-1/2log1/2-1/2log1/2=1</a:t>
            </a:r>
            <a:endParaRPr lang="en-US" altLang="fr-FR" sz="1400" dirty="0"/>
          </a:p>
          <a:p>
            <a:pPr>
              <a:spcBef>
                <a:spcPct val="0"/>
              </a:spcBef>
            </a:pPr>
            <a:r>
              <a:rPr lang="en-US" altLang="fr-FR" sz="1400" dirty="0" smtClean="0"/>
              <a:t>En(S</a:t>
            </a:r>
            <a:r>
              <a:rPr lang="en-US" altLang="fr-FR" sz="1000" dirty="0" smtClean="0"/>
              <a:t>B</a:t>
            </a:r>
            <a:r>
              <a:rPr lang="en-US" altLang="fr-FR" sz="1400" dirty="0" smtClean="0"/>
              <a:t>)=</a:t>
            </a:r>
            <a:r>
              <a:rPr lang="en-US" altLang="fr-FR" sz="1400" dirty="0"/>
              <a:t>-</a:t>
            </a:r>
            <a:r>
              <a:rPr lang="en-US" altLang="fr-FR" sz="1400" dirty="0" smtClean="0"/>
              <a:t>0log0 -1/1log1/1=0</a:t>
            </a:r>
            <a:endParaRPr lang="en-US" altLang="fr-FR" sz="1400" dirty="0"/>
          </a:p>
          <a:p>
            <a:pPr>
              <a:spcBef>
                <a:spcPct val="0"/>
              </a:spcBef>
              <a:buClrTx/>
              <a:buSzTx/>
              <a:buFontTx/>
              <a:buNone/>
            </a:pPr>
            <a:r>
              <a:rPr lang="en-US" altLang="fr-FR" sz="1400" dirty="0" smtClean="0"/>
              <a:t>En(Prix)=2/5En(S</a:t>
            </a:r>
            <a:r>
              <a:rPr lang="en-US" altLang="fr-FR" sz="1000" dirty="0" smtClean="0"/>
              <a:t>B</a:t>
            </a:r>
            <a:r>
              <a:rPr lang="en-US" altLang="fr-FR" sz="1400" dirty="0" smtClean="0"/>
              <a:t>)+2/5En(S</a:t>
            </a:r>
            <a:r>
              <a:rPr lang="en-US" altLang="fr-FR" sz="1000" dirty="0" smtClean="0"/>
              <a:t>M</a:t>
            </a:r>
            <a:r>
              <a:rPr lang="en-US" altLang="fr-FR" sz="1400" dirty="0" smtClean="0"/>
              <a:t>)+1/5En(S</a:t>
            </a:r>
            <a:r>
              <a:rPr lang="en-US" altLang="fr-FR" sz="1000" dirty="0" smtClean="0"/>
              <a:t>H</a:t>
            </a:r>
            <a:r>
              <a:rPr lang="en-US" altLang="fr-FR" sz="1400" dirty="0" smtClean="0"/>
              <a:t>)=2/5</a:t>
            </a:r>
          </a:p>
          <a:p>
            <a:pPr>
              <a:spcBef>
                <a:spcPct val="0"/>
              </a:spcBef>
              <a:buClrTx/>
              <a:buSzTx/>
              <a:buFontTx/>
              <a:buNone/>
            </a:pPr>
            <a:r>
              <a:rPr lang="en-US" altLang="fr-FR" sz="1400" b="1" dirty="0" smtClean="0">
                <a:solidFill>
                  <a:srgbClr val="0070C0"/>
                </a:solidFill>
              </a:rPr>
              <a:t>G(prix)=En(S)-En(Prix)=0,97-0,4=0,57</a:t>
            </a:r>
          </a:p>
          <a:p>
            <a:pPr>
              <a:spcBef>
                <a:spcPct val="0"/>
              </a:spcBef>
              <a:buClrTx/>
              <a:buSzTx/>
              <a:buFontTx/>
              <a:buNone/>
            </a:pPr>
            <a:endParaRPr lang="en-US" altLang="fr-FR" dirty="0" smtClean="0"/>
          </a:p>
          <a:p>
            <a:pPr>
              <a:spcBef>
                <a:spcPct val="0"/>
              </a:spcBef>
              <a:buClrTx/>
              <a:buSzTx/>
              <a:buFontTx/>
              <a:buNone/>
            </a:pPr>
            <a:r>
              <a:rPr lang="en-US" altLang="fr-FR" sz="1400" dirty="0" smtClean="0">
                <a:solidFill>
                  <a:srgbClr val="FF0000"/>
                </a:solidFill>
              </a:rPr>
              <a:t>Type:</a:t>
            </a:r>
            <a:endParaRPr lang="en-US" altLang="fr-FR" sz="1400" dirty="0">
              <a:solidFill>
                <a:srgbClr val="FF0000"/>
              </a:solidFill>
            </a:endParaRPr>
          </a:p>
          <a:p>
            <a:pPr>
              <a:spcBef>
                <a:spcPct val="0"/>
              </a:spcBef>
              <a:buClrTx/>
              <a:buSzTx/>
              <a:buFontTx/>
              <a:buNone/>
            </a:pPr>
            <a:r>
              <a:rPr lang="en-US" altLang="fr-FR" sz="1400" dirty="0" smtClean="0"/>
              <a:t>S</a:t>
            </a:r>
            <a:r>
              <a:rPr lang="en-US" altLang="fr-FR" sz="1000" dirty="0" smtClean="0"/>
              <a:t>T</a:t>
            </a:r>
            <a:r>
              <a:rPr lang="en-US" altLang="fr-FR" sz="1400" dirty="0" smtClean="0"/>
              <a:t>={1,3}</a:t>
            </a:r>
            <a:endParaRPr lang="en-US" altLang="fr-FR" sz="1400" dirty="0"/>
          </a:p>
          <a:p>
            <a:pPr>
              <a:spcBef>
                <a:spcPct val="0"/>
              </a:spcBef>
            </a:pPr>
            <a:r>
              <a:rPr lang="en-US" altLang="fr-FR" sz="1400" dirty="0" smtClean="0"/>
              <a:t>S</a:t>
            </a:r>
            <a:r>
              <a:rPr lang="en-US" altLang="fr-FR" sz="1000" dirty="0" smtClean="0"/>
              <a:t>C</a:t>
            </a:r>
            <a:r>
              <a:rPr lang="en-US" altLang="fr-FR" sz="1400" dirty="0" smtClean="0"/>
              <a:t>={2,4,5}</a:t>
            </a:r>
            <a:endParaRPr lang="en-US" altLang="fr-FR" sz="1400" dirty="0"/>
          </a:p>
          <a:p>
            <a:pPr>
              <a:spcBef>
                <a:spcPct val="0"/>
              </a:spcBef>
            </a:pPr>
            <a:endParaRPr lang="en-US" altLang="fr-FR" sz="1400" dirty="0"/>
          </a:p>
          <a:p>
            <a:pPr>
              <a:spcBef>
                <a:spcPct val="0"/>
              </a:spcBef>
            </a:pPr>
            <a:r>
              <a:rPr lang="en-US" altLang="fr-FR" sz="1400" dirty="0" smtClean="0"/>
              <a:t>En(S</a:t>
            </a:r>
            <a:r>
              <a:rPr lang="en-US" altLang="fr-FR" sz="1000" dirty="0" smtClean="0"/>
              <a:t>T</a:t>
            </a:r>
            <a:r>
              <a:rPr lang="en-US" altLang="fr-FR" sz="1400" dirty="0" smtClean="0"/>
              <a:t>)=</a:t>
            </a:r>
            <a:r>
              <a:rPr lang="en-US" altLang="fr-FR" sz="1400" dirty="0"/>
              <a:t>-</a:t>
            </a:r>
            <a:r>
              <a:rPr lang="en-US" altLang="fr-FR" sz="1400" dirty="0" smtClean="0"/>
              <a:t>1/2log1/2-1/2log1/2=1</a:t>
            </a:r>
            <a:endParaRPr lang="en-US" altLang="fr-FR" sz="1400" dirty="0"/>
          </a:p>
          <a:p>
            <a:pPr>
              <a:spcBef>
                <a:spcPct val="0"/>
              </a:spcBef>
            </a:pPr>
            <a:r>
              <a:rPr lang="en-US" altLang="fr-FR" sz="1400" dirty="0" smtClean="0"/>
              <a:t>En(S</a:t>
            </a:r>
            <a:r>
              <a:rPr lang="en-US" altLang="fr-FR" sz="1000" dirty="0" smtClean="0"/>
              <a:t>C</a:t>
            </a:r>
            <a:r>
              <a:rPr lang="en-US" altLang="fr-FR" sz="1400" dirty="0" smtClean="0"/>
              <a:t>)=-2/3log2/3-1/3log1/3=0,92</a:t>
            </a:r>
            <a:endParaRPr lang="en-US" altLang="fr-FR" sz="1400" dirty="0"/>
          </a:p>
          <a:p>
            <a:pPr>
              <a:spcBef>
                <a:spcPct val="0"/>
              </a:spcBef>
              <a:buClrTx/>
              <a:buSzTx/>
              <a:buFontTx/>
              <a:buNone/>
            </a:pPr>
            <a:r>
              <a:rPr lang="en-US" altLang="fr-FR" sz="1400" dirty="0" smtClean="0"/>
              <a:t>En(Type)=2/5En(S</a:t>
            </a:r>
            <a:r>
              <a:rPr lang="en-US" altLang="fr-FR" sz="1000" dirty="0" smtClean="0"/>
              <a:t>T</a:t>
            </a:r>
            <a:r>
              <a:rPr lang="en-US" altLang="fr-FR" sz="1400" dirty="0" smtClean="0"/>
              <a:t>)+3/5En(S</a:t>
            </a:r>
            <a:r>
              <a:rPr lang="en-US" altLang="fr-FR" sz="1000" dirty="0" smtClean="0"/>
              <a:t>C</a:t>
            </a:r>
            <a:r>
              <a:rPr lang="en-US" altLang="fr-FR" sz="1400" dirty="0" smtClean="0"/>
              <a:t>)=0,952</a:t>
            </a:r>
            <a:endParaRPr lang="en-US" altLang="fr-FR" sz="1400" dirty="0"/>
          </a:p>
          <a:p>
            <a:pPr>
              <a:spcBef>
                <a:spcPct val="0"/>
              </a:spcBef>
              <a:buClrTx/>
              <a:buSzTx/>
              <a:buFontTx/>
              <a:buNone/>
            </a:pPr>
            <a:r>
              <a:rPr lang="en-US" altLang="fr-FR" sz="1400" b="1" dirty="0" smtClean="0">
                <a:solidFill>
                  <a:srgbClr val="0070C0"/>
                </a:solidFill>
              </a:rPr>
              <a:t>G(Type)=En(S</a:t>
            </a:r>
            <a:r>
              <a:rPr lang="en-US" altLang="fr-FR" sz="1400" b="1" dirty="0">
                <a:solidFill>
                  <a:srgbClr val="0070C0"/>
                </a:solidFill>
              </a:rPr>
              <a:t>)-</a:t>
            </a:r>
            <a:r>
              <a:rPr lang="en-US" altLang="fr-FR" sz="1400" b="1" dirty="0" smtClean="0">
                <a:solidFill>
                  <a:srgbClr val="0070C0"/>
                </a:solidFill>
              </a:rPr>
              <a:t>En(Type)=0,97-0,953=0,018</a:t>
            </a:r>
            <a:endParaRPr lang="en-US" altLang="fr-FR" sz="1400" b="1" dirty="0">
              <a:solidFill>
                <a:srgbClr val="0070C0"/>
              </a:solidFill>
            </a:endParaRPr>
          </a:p>
          <a:p>
            <a:pPr>
              <a:spcBef>
                <a:spcPct val="0"/>
              </a:spcBef>
              <a:buClrTx/>
              <a:buSzTx/>
              <a:buFontTx/>
              <a:buNone/>
            </a:pPr>
            <a:r>
              <a:rPr lang="en-US" altLang="fr-FR" dirty="0" smtClean="0">
                <a:solidFill>
                  <a:srgbClr val="FF0000"/>
                </a:solidFill>
              </a:rPr>
              <a:t>Prix a le gain max (</a:t>
            </a:r>
            <a:r>
              <a:rPr lang="en-US" altLang="fr-FR" dirty="0" err="1" smtClean="0">
                <a:solidFill>
                  <a:srgbClr val="FF0000"/>
                </a:solidFill>
              </a:rPr>
              <a:t>donc</a:t>
            </a:r>
            <a:r>
              <a:rPr lang="en-US" altLang="fr-FR" dirty="0" smtClean="0">
                <a:solidFill>
                  <a:srgbClr val="FF0000"/>
                </a:solidFill>
              </a:rPr>
              <a:t> T3=T2)</a:t>
            </a:r>
            <a:endParaRPr lang="fr-FR" altLang="fr-FR" dirty="0">
              <a:solidFill>
                <a:srgbClr val="FF0000"/>
              </a:solidFill>
            </a:endParaRPr>
          </a:p>
        </p:txBody>
      </p:sp>
      <p:pic>
        <p:nvPicPr>
          <p:cNvPr id="39" name="Picture 95"/>
          <p:cNvPicPr/>
          <p:nvPr/>
        </p:nvPicPr>
        <p:blipFill>
          <a:blip r:embed="rId2">
            <a:lum bright="-19000" contrast="32000"/>
            <a:extLst>
              <a:ext uri="{28A0092B-C50C-407E-A947-70E740481C1C}">
                <a14:useLocalDpi xmlns:a14="http://schemas.microsoft.com/office/drawing/2010/main" val="0"/>
              </a:ext>
            </a:extLst>
          </a:blip>
          <a:srcRect/>
          <a:stretch>
            <a:fillRect/>
          </a:stretch>
        </p:blipFill>
        <p:spPr bwMode="auto">
          <a:xfrm>
            <a:off x="8589436" y="5283357"/>
            <a:ext cx="1717589" cy="1611235"/>
          </a:xfrm>
          <a:prstGeom prst="rect">
            <a:avLst/>
          </a:prstGeom>
          <a:noFill/>
          <a:ln>
            <a:noFill/>
          </a:ln>
        </p:spPr>
      </p:pic>
      <p:sp>
        <p:nvSpPr>
          <p:cNvPr id="4" name="Rectangle 3"/>
          <p:cNvSpPr/>
          <p:nvPr/>
        </p:nvSpPr>
        <p:spPr>
          <a:xfrm>
            <a:off x="8651339" y="5092875"/>
            <a:ext cx="1582484" cy="307777"/>
          </a:xfrm>
          <a:prstGeom prst="rect">
            <a:avLst/>
          </a:prstGeom>
        </p:spPr>
        <p:txBody>
          <a:bodyPr wrap="none">
            <a:spAutoFit/>
          </a:bodyPr>
          <a:lstStyle/>
          <a:p>
            <a:r>
              <a:rPr lang="en-US" altLang="fr-FR" sz="1400" b="1" dirty="0" smtClean="0"/>
              <a:t>E(</a:t>
            </a:r>
            <a:r>
              <a:rPr lang="en-US" altLang="fr-FR" sz="1400" b="1" dirty="0" err="1" smtClean="0"/>
              <a:t>x,y</a:t>
            </a:r>
            <a:r>
              <a:rPr lang="en-US" altLang="fr-FR" sz="1400" b="1" dirty="0" smtClean="0"/>
              <a:t>)=-</a:t>
            </a:r>
            <a:r>
              <a:rPr lang="en-US" altLang="fr-FR" sz="1400" b="1" dirty="0" err="1" smtClean="0"/>
              <a:t>xlogx-ylogy</a:t>
            </a:r>
            <a:endParaRPr lang="fr-FR"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xEl>
                                              <p:pRg st="0" end="0"/>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2" end="2"/>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
                                            <p:txEl>
                                              <p:pRg st="3" end="3"/>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
                                            <p:txEl>
                                              <p:pRg st="4" end="4"/>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
                                            <p:txEl>
                                              <p:pRg st="5" end="5"/>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
                                            <p:txEl>
                                              <p:pRg st="6" end="6"/>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
                                            <p:txEl>
                                              <p:pRg st="7" end="7"/>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
                                            <p:txEl>
                                              <p:pRg st="8" end="8"/>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
                                            <p:txEl>
                                              <p:pRg st="9" end="9"/>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
                                            <p:txEl>
                                              <p:pRg st="13" end="13"/>
                                            </p:txEl>
                                          </p:spTgt>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
                                            <p:txEl>
                                              <p:pRg st="14" end="14"/>
                                            </p:txEl>
                                          </p:spTgt>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
                                            <p:txEl>
                                              <p:pRg st="16" end="16"/>
                                            </p:txEl>
                                          </p:spTgt>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
                                            <p:txEl>
                                              <p:pRg st="17" end="17"/>
                                            </p:txEl>
                                          </p:spTgt>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
                                            <p:txEl>
                                              <p:pRg st="18" end="18"/>
                                            </p:txEl>
                                          </p:spTgt>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3">
                                            <p:txEl>
                                              <p:pRg st="19" end="19"/>
                                            </p:txEl>
                                          </p:spTgt>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2" grpId="0"/>
      <p:bldP spid="23" grpId="0" animBg="1"/>
      <p:bldP spid="24" grpId="0" animBg="1"/>
      <p:bldP spid="25" grpId="0" animBg="1"/>
      <p:bldP spid="26" grpId="0" animBg="1"/>
      <p:bldP spid="27" grpId="0"/>
      <p:bldP spid="28" grpId="0"/>
      <p:bldP spid="29" grpId="0"/>
      <p:bldP spid="30" grpId="0"/>
      <p:bldP spid="32" grpId="0"/>
      <p:bldP spid="33" grpId="0" animBg="1"/>
      <p:bldP spid="34" grpId="0"/>
      <p:bldP spid="35" grpId="0"/>
      <p:bldP spid="36" grpId="0"/>
      <p:bldP spid="37" grpId="0"/>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4">
            <a:extLst>
              <a:ext uri="{FF2B5EF4-FFF2-40B4-BE49-F238E27FC236}">
                <a16:creationId xmlns="" xmlns:a16="http://schemas.microsoft.com/office/drawing/2014/main" id="{96F5F744-E76C-414D-AD50-76E7A8826BC4}"/>
              </a:ext>
            </a:extLst>
          </p:cNvPr>
          <p:cNvSpPr txBox="1">
            <a:spLocks noRot="1" noChangeAspect="1" noMove="1" noResize="1" noEditPoints="1" noAdjustHandles="1" noChangeArrowheads="1" noChangeShapeType="1" noTextEdit="1"/>
          </p:cNvSpPr>
          <p:nvPr/>
        </p:nvSpPr>
        <p:spPr bwMode="auto">
          <a:xfrm>
            <a:off x="1919288" y="1628776"/>
            <a:ext cx="9144001" cy="5398401"/>
          </a:xfrm>
          <a:prstGeom prst="rect">
            <a:avLst/>
          </a:prstGeom>
          <a:blipFill>
            <a:blip r:embed="rId3"/>
            <a:stretch>
              <a:fillRect l="-733" t="-564" b="-6998"/>
            </a:stretch>
          </a:blipFill>
          <a:ln>
            <a:noFill/>
          </a:ln>
        </p:spPr>
        <p:txBody>
          <a:bodyPr/>
          <a:lstStyle/>
          <a:p>
            <a:pPr>
              <a:defRPr/>
            </a:pPr>
            <a:r>
              <a:rPr lang="fr-FR">
                <a:noFill/>
              </a:rPr>
              <a:t> </a:t>
            </a:r>
          </a:p>
        </p:txBody>
      </p:sp>
      <p:sp>
        <p:nvSpPr>
          <p:cNvPr id="55299" name="Rectangle 5">
            <a:extLst>
              <a:ext uri="{FF2B5EF4-FFF2-40B4-BE49-F238E27FC236}">
                <a16:creationId xmlns="" xmlns:a16="http://schemas.microsoft.com/office/drawing/2014/main" id="{21559B4D-6A3B-4841-838B-24E75A4B318D}"/>
              </a:ext>
            </a:extLst>
          </p:cNvPr>
          <p:cNvSpPr>
            <a:spLocks noChangeArrowheads="1"/>
          </p:cNvSpPr>
          <p:nvPr/>
        </p:nvSpPr>
        <p:spPr bwMode="auto">
          <a:xfrm>
            <a:off x="1774825" y="47625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Font typeface="Arial" panose="020B0604020202020204" pitchFamily="34" charset="0"/>
              <a:buNone/>
            </a:pPr>
            <a:r>
              <a:rPr lang="fr-FR" altLang="fr-FR" sz="4400"/>
              <a:t>Trois algorithmes principaux</a:t>
            </a:r>
          </a:p>
        </p:txBody>
      </p:sp>
      <p:grpSp>
        <p:nvGrpSpPr>
          <p:cNvPr id="55300" name="Group 6">
            <a:extLst>
              <a:ext uri="{FF2B5EF4-FFF2-40B4-BE49-F238E27FC236}">
                <a16:creationId xmlns="" xmlns:a16="http://schemas.microsoft.com/office/drawing/2014/main" id="{57A9932D-BC43-4AA8-B454-83216095847D}"/>
              </a:ext>
            </a:extLst>
          </p:cNvPr>
          <p:cNvGrpSpPr>
            <a:grpSpLocks/>
          </p:cNvGrpSpPr>
          <p:nvPr/>
        </p:nvGrpSpPr>
        <p:grpSpPr bwMode="auto">
          <a:xfrm>
            <a:off x="1524001" y="44451"/>
            <a:ext cx="9142413" cy="365125"/>
            <a:chOff x="0" y="28"/>
            <a:chExt cx="5759" cy="230"/>
          </a:xfrm>
        </p:grpSpPr>
        <p:sp>
          <p:nvSpPr>
            <p:cNvPr id="55301" name="AutoShape 7">
              <a:extLst>
                <a:ext uri="{FF2B5EF4-FFF2-40B4-BE49-F238E27FC236}">
                  <a16:creationId xmlns="" xmlns:a16="http://schemas.microsoft.com/office/drawing/2014/main" id="{931E50AD-0106-413C-B8CE-76160296050E}"/>
                </a:ext>
              </a:extLst>
            </p:cNvPr>
            <p:cNvSpPr>
              <a:spLocks noChangeArrowheads="1"/>
            </p:cNvSpPr>
            <p:nvPr/>
          </p:nvSpPr>
          <p:spPr bwMode="auto">
            <a:xfrm>
              <a:off x="0" y="28"/>
              <a:ext cx="5760" cy="231"/>
            </a:xfrm>
            <a:prstGeom prst="roundRect">
              <a:avLst>
                <a:gd name="adj" fmla="val 431"/>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endParaRPr lang="fr-FR" altLang="fr-FR" sz="1800">
                <a:latin typeface="Times New Roman" panose="02020603050405020304" pitchFamily="18" charset="0"/>
              </a:endParaRPr>
            </a:p>
          </p:txBody>
        </p:sp>
        <p:sp>
          <p:nvSpPr>
            <p:cNvPr id="55302" name="Text Box 8">
              <a:extLst>
                <a:ext uri="{FF2B5EF4-FFF2-40B4-BE49-F238E27FC236}">
                  <a16:creationId xmlns="" xmlns:a16="http://schemas.microsoft.com/office/drawing/2014/main" id="{28520DDA-244D-442D-B4A9-E96404C16783}"/>
                </a:ext>
              </a:extLst>
            </p:cNvPr>
            <p:cNvSpPr txBox="1">
              <a:spLocks noChangeArrowheads="1"/>
            </p:cNvSpPr>
            <p:nvPr/>
          </p:nvSpPr>
          <p:spPr bwMode="auto">
            <a:xfrm>
              <a:off x="0" y="28"/>
              <a:ext cx="57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1800">
                  <a:solidFill>
                    <a:schemeClr val="tx1"/>
                  </a:solidFill>
                </a:rPr>
                <a:t>Intelligence Artificielle 		Apprentissage			</a:t>
              </a:r>
            </a:p>
          </p:txBody>
        </p:sp>
      </p:grpSp>
      <p:sp>
        <p:nvSpPr>
          <p:cNvPr id="2" name="Slide Number Placeholder 1">
            <a:extLst>
              <a:ext uri="{FF2B5EF4-FFF2-40B4-BE49-F238E27FC236}">
                <a16:creationId xmlns="" xmlns:a16="http://schemas.microsoft.com/office/drawing/2014/main" id="{1BCE60E7-731B-4074-B8EB-9984A9C54D78}"/>
              </a:ext>
            </a:extLst>
          </p:cNvPr>
          <p:cNvSpPr>
            <a:spLocks noGrp="1"/>
          </p:cNvSpPr>
          <p:nvPr>
            <p:ph type="sldNum" sz="quarter" idx="12"/>
          </p:nvPr>
        </p:nvSpPr>
        <p:spPr/>
        <p:txBody>
          <a:bodyPr/>
          <a:lstStyle/>
          <a:p>
            <a:fld id="{EE5DF52D-0FE0-4249-9023-8B500BDB729B}" type="slidenum">
              <a:rPr lang="fr-FR" smtClean="0"/>
              <a:pPr/>
              <a:t>24</a:t>
            </a:fld>
            <a:endParaRPr lang="fr-F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a:extLst>
              <a:ext uri="{FF2B5EF4-FFF2-40B4-BE49-F238E27FC236}">
                <a16:creationId xmlns="" xmlns:a16="http://schemas.microsoft.com/office/drawing/2014/main" id="{B7A6B50F-7B21-4FFC-A376-344EE26777F6}"/>
              </a:ext>
            </a:extLst>
          </p:cNvPr>
          <p:cNvSpPr>
            <a:spLocks noChangeArrowheads="1"/>
          </p:cNvSpPr>
          <p:nvPr/>
        </p:nvSpPr>
        <p:spPr bwMode="auto">
          <a:xfrm>
            <a:off x="1524000" y="1268414"/>
            <a:ext cx="914400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fr-FR" sz="1800" dirty="0">
                <a:latin typeface="Times New Roman" panose="02020603050405020304" pitchFamily="18" charset="0"/>
              </a:rPr>
              <a:t>Un arbre peut avoir une erreur apparente nulle mais une erreur réelle importante, c'est-à-dire être bien adapté à l'échantillon mais avoir un pouvoir de prédiction faible.</a:t>
            </a:r>
          </a:p>
          <a:p>
            <a:pPr>
              <a:spcBef>
                <a:spcPct val="0"/>
              </a:spcBef>
              <a:buClrTx/>
              <a:buSzTx/>
              <a:buFontTx/>
              <a:buNone/>
            </a:pPr>
            <a:endParaRPr lang="fr-CA" altLang="fr-FR" sz="1800" dirty="0">
              <a:latin typeface="Times New Roman" panose="02020603050405020304" pitchFamily="18" charset="0"/>
            </a:endParaRPr>
          </a:p>
        </p:txBody>
      </p:sp>
      <p:sp>
        <p:nvSpPr>
          <p:cNvPr id="57347" name="Rectangle 5">
            <a:extLst>
              <a:ext uri="{FF2B5EF4-FFF2-40B4-BE49-F238E27FC236}">
                <a16:creationId xmlns="" xmlns:a16="http://schemas.microsoft.com/office/drawing/2014/main" id="{5DA698AC-68F4-4A7E-90C1-1ED9CF914DFA}"/>
              </a:ext>
            </a:extLst>
          </p:cNvPr>
          <p:cNvSpPr>
            <a:spLocks noChangeArrowheads="1"/>
          </p:cNvSpPr>
          <p:nvPr/>
        </p:nvSpPr>
        <p:spPr bwMode="auto">
          <a:xfrm>
            <a:off x="1524000" y="4765676"/>
            <a:ext cx="882015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fr-FR" sz="1800" b="1">
                <a:latin typeface="Times New Roman" panose="02020603050405020304" pitchFamily="18" charset="0"/>
              </a:rPr>
              <a:t>Eviter le sur-apprentissage</a:t>
            </a:r>
          </a:p>
          <a:p>
            <a:pPr>
              <a:spcBef>
                <a:spcPct val="0"/>
              </a:spcBef>
              <a:buClrTx/>
              <a:buSzTx/>
              <a:buFontTx/>
              <a:buNone/>
            </a:pPr>
            <a:r>
              <a:rPr lang="fr-CA" altLang="fr-FR" sz="1800">
                <a:latin typeface="Times New Roman" panose="02020603050405020304" pitchFamily="18" charset="0"/>
              </a:rPr>
              <a:t>● On peut utiliser un ensemble de test pour arrêter la construction de l'arbre quand l'estimation de l'erreur ne diminue plus.</a:t>
            </a:r>
          </a:p>
          <a:p>
            <a:pPr>
              <a:spcBef>
                <a:spcPct val="0"/>
              </a:spcBef>
              <a:buClrTx/>
              <a:buSzTx/>
              <a:buFontTx/>
              <a:buNone/>
            </a:pPr>
            <a:endParaRPr lang="fr-CA" altLang="fr-FR" sz="1800">
              <a:latin typeface="Times New Roman" panose="02020603050405020304" pitchFamily="18" charset="0"/>
            </a:endParaRPr>
          </a:p>
          <a:p>
            <a:pPr>
              <a:spcBef>
                <a:spcPct val="0"/>
              </a:spcBef>
              <a:buClrTx/>
              <a:buSzTx/>
              <a:buFontTx/>
              <a:buNone/>
            </a:pPr>
            <a:r>
              <a:rPr lang="fr-CA" altLang="fr-FR" sz="1800">
                <a:latin typeface="Times New Roman" panose="02020603050405020304" pitchFamily="18" charset="0"/>
              </a:rPr>
              <a:t>● On peut construire l'arbre en entier, </a:t>
            </a:r>
            <a:r>
              <a:rPr lang="fr-CA" altLang="fr-FR" sz="1800" b="1">
                <a:solidFill>
                  <a:srgbClr val="C00000"/>
                </a:solidFill>
                <a:latin typeface="Times New Roman" panose="02020603050405020304" pitchFamily="18" charset="0"/>
              </a:rPr>
              <a:t>puis l'élaguer</a:t>
            </a:r>
            <a:r>
              <a:rPr lang="fr-CA" altLang="fr-FR" sz="1800">
                <a:latin typeface="Times New Roman" panose="02020603050405020304" pitchFamily="18" charset="0"/>
              </a:rPr>
              <a:t> ( réduire l’arbre): </a:t>
            </a:r>
            <a:r>
              <a:rPr lang="fr-CA" altLang="fr-FR" sz="1800" b="1">
                <a:solidFill>
                  <a:srgbClr val="C00000"/>
                </a:solidFill>
                <a:latin typeface="Times New Roman" panose="02020603050405020304" pitchFamily="18" charset="0"/>
              </a:rPr>
              <a:t>processus d’élagage</a:t>
            </a:r>
          </a:p>
        </p:txBody>
      </p:sp>
      <p:sp>
        <p:nvSpPr>
          <p:cNvPr id="57348" name="Rectangle 6">
            <a:extLst>
              <a:ext uri="{FF2B5EF4-FFF2-40B4-BE49-F238E27FC236}">
                <a16:creationId xmlns="" xmlns:a16="http://schemas.microsoft.com/office/drawing/2014/main" id="{43B335C9-14F8-446B-AFE0-D9FE7B3E11E7}"/>
              </a:ext>
            </a:extLst>
          </p:cNvPr>
          <p:cNvSpPr>
            <a:spLocks noChangeArrowheads="1"/>
          </p:cNvSpPr>
          <p:nvPr/>
        </p:nvSpPr>
        <p:spPr bwMode="auto">
          <a:xfrm>
            <a:off x="1524000" y="2276476"/>
            <a:ext cx="9144000"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marL="376238" indent="-376238" defTabSz="449263">
              <a:spcBef>
                <a:spcPts val="788"/>
              </a:spcBef>
              <a:buClr>
                <a:srgbClr val="000000"/>
              </a:buClr>
              <a:buSzPct val="100000"/>
              <a:buFont typeface="Arial" panose="020B0604020202020204" pitchFamily="34" charset="0"/>
              <a:buChar char="•"/>
              <a:tabLst>
                <a:tab pos="946150" algn="l"/>
                <a:tab pos="1860550" algn="l"/>
                <a:tab pos="2774950" algn="l"/>
                <a:tab pos="3689350" algn="l"/>
                <a:tab pos="4603750" algn="l"/>
                <a:tab pos="5518150" algn="l"/>
                <a:tab pos="6432550" algn="l"/>
                <a:tab pos="7346950" algn="l"/>
                <a:tab pos="8261350" algn="l"/>
                <a:tab pos="9175750" algn="l"/>
                <a:tab pos="10090150" algn="l"/>
              </a:tabLst>
              <a:defRPr sz="3200">
                <a:solidFill>
                  <a:srgbClr val="000000"/>
                </a:solidFill>
                <a:latin typeface="Arial" panose="020B0604020202020204" pitchFamily="34" charset="0"/>
                <a:cs typeface="Arial" panose="020B0604020202020204" pitchFamily="34" charset="0"/>
              </a:defRPr>
            </a:lvl1pPr>
            <a:lvl2pPr marL="742950" indent="-285750" defTabSz="449263">
              <a:spcBef>
                <a:spcPts val="688"/>
              </a:spcBef>
              <a:buClr>
                <a:srgbClr val="000000"/>
              </a:buClr>
              <a:buSzPct val="100000"/>
              <a:buFont typeface="Arial" panose="020B0604020202020204" pitchFamily="34" charset="0"/>
              <a:buChar char="–"/>
              <a:tabLst>
                <a:tab pos="946150" algn="l"/>
                <a:tab pos="1860550" algn="l"/>
                <a:tab pos="2774950" algn="l"/>
                <a:tab pos="3689350" algn="l"/>
                <a:tab pos="4603750" algn="l"/>
                <a:tab pos="5518150" algn="l"/>
                <a:tab pos="6432550" algn="l"/>
                <a:tab pos="7346950" algn="l"/>
                <a:tab pos="8261350" algn="l"/>
                <a:tab pos="9175750" algn="l"/>
                <a:tab pos="10090150" algn="l"/>
              </a:tabLst>
              <a:defRPr sz="2800">
                <a:solidFill>
                  <a:srgbClr val="000000"/>
                </a:solidFill>
                <a:latin typeface="Arial" panose="020B0604020202020204" pitchFamily="34" charset="0"/>
                <a:cs typeface="Arial" panose="020B0604020202020204" pitchFamily="34" charset="0"/>
              </a:defRPr>
            </a:lvl2pPr>
            <a:lvl3pPr marL="1143000" indent="-228600" defTabSz="449263">
              <a:spcBef>
                <a:spcPts val="588"/>
              </a:spcBef>
              <a:buClr>
                <a:srgbClr val="000000"/>
              </a:buClr>
              <a:buSzPct val="100000"/>
              <a:buFont typeface="Arial" panose="020B0604020202020204" pitchFamily="34" charset="0"/>
              <a:buChar char="•"/>
              <a:tabLst>
                <a:tab pos="946150" algn="l"/>
                <a:tab pos="1860550" algn="l"/>
                <a:tab pos="2774950" algn="l"/>
                <a:tab pos="3689350" algn="l"/>
                <a:tab pos="4603750" algn="l"/>
                <a:tab pos="5518150" algn="l"/>
                <a:tab pos="6432550" algn="l"/>
                <a:tab pos="7346950" algn="l"/>
                <a:tab pos="8261350" algn="l"/>
                <a:tab pos="9175750" algn="l"/>
                <a:tab pos="10090150" algn="l"/>
              </a:tabLst>
              <a:defRPr sz="2400">
                <a:solidFill>
                  <a:srgbClr val="000000"/>
                </a:solidFill>
                <a:latin typeface="Arial" panose="020B0604020202020204" pitchFamily="34" charset="0"/>
                <a:cs typeface="Arial" panose="020B0604020202020204" pitchFamily="34" charset="0"/>
              </a:defRPr>
            </a:lvl3pPr>
            <a:lvl4pPr marL="1600200" indent="-228600" defTabSz="449263">
              <a:spcBef>
                <a:spcPts val="488"/>
              </a:spcBef>
              <a:buClr>
                <a:srgbClr val="000000"/>
              </a:buClr>
              <a:buSzPct val="100000"/>
              <a:buFont typeface="Arial" panose="020B0604020202020204" pitchFamily="34" charset="0"/>
              <a:buChar char="–"/>
              <a:tabLst>
                <a:tab pos="946150" algn="l"/>
                <a:tab pos="1860550" algn="l"/>
                <a:tab pos="2774950" algn="l"/>
                <a:tab pos="3689350" algn="l"/>
                <a:tab pos="4603750" algn="l"/>
                <a:tab pos="5518150" algn="l"/>
                <a:tab pos="6432550" algn="l"/>
                <a:tab pos="7346950" algn="l"/>
                <a:tab pos="8261350" algn="l"/>
                <a:tab pos="9175750" algn="l"/>
                <a:tab pos="10090150" algn="l"/>
              </a:tabLst>
              <a:defRPr sz="2000">
                <a:solidFill>
                  <a:srgbClr val="000000"/>
                </a:solidFill>
                <a:latin typeface="Arial" panose="020B0604020202020204" pitchFamily="34" charset="0"/>
                <a:cs typeface="Arial" panose="020B0604020202020204" pitchFamily="34" charset="0"/>
              </a:defRPr>
            </a:lvl4pPr>
            <a:lvl5pPr marL="2057400" indent="-228600" defTabSz="449263">
              <a:spcBef>
                <a:spcPts val="488"/>
              </a:spcBef>
              <a:buClr>
                <a:srgbClr val="000000"/>
              </a:buClr>
              <a:buSzPct val="100000"/>
              <a:buFont typeface="Arial" panose="020B0604020202020204" pitchFamily="34" charset="0"/>
              <a:buChar char="»"/>
              <a:tabLst>
                <a:tab pos="946150" algn="l"/>
                <a:tab pos="1860550" algn="l"/>
                <a:tab pos="2774950" algn="l"/>
                <a:tab pos="3689350" algn="l"/>
                <a:tab pos="4603750" algn="l"/>
                <a:tab pos="5518150" algn="l"/>
                <a:tab pos="6432550" algn="l"/>
                <a:tab pos="7346950" algn="l"/>
                <a:tab pos="8261350" algn="l"/>
                <a:tab pos="9175750" algn="l"/>
                <a:tab pos="1009015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488"/>
              </a:spcBef>
              <a:spcAft>
                <a:spcPct val="0"/>
              </a:spcAft>
              <a:buClr>
                <a:srgbClr val="000000"/>
              </a:buClr>
              <a:buSzPct val="100000"/>
              <a:buFont typeface="Arial" panose="020B0604020202020204" pitchFamily="34" charset="0"/>
              <a:buChar char="»"/>
              <a:tabLst>
                <a:tab pos="946150" algn="l"/>
                <a:tab pos="1860550" algn="l"/>
                <a:tab pos="2774950" algn="l"/>
                <a:tab pos="3689350" algn="l"/>
                <a:tab pos="4603750" algn="l"/>
                <a:tab pos="5518150" algn="l"/>
                <a:tab pos="6432550" algn="l"/>
                <a:tab pos="7346950" algn="l"/>
                <a:tab pos="8261350" algn="l"/>
                <a:tab pos="9175750" algn="l"/>
                <a:tab pos="1009015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488"/>
              </a:spcBef>
              <a:spcAft>
                <a:spcPct val="0"/>
              </a:spcAft>
              <a:buClr>
                <a:srgbClr val="000000"/>
              </a:buClr>
              <a:buSzPct val="100000"/>
              <a:buFont typeface="Arial" panose="020B0604020202020204" pitchFamily="34" charset="0"/>
              <a:buChar char="»"/>
              <a:tabLst>
                <a:tab pos="946150" algn="l"/>
                <a:tab pos="1860550" algn="l"/>
                <a:tab pos="2774950" algn="l"/>
                <a:tab pos="3689350" algn="l"/>
                <a:tab pos="4603750" algn="l"/>
                <a:tab pos="5518150" algn="l"/>
                <a:tab pos="6432550" algn="l"/>
                <a:tab pos="7346950" algn="l"/>
                <a:tab pos="8261350" algn="l"/>
                <a:tab pos="9175750" algn="l"/>
                <a:tab pos="1009015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488"/>
              </a:spcBef>
              <a:spcAft>
                <a:spcPct val="0"/>
              </a:spcAft>
              <a:buClr>
                <a:srgbClr val="000000"/>
              </a:buClr>
              <a:buSzPct val="100000"/>
              <a:buFont typeface="Arial" panose="020B0604020202020204" pitchFamily="34" charset="0"/>
              <a:buChar char="»"/>
              <a:tabLst>
                <a:tab pos="946150" algn="l"/>
                <a:tab pos="1860550" algn="l"/>
                <a:tab pos="2774950" algn="l"/>
                <a:tab pos="3689350" algn="l"/>
                <a:tab pos="4603750" algn="l"/>
                <a:tab pos="5518150" algn="l"/>
                <a:tab pos="6432550" algn="l"/>
                <a:tab pos="7346950" algn="l"/>
                <a:tab pos="8261350" algn="l"/>
                <a:tab pos="9175750" algn="l"/>
                <a:tab pos="1009015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488"/>
              </a:spcBef>
              <a:spcAft>
                <a:spcPct val="0"/>
              </a:spcAft>
              <a:buClr>
                <a:srgbClr val="000000"/>
              </a:buClr>
              <a:buSzPct val="100000"/>
              <a:buFont typeface="Arial" panose="020B0604020202020204" pitchFamily="34" charset="0"/>
              <a:buChar char="»"/>
              <a:tabLst>
                <a:tab pos="946150" algn="l"/>
                <a:tab pos="1860550" algn="l"/>
                <a:tab pos="2774950" algn="l"/>
                <a:tab pos="3689350" algn="l"/>
                <a:tab pos="4603750" algn="l"/>
                <a:tab pos="5518150" algn="l"/>
                <a:tab pos="6432550" algn="l"/>
                <a:tab pos="7346950" algn="l"/>
                <a:tab pos="8261350" algn="l"/>
                <a:tab pos="9175750" algn="l"/>
                <a:tab pos="10090150" algn="l"/>
              </a:tabLst>
              <a:defRPr sz="2000">
                <a:solidFill>
                  <a:srgbClr val="000000"/>
                </a:solidFill>
                <a:latin typeface="Arial" panose="020B0604020202020204" pitchFamily="34" charset="0"/>
                <a:cs typeface="Arial" panose="020B0604020202020204" pitchFamily="34" charset="0"/>
              </a:defRPr>
            </a:lvl9pPr>
          </a:lstStyle>
          <a:p>
            <a:pPr>
              <a:lnSpc>
                <a:spcPct val="90000"/>
              </a:lnSpc>
              <a:spcBef>
                <a:spcPts val="488"/>
              </a:spcBef>
              <a:buSzPct val="62000"/>
              <a:buFont typeface="Times New Roman" panose="02020603050405020304" pitchFamily="18" charset="0"/>
              <a:buChar char="•"/>
            </a:pPr>
            <a:r>
              <a:rPr lang="en-GB" altLang="fr-FR" sz="1800" dirty="0" err="1">
                <a:latin typeface="Times New Roman" panose="02020603050405020304" pitchFamily="18" charset="0"/>
              </a:rPr>
              <a:t>Mémorisation</a:t>
            </a:r>
            <a:r>
              <a:rPr lang="en-GB" altLang="fr-FR" sz="1800" dirty="0">
                <a:latin typeface="Times New Roman" panose="02020603050405020304" pitchFamily="18" charset="0"/>
              </a:rPr>
              <a:t> de tout </a:t>
            </a:r>
            <a:r>
              <a:rPr lang="en-GB" altLang="fr-FR" sz="1800" dirty="0" err="1">
                <a:latin typeface="Times New Roman" panose="02020603050405020304" pitchFamily="18" charset="0"/>
              </a:rPr>
              <a:t>l'ensemble</a:t>
            </a:r>
            <a:r>
              <a:rPr lang="en-GB" altLang="fr-FR" sz="1800" dirty="0">
                <a:latin typeface="Times New Roman" panose="02020603050405020304" pitchFamily="18" charset="0"/>
              </a:rPr>
              <a:t> </a:t>
            </a:r>
            <a:r>
              <a:rPr lang="en-GB" altLang="fr-FR" sz="1800" dirty="0" err="1">
                <a:latin typeface="Times New Roman" panose="02020603050405020304" pitchFamily="18" charset="0"/>
              </a:rPr>
              <a:t>d'apprentissage</a:t>
            </a:r>
            <a:r>
              <a:rPr lang="en-GB" altLang="fr-FR" sz="1800" dirty="0">
                <a:latin typeface="Times New Roman" panose="02020603050405020304" pitchFamily="18" charset="0"/>
              </a:rPr>
              <a:t> </a:t>
            </a:r>
            <a:r>
              <a:rPr lang="en-GB" altLang="fr-FR" sz="1800" dirty="0" err="1">
                <a:latin typeface="Times New Roman" panose="02020603050405020304" pitchFamily="18" charset="0"/>
              </a:rPr>
              <a:t>plutôt</a:t>
            </a:r>
            <a:r>
              <a:rPr lang="en-GB" altLang="fr-FR" sz="1800" dirty="0">
                <a:latin typeface="Times New Roman" panose="02020603050405020304" pitchFamily="18" charset="0"/>
              </a:rPr>
              <a:t> </a:t>
            </a:r>
            <a:r>
              <a:rPr lang="en-GB" altLang="fr-FR" sz="1800" dirty="0" err="1">
                <a:latin typeface="Times New Roman" panose="02020603050405020304" pitchFamily="18" charset="0"/>
              </a:rPr>
              <a:t>que</a:t>
            </a:r>
            <a:r>
              <a:rPr lang="en-GB" altLang="fr-FR" sz="1800" dirty="0">
                <a:latin typeface="Times New Roman" panose="02020603050405020304" pitchFamily="18" charset="0"/>
              </a:rPr>
              <a:t> </a:t>
            </a:r>
            <a:r>
              <a:rPr lang="en-GB" altLang="fr-FR" sz="1800" dirty="0" err="1">
                <a:latin typeface="Times New Roman" panose="02020603050405020304" pitchFamily="18" charset="0"/>
              </a:rPr>
              <a:t>d'induire</a:t>
            </a:r>
            <a:r>
              <a:rPr lang="en-GB" altLang="fr-FR" sz="1800" dirty="0">
                <a:latin typeface="Times New Roman" panose="02020603050405020304" pitchFamily="18" charset="0"/>
              </a:rPr>
              <a:t> un concept </a:t>
            </a:r>
            <a:r>
              <a:rPr lang="en-GB" altLang="fr-FR" sz="1800" dirty="0" err="1">
                <a:latin typeface="Times New Roman" panose="02020603050405020304" pitchFamily="18" charset="0"/>
              </a:rPr>
              <a:t>général</a:t>
            </a:r>
            <a:r>
              <a:rPr lang="en-GB" altLang="fr-FR" sz="1800" dirty="0">
                <a:latin typeface="Times New Roman" panose="02020603050405020304" pitchFamily="18" charset="0"/>
              </a:rPr>
              <a:t>..</a:t>
            </a:r>
          </a:p>
          <a:p>
            <a:pPr>
              <a:lnSpc>
                <a:spcPct val="90000"/>
              </a:lnSpc>
              <a:spcBef>
                <a:spcPts val="488"/>
              </a:spcBef>
              <a:buSzPct val="62000"/>
              <a:buFont typeface="Times New Roman" panose="02020603050405020304" pitchFamily="18" charset="0"/>
              <a:buChar char="•"/>
            </a:pPr>
            <a:r>
              <a:rPr lang="en-GB" altLang="fr-FR" sz="1800" dirty="0">
                <a:latin typeface="Times New Roman" panose="02020603050405020304" pitchFamily="18" charset="0"/>
              </a:rPr>
              <a:t>Plus on </a:t>
            </a:r>
            <a:r>
              <a:rPr lang="en-GB" altLang="fr-FR" sz="1800" dirty="0" err="1">
                <a:latin typeface="Times New Roman" panose="02020603050405020304" pitchFamily="18" charset="0"/>
              </a:rPr>
              <a:t>apprend</a:t>
            </a:r>
            <a:r>
              <a:rPr lang="en-GB" altLang="fr-FR" sz="1800" dirty="0">
                <a:latin typeface="Times New Roman" panose="02020603050405020304" pitchFamily="18" charset="0"/>
              </a:rPr>
              <a:t>, plus on "</a:t>
            </a:r>
            <a:r>
              <a:rPr lang="en-GB" altLang="fr-FR" sz="1800" dirty="0" err="1">
                <a:latin typeface="Times New Roman" panose="02020603050405020304" pitchFamily="18" charset="0"/>
              </a:rPr>
              <a:t>colle</a:t>
            </a:r>
            <a:r>
              <a:rPr lang="en-GB" altLang="fr-FR" sz="1800" dirty="0">
                <a:latin typeface="Times New Roman" panose="02020603050405020304" pitchFamily="18" charset="0"/>
              </a:rPr>
              <a:t>" aux </a:t>
            </a:r>
            <a:r>
              <a:rPr lang="en-GB" altLang="fr-FR" sz="1800" dirty="0" err="1">
                <a:latin typeface="Times New Roman" panose="02020603050405020304" pitchFamily="18" charset="0"/>
              </a:rPr>
              <a:t>données</a:t>
            </a:r>
            <a:endParaRPr lang="en-GB" altLang="fr-FR" sz="1800" dirty="0">
              <a:latin typeface="Times New Roman" panose="02020603050405020304" pitchFamily="18" charset="0"/>
            </a:endParaRPr>
          </a:p>
          <a:p>
            <a:pPr>
              <a:lnSpc>
                <a:spcPct val="90000"/>
              </a:lnSpc>
              <a:spcBef>
                <a:spcPts val="488"/>
              </a:spcBef>
              <a:buSzPct val="62000"/>
              <a:buFont typeface="Times New Roman" panose="02020603050405020304" pitchFamily="18" charset="0"/>
              <a:buChar char="•"/>
            </a:pPr>
            <a:r>
              <a:rPr lang="en-GB" altLang="fr-FR" sz="1800" dirty="0">
                <a:latin typeface="Times New Roman" panose="02020603050405020304" pitchFamily="18" charset="0"/>
              </a:rPr>
              <a:t>A la fin, </a:t>
            </a:r>
            <a:r>
              <a:rPr lang="en-GB" altLang="fr-FR" sz="1800" dirty="0" err="1">
                <a:latin typeface="Times New Roman" panose="02020603050405020304" pitchFamily="18" charset="0"/>
              </a:rPr>
              <a:t>tous</a:t>
            </a:r>
            <a:r>
              <a:rPr lang="en-GB" altLang="fr-FR" sz="1800" dirty="0">
                <a:latin typeface="Times New Roman" panose="02020603050405020304" pitchFamily="18" charset="0"/>
              </a:rPr>
              <a:t> les </a:t>
            </a:r>
            <a:r>
              <a:rPr lang="en-GB" altLang="fr-FR" sz="1800" dirty="0" err="1">
                <a:latin typeface="Times New Roman" panose="02020603050405020304" pitchFamily="18" charset="0"/>
              </a:rPr>
              <a:t>exemples</a:t>
            </a:r>
            <a:r>
              <a:rPr lang="en-GB" altLang="fr-FR" sz="1800" dirty="0">
                <a:latin typeface="Times New Roman" panose="02020603050405020304" pitchFamily="18" charset="0"/>
              </a:rPr>
              <a:t> </a:t>
            </a:r>
            <a:r>
              <a:rPr lang="en-GB" altLang="fr-FR" sz="1800" dirty="0" err="1">
                <a:latin typeface="Times New Roman" panose="02020603050405020304" pitchFamily="18" charset="0"/>
              </a:rPr>
              <a:t>sont</a:t>
            </a:r>
            <a:r>
              <a:rPr lang="en-GB" altLang="fr-FR" sz="1800" dirty="0">
                <a:latin typeface="Times New Roman" panose="02020603050405020304" pitchFamily="18" charset="0"/>
              </a:rPr>
              <a:t> </a:t>
            </a:r>
            <a:r>
              <a:rPr lang="en-GB" altLang="fr-FR" sz="1800" dirty="0" err="1">
                <a:latin typeface="Times New Roman" panose="02020603050405020304" pitchFamily="18" charset="0"/>
              </a:rPr>
              <a:t>appris</a:t>
            </a:r>
            <a:r>
              <a:rPr lang="en-GB" altLang="fr-FR" sz="1800" dirty="0">
                <a:latin typeface="Times New Roman" panose="02020603050405020304" pitchFamily="18" charset="0"/>
              </a:rPr>
              <a:t> par </a:t>
            </a:r>
            <a:r>
              <a:rPr lang="en-GB" altLang="fr-FR" sz="1800" dirty="0" err="1">
                <a:latin typeface="Times New Roman" panose="02020603050405020304" pitchFamily="18" charset="0"/>
              </a:rPr>
              <a:t>coeur</a:t>
            </a:r>
            <a:r>
              <a:rPr lang="en-GB" altLang="fr-FR" sz="1800" dirty="0">
                <a:latin typeface="Times New Roman" panose="02020603050405020304" pitchFamily="18" charset="0"/>
              </a:rPr>
              <a:t>, y </a:t>
            </a:r>
            <a:r>
              <a:rPr lang="en-GB" altLang="fr-FR" sz="1800" dirty="0" err="1">
                <a:latin typeface="Times New Roman" panose="02020603050405020304" pitchFamily="18" charset="0"/>
              </a:rPr>
              <a:t>compris</a:t>
            </a:r>
            <a:r>
              <a:rPr lang="en-GB" altLang="fr-FR" sz="1800" dirty="0">
                <a:latin typeface="Times New Roman" panose="02020603050405020304" pitchFamily="18" charset="0"/>
              </a:rPr>
              <a:t> le bruit </a:t>
            </a:r>
            <a:endParaRPr lang="en-GB" altLang="fr-FR" sz="1800" b="1" dirty="0">
              <a:solidFill>
                <a:srgbClr val="333399"/>
              </a:solidFill>
              <a:latin typeface="Times New Roman" panose="02020603050405020304" pitchFamily="18" charset="0"/>
            </a:endParaRPr>
          </a:p>
        </p:txBody>
      </p:sp>
      <p:sp>
        <p:nvSpPr>
          <p:cNvPr id="57349" name="Rectangle 7">
            <a:extLst>
              <a:ext uri="{FF2B5EF4-FFF2-40B4-BE49-F238E27FC236}">
                <a16:creationId xmlns="" xmlns:a16="http://schemas.microsoft.com/office/drawing/2014/main" id="{291F94DE-59FE-4E6A-908B-2D045E9BA4D0}"/>
              </a:ext>
            </a:extLst>
          </p:cNvPr>
          <p:cNvSpPr>
            <a:spLocks noChangeArrowheads="1"/>
          </p:cNvSpPr>
          <p:nvPr/>
        </p:nvSpPr>
        <p:spPr bwMode="auto">
          <a:xfrm>
            <a:off x="1703389" y="3933826"/>
            <a:ext cx="34115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fr-FR" sz="1800" b="1">
                <a:solidFill>
                  <a:srgbClr val="0000FF"/>
                </a:solidFill>
                <a:latin typeface="Times New Roman" panose="02020603050405020304" pitchFamily="18" charset="0"/>
                <a:sym typeface="Wingdings" panose="05000000000000000000" pitchFamily="2" charset="2"/>
              </a:rPr>
              <a:t></a:t>
            </a:r>
            <a:r>
              <a:rPr lang="fr-CA" altLang="fr-FR" sz="1800" b="1">
                <a:solidFill>
                  <a:srgbClr val="0000FF"/>
                </a:solidFill>
                <a:latin typeface="Times New Roman" panose="02020603050405020304" pitchFamily="18" charset="0"/>
              </a:rPr>
              <a:t> Problème de surapprentissage</a:t>
            </a:r>
          </a:p>
        </p:txBody>
      </p:sp>
      <p:sp>
        <p:nvSpPr>
          <p:cNvPr id="57350" name="Rectangle 8">
            <a:extLst>
              <a:ext uri="{FF2B5EF4-FFF2-40B4-BE49-F238E27FC236}">
                <a16:creationId xmlns="" xmlns:a16="http://schemas.microsoft.com/office/drawing/2014/main" id="{AA553BEB-3BF8-4AF9-A157-DD602F7D3901}"/>
              </a:ext>
            </a:extLst>
          </p:cNvPr>
          <p:cNvSpPr>
            <a:spLocks noChangeArrowheads="1"/>
          </p:cNvSpPr>
          <p:nvPr/>
        </p:nvSpPr>
        <p:spPr bwMode="auto">
          <a:xfrm>
            <a:off x="1524000" y="549275"/>
            <a:ext cx="3600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fr-FR" b="1" dirty="0">
                <a:latin typeface="Times New Roman" panose="02020603050405020304" pitchFamily="18" charset="0"/>
              </a:rPr>
              <a:t>Sur-apprentissage</a:t>
            </a:r>
          </a:p>
        </p:txBody>
      </p:sp>
      <p:grpSp>
        <p:nvGrpSpPr>
          <p:cNvPr id="57351" name="Group 9">
            <a:extLst>
              <a:ext uri="{FF2B5EF4-FFF2-40B4-BE49-F238E27FC236}">
                <a16:creationId xmlns="" xmlns:a16="http://schemas.microsoft.com/office/drawing/2014/main" id="{91238D53-CFA6-4E7D-932D-23B4BF8FEFDB}"/>
              </a:ext>
            </a:extLst>
          </p:cNvPr>
          <p:cNvGrpSpPr>
            <a:grpSpLocks/>
          </p:cNvGrpSpPr>
          <p:nvPr/>
        </p:nvGrpSpPr>
        <p:grpSpPr bwMode="auto">
          <a:xfrm>
            <a:off x="1524001" y="44451"/>
            <a:ext cx="9142413" cy="365125"/>
            <a:chOff x="0" y="28"/>
            <a:chExt cx="5759" cy="230"/>
          </a:xfrm>
        </p:grpSpPr>
        <p:sp>
          <p:nvSpPr>
            <p:cNvPr id="57352" name="AutoShape 10">
              <a:extLst>
                <a:ext uri="{FF2B5EF4-FFF2-40B4-BE49-F238E27FC236}">
                  <a16:creationId xmlns="" xmlns:a16="http://schemas.microsoft.com/office/drawing/2014/main" id="{5D856E0A-500C-47C0-8C78-6BED62E11D4D}"/>
                </a:ext>
              </a:extLst>
            </p:cNvPr>
            <p:cNvSpPr>
              <a:spLocks noChangeArrowheads="1"/>
            </p:cNvSpPr>
            <p:nvPr/>
          </p:nvSpPr>
          <p:spPr bwMode="auto">
            <a:xfrm>
              <a:off x="0" y="28"/>
              <a:ext cx="5760" cy="231"/>
            </a:xfrm>
            <a:prstGeom prst="roundRect">
              <a:avLst>
                <a:gd name="adj" fmla="val 431"/>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endParaRPr lang="fr-FR" altLang="fr-FR" sz="1800">
                <a:latin typeface="Times New Roman" panose="02020603050405020304" pitchFamily="18" charset="0"/>
              </a:endParaRPr>
            </a:p>
          </p:txBody>
        </p:sp>
        <p:sp>
          <p:nvSpPr>
            <p:cNvPr id="57353" name="Text Box 11">
              <a:extLst>
                <a:ext uri="{FF2B5EF4-FFF2-40B4-BE49-F238E27FC236}">
                  <a16:creationId xmlns="" xmlns:a16="http://schemas.microsoft.com/office/drawing/2014/main" id="{CBC0F010-35E6-4AAF-8DD4-02036E282647}"/>
                </a:ext>
              </a:extLst>
            </p:cNvPr>
            <p:cNvSpPr txBox="1">
              <a:spLocks noChangeArrowheads="1"/>
            </p:cNvSpPr>
            <p:nvPr/>
          </p:nvSpPr>
          <p:spPr bwMode="auto">
            <a:xfrm>
              <a:off x="0" y="28"/>
              <a:ext cx="57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1800">
                  <a:solidFill>
                    <a:schemeClr val="tx1"/>
                  </a:solidFill>
                </a:rPr>
                <a:t>Intelligence Artificielle 		Apprentissage			</a:t>
              </a:r>
            </a:p>
          </p:txBody>
        </p:sp>
      </p:grpSp>
      <p:sp>
        <p:nvSpPr>
          <p:cNvPr id="2" name="Slide Number Placeholder 1">
            <a:extLst>
              <a:ext uri="{FF2B5EF4-FFF2-40B4-BE49-F238E27FC236}">
                <a16:creationId xmlns="" xmlns:a16="http://schemas.microsoft.com/office/drawing/2014/main" id="{64DA94C9-B590-473B-A78F-48697D13A973}"/>
              </a:ext>
            </a:extLst>
          </p:cNvPr>
          <p:cNvSpPr>
            <a:spLocks noGrp="1"/>
          </p:cNvSpPr>
          <p:nvPr>
            <p:ph type="sldNum" sz="quarter" idx="12"/>
          </p:nvPr>
        </p:nvSpPr>
        <p:spPr/>
        <p:txBody>
          <a:bodyPr/>
          <a:lstStyle/>
          <a:p>
            <a:fld id="{EE5DF52D-0FE0-4249-9023-8B500BDB729B}" type="slidenum">
              <a:rPr lang="fr-FR" smtClean="0"/>
              <a:pPr/>
              <a:t>25</a:t>
            </a:fld>
            <a:endParaRPr lang="fr-F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 xmlns:a16="http://schemas.microsoft.com/office/drawing/2014/main" id="{9C77C7E0-06C2-4166-B688-797CF2110ABD}"/>
              </a:ext>
            </a:extLst>
          </p:cNvPr>
          <p:cNvSpPr>
            <a:spLocks noGrp="1" noChangeArrowheads="1"/>
          </p:cNvSpPr>
          <p:nvPr>
            <p:ph type="title"/>
          </p:nvPr>
        </p:nvSpPr>
        <p:spPr>
          <a:xfrm>
            <a:off x="1876426" y="546101"/>
            <a:ext cx="8251825" cy="487363"/>
          </a:xfrm>
        </p:spPr>
        <p:txBody>
          <a:bodyPr>
            <a:normAutofit fontScale="90000"/>
          </a:bodyPr>
          <a:lstStyle/>
          <a:p>
            <a:r>
              <a:rPr lang="fr-FR" altLang="fr-FR" dirty="0"/>
              <a:t>Le sur-apprentissage</a:t>
            </a:r>
          </a:p>
        </p:txBody>
      </p:sp>
      <p:pic>
        <p:nvPicPr>
          <p:cNvPr id="59396" name="Picture 4" descr="Fig3-cbes-risques">
            <a:extLst>
              <a:ext uri="{FF2B5EF4-FFF2-40B4-BE49-F238E27FC236}">
                <a16:creationId xmlns="" xmlns:a16="http://schemas.microsoft.com/office/drawing/2014/main" id="{A0C7BD4A-FC57-4CA6-B5A4-6B1A1BF9B0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6526" y="2120900"/>
            <a:ext cx="6659563" cy="432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 xmlns:a16="http://schemas.microsoft.com/office/drawing/2014/main" id="{2C58FF8B-4AA6-4E3C-8BAD-444DD66DD64E}"/>
              </a:ext>
            </a:extLst>
          </p:cNvPr>
          <p:cNvSpPr>
            <a:spLocks noGrp="1"/>
          </p:cNvSpPr>
          <p:nvPr>
            <p:ph type="sldNum" sz="quarter" idx="12"/>
          </p:nvPr>
        </p:nvSpPr>
        <p:spPr/>
        <p:txBody>
          <a:bodyPr/>
          <a:lstStyle/>
          <a:p>
            <a:fld id="{EE5DF52D-0FE0-4249-9023-8B500BDB729B}" type="slidenum">
              <a:rPr lang="fr-FR" smtClean="0"/>
              <a:pPr/>
              <a:t>26</a:t>
            </a:fld>
            <a:endParaRPr lang="fr-FR"/>
          </a:p>
        </p:txBody>
      </p:sp>
      <p:grpSp>
        <p:nvGrpSpPr>
          <p:cNvPr id="6" name="Group 9">
            <a:extLst>
              <a:ext uri="{FF2B5EF4-FFF2-40B4-BE49-F238E27FC236}">
                <a16:creationId xmlns="" xmlns:a16="http://schemas.microsoft.com/office/drawing/2014/main" id="{91238D53-CFA6-4E7D-932D-23B4BF8FEFDB}"/>
              </a:ext>
            </a:extLst>
          </p:cNvPr>
          <p:cNvGrpSpPr>
            <a:grpSpLocks/>
          </p:cNvGrpSpPr>
          <p:nvPr/>
        </p:nvGrpSpPr>
        <p:grpSpPr bwMode="auto">
          <a:xfrm>
            <a:off x="1524001" y="44451"/>
            <a:ext cx="9142413" cy="365125"/>
            <a:chOff x="0" y="28"/>
            <a:chExt cx="5759" cy="230"/>
          </a:xfrm>
        </p:grpSpPr>
        <p:sp>
          <p:nvSpPr>
            <p:cNvPr id="7" name="AutoShape 10">
              <a:extLst>
                <a:ext uri="{FF2B5EF4-FFF2-40B4-BE49-F238E27FC236}">
                  <a16:creationId xmlns="" xmlns:a16="http://schemas.microsoft.com/office/drawing/2014/main" id="{5D856E0A-500C-47C0-8C78-6BED62E11D4D}"/>
                </a:ext>
              </a:extLst>
            </p:cNvPr>
            <p:cNvSpPr>
              <a:spLocks noChangeArrowheads="1"/>
            </p:cNvSpPr>
            <p:nvPr/>
          </p:nvSpPr>
          <p:spPr bwMode="auto">
            <a:xfrm>
              <a:off x="0" y="28"/>
              <a:ext cx="5760" cy="231"/>
            </a:xfrm>
            <a:prstGeom prst="roundRect">
              <a:avLst>
                <a:gd name="adj" fmla="val 431"/>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endParaRPr lang="fr-FR" altLang="fr-FR" sz="1800">
                <a:latin typeface="Times New Roman" panose="02020603050405020304" pitchFamily="18" charset="0"/>
              </a:endParaRPr>
            </a:p>
          </p:txBody>
        </p:sp>
        <p:sp>
          <p:nvSpPr>
            <p:cNvPr id="8" name="Text Box 11">
              <a:extLst>
                <a:ext uri="{FF2B5EF4-FFF2-40B4-BE49-F238E27FC236}">
                  <a16:creationId xmlns="" xmlns:a16="http://schemas.microsoft.com/office/drawing/2014/main" id="{CBC0F010-35E6-4AAF-8DD4-02036E282647}"/>
                </a:ext>
              </a:extLst>
            </p:cNvPr>
            <p:cNvSpPr txBox="1">
              <a:spLocks noChangeArrowheads="1"/>
            </p:cNvSpPr>
            <p:nvPr/>
          </p:nvSpPr>
          <p:spPr bwMode="auto">
            <a:xfrm>
              <a:off x="0" y="28"/>
              <a:ext cx="57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1800">
                  <a:solidFill>
                    <a:schemeClr val="tx1"/>
                  </a:solidFill>
                </a:rPr>
                <a:t>Intelligence Artificielle 		Apprentissage			</a:t>
              </a:r>
            </a:p>
          </p:txBody>
        </p:sp>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 xmlns:a16="http://schemas.microsoft.com/office/drawing/2014/main" id="{806EE5B1-2CB5-4BE0-958F-DF78FCD348FE}"/>
              </a:ext>
            </a:extLst>
          </p:cNvPr>
          <p:cNvSpPr>
            <a:spLocks noChangeArrowheads="1"/>
          </p:cNvSpPr>
          <p:nvPr/>
        </p:nvSpPr>
        <p:spPr bwMode="auto">
          <a:xfrm>
            <a:off x="1471757" y="984615"/>
            <a:ext cx="882015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r>
              <a:rPr lang="fr-CA" altLang="fr-FR" sz="2800" b="1" dirty="0">
                <a:latin typeface="Times New Roman" panose="02020603050405020304" pitchFamily="18" charset="0"/>
                <a:cs typeface="Times New Roman" panose="02020603050405020304" pitchFamily="18" charset="0"/>
              </a:rPr>
              <a:t>Exercice </a:t>
            </a:r>
            <a:r>
              <a:rPr lang="fr-CA" altLang="fr-FR" sz="2800" b="1" dirty="0" smtClean="0">
                <a:latin typeface="Times New Roman" panose="02020603050405020304" pitchFamily="18" charset="0"/>
                <a:cs typeface="Times New Roman" panose="02020603050405020304" pitchFamily="18" charset="0"/>
              </a:rPr>
              <a:t>2 (à faire en TD)</a:t>
            </a:r>
            <a:endParaRPr lang="fr-FR" altLang="fr-FR" sz="1100" dirty="0">
              <a:latin typeface="Times New Roman" panose="02020603050405020304" pitchFamily="18" charset="0"/>
            </a:endParaRPr>
          </a:p>
          <a:p>
            <a:pPr>
              <a:spcBef>
                <a:spcPct val="0"/>
              </a:spcBef>
              <a:buClrTx/>
              <a:buSzTx/>
              <a:buFontTx/>
              <a:buNone/>
            </a:pPr>
            <a:r>
              <a:rPr lang="fr-CA" altLang="fr-FR" sz="2000" dirty="0">
                <a:latin typeface="Times New Roman" panose="02020603050405020304" pitchFamily="18" charset="0"/>
                <a:cs typeface="Times New Roman" panose="02020603050405020304" pitchFamily="18" charset="0"/>
              </a:rPr>
              <a:t>Les chercheurs de la chaîne de café Columbus ont collecté les informations suivantes concernant le fait si les clients aiment leur café avec différents arômes ajoutes. Les trois attributs sont des attributs binaires qui indiquent si l'arôme a été ajoute ou pas</a:t>
            </a:r>
            <a:r>
              <a:rPr lang="fr-CA" altLang="fr-FR" sz="2000" dirty="0" smtClean="0">
                <a:latin typeface="Times New Roman" panose="02020603050405020304" pitchFamily="18" charset="0"/>
                <a:cs typeface="Times New Roman" panose="02020603050405020304" pitchFamily="18" charset="0"/>
              </a:rPr>
              <a:t>.</a:t>
            </a:r>
            <a:endParaRPr lang="fr-FR" altLang="fr-FR" sz="1100" dirty="0">
              <a:latin typeface="Times New Roman" panose="02020603050405020304" pitchFamily="18" charset="0"/>
            </a:endParaRPr>
          </a:p>
        </p:txBody>
      </p:sp>
      <p:pic>
        <p:nvPicPr>
          <p:cNvPr id="63491" name="Picture 1">
            <a:extLst>
              <a:ext uri="{FF2B5EF4-FFF2-40B4-BE49-F238E27FC236}">
                <a16:creationId xmlns="" xmlns:a16="http://schemas.microsoft.com/office/drawing/2014/main" id="{8BB81D7F-CC01-407D-A300-AB97279455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188" y="2898095"/>
            <a:ext cx="5184775"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699" name="Rectangle 3">
            <a:extLst>
              <a:ext uri="{FF2B5EF4-FFF2-40B4-BE49-F238E27FC236}">
                <a16:creationId xmlns="" xmlns:a16="http://schemas.microsoft.com/office/drawing/2014/main" id="{0B85548F-B209-4B75-8847-79E7D5308462}"/>
              </a:ext>
            </a:extLst>
          </p:cNvPr>
          <p:cNvSpPr>
            <a:spLocks noChangeArrowheads="1"/>
          </p:cNvSpPr>
          <p:nvPr/>
        </p:nvSpPr>
        <p:spPr bwMode="auto">
          <a:xfrm>
            <a:off x="1524000" y="5006295"/>
            <a:ext cx="8524962" cy="646331"/>
          </a:xfrm>
          <a:prstGeom prst="rect">
            <a:avLst/>
          </a:prstGeom>
          <a:noFill/>
          <a:ln w="9525">
            <a:noFill/>
            <a:miter lim="800000"/>
            <a:headEnd/>
            <a:tailEnd/>
          </a:ln>
          <a:effectLst/>
        </p:spPr>
        <p:txBody>
          <a:bodyPr wrap="none" anchor="ctr">
            <a:spAutoFit/>
          </a:bodyPr>
          <a:lstStyle/>
          <a:p>
            <a:pPr algn="justLow">
              <a:defRPr/>
            </a:pPr>
            <a:r>
              <a:rPr lang="fr-CA" dirty="0">
                <a:ea typeface="Times New Roman" pitchFamily="18" charset="0"/>
              </a:rPr>
              <a:t>- Donner l’attribut à la racine de l’arbre de décision avec ID3. Donnez les détails du calcul.</a:t>
            </a:r>
            <a:endParaRPr lang="fr-FR" sz="1050" dirty="0"/>
          </a:p>
          <a:p>
            <a:pPr algn="justLow">
              <a:defRPr/>
            </a:pPr>
            <a:r>
              <a:rPr lang="fr-CA" dirty="0">
                <a:ea typeface="Times New Roman" pitchFamily="18" charset="0"/>
              </a:rPr>
              <a:t>Est-ce qu'après avoir choisi la racine on doit choisir un autre </a:t>
            </a:r>
            <a:r>
              <a:rPr lang="fr-CA" dirty="0" err="1">
                <a:ea typeface="Times New Roman" pitchFamily="18" charset="0"/>
              </a:rPr>
              <a:t>noeud</a:t>
            </a:r>
            <a:r>
              <a:rPr lang="fr-CA" dirty="0">
                <a:ea typeface="Times New Roman" pitchFamily="18" charset="0"/>
              </a:rPr>
              <a:t>? Pourquoi ?</a:t>
            </a:r>
            <a:endParaRPr lang="fr-CA" sz="2800" dirty="0"/>
          </a:p>
        </p:txBody>
      </p:sp>
      <p:sp>
        <p:nvSpPr>
          <p:cNvPr id="2" name="Slide Number Placeholder 1">
            <a:extLst>
              <a:ext uri="{FF2B5EF4-FFF2-40B4-BE49-F238E27FC236}">
                <a16:creationId xmlns="" xmlns:a16="http://schemas.microsoft.com/office/drawing/2014/main" id="{4A186CA8-33D5-4FBC-B3CF-2CAADC0028C9}"/>
              </a:ext>
            </a:extLst>
          </p:cNvPr>
          <p:cNvSpPr>
            <a:spLocks noGrp="1"/>
          </p:cNvSpPr>
          <p:nvPr>
            <p:ph type="sldNum" sz="quarter" idx="12"/>
          </p:nvPr>
        </p:nvSpPr>
        <p:spPr>
          <a:xfrm>
            <a:off x="8610600" y="6512215"/>
            <a:ext cx="2743200" cy="365125"/>
          </a:xfrm>
        </p:spPr>
        <p:txBody>
          <a:bodyPr/>
          <a:lstStyle/>
          <a:p>
            <a:fld id="{EE5DF52D-0FE0-4249-9023-8B500BDB729B}" type="slidenum">
              <a:rPr lang="fr-FR" smtClean="0"/>
              <a:pPr/>
              <a:t>27</a:t>
            </a:fld>
            <a:endParaRPr lang="fr-FR"/>
          </a:p>
        </p:txBody>
      </p:sp>
      <p:grpSp>
        <p:nvGrpSpPr>
          <p:cNvPr id="6" name="Group 9">
            <a:extLst>
              <a:ext uri="{FF2B5EF4-FFF2-40B4-BE49-F238E27FC236}">
                <a16:creationId xmlns="" xmlns:a16="http://schemas.microsoft.com/office/drawing/2014/main" id="{91238D53-CFA6-4E7D-932D-23B4BF8FEFDB}"/>
              </a:ext>
            </a:extLst>
          </p:cNvPr>
          <p:cNvGrpSpPr>
            <a:grpSpLocks/>
          </p:cNvGrpSpPr>
          <p:nvPr/>
        </p:nvGrpSpPr>
        <p:grpSpPr bwMode="auto">
          <a:xfrm>
            <a:off x="1524001" y="44451"/>
            <a:ext cx="9142413" cy="365125"/>
            <a:chOff x="0" y="28"/>
            <a:chExt cx="5759" cy="230"/>
          </a:xfrm>
        </p:grpSpPr>
        <p:sp>
          <p:nvSpPr>
            <p:cNvPr id="7" name="AutoShape 10">
              <a:extLst>
                <a:ext uri="{FF2B5EF4-FFF2-40B4-BE49-F238E27FC236}">
                  <a16:creationId xmlns="" xmlns:a16="http://schemas.microsoft.com/office/drawing/2014/main" id="{5D856E0A-500C-47C0-8C78-6BED62E11D4D}"/>
                </a:ext>
              </a:extLst>
            </p:cNvPr>
            <p:cNvSpPr>
              <a:spLocks noChangeArrowheads="1"/>
            </p:cNvSpPr>
            <p:nvPr/>
          </p:nvSpPr>
          <p:spPr bwMode="auto">
            <a:xfrm>
              <a:off x="0" y="28"/>
              <a:ext cx="5760" cy="231"/>
            </a:xfrm>
            <a:prstGeom prst="roundRect">
              <a:avLst>
                <a:gd name="adj" fmla="val 431"/>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788"/>
                </a:spcBef>
                <a:buClr>
                  <a:srgbClr val="000000"/>
                </a:buClr>
                <a:buSzPct val="100000"/>
                <a:buFont typeface="Arial" panose="020B0604020202020204" pitchFamily="34" charset="0"/>
                <a:buChar char="•"/>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cs typeface="Arial" panose="020B0604020202020204" pitchFamily="34" charset="0"/>
                </a:defRPr>
              </a:lvl9pPr>
            </a:lstStyle>
            <a:p>
              <a:pPr>
                <a:spcBef>
                  <a:spcPct val="0"/>
                </a:spcBef>
                <a:buClrTx/>
                <a:buSzTx/>
                <a:buFontTx/>
                <a:buNone/>
              </a:pPr>
              <a:endParaRPr lang="fr-FR" altLang="fr-FR" sz="1800">
                <a:latin typeface="Times New Roman" panose="02020603050405020304" pitchFamily="18" charset="0"/>
              </a:endParaRPr>
            </a:p>
          </p:txBody>
        </p:sp>
        <p:sp>
          <p:nvSpPr>
            <p:cNvPr id="8" name="Text Box 11">
              <a:extLst>
                <a:ext uri="{FF2B5EF4-FFF2-40B4-BE49-F238E27FC236}">
                  <a16:creationId xmlns="" xmlns:a16="http://schemas.microsoft.com/office/drawing/2014/main" id="{CBC0F010-35E6-4AAF-8DD4-02036E282647}"/>
                </a:ext>
              </a:extLst>
            </p:cNvPr>
            <p:cNvSpPr txBox="1">
              <a:spLocks noChangeArrowheads="1"/>
            </p:cNvSpPr>
            <p:nvPr/>
          </p:nvSpPr>
          <p:spPr bwMode="auto">
            <a:xfrm>
              <a:off x="0" y="28"/>
              <a:ext cx="57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7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marL="742950" indent="-285750">
                <a:spcBef>
                  <a:spcPts val="6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marL="1143000" indent="-228600">
                <a:spcBef>
                  <a:spcPts val="5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marL="16002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marL="2057400" indent="-228600">
                <a:spcBef>
                  <a:spcPts val="488"/>
                </a:spcBef>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ts val="488"/>
                </a:spcBef>
                <a:spcAft>
                  <a:spcPct val="0"/>
                </a:spcAft>
                <a:buClr>
                  <a:srgbClr val="000000"/>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lnSpc>
                  <a:spcPct val="96000"/>
                </a:lnSpc>
                <a:spcBef>
                  <a:spcPct val="0"/>
                </a:spcBef>
                <a:buFont typeface="Arial" panose="020B0604020202020204" pitchFamily="34" charset="0"/>
                <a:buNone/>
              </a:pPr>
              <a:r>
                <a:rPr lang="en-GB" altLang="fr-FR" sz="1800">
                  <a:solidFill>
                    <a:schemeClr val="tx1"/>
                  </a:solidFill>
                </a:rPr>
                <a:t>Intelligence Artificielle 		Apprentissage			</a:t>
              </a:r>
            </a:p>
          </p:txBody>
        </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EE5DF52D-0FE0-4249-9023-8B500BDB729B}" type="slidenum">
              <a:rPr lang="fr-FR" smtClean="0"/>
              <a:pPr/>
              <a:t>28</a:t>
            </a:fld>
            <a:endParaRPr lang="fr-FR"/>
          </a:p>
        </p:txBody>
      </p:sp>
      <p:sp>
        <p:nvSpPr>
          <p:cNvPr id="3" name="ZoneTexte 2"/>
          <p:cNvSpPr txBox="1"/>
          <p:nvPr/>
        </p:nvSpPr>
        <p:spPr>
          <a:xfrm>
            <a:off x="5174673" y="2452255"/>
            <a:ext cx="1714500" cy="92333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fr-FR" sz="5400" dirty="0" smtClean="0"/>
              <a:t>FIN</a:t>
            </a:r>
            <a:endParaRPr lang="fr-FR" sz="5400" dirty="0"/>
          </a:p>
        </p:txBody>
      </p:sp>
    </p:spTree>
    <p:extLst>
      <p:ext uri="{BB962C8B-B14F-4D97-AF65-F5344CB8AC3E}">
        <p14:creationId xmlns:p14="http://schemas.microsoft.com/office/powerpoint/2010/main" val="2549521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1743</TotalTime>
  <Words>1758</Words>
  <Application>Microsoft Office PowerPoint</Application>
  <PresentationFormat>Personnalisé</PresentationFormat>
  <Paragraphs>393</Paragraphs>
  <Slides>28</Slides>
  <Notes>21</Notes>
  <HiddenSlides>0</HiddenSlides>
  <MMClips>0</MMClips>
  <ScaleCrop>false</ScaleCrop>
  <HeadingPairs>
    <vt:vector size="4" baseType="variant">
      <vt:variant>
        <vt:lpstr>Thème</vt:lpstr>
      </vt:variant>
      <vt:variant>
        <vt:i4>1</vt:i4>
      </vt:variant>
      <vt:variant>
        <vt:lpstr>Titres des diapositives</vt:lpstr>
      </vt:variant>
      <vt:variant>
        <vt:i4>28</vt:i4>
      </vt:variant>
    </vt:vector>
  </HeadingPairs>
  <TitlesOfParts>
    <vt:vector size="29" baseType="lpstr">
      <vt:lpstr>Office Theme</vt:lpstr>
      <vt:lpstr>Présentation PowerPoint</vt:lpstr>
      <vt:lpstr>Présentation PowerPoint</vt:lpstr>
      <vt:lpstr>Présentation PowerPoint</vt:lpstr>
      <vt:lpstr>Présentation PowerPoint</vt:lpstr>
      <vt:lpstr>Techniques  d’apprentissages</vt:lpstr>
      <vt:lpstr>Caractérisation des techniques de Machine Learning</vt:lpstr>
      <vt:lpstr>Présentation PowerPoint</vt:lpstr>
      <vt:lpstr>Types d’apprentissages</vt:lpstr>
      <vt:lpstr>APPRENTISSAGE SUPERVISÉ : Régression et Classification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 sur-apprentissage</vt:lpstr>
      <vt:lpstr>Présentation PowerPoint</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Perspective historique</dc:title>
  <dc:creator>SADGAL MOHAMMED</dc:creator>
  <cp:lastModifiedBy>um6u</cp:lastModifiedBy>
  <cp:revision>38</cp:revision>
  <dcterms:created xsi:type="dcterms:W3CDTF">2020-04-01T16:35:29Z</dcterms:created>
  <dcterms:modified xsi:type="dcterms:W3CDTF">2024-03-05T11:49:55Z</dcterms:modified>
</cp:coreProperties>
</file>