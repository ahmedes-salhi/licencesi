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57" r:id="rId3"/>
    <p:sldId id="258" r:id="rId4"/>
    <p:sldId id="260" r:id="rId5"/>
    <p:sldId id="259" r:id="rId6"/>
    <p:sldId id="266" r:id="rId7"/>
    <p:sldId id="262" r:id="rId8"/>
    <p:sldId id="297" r:id="rId9"/>
    <p:sldId id="298" r:id="rId10"/>
    <p:sldId id="299" r:id="rId11"/>
    <p:sldId id="300" r:id="rId12"/>
    <p:sldId id="301" r:id="rId13"/>
    <p:sldId id="263" r:id="rId14"/>
    <p:sldId id="264" r:id="rId15"/>
    <p:sldId id="268" r:id="rId16"/>
    <p:sldId id="267" r:id="rId17"/>
    <p:sldId id="269" r:id="rId18"/>
    <p:sldId id="265" r:id="rId19"/>
    <p:sldId id="277" r:id="rId20"/>
    <p:sldId id="287" r:id="rId21"/>
    <p:sldId id="288" r:id="rId22"/>
    <p:sldId id="303" r:id="rId23"/>
    <p:sldId id="292" r:id="rId24"/>
    <p:sldId id="305" r:id="rId25"/>
    <p:sldId id="306" r:id="rId26"/>
    <p:sldId id="307" r:id="rId27"/>
    <p:sldId id="308" r:id="rId28"/>
    <p:sldId id="309" r:id="rId29"/>
    <p:sldId id="310" r:id="rId30"/>
    <p:sldId id="311" r:id="rId31"/>
    <p:sldId id="312" r:id="rId32"/>
    <p:sldId id="313" r:id="rId33"/>
    <p:sldId id="304" r:id="rId34"/>
    <p:sldId id="293" r:id="rId35"/>
    <p:sldId id="290" r:id="rId36"/>
    <p:sldId id="291" r:id="rId37"/>
    <p:sldId id="294" r:id="rId38"/>
    <p:sldId id="302" r:id="rId39"/>
    <p:sldId id="296" r:id="rId4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309" autoAdjust="0"/>
  </p:normalViewPr>
  <p:slideViewPr>
    <p:cSldViewPr>
      <p:cViewPr varScale="1">
        <p:scale>
          <a:sx n="76" d="100"/>
          <a:sy n="76" d="100"/>
        </p:scale>
        <p:origin x="-179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E3356E-0210-43B6-B450-D5E449C630BF}" type="datetimeFigureOut">
              <a:rPr lang="fr-FR" smtClean="0"/>
              <a:t>12/02/2024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E70E27-56AE-4057-9AF0-5FD8B273374A}" type="slidenum">
              <a:rPr lang="fr-FR" smtClean="0"/>
              <a:t>‹N°›</a:t>
            </a:fld>
            <a:endParaRPr lang="fr-FR"/>
          </a:p>
        </p:txBody>
      </p:sp>
    </p:spTree>
    <p:extLst>
      <p:ext uri="{BB962C8B-B14F-4D97-AF65-F5344CB8AC3E}">
        <p14:creationId xmlns:p14="http://schemas.microsoft.com/office/powerpoint/2010/main" val="345814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L'Intelligence Artificielle offre un potentiel immense pour transformer les industries et améliorer notre </a:t>
            </a:r>
            <a:r>
              <a:rPr lang="fr-FR" dirty="0" err="1" smtClean="0"/>
              <a:t>quotidien.Elle</a:t>
            </a:r>
            <a:r>
              <a:rPr lang="fr-FR" dirty="0" smtClean="0"/>
              <a:t> soulève également des questions éthiques et sociales, telles que la confidentialité des données et l'impact sur l'emploi.</a:t>
            </a:r>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14</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16</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17</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18</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19</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20</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Cette diapositive fournit un aperçu concis de l'évolution de l'Intelligence Artificielle au fil du temps, en mettant en évidence les principales étapes de son développement. </a:t>
            </a:r>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21</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951A780-0C4B-4A88-8BC8-C9F0D3327DB5}" type="slidenum">
              <a:rPr lang="fr-FR" smtClean="0"/>
              <a:pPr/>
              <a:t>25</a:t>
            </a:fld>
            <a:endParaRPr lang="fr-FR"/>
          </a:p>
        </p:txBody>
      </p:sp>
    </p:spTree>
    <p:extLst>
      <p:ext uri="{BB962C8B-B14F-4D97-AF65-F5344CB8AC3E}">
        <p14:creationId xmlns:p14="http://schemas.microsoft.com/office/powerpoint/2010/main" val="2501435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xfrm>
            <a:off x="914400" y="4343400"/>
            <a:ext cx="5029200" cy="4114800"/>
          </a:xfrm>
        </p:spPr>
        <p:txBody>
          <a:bodyPr/>
          <a:lstStyle/>
          <a:p>
            <a:pPr marL="228600" indent="-228600"/>
            <a:r>
              <a:rPr lang="fr-FR" b="1"/>
              <a:t>Principaux axes de recherche</a:t>
            </a:r>
          </a:p>
          <a:p>
            <a:pPr marL="228600" indent="-228600"/>
            <a:r>
              <a:rPr lang="fr-FR" b="1"/>
              <a:t>Biologie: Modélisation de systèmes nerveux</a:t>
            </a:r>
            <a:br>
              <a:rPr lang="fr-FR" b="1"/>
            </a:br>
            <a:r>
              <a:rPr lang="fr-FR" b="1"/>
              <a:t>L’objectif principal de cet axe de recherche important consiste à b</a:t>
            </a:r>
            <a:r>
              <a:rPr lang="fr-FR" altLang="ja-JP" b="1"/>
              <a:t>âtir des réseaux de neurones artificiels qui miment le fonctionnement des réseaux neuronaux biologiques. Grâce à ces simulations, on vise une meilleure compréhension du fonctionnement de diverses parties du cerveau.</a:t>
            </a:r>
            <a:br>
              <a:rPr lang="fr-FR" altLang="ja-JP" b="1"/>
            </a:br>
            <a:r>
              <a:rPr lang="fr-FR" altLang="ja-JP" b="1"/>
              <a:t>Un exemple de groupe de recherche très actif dans cet axe: Université de Boston, avec entre autre le couple Stephen Grossberg et Gail Carpenter.</a:t>
            </a:r>
            <a:endParaRPr lang="fr-F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xfrm>
            <a:off x="914400" y="4343400"/>
            <a:ext cx="5029200" cy="4114800"/>
          </a:xfrm>
        </p:spPr>
        <p:txBody>
          <a:bodyPr/>
          <a:lstStyle/>
          <a:p>
            <a:endParaRPr lang="fr-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smtClean="0"/>
              <a:t>Exemples d'applications IA dans notre vie quotidienne </a:t>
            </a:r>
            <a:endParaRPr lang="fr-FR" sz="1200" b="0" i="0" kern="1200" dirty="0" smtClean="0">
              <a:solidFill>
                <a:schemeClr val="tx1"/>
              </a:solidFill>
              <a:effectLst/>
              <a:latin typeface="+mn-lt"/>
              <a:ea typeface="+mn-ea"/>
              <a:cs typeface="+mn-cs"/>
            </a:endParaRPr>
          </a:p>
          <a:p>
            <a:r>
              <a:rPr lang="fr-FR" sz="1200" b="0" i="0" kern="1200" dirty="0" smtClean="0">
                <a:solidFill>
                  <a:schemeClr val="tx1"/>
                </a:solidFill>
                <a:effectLst/>
                <a:latin typeface="+mn-lt"/>
                <a:ea typeface="+mn-ea"/>
                <a:cs typeface="+mn-cs"/>
              </a:rPr>
              <a:t>Ces exemples montrent comment l'IA est devenue omniprésente dans notre vie quotidienne, en améliorant l'efficacité, la commodité et la sécurité de nombreuses tâches et activités.</a:t>
            </a:r>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35</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36</a:t>
            </a:fld>
            <a:endParaRPr lang="fr-FR"/>
          </a:p>
        </p:txBody>
      </p:sp>
    </p:spTree>
    <p:extLst>
      <p:ext uri="{BB962C8B-B14F-4D97-AF65-F5344CB8AC3E}">
        <p14:creationId xmlns:p14="http://schemas.microsoft.com/office/powerpoint/2010/main" val="3856890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2E70E27-56AE-4057-9AF0-5FD8B273374A}" type="slidenum">
              <a:rPr lang="fr-FR" smtClean="0"/>
              <a:t>37</a:t>
            </a:fld>
            <a:endParaRPr lang="fr-FR"/>
          </a:p>
        </p:txBody>
      </p:sp>
    </p:spTree>
    <p:extLst>
      <p:ext uri="{BB962C8B-B14F-4D97-AF65-F5344CB8AC3E}">
        <p14:creationId xmlns:p14="http://schemas.microsoft.com/office/powerpoint/2010/main" val="3856890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4" name="Titre 13"/>
          <p:cNvSpPr>
            <a:spLocks noGrp="1"/>
          </p:cNvSpPr>
          <p:nvPr>
            <p:ph type="ctrTitle"/>
          </p:nvPr>
        </p:nvSpPr>
        <p:spPr>
          <a:xfrm>
            <a:off x="1432560" y="359898"/>
            <a:ext cx="7406640" cy="1472184"/>
          </a:xfrm>
        </p:spPr>
        <p:txBody>
          <a:bodyPr anchor="b"/>
          <a:lstStyle>
            <a:lvl1pPr algn="l">
              <a:defRPr/>
            </a:lvl1pPr>
            <a:extLst/>
          </a:lstStyle>
          <a:p>
            <a:r>
              <a:rPr kumimoji="0" lang="fr-FR" smtClean="0"/>
              <a:t>Modifiez le style du titre</a:t>
            </a:r>
            <a:endParaRPr kumimoji="0" lang="en-US"/>
          </a:p>
        </p:txBody>
      </p:sp>
      <p:sp>
        <p:nvSpPr>
          <p:cNvPr id="22" name="Sous-titr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Modifiez le style des sous-titres du masque</a:t>
            </a:r>
            <a:endParaRPr kumimoji="0" lang="en-US"/>
          </a:p>
        </p:txBody>
      </p:sp>
      <p:sp>
        <p:nvSpPr>
          <p:cNvPr id="7" name="Espace réservé de la date 6"/>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20" name="Espace réservé du pied de page 19"/>
          <p:cNvSpPr>
            <a:spLocks noGrp="1"/>
          </p:cNvSpPr>
          <p:nvPr>
            <p:ph type="ftr" sz="quarter" idx="11"/>
          </p:nvPr>
        </p:nvSpPr>
        <p:spPr/>
        <p:txBody>
          <a:bodyPr/>
          <a:lstStyle>
            <a:extLst/>
          </a:lstStyle>
          <a:p>
            <a:endParaRPr lang="fr-BE"/>
          </a:p>
        </p:txBody>
      </p:sp>
      <p:sp>
        <p:nvSpPr>
          <p:cNvPr id="10" name="Espace réservé du numéro de diapositive 9"/>
          <p:cNvSpPr>
            <a:spLocks noGrp="1"/>
          </p:cNvSpPr>
          <p:nvPr>
            <p:ph type="sldNum" sz="quarter" idx="12"/>
          </p:nvPr>
        </p:nvSpPr>
        <p:spPr/>
        <p:txBody>
          <a:bodyPr/>
          <a:lstStyle>
            <a:extLst/>
          </a:lstStyle>
          <a:p>
            <a:fld id="{CF4668DC-857F-487D-BFFA-8C0CA5037977}" type="slidenum">
              <a:rPr lang="fr-BE" smtClean="0"/>
              <a:t>‹N°›</a:t>
            </a:fld>
            <a:endParaRPr lang="fr-BE"/>
          </a:p>
        </p:txBody>
      </p:sp>
      <p:sp>
        <p:nvSpPr>
          <p:cNvPr id="8" name="Ellipse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Ellipse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r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Modifiez les styles du texte du masque</a:t>
            </a:r>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t>‹N°›</a:t>
            </a:fld>
            <a:endParaRPr lang="fr-BE"/>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Ellipse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Ellipse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extLst/>
          </a:lstStyle>
          <a:p>
            <a:r>
              <a:rPr kumimoji="0" lang="fr-FR" smtClean="0"/>
              <a:t>Modifiez le style du titre</a:t>
            </a:r>
            <a:endParaRPr kumimoji="0" lang="en-US"/>
          </a:p>
        </p:txBody>
      </p:sp>
      <p:sp>
        <p:nvSpPr>
          <p:cNvPr id="3" name="Espace réservé du contenu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Modifiez les styles du texte du masque</a:t>
            </a:r>
          </a:p>
        </p:txBody>
      </p:sp>
      <p:sp>
        <p:nvSpPr>
          <p:cNvPr id="4" name="Espace réservé du texte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Modifiez les styles du texte du masque</a:t>
            </a:r>
          </a:p>
        </p:txBody>
      </p:sp>
      <p:sp>
        <p:nvSpPr>
          <p:cNvPr id="5" name="Espace réservé du contenu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8" name="Espace réservé du pied de page 7"/>
          <p:cNvSpPr>
            <a:spLocks noGrp="1"/>
          </p:cNvSpPr>
          <p:nvPr>
            <p:ph type="ftr" sz="quarter" idx="11"/>
          </p:nvPr>
        </p:nvSpPr>
        <p:spPr/>
        <p:txBody>
          <a:bodyPr/>
          <a:lstStyle>
            <a:extLst/>
          </a:lstStyle>
          <a:p>
            <a:endParaRPr lang="fr-BE"/>
          </a:p>
        </p:txBody>
      </p:sp>
      <p:sp>
        <p:nvSpPr>
          <p:cNvPr id="9" name="Espace réservé du numéro de diapositive 8"/>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nchor="ctr"/>
          <a:lstStyle>
            <a:extLst/>
          </a:lstStyle>
          <a:p>
            <a:r>
              <a:rPr kumimoji="0" lang="fr-FR" smtClean="0"/>
              <a:t>Modifiez le style du titre</a:t>
            </a:r>
            <a:endParaRPr kumimoji="0" lang="en-US"/>
          </a:p>
        </p:txBody>
      </p:sp>
      <p:sp>
        <p:nvSpPr>
          <p:cNvPr id="3" name="Espace réservé de la date 2"/>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4" name="Espace réservé du pied de page 3"/>
          <p:cNvSpPr>
            <a:spLocks noGrp="1"/>
          </p:cNvSpPr>
          <p:nvPr>
            <p:ph type="ftr" sz="quarter" idx="11"/>
          </p:nvPr>
        </p:nvSpPr>
        <p:spPr/>
        <p:txBody>
          <a:bodyPr/>
          <a:lstStyle>
            <a:extLst/>
          </a:lstStyle>
          <a:p>
            <a:endParaRPr lang="fr-BE"/>
          </a:p>
        </p:txBody>
      </p:sp>
      <p:sp>
        <p:nvSpPr>
          <p:cNvPr id="5" name="Espace réservé du numéro de diapositive 4"/>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Espace réservé de la date 1"/>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3" name="Espace réservé du pied de page 2"/>
          <p:cNvSpPr>
            <a:spLocks noGrp="1"/>
          </p:cNvSpPr>
          <p:nvPr>
            <p:ph type="ftr" sz="quarter" idx="11"/>
          </p:nvPr>
        </p:nvSpPr>
        <p:spPr/>
        <p:txBody>
          <a:bodyPr/>
          <a:lstStyle>
            <a:extLst/>
          </a:lstStyle>
          <a:p>
            <a:endParaRPr lang="fr-BE"/>
          </a:p>
        </p:txBody>
      </p:sp>
      <p:sp>
        <p:nvSpPr>
          <p:cNvPr id="4" name="Espace réservé du numéro de diapositive 3"/>
          <p:cNvSpPr>
            <a:spLocks noGrp="1"/>
          </p:cNvSpPr>
          <p:nvPr>
            <p:ph type="sldNum" sz="quarter" idx="12"/>
          </p:nvPr>
        </p:nvSpPr>
        <p:spPr/>
        <p:txBody>
          <a:bodyPr/>
          <a:lstStyle>
            <a:extLst/>
          </a:lstStyle>
          <a:p>
            <a:fld id="{CF4668DC-857F-487D-BFFA-8C0CA5037977}" type="slidenum">
              <a:rPr lang="fr-BE" smtClean="0"/>
              <a:t>‹N°›</a:t>
            </a:fld>
            <a:endParaRPr lang="fr-BE"/>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fr-FR" smtClean="0"/>
              <a:t>Modifiez le style du titre</a:t>
            </a:r>
            <a:endParaRPr kumimoji="0" lang="en-US"/>
          </a:p>
        </p:txBody>
      </p:sp>
      <p:sp>
        <p:nvSpPr>
          <p:cNvPr id="3" name="Espace réservé du texte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fr-FR" smtClean="0"/>
              <a:t>Modifiez les styles du texte du masque</a:t>
            </a:r>
          </a:p>
        </p:txBody>
      </p:sp>
      <p:sp>
        <p:nvSpPr>
          <p:cNvPr id="4" name="Espace réservé du contenu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fr-FR" smtClean="0"/>
              <a:t>Modifiez le style du titre</a:t>
            </a:r>
            <a:endParaRPr kumimoji="0" lang="en-US"/>
          </a:p>
        </p:txBody>
      </p:sp>
      <p:sp>
        <p:nvSpPr>
          <p:cNvPr id="5" name="Espace réservé de la date 4"/>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t>‹N°›</a:t>
            </a:fld>
            <a:endParaRPr lang="fr-BE"/>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Espace réservé pour une image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fr-FR" smtClean="0"/>
              <a:t>Cliquez sur l'icône pour ajouter une image</a:t>
            </a:r>
            <a:endParaRPr kumimoji="0" lang="en-US" dirty="0"/>
          </a:p>
        </p:txBody>
      </p:sp>
      <p:sp>
        <p:nvSpPr>
          <p:cNvPr id="9" name="Organigramme : Processu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Organigramme : Processu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Espace réservé du texte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fr-FR" smtClean="0"/>
              <a:t>Modifiez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274639"/>
            <a:ext cx="1828800" cy="5851525"/>
          </a:xfrm>
        </p:spPr>
        <p:txBody>
          <a:bodyPr vert="eaVert"/>
          <a:lstStyle>
            <a:extLs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a:xfrm>
            <a:off x="1143000" y="274640"/>
            <a:ext cx="5562600" cy="5851525"/>
          </a:xfrm>
        </p:spPr>
        <p:txBody>
          <a:bodyPr vert="eaVert"/>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AA309A6D-C09C-4548-B29A-6CF363A7E532}" type="datetimeFigureOut">
              <a:rPr lang="fr-FR" smtClean="0"/>
              <a:t>12/02/2024</a:t>
            </a:fld>
            <a:endParaRPr lang="fr-BE"/>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ecteurs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Ellipse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Bouée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Espace réservé du titre 4"/>
          <p:cNvSpPr>
            <a:spLocks noGrp="1"/>
          </p:cNvSpPr>
          <p:nvPr>
            <p:ph type="title"/>
          </p:nvPr>
        </p:nvSpPr>
        <p:spPr>
          <a:xfrm>
            <a:off x="1435608" y="274638"/>
            <a:ext cx="7498080" cy="1143000"/>
          </a:xfrm>
          <a:prstGeom prst="rect">
            <a:avLst/>
          </a:prstGeom>
        </p:spPr>
        <p:txBody>
          <a:bodyPr anchor="ctr">
            <a:normAutofit/>
          </a:bodyPr>
          <a:lstStyle>
            <a:extLst/>
          </a:lstStyle>
          <a:p>
            <a:r>
              <a:rPr kumimoji="0" lang="fr-FR" smtClean="0"/>
              <a:t>Modifiez le style du titre</a:t>
            </a:r>
            <a:endParaRPr kumimoji="0" lang="en-US"/>
          </a:p>
        </p:txBody>
      </p:sp>
      <p:sp>
        <p:nvSpPr>
          <p:cNvPr id="9" name="Espace réservé du texte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fr-FR" smtClean="0"/>
              <a:t>Modifiez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24" name="Espace réservé de la date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AA309A6D-C09C-4548-B29A-6CF363A7E532}" type="datetimeFigureOut">
              <a:rPr lang="fr-FR" smtClean="0"/>
              <a:t>12/02/2024</a:t>
            </a:fld>
            <a:endParaRPr lang="fr-BE"/>
          </a:p>
        </p:txBody>
      </p:sp>
      <p:sp>
        <p:nvSpPr>
          <p:cNvPr id="10" name="Espace réservé du pied de page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fr-BE"/>
          </a:p>
        </p:txBody>
      </p:sp>
      <p:sp>
        <p:nvSpPr>
          <p:cNvPr id="22" name="Espace réservé du numéro de diapositive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CF4668DC-857F-487D-BFFA-8C0CA5037977}" type="slidenum">
              <a:rPr lang="fr-BE" smtClean="0"/>
              <a:t>‹N°›</a:t>
            </a:fld>
            <a:endParaRPr lang="fr-BE"/>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fr.wikipedia.org/wiki/William_Stanley_Jevons" TargetMode="External"/><Relationship Id="rId2" Type="http://schemas.openxmlformats.org/officeDocument/2006/relationships/hyperlink" Target="https://fr.wikipedia.org/wiki/Thomas_Hobbes" TargetMode="External"/><Relationship Id="rId1" Type="http://schemas.openxmlformats.org/officeDocument/2006/relationships/slideLayout" Target="../slideLayouts/slideLayout7.xml"/><Relationship Id="rId5" Type="http://schemas.openxmlformats.org/officeDocument/2006/relationships/hyperlink" Target="https://fr.wikipedia.org/wiki/Test_de_Turing" TargetMode="Externa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16.wmf"/></Relationships>
</file>

<file path=ppt/slides/_rels/slide3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hyperlink" Target="http://www.csupomona.edu/~jrfisher/www/prolog_tutorial/intro.html" TargetMode="External"/><Relationship Id="rId2" Type="http://schemas.openxmlformats.org/officeDocument/2006/relationships/hyperlink" Target="http://www.mars.cs.unp.ac.za/lisp/" TargetMode="External"/><Relationship Id="rId1" Type="http://schemas.openxmlformats.org/officeDocument/2006/relationships/slideLayout" Target="../slideLayouts/slideLayout2.xml"/><Relationship Id="rId6" Type="http://schemas.openxmlformats.org/officeDocument/2006/relationships/hyperlink" Target="http://hopl.murdoch.edu.au/showlanguage.prx?exp=1156&amp;language=KL-ONE" TargetMode="External"/><Relationship Id="rId5" Type="http://schemas.openxmlformats.org/officeDocument/2006/relationships/hyperlink" Target="ftp://ftp.inria.fr/INRIA/publication/publi-pdf/RT/RT-0072.pdf" TargetMode="External"/><Relationship Id="rId4" Type="http://schemas.openxmlformats.org/officeDocument/2006/relationships/hyperlink" Target="http://www.smalltalk.org/articles/article_20040000_11.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259632" y="2348880"/>
            <a:ext cx="7498080" cy="1143000"/>
          </a:xfrm>
        </p:spPr>
        <p:txBody>
          <a:bodyPr>
            <a:normAutofit/>
          </a:bodyPr>
          <a:lstStyle/>
          <a:p>
            <a:pPr algn="ctr"/>
            <a:r>
              <a:rPr lang="fr-FR" dirty="0" smtClean="0"/>
              <a:t>Intelligence Artificielle</a:t>
            </a:r>
            <a:endParaRPr lang="fr-FR" dirty="0"/>
          </a:p>
        </p:txBody>
      </p:sp>
    </p:spTree>
    <p:extLst>
      <p:ext uri="{BB962C8B-B14F-4D97-AF65-F5344CB8AC3E}">
        <p14:creationId xmlns:p14="http://schemas.microsoft.com/office/powerpoint/2010/main" val="25345685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638"/>
            <a:ext cx="7498080" cy="778098"/>
          </a:xfrm>
        </p:spPr>
        <p:txBody>
          <a:bodyPr/>
          <a:lstStyle/>
          <a:p>
            <a:r>
              <a:rPr lang="fr-FR" dirty="0" smtClean="0"/>
              <a:t>Sommaire</a:t>
            </a:r>
            <a:endParaRPr lang="fr-FR" sz="4000" dirty="0"/>
          </a:p>
        </p:txBody>
      </p:sp>
      <p:sp>
        <p:nvSpPr>
          <p:cNvPr id="3" name="Espace réservé du contenu 2"/>
          <p:cNvSpPr>
            <a:spLocks noGrp="1"/>
          </p:cNvSpPr>
          <p:nvPr>
            <p:ph idx="1"/>
          </p:nvPr>
        </p:nvSpPr>
        <p:spPr>
          <a:xfrm>
            <a:off x="899592" y="1052736"/>
            <a:ext cx="7920880" cy="5544616"/>
          </a:xfrm>
        </p:spPr>
        <p:txBody>
          <a:bodyPr>
            <a:normAutofit/>
          </a:bodyPr>
          <a:lstStyle/>
          <a:p>
            <a:r>
              <a:rPr lang="fr-FR" sz="2000" b="1" dirty="0" smtClean="0"/>
              <a:t>Introduction </a:t>
            </a:r>
            <a:r>
              <a:rPr lang="fr-FR" sz="2000" b="1" dirty="0"/>
              <a:t>à l'intelligence </a:t>
            </a:r>
            <a:r>
              <a:rPr lang="fr-FR" sz="2000" b="1" dirty="0" smtClean="0"/>
              <a:t>artificielle</a:t>
            </a:r>
          </a:p>
          <a:p>
            <a:pPr lvl="1">
              <a:lnSpc>
                <a:spcPct val="110000"/>
              </a:lnSpc>
              <a:spcBef>
                <a:spcPts val="0"/>
              </a:spcBef>
              <a:buClr>
                <a:schemeClr val="accent2"/>
              </a:buClr>
            </a:pPr>
            <a:r>
              <a:rPr lang="fr-FR" sz="1400" b="1" dirty="0">
                <a:solidFill>
                  <a:srgbClr val="FF0000"/>
                </a:solidFill>
              </a:rPr>
              <a:t>Définition de l'intelligence artificielle</a:t>
            </a:r>
          </a:p>
          <a:p>
            <a:pPr lvl="1">
              <a:lnSpc>
                <a:spcPct val="110000"/>
              </a:lnSpc>
              <a:spcBef>
                <a:spcPts val="0"/>
              </a:spcBef>
              <a:buClr>
                <a:schemeClr val="accent2"/>
              </a:buClr>
            </a:pPr>
            <a:r>
              <a:rPr lang="fr-FR" sz="1400" b="1" dirty="0">
                <a:solidFill>
                  <a:srgbClr val="FF0000"/>
                </a:solidFill>
              </a:rPr>
              <a:t>Exemples d'applications courantes de l'intelligence artificielle</a:t>
            </a:r>
          </a:p>
          <a:p>
            <a:pPr lvl="1">
              <a:lnSpc>
                <a:spcPct val="110000"/>
              </a:lnSpc>
              <a:spcBef>
                <a:spcPts val="0"/>
              </a:spcBef>
              <a:buClr>
                <a:schemeClr val="accent2"/>
              </a:buClr>
            </a:pPr>
            <a:r>
              <a:rPr lang="fr-FR" sz="1400" b="1" dirty="0">
                <a:solidFill>
                  <a:srgbClr val="FF0000"/>
                </a:solidFill>
              </a:rPr>
              <a:t>Importance de l'intelligence artificielle dans le monde moderne</a:t>
            </a:r>
          </a:p>
          <a:p>
            <a:pPr marL="365760" lvl="2" indent="-283464">
              <a:spcBef>
                <a:spcPts val="600"/>
              </a:spcBef>
              <a:buClr>
                <a:schemeClr val="accent1"/>
              </a:buClr>
              <a:buSzPct val="80000"/>
              <a:buFont typeface="Wingdings 2"/>
              <a:buChar char=""/>
            </a:pPr>
            <a:r>
              <a:rPr lang="fr-FR" sz="2000" b="1" dirty="0"/>
              <a:t>II. Techniques de résolution de problèmes</a:t>
            </a:r>
          </a:p>
          <a:p>
            <a:pPr lvl="1">
              <a:lnSpc>
                <a:spcPct val="110000"/>
              </a:lnSpc>
              <a:spcBef>
                <a:spcPts val="0"/>
              </a:spcBef>
              <a:buClr>
                <a:schemeClr val="accent2"/>
              </a:buClr>
            </a:pPr>
            <a:r>
              <a:rPr lang="fr-FR" sz="1400" b="1" dirty="0">
                <a:solidFill>
                  <a:srgbClr val="FF0000"/>
                </a:solidFill>
              </a:rPr>
              <a:t>Introduction aux techniques de résolution de problèmes</a:t>
            </a:r>
          </a:p>
          <a:p>
            <a:pPr lvl="1">
              <a:lnSpc>
                <a:spcPct val="110000"/>
              </a:lnSpc>
              <a:spcBef>
                <a:spcPts val="0"/>
              </a:spcBef>
              <a:buClr>
                <a:schemeClr val="accent2"/>
              </a:buClr>
            </a:pPr>
            <a:r>
              <a:rPr lang="fr-FR" sz="1400" b="1" dirty="0">
                <a:solidFill>
                  <a:srgbClr val="FF0000"/>
                </a:solidFill>
              </a:rPr>
              <a:t> Algorithmes de recherche (aveugle, heuristique)</a:t>
            </a:r>
          </a:p>
          <a:p>
            <a:pPr lvl="1">
              <a:lnSpc>
                <a:spcPct val="110000"/>
              </a:lnSpc>
              <a:spcBef>
                <a:spcPts val="0"/>
              </a:spcBef>
              <a:buClr>
                <a:schemeClr val="accent2"/>
              </a:buClr>
            </a:pPr>
            <a:r>
              <a:rPr lang="fr-FR" sz="1400" b="1" dirty="0">
                <a:solidFill>
                  <a:srgbClr val="FF0000"/>
                </a:solidFill>
              </a:rPr>
              <a:t>Algorithmes des jeux</a:t>
            </a:r>
          </a:p>
          <a:p>
            <a:pPr lvl="1">
              <a:lnSpc>
                <a:spcPct val="110000"/>
              </a:lnSpc>
              <a:spcBef>
                <a:spcPts val="0"/>
              </a:spcBef>
              <a:buClr>
                <a:schemeClr val="accent2"/>
              </a:buClr>
            </a:pPr>
            <a:r>
              <a:rPr lang="fr-FR" sz="1400" b="1" dirty="0">
                <a:solidFill>
                  <a:srgbClr val="FF0000"/>
                </a:solidFill>
              </a:rPr>
              <a:t>Algorithmes </a:t>
            </a:r>
            <a:r>
              <a:rPr lang="fr-FR" sz="1400" b="1" dirty="0" smtClean="0">
                <a:solidFill>
                  <a:srgbClr val="FF0000"/>
                </a:solidFill>
              </a:rPr>
              <a:t>d’optimisation (2TD, 2TP)</a:t>
            </a:r>
            <a:endParaRPr lang="fr-FR" sz="1400" b="1" dirty="0">
              <a:solidFill>
                <a:srgbClr val="FF0000"/>
              </a:solidFill>
            </a:endParaRPr>
          </a:p>
          <a:p>
            <a:pPr marL="365760" lvl="1" indent="-283464">
              <a:spcBef>
                <a:spcPts val="600"/>
              </a:spcBef>
              <a:buSzPct val="80000"/>
              <a:buFont typeface="Wingdings 2"/>
              <a:buChar char=""/>
            </a:pPr>
            <a:r>
              <a:rPr lang="fr-FR" sz="2000" b="1" dirty="0"/>
              <a:t>IA Symbolique </a:t>
            </a:r>
          </a:p>
          <a:p>
            <a:pPr lvl="1">
              <a:spcBef>
                <a:spcPts val="0"/>
              </a:spcBef>
              <a:buClr>
                <a:schemeClr val="accent2"/>
              </a:buClr>
            </a:pPr>
            <a:r>
              <a:rPr lang="fr-FR" sz="1400" b="1" dirty="0">
                <a:solidFill>
                  <a:srgbClr val="FF0000"/>
                </a:solidFill>
              </a:rPr>
              <a:t>Introduction à l'IA symbolique </a:t>
            </a:r>
          </a:p>
          <a:p>
            <a:pPr lvl="1">
              <a:lnSpc>
                <a:spcPct val="110000"/>
              </a:lnSpc>
              <a:spcBef>
                <a:spcPts val="0"/>
              </a:spcBef>
              <a:buClr>
                <a:schemeClr val="accent2"/>
              </a:buClr>
            </a:pPr>
            <a:r>
              <a:rPr lang="fr-FR" sz="1400" b="1" dirty="0">
                <a:solidFill>
                  <a:srgbClr val="FF0000"/>
                </a:solidFill>
              </a:rPr>
              <a:t>Représentation des connaissances </a:t>
            </a:r>
          </a:p>
          <a:p>
            <a:pPr lvl="1">
              <a:lnSpc>
                <a:spcPct val="110000"/>
              </a:lnSpc>
              <a:spcBef>
                <a:spcPts val="0"/>
              </a:spcBef>
              <a:buClr>
                <a:schemeClr val="accent2"/>
              </a:buClr>
            </a:pPr>
            <a:r>
              <a:rPr lang="fr-FR" sz="1400" b="1" dirty="0">
                <a:solidFill>
                  <a:srgbClr val="FF0000"/>
                </a:solidFill>
              </a:rPr>
              <a:t>Raisonnement </a:t>
            </a:r>
            <a:r>
              <a:rPr lang="fr-FR" sz="1400" b="1" dirty="0" smtClean="0">
                <a:solidFill>
                  <a:srgbClr val="FF0000"/>
                </a:solidFill>
              </a:rPr>
              <a:t>logique</a:t>
            </a:r>
          </a:p>
          <a:p>
            <a:pPr lvl="1">
              <a:lnSpc>
                <a:spcPct val="110000"/>
              </a:lnSpc>
              <a:spcBef>
                <a:spcPts val="0"/>
              </a:spcBef>
              <a:buClr>
                <a:schemeClr val="accent2"/>
              </a:buClr>
            </a:pPr>
            <a:r>
              <a:rPr lang="fr-FR" sz="1400" b="1" dirty="0">
                <a:solidFill>
                  <a:srgbClr val="FF0000"/>
                </a:solidFill>
              </a:rPr>
              <a:t>Arbre de </a:t>
            </a:r>
            <a:r>
              <a:rPr lang="fr-FR" sz="1400" b="1" dirty="0" smtClean="0">
                <a:solidFill>
                  <a:srgbClr val="FF0000"/>
                </a:solidFill>
              </a:rPr>
              <a:t>décision </a:t>
            </a:r>
            <a:endParaRPr lang="fr-FR" sz="1400" b="1" dirty="0">
              <a:solidFill>
                <a:srgbClr val="FF0000"/>
              </a:solidFill>
            </a:endParaRPr>
          </a:p>
          <a:p>
            <a:pPr lvl="1">
              <a:lnSpc>
                <a:spcPct val="110000"/>
              </a:lnSpc>
              <a:spcBef>
                <a:spcPts val="0"/>
              </a:spcBef>
              <a:buClr>
                <a:schemeClr val="accent2"/>
              </a:buClr>
            </a:pPr>
            <a:r>
              <a:rPr lang="fr-FR" sz="1400" b="1" dirty="0">
                <a:solidFill>
                  <a:srgbClr val="FF0000"/>
                </a:solidFill>
              </a:rPr>
              <a:t>Logique prédicat ordinaire </a:t>
            </a:r>
          </a:p>
          <a:p>
            <a:pPr lvl="1">
              <a:lnSpc>
                <a:spcPct val="110000"/>
              </a:lnSpc>
              <a:spcBef>
                <a:spcPts val="0"/>
              </a:spcBef>
              <a:buClr>
                <a:schemeClr val="accent2"/>
              </a:buClr>
            </a:pPr>
            <a:r>
              <a:rPr lang="fr-FR" sz="1400" b="1" dirty="0">
                <a:solidFill>
                  <a:srgbClr val="FF0000"/>
                </a:solidFill>
              </a:rPr>
              <a:t>Systèmes multi-agents </a:t>
            </a:r>
          </a:p>
          <a:p>
            <a:pPr lvl="1">
              <a:lnSpc>
                <a:spcPct val="110000"/>
              </a:lnSpc>
              <a:spcBef>
                <a:spcPts val="0"/>
              </a:spcBef>
              <a:buClr>
                <a:schemeClr val="accent2"/>
              </a:buClr>
            </a:pPr>
            <a:r>
              <a:rPr lang="fr-FR" sz="1400" b="1" dirty="0" smtClean="0">
                <a:solidFill>
                  <a:srgbClr val="FF0000"/>
                </a:solidFill>
              </a:rPr>
              <a:t>Systèmes experts (2TD, 2TP)</a:t>
            </a:r>
          </a:p>
          <a:p>
            <a:pPr>
              <a:spcBef>
                <a:spcPts val="0"/>
              </a:spcBef>
            </a:pPr>
            <a:r>
              <a:rPr lang="fr-FR" sz="2000" b="1" dirty="0" smtClean="0"/>
              <a:t>IA </a:t>
            </a:r>
            <a:r>
              <a:rPr lang="fr-FR" sz="2000" b="1" dirty="0"/>
              <a:t>Connexionniste </a:t>
            </a:r>
          </a:p>
          <a:p>
            <a:pPr lvl="1">
              <a:lnSpc>
                <a:spcPct val="120000"/>
              </a:lnSpc>
              <a:spcBef>
                <a:spcPts val="0"/>
              </a:spcBef>
              <a:buClr>
                <a:schemeClr val="accent2"/>
              </a:buClr>
            </a:pPr>
            <a:r>
              <a:rPr lang="fr-FR" sz="1400" b="1" dirty="0" smtClean="0">
                <a:solidFill>
                  <a:srgbClr val="FF0000"/>
                </a:solidFill>
              </a:rPr>
              <a:t>Introduction </a:t>
            </a:r>
            <a:r>
              <a:rPr lang="fr-FR" sz="1400" b="1" dirty="0">
                <a:solidFill>
                  <a:srgbClr val="FF0000"/>
                </a:solidFill>
              </a:rPr>
              <a:t>à l'IA connexionniste </a:t>
            </a:r>
          </a:p>
          <a:p>
            <a:pPr lvl="1">
              <a:lnSpc>
                <a:spcPct val="120000"/>
              </a:lnSpc>
              <a:spcBef>
                <a:spcPts val="0"/>
              </a:spcBef>
              <a:buClr>
                <a:schemeClr val="accent2"/>
              </a:buClr>
            </a:pPr>
            <a:r>
              <a:rPr lang="fr-FR" sz="1400" b="1" dirty="0">
                <a:solidFill>
                  <a:srgbClr val="FF0000"/>
                </a:solidFill>
              </a:rPr>
              <a:t>Le perceptron : concept et fonctionnement </a:t>
            </a:r>
          </a:p>
          <a:p>
            <a:pPr lvl="1">
              <a:lnSpc>
                <a:spcPct val="120000"/>
              </a:lnSpc>
              <a:spcBef>
                <a:spcPts val="0"/>
              </a:spcBef>
              <a:buClr>
                <a:schemeClr val="accent2"/>
              </a:buClr>
            </a:pPr>
            <a:r>
              <a:rPr lang="fr-FR" sz="1400" b="1" dirty="0" smtClean="0">
                <a:solidFill>
                  <a:srgbClr val="FF0000"/>
                </a:solidFill>
              </a:rPr>
              <a:t>Applications </a:t>
            </a:r>
            <a:r>
              <a:rPr lang="fr-FR" sz="1400" b="1" dirty="0">
                <a:solidFill>
                  <a:srgbClr val="FF0000"/>
                </a:solidFill>
              </a:rPr>
              <a:t>du </a:t>
            </a:r>
            <a:r>
              <a:rPr lang="fr-FR" sz="1400" b="1" dirty="0" smtClean="0">
                <a:solidFill>
                  <a:srgbClr val="FF0000"/>
                </a:solidFill>
              </a:rPr>
              <a:t>perceptron </a:t>
            </a:r>
            <a:r>
              <a:rPr lang="fr-FR" sz="1400" b="1" dirty="0">
                <a:solidFill>
                  <a:srgbClr val="FF0000"/>
                </a:solidFill>
              </a:rPr>
              <a:t>(2TD, 2TP)</a:t>
            </a:r>
          </a:p>
          <a:p>
            <a:pPr lvl="1">
              <a:lnSpc>
                <a:spcPct val="120000"/>
              </a:lnSpc>
              <a:spcBef>
                <a:spcPts val="0"/>
              </a:spcBef>
              <a:buClr>
                <a:schemeClr val="accent2"/>
              </a:buClr>
            </a:pPr>
            <a:endParaRPr lang="fr-FR" sz="1400" b="1" dirty="0">
              <a:solidFill>
                <a:srgbClr val="FF0000"/>
              </a:solidFill>
            </a:endParaRPr>
          </a:p>
        </p:txBody>
      </p:sp>
    </p:spTree>
    <p:extLst>
      <p:ext uri="{BB962C8B-B14F-4D97-AF65-F5344CB8AC3E}">
        <p14:creationId xmlns:p14="http://schemas.microsoft.com/office/powerpoint/2010/main" val="27563699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116632"/>
            <a:ext cx="7498080" cy="648072"/>
          </a:xfrm>
        </p:spPr>
        <p:txBody>
          <a:bodyPr>
            <a:normAutofit fontScale="90000"/>
          </a:bodyPr>
          <a:lstStyle/>
          <a:p>
            <a:r>
              <a:rPr lang="fr-FR" dirty="0" smtClean="0"/>
              <a:t>Sommaire </a:t>
            </a:r>
            <a:r>
              <a:rPr lang="fr-FR" sz="3100" dirty="0" smtClean="0"/>
              <a:t>(ce que vous allez voir)</a:t>
            </a:r>
            <a:endParaRPr lang="fr-FR" sz="3100" dirty="0"/>
          </a:p>
        </p:txBody>
      </p:sp>
      <p:sp>
        <p:nvSpPr>
          <p:cNvPr id="3" name="Espace réservé du contenu 2"/>
          <p:cNvSpPr>
            <a:spLocks noGrp="1"/>
          </p:cNvSpPr>
          <p:nvPr>
            <p:ph idx="1"/>
          </p:nvPr>
        </p:nvSpPr>
        <p:spPr>
          <a:xfrm>
            <a:off x="1331640" y="908720"/>
            <a:ext cx="7498080" cy="5544616"/>
          </a:xfrm>
        </p:spPr>
        <p:txBody>
          <a:bodyPr>
            <a:normAutofit fontScale="85000" lnSpcReduction="20000"/>
          </a:bodyPr>
          <a:lstStyle/>
          <a:p>
            <a:r>
              <a:rPr lang="fr-FR" sz="2200" b="1" dirty="0"/>
              <a:t>Apprentissage automatique</a:t>
            </a:r>
          </a:p>
          <a:p>
            <a:pPr lvl="1">
              <a:lnSpc>
                <a:spcPct val="130000"/>
              </a:lnSpc>
              <a:spcBef>
                <a:spcPts val="0"/>
              </a:spcBef>
              <a:buClr>
                <a:schemeClr val="accent2"/>
              </a:buClr>
            </a:pPr>
            <a:r>
              <a:rPr lang="fr-FR" sz="1600" b="1" dirty="0">
                <a:solidFill>
                  <a:srgbClr val="FF0000"/>
                </a:solidFill>
              </a:rPr>
              <a:t>Introduction à l'apprentissage automatique</a:t>
            </a:r>
          </a:p>
          <a:p>
            <a:pPr lvl="1">
              <a:lnSpc>
                <a:spcPct val="130000"/>
              </a:lnSpc>
              <a:spcBef>
                <a:spcPts val="0"/>
              </a:spcBef>
              <a:buClr>
                <a:schemeClr val="accent2"/>
              </a:buClr>
            </a:pPr>
            <a:r>
              <a:rPr lang="fr-FR" sz="1600" b="1" dirty="0">
                <a:solidFill>
                  <a:srgbClr val="FF0000"/>
                </a:solidFill>
              </a:rPr>
              <a:t>Différences entre l'apprentissage supervisé et non supervisé</a:t>
            </a:r>
          </a:p>
          <a:p>
            <a:pPr lvl="1">
              <a:lnSpc>
                <a:spcPct val="130000"/>
              </a:lnSpc>
              <a:spcBef>
                <a:spcPts val="0"/>
              </a:spcBef>
              <a:buClr>
                <a:schemeClr val="accent2"/>
              </a:buClr>
            </a:pPr>
            <a:r>
              <a:rPr lang="fr-FR" sz="1600" b="1" dirty="0">
                <a:solidFill>
                  <a:srgbClr val="FF0000"/>
                </a:solidFill>
              </a:rPr>
              <a:t>Concepts de base : ensembles d'entraînement, fonction de coût, et optimisation</a:t>
            </a:r>
          </a:p>
          <a:p>
            <a:endParaRPr lang="fr-FR" sz="1400" b="1" dirty="0">
              <a:solidFill>
                <a:srgbClr val="FF0000"/>
              </a:solidFill>
            </a:endParaRPr>
          </a:p>
          <a:p>
            <a:r>
              <a:rPr lang="fr-FR" sz="2200" b="1" dirty="0"/>
              <a:t>Algorithmes d'apprentissage supervisé</a:t>
            </a:r>
          </a:p>
          <a:p>
            <a:pPr lvl="1">
              <a:lnSpc>
                <a:spcPct val="130000"/>
              </a:lnSpc>
              <a:spcBef>
                <a:spcPts val="0"/>
              </a:spcBef>
              <a:buClr>
                <a:schemeClr val="accent2"/>
              </a:buClr>
            </a:pPr>
            <a:r>
              <a:rPr lang="fr-FR" sz="1600" b="1" dirty="0">
                <a:solidFill>
                  <a:srgbClr val="FF0000"/>
                </a:solidFill>
              </a:rPr>
              <a:t>Régression linéaire</a:t>
            </a:r>
          </a:p>
          <a:p>
            <a:pPr lvl="1">
              <a:lnSpc>
                <a:spcPct val="130000"/>
              </a:lnSpc>
              <a:spcBef>
                <a:spcPts val="0"/>
              </a:spcBef>
              <a:buClr>
                <a:schemeClr val="accent2"/>
              </a:buClr>
            </a:pPr>
            <a:r>
              <a:rPr lang="fr-FR" sz="1600" b="1" dirty="0">
                <a:solidFill>
                  <a:srgbClr val="FF0000"/>
                </a:solidFill>
              </a:rPr>
              <a:t>Classification : k-plus proches voisins, arbres de décision</a:t>
            </a:r>
          </a:p>
          <a:p>
            <a:pPr lvl="1">
              <a:lnSpc>
                <a:spcPct val="130000"/>
              </a:lnSpc>
              <a:spcBef>
                <a:spcPts val="0"/>
              </a:spcBef>
              <a:buClr>
                <a:schemeClr val="accent2"/>
              </a:buClr>
            </a:pPr>
            <a:r>
              <a:rPr lang="fr-FR" sz="1600" b="1" dirty="0">
                <a:solidFill>
                  <a:srgbClr val="FF0000"/>
                </a:solidFill>
              </a:rPr>
              <a:t>Évaluation des modèles</a:t>
            </a:r>
          </a:p>
          <a:p>
            <a:endParaRPr lang="fr-FR" sz="1400" b="1" dirty="0">
              <a:solidFill>
                <a:srgbClr val="FF0000"/>
              </a:solidFill>
            </a:endParaRPr>
          </a:p>
          <a:p>
            <a:r>
              <a:rPr lang="fr-FR" sz="2500" b="1" dirty="0" smtClean="0"/>
              <a:t> </a:t>
            </a:r>
            <a:r>
              <a:rPr lang="fr-FR" sz="2200" b="1" dirty="0"/>
              <a:t>Algorithmes d'apprentissage non supervisé</a:t>
            </a:r>
          </a:p>
          <a:p>
            <a:pPr lvl="1">
              <a:lnSpc>
                <a:spcPct val="130000"/>
              </a:lnSpc>
              <a:spcBef>
                <a:spcPts val="0"/>
              </a:spcBef>
              <a:buClr>
                <a:schemeClr val="accent2"/>
              </a:buClr>
            </a:pPr>
            <a:r>
              <a:rPr lang="fr-FR" sz="1600" b="1" dirty="0" err="1">
                <a:solidFill>
                  <a:srgbClr val="FF0000"/>
                </a:solidFill>
              </a:rPr>
              <a:t>Clustering</a:t>
            </a:r>
            <a:r>
              <a:rPr lang="fr-FR" sz="1600" b="1" dirty="0">
                <a:solidFill>
                  <a:srgbClr val="FF0000"/>
                </a:solidFill>
              </a:rPr>
              <a:t> : k-</a:t>
            </a:r>
            <a:r>
              <a:rPr lang="fr-FR" sz="1600" b="1" dirty="0" err="1">
                <a:solidFill>
                  <a:srgbClr val="FF0000"/>
                </a:solidFill>
              </a:rPr>
              <a:t>means</a:t>
            </a:r>
            <a:r>
              <a:rPr lang="fr-FR" sz="1600" b="1" dirty="0">
                <a:solidFill>
                  <a:srgbClr val="FF0000"/>
                </a:solidFill>
              </a:rPr>
              <a:t>,  </a:t>
            </a:r>
            <a:r>
              <a:rPr lang="fr-FR" sz="1600" b="1" dirty="0" err="1">
                <a:solidFill>
                  <a:srgbClr val="FF0000"/>
                </a:solidFill>
              </a:rPr>
              <a:t>clustering</a:t>
            </a:r>
            <a:r>
              <a:rPr lang="fr-FR" sz="1600" b="1" dirty="0">
                <a:solidFill>
                  <a:srgbClr val="FF0000"/>
                </a:solidFill>
              </a:rPr>
              <a:t> hiérarchique</a:t>
            </a:r>
          </a:p>
          <a:p>
            <a:pPr lvl="1">
              <a:lnSpc>
                <a:spcPct val="130000"/>
              </a:lnSpc>
              <a:spcBef>
                <a:spcPts val="0"/>
              </a:spcBef>
              <a:buClr>
                <a:schemeClr val="accent2"/>
              </a:buClr>
            </a:pPr>
            <a:r>
              <a:rPr lang="fr-FR" sz="1600" b="1" dirty="0">
                <a:solidFill>
                  <a:srgbClr val="FF0000"/>
                </a:solidFill>
              </a:rPr>
              <a:t>Réduction de la dimensionnalité : Analyse en composantes principales (ACP)</a:t>
            </a:r>
          </a:p>
          <a:p>
            <a:pPr lvl="1">
              <a:lnSpc>
                <a:spcPct val="130000"/>
              </a:lnSpc>
              <a:spcBef>
                <a:spcPts val="0"/>
              </a:spcBef>
              <a:buClr>
                <a:schemeClr val="accent2"/>
              </a:buClr>
            </a:pPr>
            <a:r>
              <a:rPr lang="fr-FR" sz="1600" b="1" dirty="0">
                <a:solidFill>
                  <a:srgbClr val="FF0000"/>
                </a:solidFill>
              </a:rPr>
              <a:t>Applications simples</a:t>
            </a:r>
          </a:p>
          <a:p>
            <a:r>
              <a:rPr lang="fr-FR" sz="2500" b="1" dirty="0"/>
              <a:t>Apprentissage par </a:t>
            </a:r>
            <a:r>
              <a:rPr lang="fr-FR" sz="2500" b="1" dirty="0" smtClean="0"/>
              <a:t>renforcement</a:t>
            </a:r>
          </a:p>
          <a:p>
            <a:pPr lvl="1">
              <a:lnSpc>
                <a:spcPct val="130000"/>
              </a:lnSpc>
              <a:spcBef>
                <a:spcPts val="0"/>
              </a:spcBef>
              <a:buClr>
                <a:schemeClr val="accent2"/>
              </a:buClr>
            </a:pPr>
            <a:r>
              <a:rPr lang="fr-FR" sz="1600" b="1" dirty="0">
                <a:solidFill>
                  <a:srgbClr val="FF0000"/>
                </a:solidFill>
              </a:rPr>
              <a:t>Définition et principes de base 2</a:t>
            </a:r>
          </a:p>
          <a:p>
            <a:pPr lvl="1">
              <a:lnSpc>
                <a:spcPct val="130000"/>
              </a:lnSpc>
              <a:spcBef>
                <a:spcPts val="0"/>
              </a:spcBef>
              <a:buClr>
                <a:schemeClr val="accent2"/>
              </a:buClr>
            </a:pPr>
            <a:r>
              <a:rPr lang="fr-FR" sz="1600" b="1" dirty="0">
                <a:solidFill>
                  <a:srgbClr val="FF0000"/>
                </a:solidFill>
              </a:rPr>
              <a:t>Algorithmes d'apprentissage par renforcement : </a:t>
            </a:r>
            <a:r>
              <a:rPr lang="fr-FR" sz="1600" b="1" dirty="0" err="1">
                <a:solidFill>
                  <a:srgbClr val="FF0000"/>
                </a:solidFill>
              </a:rPr>
              <a:t>Q-learning</a:t>
            </a:r>
            <a:endParaRPr lang="fr-FR" sz="1600" b="1" dirty="0">
              <a:solidFill>
                <a:srgbClr val="FF0000"/>
              </a:solidFill>
            </a:endParaRPr>
          </a:p>
          <a:p>
            <a:r>
              <a:rPr lang="fr-FR" sz="2200" b="1" dirty="0" smtClean="0"/>
              <a:t>Applications </a:t>
            </a:r>
            <a:r>
              <a:rPr lang="fr-FR" sz="2200" b="1" dirty="0"/>
              <a:t>de l'intelligence artificielle</a:t>
            </a:r>
          </a:p>
          <a:p>
            <a:pPr lvl="1">
              <a:lnSpc>
                <a:spcPct val="130000"/>
              </a:lnSpc>
              <a:spcBef>
                <a:spcPts val="0"/>
              </a:spcBef>
              <a:buClr>
                <a:schemeClr val="accent2"/>
              </a:buClr>
            </a:pPr>
            <a:r>
              <a:rPr lang="fr-FR" sz="1600" b="1" dirty="0">
                <a:solidFill>
                  <a:srgbClr val="FF0000"/>
                </a:solidFill>
              </a:rPr>
              <a:t>Traitement du langage naturel (NLP) :  modèles de langage  (</a:t>
            </a:r>
            <a:r>
              <a:rPr lang="fr-FR" sz="1600" b="1" dirty="0" err="1">
                <a:solidFill>
                  <a:srgbClr val="FF0000"/>
                </a:solidFill>
              </a:rPr>
              <a:t>chatgpt</a:t>
            </a:r>
            <a:r>
              <a:rPr lang="fr-FR" sz="1600" b="1" dirty="0">
                <a:solidFill>
                  <a:srgbClr val="FF0000"/>
                </a:solidFill>
              </a:rPr>
              <a:t>)</a:t>
            </a:r>
          </a:p>
          <a:p>
            <a:pPr lvl="1">
              <a:lnSpc>
                <a:spcPct val="130000"/>
              </a:lnSpc>
              <a:spcBef>
                <a:spcPts val="0"/>
              </a:spcBef>
              <a:buClr>
                <a:schemeClr val="accent2"/>
              </a:buClr>
            </a:pPr>
            <a:r>
              <a:rPr lang="fr-FR" sz="1600" b="1" dirty="0">
                <a:solidFill>
                  <a:srgbClr val="FF0000"/>
                </a:solidFill>
              </a:rPr>
              <a:t>Vision par ordinateur</a:t>
            </a:r>
          </a:p>
          <a:p>
            <a:pPr lvl="1">
              <a:lnSpc>
                <a:spcPct val="130000"/>
              </a:lnSpc>
              <a:spcBef>
                <a:spcPts val="0"/>
              </a:spcBef>
              <a:buClr>
                <a:schemeClr val="accent2"/>
              </a:buClr>
            </a:pPr>
            <a:r>
              <a:rPr lang="fr-FR" sz="1600" b="1" dirty="0">
                <a:solidFill>
                  <a:srgbClr val="FF0000"/>
                </a:solidFill>
              </a:rPr>
              <a:t>Systèmes de recommandation</a:t>
            </a:r>
          </a:p>
          <a:p>
            <a:pPr lvl="1"/>
            <a:endParaRPr lang="fr-FR" sz="1600" b="1" dirty="0">
              <a:solidFill>
                <a:srgbClr val="FF0000"/>
              </a:solidFill>
            </a:endParaRPr>
          </a:p>
        </p:txBody>
      </p:sp>
    </p:spTree>
    <p:extLst>
      <p:ext uri="{BB962C8B-B14F-4D97-AF65-F5344CB8AC3E}">
        <p14:creationId xmlns:p14="http://schemas.microsoft.com/office/powerpoint/2010/main" val="10097245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259632" y="2348880"/>
            <a:ext cx="7498080" cy="792088"/>
          </a:xfrm>
        </p:spPr>
        <p:txBody>
          <a:bodyPr>
            <a:normAutofit fontScale="90000"/>
          </a:bodyPr>
          <a:lstStyle/>
          <a:p>
            <a:pPr algn="ctr"/>
            <a:r>
              <a:rPr lang="fr-FR" dirty="0"/>
              <a:t>Introduction </a:t>
            </a:r>
            <a:r>
              <a:rPr lang="fr-FR" dirty="0" smtClean="0"/>
              <a:t>Intelligence Artificielle</a:t>
            </a:r>
            <a:endParaRPr lang="fr-FR" dirty="0"/>
          </a:p>
        </p:txBody>
      </p:sp>
    </p:spTree>
    <p:extLst>
      <p:ext uri="{BB962C8B-B14F-4D97-AF65-F5344CB8AC3E}">
        <p14:creationId xmlns:p14="http://schemas.microsoft.com/office/powerpoint/2010/main" val="29420594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259632" y="692696"/>
            <a:ext cx="7705551" cy="4370427"/>
          </a:xfrm>
          <a:prstGeom prst="rect">
            <a:avLst/>
          </a:prstGeom>
          <a:noFill/>
          <a:ln w="9525">
            <a:noFill/>
            <a:miter lim="800000"/>
            <a:headEnd/>
            <a:tailEnd/>
          </a:ln>
          <a:effectLst/>
        </p:spPr>
        <p:txBody>
          <a:bodyPr wrap="square">
            <a:spAutoFit/>
          </a:bodyPr>
          <a:lstStyle/>
          <a:p>
            <a:r>
              <a:rPr lang="fr-FR" dirty="0"/>
              <a:t>			</a:t>
            </a:r>
          </a:p>
          <a:p>
            <a:r>
              <a:rPr lang="fr-FR" sz="3200" b="1" dirty="0"/>
              <a:t>Plan </a:t>
            </a:r>
            <a:r>
              <a:rPr lang="fr-FR" sz="3200" dirty="0"/>
              <a:t> </a:t>
            </a:r>
          </a:p>
          <a:p>
            <a:endParaRPr lang="fr-FR" sz="3200" dirty="0"/>
          </a:p>
          <a:p>
            <a:pPr marL="457200" indent="-457200">
              <a:buFont typeface="Arial" panose="020B0604020202020204" pitchFamily="34" charset="0"/>
              <a:buChar char="•"/>
            </a:pPr>
            <a:r>
              <a:rPr lang="fr-FR" sz="2800" dirty="0"/>
              <a:t>Qu’est est-ce que l’IA </a:t>
            </a:r>
            <a:r>
              <a:rPr lang="fr-FR" sz="2800" dirty="0" smtClean="0"/>
              <a:t>?</a:t>
            </a:r>
          </a:p>
          <a:p>
            <a:r>
              <a:rPr lang="fr-FR" sz="2800" dirty="0" smtClean="0"/>
              <a:t> </a:t>
            </a:r>
            <a:endParaRPr lang="fr-FR" sz="2800" dirty="0"/>
          </a:p>
          <a:p>
            <a:pPr marL="457200" indent="-457200">
              <a:buFont typeface="Arial" panose="020B0604020202020204" pitchFamily="34" charset="0"/>
              <a:buChar char="•"/>
            </a:pPr>
            <a:r>
              <a:rPr lang="fr-FR" sz="2800" dirty="0"/>
              <a:t>Histoire de l’IA </a:t>
            </a:r>
          </a:p>
          <a:p>
            <a:endParaRPr lang="fr-FR" sz="2800" dirty="0"/>
          </a:p>
          <a:p>
            <a:pPr marL="457200" indent="-457200">
              <a:buFont typeface="Arial" panose="020B0604020202020204" pitchFamily="34" charset="0"/>
              <a:buChar char="•"/>
            </a:pPr>
            <a:r>
              <a:rPr lang="fr-FR" sz="2800" dirty="0"/>
              <a:t>Ecoles de L’IA </a:t>
            </a:r>
          </a:p>
          <a:p>
            <a:endParaRPr lang="fr-FR" sz="2800" dirty="0"/>
          </a:p>
          <a:p>
            <a:pPr marL="457200" indent="-457200">
              <a:buFont typeface="Arial" panose="020B0604020202020204" pitchFamily="34" charset="0"/>
              <a:buChar char="•"/>
            </a:pPr>
            <a:r>
              <a:rPr lang="fr-CA" sz="2800" dirty="0" smtClean="0"/>
              <a:t>Exemples </a:t>
            </a:r>
            <a:r>
              <a:rPr lang="fr-CA" sz="2800" dirty="0"/>
              <a:t>de l’IA</a:t>
            </a:r>
            <a:endParaRPr lang="fr-FR" sz="2800" dirty="0"/>
          </a:p>
        </p:txBody>
      </p:sp>
    </p:spTree>
    <p:extLst>
      <p:ext uri="{BB962C8B-B14F-4D97-AF65-F5344CB8AC3E}">
        <p14:creationId xmlns:p14="http://schemas.microsoft.com/office/powerpoint/2010/main" val="3960982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259632" y="692696"/>
            <a:ext cx="7705551" cy="4370427"/>
          </a:xfrm>
          <a:prstGeom prst="rect">
            <a:avLst/>
          </a:prstGeom>
          <a:noFill/>
          <a:ln w="9525">
            <a:noFill/>
            <a:miter lim="800000"/>
            <a:headEnd/>
            <a:tailEnd/>
          </a:ln>
          <a:effectLst/>
        </p:spPr>
        <p:txBody>
          <a:bodyPr wrap="square">
            <a:spAutoFit/>
          </a:bodyPr>
          <a:lstStyle/>
          <a:p>
            <a:r>
              <a:rPr lang="fr-FR" dirty="0"/>
              <a:t>			</a:t>
            </a:r>
          </a:p>
          <a:p>
            <a:r>
              <a:rPr lang="fr-FR" sz="3200" b="1" dirty="0"/>
              <a:t>Plan </a:t>
            </a:r>
            <a:r>
              <a:rPr lang="fr-FR" sz="3200" dirty="0"/>
              <a:t> </a:t>
            </a:r>
          </a:p>
          <a:p>
            <a:endParaRPr lang="fr-FR" sz="3200" dirty="0"/>
          </a:p>
          <a:p>
            <a:pPr marL="457200" indent="-457200">
              <a:buFont typeface="Arial" panose="020B0604020202020204" pitchFamily="34" charset="0"/>
              <a:buChar char="•"/>
            </a:pPr>
            <a:r>
              <a:rPr lang="fr-FR" sz="2800" dirty="0"/>
              <a:t>Qu’est est-ce que l’IA </a:t>
            </a:r>
            <a:r>
              <a:rPr lang="fr-FR" sz="2800" dirty="0" smtClean="0"/>
              <a:t>?</a:t>
            </a:r>
          </a:p>
          <a:p>
            <a:r>
              <a:rPr lang="fr-FR" sz="2800" dirty="0" smtClean="0"/>
              <a:t> </a:t>
            </a:r>
            <a:endParaRPr lang="fr-FR" sz="2800" dirty="0"/>
          </a:p>
          <a:p>
            <a:pPr marL="457200" indent="-457200">
              <a:buFont typeface="Arial" panose="020B0604020202020204" pitchFamily="34" charset="0"/>
              <a:buChar char="•"/>
            </a:pPr>
            <a:r>
              <a:rPr lang="fr-FR" sz="2800" dirty="0">
                <a:solidFill>
                  <a:schemeClr val="bg1">
                    <a:lumMod val="85000"/>
                  </a:schemeClr>
                </a:solidFill>
              </a:rPr>
              <a:t>Histoire de l’IA </a:t>
            </a:r>
          </a:p>
          <a:p>
            <a:endParaRPr lang="fr-FR" sz="2800" dirty="0">
              <a:solidFill>
                <a:schemeClr val="bg1">
                  <a:lumMod val="85000"/>
                </a:schemeClr>
              </a:solidFill>
            </a:endParaRPr>
          </a:p>
          <a:p>
            <a:pPr marL="457200" indent="-457200">
              <a:buFont typeface="Arial" panose="020B0604020202020204" pitchFamily="34" charset="0"/>
              <a:buChar char="•"/>
            </a:pPr>
            <a:r>
              <a:rPr lang="fr-FR" sz="2800" dirty="0">
                <a:solidFill>
                  <a:schemeClr val="bg1">
                    <a:lumMod val="85000"/>
                  </a:schemeClr>
                </a:solidFill>
              </a:rPr>
              <a:t>Ecoles de L’IA </a:t>
            </a:r>
          </a:p>
          <a:p>
            <a:endParaRPr lang="fr-FR" sz="2800" dirty="0">
              <a:solidFill>
                <a:schemeClr val="bg1">
                  <a:lumMod val="85000"/>
                </a:schemeClr>
              </a:solidFill>
            </a:endParaRPr>
          </a:p>
          <a:p>
            <a:pPr marL="457200" indent="-457200">
              <a:buFont typeface="Arial" panose="020B0604020202020204" pitchFamily="34" charset="0"/>
              <a:buChar char="•"/>
            </a:pPr>
            <a:r>
              <a:rPr lang="fr-CA" sz="2800" dirty="0" smtClean="0">
                <a:solidFill>
                  <a:schemeClr val="bg1">
                    <a:lumMod val="85000"/>
                  </a:schemeClr>
                </a:solidFill>
              </a:rPr>
              <a:t>Exemples </a:t>
            </a:r>
            <a:r>
              <a:rPr lang="fr-CA" sz="2800" dirty="0">
                <a:solidFill>
                  <a:schemeClr val="bg1">
                    <a:lumMod val="85000"/>
                  </a:schemeClr>
                </a:solidFill>
              </a:rPr>
              <a:t>de l’IA</a:t>
            </a:r>
            <a:endParaRPr lang="fr-FR" sz="2800" dirty="0">
              <a:solidFill>
                <a:schemeClr val="bg1">
                  <a:lumMod val="85000"/>
                </a:schemeClr>
              </a:solidFill>
            </a:endParaRPr>
          </a:p>
        </p:txBody>
      </p:sp>
    </p:spTree>
    <p:extLst>
      <p:ext uri="{BB962C8B-B14F-4D97-AF65-F5344CB8AC3E}">
        <p14:creationId xmlns:p14="http://schemas.microsoft.com/office/powerpoint/2010/main" val="1899077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400" dirty="0" smtClean="0"/>
              <a:t>Définition et objectif </a:t>
            </a:r>
            <a:endParaRPr lang="fr-FR" dirty="0"/>
          </a:p>
        </p:txBody>
      </p:sp>
      <p:sp>
        <p:nvSpPr>
          <p:cNvPr id="3" name="ZoneTexte 2"/>
          <p:cNvSpPr txBox="1"/>
          <p:nvPr/>
        </p:nvSpPr>
        <p:spPr>
          <a:xfrm>
            <a:off x="1475656" y="1628800"/>
            <a:ext cx="6480720" cy="4231928"/>
          </a:xfrm>
          <a:prstGeom prst="rect">
            <a:avLst/>
          </a:prstGeom>
          <a:noFill/>
        </p:spPr>
        <p:txBody>
          <a:bodyPr wrap="square" rtlCol="0">
            <a:spAutoFit/>
          </a:bodyPr>
          <a:lstStyle/>
          <a:p>
            <a:pPr>
              <a:spcBef>
                <a:spcPts val="600"/>
              </a:spcBef>
              <a:spcAft>
                <a:spcPts val="600"/>
              </a:spcAft>
            </a:pPr>
            <a:r>
              <a:rPr lang="fr-FR" sz="2400" b="1" dirty="0">
                <a:solidFill>
                  <a:srgbClr val="C00000"/>
                </a:solidFill>
              </a:rPr>
              <a:t>Définition :</a:t>
            </a:r>
          </a:p>
          <a:p>
            <a:pPr>
              <a:spcBef>
                <a:spcPts val="600"/>
              </a:spcBef>
              <a:spcAft>
                <a:spcPts val="600"/>
              </a:spcAft>
            </a:pPr>
            <a:r>
              <a:rPr lang="fr-FR" sz="2400" dirty="0"/>
              <a:t>L'Intelligence Artificielle (IA) est une branche de l'informatique qui vise à créer des systèmes informatiques capables de simuler l'intelligence humaine</a:t>
            </a:r>
            <a:r>
              <a:rPr lang="fr-FR" sz="2000" dirty="0"/>
              <a:t>.</a:t>
            </a:r>
          </a:p>
          <a:p>
            <a:pPr>
              <a:spcBef>
                <a:spcPts val="600"/>
              </a:spcBef>
              <a:spcAft>
                <a:spcPts val="600"/>
              </a:spcAft>
            </a:pPr>
            <a:r>
              <a:rPr lang="fr-FR" sz="2400" b="1" dirty="0">
                <a:solidFill>
                  <a:srgbClr val="C00000"/>
                </a:solidFill>
              </a:rPr>
              <a:t>Objectif :</a:t>
            </a:r>
          </a:p>
          <a:p>
            <a:pPr>
              <a:spcBef>
                <a:spcPts val="600"/>
              </a:spcBef>
              <a:spcAft>
                <a:spcPts val="600"/>
              </a:spcAft>
            </a:pPr>
            <a:r>
              <a:rPr lang="fr-FR" sz="2400" dirty="0"/>
              <a:t>L'IA permet aux machines d'apprendre, de raisonner, de percevoir, de comprendre le langage naturel et de prendre des décisions autonomes.</a:t>
            </a:r>
          </a:p>
          <a:p>
            <a:endParaRPr lang="fr-FR" dirty="0"/>
          </a:p>
        </p:txBody>
      </p:sp>
    </p:spTree>
    <p:extLst>
      <p:ext uri="{BB962C8B-B14F-4D97-AF65-F5344CB8AC3E}">
        <p14:creationId xmlns:p14="http://schemas.microsoft.com/office/powerpoint/2010/main" val="1172404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90D88BE-04D5-4B19-B815-7AC2FDE71292}"/>
              </a:ext>
            </a:extLst>
          </p:cNvPr>
          <p:cNvSpPr/>
          <p:nvPr/>
        </p:nvSpPr>
        <p:spPr>
          <a:xfrm>
            <a:off x="36145" y="4509120"/>
            <a:ext cx="9144000" cy="2246769"/>
          </a:xfrm>
          <a:prstGeom prst="rect">
            <a:avLst/>
          </a:prstGeom>
        </p:spPr>
        <p:txBody>
          <a:bodyPr wrap="square">
            <a:spAutoFit/>
          </a:bodyPr>
          <a:lstStyle/>
          <a:p>
            <a:endParaRPr lang="fr-FR" b="1" dirty="0"/>
          </a:p>
          <a:p>
            <a:r>
              <a:rPr lang="fr-FR" b="1" dirty="0"/>
              <a:t>L’IDEE IA : BIEN AVANT A. TURING</a:t>
            </a:r>
          </a:p>
          <a:p>
            <a:r>
              <a:rPr lang="fr-FR" b="1" dirty="0"/>
              <a:t>-PHILOSOPHIE:   PENSEE N’EST QUE DU CALCUL ? (</a:t>
            </a:r>
            <a:r>
              <a:rPr lang="fr-FR" dirty="0"/>
              <a:t>Thomas Hobbes:1655, Leibniz,.. </a:t>
            </a:r>
            <a:r>
              <a:rPr lang="fr-FR" dirty="0" err="1"/>
              <a:t>Decartes</a:t>
            </a:r>
            <a:r>
              <a:rPr lang="fr-FR" dirty="0"/>
              <a:t>, ..</a:t>
            </a:r>
            <a:r>
              <a:rPr lang="fr-FR" b="1" dirty="0"/>
              <a:t>)</a:t>
            </a:r>
          </a:p>
          <a:p>
            <a:r>
              <a:rPr lang="fr-FR" sz="1600" b="1" dirty="0"/>
              <a:t>-CALCUL : PASCAL</a:t>
            </a:r>
            <a:endParaRPr lang="fr-FR" sz="1600" dirty="0">
              <a:hlinkClick r:id="rId2"/>
            </a:endParaRPr>
          </a:p>
          <a:p>
            <a:r>
              <a:rPr lang="fr-FR" sz="1600" dirty="0">
                <a:hlinkClick r:id="rId2"/>
              </a:rPr>
              <a:t>https://fr.wikipedia.org/wiki/Thomas_Hobbes</a:t>
            </a:r>
            <a:endParaRPr lang="fr-FR" sz="1600" b="1" dirty="0"/>
          </a:p>
          <a:p>
            <a:r>
              <a:rPr lang="fr-FR" b="1" dirty="0"/>
              <a:t>19ème : </a:t>
            </a:r>
            <a:r>
              <a:rPr lang="fr-FR" dirty="0"/>
              <a:t>un  logicien économiste Britannique (</a:t>
            </a:r>
            <a:r>
              <a:rPr lang="fr-FR" dirty="0" err="1"/>
              <a:t>stanely</a:t>
            </a:r>
            <a:r>
              <a:rPr lang="fr-FR" dirty="0"/>
              <a:t> Jevons)  :  avec l’algèbre de Boole  réalise une machine qui fait du raisonnement !! </a:t>
            </a:r>
            <a:r>
              <a:rPr lang="fr-FR" sz="1600" dirty="0">
                <a:hlinkClick r:id="rId3"/>
              </a:rPr>
              <a:t>https://fr.wikipedia.org/wiki/William_Stanley_Jevons</a:t>
            </a:r>
            <a:r>
              <a:rPr lang="fr-FR" sz="1600" dirty="0"/>
              <a:t> </a:t>
            </a:r>
            <a:endParaRPr lang="fr-FR" dirty="0"/>
          </a:p>
        </p:txBody>
      </p:sp>
      <p:pic>
        <p:nvPicPr>
          <p:cNvPr id="3" name="Picture 2">
            <a:extLst>
              <a:ext uri="{FF2B5EF4-FFF2-40B4-BE49-F238E27FC236}">
                <a16:creationId xmlns:a16="http://schemas.microsoft.com/office/drawing/2014/main" xmlns="" id="{1E427D0D-D848-4546-8508-CF02EAFEFEDC}"/>
              </a:ext>
            </a:extLst>
          </p:cNvPr>
          <p:cNvPicPr>
            <a:picLocks noChangeAspect="1"/>
          </p:cNvPicPr>
          <p:nvPr/>
        </p:nvPicPr>
        <p:blipFill>
          <a:blip r:embed="rId4"/>
          <a:stretch>
            <a:fillRect/>
          </a:stretch>
        </p:blipFill>
        <p:spPr>
          <a:xfrm>
            <a:off x="1121077" y="741477"/>
            <a:ext cx="5179116" cy="3839651"/>
          </a:xfrm>
          <a:prstGeom prst="rect">
            <a:avLst/>
          </a:prstGeom>
        </p:spPr>
      </p:pic>
      <p:sp>
        <p:nvSpPr>
          <p:cNvPr id="4" name="Rectangle 3">
            <a:extLst>
              <a:ext uri="{FF2B5EF4-FFF2-40B4-BE49-F238E27FC236}">
                <a16:creationId xmlns:a16="http://schemas.microsoft.com/office/drawing/2014/main" xmlns="" id="{37C825E3-EB3A-495B-83A6-59DE8DCF293F}"/>
              </a:ext>
            </a:extLst>
          </p:cNvPr>
          <p:cNvSpPr/>
          <p:nvPr/>
        </p:nvSpPr>
        <p:spPr>
          <a:xfrm>
            <a:off x="0" y="-243408"/>
            <a:ext cx="8820472" cy="984885"/>
          </a:xfrm>
          <a:prstGeom prst="rect">
            <a:avLst/>
          </a:prstGeom>
        </p:spPr>
        <p:txBody>
          <a:bodyPr wrap="square">
            <a:spAutoFit/>
          </a:bodyPr>
          <a:lstStyle/>
          <a:p>
            <a:endParaRPr lang="fr-FR" b="1" dirty="0"/>
          </a:p>
          <a:p>
            <a:r>
              <a:rPr lang="fr-FR" sz="4000" dirty="0" smtClean="0">
                <a:solidFill>
                  <a:schemeClr val="tx2">
                    <a:satMod val="130000"/>
                  </a:schemeClr>
                </a:solidFill>
                <a:effectLst>
                  <a:outerShdw blurRad="50000" dist="30000" dir="5400000" algn="tl" rotWithShape="0">
                    <a:srgbClr val="000000">
                      <a:alpha val="30000"/>
                    </a:srgbClr>
                  </a:outerShdw>
                </a:effectLst>
                <a:latin typeface="+mj-lt"/>
                <a:ea typeface="+mj-ea"/>
                <a:cs typeface="+mj-cs"/>
              </a:rPr>
              <a:t>IA  vient elle avec ALAN TURING ??</a:t>
            </a:r>
            <a:endParaRPr lang="fr-FR" sz="4000"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p:txBody>
      </p:sp>
      <p:sp>
        <p:nvSpPr>
          <p:cNvPr id="5" name="Rectangle 4">
            <a:extLst>
              <a:ext uri="{FF2B5EF4-FFF2-40B4-BE49-F238E27FC236}">
                <a16:creationId xmlns:a16="http://schemas.microsoft.com/office/drawing/2014/main" xmlns="" id="{8EB5B7E8-2A7C-4A13-82E5-7F4885FC9E5C}"/>
              </a:ext>
            </a:extLst>
          </p:cNvPr>
          <p:cNvSpPr/>
          <p:nvPr/>
        </p:nvSpPr>
        <p:spPr>
          <a:xfrm>
            <a:off x="6300193" y="1574548"/>
            <a:ext cx="2676073" cy="2554545"/>
          </a:xfrm>
          <a:prstGeom prst="rect">
            <a:avLst/>
          </a:prstGeom>
        </p:spPr>
        <p:txBody>
          <a:bodyPr wrap="square">
            <a:spAutoFit/>
          </a:bodyPr>
          <a:lstStyle/>
          <a:p>
            <a:r>
              <a:rPr lang="fr-FR" sz="1600" dirty="0">
                <a:solidFill>
                  <a:srgbClr val="222222"/>
                </a:solidFill>
              </a:rPr>
              <a:t>En 1950 </a:t>
            </a:r>
            <a:r>
              <a:rPr lang="fr-FR" sz="1600" dirty="0">
                <a:solidFill>
                  <a:srgbClr val="0B0080"/>
                </a:solidFill>
              </a:rPr>
              <a:t>Alan Turing</a:t>
            </a:r>
            <a:r>
              <a:rPr lang="fr-FR" sz="1600" dirty="0">
                <a:solidFill>
                  <a:srgbClr val="222222"/>
                </a:solidFill>
              </a:rPr>
              <a:t> publie un </a:t>
            </a:r>
            <a:r>
              <a:rPr lang="fr-FR" sz="1600" dirty="0">
                <a:solidFill>
                  <a:srgbClr val="0B0080"/>
                </a:solidFill>
              </a:rPr>
              <a:t>article mémorable</a:t>
            </a:r>
            <a:r>
              <a:rPr lang="fr-FR" sz="1600" dirty="0">
                <a:solidFill>
                  <a:srgbClr val="222222"/>
                </a:solidFill>
              </a:rPr>
              <a:t> dans lequel il spécule sur la possibilité de créer des machines dotées d'une véritable intelligence. Il remarque qu'il est difficile de définir l'« intelligence » et imagine son célèbre </a:t>
            </a:r>
            <a:r>
              <a:rPr lang="fr-FR" sz="1600" dirty="0">
                <a:solidFill>
                  <a:srgbClr val="0B0080"/>
                </a:solidFill>
                <a:hlinkClick r:id="rId5" tooltip="Test de Turing"/>
              </a:rPr>
              <a:t>test de Turing</a:t>
            </a:r>
            <a:r>
              <a:rPr lang="fr-FR" sz="1600" dirty="0">
                <a:solidFill>
                  <a:srgbClr val="222222"/>
                </a:solidFill>
              </a:rPr>
              <a:t>.</a:t>
            </a:r>
            <a:endParaRPr lang="fr-FR" sz="1600" dirty="0"/>
          </a:p>
        </p:txBody>
      </p:sp>
    </p:spTree>
    <p:extLst>
      <p:ext uri="{BB962C8B-B14F-4D97-AF65-F5344CB8AC3E}">
        <p14:creationId xmlns:p14="http://schemas.microsoft.com/office/powerpoint/2010/main" val="288201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FF207D81-F23D-4917-BEE9-D252F77EBB12}"/>
              </a:ext>
            </a:extLst>
          </p:cNvPr>
          <p:cNvPicPr>
            <a:picLocks noChangeAspect="1"/>
          </p:cNvPicPr>
          <p:nvPr/>
        </p:nvPicPr>
        <p:blipFill>
          <a:blip r:embed="rId2"/>
          <a:stretch>
            <a:fillRect/>
          </a:stretch>
        </p:blipFill>
        <p:spPr>
          <a:xfrm>
            <a:off x="3974500" y="548680"/>
            <a:ext cx="5138085" cy="3336912"/>
          </a:xfrm>
          <a:prstGeom prst="rect">
            <a:avLst/>
          </a:prstGeom>
        </p:spPr>
      </p:pic>
      <p:sp>
        <p:nvSpPr>
          <p:cNvPr id="3" name="TextBox 2">
            <a:extLst>
              <a:ext uri="{FF2B5EF4-FFF2-40B4-BE49-F238E27FC236}">
                <a16:creationId xmlns:a16="http://schemas.microsoft.com/office/drawing/2014/main" xmlns="" id="{B725FD18-5E7B-4058-82B7-F9661CDA31C6}"/>
              </a:ext>
            </a:extLst>
          </p:cNvPr>
          <p:cNvSpPr txBox="1"/>
          <p:nvPr/>
        </p:nvSpPr>
        <p:spPr>
          <a:xfrm>
            <a:off x="1033282" y="4256577"/>
            <a:ext cx="8280919" cy="2308324"/>
          </a:xfrm>
          <a:prstGeom prst="rect">
            <a:avLst/>
          </a:prstGeom>
          <a:noFill/>
        </p:spPr>
        <p:txBody>
          <a:bodyPr wrap="square" rtlCol="0">
            <a:spAutoFit/>
          </a:bodyPr>
          <a:lstStyle/>
          <a:p>
            <a:r>
              <a:rPr lang="fr-FR" dirty="0"/>
              <a:t>Ces jeunes mathématiciens (</a:t>
            </a:r>
            <a:r>
              <a:rPr lang="fr-FR" u="sng" dirty="0"/>
              <a:t>John McCarthy</a:t>
            </a:r>
            <a:r>
              <a:rPr lang="fr-FR" dirty="0"/>
              <a:t> et Marvin Minsky) découvrent l’informatique ( machines : 1943…1956) + </a:t>
            </a:r>
            <a:r>
              <a:rPr lang="fr-FR" u="sng" dirty="0"/>
              <a:t>Nathan Rochester</a:t>
            </a:r>
            <a:r>
              <a:rPr lang="fr-FR" dirty="0"/>
              <a:t> (IBM) et Claude </a:t>
            </a:r>
            <a:r>
              <a:rPr lang="fr-FR" dirty="0" err="1"/>
              <a:t>shannon</a:t>
            </a:r>
            <a:endParaRPr lang="fr-FR" dirty="0"/>
          </a:p>
          <a:p>
            <a:endParaRPr lang="fr-FR" b="1" dirty="0"/>
          </a:p>
          <a:p>
            <a:r>
              <a:rPr lang="fr-FR" b="1" dirty="0"/>
              <a:t>Réunion,</a:t>
            </a:r>
            <a:r>
              <a:rPr lang="fr-FR" dirty="0"/>
              <a:t> </a:t>
            </a:r>
            <a:r>
              <a:rPr lang="fr-FR" b="1" dirty="0">
                <a:solidFill>
                  <a:srgbClr val="0033CC"/>
                </a:solidFill>
              </a:rPr>
              <a:t>ils émettent une hypothèse</a:t>
            </a:r>
            <a:r>
              <a:rPr lang="fr-FR" dirty="0"/>
              <a:t>:  </a:t>
            </a:r>
            <a:r>
              <a:rPr lang="fr-FR" dirty="0">
                <a:solidFill>
                  <a:srgbClr val="FF0000"/>
                </a:solidFill>
              </a:rPr>
              <a:t>« l’</a:t>
            </a:r>
            <a:r>
              <a:rPr lang="fr-FR" b="1" dirty="0">
                <a:solidFill>
                  <a:srgbClr val="FF0000"/>
                </a:solidFill>
              </a:rPr>
              <a:t>Intelligence est un ensemble de fonctions cognitives ».</a:t>
            </a:r>
          </a:p>
          <a:p>
            <a:r>
              <a:rPr lang="fr-FR" b="1" dirty="0">
                <a:solidFill>
                  <a:srgbClr val="C00000"/>
                </a:solidFill>
              </a:rPr>
              <a:t>L’idée est décomposer chaque fonction en fonctions élémentaires pour pouvoir la programmer</a:t>
            </a:r>
          </a:p>
          <a:p>
            <a:r>
              <a:rPr lang="fr-FR" b="1" dirty="0">
                <a:solidFill>
                  <a:schemeClr val="accent2">
                    <a:lumMod val="50000"/>
                  </a:schemeClr>
                </a:solidFill>
              </a:rPr>
              <a:t>Pour certains : IA est l’étude de l’intelligence à l’aide des machines</a:t>
            </a:r>
          </a:p>
        </p:txBody>
      </p:sp>
      <p:pic>
        <p:nvPicPr>
          <p:cNvPr id="4" name="Picture 3">
            <a:extLst>
              <a:ext uri="{FF2B5EF4-FFF2-40B4-BE49-F238E27FC236}">
                <a16:creationId xmlns:a16="http://schemas.microsoft.com/office/drawing/2014/main" xmlns="" id="{232ADB90-1D1B-4A60-8C29-D482DA0308F1}"/>
              </a:ext>
            </a:extLst>
          </p:cNvPr>
          <p:cNvPicPr>
            <a:picLocks noChangeAspect="1"/>
          </p:cNvPicPr>
          <p:nvPr/>
        </p:nvPicPr>
        <p:blipFill>
          <a:blip r:embed="rId3"/>
          <a:stretch>
            <a:fillRect/>
          </a:stretch>
        </p:blipFill>
        <p:spPr>
          <a:xfrm>
            <a:off x="1115616" y="858840"/>
            <a:ext cx="2995209" cy="3202884"/>
          </a:xfrm>
          <a:prstGeom prst="rect">
            <a:avLst/>
          </a:prstGeom>
        </p:spPr>
      </p:pic>
      <p:sp>
        <p:nvSpPr>
          <p:cNvPr id="5" name="Rectangle 4">
            <a:extLst>
              <a:ext uri="{FF2B5EF4-FFF2-40B4-BE49-F238E27FC236}">
                <a16:creationId xmlns:a16="http://schemas.microsoft.com/office/drawing/2014/main" xmlns="" id="{2AB8CED9-7025-4717-B6DB-769A2FB00513}"/>
              </a:ext>
            </a:extLst>
          </p:cNvPr>
          <p:cNvSpPr/>
          <p:nvPr/>
        </p:nvSpPr>
        <p:spPr>
          <a:xfrm>
            <a:off x="1187624" y="-25700"/>
            <a:ext cx="5431160" cy="338554"/>
          </a:xfrm>
          <a:prstGeom prst="rect">
            <a:avLst/>
          </a:prstGeom>
        </p:spPr>
        <p:txBody>
          <a:bodyPr wrap="square">
            <a:spAutoFit/>
          </a:bodyPr>
          <a:lstStyle/>
          <a:p>
            <a:endParaRPr lang="fr-FR" sz="1600" dirty="0"/>
          </a:p>
        </p:txBody>
      </p:sp>
      <p:sp>
        <p:nvSpPr>
          <p:cNvPr id="6" name="Titre 1"/>
          <p:cNvSpPr txBox="1">
            <a:spLocks/>
          </p:cNvSpPr>
          <p:nvPr/>
        </p:nvSpPr>
        <p:spPr>
          <a:xfrm>
            <a:off x="1033282" y="-99392"/>
            <a:ext cx="7498080" cy="1143000"/>
          </a:xfrm>
          <a:prstGeom prst="rect">
            <a:avLst/>
          </a:prstGeom>
        </p:spPr>
        <p:txBody>
          <a:bodyP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fr-FR" sz="4400" dirty="0" smtClean="0"/>
              <a:t>Naissance de l’IA</a:t>
            </a:r>
            <a:endParaRPr lang="fr-FR" dirty="0"/>
          </a:p>
        </p:txBody>
      </p:sp>
    </p:spTree>
    <p:extLst>
      <p:ext uri="{BB962C8B-B14F-4D97-AF65-F5344CB8AC3E}">
        <p14:creationId xmlns:p14="http://schemas.microsoft.com/office/powerpoint/2010/main" val="199537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610" y="-15196"/>
            <a:ext cx="3916807" cy="1073083"/>
          </a:xfrm>
          <a:prstGeom prst="rect">
            <a:avLst/>
          </a:prstGeom>
        </p:spPr>
        <p:txBody>
          <a:bodyPr vert="horz" wrap="square" lIns="0" tIns="117825" rIns="0" bIns="0" numCol="1" rtlCol="0" anchor="ctr" anchorCtr="0" compatLnSpc="1">
            <a:prstTxWarp prst="textNoShape">
              <a:avLst/>
            </a:prstTxWarp>
            <a:spAutoFit/>
          </a:bodyPr>
          <a:lstStyle/>
          <a:p>
            <a:pPr marL="20141">
              <a:spcBef>
                <a:spcPts val="928"/>
              </a:spcBef>
            </a:pPr>
            <a:r>
              <a:rPr lang="fr-FR" spc="16" dirty="0"/>
              <a:t>I</a:t>
            </a:r>
            <a:r>
              <a:rPr spc="16" dirty="0"/>
              <a:t>A</a:t>
            </a:r>
            <a:r>
              <a:rPr dirty="0"/>
              <a:t> </a:t>
            </a:r>
            <a:r>
              <a:rPr lang="fr-FR" dirty="0"/>
              <a:t>Aujourd’hui</a:t>
            </a:r>
            <a:br>
              <a:rPr lang="fr-FR" dirty="0"/>
            </a:br>
            <a:r>
              <a:rPr lang="fr-FR" sz="1800" spc="103" dirty="0">
                <a:latin typeface="Calibri"/>
                <a:cs typeface="Calibri"/>
              </a:rPr>
              <a:t>AI</a:t>
            </a:r>
            <a:r>
              <a:rPr sz="1800" spc="111" dirty="0">
                <a:latin typeface="Calibri"/>
                <a:cs typeface="Calibri"/>
              </a:rPr>
              <a:t> </a:t>
            </a:r>
            <a:r>
              <a:rPr sz="1800" spc="16" dirty="0">
                <a:latin typeface="Calibri"/>
                <a:cs typeface="Calibri"/>
              </a:rPr>
              <a:t>is</a:t>
            </a:r>
            <a:r>
              <a:rPr sz="1800" spc="119" dirty="0">
                <a:latin typeface="Calibri"/>
                <a:cs typeface="Calibri"/>
              </a:rPr>
              <a:t> </a:t>
            </a:r>
            <a:r>
              <a:rPr sz="1800" spc="8" dirty="0">
                <a:solidFill>
                  <a:srgbClr val="7F0000"/>
                </a:solidFill>
                <a:latin typeface="Calibri"/>
                <a:cs typeface="Calibri"/>
              </a:rPr>
              <a:t>everywhere</a:t>
            </a:r>
            <a:endParaRPr sz="1269" dirty="0">
              <a:latin typeface="Calibri"/>
              <a:cs typeface="Calibri"/>
            </a:endParaRPr>
          </a:p>
        </p:txBody>
      </p:sp>
      <p:pic>
        <p:nvPicPr>
          <p:cNvPr id="3" name="object 3"/>
          <p:cNvPicPr/>
          <p:nvPr/>
        </p:nvPicPr>
        <p:blipFill>
          <a:blip r:embed="rId2" cstate="print"/>
          <a:stretch>
            <a:fillRect/>
          </a:stretch>
        </p:blipFill>
        <p:spPr>
          <a:xfrm>
            <a:off x="17426" y="1196752"/>
            <a:ext cx="2240867" cy="1249714"/>
          </a:xfrm>
          <a:prstGeom prst="rect">
            <a:avLst/>
          </a:prstGeom>
        </p:spPr>
      </p:pic>
      <p:pic>
        <p:nvPicPr>
          <p:cNvPr id="4" name="object 4"/>
          <p:cNvPicPr/>
          <p:nvPr/>
        </p:nvPicPr>
        <p:blipFill>
          <a:blip r:embed="rId3" cstate="print"/>
          <a:stretch>
            <a:fillRect/>
          </a:stretch>
        </p:blipFill>
        <p:spPr>
          <a:xfrm>
            <a:off x="2353626" y="1670135"/>
            <a:ext cx="2218374" cy="1249734"/>
          </a:xfrm>
          <a:prstGeom prst="rect">
            <a:avLst/>
          </a:prstGeom>
        </p:spPr>
      </p:pic>
      <p:pic>
        <p:nvPicPr>
          <p:cNvPr id="5" name="object 5"/>
          <p:cNvPicPr/>
          <p:nvPr/>
        </p:nvPicPr>
        <p:blipFill>
          <a:blip r:embed="rId4" cstate="print"/>
          <a:stretch>
            <a:fillRect/>
          </a:stretch>
        </p:blipFill>
        <p:spPr>
          <a:xfrm>
            <a:off x="4843274" y="1849375"/>
            <a:ext cx="1789512" cy="1249676"/>
          </a:xfrm>
          <a:prstGeom prst="rect">
            <a:avLst/>
          </a:prstGeom>
        </p:spPr>
      </p:pic>
      <p:pic>
        <p:nvPicPr>
          <p:cNvPr id="6" name="object 6"/>
          <p:cNvPicPr/>
          <p:nvPr/>
        </p:nvPicPr>
        <p:blipFill>
          <a:blip r:embed="rId5" cstate="print"/>
          <a:stretch>
            <a:fillRect/>
          </a:stretch>
        </p:blipFill>
        <p:spPr>
          <a:xfrm>
            <a:off x="7179877" y="1196752"/>
            <a:ext cx="1204059" cy="1170392"/>
          </a:xfrm>
          <a:prstGeom prst="rect">
            <a:avLst/>
          </a:prstGeom>
        </p:spPr>
      </p:pic>
      <p:sp>
        <p:nvSpPr>
          <p:cNvPr id="8" name="object 8"/>
          <p:cNvSpPr txBox="1">
            <a:spLocks noGrp="1"/>
          </p:cNvSpPr>
          <p:nvPr>
            <p:ph type="sldNum" sz="quarter" idx="4294967295"/>
          </p:nvPr>
        </p:nvSpPr>
        <p:spPr>
          <a:xfrm>
            <a:off x="5452109" y="3490252"/>
            <a:ext cx="288925" cy="102870"/>
          </a:xfrm>
          <a:prstGeom prst="rect">
            <a:avLst/>
          </a:prstGeom>
        </p:spPr>
        <p:txBody>
          <a:bodyPr vert="horz" wrap="square" lIns="0" tIns="0" rIns="0" bIns="0" rtlCol="0">
            <a:spAutoFit/>
          </a:bodyPr>
          <a:lstStyle>
            <a:defPPr>
              <a:defRPr lang="fr-FR"/>
            </a:defPPr>
            <a:lvl1pPr marL="0" algn="l" defTabSz="914400" rtl="0" eaLnBrk="1" latinLnBrk="0" hangingPunct="1">
              <a:defRPr sz="500" b="0" i="0" kern="1200">
                <a:solidFill>
                  <a:srgbClr val="471B77"/>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423">
              <a:spcBef>
                <a:spcPts val="87"/>
              </a:spcBef>
            </a:pPr>
            <a:fld id="{81D60167-4931-47E6-BA6A-407CBD079E47}" type="slidenum">
              <a:rPr lang="fr-FR" spc="20" smtClean="0"/>
              <a:pPr marL="60423">
                <a:spcBef>
                  <a:spcPts val="87"/>
                </a:spcBef>
              </a:pPr>
              <a:t>10</a:t>
            </a:fld>
            <a:r>
              <a:rPr lang="fr-FR" spc="-25"/>
              <a:t> </a:t>
            </a:r>
            <a:r>
              <a:rPr lang="fr-FR" spc="80"/>
              <a:t>/</a:t>
            </a:r>
            <a:r>
              <a:rPr lang="fr-FR" spc="-25"/>
              <a:t> </a:t>
            </a:r>
            <a:r>
              <a:rPr lang="fr-FR" spc="20"/>
              <a:t>26</a:t>
            </a:r>
            <a:endParaRPr spc="32" dirty="0"/>
          </a:p>
        </p:txBody>
      </p:sp>
      <p:sp>
        <p:nvSpPr>
          <p:cNvPr id="10" name="TextBox 9">
            <a:extLst>
              <a:ext uri="{FF2B5EF4-FFF2-40B4-BE49-F238E27FC236}">
                <a16:creationId xmlns:a16="http://schemas.microsoft.com/office/drawing/2014/main" xmlns="" id="{43AA3B08-F585-4952-9403-08E67582E9ED}"/>
              </a:ext>
            </a:extLst>
          </p:cNvPr>
          <p:cNvSpPr txBox="1"/>
          <p:nvPr/>
        </p:nvSpPr>
        <p:spPr>
          <a:xfrm>
            <a:off x="191233" y="3416862"/>
            <a:ext cx="8761534" cy="3385542"/>
          </a:xfrm>
          <a:prstGeom prst="rect">
            <a:avLst/>
          </a:prstGeom>
          <a:noFill/>
        </p:spPr>
        <p:txBody>
          <a:bodyPr wrap="square">
            <a:spAutoFit/>
          </a:bodyPr>
          <a:lstStyle/>
          <a:p>
            <a:pPr marL="285750" indent="-285750">
              <a:buFont typeface="Arial" panose="020B0604020202020204" pitchFamily="34" charset="0"/>
              <a:buChar char="•"/>
            </a:pPr>
            <a:r>
              <a:rPr lang="fr-FR" dirty="0"/>
              <a:t>Planification autonome (NASA), logistique (armée)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smtClean="0"/>
              <a:t>Jeux </a:t>
            </a:r>
            <a:r>
              <a:rPr lang="fr-FR" dirty="0"/>
              <a:t>(</a:t>
            </a:r>
            <a:r>
              <a:rPr lang="fr-FR" dirty="0" err="1"/>
              <a:t>AlphaGo</a:t>
            </a:r>
            <a:r>
              <a:rPr lang="fr-FR" dirty="0"/>
              <a:t>)</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Contrôle automatique (voitures autonomes) Diagnostic (niveau expert, en médecine) </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Robotique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De nombreux domaines d'application:</a:t>
            </a:r>
          </a:p>
          <a:p>
            <a:pPr marL="285750" indent="-285750">
              <a:buFont typeface="Wingdings" panose="05000000000000000000" pitchFamily="2" charset="2"/>
              <a:buChar char="ü"/>
            </a:pPr>
            <a:r>
              <a:rPr lang="fr-FR" dirty="0"/>
              <a:t>  </a:t>
            </a:r>
            <a:r>
              <a:rPr lang="fr-FR" sz="1600" dirty="0"/>
              <a:t>maison intelligente, aide à la conduite, BRMS, recommandation, reconnaissance d'image à déverrouiller, assistants personnels, smart </a:t>
            </a:r>
            <a:r>
              <a:rPr lang="fr-FR" sz="1600" dirty="0" err="1"/>
              <a:t>grids</a:t>
            </a:r>
            <a:r>
              <a:rPr lang="fr-FR" sz="1600" dirty="0"/>
              <a:t>, ...</a:t>
            </a:r>
            <a:endParaRPr lang="fr-FR" dirty="0"/>
          </a:p>
        </p:txBody>
      </p:sp>
      <p:pic>
        <p:nvPicPr>
          <p:cNvPr id="1026" name="Picture 2" descr="These Doctors Are Using AI to Screen for Breast Cancer | WIRE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30213" y="2905662"/>
            <a:ext cx="1903388" cy="1427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954003"/>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2539DDC2-6A08-40DC-B649-8844B2541090}"/>
              </a:ext>
            </a:extLst>
          </p:cNvPr>
          <p:cNvPicPr>
            <a:picLocks noChangeAspect="1"/>
          </p:cNvPicPr>
          <p:nvPr/>
        </p:nvPicPr>
        <p:blipFill>
          <a:blip r:embed="rId2"/>
          <a:stretch>
            <a:fillRect/>
          </a:stretch>
        </p:blipFill>
        <p:spPr>
          <a:xfrm>
            <a:off x="971600" y="1277613"/>
            <a:ext cx="7812360" cy="4825135"/>
          </a:xfrm>
          <a:prstGeom prst="rect">
            <a:avLst/>
          </a:prstGeom>
        </p:spPr>
      </p:pic>
      <p:sp>
        <p:nvSpPr>
          <p:cNvPr id="5" name="Rectangle 4">
            <a:extLst>
              <a:ext uri="{FF2B5EF4-FFF2-40B4-BE49-F238E27FC236}">
                <a16:creationId xmlns:a16="http://schemas.microsoft.com/office/drawing/2014/main" xmlns="" id="{F4F700F5-286F-471D-B514-27A68FA64E65}"/>
              </a:ext>
            </a:extLst>
          </p:cNvPr>
          <p:cNvSpPr/>
          <p:nvPr/>
        </p:nvSpPr>
        <p:spPr>
          <a:xfrm>
            <a:off x="-17377" y="30561"/>
            <a:ext cx="9144000" cy="1200329"/>
          </a:xfrm>
          <a:prstGeom prst="rect">
            <a:avLst/>
          </a:prstGeom>
        </p:spPr>
        <p:txBody>
          <a:bodyPr wrap="square">
            <a:spAutoFit/>
          </a:bodyPr>
          <a:lstStyle/>
          <a:p>
            <a:r>
              <a:rPr lang="fr-FR" dirty="0">
                <a:solidFill>
                  <a:srgbClr val="000000"/>
                </a:solidFill>
                <a:latin typeface="+mj-lt"/>
              </a:rPr>
              <a:t>L’IA connu son premier “hiver” avec une réduction de ses budgets de recherche à partir de 1973, tant au Royaume-Uni qu’aux USA. C’était la conséquence de la publication du </a:t>
            </a:r>
            <a:r>
              <a:rPr lang="fr-FR" b="1" dirty="0">
                <a:solidFill>
                  <a:srgbClr val="000000"/>
                </a:solidFill>
                <a:latin typeface="+mj-lt"/>
              </a:rPr>
              <a:t>Rapport </a:t>
            </a:r>
            <a:r>
              <a:rPr lang="fr-FR" b="1" dirty="0" err="1">
                <a:solidFill>
                  <a:srgbClr val="000000"/>
                </a:solidFill>
                <a:latin typeface="+mj-lt"/>
              </a:rPr>
              <a:t>Lighthill</a:t>
            </a:r>
            <a:r>
              <a:rPr lang="fr-FR" b="1" dirty="0">
                <a:solidFill>
                  <a:srgbClr val="000000"/>
                </a:solidFill>
                <a:latin typeface="+mj-lt"/>
              </a:rPr>
              <a:t> (RU) </a:t>
            </a:r>
            <a:r>
              <a:rPr lang="fr-FR" dirty="0">
                <a:solidFill>
                  <a:srgbClr val="000000"/>
                </a:solidFill>
                <a:latin typeface="+mj-lt"/>
              </a:rPr>
              <a:t>qui remettait en cause le bien fondé des recherches de l’époque en robotique et en traitement du langage</a:t>
            </a:r>
            <a:r>
              <a:rPr lang="fr-FR" dirty="0">
                <a:solidFill>
                  <a:srgbClr val="000000"/>
                </a:solidFill>
                <a:latin typeface="Times New Roman" panose="02020603050405020304" pitchFamily="18" charset="0"/>
              </a:rPr>
              <a:t>. </a:t>
            </a:r>
            <a:endParaRPr lang="fr-FR" dirty="0"/>
          </a:p>
        </p:txBody>
      </p:sp>
    </p:spTree>
    <p:extLst>
      <p:ext uri="{BB962C8B-B14F-4D97-AF65-F5344CB8AC3E}">
        <p14:creationId xmlns:p14="http://schemas.microsoft.com/office/powerpoint/2010/main" val="20523357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349AE138-3747-4434-BD28-BEF90EDE988D}"/>
              </a:ext>
            </a:extLst>
          </p:cNvPr>
          <p:cNvPicPr>
            <a:picLocks noChangeAspect="1"/>
          </p:cNvPicPr>
          <p:nvPr/>
        </p:nvPicPr>
        <p:blipFill>
          <a:blip r:embed="rId2"/>
          <a:stretch>
            <a:fillRect/>
          </a:stretch>
        </p:blipFill>
        <p:spPr>
          <a:xfrm>
            <a:off x="971600" y="1196752"/>
            <a:ext cx="8199090" cy="4392488"/>
          </a:xfrm>
          <a:prstGeom prst="rect">
            <a:avLst/>
          </a:prstGeom>
        </p:spPr>
      </p:pic>
      <p:sp>
        <p:nvSpPr>
          <p:cNvPr id="5" name="Rectangle 4">
            <a:extLst>
              <a:ext uri="{FF2B5EF4-FFF2-40B4-BE49-F238E27FC236}">
                <a16:creationId xmlns:a16="http://schemas.microsoft.com/office/drawing/2014/main" xmlns="" id="{403EA535-338B-45B4-9677-6ABA5E8C7BFD}"/>
              </a:ext>
            </a:extLst>
          </p:cNvPr>
          <p:cNvSpPr/>
          <p:nvPr/>
        </p:nvSpPr>
        <p:spPr>
          <a:xfrm>
            <a:off x="-26369" y="-315416"/>
            <a:ext cx="9144000" cy="1446550"/>
          </a:xfrm>
          <a:prstGeom prst="rect">
            <a:avLst/>
          </a:prstGeom>
        </p:spPr>
        <p:txBody>
          <a:bodyPr wrap="square">
            <a:spAutoFit/>
          </a:bodyPr>
          <a:lstStyle/>
          <a:p>
            <a:endParaRPr lang="fr-FR" sz="1600" dirty="0">
              <a:solidFill>
                <a:srgbClr val="000000"/>
              </a:solidFill>
              <a:latin typeface="+mj-lt"/>
            </a:endParaRPr>
          </a:p>
          <a:p>
            <a:r>
              <a:rPr lang="fr-FR" dirty="0">
                <a:solidFill>
                  <a:srgbClr val="000000"/>
                </a:solidFill>
                <a:latin typeface="+mj-lt"/>
              </a:rPr>
              <a:t>L’atteinte de diverses </a:t>
            </a:r>
            <a:r>
              <a:rPr lang="fr-FR" b="1" dirty="0">
                <a:solidFill>
                  <a:srgbClr val="000000"/>
                </a:solidFill>
                <a:latin typeface="+mj-lt"/>
              </a:rPr>
              <a:t>étapes symboliques </a:t>
            </a:r>
            <a:r>
              <a:rPr lang="fr-FR" dirty="0">
                <a:solidFill>
                  <a:srgbClr val="000000"/>
                </a:solidFill>
                <a:latin typeface="+mj-lt"/>
              </a:rPr>
              <a:t>marquantes comme la victoire d’IBM </a:t>
            </a:r>
            <a:r>
              <a:rPr lang="fr-FR" dirty="0" err="1">
                <a:solidFill>
                  <a:srgbClr val="000000"/>
                </a:solidFill>
                <a:latin typeface="+mj-lt"/>
              </a:rPr>
              <a:t>Deep</a:t>
            </a:r>
            <a:r>
              <a:rPr lang="fr-FR" dirty="0">
                <a:solidFill>
                  <a:srgbClr val="000000"/>
                </a:solidFill>
                <a:latin typeface="+mj-lt"/>
              </a:rPr>
              <a:t> Blue contre Kasparov en 1997 puis d’IBM Watson dans </a:t>
            </a:r>
            <a:r>
              <a:rPr lang="fr-FR" dirty="0" err="1">
                <a:solidFill>
                  <a:srgbClr val="000000"/>
                </a:solidFill>
                <a:latin typeface="+mj-lt"/>
              </a:rPr>
              <a:t>Jeopardy</a:t>
            </a:r>
            <a:r>
              <a:rPr lang="fr-FR" dirty="0">
                <a:solidFill>
                  <a:srgbClr val="000000"/>
                </a:solidFill>
                <a:latin typeface="+mj-lt"/>
              </a:rPr>
              <a:t> en 2011. Enfin, début 2016, la victoire de Google DeepMind </a:t>
            </a:r>
            <a:r>
              <a:rPr lang="fr-FR" dirty="0" err="1">
                <a:solidFill>
                  <a:srgbClr val="000000"/>
                </a:solidFill>
                <a:latin typeface="+mj-lt"/>
              </a:rPr>
              <a:t>AlphaGo</a:t>
            </a:r>
            <a:r>
              <a:rPr lang="fr-FR" dirty="0">
                <a:solidFill>
                  <a:srgbClr val="000000"/>
                </a:solidFill>
                <a:latin typeface="+mj-lt"/>
              </a:rPr>
              <a:t> au jeu de Go contre son champion du monde. </a:t>
            </a:r>
          </a:p>
        </p:txBody>
      </p:sp>
    </p:spTree>
    <p:extLst>
      <p:ext uri="{BB962C8B-B14F-4D97-AF65-F5344CB8AC3E}">
        <p14:creationId xmlns:p14="http://schemas.microsoft.com/office/powerpoint/2010/main" val="30177770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03648" y="32048"/>
            <a:ext cx="7498080" cy="1143000"/>
          </a:xfrm>
        </p:spPr>
        <p:txBody>
          <a:bodyPr>
            <a:normAutofit/>
          </a:bodyPr>
          <a:lstStyle/>
          <a:p>
            <a:r>
              <a:rPr lang="fr-FR" sz="4400" dirty="0" smtClean="0"/>
              <a:t>Domaines d’IA</a:t>
            </a:r>
            <a:endParaRPr lang="fr-FR" dirty="0"/>
          </a:p>
        </p:txBody>
      </p:sp>
      <p:sp>
        <p:nvSpPr>
          <p:cNvPr id="3" name="ZoneTexte 2"/>
          <p:cNvSpPr txBox="1"/>
          <p:nvPr/>
        </p:nvSpPr>
        <p:spPr>
          <a:xfrm>
            <a:off x="996075" y="1124744"/>
            <a:ext cx="8136904" cy="6186309"/>
          </a:xfrm>
          <a:prstGeom prst="rect">
            <a:avLst/>
          </a:prstGeom>
          <a:noFill/>
        </p:spPr>
        <p:txBody>
          <a:bodyPr wrap="square" rtlCol="0">
            <a:spAutoFit/>
          </a:bodyPr>
          <a:lstStyle/>
          <a:p>
            <a:pPr marL="457200" indent="-457200">
              <a:buFont typeface="+mj-lt"/>
              <a:buAutoNum type="arabicPeriod"/>
            </a:pPr>
            <a:r>
              <a:rPr lang="fr-FR" sz="2000" b="1" dirty="0"/>
              <a:t>Apprentissage Automatique (Machine Learning) :</a:t>
            </a:r>
          </a:p>
          <a:p>
            <a:pPr lvl="1"/>
            <a:r>
              <a:rPr lang="fr-FR" sz="2000" dirty="0"/>
              <a:t>Les systèmes apprennent à partir de données et améliorent leur performance sans être explicitement programmés.</a:t>
            </a:r>
          </a:p>
          <a:p>
            <a:pPr lvl="1"/>
            <a:r>
              <a:rPr lang="fr-FR" sz="2000" dirty="0">
                <a:solidFill>
                  <a:srgbClr val="C00000"/>
                </a:solidFill>
              </a:rPr>
              <a:t>Exemples : reconnaissance faciale, recommandations personnalisées, prévision de la demande.</a:t>
            </a:r>
          </a:p>
          <a:p>
            <a:pPr marL="457200" indent="-457200">
              <a:buFont typeface="+mj-lt"/>
              <a:buAutoNum type="arabicPeriod"/>
            </a:pPr>
            <a:r>
              <a:rPr lang="fr-FR" sz="2000" b="1" dirty="0"/>
              <a:t>Traitement du Langage Naturel (NLP)</a:t>
            </a:r>
            <a:r>
              <a:rPr lang="fr-FR" sz="2000" dirty="0"/>
              <a:t> :</a:t>
            </a:r>
          </a:p>
          <a:p>
            <a:pPr lvl="1"/>
            <a:r>
              <a:rPr lang="fr-FR" sz="2000" dirty="0"/>
              <a:t>Les machines comprennent, interprètent et génèrent un langage naturel </a:t>
            </a:r>
            <a:r>
              <a:rPr lang="fr-FR" sz="2000" dirty="0" smtClean="0"/>
              <a:t>humain. </a:t>
            </a:r>
          </a:p>
          <a:p>
            <a:pPr lvl="1"/>
            <a:r>
              <a:rPr lang="fr-FR" sz="2000" dirty="0" smtClean="0">
                <a:solidFill>
                  <a:srgbClr val="C00000"/>
                </a:solidFill>
              </a:rPr>
              <a:t>Exemples </a:t>
            </a:r>
            <a:r>
              <a:rPr lang="fr-FR" sz="2000" dirty="0">
                <a:solidFill>
                  <a:srgbClr val="C00000"/>
                </a:solidFill>
              </a:rPr>
              <a:t>: </a:t>
            </a:r>
            <a:r>
              <a:rPr lang="fr-FR" sz="2000" dirty="0" err="1">
                <a:solidFill>
                  <a:srgbClr val="C00000"/>
                </a:solidFill>
              </a:rPr>
              <a:t>chatbots</a:t>
            </a:r>
            <a:r>
              <a:rPr lang="fr-FR" sz="2000" dirty="0">
                <a:solidFill>
                  <a:srgbClr val="C00000"/>
                </a:solidFill>
              </a:rPr>
              <a:t>, traduction automatique, analyse de sentiment</a:t>
            </a:r>
            <a:r>
              <a:rPr lang="fr-FR" sz="2000" dirty="0" smtClean="0">
                <a:solidFill>
                  <a:srgbClr val="C00000"/>
                </a:solidFill>
              </a:rPr>
              <a:t>.</a:t>
            </a:r>
          </a:p>
          <a:p>
            <a:pPr marL="457200" indent="-457200">
              <a:buFont typeface="+mj-lt"/>
              <a:buAutoNum type="arabicPeriod"/>
            </a:pPr>
            <a:r>
              <a:rPr lang="fr-FR" sz="2000" b="1" dirty="0"/>
              <a:t>Vision par Ordinateur :</a:t>
            </a:r>
          </a:p>
          <a:p>
            <a:pPr lvl="1"/>
            <a:r>
              <a:rPr lang="fr-FR" sz="2000" dirty="0"/>
              <a:t>Les ordinateurs analysent et interprètent des images et des vidéos.</a:t>
            </a:r>
          </a:p>
          <a:p>
            <a:pPr lvl="1"/>
            <a:r>
              <a:rPr lang="fr-FR" sz="2000" dirty="0">
                <a:solidFill>
                  <a:srgbClr val="C00000"/>
                </a:solidFill>
              </a:rPr>
              <a:t>Exemples : détection d'objets, reconnaissance d'empreintes digitales, diagnostic médical.</a:t>
            </a:r>
          </a:p>
          <a:p>
            <a:pPr marL="457200" indent="-457200">
              <a:buFont typeface="+mj-lt"/>
              <a:buAutoNum type="arabicPeriod"/>
            </a:pPr>
            <a:r>
              <a:rPr lang="fr-FR" sz="2000" b="1" dirty="0"/>
              <a:t>IA Symbolique :</a:t>
            </a:r>
          </a:p>
          <a:p>
            <a:pPr lvl="1"/>
            <a:r>
              <a:rPr lang="fr-FR" sz="2000" dirty="0"/>
              <a:t>Les systèmes utilisent la logique et les connaissances pour résoudre des problèmes complexes.</a:t>
            </a:r>
          </a:p>
          <a:p>
            <a:pPr lvl="1"/>
            <a:r>
              <a:rPr lang="fr-FR" sz="2000" dirty="0">
                <a:solidFill>
                  <a:srgbClr val="C00000"/>
                </a:solidFill>
              </a:rPr>
              <a:t>Exemples : systèmes experts, raisonnement automatisé, recherche en intelligence artificielle.</a:t>
            </a:r>
          </a:p>
          <a:p>
            <a:pPr lvl="1"/>
            <a:endParaRPr lang="fr-FR" dirty="0"/>
          </a:p>
          <a:p>
            <a:endParaRPr lang="fr-FR" dirty="0"/>
          </a:p>
        </p:txBody>
      </p:sp>
    </p:spTree>
    <p:extLst>
      <p:ext uri="{BB962C8B-B14F-4D97-AF65-F5344CB8AC3E}">
        <p14:creationId xmlns:p14="http://schemas.microsoft.com/office/powerpoint/2010/main" val="31203414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400" dirty="0"/>
              <a:t>Applications de </a:t>
            </a:r>
            <a:r>
              <a:rPr lang="fr-FR" sz="4400" dirty="0" smtClean="0"/>
              <a:t>l'IA</a:t>
            </a:r>
            <a:endParaRPr lang="fr-FR" sz="4400" dirty="0"/>
          </a:p>
        </p:txBody>
      </p:sp>
      <p:sp>
        <p:nvSpPr>
          <p:cNvPr id="3" name="ZoneTexte 2"/>
          <p:cNvSpPr txBox="1"/>
          <p:nvPr/>
        </p:nvSpPr>
        <p:spPr>
          <a:xfrm>
            <a:off x="1043608" y="1628800"/>
            <a:ext cx="7920880" cy="4093428"/>
          </a:xfrm>
          <a:prstGeom prst="rect">
            <a:avLst/>
          </a:prstGeom>
          <a:noFill/>
        </p:spPr>
        <p:txBody>
          <a:bodyPr wrap="square" rtlCol="0">
            <a:spAutoFit/>
          </a:bodyPr>
          <a:lstStyle/>
          <a:p>
            <a:pPr>
              <a:spcBef>
                <a:spcPts val="600"/>
              </a:spcBef>
              <a:spcAft>
                <a:spcPts val="600"/>
              </a:spcAft>
            </a:pPr>
            <a:r>
              <a:rPr lang="fr-FR" sz="2400" b="1" dirty="0" smtClean="0">
                <a:solidFill>
                  <a:srgbClr val="C00000"/>
                </a:solidFill>
              </a:rPr>
              <a:t>L'IA </a:t>
            </a:r>
            <a:r>
              <a:rPr lang="fr-FR" sz="2400" b="1" dirty="0">
                <a:solidFill>
                  <a:srgbClr val="C00000"/>
                </a:solidFill>
              </a:rPr>
              <a:t>est utilisée dans divers domaines, notamment :</a:t>
            </a:r>
          </a:p>
          <a:p>
            <a:pPr marL="342900" indent="-342900">
              <a:spcBef>
                <a:spcPts val="600"/>
              </a:spcBef>
              <a:spcAft>
                <a:spcPts val="600"/>
              </a:spcAft>
              <a:buFont typeface="Arial" pitchFamily="34" charset="0"/>
              <a:buChar char="•"/>
            </a:pPr>
            <a:r>
              <a:rPr lang="fr-FR" sz="2800" dirty="0" smtClean="0">
                <a:solidFill>
                  <a:srgbClr val="C00000"/>
                </a:solidFill>
              </a:rPr>
              <a:t>Santé</a:t>
            </a:r>
            <a:r>
              <a:rPr lang="fr-FR" sz="2800" dirty="0" smtClean="0"/>
              <a:t> </a:t>
            </a:r>
            <a:r>
              <a:rPr lang="fr-FR" sz="2800" dirty="0"/>
              <a:t>: diagnostic médical, suivi des </a:t>
            </a:r>
            <a:r>
              <a:rPr lang="fr-FR" sz="2800" dirty="0" smtClean="0"/>
              <a:t>patients.</a:t>
            </a:r>
          </a:p>
          <a:p>
            <a:pPr marL="342900" indent="-342900">
              <a:spcBef>
                <a:spcPts val="600"/>
              </a:spcBef>
              <a:spcAft>
                <a:spcPts val="600"/>
              </a:spcAft>
              <a:buFont typeface="Arial" pitchFamily="34" charset="0"/>
              <a:buChar char="•"/>
            </a:pPr>
            <a:r>
              <a:rPr lang="fr-FR" sz="2800" dirty="0" smtClean="0">
                <a:solidFill>
                  <a:srgbClr val="C00000"/>
                </a:solidFill>
              </a:rPr>
              <a:t>Finance</a:t>
            </a:r>
            <a:r>
              <a:rPr lang="fr-FR" sz="2800" dirty="0" smtClean="0"/>
              <a:t> </a:t>
            </a:r>
            <a:r>
              <a:rPr lang="fr-FR" sz="2800" dirty="0"/>
              <a:t>: prévisions économiques, analyse de </a:t>
            </a:r>
            <a:r>
              <a:rPr lang="fr-FR" sz="2800" dirty="0" smtClean="0"/>
              <a:t>risques.</a:t>
            </a:r>
          </a:p>
          <a:p>
            <a:pPr marL="342900" indent="-342900">
              <a:spcBef>
                <a:spcPts val="600"/>
              </a:spcBef>
              <a:spcAft>
                <a:spcPts val="600"/>
              </a:spcAft>
              <a:buFont typeface="Arial" pitchFamily="34" charset="0"/>
              <a:buChar char="•"/>
            </a:pPr>
            <a:r>
              <a:rPr lang="fr-FR" sz="2800" dirty="0" smtClean="0">
                <a:solidFill>
                  <a:srgbClr val="C00000"/>
                </a:solidFill>
              </a:rPr>
              <a:t>Transport</a:t>
            </a:r>
            <a:r>
              <a:rPr lang="fr-FR" sz="2800" dirty="0" smtClean="0"/>
              <a:t> </a:t>
            </a:r>
            <a:r>
              <a:rPr lang="fr-FR" sz="2800" dirty="0"/>
              <a:t>: véhicules autonomes, gestion du </a:t>
            </a:r>
            <a:r>
              <a:rPr lang="fr-FR" sz="2800" dirty="0" smtClean="0"/>
              <a:t>trafic.</a:t>
            </a:r>
          </a:p>
          <a:p>
            <a:pPr marL="342900" indent="-342900">
              <a:spcBef>
                <a:spcPts val="600"/>
              </a:spcBef>
              <a:spcAft>
                <a:spcPts val="600"/>
              </a:spcAft>
              <a:buFont typeface="Arial" pitchFamily="34" charset="0"/>
              <a:buChar char="•"/>
            </a:pPr>
            <a:r>
              <a:rPr lang="fr-FR" sz="2800" dirty="0" smtClean="0">
                <a:solidFill>
                  <a:srgbClr val="C00000"/>
                </a:solidFill>
              </a:rPr>
              <a:t>Divertissement</a:t>
            </a:r>
            <a:r>
              <a:rPr lang="fr-FR" sz="2800" dirty="0" smtClean="0"/>
              <a:t> </a:t>
            </a:r>
            <a:r>
              <a:rPr lang="fr-FR" sz="2800" dirty="0"/>
              <a:t>: recommandations de contenu, jeux vidéo.</a:t>
            </a:r>
          </a:p>
          <a:p>
            <a:pPr>
              <a:spcBef>
                <a:spcPts val="600"/>
              </a:spcBef>
              <a:spcAft>
                <a:spcPts val="600"/>
              </a:spcAft>
            </a:pPr>
            <a:endParaRPr lang="fr-FR" dirty="0"/>
          </a:p>
        </p:txBody>
      </p:sp>
    </p:spTree>
    <p:extLst>
      <p:ext uri="{BB962C8B-B14F-4D97-AF65-F5344CB8AC3E}">
        <p14:creationId xmlns:p14="http://schemas.microsoft.com/office/powerpoint/2010/main" val="2784617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259632" y="692696"/>
            <a:ext cx="7705551" cy="4370427"/>
          </a:xfrm>
          <a:prstGeom prst="rect">
            <a:avLst/>
          </a:prstGeom>
          <a:noFill/>
          <a:ln w="9525">
            <a:noFill/>
            <a:miter lim="800000"/>
            <a:headEnd/>
            <a:tailEnd/>
          </a:ln>
          <a:effectLst/>
        </p:spPr>
        <p:txBody>
          <a:bodyPr wrap="square">
            <a:spAutoFit/>
          </a:bodyPr>
          <a:lstStyle/>
          <a:p>
            <a:r>
              <a:rPr lang="fr-FR" dirty="0"/>
              <a:t>			</a:t>
            </a:r>
          </a:p>
          <a:p>
            <a:r>
              <a:rPr lang="fr-FR" sz="3200" b="1" dirty="0"/>
              <a:t>Plan </a:t>
            </a:r>
            <a:r>
              <a:rPr lang="fr-FR" sz="3200" dirty="0"/>
              <a:t> </a:t>
            </a:r>
          </a:p>
          <a:p>
            <a:endParaRPr lang="fr-FR" sz="3200" dirty="0"/>
          </a:p>
          <a:p>
            <a:pPr marL="457200" indent="-457200">
              <a:buFont typeface="Arial" panose="020B0604020202020204" pitchFamily="34" charset="0"/>
              <a:buChar char="•"/>
            </a:pPr>
            <a:r>
              <a:rPr lang="fr-FR" sz="2800" dirty="0">
                <a:solidFill>
                  <a:schemeClr val="bg1">
                    <a:lumMod val="85000"/>
                  </a:schemeClr>
                </a:solidFill>
              </a:rPr>
              <a:t>Qu’est est-ce que l’IA </a:t>
            </a:r>
            <a:r>
              <a:rPr lang="fr-FR" sz="2800" dirty="0" smtClean="0">
                <a:solidFill>
                  <a:schemeClr val="bg1">
                    <a:lumMod val="85000"/>
                  </a:schemeClr>
                </a:solidFill>
              </a:rPr>
              <a:t>?</a:t>
            </a:r>
          </a:p>
          <a:p>
            <a:r>
              <a:rPr lang="fr-FR" sz="2800" dirty="0" smtClean="0"/>
              <a:t> </a:t>
            </a:r>
            <a:endParaRPr lang="fr-FR" sz="2800" dirty="0"/>
          </a:p>
          <a:p>
            <a:pPr marL="457200" indent="-457200">
              <a:buFont typeface="Arial" panose="020B0604020202020204" pitchFamily="34" charset="0"/>
              <a:buChar char="•"/>
            </a:pPr>
            <a:r>
              <a:rPr lang="fr-FR" sz="2800" dirty="0"/>
              <a:t>Histoire de l’IA </a:t>
            </a:r>
          </a:p>
          <a:p>
            <a:endParaRPr lang="fr-FR" sz="2800" dirty="0"/>
          </a:p>
          <a:p>
            <a:pPr marL="457200" indent="-457200">
              <a:buFont typeface="Arial" panose="020B0604020202020204" pitchFamily="34" charset="0"/>
              <a:buChar char="•"/>
            </a:pPr>
            <a:r>
              <a:rPr lang="fr-FR" sz="2800" dirty="0">
                <a:solidFill>
                  <a:schemeClr val="bg1">
                    <a:lumMod val="85000"/>
                  </a:schemeClr>
                </a:solidFill>
              </a:rPr>
              <a:t>Modèles de L’IA </a:t>
            </a:r>
          </a:p>
          <a:p>
            <a:endParaRPr lang="fr-FR" sz="2800" dirty="0">
              <a:solidFill>
                <a:schemeClr val="bg1">
                  <a:lumMod val="85000"/>
                </a:schemeClr>
              </a:solidFill>
            </a:endParaRPr>
          </a:p>
          <a:p>
            <a:pPr marL="457200" indent="-457200">
              <a:buFont typeface="Arial" panose="020B0604020202020204" pitchFamily="34" charset="0"/>
              <a:buChar char="•"/>
            </a:pPr>
            <a:r>
              <a:rPr lang="fr-CA" sz="2800" dirty="0" smtClean="0">
                <a:solidFill>
                  <a:schemeClr val="bg1">
                    <a:lumMod val="85000"/>
                  </a:schemeClr>
                </a:solidFill>
              </a:rPr>
              <a:t>Exemples </a:t>
            </a:r>
            <a:r>
              <a:rPr lang="fr-CA" sz="2800" dirty="0">
                <a:solidFill>
                  <a:schemeClr val="bg1">
                    <a:lumMod val="85000"/>
                  </a:schemeClr>
                </a:solidFill>
              </a:rPr>
              <a:t>de l’IA</a:t>
            </a:r>
            <a:endParaRPr lang="fr-FR" sz="2800" dirty="0">
              <a:solidFill>
                <a:schemeClr val="bg1">
                  <a:lumMod val="85000"/>
                </a:schemeClr>
              </a:solidFill>
            </a:endParaRPr>
          </a:p>
        </p:txBody>
      </p:sp>
    </p:spTree>
    <p:extLst>
      <p:ext uri="{BB962C8B-B14F-4D97-AF65-F5344CB8AC3E}">
        <p14:creationId xmlns:p14="http://schemas.microsoft.com/office/powerpoint/2010/main" val="15203234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66408" y="404664"/>
            <a:ext cx="7498080" cy="1143000"/>
          </a:xfrm>
        </p:spPr>
        <p:txBody>
          <a:bodyPr>
            <a:normAutofit/>
          </a:bodyPr>
          <a:lstStyle/>
          <a:p>
            <a:r>
              <a:rPr lang="fr-FR" sz="4400" b="1" dirty="0">
                <a:effectLst/>
              </a:rPr>
              <a:t>Les débuts de </a:t>
            </a:r>
            <a:r>
              <a:rPr lang="fr-FR" sz="4400" b="1" dirty="0" smtClean="0">
                <a:effectLst/>
              </a:rPr>
              <a:t>l'IA</a:t>
            </a:r>
            <a:endParaRPr lang="fr-FR" sz="4400" dirty="0"/>
          </a:p>
        </p:txBody>
      </p:sp>
      <p:sp>
        <p:nvSpPr>
          <p:cNvPr id="3" name="ZoneTexte 2"/>
          <p:cNvSpPr txBox="1"/>
          <p:nvPr/>
        </p:nvSpPr>
        <p:spPr>
          <a:xfrm>
            <a:off x="1043608" y="2204864"/>
            <a:ext cx="7920880" cy="2308324"/>
          </a:xfrm>
          <a:prstGeom prst="rect">
            <a:avLst/>
          </a:prstGeom>
          <a:noFill/>
        </p:spPr>
        <p:txBody>
          <a:bodyPr wrap="square" rtlCol="0">
            <a:spAutoFit/>
          </a:bodyPr>
          <a:lstStyle/>
          <a:p>
            <a:pPr>
              <a:spcBef>
                <a:spcPts val="600"/>
              </a:spcBef>
              <a:spcAft>
                <a:spcPts val="600"/>
              </a:spcAft>
            </a:pPr>
            <a:r>
              <a:rPr lang="fr-FR" sz="3600" dirty="0"/>
              <a:t>L'IA remonte aux années 1950 avec les premières recherches sur les réseaux de neurones artificiels et la logique symbolique.</a:t>
            </a:r>
            <a:endParaRPr lang="fr-FR" sz="2800" dirty="0"/>
          </a:p>
        </p:txBody>
      </p:sp>
    </p:spTree>
    <p:extLst>
      <p:ext uri="{BB962C8B-B14F-4D97-AF65-F5344CB8AC3E}">
        <p14:creationId xmlns:p14="http://schemas.microsoft.com/office/powerpoint/2010/main" val="9926809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66408" y="404664"/>
            <a:ext cx="7498080" cy="1143000"/>
          </a:xfrm>
        </p:spPr>
        <p:txBody>
          <a:bodyPr>
            <a:normAutofit/>
          </a:bodyPr>
          <a:lstStyle/>
          <a:p>
            <a:r>
              <a:rPr lang="fr-FR" sz="4400" b="1" dirty="0">
                <a:effectLst/>
              </a:rPr>
              <a:t>Les premiers </a:t>
            </a:r>
            <a:r>
              <a:rPr lang="fr-FR" sz="4400" b="1" dirty="0" smtClean="0">
                <a:effectLst/>
              </a:rPr>
              <a:t>succès</a:t>
            </a:r>
            <a:endParaRPr lang="fr-FR" sz="4400" b="1" dirty="0">
              <a:effectLst/>
            </a:endParaRPr>
          </a:p>
        </p:txBody>
      </p:sp>
      <p:sp>
        <p:nvSpPr>
          <p:cNvPr id="3" name="ZoneTexte 2"/>
          <p:cNvSpPr txBox="1"/>
          <p:nvPr/>
        </p:nvSpPr>
        <p:spPr>
          <a:xfrm>
            <a:off x="1043608" y="2204864"/>
            <a:ext cx="7920880" cy="3693319"/>
          </a:xfrm>
          <a:prstGeom prst="rect">
            <a:avLst/>
          </a:prstGeom>
          <a:noFill/>
        </p:spPr>
        <p:txBody>
          <a:bodyPr wrap="square" rtlCol="0">
            <a:spAutoFit/>
          </a:bodyPr>
          <a:lstStyle/>
          <a:p>
            <a:pPr marL="571500" indent="-571500">
              <a:spcBef>
                <a:spcPts val="600"/>
              </a:spcBef>
              <a:spcAft>
                <a:spcPts val="600"/>
              </a:spcAft>
              <a:buFont typeface="Arial" pitchFamily="34" charset="0"/>
              <a:buChar char="•"/>
            </a:pPr>
            <a:r>
              <a:rPr lang="fr-FR" sz="3200" dirty="0"/>
              <a:t>En</a:t>
            </a:r>
            <a:r>
              <a:rPr lang="fr-FR" sz="3200" dirty="0">
                <a:solidFill>
                  <a:srgbClr val="C00000"/>
                </a:solidFill>
              </a:rPr>
              <a:t> 1956</a:t>
            </a:r>
            <a:r>
              <a:rPr lang="fr-FR" sz="3200" dirty="0"/>
              <a:t>, la conférence de Dartmouth marque le début officiel de l'IA en tant que domaine de recherche</a:t>
            </a:r>
            <a:r>
              <a:rPr lang="fr-FR" sz="3200" dirty="0" smtClean="0"/>
              <a:t>.</a:t>
            </a:r>
            <a:endParaRPr lang="fr-FR" sz="3200" dirty="0"/>
          </a:p>
          <a:p>
            <a:pPr marL="571500" indent="-571500">
              <a:spcBef>
                <a:spcPts val="600"/>
              </a:spcBef>
              <a:spcAft>
                <a:spcPts val="600"/>
              </a:spcAft>
              <a:buFont typeface="Arial" pitchFamily="34" charset="0"/>
              <a:buChar char="•"/>
            </a:pPr>
            <a:r>
              <a:rPr lang="fr-FR" sz="3200" dirty="0"/>
              <a:t>Dans les années </a:t>
            </a:r>
            <a:r>
              <a:rPr lang="fr-FR" sz="3200" dirty="0">
                <a:solidFill>
                  <a:srgbClr val="C00000"/>
                </a:solidFill>
              </a:rPr>
              <a:t>1960 et 1970, </a:t>
            </a:r>
            <a:r>
              <a:rPr lang="fr-FR" sz="3200" dirty="0"/>
              <a:t>des progrès significatifs sont réalisés dans le domaine de la résolution de problèmes, de la logique formelle et de la reconnaissance de formes.</a:t>
            </a:r>
            <a:endParaRPr lang="fr-FR" sz="2400" dirty="0"/>
          </a:p>
        </p:txBody>
      </p:sp>
    </p:spTree>
    <p:extLst>
      <p:ext uri="{BB962C8B-B14F-4D97-AF65-F5344CB8AC3E}">
        <p14:creationId xmlns:p14="http://schemas.microsoft.com/office/powerpoint/2010/main" val="16880083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778416"/>
          </a:xfrm>
        </p:spPr>
        <p:txBody>
          <a:bodyPr>
            <a:normAutofit fontScale="90000"/>
          </a:bodyPr>
          <a:lstStyle/>
          <a:p>
            <a:r>
              <a:rPr lang="fr-FR" sz="4000" dirty="0"/>
              <a:t>L'ère de l'apprentissage </a:t>
            </a:r>
            <a:r>
              <a:rPr lang="fr-FR" sz="4000" dirty="0" smtClean="0"/>
              <a:t>automatique</a:t>
            </a:r>
            <a:endParaRPr lang="fr-FR" sz="4400" dirty="0"/>
          </a:p>
        </p:txBody>
      </p:sp>
      <p:sp>
        <p:nvSpPr>
          <p:cNvPr id="3" name="ZoneTexte 2"/>
          <p:cNvSpPr txBox="1"/>
          <p:nvPr/>
        </p:nvSpPr>
        <p:spPr>
          <a:xfrm>
            <a:off x="1043608" y="1628800"/>
            <a:ext cx="7920880" cy="2554545"/>
          </a:xfrm>
          <a:prstGeom prst="rect">
            <a:avLst/>
          </a:prstGeom>
          <a:noFill/>
        </p:spPr>
        <p:txBody>
          <a:bodyPr wrap="square" rtlCol="0">
            <a:spAutoFit/>
          </a:bodyPr>
          <a:lstStyle/>
          <a:p>
            <a:pPr>
              <a:spcBef>
                <a:spcPts val="600"/>
              </a:spcBef>
              <a:spcAft>
                <a:spcPts val="600"/>
              </a:spcAft>
            </a:pPr>
            <a:r>
              <a:rPr lang="fr-FR" sz="3200" dirty="0"/>
              <a:t>Dans les années 1980 et 1990, l'attention se tourne vers l'apprentissage automatique et les réseaux neuronaux, avec des succès tels que le développement des réseaux </a:t>
            </a:r>
            <a:r>
              <a:rPr lang="fr-FR" sz="3200" dirty="0" smtClean="0"/>
              <a:t>neuronaux </a:t>
            </a:r>
            <a:r>
              <a:rPr lang="fr-FR" sz="3200" dirty="0" err="1" smtClean="0"/>
              <a:t>convolutifs</a:t>
            </a:r>
            <a:r>
              <a:rPr lang="fr-FR" sz="3200" dirty="0" smtClean="0"/>
              <a:t> (CNN).</a:t>
            </a:r>
            <a:endParaRPr lang="fr-FR" sz="3200" dirty="0"/>
          </a:p>
        </p:txBody>
      </p:sp>
    </p:spTree>
    <p:extLst>
      <p:ext uri="{BB962C8B-B14F-4D97-AF65-F5344CB8AC3E}">
        <p14:creationId xmlns:p14="http://schemas.microsoft.com/office/powerpoint/2010/main" val="2724773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778416"/>
          </a:xfrm>
        </p:spPr>
        <p:txBody>
          <a:bodyPr>
            <a:normAutofit/>
          </a:bodyPr>
          <a:lstStyle/>
          <a:p>
            <a:r>
              <a:rPr lang="fr-FR" sz="4000" b="1" dirty="0">
                <a:effectLst/>
              </a:rPr>
              <a:t>L'avènement du </a:t>
            </a:r>
            <a:r>
              <a:rPr lang="fr-FR" sz="4000" b="1" dirty="0" err="1">
                <a:effectLst/>
              </a:rPr>
              <a:t>Big</a:t>
            </a:r>
            <a:r>
              <a:rPr lang="fr-FR" sz="4000" b="1" dirty="0">
                <a:effectLst/>
              </a:rPr>
              <a:t> </a:t>
            </a:r>
            <a:r>
              <a:rPr lang="fr-FR" sz="4000" b="1" dirty="0" smtClean="0">
                <a:effectLst/>
              </a:rPr>
              <a:t>Data</a:t>
            </a:r>
            <a:endParaRPr lang="fr-FR" sz="4400" dirty="0"/>
          </a:p>
        </p:txBody>
      </p:sp>
      <p:sp>
        <p:nvSpPr>
          <p:cNvPr id="3" name="ZoneTexte 2"/>
          <p:cNvSpPr txBox="1"/>
          <p:nvPr/>
        </p:nvSpPr>
        <p:spPr>
          <a:xfrm>
            <a:off x="1043608" y="1628800"/>
            <a:ext cx="7920880" cy="2062103"/>
          </a:xfrm>
          <a:prstGeom prst="rect">
            <a:avLst/>
          </a:prstGeom>
          <a:noFill/>
        </p:spPr>
        <p:txBody>
          <a:bodyPr wrap="square" rtlCol="0">
            <a:spAutoFit/>
          </a:bodyPr>
          <a:lstStyle/>
          <a:p>
            <a:pPr>
              <a:spcBef>
                <a:spcPts val="600"/>
              </a:spcBef>
              <a:spcAft>
                <a:spcPts val="600"/>
              </a:spcAft>
            </a:pPr>
            <a:r>
              <a:rPr lang="fr-FR" sz="3200" dirty="0"/>
              <a:t>Les années 2000 voient l'explosion du </a:t>
            </a:r>
            <a:r>
              <a:rPr lang="fr-FR" sz="3200" dirty="0" err="1"/>
              <a:t>Big</a:t>
            </a:r>
            <a:r>
              <a:rPr lang="fr-FR" sz="3200" dirty="0"/>
              <a:t> Data et l'utilisation croissante d'algorithmes d'apprentissage automatique pour analyser et exploiter ces données.</a:t>
            </a:r>
          </a:p>
        </p:txBody>
      </p:sp>
    </p:spTree>
    <p:extLst>
      <p:ext uri="{BB962C8B-B14F-4D97-AF65-F5344CB8AC3E}">
        <p14:creationId xmlns:p14="http://schemas.microsoft.com/office/powerpoint/2010/main" val="1364857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778416"/>
          </a:xfrm>
        </p:spPr>
        <p:txBody>
          <a:bodyPr>
            <a:normAutofit/>
          </a:bodyPr>
          <a:lstStyle/>
          <a:p>
            <a:r>
              <a:rPr lang="fr-FR" sz="4000" b="1" dirty="0">
                <a:effectLst/>
              </a:rPr>
              <a:t>L'époque </a:t>
            </a:r>
            <a:r>
              <a:rPr lang="fr-FR" sz="4000" b="1" dirty="0" smtClean="0">
                <a:effectLst/>
              </a:rPr>
              <a:t>actuelle</a:t>
            </a:r>
            <a:endParaRPr lang="fr-FR" sz="4400" dirty="0"/>
          </a:p>
        </p:txBody>
      </p:sp>
      <p:sp>
        <p:nvSpPr>
          <p:cNvPr id="3" name="ZoneTexte 2"/>
          <p:cNvSpPr txBox="1"/>
          <p:nvPr/>
        </p:nvSpPr>
        <p:spPr>
          <a:xfrm>
            <a:off x="899592" y="1628800"/>
            <a:ext cx="8496944" cy="2062103"/>
          </a:xfrm>
          <a:prstGeom prst="rect">
            <a:avLst/>
          </a:prstGeom>
          <a:noFill/>
        </p:spPr>
        <p:txBody>
          <a:bodyPr wrap="square" rtlCol="0">
            <a:spAutoFit/>
          </a:bodyPr>
          <a:lstStyle/>
          <a:p>
            <a:pPr>
              <a:spcBef>
                <a:spcPts val="600"/>
              </a:spcBef>
              <a:spcAft>
                <a:spcPts val="600"/>
              </a:spcAft>
            </a:pPr>
            <a:r>
              <a:rPr lang="fr-FR" sz="3200" dirty="0"/>
              <a:t>Aujourd'hui, l'IA est omniprésente dans notre vie quotidienne, des assistants vocaux sur nos </a:t>
            </a:r>
            <a:r>
              <a:rPr lang="fr-FR" sz="3200" dirty="0" err="1"/>
              <a:t>smartphones</a:t>
            </a:r>
            <a:r>
              <a:rPr lang="fr-FR" sz="3200" dirty="0"/>
              <a:t> aux systèmes de recommandation sur les plateformes de streaming.</a:t>
            </a:r>
          </a:p>
        </p:txBody>
      </p:sp>
    </p:spTree>
    <p:extLst>
      <p:ext uri="{BB962C8B-B14F-4D97-AF65-F5344CB8AC3E}">
        <p14:creationId xmlns:p14="http://schemas.microsoft.com/office/powerpoint/2010/main" val="6672092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778416"/>
          </a:xfrm>
        </p:spPr>
        <p:txBody>
          <a:bodyPr>
            <a:normAutofit/>
          </a:bodyPr>
          <a:lstStyle/>
          <a:p>
            <a:r>
              <a:rPr lang="fr-FR" sz="4000" b="1" dirty="0">
                <a:effectLst/>
              </a:rPr>
              <a:t>Perspectives </a:t>
            </a:r>
            <a:r>
              <a:rPr lang="fr-FR" sz="4000" b="1" dirty="0" smtClean="0">
                <a:effectLst/>
              </a:rPr>
              <a:t>d'avenir</a:t>
            </a:r>
            <a:endParaRPr lang="fr-FR" sz="4400" dirty="0"/>
          </a:p>
        </p:txBody>
      </p:sp>
      <p:sp>
        <p:nvSpPr>
          <p:cNvPr id="3" name="ZoneTexte 2"/>
          <p:cNvSpPr txBox="1"/>
          <p:nvPr/>
        </p:nvSpPr>
        <p:spPr>
          <a:xfrm>
            <a:off x="1043608" y="1628800"/>
            <a:ext cx="7920880" cy="1815882"/>
          </a:xfrm>
          <a:prstGeom prst="rect">
            <a:avLst/>
          </a:prstGeom>
          <a:noFill/>
        </p:spPr>
        <p:txBody>
          <a:bodyPr wrap="square" rtlCol="0">
            <a:spAutoFit/>
          </a:bodyPr>
          <a:lstStyle/>
          <a:p>
            <a:pPr>
              <a:spcBef>
                <a:spcPts val="600"/>
              </a:spcBef>
              <a:spcAft>
                <a:spcPts val="600"/>
              </a:spcAft>
            </a:pPr>
            <a:r>
              <a:rPr lang="fr-FR" sz="2800" dirty="0"/>
              <a:t>L'IA continue de progresser rapidement, avec des développements prometteurs dans des domaines tels que l'apprentissage profond, le traitement du langage naturel et la robotique.</a:t>
            </a:r>
          </a:p>
        </p:txBody>
      </p:sp>
    </p:spTree>
    <p:extLst>
      <p:ext uri="{BB962C8B-B14F-4D97-AF65-F5344CB8AC3E}">
        <p14:creationId xmlns:p14="http://schemas.microsoft.com/office/powerpoint/2010/main" val="6672092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503262" y="478058"/>
            <a:ext cx="8281490" cy="707886"/>
          </a:xfrm>
          <a:prstGeom prst="rect">
            <a:avLst/>
          </a:prstGeom>
          <a:noFill/>
          <a:ln w="28575">
            <a:noFill/>
            <a:miter lim="800000"/>
            <a:headEnd type="none" w="sm" len="sm"/>
            <a:tailEnd type="none" w="sm" len="sm"/>
          </a:ln>
          <a:effectLst/>
        </p:spPr>
        <p:txBody>
          <a:bodyPr wrap="square">
            <a:spAutoFit/>
          </a:bodyPr>
          <a:lstStyle/>
          <a:p>
            <a:pPr algn="ctr" eaLnBrk="0" hangingPunct="0"/>
            <a:r>
              <a:rPr lang="fr-CA" sz="4000" b="1" dirty="0">
                <a:solidFill>
                  <a:schemeClr val="tx2">
                    <a:satMod val="130000"/>
                  </a:schemeClr>
                </a:solidFill>
                <a:latin typeface="+mj-lt"/>
                <a:ea typeface="+mj-ea"/>
                <a:cs typeface="+mj-cs"/>
              </a:rPr>
              <a:t>Intelligence Artificielle (IA):</a:t>
            </a:r>
          </a:p>
        </p:txBody>
      </p:sp>
      <p:sp>
        <p:nvSpPr>
          <p:cNvPr id="59395" name="Text Box 3"/>
          <p:cNvSpPr txBox="1">
            <a:spLocks noChangeArrowheads="1"/>
          </p:cNvSpPr>
          <p:nvPr/>
        </p:nvSpPr>
        <p:spPr bwMode="auto">
          <a:xfrm>
            <a:off x="34926" y="1438226"/>
            <a:ext cx="9109074" cy="2031325"/>
          </a:xfrm>
          <a:prstGeom prst="rect">
            <a:avLst/>
          </a:prstGeom>
          <a:noFill/>
          <a:ln w="9525">
            <a:noFill/>
            <a:miter lim="800000"/>
            <a:headEnd/>
            <a:tailEnd/>
          </a:ln>
        </p:spPr>
        <p:txBody>
          <a:bodyPr wrap="square" anchor="ctr">
            <a:spAutoFit/>
          </a:bodyPr>
          <a:lstStyle/>
          <a:p>
            <a:pPr eaLnBrk="0" hangingPunct="0">
              <a:spcBef>
                <a:spcPct val="50000"/>
              </a:spcBef>
              <a:buFontTx/>
              <a:buChar char="•"/>
            </a:pPr>
            <a:r>
              <a:rPr lang="fr-CA" sz="2000" dirty="0">
                <a:latin typeface="+mn-lt"/>
                <a:cs typeface="Times New Roman" pitchFamily="18" charset="0"/>
              </a:rPr>
              <a:t> Une branche de l'Informatique. </a:t>
            </a:r>
          </a:p>
          <a:p>
            <a:pPr eaLnBrk="0" hangingPunct="0">
              <a:spcBef>
                <a:spcPct val="50000"/>
              </a:spcBef>
              <a:buFontTx/>
              <a:buChar char="•"/>
            </a:pPr>
            <a:r>
              <a:rPr lang="fr-CA" sz="2000" dirty="0">
                <a:latin typeface="+mn-lt"/>
                <a:cs typeface="Times New Roman" pitchFamily="18" charset="0"/>
              </a:rPr>
              <a:t> Une science : des concepts, des théories, des chercheurs. </a:t>
            </a:r>
          </a:p>
          <a:p>
            <a:pPr eaLnBrk="0" hangingPunct="0">
              <a:lnSpc>
                <a:spcPct val="120000"/>
              </a:lnSpc>
              <a:buFontTx/>
              <a:buChar char="•"/>
            </a:pPr>
            <a:r>
              <a:rPr lang="fr-CA" sz="2000" dirty="0">
                <a:latin typeface="+mn-lt"/>
                <a:cs typeface="Times New Roman" pitchFamily="18" charset="0"/>
              </a:rPr>
              <a:t> Une technique: des outils, des produits et des réalisations, des ingénieurs. </a:t>
            </a:r>
          </a:p>
          <a:p>
            <a:pPr eaLnBrk="0" hangingPunct="0">
              <a:lnSpc>
                <a:spcPct val="120000"/>
              </a:lnSpc>
              <a:buFontTx/>
              <a:buChar char="•"/>
            </a:pPr>
            <a:r>
              <a:rPr lang="fr-CA" sz="2000" dirty="0">
                <a:latin typeface="+mn-lt"/>
                <a:cs typeface="Times New Roman" pitchFamily="18" charset="0"/>
              </a:rPr>
              <a:t> </a:t>
            </a:r>
            <a:r>
              <a:rPr lang="fr-CA" sz="2000" b="1" dirty="0">
                <a:solidFill>
                  <a:srgbClr val="C00000"/>
                </a:solidFill>
                <a:latin typeface="+mn-lt"/>
                <a:cs typeface="Times New Roman" pitchFamily="18" charset="0"/>
              </a:rPr>
              <a:t>Un domaine pluridisciplinaire. </a:t>
            </a:r>
          </a:p>
          <a:p>
            <a:pPr eaLnBrk="0" hangingPunct="0"/>
            <a:endParaRPr lang="fr-CA" sz="2800" dirty="0">
              <a:latin typeface="+mn-lt"/>
              <a:cs typeface="Times New Roman" pitchFamily="18" charset="0"/>
            </a:endParaRPr>
          </a:p>
        </p:txBody>
      </p:sp>
      <p:pic>
        <p:nvPicPr>
          <p:cNvPr id="6" name="Picture 5">
            <a:extLst>
              <a:ext uri="{FF2B5EF4-FFF2-40B4-BE49-F238E27FC236}">
                <a16:creationId xmlns="" xmlns:a16="http://schemas.microsoft.com/office/drawing/2014/main" id="{A5C4750B-793C-4D72-98C9-6FF889D07699}"/>
              </a:ext>
            </a:extLst>
          </p:cNvPr>
          <p:cNvPicPr>
            <a:picLocks noChangeAspect="1"/>
          </p:cNvPicPr>
          <p:nvPr/>
        </p:nvPicPr>
        <p:blipFill>
          <a:blip r:embed="rId2"/>
          <a:stretch>
            <a:fillRect/>
          </a:stretch>
        </p:blipFill>
        <p:spPr>
          <a:xfrm>
            <a:off x="755575" y="3140967"/>
            <a:ext cx="7776865" cy="3771669"/>
          </a:xfrm>
          <a:prstGeom prst="rect">
            <a:avLst/>
          </a:prstGeom>
        </p:spPr>
      </p:pic>
    </p:spTree>
    <p:extLst>
      <p:ext uri="{BB962C8B-B14F-4D97-AF65-F5344CB8AC3E}">
        <p14:creationId xmlns:p14="http://schemas.microsoft.com/office/powerpoint/2010/main" val="277308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259632" y="692696"/>
            <a:ext cx="7705551" cy="5232202"/>
          </a:xfrm>
          <a:prstGeom prst="rect">
            <a:avLst/>
          </a:prstGeom>
          <a:noFill/>
          <a:ln w="9525">
            <a:noFill/>
            <a:miter lim="800000"/>
            <a:headEnd/>
            <a:tailEnd/>
          </a:ln>
          <a:effectLst/>
        </p:spPr>
        <p:txBody>
          <a:bodyPr wrap="square">
            <a:spAutoFit/>
          </a:bodyPr>
          <a:lstStyle/>
          <a:p>
            <a:r>
              <a:rPr lang="fr-FR" dirty="0"/>
              <a:t>			</a:t>
            </a:r>
          </a:p>
          <a:p>
            <a:r>
              <a:rPr lang="fr-FR" sz="3200" b="1" dirty="0"/>
              <a:t>Plan </a:t>
            </a:r>
            <a:r>
              <a:rPr lang="fr-FR" sz="3200" dirty="0"/>
              <a:t> </a:t>
            </a:r>
          </a:p>
          <a:p>
            <a:endParaRPr lang="fr-FR" sz="3200" dirty="0"/>
          </a:p>
          <a:p>
            <a:pPr marL="457200" indent="-457200">
              <a:buFont typeface="Arial" panose="020B0604020202020204" pitchFamily="34" charset="0"/>
              <a:buChar char="•"/>
            </a:pPr>
            <a:r>
              <a:rPr lang="fr-FR" sz="2800" dirty="0">
                <a:solidFill>
                  <a:schemeClr val="bg1">
                    <a:lumMod val="85000"/>
                  </a:schemeClr>
                </a:solidFill>
              </a:rPr>
              <a:t>Qu’est est-ce que l’IA </a:t>
            </a:r>
            <a:r>
              <a:rPr lang="fr-FR" sz="2800" dirty="0" smtClean="0">
                <a:solidFill>
                  <a:schemeClr val="bg1">
                    <a:lumMod val="85000"/>
                  </a:schemeClr>
                </a:solidFill>
              </a:rPr>
              <a:t>?</a:t>
            </a:r>
          </a:p>
          <a:p>
            <a:r>
              <a:rPr lang="fr-FR" sz="2800" dirty="0" smtClean="0">
                <a:solidFill>
                  <a:schemeClr val="bg1">
                    <a:lumMod val="85000"/>
                  </a:schemeClr>
                </a:solidFill>
              </a:rPr>
              <a:t> </a:t>
            </a:r>
            <a:endParaRPr lang="fr-FR" sz="2800" dirty="0">
              <a:solidFill>
                <a:schemeClr val="bg1">
                  <a:lumMod val="85000"/>
                </a:schemeClr>
              </a:solidFill>
            </a:endParaRPr>
          </a:p>
          <a:p>
            <a:pPr marL="457200" indent="-457200">
              <a:buFont typeface="Arial" panose="020B0604020202020204" pitchFamily="34" charset="0"/>
              <a:buChar char="•"/>
            </a:pPr>
            <a:r>
              <a:rPr lang="fr-FR" sz="2800" dirty="0">
                <a:solidFill>
                  <a:schemeClr val="bg1">
                    <a:lumMod val="85000"/>
                  </a:schemeClr>
                </a:solidFill>
              </a:rPr>
              <a:t>Histoire de l’IA </a:t>
            </a:r>
          </a:p>
          <a:p>
            <a:endParaRPr lang="fr-FR" sz="2800" dirty="0"/>
          </a:p>
          <a:p>
            <a:pPr marL="457200" indent="-457200">
              <a:buFont typeface="Arial" panose="020B0604020202020204" pitchFamily="34" charset="0"/>
              <a:buChar char="•"/>
            </a:pPr>
            <a:r>
              <a:rPr lang="fr-FR" sz="2800" dirty="0" smtClean="0"/>
              <a:t>Modèles </a:t>
            </a:r>
            <a:r>
              <a:rPr lang="fr-FR" sz="2800" dirty="0"/>
              <a:t>de L’IA </a:t>
            </a:r>
          </a:p>
          <a:p>
            <a:endParaRPr lang="fr-FR" sz="2800" dirty="0"/>
          </a:p>
          <a:p>
            <a:pPr marL="457200" indent="-457200">
              <a:buFont typeface="Arial" panose="020B0604020202020204" pitchFamily="34" charset="0"/>
              <a:buChar char="•"/>
            </a:pPr>
            <a:r>
              <a:rPr lang="fr-FR" sz="2800" dirty="0">
                <a:solidFill>
                  <a:schemeClr val="bg1">
                    <a:lumMod val="85000"/>
                  </a:schemeClr>
                </a:solidFill>
              </a:rPr>
              <a:t>Approches de L’IA </a:t>
            </a:r>
            <a:endParaRPr lang="fr-FR" sz="2800" dirty="0" smtClean="0">
              <a:solidFill>
                <a:schemeClr val="bg1">
                  <a:lumMod val="85000"/>
                </a:schemeClr>
              </a:solidFill>
            </a:endParaRPr>
          </a:p>
          <a:p>
            <a:pPr marL="457200" indent="-457200">
              <a:buFont typeface="Arial" panose="020B0604020202020204" pitchFamily="34" charset="0"/>
              <a:buChar char="•"/>
            </a:pPr>
            <a:endParaRPr lang="fr-FR" sz="2800" dirty="0">
              <a:solidFill>
                <a:schemeClr val="bg1">
                  <a:lumMod val="85000"/>
                </a:schemeClr>
              </a:solidFill>
            </a:endParaRPr>
          </a:p>
          <a:p>
            <a:pPr marL="457200" indent="-457200">
              <a:buFont typeface="Arial" panose="020B0604020202020204" pitchFamily="34" charset="0"/>
              <a:buChar char="•"/>
            </a:pPr>
            <a:r>
              <a:rPr lang="fr-CA" sz="2800" dirty="0" smtClean="0">
                <a:solidFill>
                  <a:schemeClr val="bg1">
                    <a:lumMod val="85000"/>
                  </a:schemeClr>
                </a:solidFill>
              </a:rPr>
              <a:t>Exemples </a:t>
            </a:r>
            <a:r>
              <a:rPr lang="fr-CA" sz="2800" dirty="0">
                <a:solidFill>
                  <a:schemeClr val="bg1">
                    <a:lumMod val="85000"/>
                  </a:schemeClr>
                </a:solidFill>
              </a:rPr>
              <a:t>de l’IA</a:t>
            </a:r>
            <a:endParaRPr lang="fr-FR" sz="2800" dirty="0">
              <a:solidFill>
                <a:schemeClr val="bg1">
                  <a:lumMod val="85000"/>
                </a:schemeClr>
              </a:solidFill>
            </a:endParaRPr>
          </a:p>
        </p:txBody>
      </p:sp>
    </p:spTree>
    <p:extLst>
      <p:ext uri="{BB962C8B-B14F-4D97-AF65-F5344CB8AC3E}">
        <p14:creationId xmlns:p14="http://schemas.microsoft.com/office/powerpoint/2010/main" val="33890528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1717820" y="981144"/>
            <a:ext cx="5025735" cy="707886"/>
          </a:xfrm>
          <a:prstGeom prst="rect">
            <a:avLst/>
          </a:prstGeom>
          <a:noFill/>
          <a:ln w="28575">
            <a:noFill/>
            <a:miter lim="800000"/>
            <a:headEnd type="none" w="sm" len="sm"/>
            <a:tailEnd type="none" w="sm" len="sm"/>
          </a:ln>
          <a:effectLst/>
        </p:spPr>
        <p:txBody>
          <a:bodyPr wrap="square">
            <a:spAutoFit/>
          </a:bodyPr>
          <a:lstStyle>
            <a:defPPr>
              <a:defRPr lang="fr-FR"/>
            </a:defPPr>
            <a:lvl1pPr algn="ctr" eaLnBrk="0" hangingPunct="0">
              <a:defRPr sz="4000" b="1">
                <a:solidFill>
                  <a:schemeClr val="tx2">
                    <a:satMod val="130000"/>
                  </a:schemeClr>
                </a:solidFill>
                <a:latin typeface="+mj-lt"/>
                <a:ea typeface="+mj-ea"/>
                <a:cs typeface="+mj-cs"/>
              </a:defRPr>
            </a:lvl1pPr>
          </a:lstStyle>
          <a:p>
            <a:r>
              <a:rPr lang="fr-CA" dirty="0"/>
              <a:t>Les grands modèles </a:t>
            </a:r>
          </a:p>
        </p:txBody>
      </p:sp>
      <p:sp>
        <p:nvSpPr>
          <p:cNvPr id="62467" name="Text Box 3"/>
          <p:cNvSpPr txBox="1">
            <a:spLocks noChangeArrowheads="1"/>
          </p:cNvSpPr>
          <p:nvPr/>
        </p:nvSpPr>
        <p:spPr bwMode="auto">
          <a:xfrm>
            <a:off x="179512" y="2549515"/>
            <a:ext cx="8011988" cy="3416320"/>
          </a:xfrm>
          <a:prstGeom prst="rect">
            <a:avLst/>
          </a:prstGeom>
          <a:noFill/>
          <a:ln w="9525">
            <a:noFill/>
            <a:miter lim="800000"/>
            <a:headEnd/>
            <a:tailEnd/>
          </a:ln>
        </p:spPr>
        <p:txBody>
          <a:bodyPr wrap="square" anchor="ctr">
            <a:spAutoFit/>
          </a:bodyPr>
          <a:lstStyle/>
          <a:p>
            <a:pPr eaLnBrk="0" hangingPunct="0">
              <a:lnSpc>
                <a:spcPct val="150000"/>
              </a:lnSpc>
              <a:spcBef>
                <a:spcPct val="50000"/>
              </a:spcBef>
              <a:buFontTx/>
              <a:buChar char="•"/>
            </a:pPr>
            <a:r>
              <a:rPr lang="fr-CA" sz="4400" dirty="0">
                <a:latin typeface="+mj-lt"/>
                <a:cs typeface="Times New Roman" pitchFamily="18" charset="0"/>
              </a:rPr>
              <a:t> </a:t>
            </a:r>
            <a:r>
              <a:rPr lang="fr-CA" sz="4400" dirty="0">
                <a:solidFill>
                  <a:schemeClr val="hlink"/>
                </a:solidFill>
                <a:effectLst>
                  <a:outerShdw blurRad="38100" dist="38100" dir="2700000" algn="tl">
                    <a:srgbClr val="C0C0C0"/>
                  </a:outerShdw>
                </a:effectLst>
                <a:latin typeface="+mj-lt"/>
                <a:cs typeface="Times New Roman" pitchFamily="18" charset="0"/>
              </a:rPr>
              <a:t>Connaissances symboliques</a:t>
            </a:r>
            <a:r>
              <a:rPr lang="fr-CA" sz="4400" dirty="0">
                <a:effectLst>
                  <a:outerShdw blurRad="38100" dist="38100" dir="2700000" algn="tl">
                    <a:srgbClr val="C0C0C0"/>
                  </a:outerShdw>
                </a:effectLst>
                <a:latin typeface="+mj-lt"/>
                <a:cs typeface="Times New Roman" pitchFamily="18" charset="0"/>
              </a:rPr>
              <a:t> </a:t>
            </a:r>
            <a:endParaRPr lang="fr-CA" sz="2400" dirty="0">
              <a:latin typeface="+mj-lt"/>
              <a:cs typeface="Times New Roman" pitchFamily="18" charset="0"/>
            </a:endParaRPr>
          </a:p>
          <a:p>
            <a:pPr eaLnBrk="0" hangingPunct="0">
              <a:lnSpc>
                <a:spcPct val="150000"/>
              </a:lnSpc>
              <a:buFontTx/>
              <a:buChar char="•"/>
            </a:pPr>
            <a:r>
              <a:rPr lang="fr-CA" sz="4400" dirty="0">
                <a:effectLst>
                  <a:outerShdw blurRad="38100" dist="38100" dir="2700000" algn="tl">
                    <a:srgbClr val="C0C0C0"/>
                  </a:outerShdw>
                </a:effectLst>
                <a:latin typeface="+mj-lt"/>
                <a:cs typeface="Times New Roman" pitchFamily="18" charset="0"/>
              </a:rPr>
              <a:t> Réseaux neuronaux </a:t>
            </a:r>
            <a:endParaRPr lang="fr-CA" sz="2400" dirty="0">
              <a:latin typeface="+mj-lt"/>
              <a:cs typeface="Times New Roman" pitchFamily="18" charset="0"/>
            </a:endParaRPr>
          </a:p>
          <a:p>
            <a:pPr eaLnBrk="0" hangingPunct="0">
              <a:lnSpc>
                <a:spcPct val="150000"/>
              </a:lnSpc>
              <a:buFontTx/>
              <a:buChar char="•"/>
            </a:pPr>
            <a:r>
              <a:rPr lang="fr-CA" sz="4400" dirty="0">
                <a:effectLst>
                  <a:outerShdw blurRad="38100" dist="38100" dir="2700000" algn="tl">
                    <a:srgbClr val="C0C0C0"/>
                  </a:outerShdw>
                </a:effectLst>
                <a:latin typeface="+mj-lt"/>
                <a:cs typeface="Times New Roman" pitchFamily="18" charset="0"/>
              </a:rPr>
              <a:t> Modèles statistiques</a:t>
            </a:r>
            <a:r>
              <a:rPr lang="fr-CA" sz="4000" dirty="0">
                <a:effectLst>
                  <a:outerShdw blurRad="38100" dist="38100" dir="2700000" algn="tl">
                    <a:srgbClr val="C0C0C0"/>
                  </a:outerShdw>
                </a:effectLst>
                <a:latin typeface="+mj-lt"/>
                <a:cs typeface="Times New Roman" pitchFamily="18" charset="0"/>
              </a:rPr>
              <a:t> </a:t>
            </a:r>
            <a:endParaRPr lang="fr-CA" sz="2400" dirty="0">
              <a:latin typeface="+mj-lt"/>
              <a:cs typeface="Times New Roman" pitchFamily="18" charset="0"/>
            </a:endParaRPr>
          </a:p>
          <a:p>
            <a:pPr eaLnBrk="0" hangingPunct="0">
              <a:buFontTx/>
              <a:buChar char="•"/>
            </a:pPr>
            <a:endParaRPr lang="fr-CA" dirty="0">
              <a:latin typeface="+mj-lt"/>
            </a:endParaRPr>
          </a:p>
        </p:txBody>
      </p:sp>
      <p:sp>
        <p:nvSpPr>
          <p:cNvPr id="62468" name="Rectangle 4"/>
          <p:cNvSpPr>
            <a:spLocks noChangeArrowheads="1"/>
          </p:cNvSpPr>
          <p:nvPr/>
        </p:nvSpPr>
        <p:spPr bwMode="auto">
          <a:xfrm>
            <a:off x="0" y="44450"/>
            <a:ext cx="9144000" cy="366713"/>
          </a:xfrm>
          <a:prstGeom prst="rect">
            <a:avLst/>
          </a:prstGeom>
          <a:solidFill>
            <a:srgbClr val="3366FF"/>
          </a:solidFill>
          <a:ln w="9525">
            <a:noFill/>
            <a:miter lim="800000"/>
            <a:headEnd/>
            <a:tailEnd/>
          </a:ln>
          <a:effectLst/>
        </p:spPr>
        <p:txBody>
          <a:bodyPr>
            <a:spAutoFit/>
          </a:bodyPr>
          <a:lstStyle/>
          <a:p>
            <a:r>
              <a:rPr lang="fr-FR"/>
              <a:t>Intelligence Artificielle 			Introduction			 </a:t>
            </a:r>
          </a:p>
        </p:txBody>
      </p:sp>
    </p:spTree>
    <p:extLst>
      <p:ext uri="{BB962C8B-B14F-4D97-AF65-F5344CB8AC3E}">
        <p14:creationId xmlns:p14="http://schemas.microsoft.com/office/powerpoint/2010/main" val="20325284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34925" y="1340325"/>
            <a:ext cx="6899646" cy="683264"/>
          </a:xfrm>
          <a:prstGeom prst="rect">
            <a:avLst/>
          </a:prstGeom>
          <a:noFill/>
          <a:ln w="9525">
            <a:noFill/>
            <a:miter lim="800000"/>
            <a:headEnd/>
            <a:tailEnd/>
          </a:ln>
          <a:effectLst/>
        </p:spPr>
        <p:txBody>
          <a:bodyPr wrap="none" anchor="ctr">
            <a:spAutoFit/>
          </a:bodyPr>
          <a:lstStyle/>
          <a:p>
            <a:pPr eaLnBrk="0" hangingPunct="0">
              <a:lnSpc>
                <a:spcPct val="80000"/>
              </a:lnSpc>
              <a:spcBef>
                <a:spcPct val="20000"/>
              </a:spcBef>
            </a:pPr>
            <a:r>
              <a:rPr lang="fr-CA" sz="2800" dirty="0">
                <a:latin typeface="+mj-lt"/>
                <a:cs typeface="Times New Roman" pitchFamily="18" charset="0"/>
              </a:rPr>
              <a:t>- Systèmes à règles («systèmes experts»)</a:t>
            </a:r>
            <a:endParaRPr lang="fr-CA" sz="1050" dirty="0">
              <a:latin typeface="+mj-lt"/>
            </a:endParaRPr>
          </a:p>
          <a:p>
            <a:pPr eaLnBrk="0" hangingPunct="0"/>
            <a:endParaRPr lang="fr-CA" sz="1600" dirty="0">
              <a:latin typeface="+mj-lt"/>
            </a:endParaRPr>
          </a:p>
        </p:txBody>
      </p:sp>
      <p:sp>
        <p:nvSpPr>
          <p:cNvPr id="69635" name="Rectangle 3"/>
          <p:cNvSpPr>
            <a:spLocks noChangeArrowheads="1"/>
          </p:cNvSpPr>
          <p:nvPr/>
        </p:nvSpPr>
        <p:spPr bwMode="auto">
          <a:xfrm>
            <a:off x="1979712" y="1700808"/>
            <a:ext cx="4762009" cy="289310"/>
          </a:xfrm>
          <a:prstGeom prst="rect">
            <a:avLst/>
          </a:prstGeom>
          <a:noFill/>
          <a:ln w="9525">
            <a:noFill/>
            <a:miter lim="800000"/>
            <a:headEnd/>
            <a:tailEnd/>
          </a:ln>
          <a:effectLst/>
        </p:spPr>
        <p:txBody>
          <a:bodyPr wrap="none" anchor="ctr">
            <a:spAutoFit/>
          </a:bodyPr>
          <a:lstStyle/>
          <a:p>
            <a:pPr eaLnBrk="0" hangingPunct="0">
              <a:lnSpc>
                <a:spcPct val="80000"/>
              </a:lnSpc>
              <a:spcBef>
                <a:spcPct val="20000"/>
              </a:spcBef>
            </a:pPr>
            <a:r>
              <a:rPr lang="fr-CA" sz="1600" dirty="0">
                <a:latin typeface="+mj-lt"/>
                <a:cs typeface="Times New Roman" pitchFamily="18" charset="0"/>
              </a:rPr>
              <a:t>Variante : le flou </a:t>
            </a:r>
            <a:r>
              <a:rPr lang="fr-CA" sz="1400" dirty="0">
                <a:latin typeface="+mj-lt"/>
                <a:cs typeface="Times New Roman" pitchFamily="18" charset="0"/>
              </a:rPr>
              <a:t>(expression floue des connaissances)</a:t>
            </a:r>
            <a:r>
              <a:rPr lang="fr-CA" sz="1600" dirty="0">
                <a:latin typeface="+mj-lt"/>
                <a:cs typeface="Times New Roman" pitchFamily="18" charset="0"/>
              </a:rPr>
              <a:t> </a:t>
            </a:r>
            <a:endParaRPr lang="fr-CA" sz="700" dirty="0">
              <a:latin typeface="+mj-lt"/>
            </a:endParaRPr>
          </a:p>
        </p:txBody>
      </p:sp>
      <p:sp>
        <p:nvSpPr>
          <p:cNvPr id="69637" name="Rectangle 5"/>
          <p:cNvSpPr>
            <a:spLocks noChangeArrowheads="1"/>
          </p:cNvSpPr>
          <p:nvPr/>
        </p:nvSpPr>
        <p:spPr bwMode="auto">
          <a:xfrm>
            <a:off x="-1" y="1861374"/>
            <a:ext cx="9109075" cy="2628412"/>
          </a:xfrm>
          <a:prstGeom prst="rect">
            <a:avLst/>
          </a:prstGeom>
          <a:noFill/>
          <a:ln w="9525">
            <a:noFill/>
            <a:miter lim="800000"/>
            <a:headEnd/>
            <a:tailEnd/>
          </a:ln>
          <a:effectLst/>
        </p:spPr>
        <p:txBody>
          <a:bodyPr wrap="square" anchor="ctr">
            <a:spAutoFit/>
          </a:bodyPr>
          <a:lstStyle/>
          <a:p>
            <a:pPr eaLnBrk="0" hangingPunct="0">
              <a:lnSpc>
                <a:spcPct val="80000"/>
              </a:lnSpc>
              <a:spcBef>
                <a:spcPct val="20000"/>
              </a:spcBef>
            </a:pPr>
            <a:r>
              <a:rPr lang="fr-CA" sz="2800" dirty="0">
                <a:latin typeface="+mj-lt"/>
                <a:cs typeface="Times New Roman" pitchFamily="18" charset="0"/>
              </a:rPr>
              <a:t>- Raisonnement à partir de cas</a:t>
            </a:r>
            <a:r>
              <a:rPr lang="fr-CA" sz="3600" dirty="0">
                <a:latin typeface="+mj-lt"/>
                <a:cs typeface="Times New Roman" pitchFamily="18" charset="0"/>
              </a:rPr>
              <a:t> </a:t>
            </a:r>
            <a:r>
              <a:rPr lang="fr-CA" sz="2400" dirty="0">
                <a:latin typeface="+mj-lt"/>
                <a:cs typeface="Times New Roman" pitchFamily="18" charset="0"/>
              </a:rPr>
              <a:t>(remémoration, analogie) </a:t>
            </a:r>
            <a:endParaRPr lang="fr-CA" sz="1050" dirty="0">
              <a:latin typeface="+mj-lt"/>
            </a:endParaRPr>
          </a:p>
          <a:p>
            <a:pPr eaLnBrk="0" hangingPunct="0">
              <a:lnSpc>
                <a:spcPct val="80000"/>
              </a:lnSpc>
              <a:spcBef>
                <a:spcPct val="20000"/>
              </a:spcBef>
            </a:pPr>
            <a:r>
              <a:rPr lang="fr-CA" sz="2800" dirty="0">
                <a:latin typeface="+mj-lt"/>
                <a:cs typeface="Times New Roman" pitchFamily="18" charset="0"/>
              </a:rPr>
              <a:t> </a:t>
            </a:r>
          </a:p>
          <a:p>
            <a:pPr eaLnBrk="0" hangingPunct="0">
              <a:lnSpc>
                <a:spcPct val="80000"/>
              </a:lnSpc>
              <a:spcBef>
                <a:spcPct val="20000"/>
              </a:spcBef>
              <a:buFontTx/>
              <a:buChar char="-"/>
            </a:pPr>
            <a:r>
              <a:rPr lang="fr-CA" sz="2800" dirty="0">
                <a:latin typeface="+mj-lt"/>
                <a:cs typeface="Times New Roman" pitchFamily="18" charset="0"/>
              </a:rPr>
              <a:t> Découverte de connaissances dans des </a:t>
            </a:r>
          </a:p>
          <a:p>
            <a:pPr eaLnBrk="0" hangingPunct="0">
              <a:lnSpc>
                <a:spcPct val="80000"/>
              </a:lnSpc>
              <a:spcBef>
                <a:spcPct val="20000"/>
              </a:spcBef>
            </a:pPr>
            <a:r>
              <a:rPr lang="fr-CA" sz="2800" dirty="0">
                <a:latin typeface="+mj-lt"/>
                <a:cs typeface="Times New Roman" pitchFamily="18" charset="0"/>
              </a:rPr>
              <a:t>bases de données, Textes, images,…</a:t>
            </a:r>
          </a:p>
          <a:p>
            <a:pPr eaLnBrk="0" hangingPunct="0">
              <a:lnSpc>
                <a:spcPct val="80000"/>
              </a:lnSpc>
              <a:spcBef>
                <a:spcPct val="20000"/>
              </a:spcBef>
            </a:pPr>
            <a:r>
              <a:rPr lang="fr-CA" sz="3600" dirty="0">
                <a:latin typeface="+mj-lt"/>
                <a:cs typeface="Times New Roman" pitchFamily="18" charset="0"/>
              </a:rPr>
              <a:t> </a:t>
            </a:r>
            <a:r>
              <a:rPr lang="fr-CA" sz="2400" dirty="0">
                <a:latin typeface="+mj-lt"/>
                <a:cs typeface="Times New Roman" pitchFamily="18" charset="0"/>
              </a:rPr>
              <a:t>(« fouille de données », </a:t>
            </a:r>
            <a:r>
              <a:rPr lang="fr-CA" sz="2400" i="1" dirty="0">
                <a:latin typeface="+mj-lt"/>
                <a:cs typeface="Times New Roman" pitchFamily="18" charset="0"/>
              </a:rPr>
              <a:t>data </a:t>
            </a:r>
            <a:r>
              <a:rPr lang="fr-CA" sz="2400" i="1" dirty="0" err="1">
                <a:latin typeface="+mj-lt"/>
                <a:cs typeface="Times New Roman" pitchFamily="18" charset="0"/>
              </a:rPr>
              <a:t>mining</a:t>
            </a:r>
            <a:r>
              <a:rPr lang="fr-CA" sz="2400" dirty="0">
                <a:latin typeface="+mj-lt"/>
                <a:cs typeface="Times New Roman" pitchFamily="18" charset="0"/>
              </a:rPr>
              <a:t>) </a:t>
            </a:r>
            <a:endParaRPr lang="fr-CA" sz="1050" dirty="0">
              <a:latin typeface="+mj-lt"/>
            </a:endParaRPr>
          </a:p>
          <a:p>
            <a:pPr eaLnBrk="0" hangingPunct="0"/>
            <a:endParaRPr lang="fr-CA" sz="1600" dirty="0">
              <a:latin typeface="+mj-lt"/>
            </a:endParaRPr>
          </a:p>
        </p:txBody>
      </p:sp>
      <p:sp>
        <p:nvSpPr>
          <p:cNvPr id="69638" name="Rectangle 6"/>
          <p:cNvSpPr>
            <a:spLocks noChangeArrowheads="1"/>
          </p:cNvSpPr>
          <p:nvPr/>
        </p:nvSpPr>
        <p:spPr bwMode="auto">
          <a:xfrm>
            <a:off x="34925" y="4508975"/>
            <a:ext cx="2223686" cy="683264"/>
          </a:xfrm>
          <a:prstGeom prst="rect">
            <a:avLst/>
          </a:prstGeom>
          <a:noFill/>
          <a:ln w="9525">
            <a:noFill/>
            <a:miter lim="800000"/>
            <a:headEnd/>
            <a:tailEnd/>
          </a:ln>
          <a:effectLst/>
        </p:spPr>
        <p:txBody>
          <a:bodyPr wrap="none" anchor="ctr">
            <a:spAutoFit/>
          </a:bodyPr>
          <a:lstStyle/>
          <a:p>
            <a:pPr eaLnBrk="0" hangingPunct="0">
              <a:lnSpc>
                <a:spcPct val="80000"/>
              </a:lnSpc>
              <a:spcBef>
                <a:spcPct val="20000"/>
              </a:spcBef>
            </a:pPr>
            <a:r>
              <a:rPr lang="fr-CA" sz="2800" dirty="0">
                <a:latin typeface="+mj-lt"/>
                <a:cs typeface="Times New Roman" pitchFamily="18" charset="0"/>
              </a:rPr>
              <a:t>- Ontologies </a:t>
            </a:r>
            <a:endParaRPr lang="fr-CA" sz="1050" dirty="0">
              <a:latin typeface="+mj-lt"/>
            </a:endParaRPr>
          </a:p>
          <a:p>
            <a:pPr eaLnBrk="0" hangingPunct="0"/>
            <a:endParaRPr lang="fr-CA" sz="1600" dirty="0">
              <a:latin typeface="+mj-lt"/>
            </a:endParaRPr>
          </a:p>
        </p:txBody>
      </p:sp>
      <p:sp>
        <p:nvSpPr>
          <p:cNvPr id="69639" name="Rectangle 7"/>
          <p:cNvSpPr>
            <a:spLocks noChangeArrowheads="1"/>
          </p:cNvSpPr>
          <p:nvPr/>
        </p:nvSpPr>
        <p:spPr bwMode="auto">
          <a:xfrm>
            <a:off x="34925" y="4802892"/>
            <a:ext cx="7144905" cy="1200329"/>
          </a:xfrm>
          <a:prstGeom prst="rect">
            <a:avLst/>
          </a:prstGeom>
          <a:noFill/>
          <a:ln w="9525">
            <a:noFill/>
            <a:miter lim="800000"/>
            <a:headEnd/>
            <a:tailEnd/>
          </a:ln>
          <a:effectLst/>
        </p:spPr>
        <p:txBody>
          <a:bodyPr wrap="none" anchor="ctr">
            <a:spAutoFit/>
          </a:bodyPr>
          <a:lstStyle/>
          <a:p>
            <a:pPr eaLnBrk="0" hangingPunct="0">
              <a:lnSpc>
                <a:spcPct val="90000"/>
              </a:lnSpc>
              <a:spcBef>
                <a:spcPct val="20000"/>
              </a:spcBef>
            </a:pPr>
            <a:endParaRPr lang="fr-CA" sz="2800" dirty="0">
              <a:latin typeface="+mj-lt"/>
              <a:cs typeface="Times New Roman" pitchFamily="18" charset="0"/>
            </a:endParaRPr>
          </a:p>
          <a:p>
            <a:pPr eaLnBrk="0" hangingPunct="0">
              <a:lnSpc>
                <a:spcPct val="90000"/>
              </a:lnSpc>
              <a:spcBef>
                <a:spcPct val="20000"/>
              </a:spcBef>
            </a:pPr>
            <a:r>
              <a:rPr lang="fr-CA" sz="2800" dirty="0">
                <a:latin typeface="+mj-lt"/>
                <a:cs typeface="Times New Roman" pitchFamily="18" charset="0"/>
              </a:rPr>
              <a:t>- Mémoire d ’entreprise (méthodes et outils)</a:t>
            </a:r>
            <a:endParaRPr lang="fr-CA" sz="1050" dirty="0">
              <a:latin typeface="+mj-lt"/>
            </a:endParaRPr>
          </a:p>
          <a:p>
            <a:pPr lvl="1" eaLnBrk="0" hangingPunct="0"/>
            <a:endParaRPr lang="fr-CA" sz="1600" dirty="0">
              <a:latin typeface="+mj-lt"/>
            </a:endParaRPr>
          </a:p>
        </p:txBody>
      </p:sp>
      <p:sp>
        <p:nvSpPr>
          <p:cNvPr id="69640" name="Rectangle 8"/>
          <p:cNvSpPr>
            <a:spLocks noChangeArrowheads="1"/>
          </p:cNvSpPr>
          <p:nvPr/>
        </p:nvSpPr>
        <p:spPr bwMode="auto">
          <a:xfrm>
            <a:off x="441325" y="5805191"/>
            <a:ext cx="7947099" cy="584775"/>
          </a:xfrm>
          <a:prstGeom prst="rect">
            <a:avLst/>
          </a:prstGeom>
          <a:noFill/>
          <a:ln w="9525">
            <a:noFill/>
            <a:miter lim="800000"/>
            <a:headEnd/>
            <a:tailEnd/>
          </a:ln>
          <a:effectLst/>
        </p:spPr>
        <p:txBody>
          <a:bodyPr wrap="square" anchor="ctr">
            <a:spAutoFit/>
          </a:bodyPr>
          <a:lstStyle/>
          <a:p>
            <a:pPr eaLnBrk="0" hangingPunct="0">
              <a:lnSpc>
                <a:spcPct val="90000"/>
              </a:lnSpc>
              <a:spcBef>
                <a:spcPct val="20000"/>
              </a:spcBef>
            </a:pPr>
            <a:r>
              <a:rPr lang="fr-CA" sz="2000" dirty="0">
                <a:latin typeface="+mj-lt"/>
                <a:cs typeface="Times New Roman" pitchFamily="18" charset="0"/>
              </a:rPr>
              <a:t>représentation des connaissances et du savoir-faire </a:t>
            </a:r>
            <a:endParaRPr lang="fr-CA" sz="1000" dirty="0">
              <a:latin typeface="+mj-lt"/>
            </a:endParaRPr>
          </a:p>
          <a:p>
            <a:pPr lvl="1" eaLnBrk="0" hangingPunct="0"/>
            <a:endParaRPr lang="fr-CA" sz="1400" dirty="0">
              <a:latin typeface="+mj-lt"/>
            </a:endParaRPr>
          </a:p>
        </p:txBody>
      </p:sp>
      <p:sp>
        <p:nvSpPr>
          <p:cNvPr id="69641" name="Rectangle 9"/>
          <p:cNvSpPr>
            <a:spLocks noChangeArrowheads="1"/>
          </p:cNvSpPr>
          <p:nvPr/>
        </p:nvSpPr>
        <p:spPr bwMode="auto">
          <a:xfrm>
            <a:off x="395288" y="6145719"/>
            <a:ext cx="6755567" cy="584775"/>
          </a:xfrm>
          <a:prstGeom prst="rect">
            <a:avLst/>
          </a:prstGeom>
          <a:noFill/>
          <a:ln w="9525">
            <a:noFill/>
            <a:miter lim="800000"/>
            <a:headEnd/>
            <a:tailEnd/>
          </a:ln>
          <a:effectLst/>
        </p:spPr>
        <p:txBody>
          <a:bodyPr wrap="none" anchor="ctr">
            <a:spAutoFit/>
          </a:bodyPr>
          <a:lstStyle/>
          <a:p>
            <a:pPr eaLnBrk="0" hangingPunct="0">
              <a:lnSpc>
                <a:spcPct val="90000"/>
              </a:lnSpc>
              <a:spcBef>
                <a:spcPct val="20000"/>
              </a:spcBef>
            </a:pPr>
            <a:r>
              <a:rPr lang="fr-CA" sz="2000" dirty="0">
                <a:latin typeface="+mj-lt"/>
                <a:cs typeface="Times New Roman" pitchFamily="18" charset="0"/>
              </a:rPr>
              <a:t>d’une</a:t>
            </a:r>
            <a:r>
              <a:rPr lang="fr-CA" dirty="0">
                <a:latin typeface="+mj-lt"/>
                <a:cs typeface="Times New Roman" pitchFamily="18" charset="0"/>
              </a:rPr>
              <a:t> </a:t>
            </a:r>
            <a:r>
              <a:rPr lang="fr-CA" sz="2000" dirty="0">
                <a:latin typeface="+mj-lt"/>
                <a:cs typeface="Times New Roman" pitchFamily="18" charset="0"/>
              </a:rPr>
              <a:t>entreprise à des fins de capitalisation et de diffusion</a:t>
            </a:r>
            <a:endParaRPr lang="fr-CA" sz="1000" dirty="0">
              <a:latin typeface="+mj-lt"/>
            </a:endParaRPr>
          </a:p>
          <a:p>
            <a:pPr eaLnBrk="0" hangingPunct="0"/>
            <a:endParaRPr lang="fr-CA" sz="1400" dirty="0">
              <a:latin typeface="+mj-lt"/>
            </a:endParaRPr>
          </a:p>
        </p:txBody>
      </p:sp>
      <p:sp>
        <p:nvSpPr>
          <p:cNvPr id="69642" name="Rectangle 10"/>
          <p:cNvSpPr>
            <a:spLocks noChangeArrowheads="1"/>
          </p:cNvSpPr>
          <p:nvPr/>
        </p:nvSpPr>
        <p:spPr bwMode="auto">
          <a:xfrm>
            <a:off x="34925" y="6348413"/>
            <a:ext cx="285750" cy="804862"/>
          </a:xfrm>
          <a:prstGeom prst="rect">
            <a:avLst/>
          </a:prstGeom>
          <a:noFill/>
          <a:ln w="9525">
            <a:noFill/>
            <a:miter lim="800000"/>
            <a:headEnd/>
            <a:tailEnd/>
          </a:ln>
          <a:effectLst/>
        </p:spPr>
        <p:txBody>
          <a:bodyPr wrap="none" anchor="ctr">
            <a:spAutoFit/>
          </a:bodyPr>
          <a:lstStyle/>
          <a:p>
            <a:pPr eaLnBrk="0" hangingPunct="0">
              <a:lnSpc>
                <a:spcPct val="90000"/>
              </a:lnSpc>
              <a:spcBef>
                <a:spcPct val="20000"/>
              </a:spcBef>
            </a:pPr>
            <a:r>
              <a:rPr lang="fr-CA" sz="3200">
                <a:effectLst>
                  <a:outerShdw blurRad="38100" dist="38100" dir="2700000" algn="tl">
                    <a:srgbClr val="C0C0C0"/>
                  </a:outerShdw>
                </a:effectLst>
                <a:latin typeface="Times New Roman" pitchFamily="18" charset="0"/>
                <a:cs typeface="Times New Roman" pitchFamily="18" charset="0"/>
              </a:rPr>
              <a:t> </a:t>
            </a:r>
            <a:endParaRPr lang="fr-CA" sz="1100"/>
          </a:p>
          <a:p>
            <a:pPr eaLnBrk="0" hangingPunct="0"/>
            <a:endParaRPr lang="fr-CA"/>
          </a:p>
        </p:txBody>
      </p:sp>
      <p:sp>
        <p:nvSpPr>
          <p:cNvPr id="69643" name="Rectangle 11"/>
          <p:cNvSpPr>
            <a:spLocks noChangeArrowheads="1"/>
          </p:cNvSpPr>
          <p:nvPr/>
        </p:nvSpPr>
        <p:spPr bwMode="auto">
          <a:xfrm>
            <a:off x="1193800" y="7173913"/>
            <a:ext cx="7456488" cy="0"/>
          </a:xfrm>
          <a:prstGeom prst="rect">
            <a:avLst/>
          </a:prstGeom>
          <a:noFill/>
          <a:ln w="9525">
            <a:noFill/>
            <a:miter lim="800000"/>
            <a:headEnd/>
            <a:tailEnd/>
          </a:ln>
          <a:effectLst/>
        </p:spPr>
        <p:txBody>
          <a:bodyPr wrap="none" anchor="ctr">
            <a:spAutoFit/>
          </a:bodyPr>
          <a:lstStyle/>
          <a:p>
            <a:endParaRPr lang="fr-FR"/>
          </a:p>
        </p:txBody>
      </p:sp>
      <p:sp>
        <p:nvSpPr>
          <p:cNvPr id="69647" name="Rectangle 15"/>
          <p:cNvSpPr>
            <a:spLocks noChangeArrowheads="1"/>
          </p:cNvSpPr>
          <p:nvPr/>
        </p:nvSpPr>
        <p:spPr bwMode="auto">
          <a:xfrm>
            <a:off x="25136" y="188640"/>
            <a:ext cx="9486700" cy="707886"/>
          </a:xfrm>
          <a:prstGeom prst="rect">
            <a:avLst/>
          </a:prstGeom>
          <a:noFill/>
          <a:ln w="28575">
            <a:noFill/>
            <a:miter lim="800000"/>
            <a:headEnd type="none" w="sm" len="sm"/>
            <a:tailEnd type="none" w="sm" len="sm"/>
          </a:ln>
          <a:effectLst/>
        </p:spPr>
        <p:txBody>
          <a:bodyPr wrap="square">
            <a:spAutoFit/>
          </a:bodyPr>
          <a:lstStyle/>
          <a:p>
            <a:pPr algn="ctr" eaLnBrk="0" hangingPunct="0"/>
            <a:r>
              <a:rPr lang="fr-CA" sz="4000" b="1" dirty="0">
                <a:solidFill>
                  <a:schemeClr val="tx2">
                    <a:satMod val="130000"/>
                  </a:schemeClr>
                </a:solidFill>
                <a:latin typeface="+mj-lt"/>
                <a:ea typeface="+mj-ea"/>
                <a:cs typeface="+mj-cs"/>
              </a:rPr>
              <a:t>Systèmes fondés sur des connaissances</a:t>
            </a:r>
          </a:p>
        </p:txBody>
      </p:sp>
    </p:spTree>
    <p:extLst>
      <p:ext uri="{BB962C8B-B14F-4D97-AF65-F5344CB8AC3E}">
        <p14:creationId xmlns:p14="http://schemas.microsoft.com/office/powerpoint/2010/main" val="34799213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AutoShape 3"/>
          <p:cNvSpPr>
            <a:spLocks noChangeArrowheads="1"/>
          </p:cNvSpPr>
          <p:nvPr/>
        </p:nvSpPr>
        <p:spPr bwMode="auto">
          <a:xfrm>
            <a:off x="0" y="1700808"/>
            <a:ext cx="9144000" cy="4114800"/>
          </a:xfrm>
          <a:custGeom>
            <a:avLst/>
            <a:gdLst/>
            <a:ahLst/>
            <a:cxnLst/>
            <a:rect l="0" t="0" r="0" b="0"/>
            <a:pathLst/>
          </a:custGeom>
          <a:solidFill>
            <a:srgbClr val="FFFFFF"/>
          </a:solidFill>
          <a:ln w="9525">
            <a:solidFill>
              <a:srgbClr val="000000"/>
            </a:solidFill>
            <a:round/>
            <a:headEnd/>
            <a:tailEnd/>
          </a:ln>
        </p:spPr>
        <p:txBody>
          <a:bodyPr/>
          <a:lstStyle/>
          <a:p>
            <a:pPr marL="457200" indent="-457200" eaLnBrk="0" hangingPunct="0">
              <a:lnSpc>
                <a:spcPct val="90000"/>
              </a:lnSpc>
              <a:spcBef>
                <a:spcPct val="20000"/>
              </a:spcBef>
              <a:buClr>
                <a:schemeClr val="tx2"/>
              </a:buClr>
              <a:buSzPct val="75000"/>
              <a:buFontTx/>
              <a:buChar char="-"/>
            </a:pPr>
            <a:r>
              <a:rPr lang="fr-CA" sz="2800" dirty="0">
                <a:latin typeface="+mj-lt"/>
                <a:cs typeface="Times New Roman" pitchFamily="18" charset="0"/>
              </a:rPr>
              <a:t>Combinaison d ’une structure de données et </a:t>
            </a:r>
          </a:p>
          <a:p>
            <a:pPr eaLnBrk="0" hangingPunct="0">
              <a:lnSpc>
                <a:spcPct val="90000"/>
              </a:lnSpc>
              <a:spcBef>
                <a:spcPct val="20000"/>
              </a:spcBef>
              <a:buClr>
                <a:schemeClr val="tx2"/>
              </a:buClr>
              <a:buSzPct val="75000"/>
            </a:pPr>
            <a:r>
              <a:rPr lang="fr-CA" sz="2800" dirty="0">
                <a:latin typeface="+mj-lt"/>
                <a:cs typeface="Times New Roman" pitchFamily="18" charset="0"/>
              </a:rPr>
              <a:t>d’un mécanisme de raisonnement</a:t>
            </a:r>
            <a:r>
              <a:rPr lang="fr-CA" sz="2400" dirty="0">
                <a:latin typeface="+mj-lt"/>
                <a:cs typeface="Times New Roman" pitchFamily="18" charset="0"/>
              </a:rPr>
              <a:t> </a:t>
            </a:r>
            <a:endParaRPr lang="fr-CA" sz="1500" dirty="0">
              <a:latin typeface="+mj-lt"/>
            </a:endParaRPr>
          </a:p>
          <a:p>
            <a:pPr marL="342900" indent="-342900" eaLnBrk="0" hangingPunct="0">
              <a:lnSpc>
                <a:spcPct val="90000"/>
              </a:lnSpc>
              <a:spcBef>
                <a:spcPct val="20000"/>
              </a:spcBef>
              <a:buClr>
                <a:schemeClr val="tx2"/>
              </a:buClr>
              <a:buSzPct val="75000"/>
              <a:buFont typeface="Monotype Sorts"/>
              <a:buNone/>
            </a:pPr>
            <a:endParaRPr lang="fr-CA" sz="2800" dirty="0">
              <a:latin typeface="+mj-lt"/>
              <a:cs typeface="Times New Roman" pitchFamily="18" charset="0"/>
            </a:endParaRPr>
          </a:p>
          <a:p>
            <a:pPr marL="342900" indent="-342900" eaLnBrk="0" hangingPunct="0">
              <a:lnSpc>
                <a:spcPct val="90000"/>
              </a:lnSpc>
              <a:spcBef>
                <a:spcPct val="20000"/>
              </a:spcBef>
              <a:buClr>
                <a:schemeClr val="tx2"/>
              </a:buClr>
              <a:buSzPct val="75000"/>
              <a:buFont typeface="Monotype Sorts"/>
              <a:buNone/>
            </a:pPr>
            <a:r>
              <a:rPr lang="fr-CA" sz="2800" dirty="0">
                <a:latin typeface="+mj-lt"/>
                <a:cs typeface="Times New Roman" pitchFamily="18" charset="0"/>
              </a:rPr>
              <a:t>- Solutions possibles :</a:t>
            </a:r>
            <a:r>
              <a:rPr lang="fr-CA" sz="2400" dirty="0">
                <a:latin typeface="+mj-lt"/>
                <a:cs typeface="Times New Roman" pitchFamily="18" charset="0"/>
              </a:rPr>
              <a:t> </a:t>
            </a:r>
            <a:endParaRPr lang="fr-CA" sz="1500" dirty="0">
              <a:latin typeface="+mj-lt"/>
            </a:endParaRPr>
          </a:p>
          <a:p>
            <a:pPr marL="742950" lvl="1" indent="-285750" eaLnBrk="0" hangingPunct="0">
              <a:lnSpc>
                <a:spcPct val="90000"/>
              </a:lnSpc>
              <a:spcBef>
                <a:spcPct val="20000"/>
              </a:spcBef>
              <a:buClr>
                <a:schemeClr val="tx2"/>
              </a:buClr>
              <a:buFont typeface="Monotype Sorts"/>
              <a:buNone/>
            </a:pPr>
            <a:r>
              <a:rPr lang="fr-CA" sz="2400" dirty="0">
                <a:latin typeface="+mj-lt"/>
                <a:cs typeface="Times New Roman" pitchFamily="18" charset="0"/>
              </a:rPr>
              <a:t>. logiques </a:t>
            </a:r>
            <a:endParaRPr lang="fr-CA" sz="1500" dirty="0">
              <a:latin typeface="+mj-lt"/>
            </a:endParaRPr>
          </a:p>
          <a:p>
            <a:pPr marL="742950" lvl="1" indent="-285750" eaLnBrk="0" hangingPunct="0">
              <a:lnSpc>
                <a:spcPct val="90000"/>
              </a:lnSpc>
              <a:spcBef>
                <a:spcPct val="20000"/>
              </a:spcBef>
              <a:buClr>
                <a:schemeClr val="tx2"/>
              </a:buClr>
              <a:buFont typeface="Monotype Sorts"/>
              <a:buNone/>
            </a:pPr>
            <a:r>
              <a:rPr lang="fr-CA" sz="2400" dirty="0">
                <a:latin typeface="+mj-lt"/>
                <a:cs typeface="Times New Roman" pitchFamily="18" charset="0"/>
              </a:rPr>
              <a:t>. réseaux sémantiques (issus de la psychologie cognitive) </a:t>
            </a:r>
            <a:endParaRPr lang="fr-CA" sz="1500" dirty="0">
              <a:latin typeface="+mj-lt"/>
            </a:endParaRPr>
          </a:p>
          <a:p>
            <a:pPr marL="742950" lvl="1" indent="-285750" eaLnBrk="0" hangingPunct="0">
              <a:lnSpc>
                <a:spcPct val="90000"/>
              </a:lnSpc>
              <a:spcBef>
                <a:spcPct val="20000"/>
              </a:spcBef>
              <a:buClr>
                <a:schemeClr val="tx2"/>
              </a:buClr>
              <a:buFont typeface="Monotype Sorts"/>
              <a:buNone/>
            </a:pPr>
            <a:r>
              <a:rPr lang="fr-CA" sz="2400" dirty="0">
                <a:latin typeface="+mj-lt"/>
                <a:cs typeface="Times New Roman" pitchFamily="18" charset="0"/>
              </a:rPr>
              <a:t>. règles de production </a:t>
            </a:r>
            <a:endParaRPr lang="fr-CA" sz="1500" dirty="0">
              <a:latin typeface="+mj-lt"/>
            </a:endParaRPr>
          </a:p>
          <a:p>
            <a:pPr marL="742950" lvl="1" indent="-285750" eaLnBrk="0" hangingPunct="0">
              <a:lnSpc>
                <a:spcPct val="90000"/>
              </a:lnSpc>
              <a:spcBef>
                <a:spcPct val="20000"/>
              </a:spcBef>
              <a:buClr>
                <a:schemeClr val="tx2"/>
              </a:buClr>
              <a:buFont typeface="Monotype Sorts"/>
              <a:buNone/>
            </a:pPr>
            <a:r>
              <a:rPr lang="fr-CA" sz="2400" i="1" dirty="0">
                <a:latin typeface="+mj-lt"/>
                <a:cs typeface="Times New Roman" pitchFamily="18" charset="0"/>
              </a:rPr>
              <a:t>. frames</a:t>
            </a:r>
            <a:r>
              <a:rPr lang="fr-CA" sz="2400" dirty="0">
                <a:latin typeface="+mj-lt"/>
                <a:cs typeface="Times New Roman" pitchFamily="18" charset="0"/>
              </a:rPr>
              <a:t> et objets </a:t>
            </a:r>
            <a:endParaRPr lang="fr-CA" sz="1500" dirty="0">
              <a:latin typeface="+mj-lt"/>
            </a:endParaRPr>
          </a:p>
          <a:p>
            <a:pPr marL="742950" lvl="1" indent="-285750" eaLnBrk="0" hangingPunct="0">
              <a:lnSpc>
                <a:spcPct val="90000"/>
              </a:lnSpc>
              <a:spcBef>
                <a:spcPct val="20000"/>
              </a:spcBef>
              <a:buClr>
                <a:schemeClr val="tx2"/>
              </a:buClr>
              <a:buFont typeface="Monotype Sorts"/>
              <a:buNone/>
            </a:pPr>
            <a:r>
              <a:rPr lang="fr-CA" sz="2400" dirty="0">
                <a:latin typeface="+mj-lt"/>
                <a:cs typeface="Times New Roman" pitchFamily="18" charset="0"/>
              </a:rPr>
              <a:t>. procédures </a:t>
            </a:r>
            <a:endParaRPr lang="fr-CA" sz="1500" dirty="0">
              <a:latin typeface="+mj-lt"/>
            </a:endParaRPr>
          </a:p>
          <a:p>
            <a:pPr marL="342900" indent="-342900" eaLnBrk="0" hangingPunct="0">
              <a:lnSpc>
                <a:spcPct val="90000"/>
              </a:lnSpc>
              <a:spcBef>
                <a:spcPct val="20000"/>
              </a:spcBef>
              <a:buClr>
                <a:schemeClr val="tx2"/>
              </a:buClr>
              <a:buSzPct val="75000"/>
              <a:buFont typeface="Monotype Sorts"/>
              <a:buNone/>
            </a:pPr>
            <a:endParaRPr lang="fr-CA" sz="2800" dirty="0">
              <a:latin typeface="+mj-lt"/>
              <a:cs typeface="Times New Roman" pitchFamily="18" charset="0"/>
            </a:endParaRPr>
          </a:p>
          <a:p>
            <a:pPr marL="342900" indent="-342900" eaLnBrk="0" hangingPunct="0">
              <a:lnSpc>
                <a:spcPct val="90000"/>
              </a:lnSpc>
              <a:spcBef>
                <a:spcPct val="20000"/>
              </a:spcBef>
              <a:buClr>
                <a:schemeClr val="tx2"/>
              </a:buClr>
              <a:buSzPct val="75000"/>
              <a:buFont typeface="Monotype Sorts"/>
              <a:buNone/>
            </a:pPr>
            <a:r>
              <a:rPr lang="fr-CA" sz="2800" dirty="0">
                <a:latin typeface="+mj-lt"/>
                <a:cs typeface="Times New Roman" pitchFamily="18" charset="0"/>
              </a:rPr>
              <a:t>- Tendance actuelle : </a:t>
            </a:r>
            <a:r>
              <a:rPr lang="fr-CA" sz="2000" dirty="0">
                <a:latin typeface="+mj-lt"/>
                <a:cs typeface="Times New Roman" pitchFamily="18" charset="0"/>
              </a:rPr>
              <a:t>mélange de plusieurs modèles de représentation</a:t>
            </a:r>
            <a:r>
              <a:rPr lang="fr-CA" dirty="0">
                <a:latin typeface="+mj-lt"/>
                <a:cs typeface="Times New Roman" pitchFamily="18" charset="0"/>
              </a:rPr>
              <a:t> </a:t>
            </a:r>
            <a:endParaRPr lang="fr-CA" sz="1200" dirty="0">
              <a:latin typeface="+mj-lt"/>
            </a:endParaRPr>
          </a:p>
          <a:p>
            <a:pPr marL="342900" indent="-342900" eaLnBrk="0" hangingPunct="0">
              <a:lnSpc>
                <a:spcPct val="90000"/>
              </a:lnSpc>
              <a:spcBef>
                <a:spcPct val="20000"/>
              </a:spcBef>
              <a:buClr>
                <a:schemeClr val="tx2"/>
              </a:buClr>
              <a:buSzPct val="75000"/>
              <a:buFont typeface="Monotype Sorts"/>
              <a:buNone/>
            </a:pPr>
            <a:r>
              <a:rPr lang="fr-CA" sz="1600" b="1" dirty="0">
                <a:latin typeface="+mj-lt"/>
                <a:cs typeface="Times New Roman" pitchFamily="18" charset="0"/>
              </a:rPr>
              <a:t> </a:t>
            </a:r>
            <a:endParaRPr lang="fr-CA" sz="2400" dirty="0">
              <a:latin typeface="+mj-lt"/>
            </a:endParaRPr>
          </a:p>
        </p:txBody>
      </p:sp>
      <p:sp>
        <p:nvSpPr>
          <p:cNvPr id="5" name="Rectangle 10"/>
          <p:cNvSpPr>
            <a:spLocks noChangeArrowheads="1"/>
          </p:cNvSpPr>
          <p:nvPr/>
        </p:nvSpPr>
        <p:spPr bwMode="auto">
          <a:xfrm>
            <a:off x="251520" y="537613"/>
            <a:ext cx="8297464" cy="707886"/>
          </a:xfrm>
          <a:prstGeom prst="rect">
            <a:avLst/>
          </a:prstGeom>
          <a:noFill/>
          <a:ln w="28575">
            <a:noFill/>
            <a:miter lim="800000"/>
            <a:headEnd type="none" w="sm" len="sm"/>
            <a:tailEnd type="none" w="sm" len="sm"/>
          </a:ln>
          <a:effectLst/>
        </p:spPr>
        <p:txBody>
          <a:bodyPr wrap="square">
            <a:spAutoFit/>
          </a:bodyPr>
          <a:lstStyle/>
          <a:p>
            <a:pPr algn="ctr" eaLnBrk="0" hangingPunct="0"/>
            <a:r>
              <a:rPr lang="fr-CA" sz="4000" b="1" dirty="0">
                <a:solidFill>
                  <a:schemeClr val="tx2">
                    <a:satMod val="130000"/>
                  </a:schemeClr>
                </a:solidFill>
                <a:latin typeface="+mj-lt"/>
                <a:ea typeface="+mj-ea"/>
                <a:cs typeface="+mj-cs"/>
              </a:rPr>
              <a:t>Représentation des connaissances</a:t>
            </a:r>
          </a:p>
        </p:txBody>
      </p:sp>
    </p:spTree>
    <p:extLst>
      <p:ext uri="{BB962C8B-B14F-4D97-AF65-F5344CB8AC3E}">
        <p14:creationId xmlns:p14="http://schemas.microsoft.com/office/powerpoint/2010/main" val="12893237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1717820" y="981144"/>
            <a:ext cx="5025735" cy="707886"/>
          </a:xfrm>
          <a:prstGeom prst="rect">
            <a:avLst/>
          </a:prstGeom>
          <a:noFill/>
          <a:ln w="28575">
            <a:noFill/>
            <a:miter lim="800000"/>
            <a:headEnd type="none" w="sm" len="sm"/>
            <a:tailEnd type="none" w="sm" len="sm"/>
          </a:ln>
          <a:effectLst/>
        </p:spPr>
        <p:txBody>
          <a:bodyPr wrap="square">
            <a:spAutoFit/>
          </a:bodyPr>
          <a:lstStyle>
            <a:defPPr>
              <a:defRPr lang="fr-FR"/>
            </a:defPPr>
            <a:lvl1pPr algn="ctr" eaLnBrk="0" hangingPunct="0">
              <a:defRPr sz="4000" b="1">
                <a:solidFill>
                  <a:schemeClr val="tx2">
                    <a:satMod val="130000"/>
                  </a:schemeClr>
                </a:solidFill>
                <a:latin typeface="+mj-lt"/>
                <a:ea typeface="+mj-ea"/>
                <a:cs typeface="+mj-cs"/>
              </a:defRPr>
            </a:lvl1pPr>
          </a:lstStyle>
          <a:p>
            <a:r>
              <a:rPr lang="fr-CA"/>
              <a:t>Les grands modèles </a:t>
            </a:r>
          </a:p>
        </p:txBody>
      </p:sp>
      <p:sp>
        <p:nvSpPr>
          <p:cNvPr id="88067" name="Text Box 3"/>
          <p:cNvSpPr txBox="1">
            <a:spLocks noChangeArrowheads="1"/>
          </p:cNvSpPr>
          <p:nvPr/>
        </p:nvSpPr>
        <p:spPr bwMode="auto">
          <a:xfrm>
            <a:off x="952500" y="2549516"/>
            <a:ext cx="8191500" cy="3416320"/>
          </a:xfrm>
          <a:prstGeom prst="rect">
            <a:avLst/>
          </a:prstGeom>
          <a:noFill/>
          <a:ln w="9525">
            <a:noFill/>
            <a:miter lim="800000"/>
            <a:headEnd/>
            <a:tailEnd/>
          </a:ln>
        </p:spPr>
        <p:txBody>
          <a:bodyPr wrap="square" anchor="ctr">
            <a:spAutoFit/>
          </a:bodyPr>
          <a:lstStyle/>
          <a:p>
            <a:pPr eaLnBrk="0" hangingPunct="0">
              <a:lnSpc>
                <a:spcPct val="150000"/>
              </a:lnSpc>
              <a:spcBef>
                <a:spcPct val="50000"/>
              </a:spcBef>
              <a:buFontTx/>
              <a:buChar char="•"/>
            </a:pPr>
            <a:r>
              <a:rPr lang="fr-CA" sz="4400" dirty="0">
                <a:latin typeface="+mj-lt"/>
                <a:cs typeface="Times New Roman" pitchFamily="18" charset="0"/>
              </a:rPr>
              <a:t> Connaissances symboliques </a:t>
            </a:r>
            <a:endParaRPr lang="fr-CA" sz="2400" dirty="0">
              <a:latin typeface="+mj-lt"/>
              <a:cs typeface="Times New Roman" pitchFamily="18" charset="0"/>
            </a:endParaRPr>
          </a:p>
          <a:p>
            <a:pPr eaLnBrk="0" hangingPunct="0">
              <a:lnSpc>
                <a:spcPct val="150000"/>
              </a:lnSpc>
              <a:buFontTx/>
              <a:buChar char="•"/>
            </a:pPr>
            <a:r>
              <a:rPr lang="fr-CA" sz="4400" dirty="0">
                <a:latin typeface="+mj-lt"/>
                <a:cs typeface="Times New Roman" pitchFamily="18" charset="0"/>
              </a:rPr>
              <a:t> </a:t>
            </a:r>
            <a:r>
              <a:rPr lang="fr-CA" sz="4400" dirty="0">
                <a:solidFill>
                  <a:srgbClr val="8BCACF"/>
                </a:solidFill>
                <a:latin typeface="+mj-lt"/>
                <a:cs typeface="Times New Roman" pitchFamily="18" charset="0"/>
              </a:rPr>
              <a:t>Réseaux neuronaux</a:t>
            </a:r>
            <a:r>
              <a:rPr lang="fr-CA" sz="4400" dirty="0">
                <a:latin typeface="+mj-lt"/>
                <a:cs typeface="Times New Roman" pitchFamily="18" charset="0"/>
              </a:rPr>
              <a:t> </a:t>
            </a:r>
            <a:endParaRPr lang="fr-CA" sz="2400" dirty="0">
              <a:latin typeface="+mj-lt"/>
              <a:cs typeface="Times New Roman" pitchFamily="18" charset="0"/>
            </a:endParaRPr>
          </a:p>
          <a:p>
            <a:pPr eaLnBrk="0" hangingPunct="0">
              <a:lnSpc>
                <a:spcPct val="150000"/>
              </a:lnSpc>
              <a:buFontTx/>
              <a:buChar char="•"/>
            </a:pPr>
            <a:r>
              <a:rPr lang="fr-CA" sz="4400" dirty="0">
                <a:latin typeface="+mj-lt"/>
                <a:cs typeface="Times New Roman" pitchFamily="18" charset="0"/>
              </a:rPr>
              <a:t> Modèles statistiques</a:t>
            </a:r>
            <a:r>
              <a:rPr lang="fr-CA" sz="4000" dirty="0">
                <a:latin typeface="+mj-lt"/>
                <a:cs typeface="Times New Roman" pitchFamily="18" charset="0"/>
              </a:rPr>
              <a:t> </a:t>
            </a:r>
            <a:endParaRPr lang="fr-CA" sz="2400" dirty="0">
              <a:latin typeface="+mj-lt"/>
              <a:cs typeface="Times New Roman" pitchFamily="18" charset="0"/>
            </a:endParaRPr>
          </a:p>
          <a:p>
            <a:pPr eaLnBrk="0" hangingPunct="0">
              <a:buFontTx/>
              <a:buChar char="•"/>
            </a:pPr>
            <a:endParaRPr lang="fr-CA" dirty="0">
              <a:latin typeface="+mj-lt"/>
            </a:endParaRPr>
          </a:p>
        </p:txBody>
      </p:sp>
    </p:spTree>
    <p:extLst>
      <p:ext uri="{BB962C8B-B14F-4D97-AF65-F5344CB8AC3E}">
        <p14:creationId xmlns:p14="http://schemas.microsoft.com/office/powerpoint/2010/main" val="34184588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3176" y="612192"/>
            <a:ext cx="5789621" cy="707886"/>
          </a:xfrm>
          <a:prstGeom prst="rect">
            <a:avLst/>
          </a:prstGeom>
          <a:noFill/>
          <a:ln w="28575">
            <a:noFill/>
            <a:miter lim="800000"/>
            <a:headEnd type="none" w="sm" len="sm"/>
            <a:tailEnd type="none" w="sm" len="sm"/>
          </a:ln>
          <a:effectLst/>
        </p:spPr>
        <p:txBody>
          <a:bodyPr wrap="square">
            <a:spAutoFit/>
          </a:bodyPr>
          <a:lstStyle/>
          <a:p>
            <a:pPr algn="ctr" eaLnBrk="0" hangingPunct="0"/>
            <a:r>
              <a:rPr lang="fr-FR" sz="4000" b="1" dirty="0">
                <a:solidFill>
                  <a:schemeClr val="tx2">
                    <a:satMod val="130000"/>
                  </a:schemeClr>
                </a:solidFill>
                <a:latin typeface="+mj-lt"/>
                <a:ea typeface="+mj-ea"/>
                <a:cs typeface="+mj-cs"/>
              </a:rPr>
              <a:t>réseaux de neurones</a:t>
            </a:r>
            <a:endParaRPr lang="en-CA" sz="4000" b="1" dirty="0">
              <a:solidFill>
                <a:schemeClr val="tx2">
                  <a:satMod val="130000"/>
                </a:schemeClr>
              </a:solidFill>
              <a:latin typeface="+mj-lt"/>
              <a:ea typeface="+mj-ea"/>
              <a:cs typeface="+mj-cs"/>
            </a:endParaRPr>
          </a:p>
        </p:txBody>
      </p:sp>
      <p:pic>
        <p:nvPicPr>
          <p:cNvPr id="92163" name="Picture 3"/>
          <p:cNvPicPr>
            <a:picLocks noChangeAspect="1" noChangeArrowheads="1"/>
          </p:cNvPicPr>
          <p:nvPr/>
        </p:nvPicPr>
        <p:blipFill>
          <a:blip r:embed="rId3" cstate="print"/>
          <a:srcRect/>
          <a:stretch>
            <a:fillRect/>
          </a:stretch>
        </p:blipFill>
        <p:spPr bwMode="auto">
          <a:xfrm>
            <a:off x="5091113" y="1285860"/>
            <a:ext cx="4052887" cy="4657725"/>
          </a:xfrm>
          <a:prstGeom prst="rect">
            <a:avLst/>
          </a:prstGeom>
          <a:noFill/>
        </p:spPr>
      </p:pic>
      <p:sp>
        <p:nvSpPr>
          <p:cNvPr id="92164" name="Rectangle 4"/>
          <p:cNvSpPr>
            <a:spLocks noChangeArrowheads="1"/>
          </p:cNvSpPr>
          <p:nvPr/>
        </p:nvSpPr>
        <p:spPr bwMode="auto">
          <a:xfrm>
            <a:off x="285720" y="1500174"/>
            <a:ext cx="4940300" cy="2643206"/>
          </a:xfrm>
          <a:prstGeom prst="rect">
            <a:avLst/>
          </a:prstGeom>
          <a:noFill/>
          <a:ln w="12700">
            <a:noFill/>
            <a:miter lim="800000"/>
            <a:headEnd/>
            <a:tailEnd/>
          </a:ln>
          <a:effectLst/>
        </p:spPr>
        <p:txBody>
          <a:bodyPr lIns="90487" tIns="44450" rIns="90487" bIns="44450"/>
          <a:lstStyle/>
          <a:p>
            <a:pPr eaLnBrk="0" hangingPunct="0">
              <a:spcBef>
                <a:spcPct val="20000"/>
              </a:spcBef>
              <a:buClr>
                <a:schemeClr val="accent1"/>
              </a:buClr>
              <a:buSzPct val="75000"/>
              <a:buFont typeface="Wingdings" pitchFamily="2" charset="2"/>
              <a:buNone/>
              <a:tabLst>
                <a:tab pos="1435100" algn="l"/>
                <a:tab pos="1905000" algn="l"/>
              </a:tabLst>
            </a:pPr>
            <a:r>
              <a:rPr lang="fr-CA" b="1" dirty="0"/>
              <a:t>Modèles de systèmes nerveux biologiques et de l’intelligence</a:t>
            </a:r>
          </a:p>
          <a:p>
            <a:pPr eaLnBrk="0" hangingPunct="0">
              <a:spcBef>
                <a:spcPct val="20000"/>
              </a:spcBef>
              <a:buClr>
                <a:schemeClr val="accent1"/>
              </a:buClr>
              <a:buSzPct val="75000"/>
              <a:buFont typeface="Wingdings" pitchFamily="2" charset="2"/>
              <a:buChar char="§"/>
              <a:tabLst>
                <a:tab pos="1435100" algn="l"/>
                <a:tab pos="1905000" algn="l"/>
              </a:tabLst>
            </a:pPr>
            <a:endParaRPr lang="fr-FR" sz="2000" b="1" dirty="0"/>
          </a:p>
          <a:p>
            <a:pPr eaLnBrk="0" hangingPunct="0">
              <a:spcBef>
                <a:spcPct val="20000"/>
              </a:spcBef>
              <a:buClr>
                <a:schemeClr val="accent1"/>
              </a:buClr>
              <a:buSzPct val="75000"/>
              <a:buFont typeface="Wingdings" pitchFamily="2" charset="2"/>
              <a:buNone/>
              <a:tabLst>
                <a:tab pos="1435100" algn="l"/>
                <a:tab pos="1905000" algn="l"/>
              </a:tabLst>
            </a:pPr>
            <a:r>
              <a:rPr lang="fr-FR" sz="1200" b="1" dirty="0"/>
              <a:t>Corps cellule 	</a:t>
            </a:r>
            <a:r>
              <a:rPr lang="fr-FR" sz="1200" b="1" dirty="0">
                <a:sym typeface="Symbol" pitchFamily="18" charset="2"/>
              </a:rPr>
              <a:t>	unité de calcul</a:t>
            </a:r>
          </a:p>
          <a:p>
            <a:pPr eaLnBrk="0" hangingPunct="0">
              <a:spcBef>
                <a:spcPct val="20000"/>
              </a:spcBef>
              <a:buClr>
                <a:schemeClr val="accent1"/>
              </a:buClr>
              <a:buSzPct val="75000"/>
              <a:buFont typeface="Wingdings" pitchFamily="2" charset="2"/>
              <a:buNone/>
              <a:tabLst>
                <a:tab pos="1435100" algn="l"/>
                <a:tab pos="1905000" algn="l"/>
              </a:tabLst>
            </a:pPr>
            <a:r>
              <a:rPr lang="fr-FR" sz="1200" b="1" dirty="0" smtClean="0">
                <a:sym typeface="Symbol" pitchFamily="18" charset="2"/>
              </a:rPr>
              <a:t>Axone</a:t>
            </a:r>
            <a:r>
              <a:rPr lang="fr-FR" sz="1200" b="1" dirty="0">
                <a:sym typeface="Symbol" pitchFamily="18" charset="2"/>
              </a:rPr>
              <a:t>		signal de sortie</a:t>
            </a:r>
          </a:p>
          <a:p>
            <a:pPr eaLnBrk="0" hangingPunct="0">
              <a:spcBef>
                <a:spcPct val="20000"/>
              </a:spcBef>
              <a:buClr>
                <a:schemeClr val="accent1"/>
              </a:buClr>
              <a:buSzPct val="75000"/>
              <a:buFont typeface="Wingdings" pitchFamily="2" charset="2"/>
              <a:buNone/>
              <a:tabLst>
                <a:tab pos="1435100" algn="l"/>
                <a:tab pos="1905000" algn="l"/>
              </a:tabLst>
            </a:pPr>
            <a:r>
              <a:rPr lang="fr-FR" sz="1200" b="1" dirty="0">
                <a:sym typeface="Symbol" pitchFamily="18" charset="2"/>
              </a:rPr>
              <a:t>		impulsions électriques</a:t>
            </a:r>
          </a:p>
          <a:p>
            <a:pPr eaLnBrk="0" hangingPunct="0">
              <a:spcBef>
                <a:spcPct val="20000"/>
              </a:spcBef>
              <a:buClr>
                <a:schemeClr val="accent1"/>
              </a:buClr>
              <a:buSzPct val="75000"/>
              <a:buFont typeface="Wingdings" pitchFamily="2" charset="2"/>
              <a:buNone/>
              <a:tabLst>
                <a:tab pos="1435100" algn="l"/>
                <a:tab pos="1905000" algn="l"/>
              </a:tabLst>
            </a:pPr>
            <a:r>
              <a:rPr lang="fr-FR" sz="1200" b="1" dirty="0" smtClean="0">
                <a:sym typeface="Symbol" pitchFamily="18" charset="2"/>
              </a:rPr>
              <a:t>Dendrites</a:t>
            </a:r>
            <a:r>
              <a:rPr lang="fr-FR" sz="1200" b="1" dirty="0">
                <a:sym typeface="Symbol" pitchFamily="18" charset="2"/>
              </a:rPr>
              <a:t>	 	entrées du neurone</a:t>
            </a:r>
          </a:p>
          <a:p>
            <a:pPr eaLnBrk="0" hangingPunct="0">
              <a:spcBef>
                <a:spcPct val="20000"/>
              </a:spcBef>
              <a:buClr>
                <a:schemeClr val="accent1"/>
              </a:buClr>
              <a:buSzPct val="75000"/>
              <a:buFont typeface="Wingdings" pitchFamily="2" charset="2"/>
              <a:buNone/>
              <a:tabLst>
                <a:tab pos="1435100" algn="l"/>
                <a:tab pos="1905000" algn="l"/>
              </a:tabLst>
            </a:pPr>
            <a:r>
              <a:rPr lang="fr-FR" sz="1200" b="1" dirty="0">
                <a:sym typeface="Symbol" pitchFamily="18" charset="2"/>
              </a:rPr>
              <a:t>		impulsions électriques</a:t>
            </a:r>
          </a:p>
          <a:p>
            <a:pPr eaLnBrk="0" hangingPunct="0">
              <a:spcBef>
                <a:spcPct val="20000"/>
              </a:spcBef>
              <a:buClr>
                <a:schemeClr val="accent1"/>
              </a:buClr>
              <a:buSzPct val="75000"/>
              <a:buFont typeface="Wingdings" pitchFamily="2" charset="2"/>
              <a:buNone/>
              <a:tabLst>
                <a:tab pos="1435100" algn="l"/>
                <a:tab pos="1905000" algn="l"/>
              </a:tabLst>
            </a:pPr>
            <a:r>
              <a:rPr lang="fr-FR" sz="1200" b="1" dirty="0" smtClean="0">
                <a:sym typeface="Symbol" pitchFamily="18" charset="2"/>
              </a:rPr>
              <a:t>Synapses</a:t>
            </a:r>
            <a:r>
              <a:rPr lang="fr-FR" sz="1200" b="1" dirty="0">
                <a:sym typeface="Symbol" pitchFamily="18" charset="2"/>
              </a:rPr>
              <a:t>	 	poids d’une entrée</a:t>
            </a:r>
          </a:p>
          <a:p>
            <a:pPr eaLnBrk="0" hangingPunct="0">
              <a:spcBef>
                <a:spcPct val="20000"/>
              </a:spcBef>
              <a:buClr>
                <a:schemeClr val="accent1"/>
              </a:buClr>
              <a:buSzPct val="75000"/>
              <a:buFont typeface="Wingdings" pitchFamily="2" charset="2"/>
              <a:buNone/>
              <a:tabLst>
                <a:tab pos="1435100" algn="l"/>
                <a:tab pos="1905000" algn="l"/>
              </a:tabLst>
            </a:pPr>
            <a:r>
              <a:rPr lang="fr-FR" sz="1200" b="1" dirty="0">
                <a:sym typeface="Symbol" pitchFamily="18" charset="2"/>
              </a:rPr>
              <a:t>		</a:t>
            </a:r>
            <a:r>
              <a:rPr lang="fr-FR" sz="1200" b="1" dirty="0" err="1">
                <a:sym typeface="Symbol" pitchFamily="18" charset="2"/>
              </a:rPr>
              <a:t>impuls</a:t>
            </a:r>
            <a:r>
              <a:rPr lang="fr-FR" sz="1200" b="1" dirty="0">
                <a:sym typeface="Symbol" pitchFamily="18" charset="2"/>
              </a:rPr>
              <a:t>.  réaction  </a:t>
            </a:r>
            <a:r>
              <a:rPr lang="fr-FR" sz="1200" b="1" dirty="0" err="1">
                <a:sym typeface="Symbol" pitchFamily="18" charset="2"/>
              </a:rPr>
              <a:t>impuls</a:t>
            </a:r>
            <a:r>
              <a:rPr lang="fr-FR" sz="1200" b="1" dirty="0">
                <a:sym typeface="Symbol" pitchFamily="18" charset="2"/>
              </a:rPr>
              <a:t>.</a:t>
            </a:r>
          </a:p>
        </p:txBody>
      </p:sp>
      <p:pic>
        <p:nvPicPr>
          <p:cNvPr id="19458" name="Picture 2" descr="3-La structure d&amp;#39;un neurone artificiel | Download Scientific Diagram"/>
          <p:cNvPicPr>
            <a:picLocks noChangeAspect="1" noChangeArrowheads="1"/>
          </p:cNvPicPr>
          <p:nvPr/>
        </p:nvPicPr>
        <p:blipFill>
          <a:blip r:embed="rId4"/>
          <a:srcRect/>
          <a:stretch>
            <a:fillRect/>
          </a:stretch>
        </p:blipFill>
        <p:spPr bwMode="auto">
          <a:xfrm>
            <a:off x="214282" y="4943844"/>
            <a:ext cx="3786214" cy="1669732"/>
          </a:xfrm>
          <a:prstGeom prst="rect">
            <a:avLst/>
          </a:prstGeom>
          <a:noFill/>
        </p:spPr>
      </p:pic>
      <p:sp>
        <p:nvSpPr>
          <p:cNvPr id="7" name="Rectangle 6"/>
          <p:cNvSpPr/>
          <p:nvPr/>
        </p:nvSpPr>
        <p:spPr>
          <a:xfrm>
            <a:off x="285720" y="4500570"/>
            <a:ext cx="2069797" cy="369332"/>
          </a:xfrm>
          <a:prstGeom prst="rect">
            <a:avLst/>
          </a:prstGeom>
        </p:spPr>
        <p:txBody>
          <a:bodyPr wrap="none">
            <a:spAutoFit/>
          </a:bodyPr>
          <a:lstStyle/>
          <a:p>
            <a:r>
              <a:rPr lang="fr-CA" b="1" dirty="0" smtClean="0"/>
              <a:t>Neurone artificiel</a:t>
            </a:r>
            <a:endParaRPr lang="fr-FR" dirty="0"/>
          </a:p>
        </p:txBody>
      </p:sp>
    </p:spTree>
    <p:extLst>
      <p:ext uri="{BB962C8B-B14F-4D97-AF65-F5344CB8AC3E}">
        <p14:creationId xmlns:p14="http://schemas.microsoft.com/office/powerpoint/2010/main" val="159709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374650" y="188640"/>
            <a:ext cx="8229600" cy="1143000"/>
          </a:xfrm>
        </p:spPr>
        <p:txBody>
          <a:bodyPr/>
          <a:lstStyle/>
          <a:p>
            <a:r>
              <a:rPr lang="fr-FR" sz="4000" dirty="0"/>
              <a:t>Réseaux de neurones</a:t>
            </a:r>
            <a:br>
              <a:rPr lang="fr-FR" sz="4000" dirty="0"/>
            </a:br>
            <a:r>
              <a:rPr lang="fr-FR" sz="2400" dirty="0"/>
              <a:t>Quelques Exemples</a:t>
            </a:r>
          </a:p>
        </p:txBody>
      </p:sp>
      <p:sp>
        <p:nvSpPr>
          <p:cNvPr id="96259" name="Rectangle 3"/>
          <p:cNvSpPr>
            <a:spLocks noGrp="1" noChangeArrowheads="1"/>
          </p:cNvSpPr>
          <p:nvPr>
            <p:ph type="body" idx="1"/>
          </p:nvPr>
        </p:nvSpPr>
        <p:spPr>
          <a:xfrm>
            <a:off x="250825" y="1600200"/>
            <a:ext cx="3467100" cy="315913"/>
          </a:xfrm>
          <a:solidFill>
            <a:srgbClr val="33CCCC"/>
          </a:solidFill>
        </p:spPr>
        <p:txBody>
          <a:bodyPr/>
          <a:lstStyle/>
          <a:p>
            <a:pPr>
              <a:lnSpc>
                <a:spcPct val="90000"/>
              </a:lnSpc>
            </a:pPr>
            <a:r>
              <a:rPr lang="fr-FR" sz="1600"/>
              <a:t>Simple couche, par anticipation</a:t>
            </a:r>
          </a:p>
        </p:txBody>
      </p:sp>
      <p:grpSp>
        <p:nvGrpSpPr>
          <p:cNvPr id="96283" name="Group 27"/>
          <p:cNvGrpSpPr>
            <a:grpSpLocks/>
          </p:cNvGrpSpPr>
          <p:nvPr/>
        </p:nvGrpSpPr>
        <p:grpSpPr bwMode="auto">
          <a:xfrm>
            <a:off x="755650" y="1989138"/>
            <a:ext cx="1266825" cy="1871662"/>
            <a:chOff x="1488" y="1672"/>
            <a:chExt cx="1600" cy="1848"/>
          </a:xfrm>
        </p:grpSpPr>
        <p:sp>
          <p:nvSpPr>
            <p:cNvPr id="96260" name="Oval 4"/>
            <p:cNvSpPr>
              <a:spLocks noChangeArrowheads="1"/>
            </p:cNvSpPr>
            <p:nvPr/>
          </p:nvSpPr>
          <p:spPr bwMode="auto">
            <a:xfrm>
              <a:off x="1488" y="2180"/>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261" name="Oval 5"/>
            <p:cNvSpPr>
              <a:spLocks noChangeArrowheads="1"/>
            </p:cNvSpPr>
            <p:nvPr/>
          </p:nvSpPr>
          <p:spPr bwMode="auto">
            <a:xfrm>
              <a:off x="1488" y="2540"/>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262" name="Oval 6"/>
            <p:cNvSpPr>
              <a:spLocks noChangeArrowheads="1"/>
            </p:cNvSpPr>
            <p:nvPr/>
          </p:nvSpPr>
          <p:spPr bwMode="auto">
            <a:xfrm>
              <a:off x="1488" y="2900"/>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263" name="Oval 7"/>
            <p:cNvSpPr>
              <a:spLocks noChangeArrowheads="1"/>
            </p:cNvSpPr>
            <p:nvPr/>
          </p:nvSpPr>
          <p:spPr bwMode="auto">
            <a:xfrm>
              <a:off x="2352" y="1672"/>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64" name="Oval 8"/>
            <p:cNvSpPr>
              <a:spLocks noChangeArrowheads="1"/>
            </p:cNvSpPr>
            <p:nvPr/>
          </p:nvSpPr>
          <p:spPr bwMode="auto">
            <a:xfrm>
              <a:off x="2352" y="2184"/>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65" name="Oval 9"/>
            <p:cNvSpPr>
              <a:spLocks noChangeArrowheads="1"/>
            </p:cNvSpPr>
            <p:nvPr/>
          </p:nvSpPr>
          <p:spPr bwMode="auto">
            <a:xfrm>
              <a:off x="2352" y="2696"/>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66" name="Oval 10"/>
            <p:cNvSpPr>
              <a:spLocks noChangeArrowheads="1"/>
            </p:cNvSpPr>
            <p:nvPr/>
          </p:nvSpPr>
          <p:spPr bwMode="auto">
            <a:xfrm>
              <a:off x="2352" y="3208"/>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67" name="Line 11"/>
            <p:cNvSpPr>
              <a:spLocks noChangeShapeType="1"/>
            </p:cNvSpPr>
            <p:nvPr/>
          </p:nvSpPr>
          <p:spPr bwMode="auto">
            <a:xfrm flipV="1">
              <a:off x="1584" y="1864"/>
              <a:ext cx="768" cy="36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68" name="Line 12"/>
            <p:cNvSpPr>
              <a:spLocks noChangeShapeType="1"/>
            </p:cNvSpPr>
            <p:nvPr/>
          </p:nvSpPr>
          <p:spPr bwMode="auto">
            <a:xfrm>
              <a:off x="1592" y="2232"/>
              <a:ext cx="760" cy="8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69" name="Line 13"/>
            <p:cNvSpPr>
              <a:spLocks noChangeShapeType="1"/>
            </p:cNvSpPr>
            <p:nvPr/>
          </p:nvSpPr>
          <p:spPr bwMode="auto">
            <a:xfrm>
              <a:off x="1600" y="2240"/>
              <a:ext cx="760" cy="544"/>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0" name="Line 14"/>
            <p:cNvSpPr>
              <a:spLocks noChangeShapeType="1"/>
            </p:cNvSpPr>
            <p:nvPr/>
          </p:nvSpPr>
          <p:spPr bwMode="auto">
            <a:xfrm>
              <a:off x="1592" y="2280"/>
              <a:ext cx="768" cy="103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1" name="Line 15"/>
            <p:cNvSpPr>
              <a:spLocks noChangeShapeType="1"/>
            </p:cNvSpPr>
            <p:nvPr/>
          </p:nvSpPr>
          <p:spPr bwMode="auto">
            <a:xfrm flipV="1">
              <a:off x="1592" y="1920"/>
              <a:ext cx="784" cy="67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2" name="Line 16"/>
            <p:cNvSpPr>
              <a:spLocks noChangeShapeType="1"/>
            </p:cNvSpPr>
            <p:nvPr/>
          </p:nvSpPr>
          <p:spPr bwMode="auto">
            <a:xfrm flipV="1">
              <a:off x="1608" y="2376"/>
              <a:ext cx="752" cy="23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3" name="Line 17"/>
            <p:cNvSpPr>
              <a:spLocks noChangeShapeType="1"/>
            </p:cNvSpPr>
            <p:nvPr/>
          </p:nvSpPr>
          <p:spPr bwMode="auto">
            <a:xfrm>
              <a:off x="1592" y="2616"/>
              <a:ext cx="760" cy="256"/>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4" name="Line 18"/>
            <p:cNvSpPr>
              <a:spLocks noChangeShapeType="1"/>
            </p:cNvSpPr>
            <p:nvPr/>
          </p:nvSpPr>
          <p:spPr bwMode="auto">
            <a:xfrm>
              <a:off x="1600" y="2648"/>
              <a:ext cx="752" cy="72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5" name="Line 19"/>
            <p:cNvSpPr>
              <a:spLocks noChangeShapeType="1"/>
            </p:cNvSpPr>
            <p:nvPr/>
          </p:nvSpPr>
          <p:spPr bwMode="auto">
            <a:xfrm>
              <a:off x="1584" y="3008"/>
              <a:ext cx="768" cy="39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6" name="Line 20"/>
            <p:cNvSpPr>
              <a:spLocks noChangeShapeType="1"/>
            </p:cNvSpPr>
            <p:nvPr/>
          </p:nvSpPr>
          <p:spPr bwMode="auto">
            <a:xfrm flipV="1">
              <a:off x="1600" y="2928"/>
              <a:ext cx="760" cy="64"/>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7" name="Line 21"/>
            <p:cNvSpPr>
              <a:spLocks noChangeShapeType="1"/>
            </p:cNvSpPr>
            <p:nvPr/>
          </p:nvSpPr>
          <p:spPr bwMode="auto">
            <a:xfrm flipV="1">
              <a:off x="1600" y="2448"/>
              <a:ext cx="760" cy="51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8" name="Line 22"/>
            <p:cNvSpPr>
              <a:spLocks noChangeShapeType="1"/>
            </p:cNvSpPr>
            <p:nvPr/>
          </p:nvSpPr>
          <p:spPr bwMode="auto">
            <a:xfrm flipV="1">
              <a:off x="1600" y="1968"/>
              <a:ext cx="808" cy="95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79" name="Line 23"/>
            <p:cNvSpPr>
              <a:spLocks noChangeShapeType="1"/>
            </p:cNvSpPr>
            <p:nvPr/>
          </p:nvSpPr>
          <p:spPr bwMode="auto">
            <a:xfrm>
              <a:off x="2672" y="1816"/>
              <a:ext cx="416" cy="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80" name="Line 24"/>
            <p:cNvSpPr>
              <a:spLocks noChangeShapeType="1"/>
            </p:cNvSpPr>
            <p:nvPr/>
          </p:nvSpPr>
          <p:spPr bwMode="auto">
            <a:xfrm>
              <a:off x="2672" y="2344"/>
              <a:ext cx="416" cy="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81" name="Line 25"/>
            <p:cNvSpPr>
              <a:spLocks noChangeShapeType="1"/>
            </p:cNvSpPr>
            <p:nvPr/>
          </p:nvSpPr>
          <p:spPr bwMode="auto">
            <a:xfrm>
              <a:off x="2672" y="2848"/>
              <a:ext cx="416" cy="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82" name="Line 26"/>
            <p:cNvSpPr>
              <a:spLocks noChangeShapeType="1"/>
            </p:cNvSpPr>
            <p:nvPr/>
          </p:nvSpPr>
          <p:spPr bwMode="auto">
            <a:xfrm>
              <a:off x="2672" y="3368"/>
              <a:ext cx="416" cy="0"/>
            </a:xfrm>
            <a:prstGeom prst="line">
              <a:avLst/>
            </a:prstGeom>
            <a:noFill/>
            <a:ln w="12700">
              <a:solidFill>
                <a:schemeClr val="tx1"/>
              </a:solidFill>
              <a:round/>
              <a:headEnd/>
              <a:tailEnd type="triangle" w="med" len="med"/>
            </a:ln>
            <a:effectLst/>
          </p:spPr>
          <p:txBody>
            <a:bodyPr wrap="none" anchor="ctr"/>
            <a:lstStyle/>
            <a:p>
              <a:endParaRPr lang="fr-FR"/>
            </a:p>
          </p:txBody>
        </p:sp>
      </p:grpSp>
      <p:sp>
        <p:nvSpPr>
          <p:cNvPr id="96284" name="Rectangle 28"/>
          <p:cNvSpPr>
            <a:spLocks noChangeArrowheads="1"/>
          </p:cNvSpPr>
          <p:nvPr/>
        </p:nvSpPr>
        <p:spPr bwMode="auto">
          <a:xfrm>
            <a:off x="241300" y="3963988"/>
            <a:ext cx="3106738" cy="315912"/>
          </a:xfrm>
          <a:prstGeom prst="rect">
            <a:avLst/>
          </a:prstGeom>
          <a:solidFill>
            <a:srgbClr val="33CCCC"/>
          </a:solidFill>
          <a:ln w="9525">
            <a:noFill/>
            <a:miter lim="800000"/>
            <a:headEnd/>
            <a:tailEnd/>
          </a:ln>
          <a:effectLst/>
        </p:spPr>
        <p:txBody>
          <a:bodyPr/>
          <a:lstStyle/>
          <a:p>
            <a:pPr marL="342900" indent="-342900">
              <a:lnSpc>
                <a:spcPct val="90000"/>
              </a:lnSpc>
              <a:spcBef>
                <a:spcPct val="20000"/>
              </a:spcBef>
              <a:buFontTx/>
              <a:buChar char="•"/>
            </a:pPr>
            <a:r>
              <a:rPr lang="fr-FR" sz="1600"/>
              <a:t>Multicouche, en cascade</a:t>
            </a:r>
          </a:p>
        </p:txBody>
      </p:sp>
      <p:grpSp>
        <p:nvGrpSpPr>
          <p:cNvPr id="96285" name="Group 29"/>
          <p:cNvGrpSpPr>
            <a:grpSpLocks/>
          </p:cNvGrpSpPr>
          <p:nvPr/>
        </p:nvGrpSpPr>
        <p:grpSpPr bwMode="auto">
          <a:xfrm>
            <a:off x="395288" y="4379913"/>
            <a:ext cx="3398837" cy="2144712"/>
            <a:chOff x="1030" y="2000"/>
            <a:chExt cx="4160" cy="1899"/>
          </a:xfrm>
        </p:grpSpPr>
        <p:grpSp>
          <p:nvGrpSpPr>
            <p:cNvPr id="96286" name="Group 30"/>
            <p:cNvGrpSpPr>
              <a:grpSpLocks/>
            </p:cNvGrpSpPr>
            <p:nvPr/>
          </p:nvGrpSpPr>
          <p:grpSpPr bwMode="auto">
            <a:xfrm>
              <a:off x="1688" y="2432"/>
              <a:ext cx="112" cy="472"/>
              <a:chOff x="1688" y="2428"/>
              <a:chExt cx="112" cy="472"/>
            </a:xfrm>
          </p:grpSpPr>
          <p:sp>
            <p:nvSpPr>
              <p:cNvPr id="96287" name="Oval 31"/>
              <p:cNvSpPr>
                <a:spLocks noChangeArrowheads="1"/>
              </p:cNvSpPr>
              <p:nvPr/>
            </p:nvSpPr>
            <p:spPr bwMode="auto">
              <a:xfrm>
                <a:off x="1688" y="2428"/>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288" name="Oval 32"/>
              <p:cNvSpPr>
                <a:spLocks noChangeArrowheads="1"/>
              </p:cNvSpPr>
              <p:nvPr/>
            </p:nvSpPr>
            <p:spPr bwMode="auto">
              <a:xfrm>
                <a:off x="1688" y="2788"/>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grpSp>
        <p:grpSp>
          <p:nvGrpSpPr>
            <p:cNvPr id="96289" name="Group 33"/>
            <p:cNvGrpSpPr>
              <a:grpSpLocks/>
            </p:cNvGrpSpPr>
            <p:nvPr/>
          </p:nvGrpSpPr>
          <p:grpSpPr bwMode="auto">
            <a:xfrm>
              <a:off x="2352" y="2000"/>
              <a:ext cx="312" cy="1336"/>
              <a:chOff x="2352" y="1672"/>
              <a:chExt cx="312" cy="1336"/>
            </a:xfrm>
          </p:grpSpPr>
          <p:sp>
            <p:nvSpPr>
              <p:cNvPr id="96290" name="Oval 34"/>
              <p:cNvSpPr>
                <a:spLocks noChangeArrowheads="1"/>
              </p:cNvSpPr>
              <p:nvPr/>
            </p:nvSpPr>
            <p:spPr bwMode="auto">
              <a:xfrm>
                <a:off x="2352" y="1672"/>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91" name="Oval 35"/>
              <p:cNvSpPr>
                <a:spLocks noChangeArrowheads="1"/>
              </p:cNvSpPr>
              <p:nvPr/>
            </p:nvSpPr>
            <p:spPr bwMode="auto">
              <a:xfrm>
                <a:off x="2352" y="2184"/>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92" name="Oval 36"/>
              <p:cNvSpPr>
                <a:spLocks noChangeArrowheads="1"/>
              </p:cNvSpPr>
              <p:nvPr/>
            </p:nvSpPr>
            <p:spPr bwMode="auto">
              <a:xfrm>
                <a:off x="2352" y="2696"/>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grpSp>
        <p:grpSp>
          <p:nvGrpSpPr>
            <p:cNvPr id="96293" name="Group 37"/>
            <p:cNvGrpSpPr>
              <a:grpSpLocks/>
            </p:cNvGrpSpPr>
            <p:nvPr/>
          </p:nvGrpSpPr>
          <p:grpSpPr bwMode="auto">
            <a:xfrm>
              <a:off x="3296" y="2256"/>
              <a:ext cx="736" cy="824"/>
              <a:chOff x="3296" y="2224"/>
              <a:chExt cx="736" cy="824"/>
            </a:xfrm>
          </p:grpSpPr>
          <p:sp>
            <p:nvSpPr>
              <p:cNvPr id="96294" name="Oval 38"/>
              <p:cNvSpPr>
                <a:spLocks noChangeArrowheads="1"/>
              </p:cNvSpPr>
              <p:nvPr/>
            </p:nvSpPr>
            <p:spPr bwMode="auto">
              <a:xfrm>
                <a:off x="3296" y="2224"/>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95" name="Oval 39"/>
              <p:cNvSpPr>
                <a:spLocks noChangeArrowheads="1"/>
              </p:cNvSpPr>
              <p:nvPr/>
            </p:nvSpPr>
            <p:spPr bwMode="auto">
              <a:xfrm>
                <a:off x="3296" y="2736"/>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296" name="Line 40"/>
              <p:cNvSpPr>
                <a:spLocks noChangeShapeType="1"/>
              </p:cNvSpPr>
              <p:nvPr/>
            </p:nvSpPr>
            <p:spPr bwMode="auto">
              <a:xfrm>
                <a:off x="3616" y="2368"/>
                <a:ext cx="416" cy="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97" name="Line 41"/>
              <p:cNvSpPr>
                <a:spLocks noChangeShapeType="1"/>
              </p:cNvSpPr>
              <p:nvPr/>
            </p:nvSpPr>
            <p:spPr bwMode="auto">
              <a:xfrm>
                <a:off x="3616" y="2896"/>
                <a:ext cx="416" cy="0"/>
              </a:xfrm>
              <a:prstGeom prst="line">
                <a:avLst/>
              </a:prstGeom>
              <a:noFill/>
              <a:ln w="12700">
                <a:solidFill>
                  <a:schemeClr val="tx1"/>
                </a:solidFill>
                <a:round/>
                <a:headEnd/>
                <a:tailEnd type="triangle" w="med" len="med"/>
              </a:ln>
              <a:effectLst/>
            </p:spPr>
            <p:txBody>
              <a:bodyPr wrap="none" anchor="ctr"/>
              <a:lstStyle/>
              <a:p>
                <a:endParaRPr lang="fr-FR"/>
              </a:p>
            </p:txBody>
          </p:sp>
        </p:grpSp>
        <p:sp>
          <p:nvSpPr>
            <p:cNvPr id="96298" name="Line 42"/>
            <p:cNvSpPr>
              <a:spLocks noChangeShapeType="1"/>
            </p:cNvSpPr>
            <p:nvPr/>
          </p:nvSpPr>
          <p:spPr bwMode="auto">
            <a:xfrm flipV="1">
              <a:off x="1792" y="2184"/>
              <a:ext cx="552" cy="288"/>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299" name="Line 43"/>
            <p:cNvSpPr>
              <a:spLocks noChangeShapeType="1"/>
            </p:cNvSpPr>
            <p:nvPr/>
          </p:nvSpPr>
          <p:spPr bwMode="auto">
            <a:xfrm>
              <a:off x="1792" y="2504"/>
              <a:ext cx="544" cy="12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0" name="Line 44"/>
            <p:cNvSpPr>
              <a:spLocks noChangeShapeType="1"/>
            </p:cNvSpPr>
            <p:nvPr/>
          </p:nvSpPr>
          <p:spPr bwMode="auto">
            <a:xfrm>
              <a:off x="1776" y="2536"/>
              <a:ext cx="608" cy="552"/>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1" name="Line 45"/>
            <p:cNvSpPr>
              <a:spLocks noChangeShapeType="1"/>
            </p:cNvSpPr>
            <p:nvPr/>
          </p:nvSpPr>
          <p:spPr bwMode="auto">
            <a:xfrm flipV="1">
              <a:off x="1776" y="2264"/>
              <a:ext cx="616" cy="576"/>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2" name="Line 46"/>
            <p:cNvSpPr>
              <a:spLocks noChangeShapeType="1"/>
            </p:cNvSpPr>
            <p:nvPr/>
          </p:nvSpPr>
          <p:spPr bwMode="auto">
            <a:xfrm flipV="1">
              <a:off x="1792" y="2720"/>
              <a:ext cx="560" cy="144"/>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3" name="Line 47"/>
            <p:cNvSpPr>
              <a:spLocks noChangeShapeType="1"/>
            </p:cNvSpPr>
            <p:nvPr/>
          </p:nvSpPr>
          <p:spPr bwMode="auto">
            <a:xfrm>
              <a:off x="1776" y="2888"/>
              <a:ext cx="584" cy="264"/>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4" name="Line 48"/>
            <p:cNvSpPr>
              <a:spLocks noChangeShapeType="1"/>
            </p:cNvSpPr>
            <p:nvPr/>
          </p:nvSpPr>
          <p:spPr bwMode="auto">
            <a:xfrm>
              <a:off x="2656" y="2144"/>
              <a:ext cx="640" cy="248"/>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5" name="Line 49"/>
            <p:cNvSpPr>
              <a:spLocks noChangeShapeType="1"/>
            </p:cNvSpPr>
            <p:nvPr/>
          </p:nvSpPr>
          <p:spPr bwMode="auto">
            <a:xfrm>
              <a:off x="2648" y="2208"/>
              <a:ext cx="648" cy="68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6" name="Line 50"/>
            <p:cNvSpPr>
              <a:spLocks noChangeShapeType="1"/>
            </p:cNvSpPr>
            <p:nvPr/>
          </p:nvSpPr>
          <p:spPr bwMode="auto">
            <a:xfrm flipV="1">
              <a:off x="2648" y="2456"/>
              <a:ext cx="656" cy="208"/>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7" name="Line 51"/>
            <p:cNvSpPr>
              <a:spLocks noChangeShapeType="1"/>
            </p:cNvSpPr>
            <p:nvPr/>
          </p:nvSpPr>
          <p:spPr bwMode="auto">
            <a:xfrm>
              <a:off x="2656" y="2728"/>
              <a:ext cx="640" cy="24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8" name="Line 52"/>
            <p:cNvSpPr>
              <a:spLocks noChangeShapeType="1"/>
            </p:cNvSpPr>
            <p:nvPr/>
          </p:nvSpPr>
          <p:spPr bwMode="auto">
            <a:xfrm flipV="1">
              <a:off x="2672" y="2520"/>
              <a:ext cx="656" cy="656"/>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09" name="Line 53"/>
            <p:cNvSpPr>
              <a:spLocks noChangeShapeType="1"/>
            </p:cNvSpPr>
            <p:nvPr/>
          </p:nvSpPr>
          <p:spPr bwMode="auto">
            <a:xfrm flipV="1">
              <a:off x="2648" y="3032"/>
              <a:ext cx="672" cy="20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10" name="Line 54"/>
            <p:cNvSpPr>
              <a:spLocks noChangeShapeType="1"/>
            </p:cNvSpPr>
            <p:nvPr/>
          </p:nvSpPr>
          <p:spPr bwMode="auto">
            <a:xfrm flipH="1">
              <a:off x="1464" y="2488"/>
              <a:ext cx="224" cy="0"/>
            </a:xfrm>
            <a:prstGeom prst="line">
              <a:avLst/>
            </a:prstGeom>
            <a:noFill/>
            <a:ln w="12700">
              <a:solidFill>
                <a:schemeClr val="tx1"/>
              </a:solidFill>
              <a:round/>
              <a:headEnd type="triangle" w="med" len="med"/>
              <a:tailEnd/>
            </a:ln>
            <a:effectLst/>
          </p:spPr>
          <p:txBody>
            <a:bodyPr wrap="none" anchor="ctr"/>
            <a:lstStyle/>
            <a:p>
              <a:endParaRPr lang="fr-FR"/>
            </a:p>
          </p:txBody>
        </p:sp>
        <p:sp>
          <p:nvSpPr>
            <p:cNvPr id="96311" name="Line 55"/>
            <p:cNvSpPr>
              <a:spLocks noChangeShapeType="1"/>
            </p:cNvSpPr>
            <p:nvPr/>
          </p:nvSpPr>
          <p:spPr bwMode="auto">
            <a:xfrm flipH="1">
              <a:off x="1464" y="2856"/>
              <a:ext cx="224" cy="0"/>
            </a:xfrm>
            <a:prstGeom prst="line">
              <a:avLst/>
            </a:prstGeom>
            <a:noFill/>
            <a:ln w="12700">
              <a:solidFill>
                <a:schemeClr val="tx1"/>
              </a:solidFill>
              <a:round/>
              <a:headEnd type="triangle" w="med" len="med"/>
              <a:tailEnd/>
            </a:ln>
            <a:effectLst/>
          </p:spPr>
          <p:txBody>
            <a:bodyPr wrap="none" anchor="ctr"/>
            <a:lstStyle/>
            <a:p>
              <a:endParaRPr lang="fr-FR"/>
            </a:p>
          </p:txBody>
        </p:sp>
        <p:sp>
          <p:nvSpPr>
            <p:cNvPr id="96312" name="Text Box 56"/>
            <p:cNvSpPr txBox="1">
              <a:spLocks noChangeArrowheads="1"/>
            </p:cNvSpPr>
            <p:nvPr/>
          </p:nvSpPr>
          <p:spPr bwMode="auto">
            <a:xfrm>
              <a:off x="1469" y="3629"/>
              <a:ext cx="758" cy="270"/>
            </a:xfrm>
            <a:prstGeom prst="rect">
              <a:avLst/>
            </a:prstGeom>
            <a:noFill/>
            <a:ln w="12700">
              <a:noFill/>
              <a:miter lim="800000"/>
              <a:headEnd/>
              <a:tailEnd/>
            </a:ln>
            <a:effectLst/>
          </p:spPr>
          <p:txBody>
            <a:bodyPr wrap="none">
              <a:spAutoFit/>
            </a:bodyPr>
            <a:lstStyle/>
            <a:p>
              <a:pPr eaLnBrk="0" hangingPunct="0"/>
              <a:r>
                <a:rPr lang="fr-FR" sz="1400">
                  <a:solidFill>
                    <a:schemeClr val="accent2"/>
                  </a:solidFill>
                  <a:latin typeface="Times" charset="0"/>
                </a:rPr>
                <a:t>entrée</a:t>
              </a:r>
            </a:p>
          </p:txBody>
        </p:sp>
        <p:sp>
          <p:nvSpPr>
            <p:cNvPr id="96313" name="Text Box 57"/>
            <p:cNvSpPr txBox="1">
              <a:spLocks noChangeArrowheads="1"/>
            </p:cNvSpPr>
            <p:nvPr/>
          </p:nvSpPr>
          <p:spPr bwMode="auto">
            <a:xfrm>
              <a:off x="2231" y="3629"/>
              <a:ext cx="820" cy="270"/>
            </a:xfrm>
            <a:prstGeom prst="rect">
              <a:avLst/>
            </a:prstGeom>
            <a:noFill/>
            <a:ln w="12700">
              <a:noFill/>
              <a:miter lim="800000"/>
              <a:headEnd/>
              <a:tailEnd/>
            </a:ln>
            <a:effectLst/>
          </p:spPr>
          <p:txBody>
            <a:bodyPr wrap="none">
              <a:spAutoFit/>
            </a:bodyPr>
            <a:lstStyle/>
            <a:p>
              <a:pPr eaLnBrk="0" hangingPunct="0"/>
              <a:r>
                <a:rPr lang="fr-FR" sz="1400">
                  <a:solidFill>
                    <a:schemeClr val="accent2"/>
                  </a:solidFill>
                  <a:latin typeface="Times" charset="0"/>
                </a:rPr>
                <a:t>cachée</a:t>
              </a:r>
            </a:p>
          </p:txBody>
        </p:sp>
        <p:sp>
          <p:nvSpPr>
            <p:cNvPr id="96314" name="Text Box 58"/>
            <p:cNvSpPr txBox="1">
              <a:spLocks noChangeArrowheads="1"/>
            </p:cNvSpPr>
            <p:nvPr/>
          </p:nvSpPr>
          <p:spPr bwMode="auto">
            <a:xfrm>
              <a:off x="3206" y="3629"/>
              <a:ext cx="709" cy="270"/>
            </a:xfrm>
            <a:prstGeom prst="rect">
              <a:avLst/>
            </a:prstGeom>
            <a:noFill/>
            <a:ln w="12700">
              <a:noFill/>
              <a:miter lim="800000"/>
              <a:headEnd/>
              <a:tailEnd/>
            </a:ln>
            <a:effectLst/>
          </p:spPr>
          <p:txBody>
            <a:bodyPr wrap="none">
              <a:spAutoFit/>
            </a:bodyPr>
            <a:lstStyle/>
            <a:p>
              <a:pPr eaLnBrk="0" hangingPunct="0"/>
              <a:r>
                <a:rPr lang="fr-FR" sz="1400">
                  <a:solidFill>
                    <a:schemeClr val="accent2"/>
                  </a:solidFill>
                  <a:latin typeface="Times" charset="0"/>
                </a:rPr>
                <a:t>sortie</a:t>
              </a:r>
            </a:p>
          </p:txBody>
        </p:sp>
        <p:sp>
          <p:nvSpPr>
            <p:cNvPr id="96315" name="Text Box 59"/>
            <p:cNvSpPr txBox="1">
              <a:spLocks noChangeArrowheads="1"/>
            </p:cNvSpPr>
            <p:nvPr/>
          </p:nvSpPr>
          <p:spPr bwMode="auto">
            <a:xfrm>
              <a:off x="4079" y="2207"/>
              <a:ext cx="536" cy="404"/>
            </a:xfrm>
            <a:prstGeom prst="rect">
              <a:avLst/>
            </a:prstGeom>
            <a:noFill/>
            <a:ln w="12700">
              <a:noFill/>
              <a:miter lim="800000"/>
              <a:headEnd/>
              <a:tailEnd/>
            </a:ln>
            <a:effectLst/>
          </p:spPr>
          <p:txBody>
            <a:bodyPr wrap="none">
              <a:spAutoFit/>
            </a:bodyPr>
            <a:lstStyle/>
            <a:p>
              <a:pPr eaLnBrk="0" hangingPunct="0"/>
              <a:r>
                <a:rPr lang="fr-FR" sz="2400">
                  <a:latin typeface="Times" charset="0"/>
                </a:rPr>
                <a:t>y</a:t>
              </a:r>
              <a:r>
                <a:rPr lang="fr-FR" sz="2400" baseline="-25000">
                  <a:latin typeface="Times" charset="0"/>
                </a:rPr>
                <a:t>1</a:t>
              </a:r>
              <a:endParaRPr lang="fr-FR" sz="2400">
                <a:latin typeface="Times" charset="0"/>
              </a:endParaRPr>
            </a:p>
          </p:txBody>
        </p:sp>
        <p:sp>
          <p:nvSpPr>
            <p:cNvPr id="96316" name="Text Box 60"/>
            <p:cNvSpPr txBox="1">
              <a:spLocks noChangeArrowheads="1"/>
            </p:cNvSpPr>
            <p:nvPr/>
          </p:nvSpPr>
          <p:spPr bwMode="auto">
            <a:xfrm>
              <a:off x="4079" y="2774"/>
              <a:ext cx="536" cy="405"/>
            </a:xfrm>
            <a:prstGeom prst="rect">
              <a:avLst/>
            </a:prstGeom>
            <a:noFill/>
            <a:ln w="12700">
              <a:noFill/>
              <a:miter lim="800000"/>
              <a:headEnd/>
              <a:tailEnd/>
            </a:ln>
            <a:effectLst/>
          </p:spPr>
          <p:txBody>
            <a:bodyPr wrap="none">
              <a:spAutoFit/>
            </a:bodyPr>
            <a:lstStyle/>
            <a:p>
              <a:pPr eaLnBrk="0" hangingPunct="0"/>
              <a:r>
                <a:rPr lang="fr-FR" sz="2400">
                  <a:latin typeface="Times" charset="0"/>
                </a:rPr>
                <a:t>y</a:t>
              </a:r>
              <a:r>
                <a:rPr lang="fr-FR" sz="2400" baseline="-25000">
                  <a:latin typeface="Times" charset="0"/>
                </a:rPr>
                <a:t>2</a:t>
              </a:r>
              <a:endParaRPr lang="fr-FR" sz="2400">
                <a:latin typeface="Times" charset="0"/>
              </a:endParaRPr>
            </a:p>
          </p:txBody>
        </p:sp>
        <p:sp>
          <p:nvSpPr>
            <p:cNvPr id="96317" name="Text Box 61"/>
            <p:cNvSpPr txBox="1">
              <a:spLocks noChangeArrowheads="1"/>
            </p:cNvSpPr>
            <p:nvPr/>
          </p:nvSpPr>
          <p:spPr bwMode="auto">
            <a:xfrm>
              <a:off x="4654" y="2774"/>
              <a:ext cx="536" cy="405"/>
            </a:xfrm>
            <a:prstGeom prst="rect">
              <a:avLst/>
            </a:prstGeom>
            <a:noFill/>
            <a:ln w="12700">
              <a:noFill/>
              <a:miter lim="800000"/>
              <a:headEnd/>
              <a:tailEnd/>
            </a:ln>
            <a:effectLst/>
          </p:spPr>
          <p:txBody>
            <a:bodyPr wrap="none">
              <a:spAutoFit/>
            </a:bodyPr>
            <a:lstStyle/>
            <a:p>
              <a:pPr eaLnBrk="0" hangingPunct="0"/>
              <a:r>
                <a:rPr lang="fr-FR" sz="2400">
                  <a:latin typeface="Times" charset="0"/>
                </a:rPr>
                <a:t>d</a:t>
              </a:r>
              <a:r>
                <a:rPr lang="fr-FR" sz="2400" baseline="-25000">
                  <a:latin typeface="Times" charset="0"/>
                </a:rPr>
                <a:t>2</a:t>
              </a:r>
              <a:endParaRPr lang="fr-FR" sz="2400">
                <a:latin typeface="Times" charset="0"/>
              </a:endParaRPr>
            </a:p>
          </p:txBody>
        </p:sp>
        <p:sp>
          <p:nvSpPr>
            <p:cNvPr id="96318" name="Text Box 62"/>
            <p:cNvSpPr txBox="1">
              <a:spLocks noChangeArrowheads="1"/>
            </p:cNvSpPr>
            <p:nvPr/>
          </p:nvSpPr>
          <p:spPr bwMode="auto">
            <a:xfrm>
              <a:off x="4653" y="2214"/>
              <a:ext cx="537" cy="404"/>
            </a:xfrm>
            <a:prstGeom prst="rect">
              <a:avLst/>
            </a:prstGeom>
            <a:noFill/>
            <a:ln w="12700">
              <a:noFill/>
              <a:miter lim="800000"/>
              <a:headEnd/>
              <a:tailEnd/>
            </a:ln>
            <a:effectLst/>
          </p:spPr>
          <p:txBody>
            <a:bodyPr wrap="none">
              <a:spAutoFit/>
            </a:bodyPr>
            <a:lstStyle/>
            <a:p>
              <a:pPr eaLnBrk="0" hangingPunct="0"/>
              <a:r>
                <a:rPr lang="fr-FR" sz="2400">
                  <a:latin typeface="Times" charset="0"/>
                </a:rPr>
                <a:t>d</a:t>
              </a:r>
              <a:r>
                <a:rPr lang="fr-FR" sz="2400" baseline="-25000">
                  <a:latin typeface="Times" charset="0"/>
                </a:rPr>
                <a:t>1</a:t>
              </a:r>
              <a:endParaRPr lang="fr-FR" sz="2400">
                <a:latin typeface="Times" charset="0"/>
              </a:endParaRPr>
            </a:p>
          </p:txBody>
        </p:sp>
        <p:sp>
          <p:nvSpPr>
            <p:cNvPr id="96319" name="Oval 63"/>
            <p:cNvSpPr>
              <a:spLocks noChangeArrowheads="1"/>
            </p:cNvSpPr>
            <p:nvPr/>
          </p:nvSpPr>
          <p:spPr bwMode="auto">
            <a:xfrm>
              <a:off x="4616" y="2088"/>
              <a:ext cx="360" cy="1152"/>
            </a:xfrm>
            <a:prstGeom prst="ellipse">
              <a:avLst/>
            </a:prstGeom>
            <a:noFill/>
            <a:ln w="12700">
              <a:solidFill>
                <a:schemeClr val="tx1"/>
              </a:solidFill>
              <a:prstDash val="dash"/>
              <a:round/>
              <a:headEnd/>
              <a:tailEnd/>
            </a:ln>
            <a:effectLst/>
          </p:spPr>
          <p:txBody>
            <a:bodyPr wrap="none" anchor="ctr"/>
            <a:lstStyle/>
            <a:p>
              <a:endParaRPr lang="fr-FR"/>
            </a:p>
          </p:txBody>
        </p:sp>
        <p:sp>
          <p:nvSpPr>
            <p:cNvPr id="96320" name="Text Box 64"/>
            <p:cNvSpPr txBox="1">
              <a:spLocks noChangeArrowheads="1"/>
            </p:cNvSpPr>
            <p:nvPr/>
          </p:nvSpPr>
          <p:spPr bwMode="auto">
            <a:xfrm>
              <a:off x="1030" y="2710"/>
              <a:ext cx="536" cy="405"/>
            </a:xfrm>
            <a:prstGeom prst="rect">
              <a:avLst/>
            </a:prstGeom>
            <a:noFill/>
            <a:ln w="12700">
              <a:noFill/>
              <a:miter lim="800000"/>
              <a:headEnd/>
              <a:tailEnd/>
            </a:ln>
            <a:effectLst/>
          </p:spPr>
          <p:txBody>
            <a:bodyPr wrap="none">
              <a:spAutoFit/>
            </a:bodyPr>
            <a:lstStyle/>
            <a:p>
              <a:pPr eaLnBrk="0" hangingPunct="0"/>
              <a:r>
                <a:rPr lang="fr-FR" sz="2400">
                  <a:latin typeface="Times" charset="0"/>
                </a:rPr>
                <a:t>x</a:t>
              </a:r>
              <a:r>
                <a:rPr lang="fr-FR" sz="2400" baseline="-25000">
                  <a:latin typeface="Times" charset="0"/>
                </a:rPr>
                <a:t>2</a:t>
              </a:r>
              <a:endParaRPr lang="fr-FR" sz="2400">
                <a:latin typeface="Times" charset="0"/>
              </a:endParaRPr>
            </a:p>
          </p:txBody>
        </p:sp>
        <p:sp>
          <p:nvSpPr>
            <p:cNvPr id="96321" name="Text Box 65"/>
            <p:cNvSpPr txBox="1">
              <a:spLocks noChangeArrowheads="1"/>
            </p:cNvSpPr>
            <p:nvPr/>
          </p:nvSpPr>
          <p:spPr bwMode="auto">
            <a:xfrm>
              <a:off x="1030" y="2342"/>
              <a:ext cx="536" cy="404"/>
            </a:xfrm>
            <a:prstGeom prst="rect">
              <a:avLst/>
            </a:prstGeom>
            <a:noFill/>
            <a:ln w="12700">
              <a:noFill/>
              <a:miter lim="800000"/>
              <a:headEnd/>
              <a:tailEnd/>
            </a:ln>
            <a:effectLst/>
          </p:spPr>
          <p:txBody>
            <a:bodyPr wrap="none">
              <a:spAutoFit/>
            </a:bodyPr>
            <a:lstStyle/>
            <a:p>
              <a:pPr eaLnBrk="0" hangingPunct="0"/>
              <a:r>
                <a:rPr lang="fr-FR" sz="2400">
                  <a:latin typeface="Times" charset="0"/>
                </a:rPr>
                <a:t>x</a:t>
              </a:r>
              <a:r>
                <a:rPr lang="fr-FR" sz="2400" baseline="-25000">
                  <a:latin typeface="Times" charset="0"/>
                </a:rPr>
                <a:t>1</a:t>
              </a:r>
              <a:endParaRPr lang="fr-FR" sz="2400">
                <a:latin typeface="Times" charset="0"/>
              </a:endParaRPr>
            </a:p>
          </p:txBody>
        </p:sp>
      </p:grpSp>
      <p:sp>
        <p:nvSpPr>
          <p:cNvPr id="96322" name="Rectangle 66"/>
          <p:cNvSpPr>
            <a:spLocks noChangeArrowheads="1"/>
          </p:cNvSpPr>
          <p:nvPr/>
        </p:nvSpPr>
        <p:spPr bwMode="auto">
          <a:xfrm>
            <a:off x="4994275" y="1600200"/>
            <a:ext cx="3609975" cy="315913"/>
          </a:xfrm>
          <a:prstGeom prst="rect">
            <a:avLst/>
          </a:prstGeom>
          <a:solidFill>
            <a:srgbClr val="33CCCC"/>
          </a:solidFill>
          <a:ln w="9525">
            <a:noFill/>
            <a:miter lim="800000"/>
            <a:headEnd/>
            <a:tailEnd/>
          </a:ln>
          <a:effectLst/>
        </p:spPr>
        <p:txBody>
          <a:bodyPr/>
          <a:lstStyle/>
          <a:p>
            <a:pPr marL="342900" indent="-342900">
              <a:lnSpc>
                <a:spcPct val="90000"/>
              </a:lnSpc>
              <a:spcBef>
                <a:spcPct val="20000"/>
              </a:spcBef>
              <a:buFontTx/>
              <a:buChar char="•"/>
            </a:pPr>
            <a:r>
              <a:rPr lang="fr-FR" sz="1600"/>
              <a:t>Multicouche, en cascade, partiel</a:t>
            </a:r>
          </a:p>
        </p:txBody>
      </p:sp>
      <p:grpSp>
        <p:nvGrpSpPr>
          <p:cNvPr id="96323" name="Group 67"/>
          <p:cNvGrpSpPr>
            <a:grpSpLocks/>
          </p:cNvGrpSpPr>
          <p:nvPr/>
        </p:nvGrpSpPr>
        <p:grpSpPr bwMode="auto">
          <a:xfrm>
            <a:off x="5292725" y="1895475"/>
            <a:ext cx="2830513" cy="2038350"/>
            <a:chOff x="734" y="1408"/>
            <a:chExt cx="4138" cy="2444"/>
          </a:xfrm>
        </p:grpSpPr>
        <p:grpSp>
          <p:nvGrpSpPr>
            <p:cNvPr id="96324" name="Group 68"/>
            <p:cNvGrpSpPr>
              <a:grpSpLocks/>
            </p:cNvGrpSpPr>
            <p:nvPr/>
          </p:nvGrpSpPr>
          <p:grpSpPr bwMode="auto">
            <a:xfrm>
              <a:off x="1564" y="1492"/>
              <a:ext cx="112" cy="2360"/>
              <a:chOff x="1564" y="1492"/>
              <a:chExt cx="112" cy="2360"/>
            </a:xfrm>
          </p:grpSpPr>
          <p:sp>
            <p:nvSpPr>
              <p:cNvPr id="96325" name="Oval 69"/>
              <p:cNvSpPr>
                <a:spLocks noChangeArrowheads="1"/>
              </p:cNvSpPr>
              <p:nvPr/>
            </p:nvSpPr>
            <p:spPr bwMode="auto">
              <a:xfrm>
                <a:off x="1564" y="1492"/>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26" name="Oval 70"/>
              <p:cNvSpPr>
                <a:spLocks noChangeArrowheads="1"/>
              </p:cNvSpPr>
              <p:nvPr/>
            </p:nvSpPr>
            <p:spPr bwMode="auto">
              <a:xfrm>
                <a:off x="1564" y="2335"/>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27" name="Oval 71"/>
              <p:cNvSpPr>
                <a:spLocks noChangeArrowheads="1"/>
              </p:cNvSpPr>
              <p:nvPr/>
            </p:nvSpPr>
            <p:spPr bwMode="auto">
              <a:xfrm>
                <a:off x="1564" y="3178"/>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28" name="Oval 72"/>
              <p:cNvSpPr>
                <a:spLocks noChangeArrowheads="1"/>
              </p:cNvSpPr>
              <p:nvPr/>
            </p:nvSpPr>
            <p:spPr bwMode="auto">
              <a:xfrm>
                <a:off x="1564" y="1773"/>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29" name="Oval 73"/>
              <p:cNvSpPr>
                <a:spLocks noChangeArrowheads="1"/>
              </p:cNvSpPr>
              <p:nvPr/>
            </p:nvSpPr>
            <p:spPr bwMode="auto">
              <a:xfrm>
                <a:off x="1564" y="2616"/>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30" name="Oval 74"/>
              <p:cNvSpPr>
                <a:spLocks noChangeArrowheads="1"/>
              </p:cNvSpPr>
              <p:nvPr/>
            </p:nvSpPr>
            <p:spPr bwMode="auto">
              <a:xfrm>
                <a:off x="1564" y="3459"/>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31" name="Oval 75"/>
              <p:cNvSpPr>
                <a:spLocks noChangeArrowheads="1"/>
              </p:cNvSpPr>
              <p:nvPr/>
            </p:nvSpPr>
            <p:spPr bwMode="auto">
              <a:xfrm>
                <a:off x="1564" y="2054"/>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32" name="Oval 76"/>
              <p:cNvSpPr>
                <a:spLocks noChangeArrowheads="1"/>
              </p:cNvSpPr>
              <p:nvPr/>
            </p:nvSpPr>
            <p:spPr bwMode="auto">
              <a:xfrm>
                <a:off x="1564" y="2897"/>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sp>
            <p:nvSpPr>
              <p:cNvPr id="96333" name="Oval 77"/>
              <p:cNvSpPr>
                <a:spLocks noChangeArrowheads="1"/>
              </p:cNvSpPr>
              <p:nvPr/>
            </p:nvSpPr>
            <p:spPr bwMode="auto">
              <a:xfrm>
                <a:off x="1564" y="3740"/>
                <a:ext cx="112" cy="112"/>
              </a:xfrm>
              <a:prstGeom prst="ellipse">
                <a:avLst/>
              </a:prstGeom>
              <a:solidFill>
                <a:schemeClr val="bg1"/>
              </a:solidFill>
              <a:ln w="12700">
                <a:solidFill>
                  <a:schemeClr val="tx1"/>
                </a:solidFill>
                <a:round/>
                <a:headEnd/>
                <a:tailEnd/>
              </a:ln>
              <a:effectLst/>
            </p:spPr>
            <p:txBody>
              <a:bodyPr wrap="none" anchor="ctr"/>
              <a:lstStyle/>
              <a:p>
                <a:endParaRPr lang="fr-FR"/>
              </a:p>
            </p:txBody>
          </p:sp>
        </p:grpSp>
        <p:grpSp>
          <p:nvGrpSpPr>
            <p:cNvPr id="96334" name="Group 78"/>
            <p:cNvGrpSpPr>
              <a:grpSpLocks/>
            </p:cNvGrpSpPr>
            <p:nvPr/>
          </p:nvGrpSpPr>
          <p:grpSpPr bwMode="auto">
            <a:xfrm>
              <a:off x="2872" y="2068"/>
              <a:ext cx="312" cy="1208"/>
              <a:chOff x="2872" y="2104"/>
              <a:chExt cx="312" cy="1208"/>
            </a:xfrm>
          </p:grpSpPr>
          <p:sp>
            <p:nvSpPr>
              <p:cNvPr id="96335" name="Oval 79"/>
              <p:cNvSpPr>
                <a:spLocks noChangeArrowheads="1"/>
              </p:cNvSpPr>
              <p:nvPr/>
            </p:nvSpPr>
            <p:spPr bwMode="auto">
              <a:xfrm>
                <a:off x="2872" y="2104"/>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336" name="Oval 80"/>
              <p:cNvSpPr>
                <a:spLocks noChangeArrowheads="1"/>
              </p:cNvSpPr>
              <p:nvPr/>
            </p:nvSpPr>
            <p:spPr bwMode="auto">
              <a:xfrm>
                <a:off x="2872" y="3000"/>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grpSp>
        <p:sp>
          <p:nvSpPr>
            <p:cNvPr id="96337" name="Oval 81"/>
            <p:cNvSpPr>
              <a:spLocks noChangeArrowheads="1"/>
            </p:cNvSpPr>
            <p:nvPr/>
          </p:nvSpPr>
          <p:spPr bwMode="auto">
            <a:xfrm>
              <a:off x="4048" y="2516"/>
              <a:ext cx="312" cy="312"/>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338" name="Line 82"/>
            <p:cNvSpPr>
              <a:spLocks noChangeShapeType="1"/>
            </p:cNvSpPr>
            <p:nvPr/>
          </p:nvSpPr>
          <p:spPr bwMode="auto">
            <a:xfrm>
              <a:off x="1664" y="1552"/>
              <a:ext cx="1232" cy="616"/>
            </a:xfrm>
            <a:prstGeom prst="line">
              <a:avLst/>
            </a:prstGeom>
            <a:noFill/>
            <a:ln w="12700">
              <a:solidFill>
                <a:schemeClr val="tx1"/>
              </a:solidFill>
              <a:round/>
              <a:headEnd/>
              <a:tailEnd/>
            </a:ln>
            <a:effectLst/>
          </p:spPr>
          <p:txBody>
            <a:bodyPr wrap="none" anchor="ctr"/>
            <a:lstStyle/>
            <a:p>
              <a:endParaRPr lang="fr-FR"/>
            </a:p>
          </p:txBody>
        </p:sp>
        <p:sp>
          <p:nvSpPr>
            <p:cNvPr id="96339" name="Line 83"/>
            <p:cNvSpPr>
              <a:spLocks noChangeShapeType="1"/>
            </p:cNvSpPr>
            <p:nvPr/>
          </p:nvSpPr>
          <p:spPr bwMode="auto">
            <a:xfrm>
              <a:off x="1680" y="1840"/>
              <a:ext cx="1208" cy="384"/>
            </a:xfrm>
            <a:prstGeom prst="line">
              <a:avLst/>
            </a:prstGeom>
            <a:noFill/>
            <a:ln w="12700">
              <a:solidFill>
                <a:schemeClr val="tx1"/>
              </a:solidFill>
              <a:round/>
              <a:headEnd/>
              <a:tailEnd/>
            </a:ln>
            <a:effectLst/>
          </p:spPr>
          <p:txBody>
            <a:bodyPr wrap="none" anchor="ctr"/>
            <a:lstStyle/>
            <a:p>
              <a:endParaRPr lang="fr-FR"/>
            </a:p>
          </p:txBody>
        </p:sp>
        <p:sp>
          <p:nvSpPr>
            <p:cNvPr id="96340" name="Line 84"/>
            <p:cNvSpPr>
              <a:spLocks noChangeShapeType="1"/>
            </p:cNvSpPr>
            <p:nvPr/>
          </p:nvSpPr>
          <p:spPr bwMode="auto">
            <a:xfrm>
              <a:off x="1664" y="2120"/>
              <a:ext cx="1216" cy="168"/>
            </a:xfrm>
            <a:prstGeom prst="line">
              <a:avLst/>
            </a:prstGeom>
            <a:noFill/>
            <a:ln w="12700">
              <a:solidFill>
                <a:schemeClr val="tx1"/>
              </a:solidFill>
              <a:round/>
              <a:headEnd/>
              <a:tailEnd/>
            </a:ln>
            <a:effectLst/>
          </p:spPr>
          <p:txBody>
            <a:bodyPr wrap="none" anchor="ctr"/>
            <a:lstStyle/>
            <a:p>
              <a:endParaRPr lang="fr-FR"/>
            </a:p>
          </p:txBody>
        </p:sp>
        <p:sp>
          <p:nvSpPr>
            <p:cNvPr id="96341" name="Line 85"/>
            <p:cNvSpPr>
              <a:spLocks noChangeShapeType="1"/>
            </p:cNvSpPr>
            <p:nvPr/>
          </p:nvSpPr>
          <p:spPr bwMode="auto">
            <a:xfrm flipV="1">
              <a:off x="1664" y="2344"/>
              <a:ext cx="1240" cy="48"/>
            </a:xfrm>
            <a:prstGeom prst="line">
              <a:avLst/>
            </a:prstGeom>
            <a:noFill/>
            <a:ln w="12700">
              <a:solidFill>
                <a:schemeClr val="tx1"/>
              </a:solidFill>
              <a:round/>
              <a:headEnd/>
              <a:tailEnd/>
            </a:ln>
            <a:effectLst/>
          </p:spPr>
          <p:txBody>
            <a:bodyPr wrap="none" anchor="ctr"/>
            <a:lstStyle/>
            <a:p>
              <a:endParaRPr lang="fr-FR"/>
            </a:p>
          </p:txBody>
        </p:sp>
        <p:sp>
          <p:nvSpPr>
            <p:cNvPr id="96342" name="Line 86"/>
            <p:cNvSpPr>
              <a:spLocks noChangeShapeType="1"/>
            </p:cNvSpPr>
            <p:nvPr/>
          </p:nvSpPr>
          <p:spPr bwMode="auto">
            <a:xfrm flipV="1">
              <a:off x="1672" y="2376"/>
              <a:ext cx="1280" cy="296"/>
            </a:xfrm>
            <a:prstGeom prst="line">
              <a:avLst/>
            </a:prstGeom>
            <a:noFill/>
            <a:ln w="12700">
              <a:solidFill>
                <a:schemeClr val="tx1"/>
              </a:solidFill>
              <a:round/>
              <a:headEnd/>
              <a:tailEnd/>
            </a:ln>
            <a:effectLst/>
          </p:spPr>
          <p:txBody>
            <a:bodyPr wrap="none" anchor="ctr"/>
            <a:lstStyle/>
            <a:p>
              <a:endParaRPr lang="fr-FR"/>
            </a:p>
          </p:txBody>
        </p:sp>
        <p:sp>
          <p:nvSpPr>
            <p:cNvPr id="96343" name="Line 87"/>
            <p:cNvSpPr>
              <a:spLocks noChangeShapeType="1"/>
            </p:cNvSpPr>
            <p:nvPr/>
          </p:nvSpPr>
          <p:spPr bwMode="auto">
            <a:xfrm>
              <a:off x="1664" y="2712"/>
              <a:ext cx="1232" cy="360"/>
            </a:xfrm>
            <a:prstGeom prst="line">
              <a:avLst/>
            </a:prstGeom>
            <a:noFill/>
            <a:ln w="12700">
              <a:solidFill>
                <a:schemeClr val="tx1"/>
              </a:solidFill>
              <a:round/>
              <a:headEnd/>
              <a:tailEnd/>
            </a:ln>
            <a:effectLst/>
          </p:spPr>
          <p:txBody>
            <a:bodyPr wrap="none" anchor="ctr"/>
            <a:lstStyle/>
            <a:p>
              <a:endParaRPr lang="fr-FR"/>
            </a:p>
          </p:txBody>
        </p:sp>
        <p:sp>
          <p:nvSpPr>
            <p:cNvPr id="96344" name="Line 88"/>
            <p:cNvSpPr>
              <a:spLocks noChangeShapeType="1"/>
            </p:cNvSpPr>
            <p:nvPr/>
          </p:nvSpPr>
          <p:spPr bwMode="auto">
            <a:xfrm>
              <a:off x="1664" y="2952"/>
              <a:ext cx="1216" cy="184"/>
            </a:xfrm>
            <a:prstGeom prst="line">
              <a:avLst/>
            </a:prstGeom>
            <a:noFill/>
            <a:ln w="12700">
              <a:solidFill>
                <a:schemeClr val="tx1"/>
              </a:solidFill>
              <a:round/>
              <a:headEnd/>
              <a:tailEnd/>
            </a:ln>
            <a:effectLst/>
          </p:spPr>
          <p:txBody>
            <a:bodyPr wrap="none" anchor="ctr"/>
            <a:lstStyle/>
            <a:p>
              <a:endParaRPr lang="fr-FR"/>
            </a:p>
          </p:txBody>
        </p:sp>
        <p:sp>
          <p:nvSpPr>
            <p:cNvPr id="96345" name="Line 89"/>
            <p:cNvSpPr>
              <a:spLocks noChangeShapeType="1"/>
            </p:cNvSpPr>
            <p:nvPr/>
          </p:nvSpPr>
          <p:spPr bwMode="auto">
            <a:xfrm flipV="1">
              <a:off x="1680" y="3208"/>
              <a:ext cx="1216" cy="32"/>
            </a:xfrm>
            <a:prstGeom prst="line">
              <a:avLst/>
            </a:prstGeom>
            <a:noFill/>
            <a:ln w="12700">
              <a:solidFill>
                <a:schemeClr val="tx1"/>
              </a:solidFill>
              <a:round/>
              <a:headEnd/>
              <a:tailEnd/>
            </a:ln>
            <a:effectLst/>
          </p:spPr>
          <p:txBody>
            <a:bodyPr wrap="none" anchor="ctr"/>
            <a:lstStyle/>
            <a:p>
              <a:endParaRPr lang="fr-FR"/>
            </a:p>
          </p:txBody>
        </p:sp>
        <p:sp>
          <p:nvSpPr>
            <p:cNvPr id="96346" name="Line 90"/>
            <p:cNvSpPr>
              <a:spLocks noChangeShapeType="1"/>
            </p:cNvSpPr>
            <p:nvPr/>
          </p:nvSpPr>
          <p:spPr bwMode="auto">
            <a:xfrm flipV="1">
              <a:off x="1680" y="3256"/>
              <a:ext cx="1248" cy="272"/>
            </a:xfrm>
            <a:prstGeom prst="line">
              <a:avLst/>
            </a:prstGeom>
            <a:noFill/>
            <a:ln w="12700">
              <a:solidFill>
                <a:schemeClr val="tx1"/>
              </a:solidFill>
              <a:round/>
              <a:headEnd/>
              <a:tailEnd/>
            </a:ln>
            <a:effectLst/>
          </p:spPr>
          <p:txBody>
            <a:bodyPr wrap="none" anchor="ctr"/>
            <a:lstStyle/>
            <a:p>
              <a:endParaRPr lang="fr-FR"/>
            </a:p>
          </p:txBody>
        </p:sp>
        <p:sp>
          <p:nvSpPr>
            <p:cNvPr id="96347" name="Line 91"/>
            <p:cNvSpPr>
              <a:spLocks noChangeShapeType="1"/>
            </p:cNvSpPr>
            <p:nvPr/>
          </p:nvSpPr>
          <p:spPr bwMode="auto">
            <a:xfrm flipV="1">
              <a:off x="1688" y="3272"/>
              <a:ext cx="1296" cy="544"/>
            </a:xfrm>
            <a:prstGeom prst="line">
              <a:avLst/>
            </a:prstGeom>
            <a:noFill/>
            <a:ln w="12700">
              <a:solidFill>
                <a:schemeClr val="tx1"/>
              </a:solidFill>
              <a:round/>
              <a:headEnd/>
              <a:tailEnd/>
            </a:ln>
            <a:effectLst/>
          </p:spPr>
          <p:txBody>
            <a:bodyPr wrap="none" anchor="ctr"/>
            <a:lstStyle/>
            <a:p>
              <a:endParaRPr lang="fr-FR"/>
            </a:p>
          </p:txBody>
        </p:sp>
        <p:sp>
          <p:nvSpPr>
            <p:cNvPr id="96348" name="Line 92"/>
            <p:cNvSpPr>
              <a:spLocks noChangeShapeType="1"/>
            </p:cNvSpPr>
            <p:nvPr/>
          </p:nvSpPr>
          <p:spPr bwMode="auto">
            <a:xfrm>
              <a:off x="3192" y="2232"/>
              <a:ext cx="872" cy="392"/>
            </a:xfrm>
            <a:prstGeom prst="line">
              <a:avLst/>
            </a:prstGeom>
            <a:noFill/>
            <a:ln w="12700">
              <a:solidFill>
                <a:schemeClr val="tx1"/>
              </a:solidFill>
              <a:round/>
              <a:headEnd/>
              <a:tailEnd/>
            </a:ln>
            <a:effectLst/>
          </p:spPr>
          <p:txBody>
            <a:bodyPr wrap="none" anchor="ctr"/>
            <a:lstStyle/>
            <a:p>
              <a:endParaRPr lang="fr-FR"/>
            </a:p>
          </p:txBody>
        </p:sp>
        <p:sp>
          <p:nvSpPr>
            <p:cNvPr id="96349" name="Line 93"/>
            <p:cNvSpPr>
              <a:spLocks noChangeShapeType="1"/>
            </p:cNvSpPr>
            <p:nvPr/>
          </p:nvSpPr>
          <p:spPr bwMode="auto">
            <a:xfrm flipV="1">
              <a:off x="3176" y="2776"/>
              <a:ext cx="888" cy="312"/>
            </a:xfrm>
            <a:prstGeom prst="line">
              <a:avLst/>
            </a:prstGeom>
            <a:noFill/>
            <a:ln w="12700">
              <a:solidFill>
                <a:schemeClr val="tx1"/>
              </a:solidFill>
              <a:round/>
              <a:headEnd/>
              <a:tailEnd/>
            </a:ln>
            <a:effectLst/>
          </p:spPr>
          <p:txBody>
            <a:bodyPr wrap="none" anchor="ctr"/>
            <a:lstStyle/>
            <a:p>
              <a:endParaRPr lang="fr-FR"/>
            </a:p>
          </p:txBody>
        </p:sp>
        <p:sp>
          <p:nvSpPr>
            <p:cNvPr id="96350" name="Line 94"/>
            <p:cNvSpPr>
              <a:spLocks noChangeShapeType="1"/>
            </p:cNvSpPr>
            <p:nvPr/>
          </p:nvSpPr>
          <p:spPr bwMode="auto">
            <a:xfrm>
              <a:off x="4360" y="2680"/>
              <a:ext cx="512" cy="0"/>
            </a:xfrm>
            <a:prstGeom prst="line">
              <a:avLst/>
            </a:prstGeom>
            <a:noFill/>
            <a:ln w="12700">
              <a:solidFill>
                <a:schemeClr val="tx1"/>
              </a:solidFill>
              <a:round/>
              <a:headEnd/>
              <a:tailEnd type="triangle" w="med" len="med"/>
            </a:ln>
            <a:effectLst/>
          </p:spPr>
          <p:txBody>
            <a:bodyPr wrap="none" anchor="ctr"/>
            <a:lstStyle/>
            <a:p>
              <a:endParaRPr lang="fr-FR"/>
            </a:p>
          </p:txBody>
        </p:sp>
        <p:sp>
          <p:nvSpPr>
            <p:cNvPr id="96351" name="Oval 95"/>
            <p:cNvSpPr>
              <a:spLocks noChangeArrowheads="1"/>
            </p:cNvSpPr>
            <p:nvPr/>
          </p:nvSpPr>
          <p:spPr bwMode="auto">
            <a:xfrm>
              <a:off x="1480" y="1408"/>
              <a:ext cx="304" cy="1424"/>
            </a:xfrm>
            <a:prstGeom prst="ellipse">
              <a:avLst/>
            </a:prstGeom>
            <a:noFill/>
            <a:ln w="12700">
              <a:solidFill>
                <a:schemeClr val="hlink"/>
              </a:solidFill>
              <a:round/>
              <a:headEnd/>
              <a:tailEnd/>
            </a:ln>
            <a:effectLst/>
          </p:spPr>
          <p:txBody>
            <a:bodyPr wrap="none" anchor="ctr"/>
            <a:lstStyle/>
            <a:p>
              <a:endParaRPr lang="fr-FR"/>
            </a:p>
          </p:txBody>
        </p:sp>
        <p:sp>
          <p:nvSpPr>
            <p:cNvPr id="96352" name="Text Box 96"/>
            <p:cNvSpPr txBox="1">
              <a:spLocks noChangeArrowheads="1"/>
            </p:cNvSpPr>
            <p:nvPr/>
          </p:nvSpPr>
          <p:spPr bwMode="auto">
            <a:xfrm>
              <a:off x="734" y="1610"/>
              <a:ext cx="1102" cy="767"/>
            </a:xfrm>
            <a:prstGeom prst="rect">
              <a:avLst/>
            </a:prstGeom>
            <a:noFill/>
            <a:ln w="12700">
              <a:noFill/>
              <a:miter lim="800000"/>
              <a:headEnd/>
              <a:tailEnd/>
            </a:ln>
            <a:effectLst/>
          </p:spPr>
          <p:txBody>
            <a:bodyPr wrap="none">
              <a:spAutoFit/>
            </a:bodyPr>
            <a:lstStyle/>
            <a:p>
              <a:pPr eaLnBrk="0" hangingPunct="0"/>
              <a:r>
                <a:rPr lang="fr-FR" sz="1200">
                  <a:solidFill>
                    <a:schemeClr val="hlink"/>
                  </a:solidFill>
                  <a:latin typeface="Times" charset="0"/>
                </a:rPr>
                <a:t>Champ</a:t>
              </a:r>
            </a:p>
            <a:p>
              <a:pPr eaLnBrk="0" hangingPunct="0"/>
              <a:r>
                <a:rPr lang="fr-FR" sz="1200">
                  <a:solidFill>
                    <a:schemeClr val="hlink"/>
                  </a:solidFill>
                  <a:latin typeface="Times" charset="0"/>
                </a:rPr>
                <a:t>récepteur</a:t>
              </a:r>
            </a:p>
            <a:p>
              <a:pPr eaLnBrk="0" hangingPunct="0"/>
              <a:r>
                <a:rPr lang="fr-FR" sz="1200">
                  <a:solidFill>
                    <a:schemeClr val="hlink"/>
                  </a:solidFill>
                  <a:latin typeface="Times" charset="0"/>
                </a:rPr>
                <a:t>de i</a:t>
              </a:r>
            </a:p>
          </p:txBody>
        </p:sp>
        <p:sp>
          <p:nvSpPr>
            <p:cNvPr id="96353" name="Text Box 97"/>
            <p:cNvSpPr txBox="1">
              <a:spLocks noChangeArrowheads="1"/>
            </p:cNvSpPr>
            <p:nvPr/>
          </p:nvSpPr>
          <p:spPr bwMode="auto">
            <a:xfrm>
              <a:off x="2862" y="1787"/>
              <a:ext cx="372" cy="476"/>
            </a:xfrm>
            <a:prstGeom prst="rect">
              <a:avLst/>
            </a:prstGeom>
            <a:noFill/>
            <a:ln w="12700">
              <a:noFill/>
              <a:miter lim="800000"/>
              <a:headEnd/>
              <a:tailEnd/>
            </a:ln>
            <a:effectLst/>
          </p:spPr>
          <p:txBody>
            <a:bodyPr wrap="none">
              <a:spAutoFit/>
            </a:bodyPr>
            <a:lstStyle/>
            <a:p>
              <a:pPr eaLnBrk="0" hangingPunct="0"/>
              <a:r>
                <a:rPr lang="fr-FR" sz="2000">
                  <a:solidFill>
                    <a:schemeClr val="hlink"/>
                  </a:solidFill>
                  <a:latin typeface="Times" charset="0"/>
                </a:rPr>
                <a:t>i</a:t>
              </a:r>
              <a:endParaRPr lang="fr-FR" sz="2000">
                <a:latin typeface="Times" charset="0"/>
              </a:endParaRPr>
            </a:p>
          </p:txBody>
        </p:sp>
      </p:grpSp>
      <p:sp>
        <p:nvSpPr>
          <p:cNvPr id="96354" name="Rectangle 98"/>
          <p:cNvSpPr>
            <a:spLocks noChangeArrowheads="1"/>
          </p:cNvSpPr>
          <p:nvPr/>
        </p:nvSpPr>
        <p:spPr bwMode="auto">
          <a:xfrm>
            <a:off x="5148263" y="4149725"/>
            <a:ext cx="2962275" cy="315913"/>
          </a:xfrm>
          <a:prstGeom prst="rect">
            <a:avLst/>
          </a:prstGeom>
          <a:solidFill>
            <a:srgbClr val="33CCCC"/>
          </a:solidFill>
          <a:ln w="9525">
            <a:noFill/>
            <a:miter lim="800000"/>
            <a:headEnd/>
            <a:tailEnd/>
          </a:ln>
          <a:effectLst/>
        </p:spPr>
        <p:txBody>
          <a:bodyPr/>
          <a:lstStyle/>
          <a:p>
            <a:pPr marL="342900" indent="-342900">
              <a:lnSpc>
                <a:spcPct val="90000"/>
              </a:lnSpc>
              <a:spcBef>
                <a:spcPct val="20000"/>
              </a:spcBef>
              <a:buFontTx/>
              <a:buChar char="•"/>
            </a:pPr>
            <a:r>
              <a:rPr lang="fr-FR" sz="1600"/>
              <a:t>Monocouche, récurrent</a:t>
            </a:r>
          </a:p>
        </p:txBody>
      </p:sp>
      <p:grpSp>
        <p:nvGrpSpPr>
          <p:cNvPr id="96355" name="Group 99"/>
          <p:cNvGrpSpPr>
            <a:grpSpLocks/>
          </p:cNvGrpSpPr>
          <p:nvPr/>
        </p:nvGrpSpPr>
        <p:grpSpPr bwMode="auto">
          <a:xfrm>
            <a:off x="5518150" y="4754563"/>
            <a:ext cx="1752600" cy="1697037"/>
            <a:chOff x="1504" y="2024"/>
            <a:chExt cx="2177" cy="1568"/>
          </a:xfrm>
        </p:grpSpPr>
        <p:sp>
          <p:nvSpPr>
            <p:cNvPr id="96356" name="Oval 100"/>
            <p:cNvSpPr>
              <a:spLocks noChangeArrowheads="1"/>
            </p:cNvSpPr>
            <p:nvPr/>
          </p:nvSpPr>
          <p:spPr bwMode="auto">
            <a:xfrm>
              <a:off x="1504" y="2024"/>
              <a:ext cx="336" cy="336"/>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357" name="Oval 101"/>
            <p:cNvSpPr>
              <a:spLocks noChangeArrowheads="1"/>
            </p:cNvSpPr>
            <p:nvPr/>
          </p:nvSpPr>
          <p:spPr bwMode="auto">
            <a:xfrm>
              <a:off x="3344" y="2024"/>
              <a:ext cx="336" cy="336"/>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358" name="Oval 102"/>
            <p:cNvSpPr>
              <a:spLocks noChangeArrowheads="1"/>
            </p:cNvSpPr>
            <p:nvPr/>
          </p:nvSpPr>
          <p:spPr bwMode="auto">
            <a:xfrm>
              <a:off x="3344" y="3256"/>
              <a:ext cx="336" cy="336"/>
            </a:xfrm>
            <a:prstGeom prst="ellipse">
              <a:avLst/>
            </a:prstGeom>
            <a:solidFill>
              <a:schemeClr val="bg2"/>
            </a:solidFill>
            <a:ln w="12700">
              <a:solidFill>
                <a:schemeClr val="tx1"/>
              </a:solidFill>
              <a:round/>
              <a:headEnd/>
              <a:tailEnd/>
            </a:ln>
            <a:effectLst/>
          </p:spPr>
          <p:txBody>
            <a:bodyPr wrap="none" anchor="ctr"/>
            <a:lstStyle/>
            <a:p>
              <a:endParaRPr lang="fr-FR"/>
            </a:p>
          </p:txBody>
        </p:sp>
        <p:sp>
          <p:nvSpPr>
            <p:cNvPr id="96359" name="Oval 103"/>
            <p:cNvSpPr>
              <a:spLocks noChangeArrowheads="1"/>
            </p:cNvSpPr>
            <p:nvPr/>
          </p:nvSpPr>
          <p:spPr bwMode="auto">
            <a:xfrm>
              <a:off x="1544" y="3256"/>
              <a:ext cx="336" cy="336"/>
            </a:xfrm>
            <a:prstGeom prst="ellipse">
              <a:avLst/>
            </a:prstGeom>
            <a:solidFill>
              <a:schemeClr val="bg2"/>
            </a:solidFill>
            <a:ln w="12700">
              <a:solidFill>
                <a:schemeClr val="tx1"/>
              </a:solidFill>
              <a:round/>
              <a:headEnd/>
              <a:tailEnd/>
            </a:ln>
            <a:effectLst/>
          </p:spPr>
          <p:txBody>
            <a:bodyPr wrap="none" anchor="ctr"/>
            <a:lstStyle/>
            <a:p>
              <a:endParaRPr lang="fr-FR"/>
            </a:p>
          </p:txBody>
        </p:sp>
        <p:cxnSp>
          <p:nvCxnSpPr>
            <p:cNvPr id="96360" name="AutoShape 104"/>
            <p:cNvCxnSpPr>
              <a:cxnSpLocks noChangeShapeType="1"/>
              <a:stCxn id="96356" idx="7"/>
              <a:endCxn id="96357" idx="1"/>
            </p:cNvCxnSpPr>
            <p:nvPr/>
          </p:nvCxnSpPr>
          <p:spPr bwMode="auto">
            <a:xfrm rot="5400000" flipV="1">
              <a:off x="2591" y="1273"/>
              <a:ext cx="1" cy="1602"/>
            </a:xfrm>
            <a:prstGeom prst="curvedConnector3">
              <a:avLst>
                <a:gd name="adj1" fmla="val -19300000"/>
              </a:avLst>
            </a:prstGeom>
            <a:noFill/>
            <a:ln w="12700">
              <a:solidFill>
                <a:schemeClr val="tx1"/>
              </a:solidFill>
              <a:round/>
              <a:headEnd/>
              <a:tailEnd type="triangle" w="med" len="med"/>
            </a:ln>
            <a:effectLst/>
          </p:spPr>
        </p:cxnSp>
        <p:cxnSp>
          <p:nvCxnSpPr>
            <p:cNvPr id="96361" name="AutoShape 105"/>
            <p:cNvCxnSpPr>
              <a:cxnSpLocks noChangeShapeType="1"/>
              <a:stCxn id="96357" idx="3"/>
              <a:endCxn id="96356" idx="5"/>
            </p:cNvCxnSpPr>
            <p:nvPr/>
          </p:nvCxnSpPr>
          <p:spPr bwMode="auto">
            <a:xfrm rot="5400000">
              <a:off x="2591" y="1511"/>
              <a:ext cx="1" cy="1602"/>
            </a:xfrm>
            <a:prstGeom prst="curvedConnector3">
              <a:avLst>
                <a:gd name="adj1" fmla="val 19300000"/>
              </a:avLst>
            </a:prstGeom>
            <a:noFill/>
            <a:ln w="12700">
              <a:solidFill>
                <a:schemeClr val="tx1"/>
              </a:solidFill>
              <a:round/>
              <a:headEnd/>
              <a:tailEnd type="triangle" w="med" len="med"/>
            </a:ln>
            <a:effectLst/>
          </p:spPr>
        </p:cxnSp>
        <p:cxnSp>
          <p:nvCxnSpPr>
            <p:cNvPr id="96362" name="AutoShape 106"/>
            <p:cNvCxnSpPr>
              <a:cxnSpLocks noChangeShapeType="1"/>
              <a:stCxn id="96359" idx="5"/>
              <a:endCxn id="96358" idx="3"/>
            </p:cNvCxnSpPr>
            <p:nvPr/>
          </p:nvCxnSpPr>
          <p:spPr bwMode="auto">
            <a:xfrm rot="16200000" flipH="1">
              <a:off x="2611" y="2763"/>
              <a:ext cx="1" cy="1562"/>
            </a:xfrm>
            <a:prstGeom prst="curvedConnector3">
              <a:avLst>
                <a:gd name="adj1" fmla="val 19300000"/>
              </a:avLst>
            </a:prstGeom>
            <a:noFill/>
            <a:ln w="12700">
              <a:solidFill>
                <a:schemeClr val="tx1"/>
              </a:solidFill>
              <a:round/>
              <a:headEnd/>
              <a:tailEnd type="triangle" w="med" len="med"/>
            </a:ln>
            <a:effectLst/>
          </p:spPr>
        </p:cxnSp>
        <p:cxnSp>
          <p:nvCxnSpPr>
            <p:cNvPr id="96363" name="AutoShape 107"/>
            <p:cNvCxnSpPr>
              <a:cxnSpLocks noChangeShapeType="1"/>
              <a:stCxn id="96358" idx="0"/>
              <a:endCxn id="96359" idx="7"/>
            </p:cNvCxnSpPr>
            <p:nvPr/>
          </p:nvCxnSpPr>
          <p:spPr bwMode="auto">
            <a:xfrm rot="16200000" flipH="1" flipV="1">
              <a:off x="2647" y="2440"/>
              <a:ext cx="49" cy="1681"/>
            </a:xfrm>
            <a:prstGeom prst="curvedConnector3">
              <a:avLst>
                <a:gd name="adj1" fmla="val -293880"/>
              </a:avLst>
            </a:prstGeom>
            <a:noFill/>
            <a:ln w="12700">
              <a:solidFill>
                <a:schemeClr val="tx1"/>
              </a:solidFill>
              <a:round/>
              <a:headEnd/>
              <a:tailEnd type="triangle" w="med" len="med"/>
            </a:ln>
            <a:effectLst/>
          </p:spPr>
        </p:cxnSp>
        <p:cxnSp>
          <p:nvCxnSpPr>
            <p:cNvPr id="96364" name="AutoShape 108"/>
            <p:cNvCxnSpPr>
              <a:cxnSpLocks noChangeShapeType="1"/>
              <a:stCxn id="96358" idx="6"/>
              <a:endCxn id="96357" idx="6"/>
            </p:cNvCxnSpPr>
            <p:nvPr/>
          </p:nvCxnSpPr>
          <p:spPr bwMode="auto">
            <a:xfrm flipV="1">
              <a:off x="3680" y="2192"/>
              <a:ext cx="1" cy="1232"/>
            </a:xfrm>
            <a:prstGeom prst="curvedConnector3">
              <a:avLst>
                <a:gd name="adj1" fmla="val 14400000"/>
              </a:avLst>
            </a:prstGeom>
            <a:noFill/>
            <a:ln w="12700">
              <a:solidFill>
                <a:schemeClr val="tx1"/>
              </a:solidFill>
              <a:round/>
              <a:headEnd/>
              <a:tailEnd type="triangle" w="med" len="med"/>
            </a:ln>
            <a:effectLst/>
          </p:spPr>
        </p:cxnSp>
        <p:cxnSp>
          <p:nvCxnSpPr>
            <p:cNvPr id="96365" name="AutoShape 109"/>
            <p:cNvCxnSpPr>
              <a:cxnSpLocks noChangeShapeType="1"/>
              <a:stCxn id="96357" idx="2"/>
              <a:endCxn id="96358" idx="2"/>
            </p:cNvCxnSpPr>
            <p:nvPr/>
          </p:nvCxnSpPr>
          <p:spPr bwMode="auto">
            <a:xfrm rot="10800000" flipH="1" flipV="1">
              <a:off x="3344" y="2192"/>
              <a:ext cx="1" cy="1232"/>
            </a:xfrm>
            <a:prstGeom prst="curvedConnector3">
              <a:avLst>
                <a:gd name="adj1" fmla="val -14400000"/>
              </a:avLst>
            </a:prstGeom>
            <a:noFill/>
            <a:ln w="12700">
              <a:solidFill>
                <a:schemeClr val="tx1"/>
              </a:solidFill>
              <a:round/>
              <a:headEnd/>
              <a:tailEnd type="triangle" w="med" len="med"/>
            </a:ln>
            <a:effectLst/>
          </p:spPr>
        </p:cxnSp>
        <p:cxnSp>
          <p:nvCxnSpPr>
            <p:cNvPr id="96366" name="AutoShape 110"/>
            <p:cNvCxnSpPr>
              <a:cxnSpLocks noChangeShapeType="1"/>
              <a:stCxn id="96356" idx="2"/>
              <a:endCxn id="96359" idx="2"/>
            </p:cNvCxnSpPr>
            <p:nvPr/>
          </p:nvCxnSpPr>
          <p:spPr bwMode="auto">
            <a:xfrm rot="10800000" flipH="1" flipV="1">
              <a:off x="1504" y="2192"/>
              <a:ext cx="40" cy="1232"/>
            </a:xfrm>
            <a:prstGeom prst="curvedConnector3">
              <a:avLst>
                <a:gd name="adj1" fmla="val -360000"/>
              </a:avLst>
            </a:prstGeom>
            <a:noFill/>
            <a:ln w="12700">
              <a:solidFill>
                <a:schemeClr val="tx1"/>
              </a:solidFill>
              <a:round/>
              <a:headEnd/>
              <a:tailEnd type="triangle" w="med" len="med"/>
            </a:ln>
            <a:effectLst/>
          </p:spPr>
        </p:cxnSp>
        <p:cxnSp>
          <p:nvCxnSpPr>
            <p:cNvPr id="96367" name="AutoShape 111"/>
            <p:cNvCxnSpPr>
              <a:cxnSpLocks noChangeShapeType="1"/>
              <a:stCxn id="96359" idx="6"/>
              <a:endCxn id="96356" idx="6"/>
            </p:cNvCxnSpPr>
            <p:nvPr/>
          </p:nvCxnSpPr>
          <p:spPr bwMode="auto">
            <a:xfrm flipH="1" flipV="1">
              <a:off x="1840" y="2192"/>
              <a:ext cx="40" cy="1232"/>
            </a:xfrm>
            <a:prstGeom prst="curvedConnector3">
              <a:avLst>
                <a:gd name="adj1" fmla="val -360000"/>
              </a:avLst>
            </a:prstGeom>
            <a:noFill/>
            <a:ln w="12700">
              <a:solidFill>
                <a:schemeClr val="tx1"/>
              </a:solidFill>
              <a:round/>
              <a:headEnd/>
              <a:tailEnd type="triangle" w="med" len="med"/>
            </a:ln>
            <a:effectLst/>
          </p:spPr>
        </p:cxnSp>
        <p:cxnSp>
          <p:nvCxnSpPr>
            <p:cNvPr id="96368" name="AutoShape 112"/>
            <p:cNvCxnSpPr>
              <a:cxnSpLocks noChangeShapeType="1"/>
              <a:stCxn id="96359" idx="6"/>
              <a:endCxn id="96357" idx="4"/>
            </p:cNvCxnSpPr>
            <p:nvPr/>
          </p:nvCxnSpPr>
          <p:spPr bwMode="auto">
            <a:xfrm flipV="1">
              <a:off x="1880" y="2360"/>
              <a:ext cx="1632" cy="1064"/>
            </a:xfrm>
            <a:prstGeom prst="curvedConnector2">
              <a:avLst/>
            </a:prstGeom>
            <a:noFill/>
            <a:ln w="12700">
              <a:solidFill>
                <a:schemeClr val="tx1"/>
              </a:solidFill>
              <a:prstDash val="dash"/>
              <a:round/>
              <a:headEnd/>
              <a:tailEnd/>
            </a:ln>
            <a:effectLst/>
          </p:spPr>
        </p:cxnSp>
        <p:cxnSp>
          <p:nvCxnSpPr>
            <p:cNvPr id="96369" name="AutoShape 113"/>
            <p:cNvCxnSpPr>
              <a:cxnSpLocks noChangeShapeType="1"/>
              <a:stCxn id="96358" idx="7"/>
              <a:endCxn id="96356" idx="6"/>
            </p:cNvCxnSpPr>
            <p:nvPr/>
          </p:nvCxnSpPr>
          <p:spPr bwMode="auto">
            <a:xfrm rot="5400000" flipH="1">
              <a:off x="2179" y="1853"/>
              <a:ext cx="1113" cy="1791"/>
            </a:xfrm>
            <a:prstGeom prst="curvedConnector2">
              <a:avLst/>
            </a:prstGeom>
            <a:noFill/>
            <a:ln w="12700">
              <a:solidFill>
                <a:schemeClr val="tx1"/>
              </a:solidFill>
              <a:prstDash val="dash"/>
              <a:round/>
              <a:headEnd/>
              <a:tailEnd/>
            </a:ln>
            <a:effectLst/>
          </p:spPr>
        </p:cxnSp>
      </p:grpSp>
    </p:spTree>
    <p:extLst>
      <p:ext uri="{BB962C8B-B14F-4D97-AF65-F5344CB8AC3E}">
        <p14:creationId xmlns:p14="http://schemas.microsoft.com/office/powerpoint/2010/main" val="169427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84"/>
                                        </p:tgtEl>
                                        <p:attrNameLst>
                                          <p:attrName>style.visibility</p:attrName>
                                        </p:attrNameLst>
                                      </p:cBhvr>
                                      <p:to>
                                        <p:strVal val="visible"/>
                                      </p:to>
                                    </p:set>
                                    <p:anim calcmode="lin" valueType="num">
                                      <p:cBhvr additive="base">
                                        <p:cTn id="7" dur="500" fill="hold"/>
                                        <p:tgtEl>
                                          <p:spTgt spid="96284"/>
                                        </p:tgtEl>
                                        <p:attrNameLst>
                                          <p:attrName>ppt_x</p:attrName>
                                        </p:attrNameLst>
                                      </p:cBhvr>
                                      <p:tavLst>
                                        <p:tav tm="0">
                                          <p:val>
                                            <p:strVal val="#ppt_x"/>
                                          </p:val>
                                        </p:tav>
                                        <p:tav tm="100000">
                                          <p:val>
                                            <p:strVal val="#ppt_x"/>
                                          </p:val>
                                        </p:tav>
                                      </p:tavLst>
                                    </p:anim>
                                    <p:anim calcmode="lin" valueType="num">
                                      <p:cBhvr additive="base">
                                        <p:cTn id="8" dur="500" fill="hold"/>
                                        <p:tgtEl>
                                          <p:spTgt spid="9628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6285"/>
                                        </p:tgtEl>
                                        <p:attrNameLst>
                                          <p:attrName>style.visibility</p:attrName>
                                        </p:attrNameLst>
                                      </p:cBhvr>
                                      <p:to>
                                        <p:strVal val="visible"/>
                                      </p:to>
                                    </p:set>
                                    <p:anim calcmode="lin" valueType="num">
                                      <p:cBhvr additive="base">
                                        <p:cTn id="11" dur="500" fill="hold"/>
                                        <p:tgtEl>
                                          <p:spTgt spid="96285"/>
                                        </p:tgtEl>
                                        <p:attrNameLst>
                                          <p:attrName>ppt_x</p:attrName>
                                        </p:attrNameLst>
                                      </p:cBhvr>
                                      <p:tavLst>
                                        <p:tav tm="0">
                                          <p:val>
                                            <p:strVal val="#ppt_x"/>
                                          </p:val>
                                        </p:tav>
                                        <p:tav tm="100000">
                                          <p:val>
                                            <p:strVal val="#ppt_x"/>
                                          </p:val>
                                        </p:tav>
                                      </p:tavLst>
                                    </p:anim>
                                    <p:anim calcmode="lin" valueType="num">
                                      <p:cBhvr additive="base">
                                        <p:cTn id="12" dur="500" fill="hold"/>
                                        <p:tgtEl>
                                          <p:spTgt spid="9628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6322"/>
                                        </p:tgtEl>
                                        <p:attrNameLst>
                                          <p:attrName>style.visibility</p:attrName>
                                        </p:attrNameLst>
                                      </p:cBhvr>
                                      <p:to>
                                        <p:strVal val="visible"/>
                                      </p:to>
                                    </p:set>
                                    <p:anim calcmode="lin" valueType="num">
                                      <p:cBhvr additive="base">
                                        <p:cTn id="17" dur="500" fill="hold"/>
                                        <p:tgtEl>
                                          <p:spTgt spid="96322"/>
                                        </p:tgtEl>
                                        <p:attrNameLst>
                                          <p:attrName>ppt_x</p:attrName>
                                        </p:attrNameLst>
                                      </p:cBhvr>
                                      <p:tavLst>
                                        <p:tav tm="0">
                                          <p:val>
                                            <p:strVal val="#ppt_x"/>
                                          </p:val>
                                        </p:tav>
                                        <p:tav tm="100000">
                                          <p:val>
                                            <p:strVal val="#ppt_x"/>
                                          </p:val>
                                        </p:tav>
                                      </p:tavLst>
                                    </p:anim>
                                    <p:anim calcmode="lin" valueType="num">
                                      <p:cBhvr additive="base">
                                        <p:cTn id="18" dur="500" fill="hold"/>
                                        <p:tgtEl>
                                          <p:spTgt spid="9632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6323"/>
                                        </p:tgtEl>
                                        <p:attrNameLst>
                                          <p:attrName>style.visibility</p:attrName>
                                        </p:attrNameLst>
                                      </p:cBhvr>
                                      <p:to>
                                        <p:strVal val="visible"/>
                                      </p:to>
                                    </p:set>
                                    <p:anim calcmode="lin" valueType="num">
                                      <p:cBhvr additive="base">
                                        <p:cTn id="21" dur="500" fill="hold"/>
                                        <p:tgtEl>
                                          <p:spTgt spid="96323"/>
                                        </p:tgtEl>
                                        <p:attrNameLst>
                                          <p:attrName>ppt_x</p:attrName>
                                        </p:attrNameLst>
                                      </p:cBhvr>
                                      <p:tavLst>
                                        <p:tav tm="0">
                                          <p:val>
                                            <p:strVal val="#ppt_x"/>
                                          </p:val>
                                        </p:tav>
                                        <p:tav tm="100000">
                                          <p:val>
                                            <p:strVal val="#ppt_x"/>
                                          </p:val>
                                        </p:tav>
                                      </p:tavLst>
                                    </p:anim>
                                    <p:anim calcmode="lin" valueType="num">
                                      <p:cBhvr additive="base">
                                        <p:cTn id="22" dur="500" fill="hold"/>
                                        <p:tgtEl>
                                          <p:spTgt spid="9632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6354"/>
                                        </p:tgtEl>
                                        <p:attrNameLst>
                                          <p:attrName>style.visibility</p:attrName>
                                        </p:attrNameLst>
                                      </p:cBhvr>
                                      <p:to>
                                        <p:strVal val="visible"/>
                                      </p:to>
                                    </p:set>
                                    <p:anim calcmode="lin" valueType="num">
                                      <p:cBhvr additive="base">
                                        <p:cTn id="27" dur="500" fill="hold"/>
                                        <p:tgtEl>
                                          <p:spTgt spid="96354"/>
                                        </p:tgtEl>
                                        <p:attrNameLst>
                                          <p:attrName>ppt_x</p:attrName>
                                        </p:attrNameLst>
                                      </p:cBhvr>
                                      <p:tavLst>
                                        <p:tav tm="0">
                                          <p:val>
                                            <p:strVal val="#ppt_x"/>
                                          </p:val>
                                        </p:tav>
                                        <p:tav tm="100000">
                                          <p:val>
                                            <p:strVal val="#ppt_x"/>
                                          </p:val>
                                        </p:tav>
                                      </p:tavLst>
                                    </p:anim>
                                    <p:anim calcmode="lin" valueType="num">
                                      <p:cBhvr additive="base">
                                        <p:cTn id="28" dur="500" fill="hold"/>
                                        <p:tgtEl>
                                          <p:spTgt spid="9635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6355"/>
                                        </p:tgtEl>
                                        <p:attrNameLst>
                                          <p:attrName>style.visibility</p:attrName>
                                        </p:attrNameLst>
                                      </p:cBhvr>
                                      <p:to>
                                        <p:strVal val="visible"/>
                                      </p:to>
                                    </p:set>
                                    <p:anim calcmode="lin" valueType="num">
                                      <p:cBhvr additive="base">
                                        <p:cTn id="31" dur="500" fill="hold"/>
                                        <p:tgtEl>
                                          <p:spTgt spid="96355"/>
                                        </p:tgtEl>
                                        <p:attrNameLst>
                                          <p:attrName>ppt_x</p:attrName>
                                        </p:attrNameLst>
                                      </p:cBhvr>
                                      <p:tavLst>
                                        <p:tav tm="0">
                                          <p:val>
                                            <p:strVal val="#ppt_x"/>
                                          </p:val>
                                        </p:tav>
                                        <p:tav tm="100000">
                                          <p:val>
                                            <p:strVal val="#ppt_x"/>
                                          </p:val>
                                        </p:tav>
                                      </p:tavLst>
                                    </p:anim>
                                    <p:anim calcmode="lin" valueType="num">
                                      <p:cBhvr additive="base">
                                        <p:cTn id="32" dur="500" fill="hold"/>
                                        <p:tgtEl>
                                          <p:spTgt spid="963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84" grpId="0" animBg="1"/>
      <p:bldP spid="96322" grpId="0" animBg="1"/>
      <p:bldP spid="9635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2411760" y="1047888"/>
            <a:ext cx="4378122" cy="707886"/>
          </a:xfrm>
          <a:prstGeom prst="rect">
            <a:avLst/>
          </a:prstGeom>
        </p:spPr>
        <p:txBody>
          <a:bodyPr anchor="ctr">
            <a:normAutofit/>
          </a:bodyPr>
          <a:lstStyle>
            <a:lvl1pPr>
              <a:spcBef>
                <a:spcPct val="0"/>
              </a:spcBef>
              <a:buNone/>
              <a:defRPr kumimoji="0" sz="40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fr-CA" dirty="0"/>
              <a:t>Les grands modèles </a:t>
            </a:r>
          </a:p>
        </p:txBody>
      </p:sp>
      <p:sp>
        <p:nvSpPr>
          <p:cNvPr id="86019" name="Text Box 3"/>
          <p:cNvSpPr txBox="1">
            <a:spLocks noChangeArrowheads="1"/>
          </p:cNvSpPr>
          <p:nvPr/>
        </p:nvSpPr>
        <p:spPr bwMode="auto">
          <a:xfrm>
            <a:off x="952500" y="2504143"/>
            <a:ext cx="8191500" cy="3508653"/>
          </a:xfrm>
          <a:prstGeom prst="rect">
            <a:avLst/>
          </a:prstGeom>
          <a:noFill/>
          <a:ln w="9525">
            <a:noFill/>
            <a:miter lim="800000"/>
            <a:headEnd/>
            <a:tailEnd/>
          </a:ln>
        </p:spPr>
        <p:txBody>
          <a:bodyPr wrap="square" anchor="ctr">
            <a:spAutoFit/>
          </a:bodyPr>
          <a:lstStyle/>
          <a:p>
            <a:pPr eaLnBrk="0" hangingPunct="0">
              <a:lnSpc>
                <a:spcPct val="150000"/>
              </a:lnSpc>
              <a:spcBef>
                <a:spcPct val="50000"/>
              </a:spcBef>
              <a:buFontTx/>
              <a:buChar char="•"/>
            </a:pPr>
            <a:r>
              <a:rPr lang="fr-CA" sz="4400" dirty="0">
                <a:latin typeface="+mj-lt"/>
                <a:cs typeface="Times New Roman" pitchFamily="18" charset="0"/>
              </a:rPr>
              <a:t> Connaissances symboliques </a:t>
            </a:r>
            <a:endParaRPr lang="fr-CA" sz="2400" dirty="0">
              <a:latin typeface="+mj-lt"/>
              <a:cs typeface="Times New Roman" pitchFamily="18" charset="0"/>
            </a:endParaRPr>
          </a:p>
          <a:p>
            <a:pPr eaLnBrk="0" hangingPunct="0">
              <a:lnSpc>
                <a:spcPct val="150000"/>
              </a:lnSpc>
              <a:buFontTx/>
              <a:buChar char="•"/>
            </a:pPr>
            <a:r>
              <a:rPr lang="fr-CA" sz="4400" dirty="0">
                <a:latin typeface="+mj-lt"/>
                <a:cs typeface="Times New Roman" pitchFamily="18" charset="0"/>
              </a:rPr>
              <a:t> Réseaux neuronaux </a:t>
            </a:r>
            <a:endParaRPr lang="fr-CA" sz="2400" dirty="0">
              <a:latin typeface="+mj-lt"/>
              <a:cs typeface="Times New Roman" pitchFamily="18" charset="0"/>
            </a:endParaRPr>
          </a:p>
          <a:p>
            <a:pPr eaLnBrk="0" hangingPunct="0">
              <a:lnSpc>
                <a:spcPct val="150000"/>
              </a:lnSpc>
              <a:buFontTx/>
              <a:buChar char="•"/>
            </a:pPr>
            <a:r>
              <a:rPr lang="fr-CA" sz="4400" dirty="0">
                <a:latin typeface="+mj-lt"/>
                <a:cs typeface="Times New Roman" pitchFamily="18" charset="0"/>
              </a:rPr>
              <a:t> </a:t>
            </a:r>
            <a:r>
              <a:rPr lang="fr-CA" sz="4400" dirty="0">
                <a:solidFill>
                  <a:srgbClr val="8BCACF"/>
                </a:solidFill>
                <a:latin typeface="+mj-lt"/>
                <a:cs typeface="Times New Roman" pitchFamily="18" charset="0"/>
              </a:rPr>
              <a:t>Modèles statistiques</a:t>
            </a:r>
            <a:r>
              <a:rPr lang="fr-CA" sz="4000" dirty="0">
                <a:solidFill>
                  <a:srgbClr val="8BCACF"/>
                </a:solidFill>
                <a:latin typeface="+mj-lt"/>
                <a:cs typeface="Times New Roman" pitchFamily="18" charset="0"/>
              </a:rPr>
              <a:t> </a:t>
            </a:r>
            <a:endParaRPr lang="fr-CA" sz="2400" dirty="0">
              <a:solidFill>
                <a:srgbClr val="8BCACF"/>
              </a:solidFill>
              <a:latin typeface="+mj-lt"/>
              <a:cs typeface="Times New Roman" pitchFamily="18" charset="0"/>
            </a:endParaRPr>
          </a:p>
          <a:p>
            <a:pPr eaLnBrk="0" hangingPunct="0">
              <a:buFontTx/>
              <a:buChar char="•"/>
            </a:pPr>
            <a:endParaRPr lang="fr-CA" dirty="0">
              <a:latin typeface="+mj-lt"/>
            </a:endParaRPr>
          </a:p>
        </p:txBody>
      </p:sp>
    </p:spTree>
    <p:extLst>
      <p:ext uri="{BB962C8B-B14F-4D97-AF65-F5344CB8AC3E}">
        <p14:creationId xmlns:p14="http://schemas.microsoft.com/office/powerpoint/2010/main" val="9705696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1115616" y="565299"/>
            <a:ext cx="5143500" cy="730250"/>
          </a:xfrm>
          <a:prstGeom prst="rect">
            <a:avLst/>
          </a:prstGeom>
        </p:spPr>
        <p:txBody>
          <a:bodyPr anchor="ctr">
            <a:normAutofit/>
          </a:bodyPr>
          <a:lstStyle>
            <a:defPPr>
              <a:defRPr lang="fr-FR"/>
            </a:defPPr>
            <a:lvl1pPr>
              <a:spcBef>
                <a:spcPct val="0"/>
              </a:spcBef>
              <a:buNone/>
              <a:defRPr kumimoji="0" sz="40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fr-CA" dirty="0"/>
              <a:t>Modèles stochastiques </a:t>
            </a:r>
          </a:p>
        </p:txBody>
      </p:sp>
      <p:sp>
        <p:nvSpPr>
          <p:cNvPr id="83971" name="Text Box 3"/>
          <p:cNvSpPr txBox="1">
            <a:spLocks noChangeArrowheads="1"/>
          </p:cNvSpPr>
          <p:nvPr/>
        </p:nvSpPr>
        <p:spPr bwMode="auto">
          <a:xfrm>
            <a:off x="349690" y="1295549"/>
            <a:ext cx="8444619" cy="5632311"/>
          </a:xfrm>
          <a:prstGeom prst="rect">
            <a:avLst/>
          </a:prstGeom>
          <a:noFill/>
          <a:ln w="12700">
            <a:noFill/>
            <a:miter lim="800000"/>
            <a:headEnd type="none" w="sm" len="sm"/>
            <a:tailEnd type="none" w="sm" len="sm"/>
          </a:ln>
          <a:effectLst/>
        </p:spPr>
        <p:txBody>
          <a:bodyPr wrap="none">
            <a:spAutoFit/>
          </a:bodyPr>
          <a:lstStyle/>
          <a:p>
            <a:pPr defTabSz="762000" eaLnBrk="0" hangingPunct="0"/>
            <a:r>
              <a:rPr lang="fr-CA" sz="2800" dirty="0">
                <a:latin typeface="+mj-lt"/>
                <a:cs typeface="Times New Roman" pitchFamily="18" charset="0"/>
              </a:rPr>
              <a:t>Principe : modéliser la variabilité « naturelle » </a:t>
            </a:r>
          </a:p>
          <a:p>
            <a:pPr defTabSz="762000" eaLnBrk="0" hangingPunct="0"/>
            <a:endParaRPr lang="fr-CA" sz="2800" dirty="0">
              <a:latin typeface="+mj-lt"/>
              <a:cs typeface="Times New Roman" pitchFamily="18" charset="0"/>
            </a:endParaRPr>
          </a:p>
          <a:p>
            <a:pPr marL="285750" indent="-285750" defTabSz="762000" eaLnBrk="0" hangingPunct="0">
              <a:buFontTx/>
              <a:buChar char="-"/>
            </a:pPr>
            <a:r>
              <a:rPr lang="fr-CA" sz="2800" dirty="0">
                <a:latin typeface="+mj-lt"/>
                <a:cs typeface="Times New Roman" pitchFamily="18" charset="0"/>
              </a:rPr>
              <a:t>Modèles bayésiens</a:t>
            </a:r>
            <a:endParaRPr lang="fr-CA" sz="1400" dirty="0">
              <a:latin typeface="+mj-lt"/>
            </a:endParaRPr>
          </a:p>
          <a:p>
            <a:pPr defTabSz="762000" eaLnBrk="0" hangingPunct="0"/>
            <a:r>
              <a:rPr lang="fr-CA" sz="2800" dirty="0">
                <a:latin typeface="+mj-lt"/>
                <a:cs typeface="Times New Roman" pitchFamily="18" charset="0"/>
              </a:rPr>
              <a:t>- Modèles markoviens :</a:t>
            </a:r>
            <a:r>
              <a:rPr lang="fr-CA" sz="2400" dirty="0">
                <a:latin typeface="+mj-lt"/>
                <a:cs typeface="Times New Roman" pitchFamily="18" charset="0"/>
              </a:rPr>
              <a:t> </a:t>
            </a:r>
            <a:endParaRPr lang="fr-CA" sz="1400" dirty="0">
              <a:latin typeface="+mj-lt"/>
            </a:endParaRPr>
          </a:p>
          <a:p>
            <a:pPr marL="571500" lvl="1" defTabSz="762000" eaLnBrk="0" hangingPunct="0"/>
            <a:r>
              <a:rPr lang="fr-CA" sz="2800" dirty="0">
                <a:latin typeface="+mj-lt"/>
                <a:cs typeface="Times New Roman" pitchFamily="18" charset="0"/>
              </a:rPr>
              <a:t>. </a:t>
            </a:r>
            <a:r>
              <a:rPr lang="fr-CA" sz="2400" dirty="0">
                <a:latin typeface="+mj-lt"/>
                <a:cs typeface="Times New Roman" pitchFamily="18" charset="0"/>
              </a:rPr>
              <a:t>Modèles de Markov cachés (HMM) </a:t>
            </a:r>
            <a:endParaRPr lang="fr-CA" sz="1400" dirty="0">
              <a:latin typeface="+mj-lt"/>
            </a:endParaRPr>
          </a:p>
          <a:p>
            <a:pPr marL="571500" lvl="1" defTabSz="762000" eaLnBrk="0" hangingPunct="0"/>
            <a:r>
              <a:rPr lang="fr-CA" sz="2400" dirty="0">
                <a:latin typeface="+mj-lt"/>
                <a:cs typeface="Times New Roman" pitchFamily="18" charset="0"/>
              </a:rPr>
              <a:t>. Processus de décision markoviens (MDP) </a:t>
            </a:r>
            <a:endParaRPr lang="fr-CA" sz="1400" dirty="0">
              <a:latin typeface="+mj-lt"/>
            </a:endParaRPr>
          </a:p>
          <a:p>
            <a:pPr marL="571500" lvl="1" defTabSz="762000" eaLnBrk="0" hangingPunct="0"/>
            <a:r>
              <a:rPr lang="fr-CA" sz="2400" dirty="0">
                <a:latin typeface="+mj-lt"/>
                <a:cs typeface="Times New Roman" pitchFamily="18" charset="0"/>
              </a:rPr>
              <a:t>. Observations partielles (POMDP)</a:t>
            </a:r>
            <a:r>
              <a:rPr lang="fr-CA" sz="2800" dirty="0">
                <a:solidFill>
                  <a:schemeClr val="hlink"/>
                </a:solidFill>
                <a:latin typeface="+mj-lt"/>
                <a:cs typeface="Times New Roman" pitchFamily="18" charset="0"/>
              </a:rPr>
              <a:t> </a:t>
            </a:r>
            <a:endParaRPr lang="fr-CA" sz="1400" dirty="0">
              <a:latin typeface="+mj-lt"/>
            </a:endParaRPr>
          </a:p>
          <a:p>
            <a:pPr defTabSz="762000" eaLnBrk="0" hangingPunct="0"/>
            <a:r>
              <a:rPr lang="fr-CA" sz="2800" dirty="0">
                <a:latin typeface="+mj-lt"/>
                <a:cs typeface="Times New Roman" pitchFamily="18" charset="0"/>
              </a:rPr>
              <a:t>- Mise au point (apprentissage) à partir d’exemples </a:t>
            </a:r>
            <a:endParaRPr lang="fr-CA" sz="1400" dirty="0">
              <a:latin typeface="+mj-lt"/>
            </a:endParaRPr>
          </a:p>
          <a:p>
            <a:pPr defTabSz="762000" eaLnBrk="0" hangingPunct="0"/>
            <a:r>
              <a:rPr lang="fr-CA" sz="2800" dirty="0">
                <a:latin typeface="+mj-lt"/>
                <a:cs typeface="Times New Roman" pitchFamily="18" charset="0"/>
              </a:rPr>
              <a:t>- Nombreuses utilisations :</a:t>
            </a:r>
            <a:r>
              <a:rPr lang="fr-CA" sz="2400" dirty="0">
                <a:latin typeface="+mj-lt"/>
                <a:cs typeface="Times New Roman" pitchFamily="18" charset="0"/>
              </a:rPr>
              <a:t> </a:t>
            </a:r>
            <a:endParaRPr lang="fr-CA" sz="1400" dirty="0">
              <a:latin typeface="+mj-lt"/>
            </a:endParaRPr>
          </a:p>
          <a:p>
            <a:pPr marL="571500" lvl="1" defTabSz="762000" eaLnBrk="0" hangingPunct="0"/>
            <a:r>
              <a:rPr lang="fr-CA" sz="2400" dirty="0">
                <a:solidFill>
                  <a:srgbClr val="0070C0"/>
                </a:solidFill>
                <a:latin typeface="+mj-lt"/>
                <a:cs typeface="Times New Roman" pitchFamily="18" charset="0"/>
              </a:rPr>
              <a:t>. </a:t>
            </a:r>
            <a:r>
              <a:rPr lang="fr-CA" sz="2400" dirty="0">
                <a:solidFill>
                  <a:srgbClr val="002060"/>
                </a:solidFill>
                <a:latin typeface="+mj-lt"/>
                <a:cs typeface="Times New Roman" pitchFamily="18" charset="0"/>
              </a:rPr>
              <a:t>Reconnaissance des formes : parole, images, etc. </a:t>
            </a:r>
            <a:endParaRPr lang="fr-CA" sz="1400" dirty="0">
              <a:solidFill>
                <a:srgbClr val="002060"/>
              </a:solidFill>
              <a:latin typeface="+mj-lt"/>
            </a:endParaRPr>
          </a:p>
          <a:p>
            <a:pPr marL="571500" lvl="1" defTabSz="762000" eaLnBrk="0" hangingPunct="0"/>
            <a:r>
              <a:rPr lang="fr-CA" sz="2400" dirty="0">
                <a:solidFill>
                  <a:srgbClr val="002060"/>
                </a:solidFill>
                <a:latin typeface="+mj-lt"/>
                <a:cs typeface="Times New Roman" pitchFamily="18" charset="0"/>
              </a:rPr>
              <a:t>. Interprétation de signaux : radar, sonar, biologiques, ... </a:t>
            </a:r>
            <a:endParaRPr lang="fr-CA" sz="1400" dirty="0">
              <a:solidFill>
                <a:srgbClr val="002060"/>
              </a:solidFill>
              <a:latin typeface="+mj-lt"/>
            </a:endParaRPr>
          </a:p>
          <a:p>
            <a:pPr marL="571500" lvl="1" defTabSz="762000" eaLnBrk="0" hangingPunct="0"/>
            <a:r>
              <a:rPr lang="fr-CA" sz="2400" dirty="0">
                <a:solidFill>
                  <a:srgbClr val="002060"/>
                </a:solidFill>
                <a:latin typeface="+mj-lt"/>
                <a:cs typeface="Times New Roman" pitchFamily="18" charset="0"/>
              </a:rPr>
              <a:t>. Robotique, aide à la décision </a:t>
            </a:r>
            <a:endParaRPr lang="fr-CA" sz="1400" dirty="0">
              <a:solidFill>
                <a:srgbClr val="002060"/>
              </a:solidFill>
              <a:latin typeface="+mj-lt"/>
            </a:endParaRPr>
          </a:p>
          <a:p>
            <a:pPr marL="571500" lvl="1" defTabSz="762000" eaLnBrk="0" hangingPunct="0"/>
            <a:r>
              <a:rPr lang="fr-CA" sz="2400" dirty="0">
                <a:solidFill>
                  <a:srgbClr val="002060"/>
                </a:solidFill>
                <a:latin typeface="+mj-lt"/>
                <a:cs typeface="Times New Roman" pitchFamily="18" charset="0"/>
              </a:rPr>
              <a:t>. Traitement de la langue naturelle écrite </a:t>
            </a:r>
            <a:endParaRPr lang="fr-CA" sz="1400" dirty="0">
              <a:solidFill>
                <a:srgbClr val="002060"/>
              </a:solidFill>
              <a:latin typeface="+mj-lt"/>
            </a:endParaRPr>
          </a:p>
          <a:p>
            <a:pPr defTabSz="762000" eaLnBrk="0" hangingPunct="0"/>
            <a:endParaRPr lang="fr-CA" sz="1600" dirty="0">
              <a:latin typeface="+mj-lt"/>
            </a:endParaRPr>
          </a:p>
        </p:txBody>
      </p:sp>
    </p:spTree>
    <p:extLst>
      <p:ext uri="{BB962C8B-B14F-4D97-AF65-F5344CB8AC3E}">
        <p14:creationId xmlns:p14="http://schemas.microsoft.com/office/powerpoint/2010/main" val="868534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1714488"/>
            <a:ext cx="8208962" cy="923330"/>
          </a:xfrm>
          <a:prstGeom prst="rect">
            <a:avLst/>
          </a:prstGeom>
          <a:noFill/>
          <a:ln w="9525">
            <a:noFill/>
            <a:miter lim="800000"/>
            <a:headEnd/>
            <a:tailEnd/>
          </a:ln>
        </p:spPr>
        <p:txBody>
          <a:bodyPr>
            <a:spAutoFit/>
          </a:bodyPr>
          <a:lstStyle/>
          <a:p>
            <a:r>
              <a:rPr lang="fr-CA" dirty="0"/>
              <a:t>L’intelligence Artificielle Distribuée conçoit et étudie des systèmes dans lesquels des unités (agents, …)  opèrent de façon collective et décentralisée pour accomplir des tâches dans un environnement commun.</a:t>
            </a:r>
          </a:p>
        </p:txBody>
      </p:sp>
      <p:sp>
        <p:nvSpPr>
          <p:cNvPr id="11268" name="Rectangle 5"/>
          <p:cNvSpPr>
            <a:spLocks noChangeArrowheads="1"/>
          </p:cNvSpPr>
          <p:nvPr/>
        </p:nvSpPr>
        <p:spPr bwMode="auto">
          <a:xfrm>
            <a:off x="179388" y="3068638"/>
            <a:ext cx="3241675" cy="792162"/>
          </a:xfrm>
          <a:prstGeom prst="rect">
            <a:avLst/>
          </a:prstGeom>
          <a:noFill/>
          <a:ln w="9525">
            <a:noFill/>
            <a:miter lim="800000"/>
            <a:headEnd/>
            <a:tailEnd/>
          </a:ln>
        </p:spPr>
        <p:txBody>
          <a:bodyPr>
            <a:spAutoFit/>
          </a:bodyPr>
          <a:lstStyle/>
          <a:p>
            <a:r>
              <a:rPr lang="en-US" b="1" dirty="0" err="1">
                <a:solidFill>
                  <a:srgbClr val="0033CC"/>
                </a:solidFill>
              </a:rPr>
              <a:t>Métaphore</a:t>
            </a:r>
            <a:r>
              <a:rPr lang="en-US" b="1" dirty="0">
                <a:solidFill>
                  <a:srgbClr val="0033CC"/>
                </a:solidFill>
              </a:rPr>
              <a:t> du “</a:t>
            </a:r>
            <a:r>
              <a:rPr lang="en-US" b="1" dirty="0" err="1">
                <a:solidFill>
                  <a:srgbClr val="0033CC"/>
                </a:solidFill>
              </a:rPr>
              <a:t>penseur</a:t>
            </a:r>
            <a:r>
              <a:rPr lang="en-US" b="1" dirty="0">
                <a:solidFill>
                  <a:srgbClr val="0033CC"/>
                </a:solidFill>
              </a:rPr>
              <a:t>”</a:t>
            </a:r>
            <a:r>
              <a:rPr lang="en-US" dirty="0">
                <a:solidFill>
                  <a:srgbClr val="0033CC"/>
                </a:solidFill>
              </a:rPr>
              <a:t> :</a:t>
            </a:r>
            <a:r>
              <a:rPr lang="en-US" dirty="0"/>
              <a:t> </a:t>
            </a:r>
          </a:p>
          <a:p>
            <a:pPr lvl="1"/>
            <a:r>
              <a:rPr lang="en-US" sz="1400" b="1" dirty="0"/>
              <a:t>la machine </a:t>
            </a:r>
            <a:r>
              <a:rPr lang="en-US" sz="1400" b="1" dirty="0" err="1"/>
              <a:t>pense</a:t>
            </a:r>
            <a:r>
              <a:rPr lang="en-US" sz="1400" b="1" dirty="0"/>
              <a:t> et, </a:t>
            </a:r>
            <a:r>
              <a:rPr lang="en-US" sz="1400" b="1" dirty="0" err="1"/>
              <a:t>elle</a:t>
            </a:r>
            <a:r>
              <a:rPr lang="en-US" sz="1400" b="1" dirty="0"/>
              <a:t> </a:t>
            </a:r>
            <a:r>
              <a:rPr lang="en-US" sz="1400" b="1" dirty="0" err="1"/>
              <a:t>sait</a:t>
            </a:r>
            <a:r>
              <a:rPr lang="en-US" sz="1400" b="1" dirty="0"/>
              <a:t> </a:t>
            </a:r>
            <a:r>
              <a:rPr lang="en-US" sz="1400" b="1" dirty="0" err="1"/>
              <a:t>quelque</a:t>
            </a:r>
            <a:r>
              <a:rPr lang="en-US" sz="1400" b="1" dirty="0"/>
              <a:t> chose par </a:t>
            </a:r>
            <a:r>
              <a:rPr lang="en-US" sz="1400" b="1" dirty="0" err="1"/>
              <a:t>elle-même</a:t>
            </a:r>
            <a:endParaRPr lang="fr-CA" sz="1400" b="1" dirty="0"/>
          </a:p>
        </p:txBody>
      </p:sp>
      <p:sp>
        <p:nvSpPr>
          <p:cNvPr id="11269" name="Rectangle 6"/>
          <p:cNvSpPr>
            <a:spLocks noChangeArrowheads="1"/>
          </p:cNvSpPr>
          <p:nvPr/>
        </p:nvSpPr>
        <p:spPr bwMode="auto">
          <a:xfrm>
            <a:off x="179388" y="4292600"/>
            <a:ext cx="2376487" cy="1984375"/>
          </a:xfrm>
          <a:prstGeom prst="rect">
            <a:avLst/>
          </a:prstGeom>
          <a:noFill/>
          <a:ln w="9525">
            <a:noFill/>
            <a:miter lim="800000"/>
            <a:headEnd/>
            <a:tailEnd/>
          </a:ln>
        </p:spPr>
        <p:txBody>
          <a:bodyPr>
            <a:spAutoFit/>
          </a:bodyPr>
          <a:lstStyle/>
          <a:p>
            <a:pPr eaLnBrk="0" hangingPunct="0">
              <a:spcBef>
                <a:spcPct val="20000"/>
              </a:spcBef>
              <a:buClr>
                <a:schemeClr val="bg2"/>
              </a:buClr>
              <a:buSzPct val="75000"/>
              <a:buFont typeface="Monotype Sorts"/>
              <a:buNone/>
            </a:pPr>
            <a:r>
              <a:rPr lang="en-US" b="1">
                <a:solidFill>
                  <a:srgbClr val="0033CC"/>
                </a:solidFill>
              </a:rPr>
              <a:t>Limites</a:t>
            </a:r>
          </a:p>
          <a:p>
            <a:pPr eaLnBrk="0" hangingPunct="0">
              <a:spcBef>
                <a:spcPct val="20000"/>
              </a:spcBef>
              <a:buClr>
                <a:schemeClr val="bg2"/>
              </a:buClr>
              <a:buSzPct val="75000"/>
              <a:buFont typeface="Monotype Sorts"/>
              <a:buNone/>
            </a:pPr>
            <a:r>
              <a:rPr lang="en-US" sz="1400" b="1"/>
              <a:t>- Les grandes réalisations sont l’oeuvre de groupes et de sociétés.</a:t>
            </a:r>
          </a:p>
          <a:p>
            <a:pPr eaLnBrk="0" hangingPunct="0">
              <a:spcBef>
                <a:spcPct val="20000"/>
              </a:spcBef>
              <a:buClr>
                <a:schemeClr val="bg2"/>
              </a:buClr>
              <a:buSzPct val="75000"/>
              <a:buFont typeface="Monotype Sorts"/>
              <a:buNone/>
            </a:pPr>
            <a:endParaRPr lang="en-US" sz="1400" b="1"/>
          </a:p>
          <a:p>
            <a:pPr eaLnBrk="0" hangingPunct="0">
              <a:spcBef>
                <a:spcPct val="20000"/>
              </a:spcBef>
              <a:buClr>
                <a:schemeClr val="bg2"/>
              </a:buClr>
              <a:buSzPct val="75000"/>
              <a:buFont typeface="Monotype Sorts"/>
              <a:buNone/>
            </a:pPr>
            <a:r>
              <a:rPr lang="en-US" sz="1400" b="1"/>
              <a:t>- Les capacités cognitives d’un individu résultent de son environnement social</a:t>
            </a:r>
          </a:p>
        </p:txBody>
      </p:sp>
      <p:sp>
        <p:nvSpPr>
          <p:cNvPr id="138247" name="Rectangle 7"/>
          <p:cNvSpPr>
            <a:spLocks noChangeArrowheads="1"/>
          </p:cNvSpPr>
          <p:nvPr/>
        </p:nvSpPr>
        <p:spPr bwMode="auto">
          <a:xfrm>
            <a:off x="4606925" y="5084763"/>
            <a:ext cx="4537075" cy="854075"/>
          </a:xfrm>
          <a:prstGeom prst="rect">
            <a:avLst/>
          </a:prstGeom>
          <a:noFill/>
          <a:ln w="9525">
            <a:noFill/>
            <a:miter lim="800000"/>
            <a:headEnd/>
            <a:tailEnd/>
          </a:ln>
        </p:spPr>
        <p:txBody>
          <a:bodyPr>
            <a:spAutoFit/>
          </a:bodyPr>
          <a:lstStyle/>
          <a:p>
            <a:r>
              <a:rPr lang="en-US" b="1" dirty="0" err="1">
                <a:solidFill>
                  <a:srgbClr val="0033CC"/>
                </a:solidFill>
              </a:rPr>
              <a:t>Métaphore</a:t>
            </a:r>
            <a:r>
              <a:rPr lang="en-US" b="1" dirty="0">
                <a:solidFill>
                  <a:srgbClr val="0033CC"/>
                </a:solidFill>
              </a:rPr>
              <a:t> des </a:t>
            </a:r>
            <a:r>
              <a:rPr lang="en-US" b="1" dirty="0" err="1">
                <a:solidFill>
                  <a:srgbClr val="0033CC"/>
                </a:solidFill>
              </a:rPr>
              <a:t>organisations</a:t>
            </a:r>
            <a:r>
              <a:rPr lang="en-US" b="1" dirty="0">
                <a:solidFill>
                  <a:srgbClr val="0033CC"/>
                </a:solidFill>
              </a:rPr>
              <a:t> </a:t>
            </a:r>
            <a:r>
              <a:rPr lang="en-US" b="1" dirty="0" err="1">
                <a:solidFill>
                  <a:srgbClr val="0033CC"/>
                </a:solidFill>
              </a:rPr>
              <a:t>sociales</a:t>
            </a:r>
            <a:r>
              <a:rPr lang="en-US" dirty="0">
                <a:solidFill>
                  <a:srgbClr val="0033CC"/>
                </a:solidFill>
              </a:rPr>
              <a:t>,</a:t>
            </a:r>
          </a:p>
          <a:p>
            <a:r>
              <a:rPr lang="en-US" sz="1400" b="1" dirty="0"/>
              <a:t>Action et Interaction </a:t>
            </a:r>
            <a:r>
              <a:rPr lang="en-US" sz="1400" b="1" dirty="0" err="1"/>
              <a:t>deviennent</a:t>
            </a:r>
            <a:r>
              <a:rPr lang="en-US" sz="1400" b="1" dirty="0"/>
              <a:t> plus important </a:t>
            </a:r>
            <a:r>
              <a:rPr lang="en-US" sz="1400" b="1" dirty="0" err="1"/>
              <a:t>que</a:t>
            </a:r>
            <a:r>
              <a:rPr lang="en-US" sz="1400" b="1" dirty="0"/>
              <a:t> </a:t>
            </a:r>
            <a:r>
              <a:rPr lang="en-US" sz="1400" b="1" dirty="0" err="1"/>
              <a:t>l’intelligence</a:t>
            </a:r>
            <a:r>
              <a:rPr lang="en-US" sz="1400" b="1" dirty="0"/>
              <a:t> </a:t>
            </a:r>
            <a:r>
              <a:rPr lang="en-US" sz="1400" b="1" dirty="0" err="1"/>
              <a:t>individuelle</a:t>
            </a:r>
            <a:r>
              <a:rPr lang="en-US" sz="1400" b="1" dirty="0"/>
              <a:t>.</a:t>
            </a:r>
            <a:r>
              <a:rPr lang="en-US" dirty="0"/>
              <a:t> </a:t>
            </a:r>
          </a:p>
        </p:txBody>
      </p:sp>
      <p:pic>
        <p:nvPicPr>
          <p:cNvPr id="11271" name="Picture 8"/>
          <p:cNvPicPr>
            <a:picLocks noChangeAspect="1" noChangeArrowheads="1"/>
          </p:cNvPicPr>
          <p:nvPr/>
        </p:nvPicPr>
        <p:blipFill>
          <a:blip r:embed="rId3" cstate="print"/>
          <a:srcRect/>
          <a:stretch>
            <a:fillRect/>
          </a:stretch>
        </p:blipFill>
        <p:spPr bwMode="auto">
          <a:xfrm>
            <a:off x="2484438" y="3860800"/>
            <a:ext cx="1219340" cy="1211274"/>
          </a:xfrm>
          <a:prstGeom prst="rect">
            <a:avLst/>
          </a:prstGeom>
          <a:noFill/>
          <a:ln w="9525">
            <a:noFill/>
            <a:miter lim="800000"/>
            <a:headEnd/>
            <a:tailEnd/>
          </a:ln>
        </p:spPr>
      </p:pic>
      <p:pic>
        <p:nvPicPr>
          <p:cNvPr id="138249" name="Picture 9"/>
          <p:cNvPicPr>
            <a:picLocks noChangeAspect="1" noChangeArrowheads="1"/>
          </p:cNvPicPr>
          <p:nvPr/>
        </p:nvPicPr>
        <p:blipFill>
          <a:blip r:embed="rId4" cstate="print"/>
          <a:srcRect/>
          <a:stretch>
            <a:fillRect/>
          </a:stretch>
        </p:blipFill>
        <p:spPr bwMode="auto">
          <a:xfrm>
            <a:off x="5643570" y="3286124"/>
            <a:ext cx="2352694" cy="1562837"/>
          </a:xfrm>
          <a:prstGeom prst="rect">
            <a:avLst/>
          </a:prstGeom>
          <a:noFill/>
          <a:ln w="9525">
            <a:noFill/>
            <a:miter lim="800000"/>
            <a:headEnd/>
            <a:tailEnd/>
          </a:ln>
        </p:spPr>
      </p:pic>
      <p:sp>
        <p:nvSpPr>
          <p:cNvPr id="138251" name="Rectangle 11"/>
          <p:cNvSpPr>
            <a:spLocks noChangeArrowheads="1"/>
          </p:cNvSpPr>
          <p:nvPr/>
        </p:nvSpPr>
        <p:spPr bwMode="auto">
          <a:xfrm>
            <a:off x="5472113" y="5876925"/>
            <a:ext cx="2987675" cy="942975"/>
          </a:xfrm>
          <a:prstGeom prst="rect">
            <a:avLst/>
          </a:prstGeom>
          <a:noFill/>
          <a:ln w="9525">
            <a:noFill/>
            <a:miter lim="800000"/>
            <a:headEnd/>
            <a:tailEnd/>
          </a:ln>
        </p:spPr>
        <p:txBody>
          <a:bodyPr>
            <a:spAutoFit/>
          </a:bodyPr>
          <a:lstStyle/>
          <a:p>
            <a:r>
              <a:rPr lang="fr-CA" sz="1400" b="1" i="1">
                <a:solidFill>
                  <a:schemeClr val="accent2"/>
                </a:solidFill>
              </a:rPr>
              <a:t>coopérer (contrôle)</a:t>
            </a:r>
          </a:p>
          <a:p>
            <a:r>
              <a:rPr lang="fr-CA" sz="1400" b="1" i="1">
                <a:solidFill>
                  <a:schemeClr val="accent2"/>
                </a:solidFill>
              </a:rPr>
              <a:t>collaborer (allocation de tâches)</a:t>
            </a:r>
          </a:p>
          <a:p>
            <a:r>
              <a:rPr lang="fr-CA" sz="1400" b="1" i="1">
                <a:solidFill>
                  <a:schemeClr val="accent2"/>
                </a:solidFill>
              </a:rPr>
              <a:t>négocier (résolution de conflits)</a:t>
            </a:r>
          </a:p>
          <a:p>
            <a:r>
              <a:rPr lang="fr-CA" sz="1400" b="1" i="1">
                <a:solidFill>
                  <a:schemeClr val="accent2"/>
                </a:solidFill>
              </a:rPr>
              <a:t>se coordonner (synchronisation)</a:t>
            </a:r>
          </a:p>
        </p:txBody>
      </p:sp>
      <p:sp>
        <p:nvSpPr>
          <p:cNvPr id="11" name="Text Box 9"/>
          <p:cNvSpPr txBox="1">
            <a:spLocks noChangeArrowheads="1"/>
          </p:cNvSpPr>
          <p:nvPr/>
        </p:nvSpPr>
        <p:spPr bwMode="auto">
          <a:xfrm>
            <a:off x="1339631" y="218132"/>
            <a:ext cx="5220660" cy="707886"/>
          </a:xfrm>
          <a:prstGeom prst="rect">
            <a:avLst/>
          </a:prstGeom>
        </p:spPr>
        <p:txBody>
          <a:bodyPr anchor="ctr">
            <a:normAutofit/>
          </a:bodyPr>
          <a:lstStyle>
            <a:defPPr>
              <a:defRPr lang="fr-FR"/>
            </a:defPPr>
            <a:lvl1pPr>
              <a:spcBef>
                <a:spcPct val="0"/>
              </a:spcBef>
              <a:buNone/>
              <a:defRPr kumimoji="0" sz="40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fr-CA" dirty="0"/>
              <a:t>Intelligence «collective» </a:t>
            </a:r>
          </a:p>
        </p:txBody>
      </p:sp>
      <p:sp>
        <p:nvSpPr>
          <p:cNvPr id="12" name="Rectangle 8"/>
          <p:cNvSpPr>
            <a:spLocks noChangeArrowheads="1"/>
          </p:cNvSpPr>
          <p:nvPr/>
        </p:nvSpPr>
        <p:spPr bwMode="auto">
          <a:xfrm>
            <a:off x="785786" y="1214422"/>
            <a:ext cx="7560839" cy="584775"/>
          </a:xfrm>
          <a:prstGeom prst="rect">
            <a:avLst/>
          </a:prstGeom>
          <a:noFill/>
          <a:ln w="9525">
            <a:noFill/>
            <a:miter lim="800000"/>
            <a:headEnd/>
            <a:tailEnd/>
          </a:ln>
          <a:effectLst/>
        </p:spPr>
        <p:txBody>
          <a:bodyPr wrap="square">
            <a:spAutoFit/>
          </a:bodyPr>
          <a:lstStyle/>
          <a:p>
            <a:r>
              <a:rPr lang="fr-FR" sz="3200" b="1" i="1" dirty="0">
                <a:effectLst>
                  <a:outerShdw blurRad="38100" dist="38100" dir="2700000" algn="tl">
                    <a:srgbClr val="C0C0C0"/>
                  </a:outerShdw>
                </a:effectLst>
                <a:latin typeface="Times New Roman" pitchFamily="18" charset="0"/>
                <a:cs typeface="Times New Roman" pitchFamily="18" charset="0"/>
              </a:rPr>
              <a:t>IA distribuée &amp; systèmes multi-agents</a:t>
            </a:r>
            <a:endParaRPr lang="fr-CA" sz="3200" b="1" i="1" dirty="0">
              <a:effectLst>
                <a:outerShdw blurRad="38100" dist="38100" dir="2700000" algn="tl">
                  <a:srgbClr val="C0C0C0"/>
                </a:outerShdw>
              </a:effectLst>
              <a:latin typeface="Times New Roman" pitchFamily="18" charset="0"/>
              <a:cs typeface="Times New Roman" pitchFamily="18" charset="0"/>
            </a:endParaRPr>
          </a:p>
        </p:txBody>
      </p:sp>
      <p:sp>
        <p:nvSpPr>
          <p:cNvPr id="13" name="Rectangle 12"/>
          <p:cNvSpPr/>
          <p:nvPr/>
        </p:nvSpPr>
        <p:spPr>
          <a:xfrm>
            <a:off x="0" y="2671700"/>
            <a:ext cx="2363276" cy="400110"/>
          </a:xfrm>
          <a:prstGeom prst="rect">
            <a:avLst/>
          </a:prstGeom>
        </p:spPr>
        <p:txBody>
          <a:bodyPr wrap="none">
            <a:spAutoFit/>
          </a:bodyPr>
          <a:lstStyle/>
          <a:p>
            <a:r>
              <a:rPr lang="fr-FR" sz="2000" b="1" i="1" dirty="0" smtClean="0">
                <a:solidFill>
                  <a:srgbClr val="00B050"/>
                </a:solidFill>
                <a:cs typeface="Times New Roman" pitchFamily="18" charset="0"/>
              </a:rPr>
              <a:t>• L'IA "classique" </a:t>
            </a:r>
            <a:endParaRPr lang="fr-FR" sz="2000" b="1" i="1" dirty="0">
              <a:solidFill>
                <a:srgbClr val="00B050"/>
              </a:solidFill>
            </a:endParaRPr>
          </a:p>
        </p:txBody>
      </p:sp>
      <p:sp>
        <p:nvSpPr>
          <p:cNvPr id="14" name="Rectangle 13"/>
          <p:cNvSpPr/>
          <p:nvPr/>
        </p:nvSpPr>
        <p:spPr>
          <a:xfrm>
            <a:off x="5857884" y="2714620"/>
            <a:ext cx="2539606" cy="400110"/>
          </a:xfrm>
          <a:prstGeom prst="rect">
            <a:avLst/>
          </a:prstGeom>
        </p:spPr>
        <p:txBody>
          <a:bodyPr wrap="none">
            <a:spAutoFit/>
          </a:bodyPr>
          <a:lstStyle/>
          <a:p>
            <a:r>
              <a:rPr lang="fr-FR" sz="2000" b="1" i="1" dirty="0" smtClean="0">
                <a:solidFill>
                  <a:srgbClr val="00B050"/>
                </a:solidFill>
                <a:cs typeface="Times New Roman" pitchFamily="18" charset="0"/>
              </a:rPr>
              <a:t>• L'IA « Distribuée" </a:t>
            </a:r>
            <a:endParaRPr lang="fr-FR" sz="2000" b="1" i="1" dirty="0">
              <a:solidFill>
                <a:srgbClr val="00B050"/>
              </a:solidFill>
            </a:endParaRPr>
          </a:p>
        </p:txBody>
      </p:sp>
    </p:spTree>
    <p:extLst>
      <p:ext uri="{BB962C8B-B14F-4D97-AF65-F5344CB8AC3E}">
        <p14:creationId xmlns:p14="http://schemas.microsoft.com/office/powerpoint/2010/main" val="267605469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2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82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P spid="138251"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1714488"/>
            <a:ext cx="8208962" cy="923330"/>
          </a:xfrm>
          <a:prstGeom prst="rect">
            <a:avLst/>
          </a:prstGeom>
          <a:noFill/>
          <a:ln w="9525">
            <a:noFill/>
            <a:miter lim="800000"/>
            <a:headEnd/>
            <a:tailEnd/>
          </a:ln>
        </p:spPr>
        <p:txBody>
          <a:bodyPr>
            <a:spAutoFit/>
          </a:bodyPr>
          <a:lstStyle/>
          <a:p>
            <a:r>
              <a:rPr lang="fr-CA" dirty="0"/>
              <a:t>L’intelligence Artificielle Distribuée conçoit et étudie des systèmes dans lesquels des unités (agents, …)  opèrent de façon collective et décentralisée pour accomplir des tâches dans un environnement commun.</a:t>
            </a:r>
          </a:p>
        </p:txBody>
      </p:sp>
      <p:sp>
        <p:nvSpPr>
          <p:cNvPr id="11268" name="Rectangle 5"/>
          <p:cNvSpPr>
            <a:spLocks noChangeArrowheads="1"/>
          </p:cNvSpPr>
          <p:nvPr/>
        </p:nvSpPr>
        <p:spPr bwMode="auto">
          <a:xfrm>
            <a:off x="179388" y="3068638"/>
            <a:ext cx="3241675" cy="792162"/>
          </a:xfrm>
          <a:prstGeom prst="rect">
            <a:avLst/>
          </a:prstGeom>
          <a:noFill/>
          <a:ln w="9525">
            <a:noFill/>
            <a:miter lim="800000"/>
            <a:headEnd/>
            <a:tailEnd/>
          </a:ln>
        </p:spPr>
        <p:txBody>
          <a:bodyPr>
            <a:spAutoFit/>
          </a:bodyPr>
          <a:lstStyle/>
          <a:p>
            <a:r>
              <a:rPr lang="en-US" b="1" dirty="0" err="1">
                <a:solidFill>
                  <a:srgbClr val="0033CC"/>
                </a:solidFill>
              </a:rPr>
              <a:t>Métaphore</a:t>
            </a:r>
            <a:r>
              <a:rPr lang="en-US" b="1" dirty="0">
                <a:solidFill>
                  <a:srgbClr val="0033CC"/>
                </a:solidFill>
              </a:rPr>
              <a:t> du “</a:t>
            </a:r>
            <a:r>
              <a:rPr lang="en-US" b="1" dirty="0" err="1">
                <a:solidFill>
                  <a:srgbClr val="0033CC"/>
                </a:solidFill>
              </a:rPr>
              <a:t>penseur</a:t>
            </a:r>
            <a:r>
              <a:rPr lang="en-US" b="1" dirty="0">
                <a:solidFill>
                  <a:srgbClr val="0033CC"/>
                </a:solidFill>
              </a:rPr>
              <a:t>”</a:t>
            </a:r>
            <a:r>
              <a:rPr lang="en-US" dirty="0">
                <a:solidFill>
                  <a:srgbClr val="0033CC"/>
                </a:solidFill>
              </a:rPr>
              <a:t> :</a:t>
            </a:r>
            <a:r>
              <a:rPr lang="en-US" dirty="0"/>
              <a:t> </a:t>
            </a:r>
          </a:p>
          <a:p>
            <a:pPr lvl="1"/>
            <a:r>
              <a:rPr lang="en-US" sz="1400" b="1" dirty="0"/>
              <a:t>la machine </a:t>
            </a:r>
            <a:r>
              <a:rPr lang="en-US" sz="1400" b="1" dirty="0" err="1"/>
              <a:t>pense</a:t>
            </a:r>
            <a:r>
              <a:rPr lang="en-US" sz="1400" b="1" dirty="0"/>
              <a:t> et, </a:t>
            </a:r>
            <a:r>
              <a:rPr lang="en-US" sz="1400" b="1" dirty="0" err="1"/>
              <a:t>elle</a:t>
            </a:r>
            <a:r>
              <a:rPr lang="en-US" sz="1400" b="1" dirty="0"/>
              <a:t> </a:t>
            </a:r>
            <a:r>
              <a:rPr lang="en-US" sz="1400" b="1" dirty="0" err="1"/>
              <a:t>sait</a:t>
            </a:r>
            <a:r>
              <a:rPr lang="en-US" sz="1400" b="1" dirty="0"/>
              <a:t> </a:t>
            </a:r>
            <a:r>
              <a:rPr lang="en-US" sz="1400" b="1" dirty="0" err="1"/>
              <a:t>quelque</a:t>
            </a:r>
            <a:r>
              <a:rPr lang="en-US" sz="1400" b="1" dirty="0"/>
              <a:t> chose par </a:t>
            </a:r>
            <a:r>
              <a:rPr lang="en-US" sz="1400" b="1" dirty="0" err="1"/>
              <a:t>elle-même</a:t>
            </a:r>
            <a:endParaRPr lang="fr-CA" sz="1400" b="1" dirty="0"/>
          </a:p>
        </p:txBody>
      </p:sp>
      <p:sp>
        <p:nvSpPr>
          <p:cNvPr id="11269" name="Rectangle 6"/>
          <p:cNvSpPr>
            <a:spLocks noChangeArrowheads="1"/>
          </p:cNvSpPr>
          <p:nvPr/>
        </p:nvSpPr>
        <p:spPr bwMode="auto">
          <a:xfrm>
            <a:off x="179388" y="4292600"/>
            <a:ext cx="2376487" cy="1984375"/>
          </a:xfrm>
          <a:prstGeom prst="rect">
            <a:avLst/>
          </a:prstGeom>
          <a:noFill/>
          <a:ln w="9525">
            <a:noFill/>
            <a:miter lim="800000"/>
            <a:headEnd/>
            <a:tailEnd/>
          </a:ln>
        </p:spPr>
        <p:txBody>
          <a:bodyPr>
            <a:spAutoFit/>
          </a:bodyPr>
          <a:lstStyle/>
          <a:p>
            <a:pPr eaLnBrk="0" hangingPunct="0">
              <a:spcBef>
                <a:spcPct val="20000"/>
              </a:spcBef>
              <a:buClr>
                <a:schemeClr val="bg2"/>
              </a:buClr>
              <a:buSzPct val="75000"/>
              <a:buFont typeface="Monotype Sorts"/>
              <a:buNone/>
            </a:pPr>
            <a:r>
              <a:rPr lang="en-US" b="1">
                <a:solidFill>
                  <a:srgbClr val="0033CC"/>
                </a:solidFill>
              </a:rPr>
              <a:t>Limites</a:t>
            </a:r>
          </a:p>
          <a:p>
            <a:pPr eaLnBrk="0" hangingPunct="0">
              <a:spcBef>
                <a:spcPct val="20000"/>
              </a:spcBef>
              <a:buClr>
                <a:schemeClr val="bg2"/>
              </a:buClr>
              <a:buSzPct val="75000"/>
              <a:buFont typeface="Monotype Sorts"/>
              <a:buNone/>
            </a:pPr>
            <a:r>
              <a:rPr lang="en-US" sz="1400" b="1"/>
              <a:t>- Les grandes réalisations sont l’oeuvre de groupes et de sociétés.</a:t>
            </a:r>
          </a:p>
          <a:p>
            <a:pPr eaLnBrk="0" hangingPunct="0">
              <a:spcBef>
                <a:spcPct val="20000"/>
              </a:spcBef>
              <a:buClr>
                <a:schemeClr val="bg2"/>
              </a:buClr>
              <a:buSzPct val="75000"/>
              <a:buFont typeface="Monotype Sorts"/>
              <a:buNone/>
            </a:pPr>
            <a:endParaRPr lang="en-US" sz="1400" b="1"/>
          </a:p>
          <a:p>
            <a:pPr eaLnBrk="0" hangingPunct="0">
              <a:spcBef>
                <a:spcPct val="20000"/>
              </a:spcBef>
              <a:buClr>
                <a:schemeClr val="bg2"/>
              </a:buClr>
              <a:buSzPct val="75000"/>
              <a:buFont typeface="Monotype Sorts"/>
              <a:buNone/>
            </a:pPr>
            <a:r>
              <a:rPr lang="en-US" sz="1400" b="1"/>
              <a:t>- Les capacités cognitives d’un individu résultent de son environnement social</a:t>
            </a:r>
          </a:p>
        </p:txBody>
      </p:sp>
      <p:sp>
        <p:nvSpPr>
          <p:cNvPr id="138247" name="Rectangle 7"/>
          <p:cNvSpPr>
            <a:spLocks noChangeArrowheads="1"/>
          </p:cNvSpPr>
          <p:nvPr/>
        </p:nvSpPr>
        <p:spPr bwMode="auto">
          <a:xfrm>
            <a:off x="4606925" y="5084763"/>
            <a:ext cx="4537075" cy="854075"/>
          </a:xfrm>
          <a:prstGeom prst="rect">
            <a:avLst/>
          </a:prstGeom>
          <a:noFill/>
          <a:ln w="9525">
            <a:noFill/>
            <a:miter lim="800000"/>
            <a:headEnd/>
            <a:tailEnd/>
          </a:ln>
        </p:spPr>
        <p:txBody>
          <a:bodyPr>
            <a:spAutoFit/>
          </a:bodyPr>
          <a:lstStyle/>
          <a:p>
            <a:r>
              <a:rPr lang="en-US" b="1" dirty="0" err="1">
                <a:solidFill>
                  <a:srgbClr val="0033CC"/>
                </a:solidFill>
              </a:rPr>
              <a:t>Métaphore</a:t>
            </a:r>
            <a:r>
              <a:rPr lang="en-US" b="1" dirty="0">
                <a:solidFill>
                  <a:srgbClr val="0033CC"/>
                </a:solidFill>
              </a:rPr>
              <a:t> des </a:t>
            </a:r>
            <a:r>
              <a:rPr lang="en-US" b="1" dirty="0" err="1">
                <a:solidFill>
                  <a:srgbClr val="0033CC"/>
                </a:solidFill>
              </a:rPr>
              <a:t>organisations</a:t>
            </a:r>
            <a:r>
              <a:rPr lang="en-US" b="1" dirty="0">
                <a:solidFill>
                  <a:srgbClr val="0033CC"/>
                </a:solidFill>
              </a:rPr>
              <a:t> </a:t>
            </a:r>
            <a:r>
              <a:rPr lang="en-US" b="1" dirty="0" err="1">
                <a:solidFill>
                  <a:srgbClr val="0033CC"/>
                </a:solidFill>
              </a:rPr>
              <a:t>sociales</a:t>
            </a:r>
            <a:r>
              <a:rPr lang="en-US" dirty="0">
                <a:solidFill>
                  <a:srgbClr val="0033CC"/>
                </a:solidFill>
              </a:rPr>
              <a:t>,</a:t>
            </a:r>
          </a:p>
          <a:p>
            <a:r>
              <a:rPr lang="en-US" sz="1400" b="1" dirty="0"/>
              <a:t>Action et Interaction </a:t>
            </a:r>
            <a:r>
              <a:rPr lang="en-US" sz="1400" b="1" dirty="0" err="1"/>
              <a:t>deviennent</a:t>
            </a:r>
            <a:r>
              <a:rPr lang="en-US" sz="1400" b="1" dirty="0"/>
              <a:t> plus important </a:t>
            </a:r>
            <a:r>
              <a:rPr lang="en-US" sz="1400" b="1" dirty="0" err="1"/>
              <a:t>que</a:t>
            </a:r>
            <a:r>
              <a:rPr lang="en-US" sz="1400" b="1" dirty="0"/>
              <a:t> </a:t>
            </a:r>
            <a:r>
              <a:rPr lang="en-US" sz="1400" b="1" dirty="0" err="1"/>
              <a:t>l’intelligence</a:t>
            </a:r>
            <a:r>
              <a:rPr lang="en-US" sz="1400" b="1" dirty="0"/>
              <a:t> </a:t>
            </a:r>
            <a:r>
              <a:rPr lang="en-US" sz="1400" b="1" dirty="0" err="1"/>
              <a:t>individuelle</a:t>
            </a:r>
            <a:r>
              <a:rPr lang="en-US" sz="1400" b="1" dirty="0"/>
              <a:t>.</a:t>
            </a:r>
            <a:r>
              <a:rPr lang="en-US" dirty="0"/>
              <a:t> </a:t>
            </a:r>
          </a:p>
        </p:txBody>
      </p:sp>
      <p:pic>
        <p:nvPicPr>
          <p:cNvPr id="11271" name="Picture 8"/>
          <p:cNvPicPr>
            <a:picLocks noChangeAspect="1" noChangeArrowheads="1"/>
          </p:cNvPicPr>
          <p:nvPr/>
        </p:nvPicPr>
        <p:blipFill>
          <a:blip r:embed="rId2" cstate="print"/>
          <a:srcRect/>
          <a:stretch>
            <a:fillRect/>
          </a:stretch>
        </p:blipFill>
        <p:spPr bwMode="auto">
          <a:xfrm>
            <a:off x="2484438" y="3860800"/>
            <a:ext cx="1219340" cy="1211274"/>
          </a:xfrm>
          <a:prstGeom prst="rect">
            <a:avLst/>
          </a:prstGeom>
          <a:noFill/>
          <a:ln w="9525">
            <a:noFill/>
            <a:miter lim="800000"/>
            <a:headEnd/>
            <a:tailEnd/>
          </a:ln>
        </p:spPr>
      </p:pic>
      <p:pic>
        <p:nvPicPr>
          <p:cNvPr id="138249" name="Picture 9"/>
          <p:cNvPicPr>
            <a:picLocks noChangeAspect="1" noChangeArrowheads="1"/>
          </p:cNvPicPr>
          <p:nvPr/>
        </p:nvPicPr>
        <p:blipFill>
          <a:blip r:embed="rId3" cstate="print"/>
          <a:srcRect/>
          <a:stretch>
            <a:fillRect/>
          </a:stretch>
        </p:blipFill>
        <p:spPr bwMode="auto">
          <a:xfrm>
            <a:off x="5643570" y="3286124"/>
            <a:ext cx="2352694" cy="1562837"/>
          </a:xfrm>
          <a:prstGeom prst="rect">
            <a:avLst/>
          </a:prstGeom>
          <a:noFill/>
          <a:ln w="9525">
            <a:noFill/>
            <a:miter lim="800000"/>
            <a:headEnd/>
            <a:tailEnd/>
          </a:ln>
        </p:spPr>
      </p:pic>
      <p:sp>
        <p:nvSpPr>
          <p:cNvPr id="138251" name="Rectangle 11"/>
          <p:cNvSpPr>
            <a:spLocks noChangeArrowheads="1"/>
          </p:cNvSpPr>
          <p:nvPr/>
        </p:nvSpPr>
        <p:spPr bwMode="auto">
          <a:xfrm>
            <a:off x="5472113" y="5876925"/>
            <a:ext cx="2987675" cy="942975"/>
          </a:xfrm>
          <a:prstGeom prst="rect">
            <a:avLst/>
          </a:prstGeom>
          <a:noFill/>
          <a:ln w="9525">
            <a:noFill/>
            <a:miter lim="800000"/>
            <a:headEnd/>
            <a:tailEnd/>
          </a:ln>
        </p:spPr>
        <p:txBody>
          <a:bodyPr>
            <a:spAutoFit/>
          </a:bodyPr>
          <a:lstStyle/>
          <a:p>
            <a:r>
              <a:rPr lang="fr-CA" sz="1400" b="1" i="1">
                <a:solidFill>
                  <a:schemeClr val="accent2"/>
                </a:solidFill>
              </a:rPr>
              <a:t>coopérer (contrôle)</a:t>
            </a:r>
          </a:p>
          <a:p>
            <a:r>
              <a:rPr lang="fr-CA" sz="1400" b="1" i="1">
                <a:solidFill>
                  <a:schemeClr val="accent2"/>
                </a:solidFill>
              </a:rPr>
              <a:t>collaborer (allocation de tâches)</a:t>
            </a:r>
          </a:p>
          <a:p>
            <a:r>
              <a:rPr lang="fr-CA" sz="1400" b="1" i="1">
                <a:solidFill>
                  <a:schemeClr val="accent2"/>
                </a:solidFill>
              </a:rPr>
              <a:t>négocier (résolution de conflits)</a:t>
            </a:r>
          </a:p>
          <a:p>
            <a:r>
              <a:rPr lang="fr-CA" sz="1400" b="1" i="1">
                <a:solidFill>
                  <a:schemeClr val="accent2"/>
                </a:solidFill>
              </a:rPr>
              <a:t>se coordonner (synchronisation)</a:t>
            </a:r>
          </a:p>
        </p:txBody>
      </p:sp>
      <p:sp>
        <p:nvSpPr>
          <p:cNvPr id="11" name="Text Box 9"/>
          <p:cNvSpPr txBox="1">
            <a:spLocks noChangeArrowheads="1"/>
          </p:cNvSpPr>
          <p:nvPr/>
        </p:nvSpPr>
        <p:spPr bwMode="auto">
          <a:xfrm>
            <a:off x="34925" y="530295"/>
            <a:ext cx="5220660" cy="707886"/>
          </a:xfrm>
          <a:prstGeom prst="rect">
            <a:avLst/>
          </a:prstGeom>
        </p:spPr>
        <p:txBody>
          <a:bodyPr anchor="ctr">
            <a:normAutofit/>
          </a:bodyPr>
          <a:lstStyle>
            <a:defPPr>
              <a:defRPr lang="fr-FR"/>
            </a:defPPr>
            <a:lvl1pPr>
              <a:spcBef>
                <a:spcPct val="0"/>
              </a:spcBef>
              <a:buNone/>
              <a:defRPr kumimoji="0" sz="40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r>
              <a:rPr lang="fr-CA" dirty="0"/>
              <a:t>Intelligence «collective» </a:t>
            </a:r>
          </a:p>
        </p:txBody>
      </p:sp>
      <p:sp>
        <p:nvSpPr>
          <p:cNvPr id="12" name="Rectangle 8"/>
          <p:cNvSpPr>
            <a:spLocks noChangeArrowheads="1"/>
          </p:cNvSpPr>
          <p:nvPr/>
        </p:nvSpPr>
        <p:spPr bwMode="auto">
          <a:xfrm>
            <a:off x="785786" y="1214422"/>
            <a:ext cx="7560839" cy="584775"/>
          </a:xfrm>
          <a:prstGeom prst="rect">
            <a:avLst/>
          </a:prstGeom>
          <a:noFill/>
          <a:ln w="9525">
            <a:noFill/>
            <a:miter lim="800000"/>
            <a:headEnd/>
            <a:tailEnd/>
          </a:ln>
          <a:effectLst/>
        </p:spPr>
        <p:txBody>
          <a:bodyPr wrap="square">
            <a:spAutoFit/>
          </a:bodyPr>
          <a:lstStyle/>
          <a:p>
            <a:r>
              <a:rPr lang="fr-FR" sz="3200" b="1" i="1" dirty="0">
                <a:effectLst>
                  <a:outerShdw blurRad="38100" dist="38100" dir="2700000" algn="tl">
                    <a:srgbClr val="C0C0C0"/>
                  </a:outerShdw>
                </a:effectLst>
                <a:latin typeface="Times New Roman" pitchFamily="18" charset="0"/>
                <a:cs typeface="Times New Roman" pitchFamily="18" charset="0"/>
              </a:rPr>
              <a:t>IA distribuée &amp; systèmes multi-agents</a:t>
            </a:r>
            <a:endParaRPr lang="fr-CA" sz="3200" b="1" i="1" dirty="0">
              <a:effectLst>
                <a:outerShdw blurRad="38100" dist="38100" dir="2700000" algn="tl">
                  <a:srgbClr val="C0C0C0"/>
                </a:outerShdw>
              </a:effectLst>
              <a:latin typeface="Times New Roman" pitchFamily="18" charset="0"/>
              <a:cs typeface="Times New Roman" pitchFamily="18" charset="0"/>
            </a:endParaRPr>
          </a:p>
        </p:txBody>
      </p:sp>
      <p:sp>
        <p:nvSpPr>
          <p:cNvPr id="13" name="Rectangle 12"/>
          <p:cNvSpPr/>
          <p:nvPr/>
        </p:nvSpPr>
        <p:spPr>
          <a:xfrm>
            <a:off x="0" y="2671700"/>
            <a:ext cx="2363276" cy="400110"/>
          </a:xfrm>
          <a:prstGeom prst="rect">
            <a:avLst/>
          </a:prstGeom>
        </p:spPr>
        <p:txBody>
          <a:bodyPr wrap="none">
            <a:spAutoFit/>
          </a:bodyPr>
          <a:lstStyle/>
          <a:p>
            <a:r>
              <a:rPr lang="fr-FR" sz="2000" b="1" i="1" dirty="0" smtClean="0">
                <a:solidFill>
                  <a:srgbClr val="00B050"/>
                </a:solidFill>
                <a:cs typeface="Times New Roman" pitchFamily="18" charset="0"/>
              </a:rPr>
              <a:t>• L'IA "classique" </a:t>
            </a:r>
            <a:endParaRPr lang="fr-FR" sz="2000" b="1" i="1" dirty="0">
              <a:solidFill>
                <a:srgbClr val="00B050"/>
              </a:solidFill>
            </a:endParaRPr>
          </a:p>
        </p:txBody>
      </p:sp>
      <p:sp>
        <p:nvSpPr>
          <p:cNvPr id="14" name="Rectangle 13"/>
          <p:cNvSpPr/>
          <p:nvPr/>
        </p:nvSpPr>
        <p:spPr>
          <a:xfrm>
            <a:off x="5857884" y="2714620"/>
            <a:ext cx="2539606" cy="400110"/>
          </a:xfrm>
          <a:prstGeom prst="rect">
            <a:avLst/>
          </a:prstGeom>
        </p:spPr>
        <p:txBody>
          <a:bodyPr wrap="none">
            <a:spAutoFit/>
          </a:bodyPr>
          <a:lstStyle/>
          <a:p>
            <a:r>
              <a:rPr lang="fr-FR" sz="2000" b="1" i="1" dirty="0" smtClean="0">
                <a:solidFill>
                  <a:srgbClr val="00B050"/>
                </a:solidFill>
                <a:cs typeface="Times New Roman" pitchFamily="18" charset="0"/>
              </a:rPr>
              <a:t>• L'IA « Distribuée" </a:t>
            </a:r>
            <a:endParaRPr lang="fr-FR" sz="2000" b="1" i="1" dirty="0">
              <a:solidFill>
                <a:srgbClr val="00B050"/>
              </a:solidFill>
            </a:endParaRPr>
          </a:p>
        </p:txBody>
      </p:sp>
    </p:spTree>
    <p:extLst>
      <p:ext uri="{BB962C8B-B14F-4D97-AF65-F5344CB8AC3E}">
        <p14:creationId xmlns:p14="http://schemas.microsoft.com/office/powerpoint/2010/main" val="425835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2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82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P spid="138251"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259632" y="692696"/>
            <a:ext cx="7705551" cy="4370427"/>
          </a:xfrm>
          <a:prstGeom prst="rect">
            <a:avLst/>
          </a:prstGeom>
          <a:noFill/>
          <a:ln w="9525">
            <a:noFill/>
            <a:miter lim="800000"/>
            <a:headEnd/>
            <a:tailEnd/>
          </a:ln>
          <a:effectLst/>
        </p:spPr>
        <p:txBody>
          <a:bodyPr wrap="square">
            <a:spAutoFit/>
          </a:bodyPr>
          <a:lstStyle/>
          <a:p>
            <a:r>
              <a:rPr lang="fr-FR" dirty="0"/>
              <a:t>			</a:t>
            </a:r>
          </a:p>
          <a:p>
            <a:r>
              <a:rPr lang="fr-FR" sz="3200" b="1" dirty="0"/>
              <a:t>Plan </a:t>
            </a:r>
            <a:r>
              <a:rPr lang="fr-FR" sz="3200" dirty="0"/>
              <a:t> </a:t>
            </a:r>
          </a:p>
          <a:p>
            <a:endParaRPr lang="fr-FR" sz="3200" dirty="0"/>
          </a:p>
          <a:p>
            <a:pPr marL="457200" indent="-457200">
              <a:buFont typeface="Arial" panose="020B0604020202020204" pitchFamily="34" charset="0"/>
              <a:buChar char="•"/>
            </a:pPr>
            <a:r>
              <a:rPr lang="fr-FR" sz="2800" dirty="0">
                <a:solidFill>
                  <a:schemeClr val="bg1">
                    <a:lumMod val="85000"/>
                  </a:schemeClr>
                </a:solidFill>
              </a:rPr>
              <a:t>Qu’est est-ce que l’IA </a:t>
            </a:r>
            <a:r>
              <a:rPr lang="fr-FR" sz="2800" dirty="0" smtClean="0">
                <a:solidFill>
                  <a:schemeClr val="bg1">
                    <a:lumMod val="85000"/>
                  </a:schemeClr>
                </a:solidFill>
              </a:rPr>
              <a:t>?</a:t>
            </a:r>
          </a:p>
          <a:p>
            <a:r>
              <a:rPr lang="fr-FR" sz="2800" dirty="0" smtClean="0">
                <a:solidFill>
                  <a:schemeClr val="bg1">
                    <a:lumMod val="85000"/>
                  </a:schemeClr>
                </a:solidFill>
              </a:rPr>
              <a:t> </a:t>
            </a:r>
            <a:endParaRPr lang="fr-FR" sz="2800" dirty="0">
              <a:solidFill>
                <a:schemeClr val="bg1">
                  <a:lumMod val="85000"/>
                </a:schemeClr>
              </a:solidFill>
            </a:endParaRPr>
          </a:p>
          <a:p>
            <a:pPr marL="457200" indent="-457200">
              <a:buFont typeface="Arial" panose="020B0604020202020204" pitchFamily="34" charset="0"/>
              <a:buChar char="•"/>
            </a:pPr>
            <a:r>
              <a:rPr lang="fr-FR" sz="2800" dirty="0">
                <a:solidFill>
                  <a:schemeClr val="bg1">
                    <a:lumMod val="85000"/>
                  </a:schemeClr>
                </a:solidFill>
              </a:rPr>
              <a:t>Histoire de l’IA </a:t>
            </a:r>
          </a:p>
          <a:p>
            <a:endParaRPr lang="fr-FR" sz="2800" dirty="0"/>
          </a:p>
          <a:p>
            <a:pPr marL="457200" indent="-457200">
              <a:buFont typeface="Arial" panose="020B0604020202020204" pitchFamily="34" charset="0"/>
              <a:buChar char="•"/>
            </a:pPr>
            <a:r>
              <a:rPr lang="fr-FR" sz="2800" dirty="0">
                <a:solidFill>
                  <a:schemeClr val="bg1">
                    <a:lumMod val="85000"/>
                  </a:schemeClr>
                </a:solidFill>
              </a:rPr>
              <a:t>Ecoles de L’IA </a:t>
            </a:r>
          </a:p>
          <a:p>
            <a:endParaRPr lang="fr-FR" sz="2800" dirty="0">
              <a:solidFill>
                <a:schemeClr val="bg1">
                  <a:lumMod val="85000"/>
                </a:schemeClr>
              </a:solidFill>
            </a:endParaRPr>
          </a:p>
          <a:p>
            <a:pPr marL="457200" indent="-457200">
              <a:buFont typeface="Arial" panose="020B0604020202020204" pitchFamily="34" charset="0"/>
              <a:buChar char="•"/>
            </a:pPr>
            <a:r>
              <a:rPr lang="fr-CA" sz="2800" dirty="0" smtClean="0"/>
              <a:t>Exemples </a:t>
            </a:r>
            <a:r>
              <a:rPr lang="fr-CA" sz="2800" dirty="0"/>
              <a:t>de l’IA</a:t>
            </a:r>
            <a:endParaRPr lang="fr-FR" sz="2800" dirty="0"/>
          </a:p>
        </p:txBody>
      </p:sp>
    </p:spTree>
    <p:extLst>
      <p:ext uri="{BB962C8B-B14F-4D97-AF65-F5344CB8AC3E}">
        <p14:creationId xmlns:p14="http://schemas.microsoft.com/office/powerpoint/2010/main" val="38993131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274320"/>
            <a:ext cx="7992888" cy="778416"/>
          </a:xfrm>
        </p:spPr>
        <p:txBody>
          <a:bodyPr>
            <a:normAutofit/>
          </a:bodyPr>
          <a:lstStyle/>
          <a:p>
            <a:r>
              <a:rPr lang="fr-FR" sz="4000" dirty="0" smtClean="0"/>
              <a:t>Exemples d'applications IA</a:t>
            </a:r>
            <a:endParaRPr lang="fr-FR" sz="4400" dirty="0"/>
          </a:p>
        </p:txBody>
      </p:sp>
      <p:sp>
        <p:nvSpPr>
          <p:cNvPr id="3" name="ZoneTexte 2"/>
          <p:cNvSpPr txBox="1"/>
          <p:nvPr/>
        </p:nvSpPr>
        <p:spPr>
          <a:xfrm>
            <a:off x="1040526" y="980728"/>
            <a:ext cx="7920880" cy="5663089"/>
          </a:xfrm>
          <a:prstGeom prst="rect">
            <a:avLst/>
          </a:prstGeom>
          <a:noFill/>
        </p:spPr>
        <p:txBody>
          <a:bodyPr wrap="square" rtlCol="0">
            <a:spAutoFit/>
          </a:bodyPr>
          <a:lstStyle/>
          <a:p>
            <a:pPr>
              <a:spcBef>
                <a:spcPts val="600"/>
              </a:spcBef>
              <a:spcAft>
                <a:spcPts val="600"/>
              </a:spcAft>
            </a:pPr>
            <a:r>
              <a:rPr lang="fr-FR" sz="2400" dirty="0">
                <a:solidFill>
                  <a:srgbClr val="C00000"/>
                </a:solidFill>
              </a:rPr>
              <a:t>Assistants Virtuels :</a:t>
            </a:r>
          </a:p>
          <a:p>
            <a:pPr>
              <a:spcBef>
                <a:spcPts val="600"/>
              </a:spcBef>
              <a:spcAft>
                <a:spcPts val="600"/>
              </a:spcAft>
            </a:pPr>
            <a:r>
              <a:rPr lang="fr-FR" sz="2000" dirty="0"/>
              <a:t>Des assistants virtuels comme </a:t>
            </a:r>
            <a:r>
              <a:rPr lang="fr-FR" sz="2000" dirty="0" err="1"/>
              <a:t>Siri</a:t>
            </a:r>
            <a:r>
              <a:rPr lang="fr-FR" sz="2000" dirty="0"/>
              <a:t> d'Apple, Google Assistant et Amazon Alexa utilisent l'IA pour comprendre les commandes vocales des utilisateurs, effectuer des recherches sur Internet, planifier des rendez-vous, envoyer des messages, etc.</a:t>
            </a:r>
          </a:p>
          <a:p>
            <a:pPr>
              <a:spcBef>
                <a:spcPts val="600"/>
              </a:spcBef>
              <a:spcAft>
                <a:spcPts val="600"/>
              </a:spcAft>
            </a:pPr>
            <a:r>
              <a:rPr lang="fr-FR" sz="2400" dirty="0">
                <a:solidFill>
                  <a:srgbClr val="C00000"/>
                </a:solidFill>
              </a:rPr>
              <a:t>Recommandations de Contenu </a:t>
            </a:r>
            <a:r>
              <a:rPr lang="fr-FR" sz="2400" dirty="0" smtClean="0">
                <a:solidFill>
                  <a:srgbClr val="C00000"/>
                </a:solidFill>
              </a:rPr>
              <a:t>:</a:t>
            </a:r>
            <a:endParaRPr lang="fr-FR" sz="2400" dirty="0">
              <a:solidFill>
                <a:srgbClr val="C00000"/>
              </a:solidFill>
            </a:endParaRPr>
          </a:p>
          <a:p>
            <a:pPr>
              <a:spcBef>
                <a:spcPts val="600"/>
              </a:spcBef>
              <a:spcAft>
                <a:spcPts val="600"/>
              </a:spcAft>
            </a:pPr>
            <a:r>
              <a:rPr lang="fr-FR" sz="2000" dirty="0"/>
              <a:t>Les plateformes de streaming telles que </a:t>
            </a:r>
            <a:r>
              <a:rPr lang="fr-FR" sz="2000" dirty="0" err="1"/>
              <a:t>Netflix</a:t>
            </a:r>
            <a:r>
              <a:rPr lang="fr-FR" sz="2000" dirty="0"/>
              <a:t> et </a:t>
            </a:r>
            <a:r>
              <a:rPr lang="fr-FR" sz="2000" dirty="0" err="1"/>
              <a:t>Spotify</a:t>
            </a:r>
            <a:r>
              <a:rPr lang="fr-FR" sz="2000" dirty="0"/>
              <a:t> utilisent l'IA pour recommander des films, des séries télévisées, de la musique et d'autres contenus en fonction des préférences de l'utilisateur et de son historique de visionnage ou d'écoute.</a:t>
            </a:r>
          </a:p>
          <a:p>
            <a:pPr>
              <a:spcBef>
                <a:spcPts val="600"/>
              </a:spcBef>
              <a:spcAft>
                <a:spcPts val="600"/>
              </a:spcAft>
            </a:pPr>
            <a:r>
              <a:rPr lang="fr-FR" sz="2400" dirty="0">
                <a:solidFill>
                  <a:srgbClr val="C00000"/>
                </a:solidFill>
              </a:rPr>
              <a:t>Filtres Anti-Spam :</a:t>
            </a:r>
          </a:p>
          <a:p>
            <a:pPr>
              <a:spcBef>
                <a:spcPts val="600"/>
              </a:spcBef>
              <a:spcAft>
                <a:spcPts val="600"/>
              </a:spcAft>
            </a:pPr>
            <a:r>
              <a:rPr lang="fr-FR" sz="2000" dirty="0"/>
              <a:t>Les filtres anti-spam dans les boîtes de réception de messagerie électronique utilisent des techniques d'IA pour identifier et filtrer les courriels indésirables en se basant sur le contenu, le comportement et d'autres critères.</a:t>
            </a:r>
          </a:p>
        </p:txBody>
      </p:sp>
    </p:spTree>
    <p:extLst>
      <p:ext uri="{BB962C8B-B14F-4D97-AF65-F5344CB8AC3E}">
        <p14:creationId xmlns:p14="http://schemas.microsoft.com/office/powerpoint/2010/main" val="6672092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778416"/>
          </a:xfrm>
        </p:spPr>
        <p:txBody>
          <a:bodyPr>
            <a:normAutofit/>
          </a:bodyPr>
          <a:lstStyle/>
          <a:p>
            <a:r>
              <a:rPr lang="fr-FR" sz="4000" dirty="0"/>
              <a:t>Exemples d'applications </a:t>
            </a:r>
            <a:r>
              <a:rPr lang="fr-FR" sz="4000" dirty="0" smtClean="0"/>
              <a:t>IA (2)</a:t>
            </a:r>
            <a:endParaRPr lang="fr-FR" sz="4400" dirty="0"/>
          </a:p>
        </p:txBody>
      </p:sp>
      <p:sp>
        <p:nvSpPr>
          <p:cNvPr id="3" name="ZoneTexte 2"/>
          <p:cNvSpPr txBox="1"/>
          <p:nvPr/>
        </p:nvSpPr>
        <p:spPr>
          <a:xfrm>
            <a:off x="1028067" y="1196752"/>
            <a:ext cx="7920880" cy="5124480"/>
          </a:xfrm>
          <a:prstGeom prst="rect">
            <a:avLst/>
          </a:prstGeom>
          <a:noFill/>
        </p:spPr>
        <p:txBody>
          <a:bodyPr wrap="square" rtlCol="0">
            <a:spAutoFit/>
          </a:bodyPr>
          <a:lstStyle/>
          <a:p>
            <a:pPr>
              <a:spcBef>
                <a:spcPts val="600"/>
              </a:spcBef>
              <a:spcAft>
                <a:spcPts val="600"/>
              </a:spcAft>
            </a:pPr>
            <a:r>
              <a:rPr lang="fr-FR" sz="2400" dirty="0">
                <a:solidFill>
                  <a:srgbClr val="C00000"/>
                </a:solidFill>
              </a:rPr>
              <a:t>Reconnaissance Faciale :</a:t>
            </a:r>
          </a:p>
          <a:p>
            <a:r>
              <a:rPr lang="fr-FR" sz="2000" dirty="0"/>
              <a:t>Les systèmes de reconnaissance faciale utilisent des algorithmes d'IA pour identifier et authentifier les visages dans les images et les vidéos. Ces systèmes sont utilisés pour le déverrouillage des </a:t>
            </a:r>
            <a:r>
              <a:rPr lang="fr-FR" sz="2000" dirty="0" err="1"/>
              <a:t>smartphones</a:t>
            </a:r>
            <a:r>
              <a:rPr lang="fr-FR" sz="2000" dirty="0"/>
              <a:t>, la sécurité des bâtiments, la surveillance et d'autres applications.</a:t>
            </a:r>
          </a:p>
          <a:p>
            <a:r>
              <a:rPr lang="fr-FR" sz="2400" dirty="0">
                <a:solidFill>
                  <a:srgbClr val="C00000"/>
                </a:solidFill>
              </a:rPr>
              <a:t>Véhicules Autonomes :</a:t>
            </a:r>
          </a:p>
          <a:p>
            <a:r>
              <a:rPr lang="fr-FR" sz="2000" dirty="0"/>
              <a:t>Les véhicules autonomes, tels que les voitures autonomes, les drones et les robots de livraison, utilisent des systèmes d'IA pour percevoir leur environnement, prendre des décisions de navigation et éviter les obstacles en temps réel.</a:t>
            </a:r>
          </a:p>
          <a:p>
            <a:pPr>
              <a:spcBef>
                <a:spcPts val="600"/>
              </a:spcBef>
              <a:spcAft>
                <a:spcPts val="600"/>
              </a:spcAft>
            </a:pPr>
            <a:r>
              <a:rPr lang="fr-FR" sz="2400" dirty="0">
                <a:solidFill>
                  <a:srgbClr val="C00000"/>
                </a:solidFill>
              </a:rPr>
              <a:t>Diagnostique Médical :</a:t>
            </a:r>
          </a:p>
          <a:p>
            <a:r>
              <a:rPr lang="fr-FR" sz="2000" dirty="0"/>
              <a:t>Les systèmes d'IA sont utilisés dans le domaine médical pour analyser des données médicales telles que des scans d'imagerie médicale et des rapports de laboratoire, afin d'aider les médecins à poser des diagnostics précoces et à recommander des traitements appropriés.</a:t>
            </a:r>
          </a:p>
        </p:txBody>
      </p:sp>
    </p:spTree>
    <p:extLst>
      <p:ext uri="{BB962C8B-B14F-4D97-AF65-F5344CB8AC3E}">
        <p14:creationId xmlns:p14="http://schemas.microsoft.com/office/powerpoint/2010/main" val="6672092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778416"/>
          </a:xfrm>
        </p:spPr>
        <p:txBody>
          <a:bodyPr>
            <a:normAutofit/>
          </a:bodyPr>
          <a:lstStyle/>
          <a:p>
            <a:r>
              <a:rPr lang="fr-FR" sz="4000" dirty="0"/>
              <a:t>Exemples d'applications </a:t>
            </a:r>
            <a:r>
              <a:rPr lang="fr-FR" sz="4000" dirty="0" smtClean="0"/>
              <a:t>IA (3)</a:t>
            </a:r>
            <a:endParaRPr lang="fr-FR" sz="4400" dirty="0"/>
          </a:p>
        </p:txBody>
      </p:sp>
      <p:sp>
        <p:nvSpPr>
          <p:cNvPr id="3" name="ZoneTexte 2"/>
          <p:cNvSpPr txBox="1"/>
          <p:nvPr/>
        </p:nvSpPr>
        <p:spPr>
          <a:xfrm>
            <a:off x="1028067" y="1196752"/>
            <a:ext cx="7920880" cy="4970591"/>
          </a:xfrm>
          <a:prstGeom prst="rect">
            <a:avLst/>
          </a:prstGeom>
          <a:noFill/>
        </p:spPr>
        <p:txBody>
          <a:bodyPr wrap="square" rtlCol="0">
            <a:spAutoFit/>
          </a:bodyPr>
          <a:lstStyle/>
          <a:p>
            <a:pPr>
              <a:spcBef>
                <a:spcPts val="600"/>
              </a:spcBef>
              <a:spcAft>
                <a:spcPts val="600"/>
              </a:spcAft>
            </a:pPr>
            <a:r>
              <a:rPr lang="fr-FR" sz="2400" dirty="0">
                <a:solidFill>
                  <a:srgbClr val="C00000"/>
                </a:solidFill>
              </a:rPr>
              <a:t>Reconnaissance Faciale :</a:t>
            </a:r>
          </a:p>
          <a:p>
            <a:r>
              <a:rPr lang="fr-FR" sz="2000" dirty="0"/>
              <a:t>Les systèmes de reconnaissance faciale utilisent des algorithmes d'IA pour identifier et authentifier les visages dans les images et les vidéos. Ces systèmes sont utilisés pour le déverrouillage des </a:t>
            </a:r>
            <a:r>
              <a:rPr lang="fr-FR" sz="2000" dirty="0" err="1"/>
              <a:t>smartphones</a:t>
            </a:r>
            <a:r>
              <a:rPr lang="fr-FR" sz="2000" dirty="0"/>
              <a:t>, la sécurité des bâtiments, la surveillance et d'autres applications.</a:t>
            </a:r>
          </a:p>
          <a:p>
            <a:r>
              <a:rPr lang="fr-FR" sz="2400" dirty="0">
                <a:solidFill>
                  <a:srgbClr val="C00000"/>
                </a:solidFill>
              </a:rPr>
              <a:t>Traduction Automatique :</a:t>
            </a:r>
          </a:p>
          <a:p>
            <a:r>
              <a:rPr lang="fr-FR" sz="2000" dirty="0"/>
              <a:t>Les services de traduction automatique, tels que Google Traduction, utilisent des algorithmes d'IA pour traduire des textes entre différentes langues. Ces systèmes s'améliorent constamment grâce à l'apprentissage automatique et au traitement du langage naturel.</a:t>
            </a:r>
          </a:p>
          <a:p>
            <a:r>
              <a:rPr lang="fr-FR" sz="2400" dirty="0">
                <a:solidFill>
                  <a:srgbClr val="C00000"/>
                </a:solidFill>
              </a:rPr>
              <a:t>Jeux Vidéo :</a:t>
            </a:r>
          </a:p>
          <a:p>
            <a:r>
              <a:rPr lang="fr-FR" sz="2000" dirty="0"/>
              <a:t>Des programmes d'IA sont développés pour jouer à des jeux vidéo, comme les échecs, le jeu de Go, ou les jeux vidéo en ligne. Ces IA peuvent rivaliser avec les meilleurs joueurs humains et même découvrir de nouvelles stratégies.</a:t>
            </a:r>
          </a:p>
        </p:txBody>
      </p:sp>
    </p:spTree>
    <p:extLst>
      <p:ext uri="{BB962C8B-B14F-4D97-AF65-F5344CB8AC3E}">
        <p14:creationId xmlns:p14="http://schemas.microsoft.com/office/powerpoint/2010/main" val="25467074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95288" y="692150"/>
            <a:ext cx="8229600" cy="639763"/>
          </a:xfrm>
        </p:spPr>
        <p:txBody>
          <a:bodyPr>
            <a:noAutofit/>
          </a:bodyPr>
          <a:lstStyle/>
          <a:p>
            <a:r>
              <a:rPr lang="fr-FR" sz="4000" dirty="0"/>
              <a:t>Langages de programmation pour l’IA ?</a:t>
            </a:r>
          </a:p>
        </p:txBody>
      </p:sp>
      <p:sp>
        <p:nvSpPr>
          <p:cNvPr id="50179" name="Rectangle 3"/>
          <p:cNvSpPr>
            <a:spLocks noGrp="1" noChangeArrowheads="1"/>
          </p:cNvSpPr>
          <p:nvPr>
            <p:ph type="body" idx="1"/>
          </p:nvPr>
        </p:nvSpPr>
        <p:spPr>
          <a:xfrm>
            <a:off x="899592" y="1447800"/>
            <a:ext cx="8034096" cy="4800600"/>
          </a:xfrm>
        </p:spPr>
        <p:txBody>
          <a:bodyPr/>
          <a:lstStyle/>
          <a:p>
            <a:r>
              <a:rPr lang="fr-FR" sz="2400" dirty="0">
                <a:hlinkClick r:id="rId2"/>
              </a:rPr>
              <a:t>LISP  </a:t>
            </a:r>
            <a:r>
              <a:rPr lang="fr-FR" sz="2400" dirty="0"/>
              <a:t>(origine américaine)</a:t>
            </a:r>
          </a:p>
          <a:p>
            <a:r>
              <a:rPr lang="fr-FR" sz="2400" dirty="0">
                <a:hlinkClick r:id="rId3"/>
              </a:rPr>
              <a:t>PROLOG </a:t>
            </a:r>
            <a:r>
              <a:rPr lang="fr-FR" sz="2400" dirty="0"/>
              <a:t>(France ! </a:t>
            </a:r>
            <a:r>
              <a:rPr lang="fr-FR" sz="2400" dirty="0" err="1"/>
              <a:t>Colmerauer</a:t>
            </a:r>
            <a:r>
              <a:rPr lang="fr-FR" sz="2400" dirty="0"/>
              <a:t>)</a:t>
            </a:r>
          </a:p>
          <a:p>
            <a:r>
              <a:rPr lang="fr-FR" sz="2400" dirty="0" err="1">
                <a:hlinkClick r:id="rId4"/>
              </a:rPr>
              <a:t>SmallTalk</a:t>
            </a:r>
            <a:r>
              <a:rPr lang="fr-FR" sz="2400" dirty="0">
                <a:hlinkClick r:id="rId4"/>
              </a:rPr>
              <a:t> </a:t>
            </a:r>
            <a:r>
              <a:rPr lang="fr-FR" sz="2400" dirty="0"/>
              <a:t>(Langage objet)</a:t>
            </a:r>
          </a:p>
          <a:p>
            <a:r>
              <a:rPr lang="fr-FR" sz="2400" dirty="0"/>
              <a:t>Les langages de Frame</a:t>
            </a:r>
          </a:p>
          <a:p>
            <a:pPr lvl="1"/>
            <a:r>
              <a:rPr lang="fr-FR" sz="2400" dirty="0">
                <a:hlinkClick r:id="rId5"/>
              </a:rPr>
              <a:t>YAFOOL </a:t>
            </a:r>
            <a:r>
              <a:rPr lang="fr-FR" sz="2400" dirty="0"/>
              <a:t>(</a:t>
            </a:r>
            <a:r>
              <a:rPr lang="fr-FR" sz="2400" dirty="0" err="1"/>
              <a:t>Yet</a:t>
            </a:r>
            <a:r>
              <a:rPr lang="fr-FR" sz="2400" dirty="0"/>
              <a:t> </a:t>
            </a:r>
            <a:r>
              <a:rPr lang="fr-FR" sz="2400" dirty="0" err="1"/>
              <a:t>Another</a:t>
            </a:r>
            <a:r>
              <a:rPr lang="fr-FR" sz="2400" dirty="0"/>
              <a:t> Frame </a:t>
            </a:r>
            <a:r>
              <a:rPr lang="fr-FR" sz="2400" dirty="0" err="1"/>
              <a:t>based</a:t>
            </a:r>
            <a:r>
              <a:rPr lang="fr-FR" sz="2400" dirty="0"/>
              <a:t> Object </a:t>
            </a:r>
            <a:r>
              <a:rPr lang="fr-FR" sz="2400" dirty="0" err="1"/>
              <a:t>Oriented</a:t>
            </a:r>
            <a:r>
              <a:rPr lang="fr-FR" sz="2400" dirty="0"/>
              <a:t> </a:t>
            </a:r>
            <a:r>
              <a:rPr lang="fr-FR" sz="2400" dirty="0" err="1"/>
              <a:t>Language</a:t>
            </a:r>
            <a:r>
              <a:rPr lang="fr-FR" sz="2400" dirty="0"/>
              <a:t>)</a:t>
            </a:r>
          </a:p>
          <a:p>
            <a:pPr lvl="1"/>
            <a:r>
              <a:rPr lang="fr-FR" sz="2400" dirty="0">
                <a:hlinkClick r:id="rId6"/>
              </a:rPr>
              <a:t>KL-ONE</a:t>
            </a:r>
            <a:r>
              <a:rPr lang="fr-FR" sz="2400" dirty="0"/>
              <a:t> (</a:t>
            </a:r>
            <a:r>
              <a:rPr lang="fr-FR" sz="2400" dirty="0" err="1"/>
              <a:t>Knowledge</a:t>
            </a:r>
            <a:r>
              <a:rPr lang="fr-FR" sz="2400" dirty="0"/>
              <a:t> </a:t>
            </a:r>
            <a:r>
              <a:rPr lang="fr-FR" sz="2400" dirty="0" err="1"/>
              <a:t>Language</a:t>
            </a:r>
            <a:r>
              <a:rPr lang="fr-FR" sz="2400" dirty="0"/>
              <a:t>)</a:t>
            </a:r>
          </a:p>
          <a:p>
            <a:r>
              <a:rPr lang="fr-FR" sz="2400" dirty="0"/>
              <a:t>Langage de logique de </a:t>
            </a:r>
            <a:r>
              <a:rPr lang="fr-FR" sz="2400" dirty="0" smtClean="0"/>
              <a:t>description</a:t>
            </a:r>
            <a:endParaRPr lang="fr-FR" sz="2400" dirty="0"/>
          </a:p>
          <a:p>
            <a:r>
              <a:rPr lang="fr-FR" sz="2400" dirty="0" smtClean="0"/>
              <a:t>C</a:t>
            </a:r>
            <a:r>
              <a:rPr lang="fr-FR" sz="2400" dirty="0"/>
              <a:t>++, Java, Python, </a:t>
            </a:r>
            <a:r>
              <a:rPr lang="fr-FR" sz="2400" dirty="0" err="1"/>
              <a:t>etc</a:t>
            </a:r>
            <a:r>
              <a:rPr lang="fr-FR" sz="2400" dirty="0"/>
              <a:t>,</a:t>
            </a:r>
          </a:p>
          <a:p>
            <a:endParaRPr lang="fr-FR" sz="2400" dirty="0"/>
          </a:p>
        </p:txBody>
      </p:sp>
      <p:sp>
        <p:nvSpPr>
          <p:cNvPr id="4" name="Rectangle 6"/>
          <p:cNvSpPr>
            <a:spLocks noChangeArrowheads="1"/>
          </p:cNvSpPr>
          <p:nvPr/>
        </p:nvSpPr>
        <p:spPr bwMode="auto">
          <a:xfrm>
            <a:off x="0" y="44450"/>
            <a:ext cx="9144000" cy="366713"/>
          </a:xfrm>
          <a:prstGeom prst="rect">
            <a:avLst/>
          </a:prstGeom>
          <a:solidFill>
            <a:srgbClr val="3366FF"/>
          </a:solidFill>
          <a:ln w="9525">
            <a:noFill/>
            <a:miter lim="800000"/>
            <a:headEnd/>
            <a:tailEnd/>
          </a:ln>
          <a:effectLst/>
        </p:spPr>
        <p:txBody>
          <a:bodyPr>
            <a:spAutoFit/>
          </a:bodyPr>
          <a:lstStyle/>
          <a:p>
            <a:r>
              <a:rPr lang="fr-FR" dirty="0"/>
              <a:t>Intelligence Artificielle 			Introduction			</a:t>
            </a:r>
          </a:p>
        </p:txBody>
      </p:sp>
    </p:spTree>
    <p:extLst>
      <p:ext uri="{BB962C8B-B14F-4D97-AF65-F5344CB8AC3E}">
        <p14:creationId xmlns:p14="http://schemas.microsoft.com/office/powerpoint/2010/main" val="27441125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75656" y="2492896"/>
            <a:ext cx="7498080" cy="1143000"/>
          </a:xfrm>
        </p:spPr>
        <p:txBody>
          <a:bodyPr/>
          <a:lstStyle/>
          <a:p>
            <a:pPr algn="ctr"/>
            <a:r>
              <a:rPr lang="fr-FR" dirty="0" smtClean="0"/>
              <a:t>FIN</a:t>
            </a:r>
            <a:endParaRPr lang="fr-FR" dirty="0"/>
          </a:p>
        </p:txBody>
      </p:sp>
    </p:spTree>
    <p:extLst>
      <p:ext uri="{BB962C8B-B14F-4D97-AF65-F5344CB8AC3E}">
        <p14:creationId xmlns:p14="http://schemas.microsoft.com/office/powerpoint/2010/main" val="83595063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themeOverride>
</file>

<file path=docProps/app.xml><?xml version="1.0" encoding="utf-8"?>
<Properties xmlns="http://schemas.openxmlformats.org/officeDocument/2006/extended-properties" xmlns:vt="http://schemas.openxmlformats.org/officeDocument/2006/docPropsVTypes">
  <Template/>
  <TotalTime>167</TotalTime>
  <Words>1967</Words>
  <Application>Microsoft Office PowerPoint</Application>
  <PresentationFormat>Affichage à l'écran (4:3)</PresentationFormat>
  <Paragraphs>336</Paragraphs>
  <Slides>39</Slides>
  <Notes>13</Notes>
  <HiddenSlides>0</HiddenSlides>
  <MMClips>0</MMClips>
  <ScaleCrop>false</ScaleCrop>
  <HeadingPairs>
    <vt:vector size="4" baseType="variant">
      <vt:variant>
        <vt:lpstr>Thème</vt:lpstr>
      </vt:variant>
      <vt:variant>
        <vt:i4>1</vt:i4>
      </vt:variant>
      <vt:variant>
        <vt:lpstr>Titres des diapositives</vt:lpstr>
      </vt:variant>
      <vt:variant>
        <vt:i4>39</vt:i4>
      </vt:variant>
    </vt:vector>
  </HeadingPairs>
  <TitlesOfParts>
    <vt:vector size="40" baseType="lpstr">
      <vt:lpstr>Solstice</vt:lpstr>
      <vt:lpstr>Intelligence Artificielle</vt:lpstr>
      <vt:lpstr>Sommaire</vt:lpstr>
      <vt:lpstr>Sommaire (ce que vous allez voir)</vt:lpstr>
      <vt:lpstr>Introduction Intelligence Artificielle</vt:lpstr>
      <vt:lpstr>Présentation PowerPoint</vt:lpstr>
      <vt:lpstr>Présentation PowerPoint</vt:lpstr>
      <vt:lpstr>Définition et objectif </vt:lpstr>
      <vt:lpstr>Présentation PowerPoint</vt:lpstr>
      <vt:lpstr>Présentation PowerPoint</vt:lpstr>
      <vt:lpstr>IA Aujourd’hui AI is everywhere</vt:lpstr>
      <vt:lpstr>Présentation PowerPoint</vt:lpstr>
      <vt:lpstr>Présentation PowerPoint</vt:lpstr>
      <vt:lpstr>Domaines d’IA</vt:lpstr>
      <vt:lpstr>Applications de l'IA</vt:lpstr>
      <vt:lpstr>Présentation PowerPoint</vt:lpstr>
      <vt:lpstr>Les débuts de l'IA</vt:lpstr>
      <vt:lpstr>Les premiers succès</vt:lpstr>
      <vt:lpstr>L'ère de l'apprentissage automatique</vt:lpstr>
      <vt:lpstr>L'avènement du Big Data</vt:lpstr>
      <vt:lpstr>L'époque actuelle</vt:lpstr>
      <vt:lpstr>Perspectives d'avenir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Réseaux de neurones Quelques Exemples</vt:lpstr>
      <vt:lpstr>Présentation PowerPoint</vt:lpstr>
      <vt:lpstr>Présentation PowerPoint</vt:lpstr>
      <vt:lpstr>Présentation PowerPoint</vt:lpstr>
      <vt:lpstr>Présentation PowerPoint</vt:lpstr>
      <vt:lpstr>Présentation PowerPoint</vt:lpstr>
      <vt:lpstr>Exemples d'applications IA</vt:lpstr>
      <vt:lpstr>Exemples d'applications IA (2)</vt:lpstr>
      <vt:lpstr>Exemples d'applications IA (3)</vt:lpstr>
      <vt:lpstr>Langages de programmation pour l’IA ?</vt:lpstr>
      <vt:lpstr>FIN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du cours</dc:title>
  <dc:creator>flashcard</dc:creator>
  <cp:lastModifiedBy>um6u</cp:lastModifiedBy>
  <cp:revision>21</cp:revision>
  <dcterms:created xsi:type="dcterms:W3CDTF">2024-02-08T10:23:41Z</dcterms:created>
  <dcterms:modified xsi:type="dcterms:W3CDTF">2024-02-12T12:11:47Z</dcterms:modified>
</cp:coreProperties>
</file>