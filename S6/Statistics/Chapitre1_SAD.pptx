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9" r:id="rId14"/>
    <p:sldId id="290" r:id="rId15"/>
    <p:sldId id="291" r:id="rId16"/>
    <p:sldId id="292" r:id="rId17"/>
    <p:sldId id="293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96" r:id="rId27"/>
    <p:sldId id="295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97" r:id="rId36"/>
    <p:sldId id="298" r:id="rId37"/>
    <p:sldId id="299" r:id="rId38"/>
    <p:sldId id="300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4F47-0E8E-4C38-B675-F156460B362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66CE099-3926-4454-BB8E-DDB2F1737BD7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40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4F47-0E8E-4C38-B675-F156460B362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E099-3926-4454-BB8E-DDB2F1737BD7}" type="slidenum">
              <a:rPr lang="en-US" smtClean="0"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83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4F47-0E8E-4C38-B675-F156460B362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E099-3926-4454-BB8E-DDB2F1737BD7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993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4F47-0E8E-4C38-B675-F156460B362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E099-3926-4454-BB8E-DDB2F1737BD7}" type="slidenum">
              <a:rPr lang="en-US" smtClean="0"/>
              <a:t>‹N°›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87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4F47-0E8E-4C38-B675-F156460B362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E099-3926-4454-BB8E-DDB2F1737BD7}" type="slidenum">
              <a:rPr lang="en-US" smtClean="0"/>
              <a:t>‹N°›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178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4F47-0E8E-4C38-B675-F156460B362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E099-3926-4454-BB8E-DDB2F1737BD7}" type="slidenum">
              <a:rPr lang="en-US" smtClean="0"/>
              <a:t>‹N°›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273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4F47-0E8E-4C38-B675-F156460B362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E099-3926-4454-BB8E-DDB2F1737BD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4F47-0E8E-4C38-B675-F156460B362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E099-3926-4454-BB8E-DDB2F1737BD7}" type="slidenum">
              <a:rPr lang="en-US" smtClean="0"/>
              <a:t>‹N°›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24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06E4F47-0E8E-4C38-B675-F156460B362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E099-3926-4454-BB8E-DDB2F1737BD7}" type="slidenum">
              <a:rPr lang="en-US" smtClean="0"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259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4F47-0E8E-4C38-B675-F156460B362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E099-3926-4454-BB8E-DDB2F1737BD7}" type="slidenum">
              <a:rPr lang="en-US" smtClean="0"/>
              <a:t>‹N°›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345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E4F47-0E8E-4C38-B675-F156460B362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E099-3926-4454-BB8E-DDB2F1737BD7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6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E4F47-0E8E-4C38-B675-F156460B362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66CE099-3926-4454-BB8E-DDB2F1737BD7}" type="slidenum">
              <a:rPr lang="en-US" smtClean="0"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270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7C8F5A-D409-CCE8-FFEC-B671313F7D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Variables et tableaux pour la statistique  </a:t>
            </a:r>
            <a:endParaRPr lang="en-US" b="1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2A3C190-5C65-F73F-539E-F8F986D6CE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SINF  S6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153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BC5833F-F22E-2D04-86D5-D060A9A7BBB5}"/>
              </a:ext>
            </a:extLst>
          </p:cNvPr>
          <p:cNvSpPr txBox="1"/>
          <p:nvPr/>
        </p:nvSpPr>
        <p:spPr>
          <a:xfrm>
            <a:off x="578916" y="775259"/>
            <a:ext cx="8072755" cy="5911875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400"/>
              </a:spcBef>
              <a:tabLst>
                <a:tab pos="276225" algn="l"/>
              </a:tabLst>
            </a:pPr>
            <a:endParaRPr lang="fr-FR" sz="2000" b="1" dirty="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1400"/>
              </a:spcBef>
              <a:tabLst>
                <a:tab pos="276225" algn="l"/>
              </a:tabLst>
            </a:pPr>
            <a:r>
              <a:rPr sz="2000" b="1" dirty="0">
                <a:latin typeface="Times New Roman"/>
                <a:cs typeface="Times New Roman"/>
              </a:rPr>
              <a:t>La </a:t>
            </a:r>
            <a:r>
              <a:rPr sz="2000" b="1" spc="-10" dirty="0">
                <a:latin typeface="Times New Roman"/>
                <a:cs typeface="Times New Roman"/>
              </a:rPr>
              <a:t>statistique</a:t>
            </a:r>
            <a:endParaRPr sz="2000" dirty="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1295"/>
              </a:spcBef>
            </a:pPr>
            <a:r>
              <a:rPr sz="2000" dirty="0">
                <a:latin typeface="Times New Roman"/>
                <a:cs typeface="Times New Roman"/>
              </a:rPr>
              <a:t>C’est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science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qui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consiste à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collecter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données, les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traiter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analyser,</a:t>
            </a:r>
            <a:endParaRPr sz="2000" dirty="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interpréter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présenter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vue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d’étudier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phénomène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donné.</a:t>
            </a:r>
            <a:endParaRPr sz="2000" dirty="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1300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Statistique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descriptive,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statistique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décisionnelle,….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64795" algn="l"/>
              </a:tabLst>
            </a:pPr>
            <a:r>
              <a:rPr sz="2000" b="1" dirty="0">
                <a:latin typeface="Times New Roman"/>
                <a:cs typeface="Times New Roman"/>
              </a:rPr>
              <a:t>Les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statistiques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Ce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sont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données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collectées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auprès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établissements.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</a:t>
            </a:r>
            <a:r>
              <a:rPr sz="2000" b="1" spc="-10" dirty="0">
                <a:latin typeface="Times New Roman"/>
                <a:cs typeface="Times New Roman"/>
              </a:rPr>
              <a:t>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indices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bourse,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taux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chômage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….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8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64795" algn="l"/>
                <a:tab pos="688975" algn="l"/>
                <a:tab pos="1930400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La</a:t>
            </a:r>
            <a:r>
              <a:rPr lang="fr-FR"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 err="1">
                <a:latin typeface="Times New Roman"/>
                <a:cs typeface="Times New Roman"/>
              </a:rPr>
              <a:t>statistique</a:t>
            </a:r>
            <a:r>
              <a:rPr lang="fr-FR"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descriptive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3247390" algn="l"/>
                <a:tab pos="4456430" algn="l"/>
              </a:tabLst>
            </a:pPr>
            <a:r>
              <a:rPr sz="2000" dirty="0">
                <a:latin typeface="Times New Roman"/>
                <a:cs typeface="Times New Roman"/>
              </a:rPr>
              <a:t>C’est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l'ensemble des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méthodes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permettant</a:t>
            </a:r>
            <a:r>
              <a:rPr sz="2000" dirty="0">
                <a:latin typeface="Times New Roman"/>
                <a:cs typeface="Times New Roman"/>
              </a:rPr>
              <a:t>	de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décrire,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résumer,</a:t>
            </a:r>
            <a:r>
              <a:rPr sz="2000" dirty="0">
                <a:latin typeface="Times New Roman"/>
                <a:cs typeface="Times New Roman"/>
              </a:rPr>
              <a:t> de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présenter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données.</a:t>
            </a:r>
            <a:endParaRPr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7105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1CFE8895-5158-19FB-B9E8-7D09D9D169FC}"/>
              </a:ext>
            </a:extLst>
          </p:cNvPr>
          <p:cNvSpPr txBox="1"/>
          <p:nvPr/>
        </p:nvSpPr>
        <p:spPr>
          <a:xfrm>
            <a:off x="402437" y="910211"/>
            <a:ext cx="8453120" cy="5553443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  <a:tabLst>
                <a:tab pos="264160" algn="l"/>
              </a:tabLst>
            </a:pPr>
            <a:endParaRPr lang="fr-FR" sz="20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  <a:tabLst>
                <a:tab pos="26416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Population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C’est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l’ensemble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éléments ayant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caractère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commun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à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étudier.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endParaRPr lang="fr-FR" sz="2000" spc="-6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u="sng" dirty="0" err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étudiants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 err="1">
                <a:latin typeface="Times New Roman"/>
                <a:cs typeface="Times New Roman"/>
              </a:rPr>
              <a:t>faculté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lang="fr-FR" sz="2000" spc="-114" dirty="0">
                <a:latin typeface="Times New Roman"/>
                <a:cs typeface="Times New Roman"/>
              </a:rPr>
              <a:t> </a:t>
            </a:r>
            <a:r>
              <a:rPr lang="fr-FR" sz="2000" spc="-114" dirty="0" err="1">
                <a:latin typeface="Times New Roman"/>
                <a:cs typeface="Times New Roman"/>
              </a:rPr>
              <a:t>Semlalia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64160" algn="l"/>
              </a:tabLst>
            </a:pPr>
            <a:r>
              <a:rPr sz="2000" b="1" dirty="0">
                <a:latin typeface="Times New Roman"/>
                <a:cs typeface="Times New Roman"/>
              </a:rPr>
              <a:t>Individu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ou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Unité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statistique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000" dirty="0">
                <a:latin typeface="Times New Roman"/>
                <a:cs typeface="Times New Roman"/>
              </a:rPr>
              <a:t>C’est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l’élément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population.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endParaRPr lang="fr-FR" sz="2000" spc="-3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000" b="1" u="sng" dirty="0" err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étudiant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 err="1">
                <a:latin typeface="Times New Roman"/>
                <a:cs typeface="Times New Roman"/>
              </a:rPr>
              <a:t>faculté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lang="fr-FR" sz="2000" spc="-114" dirty="0" err="1">
                <a:latin typeface="Times New Roman"/>
                <a:cs typeface="Times New Roman"/>
              </a:rPr>
              <a:t>Semlalia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64795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Echantillon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  <a:tabLst>
                <a:tab pos="2547620" algn="l"/>
              </a:tabLst>
            </a:pPr>
            <a:r>
              <a:rPr sz="2000" dirty="0">
                <a:latin typeface="Times New Roman"/>
                <a:cs typeface="Times New Roman"/>
              </a:rPr>
              <a:t>C’est un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sous-</a:t>
            </a:r>
            <a:r>
              <a:rPr sz="2000" spc="-10" dirty="0">
                <a:latin typeface="Times New Roman"/>
                <a:cs typeface="Times New Roman"/>
              </a:rPr>
              <a:t>ensemble</a:t>
            </a:r>
            <a:r>
              <a:rPr sz="2000" dirty="0">
                <a:latin typeface="Times New Roman"/>
                <a:cs typeface="Times New Roman"/>
              </a:rPr>
              <a:t>	ou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partie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population.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endParaRPr lang="fr-FR" sz="2000" spc="-3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  <a:tabLst>
                <a:tab pos="2547620" algn="l"/>
              </a:tabLst>
            </a:pPr>
            <a:r>
              <a:rPr sz="2000" b="1" u="sng" dirty="0" err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 err="1">
                <a:latin typeface="Times New Roman"/>
                <a:cs typeface="Times New Roman"/>
              </a:rPr>
              <a:t>étudiants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S1</a:t>
            </a:r>
            <a:r>
              <a:rPr lang="fr-FR"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 err="1">
                <a:latin typeface="Times New Roman"/>
                <a:cs typeface="Times New Roman"/>
              </a:rPr>
              <a:t>faculté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lang="fr-FR" sz="2000" spc="-114" dirty="0" err="1">
                <a:latin typeface="Times New Roman"/>
                <a:cs typeface="Times New Roman"/>
              </a:rPr>
              <a:t>Semlalia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5756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BC62343-139D-BCEC-6054-932E5AA6DF63}"/>
              </a:ext>
            </a:extLst>
          </p:cNvPr>
          <p:cNvSpPr txBox="1"/>
          <p:nvPr/>
        </p:nvSpPr>
        <p:spPr>
          <a:xfrm>
            <a:off x="519785" y="787901"/>
            <a:ext cx="7988300" cy="3034164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460"/>
              </a:spcBef>
              <a:tabLst>
                <a:tab pos="288925" algn="l"/>
              </a:tabLst>
            </a:pPr>
            <a:endParaRPr lang="fr-FR" sz="2000" b="1" spc="-25" dirty="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  <a:spcBef>
                <a:spcPts val="1460"/>
              </a:spcBef>
              <a:tabLst>
                <a:tab pos="288925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Taille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la</a:t>
            </a:r>
            <a:r>
              <a:rPr sz="2000" b="1" spc="-10" dirty="0">
                <a:latin typeface="Times New Roman"/>
                <a:cs typeface="Times New Roman"/>
              </a:rPr>
              <a:t> population</a:t>
            </a:r>
            <a:endParaRPr sz="2000" dirty="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  <a:spcBef>
                <a:spcPts val="1360"/>
              </a:spcBef>
            </a:pPr>
            <a:r>
              <a:rPr sz="3000" baseline="1388" dirty="0">
                <a:latin typeface="Times New Roman"/>
                <a:cs typeface="Times New Roman"/>
              </a:rPr>
              <a:t>C’est</a:t>
            </a:r>
            <a:r>
              <a:rPr sz="3000" spc="-44" baseline="1388" dirty="0">
                <a:latin typeface="Times New Roman"/>
                <a:cs typeface="Times New Roman"/>
              </a:rPr>
              <a:t> </a:t>
            </a:r>
            <a:r>
              <a:rPr sz="3000" baseline="1388" dirty="0">
                <a:latin typeface="Times New Roman"/>
                <a:cs typeface="Times New Roman"/>
              </a:rPr>
              <a:t>le</a:t>
            </a:r>
            <a:r>
              <a:rPr sz="3000" spc="-44" baseline="1388" dirty="0">
                <a:latin typeface="Times New Roman"/>
                <a:cs typeface="Times New Roman"/>
              </a:rPr>
              <a:t> </a:t>
            </a:r>
            <a:r>
              <a:rPr sz="3000" baseline="1388" dirty="0">
                <a:latin typeface="Times New Roman"/>
                <a:cs typeface="Times New Roman"/>
              </a:rPr>
              <a:t>nombre</a:t>
            </a:r>
            <a:r>
              <a:rPr sz="3000" spc="-7" baseline="1388" dirty="0">
                <a:latin typeface="Times New Roman"/>
                <a:cs typeface="Times New Roman"/>
              </a:rPr>
              <a:t> </a:t>
            </a:r>
            <a:r>
              <a:rPr sz="3000" baseline="1388" dirty="0">
                <a:latin typeface="Times New Roman"/>
                <a:cs typeface="Times New Roman"/>
              </a:rPr>
              <a:t>d’éléments</a:t>
            </a:r>
            <a:r>
              <a:rPr sz="3000" spc="75" baseline="1388" dirty="0">
                <a:latin typeface="Times New Roman"/>
                <a:cs typeface="Times New Roman"/>
              </a:rPr>
              <a:t> </a:t>
            </a:r>
            <a:r>
              <a:rPr sz="3000" baseline="1388" dirty="0">
                <a:latin typeface="Times New Roman"/>
                <a:cs typeface="Times New Roman"/>
              </a:rPr>
              <a:t>de</a:t>
            </a:r>
            <a:r>
              <a:rPr sz="3000" spc="-75" baseline="1388" dirty="0">
                <a:latin typeface="Times New Roman"/>
                <a:cs typeface="Times New Roman"/>
              </a:rPr>
              <a:t> </a:t>
            </a:r>
            <a:r>
              <a:rPr sz="3000" baseline="1388" dirty="0">
                <a:latin typeface="Times New Roman"/>
                <a:cs typeface="Times New Roman"/>
              </a:rPr>
              <a:t>la</a:t>
            </a:r>
            <a:r>
              <a:rPr sz="3000" spc="-44" baseline="1388" dirty="0">
                <a:latin typeface="Times New Roman"/>
                <a:cs typeface="Times New Roman"/>
              </a:rPr>
              <a:t> </a:t>
            </a:r>
            <a:r>
              <a:rPr sz="3000" baseline="1388" dirty="0">
                <a:latin typeface="Times New Roman"/>
                <a:cs typeface="Times New Roman"/>
              </a:rPr>
              <a:t>population.</a:t>
            </a:r>
            <a:r>
              <a:rPr sz="3000" spc="-44" baseline="1388" dirty="0">
                <a:latin typeface="Times New Roman"/>
                <a:cs typeface="Times New Roman"/>
              </a:rPr>
              <a:t> </a:t>
            </a:r>
            <a:r>
              <a:rPr sz="3000" baseline="1388" dirty="0">
                <a:latin typeface="Times New Roman"/>
                <a:cs typeface="Times New Roman"/>
              </a:rPr>
              <a:t>On</a:t>
            </a:r>
            <a:r>
              <a:rPr sz="3000" spc="-22" baseline="1388" dirty="0">
                <a:latin typeface="Times New Roman"/>
                <a:cs typeface="Times New Roman"/>
              </a:rPr>
              <a:t> </a:t>
            </a:r>
            <a:r>
              <a:rPr sz="3000" baseline="1388" dirty="0">
                <a:latin typeface="Times New Roman"/>
                <a:cs typeface="Times New Roman"/>
              </a:rPr>
              <a:t>le</a:t>
            </a:r>
            <a:r>
              <a:rPr sz="3000" spc="-30" baseline="1388" dirty="0">
                <a:latin typeface="Times New Roman"/>
                <a:cs typeface="Times New Roman"/>
              </a:rPr>
              <a:t> </a:t>
            </a:r>
            <a:r>
              <a:rPr sz="3000" baseline="1388" dirty="0">
                <a:latin typeface="Times New Roman"/>
                <a:cs typeface="Times New Roman"/>
              </a:rPr>
              <a:t>note</a:t>
            </a:r>
            <a:r>
              <a:rPr sz="3000" spc="405" baseline="1388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N</a:t>
            </a:r>
            <a:r>
              <a:rPr sz="1950" i="1" spc="-150" dirty="0">
                <a:latin typeface="Times New Roman"/>
                <a:cs typeface="Times New Roman"/>
              </a:rPr>
              <a:t> </a:t>
            </a:r>
            <a:r>
              <a:rPr sz="3000" spc="-75" baseline="1388" dirty="0">
                <a:latin typeface="Times New Roman"/>
                <a:cs typeface="Times New Roman"/>
              </a:rPr>
              <a:t>.</a:t>
            </a:r>
            <a:endParaRPr sz="3000" baseline="1388" dirty="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  <a:spcBef>
                <a:spcPts val="1235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nombre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d’étudiants de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 err="1">
                <a:latin typeface="Times New Roman"/>
                <a:cs typeface="Times New Roman"/>
              </a:rPr>
              <a:t>faculté</a:t>
            </a:r>
            <a:r>
              <a:rPr lang="fr-FR" sz="2000" spc="-10" dirty="0">
                <a:latin typeface="Times New Roman"/>
                <a:cs typeface="Times New Roman"/>
              </a:rPr>
              <a:t> </a:t>
            </a:r>
            <a:r>
              <a:rPr lang="fr-FR" sz="2000" spc="-10" dirty="0" err="1">
                <a:latin typeface="Times New Roman"/>
                <a:cs typeface="Times New Roman"/>
              </a:rPr>
              <a:t>Semlalia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64160" algn="l"/>
              </a:tabLst>
            </a:pPr>
            <a:r>
              <a:rPr sz="2000" b="1" dirty="0" err="1">
                <a:latin typeface="Times New Roman"/>
                <a:cs typeface="Times New Roman"/>
              </a:rPr>
              <a:t>Caractère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ou</a:t>
            </a:r>
            <a:r>
              <a:rPr sz="2000" b="1" spc="40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variable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statistique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  <a:tabLst>
                <a:tab pos="673735" algn="l"/>
              </a:tabLst>
            </a:pPr>
            <a:r>
              <a:rPr sz="2000" spc="-10" dirty="0">
                <a:latin typeface="Times New Roman"/>
                <a:cs typeface="Times New Roman"/>
              </a:rPr>
              <a:t>C’est</a:t>
            </a:r>
            <a:r>
              <a:rPr sz="2000" dirty="0">
                <a:latin typeface="Times New Roman"/>
                <a:cs typeface="Times New Roman"/>
              </a:rPr>
              <a:t>	une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caractéristique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propriété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qui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décrit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individu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d’une</a:t>
            </a:r>
            <a:r>
              <a:rPr sz="2000" spc="-10" dirty="0">
                <a:latin typeface="Times New Roman"/>
                <a:cs typeface="Times New Roman"/>
              </a:rPr>
              <a:t> population.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9B024CA-EE49-F5B0-BD02-DE58F141FE2A}"/>
              </a:ext>
            </a:extLst>
          </p:cNvPr>
          <p:cNvSpPr txBox="1"/>
          <p:nvPr/>
        </p:nvSpPr>
        <p:spPr>
          <a:xfrm>
            <a:off x="519785" y="3822064"/>
            <a:ext cx="8148675" cy="1896673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  <a:tabLst>
                <a:tab pos="893444" algn="l"/>
                <a:tab pos="3211195" algn="l"/>
              </a:tabLst>
            </a:pPr>
            <a:r>
              <a:rPr sz="2000" dirty="0">
                <a:latin typeface="Times New Roman"/>
                <a:cs typeface="Times New Roman"/>
              </a:rPr>
              <a:t>Elle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est</a:t>
            </a:r>
            <a:r>
              <a:rPr sz="2000" dirty="0">
                <a:latin typeface="Times New Roman"/>
                <a:cs typeface="Times New Roman"/>
              </a:rPr>
              <a:t>	observée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mesurée</a:t>
            </a:r>
            <a:r>
              <a:rPr sz="2000" dirty="0">
                <a:latin typeface="Times New Roman"/>
                <a:cs typeface="Times New Roman"/>
              </a:rPr>
              <a:t>	sur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individus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d'une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population.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  <a:tabLst>
                <a:tab pos="1167765" algn="l"/>
              </a:tabLst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Exemple: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Notes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étudiants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948055" algn="l"/>
              </a:tabLst>
            </a:pPr>
            <a:r>
              <a:rPr sz="2000" dirty="0">
                <a:latin typeface="Times New Roman"/>
                <a:cs typeface="Times New Roman"/>
              </a:rPr>
              <a:t>Il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existe</a:t>
            </a:r>
            <a:r>
              <a:rPr sz="2000" dirty="0">
                <a:latin typeface="Times New Roman"/>
                <a:cs typeface="Times New Roman"/>
              </a:rPr>
              <a:t>	deux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variables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statistiques: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Les</a:t>
            </a:r>
            <a:r>
              <a:rPr sz="2000" b="1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variables</a:t>
            </a:r>
            <a:r>
              <a:rPr sz="20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quantitatives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  <a:tabLst>
                <a:tab pos="323215" algn="l"/>
              </a:tabLst>
            </a:pPr>
            <a:r>
              <a:rPr sz="2000" spc="-25" dirty="0">
                <a:latin typeface="Times New Roman"/>
                <a:cs typeface="Times New Roman"/>
              </a:rPr>
              <a:t>et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les</a:t>
            </a:r>
            <a:r>
              <a:rPr sz="20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variables</a:t>
            </a:r>
            <a:r>
              <a:rPr sz="2000" b="1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qualitatives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9295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B56F997-AA91-E2A0-3213-F34325E6FEB0}"/>
              </a:ext>
            </a:extLst>
          </p:cNvPr>
          <p:cNvSpPr txBox="1"/>
          <p:nvPr/>
        </p:nvSpPr>
        <p:spPr>
          <a:xfrm>
            <a:off x="435965" y="807897"/>
            <a:ext cx="7134859" cy="557845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lvl="1">
              <a:lnSpc>
                <a:spcPct val="100000"/>
              </a:lnSpc>
              <a:spcBef>
                <a:spcPts val="1300"/>
              </a:spcBef>
              <a:tabLst>
                <a:tab pos="389890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Variable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qualitative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endParaRPr lang="fr-FR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dirty="0" err="1">
                <a:latin typeface="Times New Roman"/>
                <a:cs typeface="Times New Roman"/>
              </a:rPr>
              <a:t>C’est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modalités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peuvent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être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mesurées.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(Arabe,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Anglais,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Français,...)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peut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distinguer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deux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qualitatives:</a:t>
            </a:r>
            <a:endParaRPr sz="2000" dirty="0">
              <a:latin typeface="Times New Roman"/>
              <a:cs typeface="Times New Roman"/>
            </a:endParaRPr>
          </a:p>
          <a:p>
            <a:pPr marL="12700" lvl="2">
              <a:lnSpc>
                <a:spcPct val="100000"/>
              </a:lnSpc>
              <a:spcBef>
                <a:spcPts val="1200"/>
              </a:spcBef>
              <a:tabLst>
                <a:tab pos="578485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Variable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qualitative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nominale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C’est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modalités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sont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ordonnées.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Exemple: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Catégorie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socioprofessionnelle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(Ingénieur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,Technicien</a:t>
            </a:r>
            <a:r>
              <a:rPr sz="2000" dirty="0">
                <a:latin typeface="Times New Roman"/>
                <a:cs typeface="Times New Roman"/>
              </a:rPr>
              <a:t> ,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…)</a:t>
            </a:r>
            <a:endParaRPr sz="2000" dirty="0">
              <a:latin typeface="Times New Roman"/>
              <a:cs typeface="Times New Roman"/>
            </a:endParaRPr>
          </a:p>
          <a:p>
            <a:pPr marL="76200" lvl="2">
              <a:lnSpc>
                <a:spcPct val="100000"/>
              </a:lnSpc>
              <a:spcBef>
                <a:spcPts val="1200"/>
              </a:spcBef>
              <a:tabLst>
                <a:tab pos="641985" algn="l"/>
              </a:tabLst>
            </a:pPr>
            <a:r>
              <a:rPr sz="2000" b="1" spc="-20" dirty="0">
                <a:latin typeface="Times New Roman"/>
                <a:cs typeface="Times New Roman"/>
              </a:rPr>
              <a:t>Variable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qualitative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ordinale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C’est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modalités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ordonnées.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Exemple: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Mention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(Très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bien,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Bien,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Assez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Bien,…)</a:t>
            </a:r>
            <a:endParaRPr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1196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59E96A-7FE7-D3B1-1AD0-9743046355F4}"/>
              </a:ext>
            </a:extLst>
          </p:cNvPr>
          <p:cNvSpPr txBox="1"/>
          <p:nvPr/>
        </p:nvSpPr>
        <p:spPr>
          <a:xfrm>
            <a:off x="364642" y="810164"/>
            <a:ext cx="8357870" cy="5603457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 lvl="1">
              <a:lnSpc>
                <a:spcPct val="100000"/>
              </a:lnSpc>
              <a:spcBef>
                <a:spcPts val="1295"/>
              </a:spcBef>
              <a:tabLst>
                <a:tab pos="389255" algn="l"/>
              </a:tabLst>
            </a:pPr>
            <a:r>
              <a:rPr sz="2000" b="1" spc="-20" dirty="0">
                <a:latin typeface="Times New Roman"/>
                <a:cs typeface="Times New Roman"/>
              </a:rPr>
              <a:t>Variable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quantitative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2009139" algn="l"/>
                <a:tab pos="2602230" algn="l"/>
              </a:tabLst>
            </a:pPr>
            <a:endParaRPr lang="fr-FR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2009139" algn="l"/>
                <a:tab pos="2602230" algn="l"/>
              </a:tabLst>
            </a:pPr>
            <a:r>
              <a:rPr sz="2000" dirty="0" err="1">
                <a:latin typeface="Times New Roman"/>
                <a:cs typeface="Times New Roman"/>
              </a:rPr>
              <a:t>C’est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variable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dont</a:t>
            </a:r>
            <a:r>
              <a:rPr sz="2000" dirty="0">
                <a:latin typeface="Times New Roman"/>
                <a:cs typeface="Times New Roman"/>
              </a:rPr>
              <a:t>	les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modalités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prennent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valeurs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numériques.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salaire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mensuel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d’un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fonctionnaire,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fr-FR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peut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distinguer deux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quantitatives:</a:t>
            </a:r>
            <a:endParaRPr sz="2000" dirty="0">
              <a:latin typeface="Times New Roman"/>
              <a:cs typeface="Times New Roman"/>
            </a:endParaRPr>
          </a:p>
          <a:p>
            <a:pPr marL="12700" lvl="2">
              <a:lnSpc>
                <a:spcPct val="100000"/>
              </a:lnSpc>
              <a:spcBef>
                <a:spcPts val="1205"/>
              </a:spcBef>
              <a:tabLst>
                <a:tab pos="577850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Variable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quantitative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discrète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b="1" dirty="0">
                <a:latin typeface="Times New Roman"/>
                <a:cs typeface="Times New Roman"/>
              </a:rPr>
              <a:t>’</a:t>
            </a:r>
            <a:r>
              <a:rPr sz="2000" dirty="0">
                <a:latin typeface="Times New Roman"/>
                <a:cs typeface="Times New Roman"/>
              </a:rPr>
              <a:t>est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une variable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modalités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d’un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ensemble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fini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</a:t>
            </a:r>
            <a:r>
              <a:rPr sz="2000" dirty="0">
                <a:latin typeface="Times New Roman"/>
                <a:cs typeface="Times New Roman"/>
              </a:rPr>
              <a:t>: Le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nombre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d’enseignants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lang="fr-FR" sz="2000" spc="-10" dirty="0">
                <a:latin typeface="Times New Roman"/>
                <a:cs typeface="Times New Roman"/>
              </a:rPr>
              <a:t> FSSM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12700" lvl="2">
              <a:lnSpc>
                <a:spcPct val="100000"/>
              </a:lnSpc>
              <a:spcBef>
                <a:spcPts val="1205"/>
              </a:spcBef>
              <a:tabLst>
                <a:tab pos="576580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Variable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quantitative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continue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3890645" algn="l"/>
              </a:tabLst>
            </a:pPr>
            <a:r>
              <a:rPr sz="2000" dirty="0">
                <a:latin typeface="Times New Roman"/>
                <a:cs typeface="Times New Roman"/>
              </a:rPr>
              <a:t>C’est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modalités</a:t>
            </a:r>
            <a:r>
              <a:rPr sz="2000" dirty="0">
                <a:latin typeface="Times New Roman"/>
                <a:cs typeface="Times New Roman"/>
              </a:rPr>
              <a:t>	prennent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valeurs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intervalle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réel.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</a:t>
            </a:r>
            <a:r>
              <a:rPr sz="2000" dirty="0">
                <a:solidFill>
                  <a:srgbClr val="009900"/>
                </a:solidFill>
                <a:latin typeface="Times New Roman"/>
                <a:cs typeface="Times New Roman"/>
              </a:rPr>
              <a:t>:</a:t>
            </a:r>
            <a:r>
              <a:rPr sz="2000" spc="45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Poids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cartables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élèves</a:t>
            </a:r>
            <a:endParaRPr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2243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AD7DEA3-9642-7261-7B4C-56813F5CC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19" y="282222"/>
            <a:ext cx="8952411" cy="568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2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791005-EBAA-3A3E-35C1-DC471F9A8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689" y="606425"/>
            <a:ext cx="10515600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115"/>
              </a:spcBef>
              <a:buNone/>
            </a:pPr>
            <a:r>
              <a:rPr lang="fr-FR" b="1" spc="-10" dirty="0">
                <a:latin typeface="Times New Roman"/>
                <a:cs typeface="Times New Roman"/>
              </a:rPr>
              <a:t>Modalité</a:t>
            </a:r>
            <a:endParaRPr lang="fr-FR" dirty="0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ts val="1150"/>
              </a:spcBef>
              <a:buNone/>
              <a:tabLst>
                <a:tab pos="5460365" algn="l"/>
              </a:tabLst>
            </a:pPr>
            <a:r>
              <a:rPr lang="fr-FR" dirty="0">
                <a:latin typeface="Times New Roman"/>
                <a:cs typeface="Times New Roman"/>
              </a:rPr>
              <a:t>C’est</a:t>
            </a:r>
            <a:r>
              <a:rPr lang="fr-FR" spc="5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la</a:t>
            </a:r>
            <a:r>
              <a:rPr lang="fr-FR" spc="3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valeur</a:t>
            </a:r>
            <a:r>
              <a:rPr lang="fr-FR" spc="-1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d’une</a:t>
            </a:r>
            <a:r>
              <a:rPr lang="fr-FR" spc="-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variable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statistique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84F45AA-08C0-6CB9-A286-69CEB2F64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623" y="1437040"/>
            <a:ext cx="764857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753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B1B8E6-672F-2E0C-C6A5-96F01E525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300"/>
              </a:spcBef>
              <a:buNone/>
            </a:pPr>
            <a:r>
              <a:rPr lang="fr-FR" b="1" dirty="0">
                <a:latin typeface="Times New Roman"/>
                <a:cs typeface="Times New Roman"/>
              </a:rPr>
              <a:t>L'effectif</a:t>
            </a:r>
            <a:r>
              <a:rPr lang="fr-FR" b="1" spc="465" dirty="0">
                <a:latin typeface="Times New Roman"/>
                <a:cs typeface="Times New Roman"/>
              </a:rPr>
              <a:t> </a:t>
            </a:r>
            <a:r>
              <a:rPr lang="fr-FR" b="1" spc="-20" dirty="0">
                <a:latin typeface="Times New Roman"/>
                <a:cs typeface="Times New Roman"/>
              </a:rPr>
              <a:t>total</a:t>
            </a:r>
            <a:endParaRPr lang="fr-FR" dirty="0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ts val="1205"/>
              </a:spcBef>
              <a:buNone/>
              <a:tabLst>
                <a:tab pos="1067435" algn="l"/>
              </a:tabLst>
            </a:pPr>
            <a:r>
              <a:rPr lang="fr-FR" spc="-10" dirty="0">
                <a:latin typeface="Times New Roman"/>
                <a:cs typeface="Times New Roman"/>
              </a:rPr>
              <a:t>L'effectif</a:t>
            </a:r>
            <a:r>
              <a:rPr lang="fr-FR" dirty="0">
                <a:latin typeface="Times New Roman"/>
                <a:cs typeface="Times New Roman"/>
              </a:rPr>
              <a:t>	total</a:t>
            </a:r>
            <a:r>
              <a:rPr lang="fr-FR" spc="-5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(taille)</a:t>
            </a:r>
            <a:r>
              <a:rPr lang="fr-FR" spc="-5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d’une</a:t>
            </a:r>
            <a:r>
              <a:rPr lang="fr-FR" spc="-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population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ou</a:t>
            </a:r>
            <a:r>
              <a:rPr lang="fr-FR" spc="-4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d’une</a:t>
            </a:r>
            <a:r>
              <a:rPr lang="fr-FR" spc="-1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série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statistique</a:t>
            </a:r>
            <a:r>
              <a:rPr lang="fr-FR" spc="-3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(série</a:t>
            </a:r>
            <a:r>
              <a:rPr lang="fr-FR" spc="-50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Times New Roman"/>
                <a:cs typeface="Times New Roman"/>
              </a:rPr>
              <a:t>brute) </a:t>
            </a:r>
            <a:r>
              <a:rPr lang="fr-FR" dirty="0">
                <a:latin typeface="Times New Roman"/>
                <a:cs typeface="Times New Roman"/>
              </a:rPr>
              <a:t>noté </a:t>
            </a:r>
            <a:r>
              <a:rPr lang="fr-FR" b="1" dirty="0">
                <a:latin typeface="Times New Roman"/>
                <a:cs typeface="Times New Roman"/>
              </a:rPr>
              <a:t>N</a:t>
            </a:r>
            <a:r>
              <a:rPr lang="fr-FR" b="1" spc="-1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,</a:t>
            </a:r>
            <a:r>
              <a:rPr lang="fr-FR" spc="-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est</a:t>
            </a:r>
            <a:r>
              <a:rPr lang="fr-FR" spc="-1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le</a:t>
            </a:r>
            <a:r>
              <a:rPr lang="fr-FR" spc="-20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Times New Roman"/>
                <a:cs typeface="Times New Roman"/>
              </a:rPr>
              <a:t>nombre</a:t>
            </a:r>
            <a:r>
              <a:rPr lang="fr-FR" dirty="0">
                <a:latin typeface="Times New Roman"/>
                <a:cs typeface="Times New Roman"/>
              </a:rPr>
              <a:t>	</a:t>
            </a:r>
            <a:r>
              <a:rPr lang="fr-FR" spc="-10" dirty="0">
                <a:latin typeface="Times New Roman"/>
                <a:cs typeface="Times New Roman"/>
              </a:rPr>
              <a:t>d'individus</a:t>
            </a:r>
            <a:r>
              <a:rPr lang="fr-FR" dirty="0">
                <a:latin typeface="Times New Roman"/>
                <a:cs typeface="Times New Roman"/>
              </a:rPr>
              <a:t>	</a:t>
            </a:r>
            <a:r>
              <a:rPr lang="fr-FR" spc="-25" dirty="0">
                <a:latin typeface="Times New Roman"/>
                <a:cs typeface="Times New Roman"/>
              </a:rPr>
              <a:t>qui</a:t>
            </a:r>
            <a:r>
              <a:rPr lang="fr-FR" dirty="0">
                <a:latin typeface="Times New Roman"/>
                <a:cs typeface="Times New Roman"/>
              </a:rPr>
              <a:t>	composent</a:t>
            </a:r>
            <a:r>
              <a:rPr lang="fr-FR" spc="-1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cette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série</a:t>
            </a:r>
            <a:r>
              <a:rPr lang="fr-FR" spc="-2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ou</a:t>
            </a:r>
            <a:r>
              <a:rPr lang="fr-FR" spc="-25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Times New Roman"/>
                <a:cs typeface="Times New Roman"/>
              </a:rPr>
              <a:t>population.</a:t>
            </a:r>
            <a:endParaRPr lang="fr-FR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lang="fr-FR" dirty="0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ts val="5"/>
              </a:spcBef>
              <a:buNone/>
            </a:pPr>
            <a:r>
              <a:rPr lang="fr-FR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</a:t>
            </a:r>
            <a:r>
              <a:rPr lang="fr-FR" b="1" spc="2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:</a:t>
            </a:r>
            <a:r>
              <a:rPr lang="fr-FR" spc="-12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Au</a:t>
            </a:r>
            <a:r>
              <a:rPr lang="fr-FR" spc="-1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cours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d’un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semestre,</a:t>
            </a:r>
            <a:r>
              <a:rPr lang="fr-FR" spc="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on</a:t>
            </a:r>
            <a:r>
              <a:rPr lang="fr-FR" spc="-6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a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observé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20</a:t>
            </a:r>
            <a:r>
              <a:rPr lang="fr-FR" spc="-5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élèves</a:t>
            </a:r>
            <a:r>
              <a:rPr lang="fr-FR" spc="-2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d’une</a:t>
            </a:r>
            <a:r>
              <a:rPr lang="fr-FR" spc="-2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école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dont</a:t>
            </a:r>
            <a:r>
              <a:rPr lang="fr-FR" spc="-50" dirty="0">
                <a:latin typeface="Times New Roman"/>
                <a:cs typeface="Times New Roman"/>
              </a:rPr>
              <a:t> </a:t>
            </a:r>
            <a:r>
              <a:rPr lang="fr-FR" spc="-25" dirty="0">
                <a:latin typeface="Times New Roman"/>
                <a:cs typeface="Times New Roman"/>
              </a:rPr>
              <a:t>les  </a:t>
            </a:r>
            <a:r>
              <a:rPr lang="fr-FR" dirty="0">
                <a:latin typeface="Times New Roman"/>
                <a:cs typeface="Times New Roman"/>
              </a:rPr>
              <a:t>notes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sont</a:t>
            </a:r>
            <a:r>
              <a:rPr lang="fr-FR" spc="-2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données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par</a:t>
            </a:r>
            <a:r>
              <a:rPr lang="fr-FR" spc="-3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le</a:t>
            </a:r>
            <a:r>
              <a:rPr lang="fr-FR" spc="-6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tableau</a:t>
            </a:r>
            <a:r>
              <a:rPr lang="fr-FR" spc="-4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suivant</a:t>
            </a:r>
            <a:r>
              <a:rPr lang="fr-FR" spc="35" dirty="0">
                <a:latin typeface="Times New Roman"/>
                <a:cs typeface="Times New Roman"/>
              </a:rPr>
              <a:t> </a:t>
            </a:r>
            <a:r>
              <a:rPr lang="fr-FR" spc="-50" dirty="0">
                <a:latin typeface="Times New Roman"/>
                <a:cs typeface="Times New Roman"/>
              </a:rPr>
              <a:t>:</a:t>
            </a:r>
            <a:endParaRPr lang="fr-FR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E940D8A-FA47-4CB2-04CF-C6C22E959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124" y="3793067"/>
            <a:ext cx="8805752" cy="220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837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849D82D8-A14E-CDC1-9F61-455658BF08F3}"/>
              </a:ext>
            </a:extLst>
          </p:cNvPr>
          <p:cNvSpPr txBox="1"/>
          <p:nvPr/>
        </p:nvSpPr>
        <p:spPr>
          <a:xfrm>
            <a:off x="339242" y="783514"/>
            <a:ext cx="8653780" cy="4112472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0"/>
              </a:spcBef>
            </a:pPr>
            <a:r>
              <a:rPr sz="2000" b="1" spc="-10" dirty="0" err="1">
                <a:latin typeface="Times New Roman"/>
                <a:cs typeface="Times New Roman"/>
              </a:rPr>
              <a:t>L’effectif</a:t>
            </a:r>
            <a:endParaRPr sz="20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205"/>
              </a:spcBef>
              <a:tabLst>
                <a:tab pos="1108075" algn="l"/>
                <a:tab pos="3041015" algn="l"/>
                <a:tab pos="3343275" algn="l"/>
              </a:tabLst>
            </a:pPr>
            <a:endParaRPr lang="fr-FR" sz="2000" spc="-1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205"/>
              </a:spcBef>
              <a:tabLst>
                <a:tab pos="1108075" algn="l"/>
                <a:tab pos="3041015" algn="l"/>
                <a:tab pos="3343275" algn="l"/>
              </a:tabLst>
            </a:pPr>
            <a:r>
              <a:rPr sz="2000" spc="-10" dirty="0" err="1">
                <a:latin typeface="Times New Roman"/>
                <a:cs typeface="Times New Roman"/>
              </a:rPr>
              <a:t>L’effectif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b="1" dirty="0">
                <a:latin typeface="Times New Roman"/>
                <a:cs typeface="Times New Roman"/>
              </a:rPr>
              <a:t>n</a:t>
            </a:r>
            <a:r>
              <a:rPr sz="2025" b="1" baseline="-20576" dirty="0">
                <a:latin typeface="Times New Roman"/>
                <a:cs typeface="Times New Roman"/>
              </a:rPr>
              <a:t>i</a:t>
            </a:r>
            <a:r>
              <a:rPr sz="2025" b="1" spc="179" baseline="-20576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d'une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modalité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x</a:t>
            </a:r>
            <a:r>
              <a:rPr sz="2025" b="1" spc="-37" baseline="-20576" dirty="0">
                <a:latin typeface="Times New Roman"/>
                <a:cs typeface="Times New Roman"/>
              </a:rPr>
              <a:t>i</a:t>
            </a:r>
            <a:r>
              <a:rPr sz="2025" b="1" baseline="-20576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est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nombre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d'individus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ayant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cette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modalité,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le</a:t>
            </a:r>
            <a:endParaRPr sz="20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200"/>
              </a:spcBef>
              <a:tabLst>
                <a:tab pos="3553460" algn="l"/>
              </a:tabLst>
            </a:pPr>
            <a:r>
              <a:rPr sz="2000" dirty="0">
                <a:latin typeface="Times New Roman"/>
                <a:cs typeface="Times New Roman"/>
              </a:rPr>
              <a:t>nombre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modalité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b="1" spc="-35" dirty="0">
                <a:latin typeface="Times New Roman"/>
                <a:cs typeface="Times New Roman"/>
              </a:rPr>
              <a:t>x</a:t>
            </a:r>
            <a:r>
              <a:rPr sz="2025" b="1" spc="-52" baseline="-20576" dirty="0">
                <a:latin typeface="Times New Roman"/>
                <a:cs typeface="Times New Roman"/>
              </a:rPr>
              <a:t>i</a:t>
            </a:r>
            <a:r>
              <a:rPr sz="2025" b="1" baseline="-20576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est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observée.</a:t>
            </a:r>
            <a:endParaRPr sz="20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200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Exemple</a:t>
            </a:r>
            <a:r>
              <a:rPr sz="20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Times New Roman"/>
                <a:cs typeface="Times New Roman"/>
              </a:rPr>
              <a:t>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classement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série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20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précédentes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ordre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croissant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donne</a:t>
            </a:r>
            <a:r>
              <a:rPr sz="2000" spc="-25" dirty="0">
                <a:latin typeface="Times New Roman"/>
                <a:cs typeface="Times New Roman"/>
              </a:rPr>
              <a:t> les</a:t>
            </a:r>
            <a:endParaRPr sz="20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résultats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suivants: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5,5,5,</a:t>
            </a:r>
            <a:r>
              <a:rPr sz="2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5,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5,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FF00"/>
                </a:solidFill>
                <a:latin typeface="Times New Roman"/>
                <a:cs typeface="Times New Roman"/>
              </a:rPr>
              <a:t>7,7,7,</a:t>
            </a:r>
            <a:r>
              <a:rPr sz="2000" b="1" spc="-55" dirty="0">
                <a:solidFill>
                  <a:srgbClr val="00FF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C000"/>
                </a:solidFill>
                <a:latin typeface="Times New Roman"/>
                <a:cs typeface="Times New Roman"/>
              </a:rPr>
              <a:t>8,8,</a:t>
            </a:r>
            <a:r>
              <a:rPr sz="2000" b="1" spc="-3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C000"/>
                </a:solidFill>
                <a:latin typeface="Times New Roman"/>
                <a:cs typeface="Times New Roman"/>
              </a:rPr>
              <a:t>8,</a:t>
            </a:r>
            <a:r>
              <a:rPr sz="2000" b="1" spc="-4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C000"/>
                </a:solidFill>
                <a:latin typeface="Times New Roman"/>
                <a:cs typeface="Times New Roman"/>
              </a:rPr>
              <a:t>8,</a:t>
            </a:r>
            <a:r>
              <a:rPr sz="2000" b="1" spc="-3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C000"/>
                </a:solidFill>
                <a:latin typeface="Times New Roman"/>
                <a:cs typeface="Times New Roman"/>
              </a:rPr>
              <a:t>8,</a:t>
            </a:r>
            <a:r>
              <a:rPr sz="2000" b="1" spc="-2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C000"/>
                </a:solidFill>
                <a:latin typeface="Times New Roman"/>
                <a:cs typeface="Times New Roman"/>
              </a:rPr>
              <a:t>8,</a:t>
            </a:r>
            <a:r>
              <a:rPr sz="2000" b="1" dirty="0">
                <a:solidFill>
                  <a:srgbClr val="212168"/>
                </a:solidFill>
                <a:latin typeface="Times New Roman"/>
                <a:cs typeface="Times New Roman"/>
              </a:rPr>
              <a:t>10,10,10,10,</a:t>
            </a:r>
            <a:r>
              <a:rPr sz="2000" b="1" spc="-70" dirty="0">
                <a:solidFill>
                  <a:srgbClr val="21216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12168"/>
                </a:solidFill>
                <a:latin typeface="Times New Roman"/>
                <a:cs typeface="Times New Roman"/>
              </a:rPr>
              <a:t>10,</a:t>
            </a:r>
            <a:r>
              <a:rPr sz="2000" b="1" spc="-35" dirty="0">
                <a:solidFill>
                  <a:srgbClr val="212168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212168"/>
                </a:solidFill>
                <a:latin typeface="Times New Roman"/>
                <a:cs typeface="Times New Roman"/>
              </a:rPr>
              <a:t>10,</a:t>
            </a:r>
            <a:endParaRPr sz="2000" dirty="0">
              <a:latin typeface="Times New Roman"/>
              <a:cs typeface="Times New Roman"/>
            </a:endParaRPr>
          </a:p>
          <a:p>
            <a:pPr marL="38100" marR="406400">
              <a:lnSpc>
                <a:spcPct val="150100"/>
              </a:lnSpc>
            </a:pPr>
            <a:r>
              <a:rPr sz="2000" dirty="0">
                <a:latin typeface="Times New Roman"/>
                <a:cs typeface="Times New Roman"/>
              </a:rPr>
              <a:t>Les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modalités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obtenues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après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regroupement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observations sont: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5,7,8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10</a:t>
            </a:r>
            <a:r>
              <a:rPr sz="2000" spc="-25" dirty="0">
                <a:latin typeface="Times New Roman"/>
                <a:cs typeface="Times New Roman"/>
              </a:rPr>
              <a:t>. </a:t>
            </a:r>
            <a:r>
              <a:rPr sz="2000" dirty="0">
                <a:latin typeface="Times New Roman"/>
                <a:cs typeface="Times New Roman"/>
              </a:rPr>
              <a:t>Donc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a:</a:t>
            </a:r>
            <a:endParaRPr sz="2000" dirty="0">
              <a:latin typeface="Times New Roman"/>
              <a:cs typeface="Times New Roman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37A21029-0B5A-BD3F-AA51-16374A2CB7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17425"/>
              </p:ext>
            </p:extLst>
          </p:nvPr>
        </p:nvGraphicFramePr>
        <p:xfrm>
          <a:off x="1700148" y="4646790"/>
          <a:ext cx="5514339" cy="1511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4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8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410">
                <a:tc>
                  <a:txBody>
                    <a:bodyPr/>
                    <a:lstStyle/>
                    <a:p>
                      <a:pPr marL="31750">
                        <a:lnSpc>
                          <a:spcPts val="21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modalité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3525">
                        <a:lnSpc>
                          <a:spcPts val="21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025" baseline="-20576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025" spc="209" baseline="-2057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ts val="21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pour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effectif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25" baseline="-20576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025" spc="209" baseline="-2057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modalité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26352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025" baseline="-20576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025" spc="209" baseline="-2057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pour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effectif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25" baseline="-20576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025" spc="209" baseline="-2057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modalité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26352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025" baseline="-20576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025" spc="209" baseline="-2057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pour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effectif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25" baseline="-20576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025" spc="209" baseline="-2057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modalité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025" baseline="-20576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025" spc="209" baseline="-2057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pour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effectif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25" baseline="-20576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025" spc="209" baseline="-2057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5706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D81D493-C9A9-76B8-083C-1B64BB688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spcBef>
                    <a:spcPts val="1305"/>
                  </a:spcBef>
                  <a:buNone/>
                </a:pPr>
                <a:r>
                  <a:rPr lang="fr-FR" b="1" spc="-10" dirty="0">
                    <a:latin typeface="Times New Roman"/>
                    <a:cs typeface="Times New Roman"/>
                  </a:rPr>
                  <a:t>Fréquence</a:t>
                </a:r>
                <a:endParaRPr lang="fr-FR" dirty="0">
                  <a:latin typeface="Times New Roman"/>
                  <a:cs typeface="Times New Roman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  <a:tabLst>
                    <a:tab pos="3482975" algn="l"/>
                  </a:tabLst>
                </a:pPr>
                <a:r>
                  <a:rPr lang="fr-FR" b="1" dirty="0">
                    <a:latin typeface="Times New Roman"/>
                    <a:cs typeface="Times New Roman"/>
                  </a:rPr>
                  <a:t>La</a:t>
                </a:r>
                <a:r>
                  <a:rPr lang="fr-FR" b="1" spc="-35" dirty="0">
                    <a:latin typeface="Times New Roman"/>
                    <a:cs typeface="Times New Roman"/>
                  </a:rPr>
                  <a:t> </a:t>
                </a:r>
                <a:r>
                  <a:rPr lang="fr-FR" b="1" dirty="0">
                    <a:latin typeface="Times New Roman"/>
                    <a:cs typeface="Times New Roman"/>
                  </a:rPr>
                  <a:t>fréquence</a:t>
                </a:r>
                <a:r>
                  <a:rPr lang="fr-FR" b="1" spc="-40" dirty="0">
                    <a:latin typeface="Times New Roman"/>
                    <a:cs typeface="Times New Roman"/>
                  </a:rPr>
                  <a:t> </a:t>
                </a:r>
                <a:r>
                  <a:rPr lang="fr-FR" b="1" dirty="0">
                    <a:latin typeface="Times New Roman"/>
                    <a:cs typeface="Times New Roman"/>
                  </a:rPr>
                  <a:t>de</a:t>
                </a:r>
                <a:r>
                  <a:rPr lang="fr-FR" b="1" spc="-20" dirty="0">
                    <a:latin typeface="Times New Roman"/>
                    <a:cs typeface="Times New Roman"/>
                  </a:rPr>
                  <a:t> </a:t>
                </a:r>
                <a:r>
                  <a:rPr lang="fr-FR" b="1" dirty="0">
                    <a:latin typeface="Times New Roman"/>
                    <a:cs typeface="Times New Roman"/>
                  </a:rPr>
                  <a:t>la</a:t>
                </a:r>
                <a:r>
                  <a:rPr lang="fr-FR" b="1" spc="-60" dirty="0">
                    <a:latin typeface="Times New Roman"/>
                    <a:cs typeface="Times New Roman"/>
                  </a:rPr>
                  <a:t> </a:t>
                </a:r>
                <a:r>
                  <a:rPr lang="fr-FR" b="1" dirty="0">
                    <a:latin typeface="Times New Roman"/>
                    <a:cs typeface="Times New Roman"/>
                  </a:rPr>
                  <a:t>modalité</a:t>
                </a:r>
                <a:r>
                  <a:rPr lang="fr-FR" b="1" spc="10" dirty="0">
                    <a:latin typeface="Times New Roman"/>
                    <a:cs typeface="Times New Roman"/>
                  </a:rPr>
                  <a:t> </a:t>
                </a:r>
                <a:r>
                  <a:rPr lang="fr-FR" spc="-25" dirty="0">
                    <a:latin typeface="Times New Roman"/>
                    <a:cs typeface="Times New Roman"/>
                  </a:rPr>
                  <a:t>x</a:t>
                </a:r>
                <a:r>
                  <a:rPr lang="fr-FR" sz="3200" spc="-37" baseline="-20576" dirty="0">
                    <a:latin typeface="Times New Roman"/>
                    <a:cs typeface="Times New Roman"/>
                  </a:rPr>
                  <a:t>i </a:t>
                </a:r>
                <a:r>
                  <a:rPr lang="fr-FR" dirty="0">
                    <a:latin typeface="Times New Roman"/>
                    <a:cs typeface="Times New Roman"/>
                  </a:rPr>
                  <a:t>est</a:t>
                </a:r>
                <a:r>
                  <a:rPr lang="fr-FR" spc="-50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le</a:t>
                </a:r>
                <a:r>
                  <a:rPr lang="fr-FR" spc="-45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nombre</a:t>
                </a:r>
                <a:r>
                  <a:rPr lang="fr-FR" spc="-20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d’individus</a:t>
                </a:r>
                <a:r>
                  <a:rPr lang="fr-FR" spc="-30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possédant</a:t>
                </a:r>
                <a:r>
                  <a:rPr lang="fr-FR" spc="-50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ce</a:t>
                </a:r>
                <a:r>
                  <a:rPr lang="fr-FR" spc="-40" dirty="0">
                    <a:latin typeface="Times New Roman"/>
                    <a:cs typeface="Times New Roman"/>
                  </a:rPr>
                  <a:t> </a:t>
                </a:r>
                <a:r>
                  <a:rPr lang="fr-FR" spc="-10" dirty="0">
                    <a:latin typeface="Times New Roman"/>
                    <a:cs typeface="Times New Roman"/>
                  </a:rPr>
                  <a:t>caractère </a:t>
                </a:r>
                <a:r>
                  <a:rPr lang="fr-FR" dirty="0">
                    <a:latin typeface="Times New Roman"/>
                    <a:cs typeface="Times New Roman"/>
                  </a:rPr>
                  <a:t>divisé</a:t>
                </a:r>
                <a:r>
                  <a:rPr lang="fr-FR" spc="-40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par</a:t>
                </a:r>
                <a:r>
                  <a:rPr lang="fr-FR" spc="-45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l’effectif</a:t>
                </a:r>
                <a:r>
                  <a:rPr lang="fr-FR" spc="25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total</a:t>
                </a:r>
                <a:r>
                  <a:rPr lang="fr-FR" spc="-50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de</a:t>
                </a:r>
                <a:r>
                  <a:rPr lang="fr-FR" spc="155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la</a:t>
                </a:r>
                <a:r>
                  <a:rPr lang="fr-FR" spc="65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population.</a:t>
                </a:r>
                <a:r>
                  <a:rPr lang="fr-FR" spc="-50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On</a:t>
                </a:r>
                <a:r>
                  <a:rPr lang="fr-FR" spc="-15" dirty="0">
                    <a:latin typeface="Times New Roman"/>
                    <a:cs typeface="Times New Roman"/>
                  </a:rPr>
                  <a:t> </a:t>
                </a:r>
                <a:r>
                  <a:rPr lang="fr-FR" spc="-10" dirty="0">
                    <a:latin typeface="Times New Roman"/>
                    <a:cs typeface="Times New Roman"/>
                  </a:rPr>
                  <a:t>écrit: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  <a:tabLst>
                    <a:tab pos="3482975" algn="l"/>
                  </a:tabLst>
                </a:pPr>
                <a:r>
                  <a:rPr lang="fr-FR" dirty="0">
                    <a:cs typeface="Times New Roman"/>
                  </a:rPr>
                  <a:t>                                          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  <a:tabLst>
                    <a:tab pos="3482975" algn="l"/>
                  </a:tabLst>
                </a:pPr>
                <a:r>
                  <a:rPr lang="fr-FR" dirty="0">
                    <a:cs typeface="Times New Roman"/>
                  </a:rPr>
                  <a:t> 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𝑓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dirty="0">
                    <a:latin typeface="Times New Roman"/>
                    <a:cs typeface="Times New Roman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dirty="0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 dirty="0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fr-FR" b="0" i="1" dirty="0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fr-FR" b="0" i="1" dirty="0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fr-FR" b="0" i="1" dirty="0" smtClean="0">
                            <a:latin typeface="Cambria Math" panose="02040503050406030204" pitchFamily="18" charset="0"/>
                            <a:cs typeface="Times New Roman"/>
                          </a:rPr>
                          <m:t>𝑁</m:t>
                        </m:r>
                      </m:den>
                    </m:f>
                  </m:oMath>
                </a14:m>
                <a:endParaRPr lang="fr-FR" dirty="0">
                  <a:latin typeface="Times New Roman"/>
                  <a:cs typeface="Times New Roman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1295"/>
                  </a:spcBef>
                  <a:buNone/>
                </a:pPr>
                <a:r>
                  <a:rPr lang="fr-FR" b="1" spc="-45" dirty="0">
                    <a:latin typeface="Times New Roman"/>
                    <a:cs typeface="Times New Roman"/>
                  </a:rPr>
                  <a:t>Le</a:t>
                </a:r>
                <a:r>
                  <a:rPr lang="fr-FR" b="1" spc="-85" dirty="0">
                    <a:latin typeface="Times New Roman"/>
                    <a:cs typeface="Times New Roman"/>
                  </a:rPr>
                  <a:t> </a:t>
                </a:r>
                <a:r>
                  <a:rPr lang="fr-FR" b="1" spc="-65" dirty="0">
                    <a:latin typeface="Times New Roman"/>
                    <a:cs typeface="Times New Roman"/>
                  </a:rPr>
                  <a:t>Pourcentage</a:t>
                </a:r>
                <a:r>
                  <a:rPr lang="fr-FR" b="1" spc="-165" dirty="0">
                    <a:latin typeface="Times New Roman"/>
                    <a:cs typeface="Times New Roman"/>
                  </a:rPr>
                  <a:t> </a:t>
                </a:r>
                <a:r>
                  <a:rPr lang="fr-FR" b="1" spc="-35" dirty="0">
                    <a:latin typeface="Times New Roman"/>
                    <a:cs typeface="Times New Roman"/>
                  </a:rPr>
                  <a:t>ou</a:t>
                </a:r>
                <a:r>
                  <a:rPr lang="fr-FR" b="1" spc="-95" dirty="0">
                    <a:latin typeface="Times New Roman"/>
                    <a:cs typeface="Times New Roman"/>
                  </a:rPr>
                  <a:t> </a:t>
                </a:r>
                <a:r>
                  <a:rPr lang="fr-FR" b="1" spc="-60" dirty="0">
                    <a:latin typeface="Times New Roman"/>
                    <a:cs typeface="Times New Roman"/>
                  </a:rPr>
                  <a:t>fréquence</a:t>
                </a:r>
                <a:r>
                  <a:rPr lang="fr-FR" b="1" spc="-140" dirty="0">
                    <a:latin typeface="Times New Roman"/>
                    <a:cs typeface="Times New Roman"/>
                  </a:rPr>
                  <a:t> </a:t>
                </a:r>
                <a:r>
                  <a:rPr lang="fr-FR" b="1" spc="-40" dirty="0">
                    <a:latin typeface="Times New Roman"/>
                    <a:cs typeface="Times New Roman"/>
                  </a:rPr>
                  <a:t>en</a:t>
                </a:r>
                <a:r>
                  <a:rPr lang="fr-FR" b="1" spc="-90" dirty="0">
                    <a:latin typeface="Times New Roman"/>
                    <a:cs typeface="Times New Roman"/>
                  </a:rPr>
                  <a:t> </a:t>
                </a:r>
                <a:r>
                  <a:rPr lang="fr-FR" b="1" spc="-65" dirty="0">
                    <a:latin typeface="Times New Roman"/>
                    <a:cs typeface="Times New Roman"/>
                  </a:rPr>
                  <a:t>pourcentage</a:t>
                </a:r>
                <a:r>
                  <a:rPr lang="fr-FR" b="1" spc="-165" dirty="0">
                    <a:latin typeface="Times New Roman"/>
                    <a:cs typeface="Times New Roman"/>
                  </a:rPr>
                  <a:t> </a:t>
                </a:r>
                <a:r>
                  <a:rPr lang="fr-FR" b="1" spc="-50" dirty="0">
                    <a:latin typeface="Times New Roman"/>
                    <a:cs typeface="Times New Roman"/>
                  </a:rPr>
                  <a:t>d’un</a:t>
                </a:r>
                <a:r>
                  <a:rPr lang="fr-FR" b="1" spc="-95" dirty="0">
                    <a:latin typeface="Times New Roman"/>
                    <a:cs typeface="Times New Roman"/>
                  </a:rPr>
                  <a:t> </a:t>
                </a:r>
                <a:r>
                  <a:rPr lang="fr-FR" b="1" spc="-10" dirty="0">
                    <a:latin typeface="Times New Roman"/>
                    <a:cs typeface="Times New Roman"/>
                  </a:rPr>
                  <a:t>caractère</a:t>
                </a:r>
                <a:endParaRPr lang="fr-FR" dirty="0">
                  <a:latin typeface="Times New Roman"/>
                  <a:cs typeface="Times New Roman"/>
                </a:endParaRPr>
              </a:p>
              <a:p>
                <a:pPr marL="344805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fr-FR" spc="60" dirty="0">
                    <a:latin typeface="Times New Roman"/>
                    <a:cs typeface="Times New Roman"/>
                  </a:rPr>
                  <a:t>Il</a:t>
                </a:r>
                <a:r>
                  <a:rPr lang="fr-FR" spc="270" dirty="0">
                    <a:latin typeface="Times New Roman"/>
                    <a:cs typeface="Times New Roman"/>
                  </a:rPr>
                  <a:t> </a:t>
                </a:r>
                <a:r>
                  <a:rPr lang="fr-FR" spc="95" dirty="0">
                    <a:latin typeface="Times New Roman"/>
                    <a:cs typeface="Times New Roman"/>
                  </a:rPr>
                  <a:t>s’exprime</a:t>
                </a:r>
                <a:r>
                  <a:rPr lang="fr-FR" spc="375" dirty="0">
                    <a:latin typeface="Times New Roman"/>
                    <a:cs typeface="Times New Roman"/>
                  </a:rPr>
                  <a:t> </a:t>
                </a:r>
                <a:r>
                  <a:rPr lang="fr-FR" spc="75" dirty="0">
                    <a:latin typeface="Times New Roman"/>
                    <a:cs typeface="Times New Roman"/>
                  </a:rPr>
                  <a:t>comme</a:t>
                </a:r>
                <a:r>
                  <a:rPr lang="fr-FR" spc="375" dirty="0">
                    <a:latin typeface="Times New Roman"/>
                    <a:cs typeface="Times New Roman"/>
                  </a:rPr>
                  <a:t> </a:t>
                </a:r>
                <a:r>
                  <a:rPr lang="fr-FR" spc="65" dirty="0">
                    <a:latin typeface="Times New Roman"/>
                    <a:cs typeface="Times New Roman"/>
                  </a:rPr>
                  <a:t>suit: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𝑖</m:t>
                        </m:r>
                      </m:sub>
                    </m:sSub>
                    <m:r>
                      <a:rPr lang="fr-FR" b="0" i="0" smtClean="0"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</m:oMath>
                </a14:m>
                <a:r>
                  <a:rPr lang="fr-FR" dirty="0"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𝑓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𝑖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×</m:t>
                    </m:r>
                    <m:r>
                      <a:rPr lang="fr-FR" b="0" i="1" smtClean="0">
                        <a:latin typeface="Cambria Math" panose="02040503050406030204" pitchFamily="18" charset="0"/>
                        <a:cs typeface="Times New Roman"/>
                      </a:rPr>
                      <m:t>100</m:t>
                    </m:r>
                  </m:oMath>
                </a14:m>
                <a:endParaRPr lang="fr-FR" dirty="0">
                  <a:latin typeface="Times New Roman"/>
                  <a:cs typeface="Times New Roman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  <a:tabLst>
                    <a:tab pos="3482975" algn="l"/>
                  </a:tabLst>
                </a:pPr>
                <a:endParaRPr lang="fr-FR" dirty="0">
                  <a:latin typeface="Times New Roman"/>
                  <a:cs typeface="Times New Roman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D81D493-C9A9-76B8-083C-1B64BB688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5" t="-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868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ACB359A-EE38-9615-8010-DBADFF1574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1305"/>
                  </a:spcBef>
                  <a:buNone/>
                  <a:tabLst>
                    <a:tab pos="3818254" algn="l"/>
                  </a:tabLst>
                </a:pPr>
                <a:r>
                  <a:rPr lang="fr-FR" b="1" spc="-10" dirty="0">
                    <a:latin typeface="Times New Roman"/>
                    <a:cs typeface="Times New Roman"/>
                  </a:rPr>
                  <a:t>Fréquence</a:t>
                </a:r>
                <a:r>
                  <a:rPr lang="fr-FR" b="1" spc="-75" dirty="0">
                    <a:latin typeface="Times New Roman"/>
                    <a:cs typeface="Times New Roman"/>
                  </a:rPr>
                  <a:t> </a:t>
                </a:r>
                <a:r>
                  <a:rPr lang="fr-FR" b="1" dirty="0">
                    <a:latin typeface="Times New Roman"/>
                    <a:cs typeface="Times New Roman"/>
                  </a:rPr>
                  <a:t>cumulée</a:t>
                </a:r>
                <a:r>
                  <a:rPr lang="fr-FR" b="1" spc="-30" dirty="0">
                    <a:latin typeface="Times New Roman"/>
                    <a:cs typeface="Times New Roman"/>
                  </a:rPr>
                  <a:t> </a:t>
                </a:r>
                <a:r>
                  <a:rPr lang="fr-FR" b="1" spc="-10" dirty="0">
                    <a:latin typeface="Times New Roman"/>
                    <a:cs typeface="Times New Roman"/>
                  </a:rPr>
                  <a:t>croissante</a:t>
                </a:r>
                <a:r>
                  <a:rPr lang="fr-FR" b="1" dirty="0">
                    <a:latin typeface="Times New Roman"/>
                    <a:cs typeface="Times New Roman"/>
                  </a:rPr>
                  <a:t>	</a:t>
                </a:r>
                <a:r>
                  <a:rPr lang="fr-FR" dirty="0">
                    <a:latin typeface="Times New Roman"/>
                    <a:cs typeface="Times New Roman"/>
                  </a:rPr>
                  <a:t>est</a:t>
                </a:r>
                <a:r>
                  <a:rPr lang="fr-FR" spc="-45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la</a:t>
                </a:r>
                <a:r>
                  <a:rPr lang="fr-FR" spc="-30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proportion</a:t>
                </a:r>
                <a:r>
                  <a:rPr lang="fr-FR" spc="-90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d’individus</a:t>
                </a:r>
                <a:r>
                  <a:rPr lang="fr-FR" spc="-20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ayant</a:t>
                </a:r>
                <a:r>
                  <a:rPr lang="fr-FR" spc="10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des</a:t>
                </a:r>
                <a:r>
                  <a:rPr lang="fr-FR" spc="-40" dirty="0">
                    <a:latin typeface="Times New Roman"/>
                    <a:cs typeface="Times New Roman"/>
                  </a:rPr>
                  <a:t> </a:t>
                </a:r>
                <a:r>
                  <a:rPr lang="fr-FR" spc="-10" dirty="0">
                    <a:latin typeface="Times New Roman"/>
                    <a:cs typeface="Times New Roman"/>
                  </a:rPr>
                  <a:t>modalités </a:t>
                </a:r>
                <a:r>
                  <a:rPr lang="fr-FR" dirty="0">
                    <a:latin typeface="Times New Roman"/>
                    <a:cs typeface="Times New Roman"/>
                  </a:rPr>
                  <a:t>du</a:t>
                </a:r>
                <a:r>
                  <a:rPr lang="fr-FR" spc="-35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caractère</a:t>
                </a:r>
                <a:r>
                  <a:rPr lang="fr-FR" spc="-45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étudié</a:t>
                </a:r>
                <a:r>
                  <a:rPr lang="fr-FR" spc="-20" dirty="0">
                    <a:latin typeface="Times New Roman"/>
                    <a:cs typeface="Times New Roman"/>
                  </a:rPr>
                  <a:t> </a:t>
                </a:r>
                <a:r>
                  <a:rPr lang="fr-FR" spc="-10" dirty="0">
                    <a:latin typeface="Times New Roman"/>
                    <a:cs typeface="Times New Roman"/>
                  </a:rPr>
                  <a:t>inférieures </a:t>
                </a:r>
                <a:r>
                  <a:rPr lang="fr-FR" dirty="0">
                    <a:latin typeface="Times New Roman"/>
                    <a:cs typeface="Times New Roman"/>
                  </a:rPr>
                  <a:t>ou</a:t>
                </a:r>
                <a:r>
                  <a:rPr lang="fr-FR" spc="-30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égales</a:t>
                </a:r>
                <a:r>
                  <a:rPr lang="fr-FR" spc="-5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à</a:t>
                </a:r>
                <a:r>
                  <a:rPr lang="fr-FR" spc="380" dirty="0">
                    <a:latin typeface="Times New Roman"/>
                    <a:cs typeface="Times New Roman"/>
                  </a:rPr>
                  <a:t> </a:t>
                </a:r>
                <a:r>
                  <a:rPr lang="fr-FR" sz="3600" spc="-37" baseline="6172" dirty="0">
                    <a:latin typeface="Cambria Math"/>
                    <a:cs typeface="Cambria Math"/>
                  </a:rPr>
                  <a:t>𝑥</a:t>
                </a:r>
                <a:r>
                  <a:rPr lang="fr-FR" spc="-37" baseline="-8547" dirty="0">
                    <a:latin typeface="Cambria Math"/>
                    <a:cs typeface="Cambria Math"/>
                  </a:rPr>
                  <a:t>𝑖</a:t>
                </a:r>
                <a:r>
                  <a:rPr lang="fr-FR" baseline="-8547" dirty="0">
                    <a:latin typeface="Cambria Math"/>
                    <a:cs typeface="Cambria Math"/>
                  </a:rPr>
                  <a:t>	</a:t>
                </a:r>
                <a:r>
                  <a:rPr lang="fr-FR" dirty="0">
                    <a:latin typeface="Times New Roman"/>
                    <a:cs typeface="Times New Roman"/>
                  </a:rPr>
                  <a:t>.</a:t>
                </a:r>
                <a:r>
                  <a:rPr lang="fr-FR" spc="-10" dirty="0">
                    <a:latin typeface="Times New Roman"/>
                    <a:cs typeface="Times New Roman"/>
                  </a:rPr>
                  <a:t> </a:t>
                </a:r>
                <a:r>
                  <a:rPr lang="fr-FR" dirty="0">
                    <a:latin typeface="Times New Roman"/>
                    <a:cs typeface="Times New Roman"/>
                  </a:rPr>
                  <a:t>On a</a:t>
                </a:r>
                <a:r>
                  <a:rPr lang="fr-FR" spc="-5" dirty="0">
                    <a:latin typeface="Times New Roman"/>
                    <a:cs typeface="Times New Roman"/>
                  </a:rPr>
                  <a:t> </a:t>
                </a:r>
                <a:r>
                  <a:rPr lang="fr-FR" spc="-50" dirty="0">
                    <a:latin typeface="Times New Roman"/>
                    <a:cs typeface="Times New Roman"/>
                  </a:rPr>
                  <a:t>: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425"/>
                  </a:spcBef>
                  <a:buNone/>
                </a:pPr>
                <a:r>
                  <a:rPr lang="en-US" i="1" dirty="0">
                    <a:latin typeface="Times New Roman"/>
                    <a:cs typeface="Times New Roman"/>
                  </a:rPr>
                  <a:t>F</a:t>
                </a:r>
                <a:r>
                  <a:rPr lang="en-US" sz="2400" i="1" baseline="-25000" dirty="0">
                    <a:latin typeface="Times New Roman"/>
                    <a:cs typeface="Times New Roman"/>
                  </a:rPr>
                  <a:t>i</a:t>
                </a:r>
                <a:r>
                  <a:rPr lang="en-US" sz="2400" i="1" spc="569" baseline="-25000" dirty="0">
                    <a:latin typeface="Times New Roman"/>
                    <a:cs typeface="Times New Roman"/>
                  </a:rPr>
                  <a:t> </a:t>
                </a:r>
                <a:r>
                  <a:rPr lang="en-US" dirty="0">
                    <a:latin typeface="Symbol"/>
                    <a:cs typeface="Symbol"/>
                  </a:rPr>
                  <a:t></a:t>
                </a:r>
                <a:r>
                  <a:rPr lang="en-US" spc="305" dirty="0">
                    <a:latin typeface="Times New Roman"/>
                    <a:cs typeface="Times New Roman"/>
                  </a:rPr>
                  <a:t> </a:t>
                </a:r>
                <a:r>
                  <a:rPr lang="en-US" i="1" dirty="0">
                    <a:latin typeface="Times New Roman"/>
                    <a:cs typeface="Times New Roman"/>
                  </a:rPr>
                  <a:t>f</a:t>
                </a:r>
                <a:r>
                  <a:rPr lang="en-US" sz="2400" baseline="-25000" dirty="0">
                    <a:latin typeface="Times New Roman"/>
                    <a:cs typeface="Times New Roman"/>
                  </a:rPr>
                  <a:t>1</a:t>
                </a:r>
                <a:r>
                  <a:rPr lang="en-US" sz="2400" spc="225" baseline="-25000" dirty="0">
                    <a:latin typeface="Times New Roman"/>
                    <a:cs typeface="Times New Roman"/>
                  </a:rPr>
                  <a:t> </a:t>
                </a:r>
                <a:r>
                  <a:rPr lang="en-US" dirty="0">
                    <a:latin typeface="Symbol"/>
                    <a:cs typeface="Symbol"/>
                  </a:rPr>
                  <a:t></a:t>
                </a:r>
                <a:r>
                  <a:rPr lang="en-US" spc="225" dirty="0">
                    <a:latin typeface="Times New Roman"/>
                    <a:cs typeface="Times New Roman"/>
                  </a:rPr>
                  <a:t> </a:t>
                </a:r>
                <a:r>
                  <a:rPr lang="en-US" i="1" dirty="0">
                    <a:latin typeface="Times New Roman"/>
                    <a:cs typeface="Times New Roman"/>
                  </a:rPr>
                  <a:t>f</a:t>
                </a:r>
                <a:r>
                  <a:rPr lang="en-US" sz="2400" baseline="-25000" dirty="0">
                    <a:latin typeface="Times New Roman"/>
                    <a:cs typeface="Times New Roman"/>
                  </a:rPr>
                  <a:t>2</a:t>
                </a:r>
                <a:r>
                  <a:rPr lang="en-US" sz="2400" spc="345" baseline="-25000" dirty="0">
                    <a:latin typeface="Times New Roman"/>
                    <a:cs typeface="Times New Roman"/>
                  </a:rPr>
                  <a:t> </a:t>
                </a:r>
                <a:r>
                  <a:rPr lang="en-US" dirty="0">
                    <a:latin typeface="Symbol"/>
                    <a:cs typeface="Symbol"/>
                  </a:rPr>
                  <a:t></a:t>
                </a:r>
                <a:r>
                  <a:rPr lang="en-US" spc="-220" dirty="0">
                    <a:latin typeface="Times New Roman"/>
                    <a:cs typeface="Times New Roman"/>
                  </a:rPr>
                  <a:t> </a:t>
                </a:r>
                <a:r>
                  <a:rPr lang="en-US" dirty="0">
                    <a:latin typeface="Times New Roman"/>
                    <a:cs typeface="Times New Roman"/>
                  </a:rPr>
                  <a:t>...</a:t>
                </a:r>
                <a:r>
                  <a:rPr lang="en-US" spc="-254" dirty="0">
                    <a:latin typeface="Times New Roman"/>
                    <a:cs typeface="Times New Roman"/>
                  </a:rPr>
                  <a:t> </a:t>
                </a:r>
                <a:r>
                  <a:rPr lang="en-US" dirty="0">
                    <a:latin typeface="Symbol"/>
                    <a:cs typeface="Symbol"/>
                  </a:rPr>
                  <a:t></a:t>
                </a:r>
                <a:r>
                  <a:rPr lang="en-US" spc="225" dirty="0">
                    <a:latin typeface="Times New Roman"/>
                    <a:cs typeface="Times New Roman"/>
                  </a:rPr>
                  <a:t> </a:t>
                </a:r>
                <a:r>
                  <a:rPr lang="en-US" i="1" dirty="0">
                    <a:latin typeface="Times New Roman"/>
                    <a:cs typeface="Times New Roman"/>
                  </a:rPr>
                  <a:t>f</a:t>
                </a:r>
                <a:r>
                  <a:rPr lang="en-US" sz="2400" i="1" baseline="-25000" dirty="0">
                    <a:latin typeface="Times New Roman"/>
                    <a:cs typeface="Times New Roman"/>
                  </a:rPr>
                  <a:t>i</a:t>
                </a:r>
                <a:r>
                  <a:rPr lang="en-US" sz="2400" i="1" spc="569" baseline="-25000" dirty="0">
                    <a:latin typeface="Times New Roman"/>
                    <a:cs typeface="Times New Roman"/>
                  </a:rPr>
                  <a:t> </a:t>
                </a:r>
                <a:r>
                  <a:rPr lang="en-US" dirty="0">
                    <a:latin typeface="Symbol"/>
                    <a:cs typeface="Symbol"/>
                  </a:rPr>
                  <a:t></a:t>
                </a:r>
                <a:r>
                  <a:rPr lang="en-US" spc="-40" dirty="0"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pc="-40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spc="-40" smtClean="0">
                            <a:latin typeface="Cambria Math" panose="02040503050406030204" pitchFamily="18" charset="0"/>
                            <a:cs typeface="Times New Roman"/>
                          </a:rPr>
                          <m:t>𝑘</m:t>
                        </m:r>
                        <m:r>
                          <a:rPr lang="fr-FR" b="0" i="1" spc="-40" smtClean="0">
                            <a:latin typeface="Cambria Math" panose="02040503050406030204" pitchFamily="18" charset="0"/>
                            <a:cs typeface="Times New Roman"/>
                          </a:rPr>
                          <m:t>=1</m:t>
                        </m:r>
                      </m:sub>
                      <m:sup>
                        <m:r>
                          <a:rPr lang="fr-FR" b="0" i="1" spc="-40" smtClean="0">
                            <a:latin typeface="Cambria Math" panose="02040503050406030204" pitchFamily="18" charset="0"/>
                            <a:cs typeface="Times New Roman"/>
                          </a:rPr>
                          <m:t>𝑖</m:t>
                        </m:r>
                      </m:sup>
                      <m:e>
                        <m:r>
                          <m:rPr>
                            <m:nor/>
                          </m:rPr>
                          <a:rPr lang="en-US" i="1" spc="-25" dirty="0" smtClean="0">
                            <a:latin typeface="Times New Roman"/>
                            <a:cs typeface="Times New Roman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sz="2400" i="1" spc="-37" baseline="-25000" dirty="0" smtClean="0">
                            <a:latin typeface="Times New Roman"/>
                            <a:cs typeface="Times New Roman"/>
                          </a:rPr>
                          <m:t>k</m:t>
                        </m:r>
                      </m:e>
                    </m:nary>
                  </m:oMath>
                </a14:m>
                <a:endParaRPr lang="en-US" sz="2400" baseline="-25000" dirty="0">
                  <a:latin typeface="Times New Roman"/>
                  <a:cs typeface="Times New Roman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425"/>
                  </a:spcBef>
                  <a:buNone/>
                </a:pPr>
                <a:endParaRPr lang="en-US" sz="2400" baseline="-25000" dirty="0">
                  <a:latin typeface="Times New Roman"/>
                  <a:cs typeface="Times New Roman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3170"/>
                  </a:spcBef>
                  <a:buNone/>
                  <a:tabLst>
                    <a:tab pos="4086860" algn="l"/>
                  </a:tabLst>
                </a:pPr>
                <a:r>
                  <a:rPr lang="fr-FR" sz="2400" b="1" spc="-10" dirty="0">
                    <a:latin typeface="Times New Roman"/>
                    <a:cs typeface="Times New Roman"/>
                  </a:rPr>
                  <a:t>Fréquence</a:t>
                </a:r>
                <a:r>
                  <a:rPr lang="fr-FR" sz="2400" b="1" spc="-70" dirty="0">
                    <a:latin typeface="Times New Roman"/>
                    <a:cs typeface="Times New Roman"/>
                  </a:rPr>
                  <a:t> </a:t>
                </a:r>
                <a:r>
                  <a:rPr lang="fr-FR" sz="2400" b="1" dirty="0">
                    <a:latin typeface="Times New Roman"/>
                    <a:cs typeface="Times New Roman"/>
                  </a:rPr>
                  <a:t>cumulée</a:t>
                </a:r>
                <a:r>
                  <a:rPr lang="fr-FR" sz="2400" b="1" spc="-35" dirty="0">
                    <a:latin typeface="Times New Roman"/>
                    <a:cs typeface="Times New Roman"/>
                  </a:rPr>
                  <a:t> </a:t>
                </a:r>
                <a:r>
                  <a:rPr lang="fr-FR" sz="2400" b="1" spc="-10" dirty="0">
                    <a:latin typeface="Times New Roman"/>
                    <a:cs typeface="Times New Roman"/>
                  </a:rPr>
                  <a:t>décroissante</a:t>
                </a:r>
                <a:r>
                  <a:rPr lang="fr-FR" sz="2400" b="1" dirty="0">
                    <a:latin typeface="Times New Roman"/>
                    <a:cs typeface="Times New Roman"/>
                  </a:rPr>
                  <a:t>	</a:t>
                </a:r>
                <a:r>
                  <a:rPr lang="fr-FR" sz="2400" dirty="0">
                    <a:latin typeface="Times New Roman"/>
                    <a:cs typeface="Times New Roman"/>
                  </a:rPr>
                  <a:t>est</a:t>
                </a:r>
                <a:r>
                  <a:rPr lang="fr-FR" sz="2400" spc="-45" dirty="0">
                    <a:latin typeface="Times New Roman"/>
                    <a:cs typeface="Times New Roman"/>
                  </a:rPr>
                  <a:t> </a:t>
                </a:r>
                <a:r>
                  <a:rPr lang="fr-FR" sz="2400" dirty="0">
                    <a:latin typeface="Times New Roman"/>
                    <a:cs typeface="Times New Roman"/>
                  </a:rPr>
                  <a:t>la</a:t>
                </a:r>
                <a:r>
                  <a:rPr lang="fr-FR" sz="2400" spc="-60" dirty="0">
                    <a:latin typeface="Times New Roman"/>
                    <a:cs typeface="Times New Roman"/>
                  </a:rPr>
                  <a:t> </a:t>
                </a:r>
                <a:r>
                  <a:rPr lang="fr-FR" sz="2400" dirty="0">
                    <a:latin typeface="Times New Roman"/>
                    <a:cs typeface="Times New Roman"/>
                  </a:rPr>
                  <a:t>proportion</a:t>
                </a:r>
                <a:r>
                  <a:rPr lang="fr-FR" sz="2400" spc="-90" dirty="0">
                    <a:latin typeface="Times New Roman"/>
                    <a:cs typeface="Times New Roman"/>
                  </a:rPr>
                  <a:t> </a:t>
                </a:r>
                <a:r>
                  <a:rPr lang="fr-FR" sz="2400" dirty="0">
                    <a:latin typeface="Times New Roman"/>
                    <a:cs typeface="Times New Roman"/>
                  </a:rPr>
                  <a:t>d’individus</a:t>
                </a:r>
                <a:r>
                  <a:rPr lang="fr-FR" sz="2400" spc="-5" dirty="0">
                    <a:latin typeface="Times New Roman"/>
                    <a:cs typeface="Times New Roman"/>
                  </a:rPr>
                  <a:t> </a:t>
                </a:r>
                <a:r>
                  <a:rPr lang="fr-FR" sz="2400" dirty="0">
                    <a:latin typeface="Times New Roman"/>
                    <a:cs typeface="Times New Roman"/>
                  </a:rPr>
                  <a:t>ayant</a:t>
                </a:r>
                <a:r>
                  <a:rPr lang="fr-FR" sz="2400" spc="5" dirty="0">
                    <a:latin typeface="Times New Roman"/>
                    <a:cs typeface="Times New Roman"/>
                  </a:rPr>
                  <a:t> </a:t>
                </a:r>
                <a:r>
                  <a:rPr lang="fr-FR" sz="2400" spc="-25" dirty="0">
                    <a:latin typeface="Times New Roman"/>
                    <a:cs typeface="Times New Roman"/>
                  </a:rPr>
                  <a:t>des</a:t>
                </a:r>
                <a:endParaRPr lang="fr-FR" sz="2400" dirty="0">
                  <a:latin typeface="Times New Roman"/>
                  <a:cs typeface="Times New Roman"/>
                </a:endParaRPr>
              </a:p>
              <a:p>
                <a:pPr marL="203200" indent="0">
                  <a:lnSpc>
                    <a:spcPct val="100000"/>
                  </a:lnSpc>
                  <a:spcBef>
                    <a:spcPts val="1200"/>
                  </a:spcBef>
                  <a:buNone/>
                  <a:tabLst>
                    <a:tab pos="1542415" algn="l"/>
                  </a:tabLst>
                </a:pPr>
                <a:r>
                  <a:rPr lang="fr-FR" sz="2400" spc="-10" dirty="0">
                    <a:latin typeface="Times New Roman"/>
                    <a:cs typeface="Times New Roman"/>
                  </a:rPr>
                  <a:t>modalités</a:t>
                </a:r>
                <a:r>
                  <a:rPr lang="fr-FR" sz="2400" dirty="0">
                    <a:latin typeface="Times New Roman"/>
                    <a:cs typeface="Times New Roman"/>
                  </a:rPr>
                  <a:t>	du</a:t>
                </a:r>
                <a:r>
                  <a:rPr lang="fr-FR" sz="2400" spc="-45" dirty="0">
                    <a:latin typeface="Times New Roman"/>
                    <a:cs typeface="Times New Roman"/>
                  </a:rPr>
                  <a:t> </a:t>
                </a:r>
                <a:r>
                  <a:rPr lang="fr-FR" sz="2400" dirty="0">
                    <a:latin typeface="Times New Roman"/>
                    <a:cs typeface="Times New Roman"/>
                  </a:rPr>
                  <a:t>caractère</a:t>
                </a:r>
                <a:r>
                  <a:rPr lang="fr-FR" sz="2400" spc="-45" dirty="0">
                    <a:latin typeface="Times New Roman"/>
                    <a:cs typeface="Times New Roman"/>
                  </a:rPr>
                  <a:t> </a:t>
                </a:r>
                <a:r>
                  <a:rPr lang="fr-FR" sz="2400" dirty="0">
                    <a:latin typeface="Times New Roman"/>
                    <a:cs typeface="Times New Roman"/>
                  </a:rPr>
                  <a:t>étudié</a:t>
                </a:r>
                <a:r>
                  <a:rPr lang="fr-FR" sz="2400" spc="-25" dirty="0">
                    <a:latin typeface="Times New Roman"/>
                    <a:cs typeface="Times New Roman"/>
                  </a:rPr>
                  <a:t> </a:t>
                </a:r>
                <a:r>
                  <a:rPr lang="fr-FR" sz="2400" dirty="0">
                    <a:latin typeface="Times New Roman"/>
                    <a:cs typeface="Times New Roman"/>
                  </a:rPr>
                  <a:t>supérieures</a:t>
                </a:r>
                <a:r>
                  <a:rPr lang="fr-FR" sz="2400" spc="-30" dirty="0">
                    <a:latin typeface="Times New Roman"/>
                    <a:cs typeface="Times New Roman"/>
                  </a:rPr>
                  <a:t> </a:t>
                </a:r>
                <a:r>
                  <a:rPr lang="fr-FR" sz="2400" dirty="0">
                    <a:latin typeface="Times New Roman"/>
                    <a:cs typeface="Times New Roman"/>
                  </a:rPr>
                  <a:t>ou</a:t>
                </a:r>
                <a:r>
                  <a:rPr lang="fr-FR" sz="2400" spc="-40" dirty="0">
                    <a:latin typeface="Times New Roman"/>
                    <a:cs typeface="Times New Roman"/>
                  </a:rPr>
                  <a:t> </a:t>
                </a:r>
                <a:r>
                  <a:rPr lang="fr-FR" sz="2400" dirty="0">
                    <a:latin typeface="Times New Roman"/>
                    <a:cs typeface="Times New Roman"/>
                  </a:rPr>
                  <a:t>égales</a:t>
                </a:r>
                <a:r>
                  <a:rPr lang="fr-FR" sz="2400" spc="-5" dirty="0">
                    <a:latin typeface="Times New Roman"/>
                    <a:cs typeface="Times New Roman"/>
                  </a:rPr>
                  <a:t> </a:t>
                </a:r>
                <a:r>
                  <a:rPr lang="fr-FR" sz="2400" dirty="0">
                    <a:latin typeface="Times New Roman"/>
                    <a:cs typeface="Times New Roman"/>
                  </a:rPr>
                  <a:t>à</a:t>
                </a:r>
                <a:r>
                  <a:rPr lang="fr-FR" sz="2400" spc="215" dirty="0">
                    <a:latin typeface="Times New Roman"/>
                    <a:cs typeface="Times New Roman"/>
                  </a:rPr>
                  <a:t> </a:t>
                </a:r>
                <a:r>
                  <a:rPr lang="fr-FR" sz="3200" baseline="3086" dirty="0">
                    <a:latin typeface="Cambria Math"/>
                    <a:cs typeface="Cambria Math"/>
                  </a:rPr>
                  <a:t>𝑥</a:t>
                </a:r>
                <a:r>
                  <a:rPr lang="fr-FR" sz="2400" baseline="-10683" dirty="0">
                    <a:latin typeface="Cambria Math"/>
                    <a:cs typeface="Cambria Math"/>
                  </a:rPr>
                  <a:t>𝑖</a:t>
                </a:r>
                <a:r>
                  <a:rPr lang="fr-FR" sz="2400" spc="217" baseline="-10683" dirty="0">
                    <a:latin typeface="Cambria Math"/>
                    <a:cs typeface="Cambria Math"/>
                  </a:rPr>
                  <a:t>  </a:t>
                </a:r>
                <a:r>
                  <a:rPr lang="fr-FR" sz="2400" dirty="0">
                    <a:latin typeface="Times New Roman"/>
                    <a:cs typeface="Times New Roman"/>
                  </a:rPr>
                  <a:t>.</a:t>
                </a:r>
                <a:r>
                  <a:rPr lang="fr-FR" sz="2400" spc="-35" dirty="0">
                    <a:latin typeface="Times New Roman"/>
                    <a:cs typeface="Times New Roman"/>
                  </a:rPr>
                  <a:t> </a:t>
                </a:r>
                <a:r>
                  <a:rPr lang="fr-FR" sz="2400" dirty="0">
                    <a:latin typeface="Times New Roman"/>
                    <a:cs typeface="Times New Roman"/>
                  </a:rPr>
                  <a:t>On</a:t>
                </a:r>
                <a:r>
                  <a:rPr lang="fr-FR" sz="2400" spc="-15" dirty="0">
                    <a:latin typeface="Times New Roman"/>
                    <a:cs typeface="Times New Roman"/>
                  </a:rPr>
                  <a:t> </a:t>
                </a:r>
                <a:r>
                  <a:rPr lang="fr-FR" sz="2400" dirty="0">
                    <a:latin typeface="Times New Roman"/>
                    <a:cs typeface="Times New Roman"/>
                  </a:rPr>
                  <a:t>a</a:t>
                </a:r>
                <a:r>
                  <a:rPr lang="fr-FR" sz="2400" spc="-20" dirty="0">
                    <a:latin typeface="Times New Roman"/>
                    <a:cs typeface="Times New Roman"/>
                  </a:rPr>
                  <a:t> </a:t>
                </a:r>
                <a:r>
                  <a:rPr lang="fr-FR" sz="2400" spc="-50" dirty="0">
                    <a:latin typeface="Times New Roman"/>
                    <a:cs typeface="Times New Roman"/>
                  </a:rPr>
                  <a:t>:</a:t>
                </a:r>
                <a:endParaRPr lang="fr-FR" sz="2400" dirty="0">
                  <a:latin typeface="Times New Roman"/>
                  <a:cs typeface="Times New Roman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425"/>
                  </a:spcBef>
                  <a:buNone/>
                </a:pPr>
                <a:endParaRPr lang="en-US" sz="2400" baseline="-25000" dirty="0">
                  <a:latin typeface="Times New Roman"/>
                  <a:cs typeface="Times New Roman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425"/>
                  </a:spcBef>
                  <a:buNone/>
                </a:pPr>
                <a:endParaRPr lang="en-US" sz="2400" baseline="-25000" dirty="0">
                  <a:latin typeface="Times New Roman"/>
                  <a:cs typeface="Times New Roman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425"/>
                  </a:spcBef>
                  <a:buNone/>
                </a:pPr>
                <a:r>
                  <a:rPr lang="en-US" sz="2400" i="1" dirty="0" err="1">
                    <a:latin typeface="Times New Roman"/>
                    <a:cs typeface="Times New Roman"/>
                  </a:rPr>
                  <a:t>Fd</a:t>
                </a:r>
                <a:r>
                  <a:rPr lang="en-US" sz="2000" i="1" baseline="-25000" dirty="0" err="1">
                    <a:latin typeface="Times New Roman"/>
                    <a:cs typeface="Times New Roman"/>
                  </a:rPr>
                  <a:t>i</a:t>
                </a:r>
                <a:r>
                  <a:rPr lang="en-US" sz="2000" i="1" spc="569" baseline="-25000" dirty="0">
                    <a:latin typeface="Times New Roman"/>
                    <a:cs typeface="Times New Roman"/>
                  </a:rPr>
                  <a:t> </a:t>
                </a:r>
                <a:r>
                  <a:rPr lang="en-US" sz="2400" dirty="0">
                    <a:latin typeface="Symbol"/>
                    <a:cs typeface="Symbol"/>
                  </a:rPr>
                  <a:t></a:t>
                </a:r>
                <a:r>
                  <a:rPr lang="en-US" sz="2400" spc="305" dirty="0">
                    <a:latin typeface="Times New Roman"/>
                    <a:cs typeface="Times New Roman"/>
                  </a:rPr>
                  <a:t> </a:t>
                </a:r>
                <a:r>
                  <a:rPr lang="en-US" sz="2400" i="1" dirty="0">
                    <a:latin typeface="Times New Roman"/>
                    <a:cs typeface="Times New Roman"/>
                  </a:rPr>
                  <a:t>f</a:t>
                </a:r>
                <a:r>
                  <a:rPr lang="en-US" sz="2000" baseline="-25000" dirty="0">
                    <a:latin typeface="Times New Roman"/>
                    <a:cs typeface="Times New Roman"/>
                  </a:rPr>
                  <a:t>i</a:t>
                </a:r>
                <a:r>
                  <a:rPr lang="en-US" sz="2000" spc="225" baseline="-25000" dirty="0">
                    <a:latin typeface="Times New Roman"/>
                    <a:cs typeface="Times New Roman"/>
                  </a:rPr>
                  <a:t> </a:t>
                </a:r>
                <a:r>
                  <a:rPr lang="en-US" sz="2400" dirty="0">
                    <a:latin typeface="Symbol"/>
                    <a:cs typeface="Symbol"/>
                  </a:rPr>
                  <a:t></a:t>
                </a:r>
                <a:r>
                  <a:rPr lang="en-US" sz="2400" spc="225" dirty="0">
                    <a:latin typeface="Times New Roman"/>
                    <a:cs typeface="Times New Roman"/>
                  </a:rPr>
                  <a:t> </a:t>
                </a:r>
                <a:r>
                  <a:rPr lang="en-US" sz="2400" i="1" dirty="0">
                    <a:latin typeface="Times New Roman"/>
                    <a:cs typeface="Times New Roman"/>
                  </a:rPr>
                  <a:t>f</a:t>
                </a:r>
                <a:r>
                  <a:rPr lang="en-US" sz="2000" baseline="-25000" dirty="0">
                    <a:latin typeface="Times New Roman"/>
                    <a:cs typeface="Times New Roman"/>
                  </a:rPr>
                  <a:t>i+1</a:t>
                </a:r>
                <a:r>
                  <a:rPr lang="en-US" sz="2000" spc="345" baseline="-25000" dirty="0">
                    <a:latin typeface="Times New Roman"/>
                    <a:cs typeface="Times New Roman"/>
                  </a:rPr>
                  <a:t> </a:t>
                </a:r>
                <a:r>
                  <a:rPr lang="en-US" sz="2400" dirty="0">
                    <a:latin typeface="Symbol"/>
                    <a:cs typeface="Symbol"/>
                  </a:rPr>
                  <a:t></a:t>
                </a:r>
                <a:r>
                  <a:rPr lang="en-US" sz="2400" spc="-220" dirty="0">
                    <a:latin typeface="Times New Roman"/>
                    <a:cs typeface="Times New Roman"/>
                  </a:rPr>
                  <a:t> </a:t>
                </a:r>
                <a:r>
                  <a:rPr lang="en-US" sz="2400" dirty="0">
                    <a:latin typeface="Times New Roman"/>
                    <a:cs typeface="Times New Roman"/>
                  </a:rPr>
                  <a:t>...</a:t>
                </a:r>
                <a:r>
                  <a:rPr lang="en-US" sz="2400" spc="-254" dirty="0">
                    <a:latin typeface="Times New Roman"/>
                    <a:cs typeface="Times New Roman"/>
                  </a:rPr>
                  <a:t> </a:t>
                </a:r>
                <a:r>
                  <a:rPr lang="en-US" sz="2400" dirty="0">
                    <a:latin typeface="Symbol"/>
                    <a:cs typeface="Symbol"/>
                  </a:rPr>
                  <a:t></a:t>
                </a:r>
                <a:r>
                  <a:rPr lang="en-US" sz="2400" spc="225" dirty="0">
                    <a:latin typeface="Times New Roman"/>
                    <a:cs typeface="Times New Roman"/>
                  </a:rPr>
                  <a:t> </a:t>
                </a:r>
                <a:r>
                  <a:rPr lang="en-US" sz="2400" i="1" dirty="0" err="1">
                    <a:latin typeface="Times New Roman"/>
                    <a:cs typeface="Times New Roman"/>
                  </a:rPr>
                  <a:t>f</a:t>
                </a:r>
                <a:r>
                  <a:rPr lang="en-US" sz="2000" i="1" baseline="-25000" dirty="0" err="1">
                    <a:latin typeface="Times New Roman"/>
                    <a:cs typeface="Times New Roman"/>
                  </a:rPr>
                  <a:t>N</a:t>
                </a:r>
                <a:r>
                  <a:rPr lang="en-US" sz="2000" i="1" spc="569" baseline="-25000" dirty="0">
                    <a:latin typeface="Times New Roman"/>
                    <a:cs typeface="Times New Roman"/>
                  </a:rPr>
                  <a:t> </a:t>
                </a:r>
                <a:r>
                  <a:rPr lang="en-US" sz="2400" dirty="0">
                    <a:latin typeface="Symbol"/>
                    <a:cs typeface="Symbol"/>
                  </a:rPr>
                  <a:t></a:t>
                </a:r>
                <a:r>
                  <a:rPr lang="en-US" sz="2400" spc="-40" dirty="0"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pc="-40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400" b="0" i="1" spc="-40" smtClean="0">
                            <a:latin typeface="Cambria Math" panose="02040503050406030204" pitchFamily="18" charset="0"/>
                            <a:cs typeface="Times New Roman"/>
                          </a:rPr>
                          <m:t>𝑘</m:t>
                        </m:r>
                        <m:r>
                          <a:rPr lang="fr-FR" sz="2400" b="0" i="1" spc="-40" smtClean="0">
                            <a:latin typeface="Cambria Math" panose="02040503050406030204" pitchFamily="18" charset="0"/>
                            <a:cs typeface="Times New Roman"/>
                          </a:rPr>
                          <m:t>=</m:t>
                        </m:r>
                        <m:r>
                          <a:rPr lang="fr-FR" sz="2400" b="0" i="1" spc="-40" smtClean="0">
                            <a:latin typeface="Cambria Math" panose="02040503050406030204" pitchFamily="18" charset="0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fr-FR" sz="2400" b="0" i="1" spc="-40" smtClean="0">
                            <a:latin typeface="Cambria Math" panose="02040503050406030204" pitchFamily="18" charset="0"/>
                            <a:cs typeface="Times New Roman"/>
                          </a:rPr>
                          <m:t>𝑁</m:t>
                        </m:r>
                      </m:sup>
                      <m:e>
                        <m:r>
                          <m:rPr>
                            <m:nor/>
                          </m:rPr>
                          <a:rPr lang="en-US" sz="2400" i="1" spc="-25" dirty="0" smtClean="0">
                            <a:latin typeface="Times New Roman"/>
                            <a:cs typeface="Times New Roman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sz="2000" i="1" spc="-37" baseline="-25000" dirty="0" smtClean="0">
                            <a:latin typeface="Times New Roman"/>
                            <a:cs typeface="Times New Roman"/>
                          </a:rPr>
                          <m:t>k</m:t>
                        </m:r>
                      </m:e>
                    </m:nary>
                  </m:oMath>
                </a14:m>
                <a:endParaRPr lang="en-US" sz="2400" baseline="-25000" dirty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ACB359A-EE38-9615-8010-DBADFF1574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5" t="-1767" b="-18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15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96D332-F349-3007-E275-1A5846B89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lang="fr-FR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fr-FR" b="1" dirty="0">
                <a:solidFill>
                  <a:srgbClr val="FF0000"/>
                </a:solidFill>
                <a:latin typeface="Times New Roman"/>
                <a:cs typeface="Times New Roman"/>
              </a:rPr>
              <a:t>moyenne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6E8BAC-808B-0636-AF04-2EA3551CC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lvl="1" indent="0">
              <a:lnSpc>
                <a:spcPct val="100000"/>
              </a:lnSpc>
              <a:buNone/>
              <a:tabLst>
                <a:tab pos="393065" algn="l"/>
              </a:tabLst>
            </a:pPr>
            <a:r>
              <a:rPr lang="fr-FR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lang="fr-FR"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fr-FR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moyenne</a:t>
            </a:r>
            <a:r>
              <a:rPr lang="fr-FR" sz="2000" b="1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fr-FR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arithmétique</a:t>
            </a:r>
            <a:r>
              <a:rPr lang="fr-FR" sz="2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fr-FR"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simple</a:t>
            </a:r>
            <a:endParaRPr lang="fr-FR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fr-FR" dirty="0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buNone/>
              <a:tabLst>
                <a:tab pos="4317365" algn="l"/>
              </a:tabLst>
            </a:pPr>
            <a:r>
              <a:rPr lang="fr-FR" dirty="0">
                <a:latin typeface="Times New Roman"/>
                <a:cs typeface="Times New Roman"/>
              </a:rPr>
              <a:t>La</a:t>
            </a:r>
            <a:r>
              <a:rPr lang="fr-FR" spc="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moyenne</a:t>
            </a:r>
            <a:r>
              <a:rPr lang="fr-FR" spc="114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arithmétique</a:t>
            </a:r>
            <a:r>
              <a:rPr lang="fr-FR" spc="-2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simple</a:t>
            </a:r>
            <a:r>
              <a:rPr lang="fr-FR" spc="-55" dirty="0">
                <a:latin typeface="Times New Roman"/>
                <a:cs typeface="Times New Roman"/>
              </a:rPr>
              <a:t> </a:t>
            </a:r>
            <a:r>
              <a:rPr lang="fr-FR" spc="-2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d’une série</a:t>
            </a:r>
            <a:r>
              <a:rPr lang="fr-FR" spc="-3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statistique</a:t>
            </a:r>
            <a:r>
              <a:rPr lang="fr-FR" spc="-2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est</a:t>
            </a:r>
            <a:r>
              <a:rPr lang="fr-FR" spc="-1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donnée</a:t>
            </a:r>
            <a:r>
              <a:rPr lang="fr-FR" spc="-2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par</a:t>
            </a:r>
            <a:r>
              <a:rPr lang="fr-FR" spc="-5" dirty="0">
                <a:latin typeface="Times New Roman"/>
                <a:cs typeface="Times New Roman"/>
              </a:rPr>
              <a:t> </a:t>
            </a:r>
            <a:r>
              <a:rPr lang="fr-FR" spc="-50" dirty="0">
                <a:latin typeface="Times New Roman"/>
                <a:cs typeface="Times New Roman"/>
              </a:rPr>
              <a:t>:</a:t>
            </a:r>
            <a:endParaRPr lang="fr-FR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B67DCB-E04C-831B-631B-6B7F36434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975" y="3429000"/>
            <a:ext cx="34480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21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F7E381-5892-E6B9-EA87-995D16929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100" indent="0">
              <a:lnSpc>
                <a:spcPts val="2305"/>
              </a:lnSpc>
              <a:spcBef>
                <a:spcPts val="1520"/>
              </a:spcBef>
              <a:buNone/>
              <a:tabLst>
                <a:tab pos="6621145" algn="l"/>
                <a:tab pos="6934834" algn="l"/>
              </a:tabLst>
            </a:pPr>
            <a:r>
              <a:rPr lang="fr-FR" dirty="0">
                <a:latin typeface="Times New Roman"/>
                <a:cs typeface="Times New Roman"/>
              </a:rPr>
              <a:t>La moyenne</a:t>
            </a:r>
            <a:r>
              <a:rPr lang="fr-FR" spc="10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arithmétique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pondérée</a:t>
            </a:r>
            <a:r>
              <a:rPr lang="fr-FR" spc="-9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d’une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variable</a:t>
            </a:r>
            <a:r>
              <a:rPr lang="fr-FR" spc="-80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Times New Roman"/>
                <a:cs typeface="Times New Roman"/>
              </a:rPr>
              <a:t>statistique</a:t>
            </a:r>
            <a:r>
              <a:rPr lang="fr-FR" dirty="0">
                <a:latin typeface="Times New Roman"/>
                <a:cs typeface="Times New Roman"/>
              </a:rPr>
              <a:t>	</a:t>
            </a:r>
            <a:r>
              <a:rPr lang="fr-FR" spc="-50" dirty="0">
                <a:latin typeface="Times New Roman"/>
                <a:cs typeface="Times New Roman"/>
              </a:rPr>
              <a:t>X</a:t>
            </a:r>
            <a:r>
              <a:rPr lang="fr-FR" dirty="0">
                <a:latin typeface="Times New Roman"/>
                <a:cs typeface="Times New Roman"/>
              </a:rPr>
              <a:t>	de</a:t>
            </a:r>
            <a:r>
              <a:rPr lang="fr-FR" spc="-25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Times New Roman"/>
                <a:cs typeface="Times New Roman"/>
              </a:rPr>
              <a:t>distribution</a:t>
            </a:r>
            <a:endParaRPr lang="fr-FR" dirty="0">
              <a:latin typeface="Times New Roman"/>
              <a:cs typeface="Times New Roman"/>
            </a:endParaRPr>
          </a:p>
          <a:p>
            <a:pPr marL="66675" indent="0">
              <a:lnSpc>
                <a:spcPts val="4045"/>
              </a:lnSpc>
              <a:buNone/>
            </a:pPr>
            <a:r>
              <a:rPr lang="fr-FR" sz="5175" spc="-667" baseline="-3220" dirty="0">
                <a:latin typeface="Symbol"/>
                <a:cs typeface="Symbol"/>
              </a:rPr>
              <a:t></a:t>
            </a:r>
            <a:r>
              <a:rPr lang="fr-FR" sz="2550" spc="-445" dirty="0">
                <a:latin typeface="Symbol"/>
                <a:cs typeface="Symbol"/>
              </a:rPr>
              <a:t></a:t>
            </a:r>
            <a:r>
              <a:rPr lang="fr-FR" sz="2550" spc="-370" dirty="0">
                <a:latin typeface="Times New Roman"/>
                <a:cs typeface="Times New Roman"/>
              </a:rPr>
              <a:t> </a:t>
            </a:r>
            <a:r>
              <a:rPr lang="fr-FR" sz="2925" i="1" baseline="4273" dirty="0">
                <a:latin typeface="Times New Roman"/>
                <a:cs typeface="Times New Roman"/>
              </a:rPr>
              <a:t>x</a:t>
            </a:r>
            <a:r>
              <a:rPr lang="fr-FR" sz="1725" i="1" baseline="-16908" dirty="0">
                <a:latin typeface="Times New Roman"/>
                <a:cs typeface="Times New Roman"/>
              </a:rPr>
              <a:t>i</a:t>
            </a:r>
            <a:r>
              <a:rPr lang="fr-FR" sz="1725" i="1" spc="-82" baseline="-16908" dirty="0">
                <a:latin typeface="Times New Roman"/>
                <a:cs typeface="Times New Roman"/>
              </a:rPr>
              <a:t> </a:t>
            </a:r>
            <a:r>
              <a:rPr lang="fr-FR" sz="2925" baseline="4273" dirty="0">
                <a:latin typeface="Times New Roman"/>
                <a:cs typeface="Times New Roman"/>
              </a:rPr>
              <a:t>,</a:t>
            </a:r>
            <a:r>
              <a:rPr lang="fr-FR" sz="2925" spc="-359" baseline="4273" dirty="0">
                <a:latin typeface="Times New Roman"/>
                <a:cs typeface="Times New Roman"/>
              </a:rPr>
              <a:t> </a:t>
            </a:r>
            <a:r>
              <a:rPr lang="fr-FR" sz="2925" i="1" baseline="4273" dirty="0">
                <a:latin typeface="Times New Roman"/>
                <a:cs typeface="Times New Roman"/>
              </a:rPr>
              <a:t>n</a:t>
            </a:r>
            <a:r>
              <a:rPr lang="fr-FR" sz="1725" i="1" baseline="-16908" dirty="0">
                <a:latin typeface="Times New Roman"/>
                <a:cs typeface="Times New Roman"/>
              </a:rPr>
              <a:t>i</a:t>
            </a:r>
            <a:r>
              <a:rPr lang="fr-FR" sz="1725" i="1" spc="127" baseline="-16908" dirty="0">
                <a:latin typeface="Times New Roman"/>
                <a:cs typeface="Times New Roman"/>
              </a:rPr>
              <a:t> </a:t>
            </a:r>
            <a:r>
              <a:rPr lang="fr-FR" sz="2550" dirty="0">
                <a:latin typeface="Symbol"/>
                <a:cs typeface="Symbol"/>
              </a:rPr>
              <a:t></a:t>
            </a:r>
            <a:r>
              <a:rPr lang="fr-FR" sz="1725" baseline="-28985" dirty="0">
                <a:latin typeface="Times New Roman"/>
                <a:cs typeface="Times New Roman"/>
              </a:rPr>
              <a:t>1</a:t>
            </a:r>
            <a:r>
              <a:rPr lang="fr-FR" sz="1725" baseline="-28985" dirty="0">
                <a:latin typeface="Symbol"/>
                <a:cs typeface="Symbol"/>
              </a:rPr>
              <a:t></a:t>
            </a:r>
            <a:r>
              <a:rPr lang="fr-FR" sz="1725" i="1" baseline="-28985" dirty="0">
                <a:latin typeface="Times New Roman"/>
                <a:cs typeface="Times New Roman"/>
              </a:rPr>
              <a:t>i</a:t>
            </a:r>
            <a:r>
              <a:rPr lang="fr-FR" sz="1725" baseline="-28985" dirty="0">
                <a:latin typeface="Symbol"/>
                <a:cs typeface="Symbol"/>
              </a:rPr>
              <a:t></a:t>
            </a:r>
            <a:r>
              <a:rPr lang="fr-FR" sz="1725" i="1" baseline="-28985" dirty="0">
                <a:latin typeface="Times New Roman"/>
                <a:cs typeface="Times New Roman"/>
              </a:rPr>
              <a:t>k</a:t>
            </a:r>
            <a:r>
              <a:rPr lang="fr-FR" sz="1725" i="1" spc="-112" baseline="-28985" dirty="0">
                <a:latin typeface="Times New Roman"/>
                <a:cs typeface="Times New Roman"/>
              </a:rPr>
              <a:t> </a:t>
            </a:r>
            <a:r>
              <a:rPr lang="fr-FR" sz="4650" spc="-742" baseline="-1792" dirty="0">
                <a:latin typeface="Symbol"/>
                <a:cs typeface="Symbol"/>
              </a:rPr>
              <a:t></a:t>
            </a:r>
            <a:r>
              <a:rPr lang="fr-FR" sz="4650" spc="-104" baseline="-1792" dirty="0">
                <a:latin typeface="Times New Roman"/>
                <a:cs typeface="Times New Roman"/>
              </a:rPr>
              <a:t> </a:t>
            </a:r>
            <a:r>
              <a:rPr lang="fr-FR" sz="3000" baseline="1388" dirty="0">
                <a:latin typeface="Times New Roman"/>
                <a:cs typeface="Times New Roman"/>
              </a:rPr>
              <a:t>est</a:t>
            </a:r>
            <a:r>
              <a:rPr lang="fr-FR" sz="3000" spc="-7" baseline="1388" dirty="0">
                <a:latin typeface="Times New Roman"/>
                <a:cs typeface="Times New Roman"/>
              </a:rPr>
              <a:t> </a:t>
            </a:r>
            <a:r>
              <a:rPr lang="fr-FR" sz="3000" baseline="1388" dirty="0">
                <a:latin typeface="Times New Roman"/>
                <a:cs typeface="Times New Roman"/>
              </a:rPr>
              <a:t>donnée</a:t>
            </a:r>
            <a:r>
              <a:rPr lang="fr-FR" sz="3000" spc="44" baseline="1388" dirty="0">
                <a:latin typeface="Times New Roman"/>
                <a:cs typeface="Times New Roman"/>
              </a:rPr>
              <a:t> </a:t>
            </a:r>
            <a:r>
              <a:rPr lang="fr-FR" sz="3000" baseline="1388" dirty="0">
                <a:latin typeface="Times New Roman"/>
                <a:cs typeface="Times New Roman"/>
              </a:rPr>
              <a:t>par</a:t>
            </a:r>
            <a:r>
              <a:rPr lang="fr-FR" sz="3000" spc="-15" baseline="1388" dirty="0">
                <a:latin typeface="Times New Roman"/>
                <a:cs typeface="Times New Roman"/>
              </a:rPr>
              <a:t> </a:t>
            </a:r>
            <a:r>
              <a:rPr lang="fr-FR" sz="3000" spc="-75" baseline="1388" dirty="0">
                <a:latin typeface="Times New Roman"/>
                <a:cs typeface="Times New Roman"/>
              </a:rPr>
              <a:t>:</a:t>
            </a:r>
            <a:endParaRPr lang="fr-FR" sz="3000" baseline="1388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E5CF1E2-D2E9-0D54-192A-BE9698056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761" y="2726090"/>
            <a:ext cx="590550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19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500D37-3106-AD2D-C6A1-D2544C903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spc="-10" dirty="0">
                <a:latin typeface="Times New Roman"/>
                <a:cs typeface="Times New Roman"/>
              </a:rPr>
              <a:t>Variance</a:t>
            </a:r>
            <a:br>
              <a:rPr lang="fr-FR" dirty="0">
                <a:latin typeface="Times New Roman"/>
                <a:cs typeface="Times New Roman"/>
              </a:rPr>
            </a:b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E23405-6431-C404-77C0-6CFA3FB71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95"/>
              </a:spcBef>
              <a:buNone/>
            </a:pPr>
            <a:r>
              <a:rPr lang="fr-FR" b="1" spc="-10" dirty="0">
                <a:latin typeface="Times New Roman"/>
                <a:cs typeface="Times New Roman"/>
              </a:rPr>
              <a:t>Variance</a:t>
            </a:r>
            <a:endParaRPr lang="fr-FR" dirty="0">
              <a:latin typeface="Times New Roman"/>
              <a:cs typeface="Times New Roman"/>
            </a:endParaRPr>
          </a:p>
          <a:p>
            <a:pPr marL="43815" marR="485775" indent="0" algn="just">
              <a:lnSpc>
                <a:spcPct val="150100"/>
              </a:lnSpc>
              <a:spcBef>
                <a:spcPts val="595"/>
              </a:spcBef>
              <a:buNone/>
            </a:pPr>
            <a:r>
              <a:rPr lang="fr-FR" dirty="0">
                <a:latin typeface="Times New Roman"/>
                <a:cs typeface="Times New Roman"/>
              </a:rPr>
              <a:t>Elle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mesure</a:t>
            </a:r>
            <a:r>
              <a:rPr lang="fr-FR" spc="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la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dispersion</a:t>
            </a:r>
            <a:r>
              <a:rPr lang="fr-FR" spc="-5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des</a:t>
            </a:r>
            <a:r>
              <a:rPr lang="fr-FR" spc="-2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valeurs</a:t>
            </a:r>
            <a:r>
              <a:rPr lang="fr-FR" spc="-3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autour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de</a:t>
            </a:r>
            <a:r>
              <a:rPr lang="fr-FR" spc="-6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la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moyenne.</a:t>
            </a:r>
            <a:r>
              <a:rPr lang="fr-FR" spc="8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Plus</a:t>
            </a:r>
            <a:r>
              <a:rPr lang="fr-FR" spc="-5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les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Times New Roman"/>
                <a:cs typeface="Times New Roman"/>
              </a:rPr>
              <a:t>valeurs </a:t>
            </a:r>
            <a:r>
              <a:rPr lang="fr-FR" dirty="0">
                <a:latin typeface="Times New Roman"/>
                <a:cs typeface="Times New Roman"/>
              </a:rPr>
              <a:t>sont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regroupées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autour</a:t>
            </a:r>
            <a:r>
              <a:rPr lang="fr-FR" spc="-1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de</a:t>
            </a:r>
            <a:r>
              <a:rPr lang="fr-FR" spc="-5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la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moyenne,</a:t>
            </a:r>
            <a:r>
              <a:rPr lang="fr-FR" spc="9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plus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la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variance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est</a:t>
            </a:r>
            <a:r>
              <a:rPr lang="fr-FR" spc="-5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petite.</a:t>
            </a:r>
            <a:r>
              <a:rPr lang="fr-FR" spc="-1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Plus</a:t>
            </a:r>
            <a:r>
              <a:rPr lang="fr-FR" spc="-45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Times New Roman"/>
                <a:cs typeface="Times New Roman"/>
              </a:rPr>
              <a:t>elles </a:t>
            </a:r>
            <a:r>
              <a:rPr lang="fr-FR" dirty="0">
                <a:latin typeface="Times New Roman"/>
                <a:cs typeface="Times New Roman"/>
              </a:rPr>
              <a:t>sont</a:t>
            </a:r>
            <a:r>
              <a:rPr lang="fr-FR" spc="-4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dispersées,</a:t>
            </a:r>
            <a:r>
              <a:rPr lang="fr-FR" spc="-1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plus</a:t>
            </a:r>
            <a:r>
              <a:rPr lang="fr-FR" spc="-4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la</a:t>
            </a:r>
            <a:r>
              <a:rPr lang="fr-FR" spc="-3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variance</a:t>
            </a:r>
            <a:r>
              <a:rPr lang="fr-FR" spc="-1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est</a:t>
            </a:r>
            <a:r>
              <a:rPr lang="fr-FR" spc="-40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Times New Roman"/>
                <a:cs typeface="Times New Roman"/>
              </a:rPr>
              <a:t>grande.</a:t>
            </a:r>
            <a:endParaRPr lang="fr-FR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lang="fr-FR" dirty="0">
              <a:latin typeface="Times New Roman"/>
              <a:cs typeface="Times New Roman"/>
            </a:endParaRPr>
          </a:p>
          <a:p>
            <a:pPr marL="85090" indent="0" algn="just">
              <a:lnSpc>
                <a:spcPct val="100000"/>
              </a:lnSpc>
              <a:buNone/>
            </a:pPr>
            <a:r>
              <a:rPr lang="fr-FR" dirty="0">
                <a:latin typeface="Times New Roman"/>
                <a:cs typeface="Times New Roman"/>
              </a:rPr>
              <a:t>La</a:t>
            </a:r>
            <a:r>
              <a:rPr lang="fr-FR" spc="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variance,</a:t>
            </a:r>
            <a:r>
              <a:rPr lang="fr-FR" spc="3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notée</a:t>
            </a:r>
            <a:r>
              <a:rPr lang="fr-FR" spc="-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V(X),</a:t>
            </a:r>
            <a:r>
              <a:rPr lang="fr-FR" spc="3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d’une</a:t>
            </a:r>
            <a:r>
              <a:rPr lang="fr-FR" spc="4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variable</a:t>
            </a:r>
            <a:r>
              <a:rPr lang="fr-FR" spc="1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statistique</a:t>
            </a:r>
            <a:r>
              <a:rPr lang="fr-FR" spc="1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de</a:t>
            </a:r>
            <a:r>
              <a:rPr lang="fr-FR" spc="-10" dirty="0">
                <a:latin typeface="Times New Roman"/>
                <a:cs typeface="Times New Roman"/>
              </a:rPr>
              <a:t> </a:t>
            </a:r>
            <a:r>
              <a:rPr lang="fr-FR" spc="-85" dirty="0">
                <a:latin typeface="Times New Roman"/>
                <a:cs typeface="Times New Roman"/>
              </a:rPr>
              <a:t>distribution</a:t>
            </a:r>
            <a:r>
              <a:rPr lang="fr-FR" sz="5400" spc="-127" baseline="-3086" dirty="0">
                <a:latin typeface="Symbol"/>
                <a:cs typeface="Symbol"/>
              </a:rPr>
              <a:t></a:t>
            </a:r>
            <a:r>
              <a:rPr lang="fr-FR" sz="2700" spc="-85" dirty="0">
                <a:latin typeface="Symbol"/>
                <a:cs typeface="Symbol"/>
              </a:rPr>
              <a:t></a:t>
            </a:r>
            <a:r>
              <a:rPr lang="fr-FR" sz="2700" spc="-375" dirty="0">
                <a:latin typeface="Times New Roman"/>
                <a:cs typeface="Times New Roman"/>
              </a:rPr>
              <a:t> </a:t>
            </a:r>
            <a:r>
              <a:rPr lang="fr-FR" sz="3075" i="1" baseline="4065" dirty="0">
                <a:latin typeface="Times New Roman"/>
                <a:cs typeface="Times New Roman"/>
              </a:rPr>
              <a:t>x</a:t>
            </a:r>
            <a:r>
              <a:rPr lang="fr-FR" sz="1725" i="1" baseline="-19323" dirty="0">
                <a:latin typeface="Times New Roman"/>
                <a:cs typeface="Times New Roman"/>
              </a:rPr>
              <a:t>i</a:t>
            </a:r>
            <a:r>
              <a:rPr lang="fr-FR" sz="1725" i="1" spc="-44" baseline="-19323" dirty="0">
                <a:latin typeface="Times New Roman"/>
                <a:cs typeface="Times New Roman"/>
              </a:rPr>
              <a:t> </a:t>
            </a:r>
            <a:r>
              <a:rPr lang="fr-FR" sz="3075" spc="97" baseline="4065" dirty="0">
                <a:latin typeface="Times New Roman"/>
                <a:cs typeface="Times New Roman"/>
              </a:rPr>
              <a:t>,</a:t>
            </a:r>
            <a:r>
              <a:rPr lang="fr-FR" sz="3075" spc="-359" baseline="4065" dirty="0">
                <a:latin typeface="Times New Roman"/>
                <a:cs typeface="Times New Roman"/>
              </a:rPr>
              <a:t> </a:t>
            </a:r>
            <a:r>
              <a:rPr lang="fr-FR" sz="3075" i="1" baseline="4065" dirty="0">
                <a:latin typeface="Times New Roman"/>
                <a:cs typeface="Times New Roman"/>
              </a:rPr>
              <a:t>n</a:t>
            </a:r>
            <a:r>
              <a:rPr lang="fr-FR" sz="1725" i="1" baseline="-19323" dirty="0">
                <a:latin typeface="Times New Roman"/>
                <a:cs typeface="Times New Roman"/>
              </a:rPr>
              <a:t>i</a:t>
            </a:r>
            <a:r>
              <a:rPr lang="fr-FR" sz="1725" i="1" spc="187" baseline="-19323" dirty="0">
                <a:latin typeface="Times New Roman"/>
                <a:cs typeface="Times New Roman"/>
              </a:rPr>
              <a:t> </a:t>
            </a:r>
            <a:r>
              <a:rPr lang="fr-FR" sz="2700" dirty="0">
                <a:latin typeface="Symbol"/>
                <a:cs typeface="Symbol"/>
              </a:rPr>
              <a:t></a:t>
            </a:r>
            <a:r>
              <a:rPr lang="fr-FR" sz="1725" baseline="-31400" dirty="0">
                <a:latin typeface="Times New Roman"/>
                <a:cs typeface="Times New Roman"/>
              </a:rPr>
              <a:t>1</a:t>
            </a:r>
            <a:r>
              <a:rPr lang="fr-FR" sz="1725" baseline="-31400" dirty="0">
                <a:latin typeface="Symbol"/>
                <a:cs typeface="Symbol"/>
              </a:rPr>
              <a:t></a:t>
            </a:r>
            <a:r>
              <a:rPr lang="fr-FR" sz="1725" i="1" baseline="-31400" dirty="0">
                <a:latin typeface="Times New Roman"/>
                <a:cs typeface="Times New Roman"/>
              </a:rPr>
              <a:t>i</a:t>
            </a:r>
            <a:r>
              <a:rPr lang="fr-FR" sz="1725" baseline="-31400" dirty="0">
                <a:latin typeface="Symbol"/>
                <a:cs typeface="Symbol"/>
              </a:rPr>
              <a:t></a:t>
            </a:r>
            <a:r>
              <a:rPr lang="fr-FR" sz="1725" i="1" baseline="-31400" dirty="0">
                <a:latin typeface="Times New Roman"/>
                <a:cs typeface="Times New Roman"/>
              </a:rPr>
              <a:t>k</a:t>
            </a:r>
            <a:r>
              <a:rPr lang="fr-FR" sz="1725" i="1" spc="-75" baseline="-31400" dirty="0">
                <a:latin typeface="Times New Roman"/>
                <a:cs typeface="Times New Roman"/>
              </a:rPr>
              <a:t> </a:t>
            </a:r>
            <a:r>
              <a:rPr lang="fr-FR" sz="4875" spc="-780" baseline="-1709" dirty="0">
                <a:latin typeface="Symbol"/>
                <a:cs typeface="Symbol"/>
              </a:rPr>
              <a:t></a:t>
            </a:r>
            <a:endParaRPr lang="fr-FR" sz="4875" baseline="-1709" dirty="0">
              <a:latin typeface="Symbol"/>
              <a:cs typeface="Symbol"/>
            </a:endParaRPr>
          </a:p>
          <a:p>
            <a:pPr marL="85090" indent="0" algn="just">
              <a:lnSpc>
                <a:spcPct val="100000"/>
              </a:lnSpc>
              <a:spcBef>
                <a:spcPts val="870"/>
              </a:spcBef>
              <a:buNone/>
            </a:pPr>
            <a:r>
              <a:rPr lang="fr-FR" dirty="0">
                <a:latin typeface="Times New Roman"/>
                <a:cs typeface="Times New Roman"/>
              </a:rPr>
              <a:t>est</a:t>
            </a:r>
            <a:r>
              <a:rPr lang="fr-FR" spc="-5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donnée</a:t>
            </a:r>
            <a:r>
              <a:rPr lang="fr-FR" spc="-40" dirty="0">
                <a:latin typeface="Times New Roman"/>
                <a:cs typeface="Times New Roman"/>
              </a:rPr>
              <a:t> </a:t>
            </a:r>
            <a:r>
              <a:rPr lang="fr-FR" spc="-20" dirty="0">
                <a:latin typeface="Times New Roman"/>
                <a:cs typeface="Times New Roman"/>
              </a:rPr>
              <a:t>par:</a:t>
            </a:r>
            <a:endParaRPr lang="fr-FR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AC6600C-375E-A5B1-BFF2-0D7B33E22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118" y="5028989"/>
            <a:ext cx="5494884" cy="119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98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8A5D746-44ED-0E38-FCA8-0CF472509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1329136"/>
            <a:ext cx="7280551" cy="195739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6BD5713-FE7D-EA6E-B79C-31F6697ED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451" y="3429000"/>
            <a:ext cx="7820806" cy="280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923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1DF573-8BFC-BD89-D3C6-E739D684C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Tableau individus/variables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6EEEA8-DF4A-108F-CA31-A176DB5D3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Tableau individus/variables </a:t>
            </a:r>
            <a:r>
              <a:rPr lang="fr-FR" dirty="0"/>
              <a:t>: ce type de tableau contient n lignes et  p colonnes de telle</a:t>
            </a:r>
          </a:p>
          <a:p>
            <a:pPr marL="0" indent="0">
              <a:buNone/>
            </a:pPr>
            <a:r>
              <a:rPr lang="fr-FR" dirty="0"/>
              <a:t>sorte les lignes représentent les individus, tandis que les colonnes représentent les variables.</a:t>
            </a:r>
          </a:p>
          <a:p>
            <a:pPr marL="0" indent="0">
              <a:buNone/>
            </a:pPr>
            <a:r>
              <a:rPr lang="fr-FR" dirty="0"/>
              <a:t>Exemple : le tableau suivant contient 10 individus caractérisés par 3 variables : couleur,  poids et forme.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83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7EEF67A-BEE4-1AAB-1A0D-CEF637568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90" y="1286934"/>
            <a:ext cx="1030602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289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8D1466-31DF-ADCF-F9E8-67023A4B4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Tableau de contingence : </a:t>
            </a:r>
            <a:r>
              <a:rPr lang="fr-FR" dirty="0"/>
              <a:t>est un tableau d’effectifs obtenus en croisant les modalités de deux variables qualitatives définies sur une même population de n individus.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068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2A113F-B65B-A359-0F4A-B310F730C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Tableaux de contingences : (Couleur/ Poids)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FCA400-17AD-938E-0007-C34F6914E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87" y="3039974"/>
            <a:ext cx="11384770" cy="192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241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0AACA1-4991-2F3A-81DF-88C33859C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Tableaux de contingences : (Couleur/ Formes)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946824-28FF-D3B8-8565-4512F61CF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18" y="3059289"/>
            <a:ext cx="10819364" cy="209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39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AA3066-0CA0-85F2-FA03-570AC2788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Tableaux de contingences : ( Poids/Formes)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77D0C66-CBF1-671F-03A1-03933B210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602" y="3160889"/>
            <a:ext cx="10470198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861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127C06-2D9E-39F0-F18D-A27447DF1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i="0" u="none" strike="noStrike" baseline="0" dirty="0">
                <a:latin typeface="Calibri-Bold"/>
              </a:rPr>
              <a:t>Tableau de codage et tableau de codage disjonctif complet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9D68645-E4B9-3941-7BFF-706B4F738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023" y="2367756"/>
            <a:ext cx="805815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092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37AD36-351F-975D-71C8-3BE92C0D5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Tableau de distance : ce tableau est symétrique tels que les lignes et les colonnes représentent les individus.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5B7EDCD-0527-26A5-D6FE-42DAD120F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99" y="3217230"/>
            <a:ext cx="4336201" cy="211728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03CED0A-99D7-B86C-A789-B4712B8A1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042" y="2923822"/>
            <a:ext cx="4593831" cy="162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528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3832F2-5ED8-B186-5BBB-1A6309ECD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Tableau de BURT </a:t>
            </a:r>
            <a:r>
              <a:rPr lang="fr-FR" dirty="0"/>
              <a:t>: sert à réduire le tableau de codage disjonctif complet en calculant le produit matriciel X*</a:t>
            </a:r>
            <a:r>
              <a:rPr lang="fr-FR" dirty="0" err="1"/>
              <a:t>X_trans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7718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DDBB59-558C-A684-C5E9-0E146DBD4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Exemple</a:t>
            </a:r>
            <a:br>
              <a:rPr lang="fr-FR" dirty="0"/>
            </a:br>
            <a:r>
              <a:rPr lang="fr-FR" dirty="0"/>
              <a:t>(Homme/Femme) et la </a:t>
            </a:r>
            <a:r>
              <a:rPr lang="fr-FR" b="1" dirty="0"/>
              <a:t>Satisfaction</a:t>
            </a:r>
            <a:r>
              <a:rPr lang="fr-FR" dirty="0"/>
              <a:t> (Oui/Non). </a:t>
            </a:r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CCD8BAD-9182-2177-2082-1C43D9320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1899596"/>
            <a:ext cx="8891532" cy="368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941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727DCB-D920-8B30-8CF8-BEE31174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903" y="319096"/>
            <a:ext cx="9917708" cy="1464548"/>
          </a:xfrm>
        </p:spPr>
        <p:txBody>
          <a:bodyPr>
            <a:normAutofit fontScale="90000"/>
          </a:bodyPr>
          <a:lstStyle/>
          <a:p>
            <a:r>
              <a:rPr lang="fr-FR" dirty="0"/>
              <a:t>Exemple </a:t>
            </a:r>
            <a:br>
              <a:rPr lang="fr-FR" dirty="0"/>
            </a:br>
            <a:r>
              <a:rPr lang="fr-FR" sz="2000" dirty="0"/>
              <a:t>10 clients d'un café avec les variables suivantes :</a:t>
            </a:r>
            <a:br>
              <a:rPr lang="fr-FR" sz="2000" dirty="0"/>
            </a:br>
            <a:r>
              <a:rPr lang="fr-FR" sz="2000" dirty="0"/>
              <a:t>Boisson : Café (C), Thé (T)</a:t>
            </a:r>
            <a:br>
              <a:rPr lang="fr-FR" sz="2000" dirty="0"/>
            </a:br>
            <a:r>
              <a:rPr lang="fr-FR" sz="2000" dirty="0"/>
              <a:t>Sucre : Oui (S), Non (N)</a:t>
            </a:r>
            <a:br>
              <a:rPr lang="fr-FR" sz="2000" dirty="0"/>
            </a:br>
            <a:r>
              <a:rPr lang="fr-FR" sz="2000" dirty="0"/>
              <a:t>Fidélité : Fidèle (F), Nouveau (V)</a:t>
            </a:r>
            <a:br>
              <a:rPr lang="fr-FR" sz="2000" dirty="0"/>
            </a:br>
            <a:endParaRPr lang="en-US" sz="2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917EB5-186A-0427-7874-D5746F5DA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4 personnes : Café, Sucre, Fidèle</a:t>
            </a:r>
          </a:p>
          <a:p>
            <a:r>
              <a:rPr lang="fr-FR" dirty="0"/>
              <a:t>2 personnes : Café, Pas de sucre, Nouveau</a:t>
            </a:r>
          </a:p>
          <a:p>
            <a:r>
              <a:rPr lang="fr-FR" dirty="0"/>
              <a:t>3 personnes : Thé, Sucre, Fidèle</a:t>
            </a:r>
          </a:p>
          <a:p>
            <a:r>
              <a:rPr lang="fr-FR" dirty="0"/>
              <a:t>1 personne : Thé, Pas de sucre, Nouveau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711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755049-3EDE-7320-B756-1A48DE314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fr-FR" sz="3800" b="1" dirty="0"/>
              <a:t>Tableau de fréquences </a:t>
            </a:r>
            <a:r>
              <a:rPr lang="fr-FR" sz="3800" dirty="0"/>
              <a:t>: ce tableau est obtenu après normalisation du tableau de  contingence en divisant par K (le nombre total des individus)</a:t>
            </a:r>
          </a:p>
          <a:p>
            <a:pPr marL="0" indent="0">
              <a:buNone/>
            </a:pPr>
            <a:endParaRPr lang="fr-FR" dirty="0"/>
          </a:p>
          <a:p>
            <a:pPr marL="0" indent="0" algn="l">
              <a:buNone/>
            </a:pPr>
            <a:endParaRPr lang="fr-FR" sz="1800" b="0" i="0" u="none" strike="noStrike" baseline="0" dirty="0">
              <a:latin typeface="Calibri" panose="020F0502020204030204" pitchFamily="34" charset="0"/>
            </a:endParaRPr>
          </a:p>
          <a:p>
            <a:pPr marL="0" indent="0" algn="l">
              <a:buNone/>
            </a:pPr>
            <a:endParaRPr lang="fr-FR" sz="1800" b="0" i="0" u="none" strike="noStrike" baseline="0" dirty="0">
              <a:latin typeface="Calibri" panose="020F0502020204030204" pitchFamily="34" charset="0"/>
            </a:endParaRPr>
          </a:p>
          <a:p>
            <a:pPr marL="0" indent="0" algn="l">
              <a:buNone/>
            </a:pPr>
            <a:endParaRPr lang="fr-FR" sz="1800" b="0" i="0" u="none" strike="noStrike" baseline="0" dirty="0"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fr-FR" sz="4400" dirty="0"/>
              <a:t>Les fréquences marginales  lignes et les fréquences marginales colonnes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en-US" dirty="0"/>
              <a:t>                  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F79E5D5-4769-7DB5-E4B5-80552ACB6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137" y="2755413"/>
            <a:ext cx="1223185" cy="103077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99AA91A-4FD5-72EA-E159-71B388A8D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655" y="4243063"/>
            <a:ext cx="1552575" cy="10287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9254582-4516-2B84-0DED-DD6CB6434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6816" y="4243063"/>
            <a:ext cx="16764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425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F6148DC4-21A7-7EA2-1838-EB9C3F091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3237" y="2755106"/>
            <a:ext cx="6419850" cy="1971675"/>
          </a:xfr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A951E42-65E5-DC0F-9AF2-499140C64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23" y="645194"/>
            <a:ext cx="9986554" cy="195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123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551A17-C7AB-B98C-DF89-01346C013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800" b="1" i="0" u="none" strike="noStrike" baseline="0" dirty="0">
              <a:latin typeface="Calibri-Bold"/>
            </a:endParaRPr>
          </a:p>
          <a:p>
            <a:endParaRPr lang="en-US" sz="1800" b="1" dirty="0">
              <a:latin typeface="Calibri-Bold"/>
            </a:endParaRPr>
          </a:p>
          <a:p>
            <a:endParaRPr lang="en-US" sz="1800" b="1" i="0" u="none" strike="noStrike" baseline="0" dirty="0">
              <a:latin typeface="Calibri-Bold"/>
            </a:endParaRPr>
          </a:p>
          <a:p>
            <a:pPr marL="0" indent="0">
              <a:buNone/>
            </a:pPr>
            <a:endParaRPr lang="en-US" sz="1800" b="1" dirty="0">
              <a:latin typeface="Calibri-Bold"/>
            </a:endParaRPr>
          </a:p>
          <a:p>
            <a:pPr marL="0" indent="0">
              <a:buNone/>
            </a:pPr>
            <a:r>
              <a:rPr lang="en-US" sz="2400" b="1" i="0" u="none" strike="noStrike" baseline="0" dirty="0">
                <a:latin typeface="Calibri-Bold"/>
              </a:rPr>
              <a:t>Tableau des </a:t>
            </a:r>
            <a:r>
              <a:rPr lang="en-US" sz="2400" b="1" i="0" u="none" strike="noStrike" baseline="0" dirty="0" err="1">
                <a:latin typeface="Calibri-Bold"/>
              </a:rPr>
              <a:t>profils</a:t>
            </a:r>
            <a:r>
              <a:rPr lang="en-US" sz="2400" b="1" i="0" u="none" strike="noStrike" baseline="0" dirty="0">
                <a:latin typeface="Calibri-Bold"/>
              </a:rPr>
              <a:t> </a:t>
            </a:r>
            <a:r>
              <a:rPr lang="en-US" sz="2400" b="1" i="0" u="none" strike="noStrike" baseline="0" dirty="0" err="1">
                <a:latin typeface="Calibri-Bold"/>
              </a:rPr>
              <a:t>colonnes</a:t>
            </a:r>
            <a:endParaRPr lang="en-US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13DE2D5-AA28-7FAB-B634-CA00B4391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31" y="4406314"/>
            <a:ext cx="1076325" cy="8858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ABDE317-46C8-69A2-1192-E7F4D5D7E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579" y="4406314"/>
            <a:ext cx="6238875" cy="2457450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AFDA36AF-2787-C8A4-08C4-B6B6BB04D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339056"/>
            <a:ext cx="8048625" cy="221932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DB45133-403B-2207-6441-62C572762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5631" y="1680162"/>
            <a:ext cx="981075" cy="77152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C90D29E-D373-46B4-6A7E-31F4F7D9F36A}"/>
              </a:ext>
            </a:extLst>
          </p:cNvPr>
          <p:cNvSpPr txBox="1"/>
          <p:nvPr/>
        </p:nvSpPr>
        <p:spPr>
          <a:xfrm>
            <a:off x="1007534" y="8046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i="0" u="none" strike="noStrike" baseline="0" dirty="0">
                <a:latin typeface="Calibri-Bold"/>
              </a:rPr>
              <a:t>      Tableau des </a:t>
            </a:r>
            <a:r>
              <a:rPr lang="en-US" sz="2400" b="1" i="0" u="none" strike="noStrike" baseline="0" dirty="0" err="1">
                <a:latin typeface="Calibri-Bold"/>
              </a:rPr>
              <a:t>profils</a:t>
            </a:r>
            <a:r>
              <a:rPr lang="en-US" sz="2400" b="1" i="0" u="none" strike="noStrike" baseline="0" dirty="0">
                <a:latin typeface="Calibri-Bold"/>
              </a:rPr>
              <a:t> </a:t>
            </a:r>
            <a:r>
              <a:rPr lang="en-US" sz="2400" b="1" dirty="0" err="1">
                <a:latin typeface="Calibri-Bold"/>
              </a:rPr>
              <a:t>lignes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68342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E226A2-F159-8B03-2807-EA4C1CC64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fr-FR" sz="2400" b="0" i="0" u="none" strike="noStrike" baseline="0" dirty="0">
                <a:latin typeface="Calibri" panose="020F0502020204030204" pitchFamily="34" charset="0"/>
              </a:rPr>
              <a:t>Pour déterminer la ressemblance entre deux individus de profils lignes ou profiles colonnes, on calcule la distance munie d’une métrique </a:t>
            </a:r>
            <a:r>
              <a:rPr lang="fr-FR" sz="2400" b="0" i="0" u="none" strike="noStrike" baseline="0" dirty="0">
                <a:latin typeface="SymbolMT"/>
              </a:rPr>
              <a:t> </a:t>
            </a:r>
            <a:r>
              <a:rPr lang="fr-FR" sz="2400" b="0" i="0" u="none" strike="noStrike" baseline="0" dirty="0">
                <a:latin typeface="Calibri" panose="020F0502020204030204" pitchFamily="34" charset="0"/>
              </a:rPr>
              <a:t>qui est définie par :</a:t>
            </a:r>
            <a:endParaRPr lang="en-US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EF1E03-B884-5967-C4C1-AC75CB490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825" y="2867025"/>
            <a:ext cx="508635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513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91471790-4064-5170-EB72-6FE0E936C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922" y="366374"/>
            <a:ext cx="8048625" cy="221932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B69D271-CD4A-51B4-0082-CD503A1C1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862" y="2789575"/>
            <a:ext cx="905827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3134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1E356A-1E1D-4769-A294-8F4D52F0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9B3B1-0DF0-9EE0-130D-3D576AE4E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5080">
              <a:lnSpc>
                <a:spcPct val="150100"/>
              </a:lnSpc>
              <a:spcBef>
                <a:spcPts val="100"/>
              </a:spcBef>
              <a:tabLst>
                <a:tab pos="4808220" algn="l"/>
              </a:tabLst>
            </a:pPr>
            <a:r>
              <a:rPr lang="fr-FR" dirty="0">
                <a:latin typeface="Times New Roman"/>
                <a:cs typeface="Times New Roman"/>
              </a:rPr>
              <a:t>On</a:t>
            </a:r>
            <a:r>
              <a:rPr lang="fr-FR" spc="-1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veut</a:t>
            </a:r>
            <a:r>
              <a:rPr lang="fr-FR" spc="-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étudier</a:t>
            </a:r>
            <a:r>
              <a:rPr lang="fr-FR" spc="-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la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répartition</a:t>
            </a:r>
            <a:r>
              <a:rPr lang="fr-FR" spc="-6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de</a:t>
            </a:r>
            <a:r>
              <a:rPr lang="fr-FR" spc="-4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100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Times New Roman"/>
                <a:cs typeface="Times New Roman"/>
              </a:rPr>
              <a:t>étudiants</a:t>
            </a:r>
            <a:r>
              <a:rPr lang="fr-FR" dirty="0">
                <a:latin typeface="Times New Roman"/>
                <a:cs typeface="Times New Roman"/>
              </a:rPr>
              <a:t>	selon</a:t>
            </a:r>
            <a:r>
              <a:rPr lang="fr-FR" spc="-6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le</a:t>
            </a:r>
            <a:r>
              <a:rPr lang="fr-FR" spc="-5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nombre</a:t>
            </a:r>
            <a:r>
              <a:rPr lang="fr-FR" spc="-2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d’année</a:t>
            </a:r>
            <a:r>
              <a:rPr lang="fr-FR" spc="-25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Times New Roman"/>
                <a:cs typeface="Times New Roman"/>
              </a:rPr>
              <a:t>d’obtention </a:t>
            </a:r>
            <a:r>
              <a:rPr lang="fr-FR" dirty="0">
                <a:latin typeface="Times New Roman"/>
                <a:cs typeface="Times New Roman"/>
              </a:rPr>
              <a:t>de</a:t>
            </a:r>
            <a:r>
              <a:rPr lang="fr-FR" spc="-5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la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licence</a:t>
            </a:r>
            <a:r>
              <a:rPr lang="fr-FR" spc="-2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et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la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mention.</a:t>
            </a:r>
            <a:r>
              <a:rPr lang="fr-FR" spc="1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Soient</a:t>
            </a:r>
            <a:r>
              <a:rPr lang="fr-FR" spc="-40" dirty="0">
                <a:latin typeface="Times New Roman"/>
                <a:cs typeface="Times New Roman"/>
              </a:rPr>
              <a:t> </a:t>
            </a:r>
            <a:r>
              <a:rPr lang="fr-FR" spc="-50" dirty="0">
                <a:latin typeface="Times New Roman"/>
                <a:cs typeface="Times New Roman"/>
              </a:rPr>
              <a:t>:</a:t>
            </a:r>
            <a:endParaRPr lang="fr-FR" dirty="0">
              <a:latin typeface="Times New Roman"/>
              <a:cs typeface="Times New Roman"/>
            </a:endParaRPr>
          </a:p>
          <a:p>
            <a:pPr marL="602615" indent="-145415">
              <a:lnSpc>
                <a:spcPct val="100000"/>
              </a:lnSpc>
              <a:spcBef>
                <a:spcPts val="1295"/>
              </a:spcBef>
              <a:buChar char="-"/>
              <a:tabLst>
                <a:tab pos="602615" algn="l"/>
              </a:tabLst>
            </a:pPr>
            <a:r>
              <a:rPr lang="fr-FR" dirty="0">
                <a:latin typeface="Times New Roman"/>
                <a:cs typeface="Times New Roman"/>
              </a:rPr>
              <a:t>X</a:t>
            </a:r>
            <a:r>
              <a:rPr lang="fr-FR" spc="-1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:</a:t>
            </a:r>
            <a:r>
              <a:rPr lang="fr-FR" spc="-6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Nombre d’année</a:t>
            </a:r>
            <a:r>
              <a:rPr lang="fr-FR" spc="-1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d’obtention</a:t>
            </a:r>
            <a:r>
              <a:rPr lang="fr-FR" spc="-2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de</a:t>
            </a:r>
            <a:r>
              <a:rPr lang="fr-FR" spc="-6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la</a:t>
            </a:r>
            <a:r>
              <a:rPr lang="fr-FR" spc="-40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Times New Roman"/>
                <a:cs typeface="Times New Roman"/>
              </a:rPr>
              <a:t>licence</a:t>
            </a:r>
            <a:endParaRPr lang="fr-FR" dirty="0">
              <a:latin typeface="Times New Roman"/>
              <a:cs typeface="Times New Roman"/>
            </a:endParaRPr>
          </a:p>
          <a:p>
            <a:pPr marL="593725" indent="-136525">
              <a:lnSpc>
                <a:spcPct val="100000"/>
              </a:lnSpc>
              <a:spcBef>
                <a:spcPts val="1300"/>
              </a:spcBef>
              <a:buChar char="-"/>
              <a:tabLst>
                <a:tab pos="593725" algn="l"/>
              </a:tabLst>
            </a:pPr>
            <a:r>
              <a:rPr lang="fr-FR" dirty="0">
                <a:latin typeface="Times New Roman"/>
                <a:cs typeface="Times New Roman"/>
              </a:rPr>
              <a:t>Y</a:t>
            </a:r>
            <a:r>
              <a:rPr lang="fr-FR" spc="-8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:</a:t>
            </a:r>
            <a:r>
              <a:rPr lang="fr-FR" spc="-1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Mention</a:t>
            </a:r>
            <a:r>
              <a:rPr lang="fr-FR" spc="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de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la</a:t>
            </a:r>
            <a:r>
              <a:rPr lang="fr-FR" spc="-15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Times New Roman"/>
                <a:cs typeface="Times New Roman"/>
              </a:rPr>
              <a:t>licence</a:t>
            </a:r>
            <a:endParaRPr lang="fr-FR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6233C2AF-7EB3-6D22-FDA0-EC83C66E1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1220"/>
              </p:ext>
            </p:extLst>
          </p:nvPr>
        </p:nvGraphicFramePr>
        <p:xfrm>
          <a:off x="5026512" y="3662706"/>
          <a:ext cx="6915149" cy="2390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8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3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X\Y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393700" marR="116839" indent="-2717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Passable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(P)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449580" marR="149225" indent="-28956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Assez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Bien (AB)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315595" marR="234950" indent="-704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Bien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(B)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454025" marR="206375" indent="-2355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Très</a:t>
                      </a:r>
                      <a:r>
                        <a:rPr sz="18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Bien (TB)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320040" marR="205104" indent="-1009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Marge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45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35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Marge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8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45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74495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254020-92D6-AAE9-96E1-227F8E77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B8AAFE-5287-88AA-DD79-CEFE8324D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Times New Roman"/>
                <a:cs typeface="Times New Roman"/>
              </a:rPr>
              <a:t>Soient</a:t>
            </a:r>
            <a:r>
              <a:rPr lang="fr-FR" spc="-3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X et</a:t>
            </a:r>
            <a:r>
              <a:rPr lang="fr-FR" spc="36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Y</a:t>
            </a:r>
            <a:r>
              <a:rPr lang="fr-FR" spc="39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deux</a:t>
            </a:r>
            <a:r>
              <a:rPr lang="fr-FR" spc="-2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variables</a:t>
            </a:r>
            <a:r>
              <a:rPr lang="fr-FR" spc="-2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statistiques</a:t>
            </a:r>
            <a:r>
              <a:rPr lang="fr-FR" spc="-3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qui</a:t>
            </a:r>
            <a:r>
              <a:rPr lang="fr-FR" spc="-30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Times New Roman"/>
                <a:cs typeface="Times New Roman"/>
              </a:rPr>
              <a:t>désignent</a:t>
            </a:r>
            <a:r>
              <a:rPr lang="fr-FR" dirty="0">
                <a:latin typeface="Times New Roman"/>
                <a:cs typeface="Times New Roman"/>
              </a:rPr>
              <a:t>	respectivement</a:t>
            </a:r>
            <a:r>
              <a:rPr lang="fr-FR" spc="-3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le</a:t>
            </a:r>
            <a:r>
              <a:rPr lang="fr-FR" spc="-85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Times New Roman"/>
                <a:cs typeface="Times New Roman"/>
              </a:rPr>
              <a:t>poids </a:t>
            </a:r>
            <a:r>
              <a:rPr lang="fr-FR" dirty="0">
                <a:latin typeface="Times New Roman"/>
                <a:cs typeface="Times New Roman"/>
              </a:rPr>
              <a:t>(Kg)</a:t>
            </a:r>
            <a:r>
              <a:rPr lang="fr-FR" spc="-1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et</a:t>
            </a:r>
            <a:r>
              <a:rPr lang="fr-FR" spc="-1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la</a:t>
            </a:r>
            <a:r>
              <a:rPr lang="fr-FR" spc="-2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taille</a:t>
            </a:r>
            <a:r>
              <a:rPr lang="fr-FR" spc="-3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(Cm)</a:t>
            </a:r>
            <a:r>
              <a:rPr lang="fr-FR" spc="10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de</a:t>
            </a:r>
            <a:r>
              <a:rPr lang="fr-FR" spc="-15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Times New Roman"/>
                <a:cs typeface="Times New Roman"/>
              </a:rPr>
              <a:t>100</a:t>
            </a:r>
            <a:r>
              <a:rPr lang="fr-FR" spc="-25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Times New Roman"/>
                <a:cs typeface="Times New Roman"/>
              </a:rPr>
              <a:t>animaux.</a:t>
            </a:r>
            <a:endParaRPr lang="fr-FR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FFEDF4A-DF4C-E3D4-F9AB-1E504798D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601383"/>
              </p:ext>
            </p:extLst>
          </p:nvPr>
        </p:nvGraphicFramePr>
        <p:xfrm>
          <a:off x="2921421" y="3035618"/>
          <a:ext cx="7223759" cy="2592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1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18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X\Y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[0,5[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[5,10[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[10,15[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[15,20[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[20,25[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381125" algn="l"/>
                        </a:tabLst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Marge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50" i="1" spc="-37" baseline="146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50" i="1" spc="-37" baseline="-22727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50" spc="-37" baseline="-22727" dirty="0">
                          <a:latin typeface="Symbol"/>
                          <a:cs typeface="Symbol"/>
                        </a:rPr>
                        <a:t></a:t>
                      </a:r>
                      <a:endParaRPr sz="1650" baseline="-22727">
                        <a:latin typeface="Symbol"/>
                        <a:cs typeface="Symbol"/>
                      </a:endParaRPr>
                    </a:p>
                  </a:txBody>
                  <a:tcPr marL="0" marR="0" marT="6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[0,5[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[5,10[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[10,15[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36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[15,20[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[20,25[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1209040" algn="l"/>
                        </a:tabLst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Marge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6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50" i="1" baseline="5847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50" baseline="-15151" dirty="0">
                          <a:latin typeface="Symbol"/>
                          <a:cs typeface="Symbol"/>
                        </a:rPr>
                        <a:t></a:t>
                      </a:r>
                      <a:r>
                        <a:rPr sz="1650" spc="37" baseline="-1515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i="1" spc="-75" baseline="-15151" dirty="0">
                          <a:latin typeface="Times New Roman"/>
                          <a:cs typeface="Times New Roman"/>
                        </a:rPr>
                        <a:t>j</a:t>
                      </a:r>
                      <a:endParaRPr sz="1650" baseline="-15151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33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5632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N =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843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F2315F-F1D1-C89A-7761-49A31227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La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covariance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7C8766A-9D28-69EC-3863-27F79D176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851" y="1893363"/>
            <a:ext cx="6937905" cy="373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756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B96A6B-D212-6650-CE31-3D1FF6B05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corrélation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557F867-723A-9E6C-F66E-FD06E85B2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729" y="1500187"/>
            <a:ext cx="677227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0952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A0DA576-8C11-6EE0-0F18-9A8850F0A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1185862"/>
            <a:ext cx="727710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094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0BA58-BC12-7692-6DD7-F2782129B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62" y="117577"/>
            <a:ext cx="9603275" cy="1049235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régression</a:t>
            </a:r>
            <a:r>
              <a:rPr lang="en-US" spc="-30" dirty="0">
                <a:latin typeface="Times New Roman"/>
                <a:cs typeface="Times New Roman"/>
              </a:rPr>
              <a:t> </a:t>
            </a:r>
            <a:r>
              <a:rPr lang="en-US" spc="-10" dirty="0" err="1">
                <a:latin typeface="Times New Roman"/>
                <a:cs typeface="Times New Roman"/>
              </a:rPr>
              <a:t>linéaire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F466606-7E83-9C04-59FB-CBCDF5035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884" y="839434"/>
            <a:ext cx="7381875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1275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319</TotalTime>
  <Words>1362</Words>
  <Application>Microsoft Office PowerPoint</Application>
  <PresentationFormat>Grand écran</PresentationFormat>
  <Paragraphs>245</Paragraphs>
  <Slides>38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7" baseType="lpstr">
      <vt:lpstr>Arial</vt:lpstr>
      <vt:lpstr>Calibri</vt:lpstr>
      <vt:lpstr>Calibri-Bold</vt:lpstr>
      <vt:lpstr>Cambria Math</vt:lpstr>
      <vt:lpstr>Gill Sans MT</vt:lpstr>
      <vt:lpstr>Symbol</vt:lpstr>
      <vt:lpstr>SymbolMT</vt:lpstr>
      <vt:lpstr>Times New Roman</vt:lpstr>
      <vt:lpstr>Galerie</vt:lpstr>
      <vt:lpstr>Variables et tableaux pour la statistique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La moyenne</vt:lpstr>
      <vt:lpstr>Présentation PowerPoint</vt:lpstr>
      <vt:lpstr>Variance </vt:lpstr>
      <vt:lpstr>Présentation PowerPoint</vt:lpstr>
      <vt:lpstr>Tableau individus/variables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Exemple (Homme/Femme) et la Satisfaction (Oui/Non). </vt:lpstr>
      <vt:lpstr>Exemple  10 clients d'un café avec les variables suivantes : Boisson : Café (C), Thé (T) Sucre : Oui (S), Non (N) Fidélité : Fidèle (F), Nouveau (V)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Exemple</vt:lpstr>
      <vt:lpstr>Exemple </vt:lpstr>
      <vt:lpstr>La covariance</vt:lpstr>
      <vt:lpstr>corrélation</vt:lpstr>
      <vt:lpstr>Présentation PowerPoint</vt:lpstr>
      <vt:lpstr>régression linéaire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14</cp:revision>
  <dcterms:created xsi:type="dcterms:W3CDTF">2026-02-10T18:54:36Z</dcterms:created>
  <dcterms:modified xsi:type="dcterms:W3CDTF">2026-02-11T00:14:01Z</dcterms:modified>
</cp:coreProperties>
</file>