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80" r:id="rId2"/>
    <p:sldId id="257" r:id="rId3"/>
    <p:sldId id="284" r:id="rId4"/>
    <p:sldId id="285" r:id="rId5"/>
    <p:sldId id="286" r:id="rId6"/>
    <p:sldId id="287" r:id="rId7"/>
    <p:sldId id="288" r:id="rId8"/>
    <p:sldId id="289" r:id="rId9"/>
    <p:sldId id="292" r:id="rId10"/>
    <p:sldId id="293" r:id="rId11"/>
    <p:sldId id="294" r:id="rId12"/>
    <p:sldId id="295" r:id="rId13"/>
    <p:sldId id="290" r:id="rId14"/>
    <p:sldId id="296" r:id="rId15"/>
    <p:sldId id="297" r:id="rId16"/>
    <p:sldId id="298" r:id="rId17"/>
    <p:sldId id="299" r:id="rId18"/>
    <p:sldId id="304" r:id="rId19"/>
    <p:sldId id="305" r:id="rId20"/>
    <p:sldId id="300" r:id="rId21"/>
    <p:sldId id="301" r:id="rId22"/>
    <p:sldId id="302" r:id="rId23"/>
    <p:sldId id="303" r:id="rId24"/>
    <p:sldId id="282" r:id="rId25"/>
    <p:sldId id="306" r:id="rId26"/>
    <p:sldId id="307" r:id="rId27"/>
    <p:sldId id="283" r:id="rId28"/>
    <p:sldId id="281" r:id="rId29"/>
  </p:sldIdLst>
  <p:sldSz cx="9144000" cy="6858000" type="screen4x3"/>
  <p:notesSz cx="6858000" cy="9723438"/>
  <p:defaultTextStyle>
    <a:defPPr>
      <a:defRPr lang="fr-FR"/>
    </a:defPPr>
    <a:lvl1pPr algn="l" rtl="0" fontAlgn="base">
      <a:spcBef>
        <a:spcPct val="0"/>
      </a:spcBef>
      <a:spcAft>
        <a:spcPct val="0"/>
      </a:spcAft>
      <a:defRPr kern="1200">
        <a:solidFill>
          <a:schemeClr val="tx1"/>
        </a:solidFill>
        <a:latin typeface="Times New Roman" pitchFamily="18" charset="0"/>
        <a:ea typeface="+mn-ea"/>
        <a:cs typeface="+mn-cs"/>
      </a:defRPr>
    </a:lvl1pPr>
    <a:lvl2pPr marL="457200" algn="l" rtl="0" fontAlgn="base">
      <a:spcBef>
        <a:spcPct val="0"/>
      </a:spcBef>
      <a:spcAft>
        <a:spcPct val="0"/>
      </a:spcAft>
      <a:defRPr kern="1200">
        <a:solidFill>
          <a:schemeClr val="tx1"/>
        </a:solidFill>
        <a:latin typeface="Times New Roman" pitchFamily="18" charset="0"/>
        <a:ea typeface="+mn-ea"/>
        <a:cs typeface="+mn-cs"/>
      </a:defRPr>
    </a:lvl2pPr>
    <a:lvl3pPr marL="914400" algn="l" rtl="0" fontAlgn="base">
      <a:spcBef>
        <a:spcPct val="0"/>
      </a:spcBef>
      <a:spcAft>
        <a:spcPct val="0"/>
      </a:spcAft>
      <a:defRPr kern="1200">
        <a:solidFill>
          <a:schemeClr val="tx1"/>
        </a:solidFill>
        <a:latin typeface="Times New Roman" pitchFamily="18" charset="0"/>
        <a:ea typeface="+mn-ea"/>
        <a:cs typeface="+mn-cs"/>
      </a:defRPr>
    </a:lvl3pPr>
    <a:lvl4pPr marL="1371600" algn="l" rtl="0" fontAlgn="base">
      <a:spcBef>
        <a:spcPct val="0"/>
      </a:spcBef>
      <a:spcAft>
        <a:spcPct val="0"/>
      </a:spcAft>
      <a:defRPr kern="1200">
        <a:solidFill>
          <a:schemeClr val="tx1"/>
        </a:solidFill>
        <a:latin typeface="Times New Roman" pitchFamily="18" charset="0"/>
        <a:ea typeface="+mn-ea"/>
        <a:cs typeface="+mn-cs"/>
      </a:defRPr>
    </a:lvl4pPr>
    <a:lvl5pPr marL="1828800" algn="l" rtl="0" fontAlgn="base">
      <a:spcBef>
        <a:spcPct val="0"/>
      </a:spcBef>
      <a:spcAft>
        <a:spcPct val="0"/>
      </a:spcAft>
      <a:defRPr kern="1200">
        <a:solidFill>
          <a:schemeClr val="tx1"/>
        </a:solidFill>
        <a:latin typeface="Times New Roman" pitchFamily="18" charset="0"/>
        <a:ea typeface="+mn-ea"/>
        <a:cs typeface="+mn-cs"/>
      </a:defRPr>
    </a:lvl5pPr>
    <a:lvl6pPr marL="2286000" algn="l" defTabSz="914400" rtl="0" eaLnBrk="1" latinLnBrk="0" hangingPunct="1">
      <a:defRPr kern="1200">
        <a:solidFill>
          <a:schemeClr val="tx1"/>
        </a:solidFill>
        <a:latin typeface="Times New Roman" pitchFamily="18" charset="0"/>
        <a:ea typeface="+mn-ea"/>
        <a:cs typeface="+mn-cs"/>
      </a:defRPr>
    </a:lvl6pPr>
    <a:lvl7pPr marL="2743200" algn="l" defTabSz="914400" rtl="0" eaLnBrk="1" latinLnBrk="0" hangingPunct="1">
      <a:defRPr kern="1200">
        <a:solidFill>
          <a:schemeClr val="tx1"/>
        </a:solidFill>
        <a:latin typeface="Times New Roman" pitchFamily="18" charset="0"/>
        <a:ea typeface="+mn-ea"/>
        <a:cs typeface="+mn-cs"/>
      </a:defRPr>
    </a:lvl7pPr>
    <a:lvl8pPr marL="3200400" algn="l" defTabSz="914400" rtl="0" eaLnBrk="1" latinLnBrk="0" hangingPunct="1">
      <a:defRPr kern="1200">
        <a:solidFill>
          <a:schemeClr val="tx1"/>
        </a:solidFill>
        <a:latin typeface="Times New Roman" pitchFamily="18" charset="0"/>
        <a:ea typeface="+mn-ea"/>
        <a:cs typeface="+mn-cs"/>
      </a:defRPr>
    </a:lvl8pPr>
    <a:lvl9pPr marL="3657600" algn="l" defTabSz="914400" rtl="0" eaLnBrk="1" latinLnBrk="0" hangingPunct="1">
      <a:defRPr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DD"/>
    <a:srgbClr val="FFFFB3"/>
    <a:srgbClr val="0000FF"/>
    <a:srgbClr val="004400"/>
    <a:srgbClr val="96210A"/>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808" autoAdjust="0"/>
  </p:normalViewPr>
  <p:slideViewPr>
    <p:cSldViewPr>
      <p:cViewPr>
        <p:scale>
          <a:sx n="72" d="100"/>
          <a:sy n="72" d="100"/>
        </p:scale>
        <p:origin x="-1114" y="81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266" name="Rectangle 2"/>
          <p:cNvSpPr>
            <a:spLocks noGrp="1" noChangeArrowheads="1"/>
          </p:cNvSpPr>
          <p:nvPr>
            <p:ph type="hdr" sz="quarter"/>
          </p:nvPr>
        </p:nvSpPr>
        <p:spPr bwMode="auto">
          <a:xfrm>
            <a:off x="0" y="0"/>
            <a:ext cx="2971800" cy="485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fr-FR"/>
          </a:p>
        </p:txBody>
      </p:sp>
      <p:sp>
        <p:nvSpPr>
          <p:cNvPr id="139267" name="Rectangle 3"/>
          <p:cNvSpPr>
            <a:spLocks noGrp="1" noChangeArrowheads="1"/>
          </p:cNvSpPr>
          <p:nvPr>
            <p:ph type="dt" sz="quarter" idx="1"/>
          </p:nvPr>
        </p:nvSpPr>
        <p:spPr bwMode="auto">
          <a:xfrm>
            <a:off x="3884613" y="0"/>
            <a:ext cx="2971800" cy="4857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fr-FR"/>
          </a:p>
        </p:txBody>
      </p:sp>
      <p:sp>
        <p:nvSpPr>
          <p:cNvPr id="139268" name="Rectangle 4"/>
          <p:cNvSpPr>
            <a:spLocks noGrp="1" noChangeArrowheads="1"/>
          </p:cNvSpPr>
          <p:nvPr>
            <p:ph type="ftr" sz="quarter" idx="2"/>
          </p:nvPr>
        </p:nvSpPr>
        <p:spPr bwMode="auto">
          <a:xfrm>
            <a:off x="0" y="9236075"/>
            <a:ext cx="2971800" cy="485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fr-FR"/>
          </a:p>
        </p:txBody>
      </p:sp>
      <p:sp>
        <p:nvSpPr>
          <p:cNvPr id="139269" name="Rectangle 5"/>
          <p:cNvSpPr>
            <a:spLocks noGrp="1" noChangeArrowheads="1"/>
          </p:cNvSpPr>
          <p:nvPr>
            <p:ph type="sldNum" sz="quarter" idx="3"/>
          </p:nvPr>
        </p:nvSpPr>
        <p:spPr bwMode="auto">
          <a:xfrm>
            <a:off x="3884613" y="9236075"/>
            <a:ext cx="2971800" cy="4857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pPr>
              <a:defRPr/>
            </a:pPr>
            <a:fld id="{CAAC6560-D2AF-4DB5-8B12-8B616C0B3D7F}" type="slidenum">
              <a:rPr lang="fr-FR"/>
              <a:pPr>
                <a:defRPr/>
              </a:pPr>
              <a:t>‹N°›</a:t>
            </a:fld>
            <a:endParaRPr lang="fr-FR"/>
          </a:p>
        </p:txBody>
      </p:sp>
    </p:spTree>
    <p:extLst>
      <p:ext uri="{BB962C8B-B14F-4D97-AF65-F5344CB8AC3E}">
        <p14:creationId xmlns:p14="http://schemas.microsoft.com/office/powerpoint/2010/main" val="31483519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85775"/>
          </a:xfrm>
          <a:prstGeom prst="rect">
            <a:avLst/>
          </a:prstGeom>
        </p:spPr>
        <p:txBody>
          <a:bodyPr vert="horz" lIns="91440" tIns="45720" rIns="91440" bIns="45720" rtlCol="0"/>
          <a:lstStyle>
            <a:lvl1pPr algn="l">
              <a:defRPr sz="1200">
                <a:latin typeface="Times New Roman" pitchFamily="18" charset="0"/>
              </a:defRPr>
            </a:lvl1pPr>
          </a:lstStyle>
          <a:p>
            <a:pPr>
              <a:defRPr/>
            </a:pPr>
            <a:endParaRPr lang="fr-FR"/>
          </a:p>
        </p:txBody>
      </p:sp>
      <p:sp>
        <p:nvSpPr>
          <p:cNvPr id="3" name="Espace réservé de la date 2"/>
          <p:cNvSpPr>
            <a:spLocks noGrp="1"/>
          </p:cNvSpPr>
          <p:nvPr>
            <p:ph type="dt" idx="1"/>
          </p:nvPr>
        </p:nvSpPr>
        <p:spPr>
          <a:xfrm>
            <a:off x="3884613" y="0"/>
            <a:ext cx="2971800" cy="485775"/>
          </a:xfrm>
          <a:prstGeom prst="rect">
            <a:avLst/>
          </a:prstGeom>
        </p:spPr>
        <p:txBody>
          <a:bodyPr vert="horz" lIns="91440" tIns="45720" rIns="91440" bIns="45720" rtlCol="0"/>
          <a:lstStyle>
            <a:lvl1pPr algn="r">
              <a:defRPr sz="1200">
                <a:latin typeface="Times New Roman" pitchFamily="18" charset="0"/>
              </a:defRPr>
            </a:lvl1pPr>
          </a:lstStyle>
          <a:p>
            <a:pPr>
              <a:defRPr/>
            </a:pPr>
            <a:fld id="{6BB15EFE-88D6-4D58-AB8E-458516D33A5E}" type="datetimeFigureOut">
              <a:rPr lang="fr-FR"/>
              <a:pPr>
                <a:defRPr/>
              </a:pPr>
              <a:t>25/11/2017</a:t>
            </a:fld>
            <a:endParaRPr lang="fr-FR"/>
          </a:p>
        </p:txBody>
      </p:sp>
      <p:sp>
        <p:nvSpPr>
          <p:cNvPr id="4" name="Espace réservé de l'image des diapositives 3"/>
          <p:cNvSpPr>
            <a:spLocks noGrp="1" noRot="1" noChangeAspect="1"/>
          </p:cNvSpPr>
          <p:nvPr>
            <p:ph type="sldImg" idx="2"/>
          </p:nvPr>
        </p:nvSpPr>
        <p:spPr>
          <a:xfrm>
            <a:off x="998538" y="728663"/>
            <a:ext cx="4860925" cy="3646487"/>
          </a:xfrm>
          <a:prstGeom prst="rect">
            <a:avLst/>
          </a:prstGeom>
          <a:noFill/>
          <a:ln w="12700">
            <a:solidFill>
              <a:prstClr val="black"/>
            </a:solidFill>
          </a:ln>
        </p:spPr>
        <p:txBody>
          <a:bodyPr vert="horz" lIns="91440" tIns="45720" rIns="91440" bIns="45720" rtlCol="0" anchor="ctr"/>
          <a:lstStyle/>
          <a:p>
            <a:pPr lvl="0"/>
            <a:endParaRPr lang="fr-FR" noProof="0" smtClean="0"/>
          </a:p>
        </p:txBody>
      </p:sp>
      <p:sp>
        <p:nvSpPr>
          <p:cNvPr id="5" name="Espace réservé des commentaires 4"/>
          <p:cNvSpPr>
            <a:spLocks noGrp="1"/>
          </p:cNvSpPr>
          <p:nvPr>
            <p:ph type="body" sz="quarter" idx="3"/>
          </p:nvPr>
        </p:nvSpPr>
        <p:spPr>
          <a:xfrm>
            <a:off x="685800" y="4618038"/>
            <a:ext cx="5486400" cy="4376737"/>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p>
        </p:txBody>
      </p:sp>
      <p:sp>
        <p:nvSpPr>
          <p:cNvPr id="6" name="Espace réservé du pied de page 5"/>
          <p:cNvSpPr>
            <a:spLocks noGrp="1"/>
          </p:cNvSpPr>
          <p:nvPr>
            <p:ph type="ftr" sz="quarter" idx="4"/>
          </p:nvPr>
        </p:nvSpPr>
        <p:spPr>
          <a:xfrm>
            <a:off x="0" y="9236075"/>
            <a:ext cx="2971800" cy="485775"/>
          </a:xfrm>
          <a:prstGeom prst="rect">
            <a:avLst/>
          </a:prstGeom>
        </p:spPr>
        <p:txBody>
          <a:bodyPr vert="horz" lIns="91440" tIns="45720" rIns="91440" bIns="45720" rtlCol="0" anchor="b"/>
          <a:lstStyle>
            <a:lvl1pPr algn="l">
              <a:defRPr sz="1200">
                <a:latin typeface="Times New Roman" pitchFamily="18" charset="0"/>
              </a:defRPr>
            </a:lvl1pPr>
          </a:lstStyle>
          <a:p>
            <a:pPr>
              <a:defRPr/>
            </a:pPr>
            <a:endParaRPr lang="fr-FR"/>
          </a:p>
        </p:txBody>
      </p:sp>
      <p:sp>
        <p:nvSpPr>
          <p:cNvPr id="7" name="Espace réservé du numéro de diapositive 6"/>
          <p:cNvSpPr>
            <a:spLocks noGrp="1"/>
          </p:cNvSpPr>
          <p:nvPr>
            <p:ph type="sldNum" sz="quarter" idx="5"/>
          </p:nvPr>
        </p:nvSpPr>
        <p:spPr>
          <a:xfrm>
            <a:off x="3884613" y="9236075"/>
            <a:ext cx="2971800" cy="485775"/>
          </a:xfrm>
          <a:prstGeom prst="rect">
            <a:avLst/>
          </a:prstGeom>
        </p:spPr>
        <p:txBody>
          <a:bodyPr vert="horz" lIns="91440" tIns="45720" rIns="91440" bIns="45720" rtlCol="0" anchor="b"/>
          <a:lstStyle>
            <a:lvl1pPr algn="r">
              <a:defRPr sz="1200">
                <a:latin typeface="Times New Roman" pitchFamily="18" charset="0"/>
              </a:defRPr>
            </a:lvl1pPr>
          </a:lstStyle>
          <a:p>
            <a:pPr>
              <a:defRPr/>
            </a:pPr>
            <a:fld id="{B7C4856D-4B19-41D7-A351-061D36BE6DED}" type="slidenum">
              <a:rPr lang="fr-FR"/>
              <a:pPr>
                <a:defRPr/>
              </a:pPr>
              <a:t>‹N°›</a:t>
            </a:fld>
            <a:endParaRPr lang="fr-FR"/>
          </a:p>
        </p:txBody>
      </p:sp>
    </p:spTree>
    <p:extLst>
      <p:ext uri="{BB962C8B-B14F-4D97-AF65-F5344CB8AC3E}">
        <p14:creationId xmlns:p14="http://schemas.microsoft.com/office/powerpoint/2010/main" val="16861238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fr-CH" dirty="0" smtClean="0">
                <a:cs typeface="Times New Roman" pitchFamily="18" charset="0"/>
              </a:rPr>
              <a:t>Voici donc les 4 étapes nécessaires pour traduire un système d'information naturel en une base de données:</a:t>
            </a:r>
          </a:p>
          <a:p>
            <a:endParaRPr lang="fr-FR" dirty="0"/>
          </a:p>
        </p:txBody>
      </p:sp>
      <p:sp>
        <p:nvSpPr>
          <p:cNvPr id="4" name="Espace réservé du numéro de diapositive 3"/>
          <p:cNvSpPr>
            <a:spLocks noGrp="1"/>
          </p:cNvSpPr>
          <p:nvPr>
            <p:ph type="sldNum" sz="quarter" idx="10"/>
          </p:nvPr>
        </p:nvSpPr>
        <p:spPr/>
        <p:txBody>
          <a:bodyPr/>
          <a:lstStyle/>
          <a:p>
            <a:pPr>
              <a:defRPr/>
            </a:pPr>
            <a:fld id="{B7C4856D-4B19-41D7-A351-061D36BE6DED}" type="slidenum">
              <a:rPr lang="fr-FR" smtClean="0"/>
              <a:pPr>
                <a:defRPr/>
              </a:pPr>
              <a:t>19</a:t>
            </a:fld>
            <a:endParaRPr lang="fr-FR"/>
          </a:p>
        </p:txBody>
      </p:sp>
    </p:spTree>
    <p:extLst>
      <p:ext uri="{BB962C8B-B14F-4D97-AF65-F5344CB8AC3E}">
        <p14:creationId xmlns:p14="http://schemas.microsoft.com/office/powerpoint/2010/main" val="3372696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Cliquez pour modifier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smtClean="0"/>
              <a:t>Cliquez pour modifier le style des sous-titres du masque</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761A181F-D78E-4F71-A218-4FF3FF5EB02D}" type="slidenum">
              <a:rPr lang="fr-FR"/>
              <a:pPr>
                <a:defRPr/>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868F63C5-228E-4F09-A47C-855B96E13433}" type="slidenum">
              <a:rPr lang="fr-FR"/>
              <a:pPr>
                <a:defRPr/>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Cliquez pour modifier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Cliquez pour modifier les styles du texte du masque</a:t>
            </a: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19DE2E42-3E68-4C41-A850-ABFAD772D820}" type="slidenum">
              <a:rPr lang="fr-FR"/>
              <a:pPr>
                <a:defRPr/>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10B9BB8E-4860-49D5-A5D2-72C579C6076A}" type="slidenum">
              <a:rPr lang="fr-FR"/>
              <a:pPr>
                <a:defRPr/>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Cliquez pour modifier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Rectangle 4"/>
          <p:cNvSpPr>
            <a:spLocks noGrp="1" noChangeArrowheads="1"/>
          </p:cNvSpPr>
          <p:nvPr>
            <p:ph type="dt" sz="half" idx="10"/>
          </p:nvPr>
        </p:nvSpPr>
        <p:spPr>
          <a:ln/>
        </p:spPr>
        <p:txBody>
          <a:bodyPr/>
          <a:lstStyle>
            <a:lvl1pPr>
              <a:defRPr/>
            </a:lvl1pPr>
          </a:lstStyle>
          <a:p>
            <a:pPr>
              <a:defRPr/>
            </a:pPr>
            <a:endParaRPr lang="fr-FR"/>
          </a:p>
        </p:txBody>
      </p:sp>
      <p:sp>
        <p:nvSpPr>
          <p:cNvPr id="8" name="Rectangle 5"/>
          <p:cNvSpPr>
            <a:spLocks noGrp="1" noChangeArrowheads="1"/>
          </p:cNvSpPr>
          <p:nvPr>
            <p:ph type="ftr" sz="quarter" idx="11"/>
          </p:nvPr>
        </p:nvSpPr>
        <p:spPr>
          <a:ln/>
        </p:spPr>
        <p:txBody>
          <a:bodyPr/>
          <a:lstStyle>
            <a:lvl1pPr>
              <a:defRPr/>
            </a:lvl1pPr>
          </a:lstStyle>
          <a:p>
            <a:pPr>
              <a:defRPr/>
            </a:pPr>
            <a:endParaRPr lang="fr-FR"/>
          </a:p>
        </p:txBody>
      </p:sp>
      <p:sp>
        <p:nvSpPr>
          <p:cNvPr id="9" name="Rectangle 6"/>
          <p:cNvSpPr>
            <a:spLocks noGrp="1" noChangeArrowheads="1"/>
          </p:cNvSpPr>
          <p:nvPr>
            <p:ph type="sldNum" sz="quarter" idx="12"/>
          </p:nvPr>
        </p:nvSpPr>
        <p:spPr>
          <a:ln/>
        </p:spPr>
        <p:txBody>
          <a:bodyPr/>
          <a:lstStyle>
            <a:lvl1pPr>
              <a:defRPr/>
            </a:lvl1pPr>
          </a:lstStyle>
          <a:p>
            <a:pPr>
              <a:defRPr/>
            </a:pPr>
            <a:fld id="{A2031E96-6178-4EE8-97B1-EAE7F4D112EB}" type="slidenum">
              <a:rPr lang="fr-FR"/>
              <a:pPr>
                <a:defRPr/>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Rectangle 4"/>
          <p:cNvSpPr>
            <a:spLocks noGrp="1" noChangeArrowheads="1"/>
          </p:cNvSpPr>
          <p:nvPr>
            <p:ph type="dt" sz="half" idx="10"/>
          </p:nvPr>
        </p:nvSpPr>
        <p:spPr>
          <a:ln/>
        </p:spPr>
        <p:txBody>
          <a:bodyPr/>
          <a:lstStyle>
            <a:lvl1pPr>
              <a:defRPr/>
            </a:lvl1pPr>
          </a:lstStyle>
          <a:p>
            <a:pPr>
              <a:defRPr/>
            </a:pPr>
            <a:endParaRPr lang="fr-FR"/>
          </a:p>
        </p:txBody>
      </p:sp>
      <p:sp>
        <p:nvSpPr>
          <p:cNvPr id="4" name="Rectangle 5"/>
          <p:cNvSpPr>
            <a:spLocks noGrp="1" noChangeArrowheads="1"/>
          </p:cNvSpPr>
          <p:nvPr>
            <p:ph type="ftr" sz="quarter" idx="11"/>
          </p:nvPr>
        </p:nvSpPr>
        <p:spPr>
          <a:ln/>
        </p:spPr>
        <p:txBody>
          <a:bodyPr/>
          <a:lstStyle>
            <a:lvl1pPr>
              <a:defRPr/>
            </a:lvl1pPr>
          </a:lstStyle>
          <a:p>
            <a:pPr>
              <a:defRPr/>
            </a:pPr>
            <a:endParaRPr lang="fr-FR"/>
          </a:p>
        </p:txBody>
      </p:sp>
      <p:sp>
        <p:nvSpPr>
          <p:cNvPr id="5" name="Rectangle 6"/>
          <p:cNvSpPr>
            <a:spLocks noGrp="1" noChangeArrowheads="1"/>
          </p:cNvSpPr>
          <p:nvPr>
            <p:ph type="sldNum" sz="quarter" idx="12"/>
          </p:nvPr>
        </p:nvSpPr>
        <p:spPr>
          <a:ln/>
        </p:spPr>
        <p:txBody>
          <a:bodyPr/>
          <a:lstStyle>
            <a:lvl1pPr>
              <a:defRPr/>
            </a:lvl1pPr>
          </a:lstStyle>
          <a:p>
            <a:pPr>
              <a:defRPr/>
            </a:pPr>
            <a:fld id="{BFCFCC8B-42DF-472F-B390-6E69EDAEF434}" type="slidenum">
              <a:rPr lang="fr-FR"/>
              <a:pPr>
                <a:defRPr/>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fr-FR"/>
          </a:p>
        </p:txBody>
      </p:sp>
      <p:sp>
        <p:nvSpPr>
          <p:cNvPr id="3" name="Rectangle 5"/>
          <p:cNvSpPr>
            <a:spLocks noGrp="1" noChangeArrowheads="1"/>
          </p:cNvSpPr>
          <p:nvPr>
            <p:ph type="ftr" sz="quarter" idx="11"/>
          </p:nvPr>
        </p:nvSpPr>
        <p:spPr>
          <a:ln/>
        </p:spPr>
        <p:txBody>
          <a:bodyPr/>
          <a:lstStyle>
            <a:lvl1pPr>
              <a:defRPr/>
            </a:lvl1pPr>
          </a:lstStyle>
          <a:p>
            <a:pPr>
              <a:defRPr/>
            </a:pPr>
            <a:endParaRPr lang="fr-FR"/>
          </a:p>
        </p:txBody>
      </p:sp>
      <p:sp>
        <p:nvSpPr>
          <p:cNvPr id="4" name="Rectangle 6"/>
          <p:cNvSpPr>
            <a:spLocks noGrp="1" noChangeArrowheads="1"/>
          </p:cNvSpPr>
          <p:nvPr>
            <p:ph type="sldNum" sz="quarter" idx="12"/>
          </p:nvPr>
        </p:nvSpPr>
        <p:spPr>
          <a:ln/>
        </p:spPr>
        <p:txBody>
          <a:bodyPr/>
          <a:lstStyle>
            <a:lvl1pPr>
              <a:defRPr/>
            </a:lvl1pPr>
          </a:lstStyle>
          <a:p>
            <a:pPr>
              <a:defRPr/>
            </a:pPr>
            <a:fld id="{894B749A-18FA-448E-B884-97B5AC12E1FE}" type="slidenum">
              <a:rPr lang="fr-FR"/>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Cliquez pour modifier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0685041F-BC25-4F41-8F9B-A69763E2F6BE}" type="slidenum">
              <a:rPr lang="fr-FR"/>
              <a:pPr>
                <a:defRPr/>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Cliquez pour modifier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Cliquez pour modifier les styles du texte du masque</a:t>
            </a: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654D324E-894F-4032-A4AD-D0A59DFC4616}" type="slidenum">
              <a:rPr lang="fr-FR"/>
              <a:pPr>
                <a:defRPr/>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316CFBE8-E0F0-4E32-A9A0-05EF14B04E3D}" type="slidenum">
              <a:rPr lang="fr-FR"/>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pPr>
              <a:defRPr/>
            </a:pPr>
            <a:fld id="{60F095B2-FD2D-4B95-9383-3BF82C645383}" type="slidenum">
              <a:rPr lang="fr-FR"/>
              <a:pPr>
                <a:defRPr/>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quarter" idx="2"/>
          </p:nvPr>
        </p:nvSpPr>
        <p:spPr>
          <a:xfrm>
            <a:off x="4648200" y="1600200"/>
            <a:ext cx="4038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contenu 4"/>
          <p:cNvSpPr>
            <a:spLocks noGrp="1"/>
          </p:cNvSpPr>
          <p:nvPr>
            <p:ph sz="quarter" idx="3"/>
          </p:nvPr>
        </p:nvSpPr>
        <p:spPr>
          <a:xfrm>
            <a:off x="4648200" y="3938588"/>
            <a:ext cx="4038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Rectangle 4"/>
          <p:cNvSpPr>
            <a:spLocks noGrp="1" noChangeArrowheads="1"/>
          </p:cNvSpPr>
          <p:nvPr>
            <p:ph type="dt" sz="half" idx="10"/>
          </p:nvPr>
        </p:nvSpPr>
        <p:spPr>
          <a:ln/>
        </p:spPr>
        <p:txBody>
          <a:bodyPr/>
          <a:lstStyle>
            <a:lvl1pPr>
              <a:defRPr/>
            </a:lvl1pPr>
          </a:lstStyle>
          <a:p>
            <a:pPr>
              <a:defRPr/>
            </a:pPr>
            <a:endParaRPr lang="fr-FR"/>
          </a:p>
        </p:txBody>
      </p:sp>
      <p:sp>
        <p:nvSpPr>
          <p:cNvPr id="7" name="Rectangle 5"/>
          <p:cNvSpPr>
            <a:spLocks noGrp="1" noChangeArrowheads="1"/>
          </p:cNvSpPr>
          <p:nvPr>
            <p:ph type="ftr" sz="quarter" idx="11"/>
          </p:nvPr>
        </p:nvSpPr>
        <p:spPr>
          <a:ln/>
        </p:spPr>
        <p:txBody>
          <a:bodyPr/>
          <a:lstStyle>
            <a:lvl1pPr>
              <a:defRPr/>
            </a:lvl1pPr>
          </a:lstStyle>
          <a:p>
            <a:pPr>
              <a:defRPr/>
            </a:pPr>
            <a:endParaRPr lang="fr-FR"/>
          </a:p>
        </p:txBody>
      </p:sp>
      <p:sp>
        <p:nvSpPr>
          <p:cNvPr id="8" name="Rectangle 6"/>
          <p:cNvSpPr>
            <a:spLocks noGrp="1" noChangeArrowheads="1"/>
          </p:cNvSpPr>
          <p:nvPr>
            <p:ph type="sldNum" sz="quarter" idx="12"/>
          </p:nvPr>
        </p:nvSpPr>
        <p:spPr>
          <a:ln/>
        </p:spPr>
        <p:txBody>
          <a:bodyPr/>
          <a:lstStyle>
            <a:lvl1pPr>
              <a:defRPr/>
            </a:lvl1pPr>
          </a:lstStyle>
          <a:p>
            <a:pPr>
              <a:defRPr/>
            </a:pPr>
            <a:fld id="{86BE792E-4670-49E2-BB2A-527663FC6C4B}" type="slidenum">
              <a:rPr lang="fr-FR"/>
              <a:pPr>
                <a:defRPr/>
              </a:pPr>
              <a:t>‹N°›</a:t>
            </a:fld>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5E040838-22B1-4793-8E50-028744305D2D}" type="slidenum">
              <a:rPr lang="fr-FR"/>
              <a:pPr>
                <a:defRPr/>
              </a:pPr>
              <a:t>‹N°›</a:t>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re et texte sur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texte 2"/>
          <p:cNvSpPr>
            <a:spLocks noGrp="1"/>
          </p:cNvSpPr>
          <p:nvPr>
            <p:ph type="body" sz="half" idx="1"/>
          </p:nvPr>
        </p:nvSpPr>
        <p:spPr>
          <a:xfrm>
            <a:off x="457200" y="1600200"/>
            <a:ext cx="8229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57200" y="3938588"/>
            <a:ext cx="8229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3487B4FC-5537-4D7F-8C8B-F733D34E6FC0}" type="slidenum">
              <a:rPr lang="fr-FR"/>
              <a:pPr>
                <a:defRPr/>
              </a:pPr>
              <a:t>‹N°›</a:t>
            </a:fld>
            <a:endParaRPr lang="fr-F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Titre et contenu sur texte">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smtClean="0"/>
              <a:t>Cliquez pour modifier le style du titre</a:t>
            </a:r>
            <a:endParaRPr lang="fr-FR"/>
          </a:p>
        </p:txBody>
      </p:sp>
      <p:sp>
        <p:nvSpPr>
          <p:cNvPr id="3" name="Espace réservé du contenu 2"/>
          <p:cNvSpPr>
            <a:spLocks noGrp="1"/>
          </p:cNvSpPr>
          <p:nvPr>
            <p:ph sz="half" idx="1"/>
          </p:nvPr>
        </p:nvSpPr>
        <p:spPr>
          <a:xfrm>
            <a:off x="457200" y="1600200"/>
            <a:ext cx="8229600" cy="2185988"/>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3938588"/>
            <a:ext cx="8229600" cy="2187575"/>
          </a:xfrm>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dt" sz="half" idx="10"/>
          </p:nvPr>
        </p:nvSpPr>
        <p:spPr>
          <a:ln/>
        </p:spPr>
        <p:txBody>
          <a:bodyPr/>
          <a:lstStyle>
            <a:lvl1pPr>
              <a:defRPr/>
            </a:lvl1pPr>
          </a:lstStyle>
          <a:p>
            <a:pPr>
              <a:defRPr/>
            </a:pPr>
            <a:endParaRPr lang="fr-FR"/>
          </a:p>
        </p:txBody>
      </p:sp>
      <p:sp>
        <p:nvSpPr>
          <p:cNvPr id="6" name="Rectangle 5"/>
          <p:cNvSpPr>
            <a:spLocks noGrp="1" noChangeArrowheads="1"/>
          </p:cNvSpPr>
          <p:nvPr>
            <p:ph type="ftr" sz="quarter" idx="11"/>
          </p:nvPr>
        </p:nvSpPr>
        <p:spPr>
          <a:ln/>
        </p:spPr>
        <p:txBody>
          <a:bodyPr/>
          <a:lstStyle>
            <a:lvl1pPr>
              <a:defRPr/>
            </a:lvl1pPr>
          </a:lstStyle>
          <a:p>
            <a:pPr>
              <a:defRPr/>
            </a:pPr>
            <a:endParaRPr lang="fr-FR"/>
          </a:p>
        </p:txBody>
      </p:sp>
      <p:sp>
        <p:nvSpPr>
          <p:cNvPr id="7" name="Rectangle 6"/>
          <p:cNvSpPr>
            <a:spLocks noGrp="1" noChangeArrowheads="1"/>
          </p:cNvSpPr>
          <p:nvPr>
            <p:ph type="sldNum" sz="quarter" idx="12"/>
          </p:nvPr>
        </p:nvSpPr>
        <p:spPr>
          <a:ln/>
        </p:spPr>
        <p:txBody>
          <a:bodyPr/>
          <a:lstStyle>
            <a:lvl1pPr>
              <a:defRPr/>
            </a:lvl1pPr>
          </a:lstStyle>
          <a:p>
            <a:pPr>
              <a:defRPr/>
            </a:pPr>
            <a:fld id="{7C932150-6338-4ADA-A733-76BFEB203385}" type="slidenum">
              <a:rPr lang="fr-FR"/>
              <a:pPr>
                <a:defRPr/>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r-FR" smtClean="0"/>
              <a:t>Cliquez pour modifier le style du titre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defRPr>
            </a:lvl1pPr>
          </a:lstStyle>
          <a:p>
            <a:pPr>
              <a:defRPr/>
            </a:pPr>
            <a:endParaRPr lang="fr-F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pitchFamily="18" charset="0"/>
              </a:defRPr>
            </a:lvl1pPr>
          </a:lstStyle>
          <a:p>
            <a:pPr>
              <a:defRPr/>
            </a:pPr>
            <a:endParaRPr lang="fr-F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pitchFamily="18" charset="0"/>
              </a:defRPr>
            </a:lvl1pPr>
          </a:lstStyle>
          <a:p>
            <a:pPr>
              <a:defRPr/>
            </a:pPr>
            <a:fld id="{1900A812-6F1D-411D-BD13-8F805D07D177}" type="slidenum">
              <a:rPr lang="fr-FR"/>
              <a:pPr>
                <a:defRPr/>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file:///C:\DATA\M&#233;moire\Librairie%20d'images\c2332n2.gif" TargetMode="External"/><Relationship Id="rId5" Type="http://schemas.openxmlformats.org/officeDocument/2006/relationships/image" Target="../media/image4.png"/><Relationship Id="rId4" Type="http://schemas.openxmlformats.org/officeDocument/2006/relationships/image" Target="file:///C:\DATA\M&#233;moire\Librairie%20d'images\c2332n1.gif"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file:///C:\DATA\M&#233;moire\Librairie%20d'images\c2332n3.gif" TargetMode="External"/><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file:///C:\DATA\M&#233;moire\Librairie%20d'images\c2332n4.gif"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51520" y="2060848"/>
            <a:ext cx="8569325" cy="1803400"/>
          </a:xfrm>
        </p:spPr>
        <p:txBody>
          <a:bodyPr anchor="ctr">
            <a:normAutofit/>
          </a:bodyPr>
          <a:lstStyle/>
          <a:p>
            <a:r>
              <a:rPr lang="fr-FR" sz="4300" kern="1200" dirty="0" smtClean="0">
                <a:solidFill>
                  <a:srgbClr val="572314"/>
                </a:solidFill>
                <a:effectLst>
                  <a:outerShdw blurRad="50000" dist="30000" dir="5400000" algn="tl" rotWithShape="0">
                    <a:srgbClr val="000000">
                      <a:alpha val="30000"/>
                    </a:srgbClr>
                  </a:outerShdw>
                </a:effectLst>
                <a:latin typeface="Gill Sans MT"/>
              </a:rPr>
              <a:t>Chapitre 4</a:t>
            </a:r>
            <a:br>
              <a:rPr lang="fr-FR" sz="4300" kern="1200" dirty="0" smtClean="0">
                <a:solidFill>
                  <a:srgbClr val="572314"/>
                </a:solidFill>
                <a:effectLst>
                  <a:outerShdw blurRad="50000" dist="30000" dir="5400000" algn="tl" rotWithShape="0">
                    <a:srgbClr val="000000">
                      <a:alpha val="30000"/>
                    </a:srgbClr>
                  </a:outerShdw>
                </a:effectLst>
                <a:latin typeface="Gill Sans MT"/>
              </a:rPr>
            </a:br>
            <a:r>
              <a:rPr lang="fr-FR" sz="4300" kern="1200" dirty="0" smtClean="0">
                <a:solidFill>
                  <a:srgbClr val="572314"/>
                </a:solidFill>
                <a:effectLst>
                  <a:outerShdw blurRad="50000" dist="30000" dir="5400000" algn="tl" rotWithShape="0">
                    <a:srgbClr val="000000">
                      <a:alpha val="30000"/>
                    </a:srgbClr>
                  </a:outerShdw>
                </a:effectLst>
                <a:latin typeface="Gill Sans MT"/>
              </a:rPr>
              <a:t>Modèle </a:t>
            </a:r>
            <a:r>
              <a:rPr lang="fr-FR" sz="4300" kern="1200" dirty="0">
                <a:solidFill>
                  <a:srgbClr val="572314"/>
                </a:solidFill>
                <a:effectLst>
                  <a:outerShdw blurRad="50000" dist="30000" dir="5400000" algn="tl" rotWithShape="0">
                    <a:srgbClr val="000000">
                      <a:alpha val="30000"/>
                    </a:srgbClr>
                  </a:outerShdw>
                </a:effectLst>
                <a:latin typeface="Gill Sans MT"/>
              </a:rPr>
              <a:t>Logique de Données (MLD)</a:t>
            </a:r>
          </a:p>
        </p:txBody>
      </p:sp>
      <p:sp>
        <p:nvSpPr>
          <p:cNvPr id="2051" name="Espace réservé du numéro de diapositive 3"/>
          <p:cNvSpPr>
            <a:spLocks noGrp="1"/>
          </p:cNvSpPr>
          <p:nvPr>
            <p:ph type="sldNum" sz="quarter" idx="12"/>
          </p:nvPr>
        </p:nvSpPr>
        <p:spPr>
          <a:noFill/>
        </p:spPr>
        <p:txBody>
          <a:bodyPr/>
          <a:lstStyle/>
          <a:p>
            <a:fld id="{1143C34D-911C-4B97-ACB8-94C24916FD81}" type="slidenum">
              <a:rPr lang="fr-FR" smtClean="0"/>
              <a:pPr/>
              <a:t>1</a:t>
            </a:fld>
            <a:endParaRPr lang="fr-FR"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00063" y="428625"/>
            <a:ext cx="8229600" cy="1143000"/>
          </a:xfrm>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fr-FR" sz="4300" kern="1200" dirty="0">
                <a:solidFill>
                  <a:srgbClr val="572314"/>
                </a:solidFill>
                <a:effectLst>
                  <a:outerShdw blurRad="50000" dist="30000" dir="5400000" algn="tl" rotWithShape="0">
                    <a:srgbClr val="000000">
                      <a:alpha val="30000"/>
                    </a:srgbClr>
                  </a:outerShdw>
                </a:effectLst>
                <a:latin typeface="Gill Sans MT"/>
              </a:rPr>
              <a:t>Quel formalisme ?</a:t>
            </a:r>
          </a:p>
        </p:txBody>
      </p:sp>
      <p:sp>
        <p:nvSpPr>
          <p:cNvPr id="3075" name="Rectangle 3"/>
          <p:cNvSpPr>
            <a:spLocks noGrp="1" noChangeArrowheads="1"/>
          </p:cNvSpPr>
          <p:nvPr>
            <p:ph type="body" idx="1"/>
          </p:nvPr>
        </p:nvSpPr>
        <p:spPr>
          <a:xfrm>
            <a:off x="142844" y="1785926"/>
            <a:ext cx="9215502" cy="4340237"/>
          </a:xfrm>
        </p:spPr>
        <p:txBody>
          <a:bodyPr/>
          <a:lstStyle/>
          <a:p>
            <a:pPr>
              <a:buFont typeface="Courier New" pitchFamily="49" charset="0"/>
              <a:buChar char="o"/>
            </a:pPr>
            <a:r>
              <a:rPr lang="fr-FR" sz="2800" b="1" dirty="0" smtClean="0">
                <a:latin typeface="Arial" charset="0"/>
              </a:rPr>
              <a:t>MLD </a:t>
            </a:r>
            <a:r>
              <a:rPr lang="fr-FR" sz="2800" dirty="0" smtClean="0">
                <a:latin typeface="Arial" charset="0"/>
              </a:rPr>
              <a:t>étape intermédiaire pour passer du modèle  </a:t>
            </a:r>
            <a:r>
              <a:rPr lang="fr-FR" sz="2800" b="1" dirty="0" smtClean="0">
                <a:solidFill>
                  <a:srgbClr val="FF0000"/>
                </a:solidFill>
                <a:latin typeface="Arial" charset="0"/>
              </a:rPr>
              <a:t>MCD</a:t>
            </a:r>
            <a:r>
              <a:rPr lang="fr-FR" sz="2800" dirty="0" smtClean="0">
                <a:latin typeface="Arial" charset="0"/>
              </a:rPr>
              <a:t>, modèle </a:t>
            </a:r>
            <a:r>
              <a:rPr lang="fr-FR" sz="2800" b="1" dirty="0" smtClean="0">
                <a:solidFill>
                  <a:srgbClr val="FF0000"/>
                </a:solidFill>
                <a:latin typeface="Arial" charset="0"/>
              </a:rPr>
              <a:t>sémantique</a:t>
            </a:r>
            <a:r>
              <a:rPr lang="fr-FR" sz="2800" dirty="0" smtClean="0">
                <a:latin typeface="Arial" charset="0"/>
              </a:rPr>
              <a:t>, vers une représentation </a:t>
            </a:r>
            <a:r>
              <a:rPr lang="fr-FR" sz="2800" b="1" dirty="0" smtClean="0">
                <a:solidFill>
                  <a:srgbClr val="FF0000"/>
                </a:solidFill>
                <a:latin typeface="Arial" charset="0"/>
              </a:rPr>
              <a:t>physique</a:t>
            </a:r>
            <a:r>
              <a:rPr lang="fr-FR" sz="2800" dirty="0" smtClean="0">
                <a:latin typeface="Arial" charset="0"/>
              </a:rPr>
              <a:t> des données (fichiers, SGBD hiérarchique, SGBD réseau, SGBD relationnel)</a:t>
            </a:r>
          </a:p>
          <a:p>
            <a:pPr>
              <a:buNone/>
            </a:pPr>
            <a:r>
              <a:rPr lang="fr-FR" sz="2800" dirty="0" smtClean="0">
                <a:latin typeface="Arial" charset="0"/>
              </a:rPr>
              <a:t>  </a:t>
            </a:r>
            <a:r>
              <a:rPr lang="fr-FR" sz="2800" b="1" dirty="0" smtClean="0">
                <a:solidFill>
                  <a:srgbClr val="C00000"/>
                </a:solidFill>
                <a:latin typeface="Arial" charset="0"/>
              </a:rPr>
              <a:t>Remarque</a:t>
            </a:r>
            <a:r>
              <a:rPr lang="fr-FR" sz="2800" dirty="0" smtClean="0">
                <a:latin typeface="Arial" charset="0"/>
              </a:rPr>
              <a:t>. On se limite au seul </a:t>
            </a:r>
            <a:r>
              <a:rPr lang="fr-FR" sz="2800" b="1" u="sng" dirty="0" smtClean="0">
                <a:solidFill>
                  <a:srgbClr val="FF0000"/>
                </a:solidFill>
                <a:latin typeface="Arial" charset="0"/>
              </a:rPr>
              <a:t>MLD relationnel,</a:t>
            </a:r>
            <a:r>
              <a:rPr lang="fr-FR" sz="2800" b="1" dirty="0" smtClean="0">
                <a:solidFill>
                  <a:srgbClr val="FF0000"/>
                </a:solidFill>
                <a:latin typeface="Arial" charset="0"/>
              </a:rPr>
              <a:t> </a:t>
            </a:r>
            <a:r>
              <a:rPr lang="fr-FR" sz="2800" dirty="0" smtClean="0">
                <a:latin typeface="Arial" charset="0"/>
              </a:rPr>
              <a:t>qui prépare le passage aux SGBD relationnels.</a:t>
            </a:r>
            <a:endParaRPr lang="fr-FR" sz="2800" dirty="0">
              <a:latin typeface="Arial" charset="0"/>
            </a:endParaRPr>
          </a:p>
        </p:txBody>
      </p:sp>
      <p:sp>
        <p:nvSpPr>
          <p:cNvPr id="3076" name="Espace réservé du numéro de diapositive 5"/>
          <p:cNvSpPr>
            <a:spLocks noGrp="1"/>
          </p:cNvSpPr>
          <p:nvPr>
            <p:ph type="sldNum" sz="quarter" idx="12"/>
          </p:nvPr>
        </p:nvSpPr>
        <p:spPr>
          <a:noFill/>
        </p:spPr>
        <p:txBody>
          <a:bodyPr/>
          <a:lstStyle/>
          <a:p>
            <a:fld id="{7F13A670-2707-4F4E-B770-10BED25346D7}" type="slidenum">
              <a:rPr lang="fr-FR" smtClean="0"/>
              <a:pPr/>
              <a:t>2</a:t>
            </a:fld>
            <a:endParaRPr lang="fr-FR" dirty="0" smtClean="0"/>
          </a:p>
        </p:txBody>
      </p:sp>
      <p:pic>
        <p:nvPicPr>
          <p:cNvPr id="3077" name="Picture 6"/>
          <p:cNvPicPr>
            <a:picLocks noChangeAspect="1" noChangeArrowheads="1"/>
          </p:cNvPicPr>
          <p:nvPr/>
        </p:nvPicPr>
        <p:blipFill>
          <a:blip r:embed="rId2"/>
          <a:srcRect/>
          <a:stretch>
            <a:fillRect/>
          </a:stretch>
        </p:blipFill>
        <p:spPr bwMode="auto">
          <a:xfrm>
            <a:off x="1547664" y="4899362"/>
            <a:ext cx="6194425" cy="461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pPr>
              <a:defRPr/>
            </a:pPr>
            <a:fld id="{BFCFCC8B-42DF-472F-B390-6E69EDAEF434}" type="slidenum">
              <a:rPr lang="fr-FR" smtClean="0"/>
              <a:pPr>
                <a:defRPr/>
              </a:pPr>
              <a:t>3</a:t>
            </a:fld>
            <a:endParaRPr lang="fr-FR"/>
          </a:p>
        </p:txBody>
      </p:sp>
      <p:sp>
        <p:nvSpPr>
          <p:cNvPr id="4" name="Rectangle 2"/>
          <p:cNvSpPr txBox="1">
            <a:spLocks noChangeArrowheads="1"/>
          </p:cNvSpPr>
          <p:nvPr/>
        </p:nvSpPr>
        <p:spPr bwMode="auto">
          <a:xfrm>
            <a:off x="179512" y="260648"/>
            <a:ext cx="8944091" cy="131561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77500" lnSpcReduction="20000"/>
          </a:bodyPr>
          <a:lstStyle>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Transformation du MCD au MLD</a:t>
            </a:r>
          </a:p>
          <a:p>
            <a:r>
              <a:rPr lang="fr-FR" dirty="0"/>
              <a:t>Règle 1</a:t>
            </a:r>
          </a:p>
          <a:p>
            <a:r>
              <a:rPr lang="fr-CH" dirty="0"/>
              <a:t> </a:t>
            </a:r>
          </a:p>
        </p:txBody>
      </p:sp>
      <p:sp>
        <p:nvSpPr>
          <p:cNvPr id="5" name="Text Box 3"/>
          <p:cNvSpPr txBox="1">
            <a:spLocks noChangeArrowheads="1"/>
          </p:cNvSpPr>
          <p:nvPr/>
        </p:nvSpPr>
        <p:spPr bwMode="auto">
          <a:xfrm>
            <a:off x="851773" y="1916832"/>
            <a:ext cx="439094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b="1" u="sng" dirty="0">
                <a:solidFill>
                  <a:srgbClr val="339933"/>
                </a:solidFill>
                <a:latin typeface="Comic Sans MS" pitchFamily="66" charset="0"/>
                <a:cs typeface="Times New Roman" pitchFamily="18" charset="0"/>
              </a:rPr>
              <a:t>Transformation des entités</a:t>
            </a:r>
            <a:r>
              <a:rPr lang="fr-CH" sz="2400" b="1" u="sng" dirty="0">
                <a:solidFill>
                  <a:srgbClr val="339933"/>
                </a:solidFill>
                <a:latin typeface="Comic Sans MS" pitchFamily="66" charset="0"/>
                <a:cs typeface="Times New Roman" pitchFamily="18" charset="0"/>
              </a:rPr>
              <a:t> </a:t>
            </a:r>
          </a:p>
        </p:txBody>
      </p:sp>
      <p:sp>
        <p:nvSpPr>
          <p:cNvPr id="6" name="Text Box 6"/>
          <p:cNvSpPr txBox="1">
            <a:spLocks noChangeArrowheads="1"/>
          </p:cNvSpPr>
          <p:nvPr/>
        </p:nvSpPr>
        <p:spPr bwMode="auto">
          <a:xfrm>
            <a:off x="855296" y="4114800"/>
            <a:ext cx="60625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000" b="1" u="sng" dirty="0">
                <a:solidFill>
                  <a:srgbClr val="339933"/>
                </a:solidFill>
                <a:latin typeface="Comic Sans MS" pitchFamily="66" charset="0"/>
                <a:cs typeface="Times New Roman" pitchFamily="18" charset="0"/>
              </a:rPr>
              <a:t>Ex:</a:t>
            </a:r>
            <a:endParaRPr lang="fr-CH" sz="2000" b="1" dirty="0">
              <a:solidFill>
                <a:srgbClr val="339933"/>
              </a:solidFill>
              <a:latin typeface="Comic Sans MS" pitchFamily="66" charset="0"/>
              <a:cs typeface="Times New Roman" pitchFamily="18" charset="0"/>
            </a:endParaRPr>
          </a:p>
        </p:txBody>
      </p:sp>
      <p:sp>
        <p:nvSpPr>
          <p:cNvPr id="7" name="Rectangle 7"/>
          <p:cNvSpPr>
            <a:spLocks noChangeArrowheads="1"/>
          </p:cNvSpPr>
          <p:nvPr/>
        </p:nvSpPr>
        <p:spPr bwMode="auto">
          <a:xfrm>
            <a:off x="1371600" y="2524124"/>
            <a:ext cx="76200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93675" lvl="1" indent="-3175"/>
            <a:r>
              <a:rPr lang="fr-FR" sz="2000" b="1" dirty="0">
                <a:latin typeface="Comic Sans MS" pitchFamily="66" charset="0"/>
                <a:cs typeface="Times New Roman" pitchFamily="18" charset="0"/>
              </a:rPr>
              <a:t>	</a:t>
            </a:r>
            <a:r>
              <a:rPr lang="fr-CH" sz="2000" b="1" dirty="0">
                <a:latin typeface="Comic Sans MS" pitchFamily="66" charset="0"/>
                <a:cs typeface="Times New Roman" pitchFamily="18" charset="0"/>
              </a:rPr>
              <a:t>Toute entité est transformée en table. Les propriétés de l'entité deviennent les attributs de la table. L'identifiant de l'entité devient la clé primaire de la table.</a:t>
            </a:r>
            <a:endParaRPr lang="fr-CH" sz="2000" dirty="0">
              <a:latin typeface="Comic Sans MS" pitchFamily="66" charset="0"/>
              <a:cs typeface="Times New Roman" pitchFamily="18" charset="0"/>
            </a:endParaRPr>
          </a:p>
        </p:txBody>
      </p:sp>
      <p:pic>
        <p:nvPicPr>
          <p:cNvPr id="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743200"/>
            <a:ext cx="685800" cy="5683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7" descr="C:\DATA\Mémoire\Librairie d'images\c2332n1.gif"/>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2286000" y="4572000"/>
            <a:ext cx="1503363"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9" descr="C:\DATA\Mémoire\Librairie d'images\c2332n2.gif"/>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6248400" y="4572000"/>
            <a:ext cx="1676400" cy="1524000"/>
          </a:xfrm>
          <a:prstGeom prst="rect">
            <a:avLst/>
          </a:prstGeom>
          <a:noFill/>
          <a:extLst>
            <a:ext uri="{909E8E84-426E-40DD-AFC4-6F175D3DCCD1}">
              <a14:hiddenFill xmlns:a14="http://schemas.microsoft.com/office/drawing/2010/main">
                <a:solidFill>
                  <a:srgbClr val="FFFFFF"/>
                </a:solidFill>
              </a14:hiddenFill>
            </a:ext>
          </a:extLst>
        </p:spPr>
      </p:pic>
      <p:sp>
        <p:nvSpPr>
          <p:cNvPr id="11" name="Line 21"/>
          <p:cNvSpPr>
            <a:spLocks noChangeShapeType="1"/>
          </p:cNvSpPr>
          <p:nvPr/>
        </p:nvSpPr>
        <p:spPr bwMode="auto">
          <a:xfrm>
            <a:off x="3810000" y="5372100"/>
            <a:ext cx="2514600" cy="381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 name="AutoShape 22"/>
          <p:cNvSpPr>
            <a:spLocks noChangeArrowheads="1"/>
          </p:cNvSpPr>
          <p:nvPr/>
        </p:nvSpPr>
        <p:spPr bwMode="auto">
          <a:xfrm>
            <a:off x="4648200" y="4114800"/>
            <a:ext cx="1189038" cy="457200"/>
          </a:xfrm>
          <a:prstGeom prst="wedgeRoundRectCallout">
            <a:avLst>
              <a:gd name="adj1" fmla="val 85245"/>
              <a:gd name="adj2" fmla="val 178472"/>
              <a:gd name="adj3" fmla="val 16667"/>
            </a:avLst>
          </a:prstGeom>
          <a:solidFill>
            <a:srgbClr val="FFFFFF"/>
          </a:solidFill>
          <a:ln w="9525">
            <a:solidFill>
              <a:srgbClr val="000000"/>
            </a:solidFill>
            <a:miter lim="800000"/>
            <a:headEnd/>
            <a:tailEnd/>
          </a:ln>
        </p:spPr>
        <p:txBody>
          <a:bodyPr/>
          <a:lstStyle/>
          <a:p>
            <a:pPr algn="ctr" eaLnBrk="0" hangingPunct="0"/>
            <a:r>
              <a:rPr lang="fr-FR" sz="1200" b="1">
                <a:latin typeface="Arial" pitchFamily="34" charset="0"/>
              </a:rPr>
              <a:t>Lettres majuscules</a:t>
            </a:r>
          </a:p>
        </p:txBody>
      </p:sp>
      <p:sp>
        <p:nvSpPr>
          <p:cNvPr id="13" name="Rectangle 23"/>
          <p:cNvSpPr>
            <a:spLocks noChangeArrowheads="1"/>
          </p:cNvSpPr>
          <p:nvPr/>
        </p:nvSpPr>
        <p:spPr bwMode="auto">
          <a:xfrm>
            <a:off x="6324600" y="4267200"/>
            <a:ext cx="17037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fr-FR" sz="1200" b="1" dirty="0">
                <a:solidFill>
                  <a:schemeClr val="accent2"/>
                </a:solidFill>
                <a:latin typeface="Arial" pitchFamily="34" charset="0"/>
                <a:cs typeface="Arial" pitchFamily="34" charset="0"/>
              </a:rPr>
              <a:t>Table "Entreprise"</a:t>
            </a:r>
            <a:r>
              <a:rPr lang="fr-CH" sz="1200" dirty="0">
                <a:solidFill>
                  <a:schemeClr val="accent2"/>
                </a:solidFill>
              </a:rPr>
              <a:t> </a:t>
            </a:r>
            <a:endParaRPr lang="fr-CH" sz="2000" dirty="0">
              <a:solidFill>
                <a:schemeClr val="accent2"/>
              </a:solidFill>
            </a:endParaRPr>
          </a:p>
        </p:txBody>
      </p:sp>
      <p:sp>
        <p:nvSpPr>
          <p:cNvPr id="14" name="Rectangle 24"/>
          <p:cNvSpPr>
            <a:spLocks noChangeArrowheads="1"/>
          </p:cNvSpPr>
          <p:nvPr/>
        </p:nvSpPr>
        <p:spPr bwMode="auto">
          <a:xfrm>
            <a:off x="2362200" y="4267200"/>
            <a:ext cx="16337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fr-FR" sz="1200" b="1" dirty="0">
                <a:solidFill>
                  <a:schemeClr val="accent2"/>
                </a:solidFill>
                <a:latin typeface="Arial" pitchFamily="34" charset="0"/>
                <a:cs typeface="Arial" pitchFamily="34" charset="0"/>
              </a:rPr>
              <a:t>Entité "Entreprise"</a:t>
            </a:r>
            <a:r>
              <a:rPr lang="fr-CH" sz="1200" dirty="0">
                <a:solidFill>
                  <a:schemeClr val="accent2"/>
                </a:solidFill>
              </a:rPr>
              <a:t> </a:t>
            </a:r>
            <a:endParaRPr lang="fr-CH" sz="2000" dirty="0">
              <a:solidFill>
                <a:schemeClr val="accent2"/>
              </a:solidFill>
            </a:endParaRPr>
          </a:p>
        </p:txBody>
      </p:sp>
    </p:spTree>
    <p:extLst>
      <p:ext uri="{BB962C8B-B14F-4D97-AF65-F5344CB8AC3E}">
        <p14:creationId xmlns:p14="http://schemas.microsoft.com/office/powerpoint/2010/main" val="2741534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4</a:t>
            </a:fld>
            <a:endParaRPr lang="fr-FR"/>
          </a:p>
        </p:txBody>
      </p:sp>
      <p:sp>
        <p:nvSpPr>
          <p:cNvPr id="9" name="Rectangle 2"/>
          <p:cNvSpPr txBox="1">
            <a:spLocks noChangeArrowheads="1"/>
          </p:cNvSpPr>
          <p:nvPr/>
        </p:nvSpPr>
        <p:spPr>
          <a:xfrm>
            <a:off x="395536" y="188640"/>
            <a:ext cx="8458200" cy="118296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20000"/>
          </a:bodyPr>
          <a:lstStyle>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Transformation du MCD au MLD</a:t>
            </a:r>
          </a:p>
          <a:p>
            <a:r>
              <a:rPr lang="fr-FR" dirty="0"/>
              <a:t>Règle 2</a:t>
            </a:r>
            <a:r>
              <a:rPr lang="fr-CH" dirty="0"/>
              <a:t> </a:t>
            </a:r>
          </a:p>
        </p:txBody>
      </p:sp>
      <p:sp>
        <p:nvSpPr>
          <p:cNvPr id="10" name="Text Box 3"/>
          <p:cNvSpPr txBox="1">
            <a:spLocks noChangeArrowheads="1"/>
          </p:cNvSpPr>
          <p:nvPr/>
        </p:nvSpPr>
        <p:spPr bwMode="auto">
          <a:xfrm>
            <a:off x="609600" y="1772816"/>
            <a:ext cx="76562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000" b="1" u="sng" dirty="0">
                <a:solidFill>
                  <a:srgbClr val="339933"/>
                </a:solidFill>
                <a:latin typeface="Comic Sans MS" pitchFamily="66" charset="0"/>
                <a:cs typeface="Times New Roman" pitchFamily="18" charset="0"/>
              </a:rPr>
              <a:t>Transformation des relations binaires du type</a:t>
            </a:r>
            <a:r>
              <a:rPr lang="fr-FR" sz="2000" b="1" u="sng" dirty="0">
                <a:solidFill>
                  <a:srgbClr val="800080"/>
                </a:solidFill>
                <a:latin typeface="Comic Sans MS" pitchFamily="66" charset="0"/>
                <a:cs typeface="Times New Roman" pitchFamily="18" charset="0"/>
              </a:rPr>
              <a:t> </a:t>
            </a:r>
            <a:r>
              <a:rPr lang="fr-FR" sz="2000" b="1" u="sng" dirty="0">
                <a:solidFill>
                  <a:srgbClr val="339933"/>
                </a:solidFill>
                <a:latin typeface="Comic Sans MS" pitchFamily="66" charset="0"/>
                <a:cs typeface="Times New Roman" pitchFamily="18" charset="0"/>
              </a:rPr>
              <a:t>(</a:t>
            </a:r>
            <a:r>
              <a:rPr lang="fr-FR" sz="2000" b="1" u="sng" dirty="0" err="1">
                <a:solidFill>
                  <a:srgbClr val="339933"/>
                </a:solidFill>
                <a:latin typeface="Comic Sans MS" pitchFamily="66" charset="0"/>
                <a:cs typeface="Times New Roman" pitchFamily="18" charset="0"/>
              </a:rPr>
              <a:t>x,n</a:t>
            </a:r>
            <a:r>
              <a:rPr lang="fr-FR" sz="2000" b="1" u="sng" dirty="0">
                <a:solidFill>
                  <a:srgbClr val="339933"/>
                </a:solidFill>
                <a:latin typeface="Comic Sans MS" pitchFamily="66" charset="0"/>
                <a:cs typeface="Times New Roman" pitchFamily="18" charset="0"/>
              </a:rPr>
              <a:t>) – (x,1)</a:t>
            </a:r>
            <a:r>
              <a:rPr lang="fr-CH" sz="2000" b="1" u="sng" dirty="0">
                <a:solidFill>
                  <a:srgbClr val="339933"/>
                </a:solidFill>
                <a:latin typeface="Comic Sans MS" pitchFamily="66" charset="0"/>
                <a:cs typeface="Times New Roman" pitchFamily="18" charset="0"/>
              </a:rPr>
              <a:t> </a:t>
            </a:r>
          </a:p>
        </p:txBody>
      </p:sp>
      <p:sp>
        <p:nvSpPr>
          <p:cNvPr id="11" name="Rectangle 6"/>
          <p:cNvSpPr>
            <a:spLocks noChangeArrowheads="1"/>
          </p:cNvSpPr>
          <p:nvPr/>
        </p:nvSpPr>
        <p:spPr bwMode="auto">
          <a:xfrm>
            <a:off x="1043608" y="2795711"/>
            <a:ext cx="7921523"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93675" lvl="1" indent="-3175"/>
            <a:r>
              <a:rPr lang="fr-FR" sz="2000" b="1" dirty="0">
                <a:latin typeface="Comic Sans MS" pitchFamily="66" charset="0"/>
                <a:cs typeface="Times New Roman" pitchFamily="18" charset="0"/>
              </a:rPr>
              <a:t>	Afin de représenter la relation, on duplique la clé primaire de la table basée sur l'entité à cardinalité (</a:t>
            </a:r>
            <a:r>
              <a:rPr lang="fr-FR" sz="2000" b="1" dirty="0" err="1">
                <a:latin typeface="Comic Sans MS" pitchFamily="66" charset="0"/>
                <a:cs typeface="Times New Roman" pitchFamily="18" charset="0"/>
              </a:rPr>
              <a:t>x,n</a:t>
            </a:r>
            <a:r>
              <a:rPr lang="fr-FR" sz="2000" b="1" dirty="0">
                <a:latin typeface="Comic Sans MS" pitchFamily="66" charset="0"/>
                <a:cs typeface="Times New Roman" pitchFamily="18" charset="0"/>
              </a:rPr>
              <a:t>) dans la table basée sur l'entité à cardinalité (x,1). </a:t>
            </a:r>
          </a:p>
          <a:p>
            <a:pPr marL="193675" lvl="1" indent="-3175"/>
            <a:endParaRPr lang="fr-FR" sz="2000" b="1" dirty="0">
              <a:latin typeface="Comic Sans MS" pitchFamily="66" charset="0"/>
              <a:cs typeface="Times New Roman" pitchFamily="18" charset="0"/>
            </a:endParaRPr>
          </a:p>
          <a:p>
            <a:pPr marL="193675" lvl="1" indent="-3175"/>
            <a:r>
              <a:rPr lang="fr-FR" sz="2000" b="1" dirty="0">
                <a:latin typeface="Comic Sans MS" pitchFamily="66" charset="0"/>
                <a:cs typeface="Times New Roman" pitchFamily="18" charset="0"/>
              </a:rPr>
              <a:t>Cet attribut est appelé clé étrangère. </a:t>
            </a:r>
          </a:p>
          <a:p>
            <a:pPr marL="193675" lvl="1" indent="-3175"/>
            <a:endParaRPr lang="fr-FR" sz="2000" b="1" dirty="0">
              <a:latin typeface="Comic Sans MS" pitchFamily="66" charset="0"/>
              <a:cs typeface="Times New Roman" pitchFamily="18" charset="0"/>
            </a:endParaRPr>
          </a:p>
          <a:p>
            <a:pPr marL="193675" lvl="1" indent="-3175"/>
            <a:r>
              <a:rPr lang="fr-FR" sz="2000" b="1" dirty="0">
                <a:latin typeface="Comic Sans MS" pitchFamily="66" charset="0"/>
                <a:cs typeface="Times New Roman" pitchFamily="18" charset="0"/>
              </a:rPr>
              <a:t>Les deux tables sont liées par une flèche nommée selon la relation, qui pointe de la table à clé étrangère vers la table qui contient la clé primaire correspondante. </a:t>
            </a:r>
            <a:endParaRPr lang="fr-CH" sz="2000" b="1" dirty="0">
              <a:latin typeface="Comic Sans MS" pitchFamily="66" charset="0"/>
              <a:cs typeface="Times New Roman" pitchFamily="18" charset="0"/>
            </a:endParaRPr>
          </a:p>
        </p:txBody>
      </p:sp>
      <p:pic>
        <p:nvPicPr>
          <p:cNvPr id="12"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644" y="3639193"/>
            <a:ext cx="685800" cy="56832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6"/>
          <p:cNvSpPr>
            <a:spLocks noChangeArrowheads="1"/>
          </p:cNvSpPr>
          <p:nvPr/>
        </p:nvSpPr>
        <p:spPr bwMode="auto">
          <a:xfrm>
            <a:off x="2483767" y="2228910"/>
            <a:ext cx="455386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fr-FR" sz="1600" b="1" dirty="0" smtClean="0">
                <a:solidFill>
                  <a:srgbClr val="7030A0"/>
                </a:solidFill>
                <a:latin typeface="Comic Sans MS" pitchFamily="66" charset="0"/>
                <a:cs typeface="Times New Roman" pitchFamily="18" charset="0"/>
              </a:rPr>
              <a:t>x  </a:t>
            </a:r>
            <a:r>
              <a:rPr lang="fr-FR" sz="1600" b="1" dirty="0">
                <a:solidFill>
                  <a:srgbClr val="7030A0"/>
                </a:solidFill>
                <a:latin typeface="Comic Sans MS" pitchFamily="66" charset="0"/>
                <a:cs typeface="Times New Roman" pitchFamily="18" charset="0"/>
              </a:rPr>
              <a:t>peut </a:t>
            </a:r>
            <a:r>
              <a:rPr lang="fr-FR" sz="1600" b="1" dirty="0" smtClean="0">
                <a:solidFill>
                  <a:srgbClr val="7030A0"/>
                </a:solidFill>
                <a:latin typeface="Comic Sans MS" pitchFamily="66" charset="0"/>
                <a:cs typeface="Times New Roman" pitchFamily="18" charset="0"/>
              </a:rPr>
              <a:t>prendre les  valeurs </a:t>
            </a:r>
            <a:r>
              <a:rPr lang="fr-FR" sz="1600" b="1" dirty="0">
                <a:solidFill>
                  <a:srgbClr val="7030A0"/>
                </a:solidFill>
                <a:latin typeface="Comic Sans MS" pitchFamily="66" charset="0"/>
                <a:cs typeface="Times New Roman" pitchFamily="18" charset="0"/>
              </a:rPr>
              <a:t>0 ou 1</a:t>
            </a:r>
            <a:r>
              <a:rPr lang="fr-CH" sz="1200" b="1" dirty="0">
                <a:solidFill>
                  <a:srgbClr val="7030A0"/>
                </a:solidFill>
              </a:rPr>
              <a:t> </a:t>
            </a:r>
            <a:endParaRPr lang="fr-CH" sz="2000" b="1" dirty="0">
              <a:solidFill>
                <a:srgbClr val="7030A0"/>
              </a:solidFill>
            </a:endParaRPr>
          </a:p>
        </p:txBody>
      </p:sp>
    </p:spTree>
    <p:extLst>
      <p:ext uri="{BB962C8B-B14F-4D97-AF65-F5344CB8AC3E}">
        <p14:creationId xmlns:p14="http://schemas.microsoft.com/office/powerpoint/2010/main" val="2051527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5</a:t>
            </a:fld>
            <a:endParaRPr lang="fr-FR"/>
          </a:p>
        </p:txBody>
      </p:sp>
      <p:sp>
        <p:nvSpPr>
          <p:cNvPr id="4" name="Rectangle 2"/>
          <p:cNvSpPr txBox="1">
            <a:spLocks noChangeArrowheads="1"/>
          </p:cNvSpPr>
          <p:nvPr/>
        </p:nvSpPr>
        <p:spPr>
          <a:xfrm>
            <a:off x="179512" y="762000"/>
            <a:ext cx="8964488" cy="609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850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Règles de transformation du MCD au MLD</a:t>
            </a:r>
            <a:r>
              <a:rPr lang="fr-CH" dirty="0"/>
              <a:t> </a:t>
            </a:r>
          </a:p>
        </p:txBody>
      </p:sp>
      <p:sp>
        <p:nvSpPr>
          <p:cNvPr id="5" name="Text Box 3"/>
          <p:cNvSpPr txBox="1">
            <a:spLocks noChangeArrowheads="1"/>
          </p:cNvSpPr>
          <p:nvPr/>
        </p:nvSpPr>
        <p:spPr bwMode="auto">
          <a:xfrm>
            <a:off x="609600" y="1828800"/>
            <a:ext cx="8464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u="sng" dirty="0">
                <a:solidFill>
                  <a:srgbClr val="339933"/>
                </a:solidFill>
                <a:latin typeface="Comic Sans MS" pitchFamily="66" charset="0"/>
                <a:cs typeface="Times New Roman" pitchFamily="18" charset="0"/>
              </a:rPr>
              <a:t>Transformation des relations binaires du type</a:t>
            </a:r>
            <a:r>
              <a:rPr lang="fr-FR" u="sng" dirty="0">
                <a:solidFill>
                  <a:srgbClr val="800080"/>
                </a:solidFill>
                <a:latin typeface="Comic Sans MS" pitchFamily="66" charset="0"/>
                <a:cs typeface="Times New Roman" pitchFamily="18" charset="0"/>
              </a:rPr>
              <a:t> </a:t>
            </a:r>
            <a:r>
              <a:rPr lang="fr-FR" u="sng" dirty="0">
                <a:solidFill>
                  <a:srgbClr val="339933"/>
                </a:solidFill>
                <a:latin typeface="Comic Sans MS" pitchFamily="66" charset="0"/>
                <a:cs typeface="Times New Roman" pitchFamily="18" charset="0"/>
              </a:rPr>
              <a:t>(</a:t>
            </a:r>
            <a:r>
              <a:rPr lang="fr-FR" u="sng" dirty="0" err="1">
                <a:solidFill>
                  <a:srgbClr val="339933"/>
                </a:solidFill>
                <a:latin typeface="Comic Sans MS" pitchFamily="66" charset="0"/>
                <a:cs typeface="Times New Roman" pitchFamily="18" charset="0"/>
              </a:rPr>
              <a:t>x,n</a:t>
            </a:r>
            <a:r>
              <a:rPr lang="fr-FR" u="sng" dirty="0">
                <a:solidFill>
                  <a:srgbClr val="339933"/>
                </a:solidFill>
                <a:latin typeface="Comic Sans MS" pitchFamily="66" charset="0"/>
                <a:cs typeface="Times New Roman" pitchFamily="18" charset="0"/>
              </a:rPr>
              <a:t>) – (x,1)</a:t>
            </a:r>
            <a:r>
              <a:rPr lang="fr-CH" u="sng" dirty="0">
                <a:solidFill>
                  <a:srgbClr val="339933"/>
                </a:solidFill>
                <a:latin typeface="Comic Sans MS" pitchFamily="66" charset="0"/>
                <a:cs typeface="Times New Roman" pitchFamily="18" charset="0"/>
              </a:rPr>
              <a:t> </a:t>
            </a:r>
          </a:p>
        </p:txBody>
      </p:sp>
      <p:sp>
        <p:nvSpPr>
          <p:cNvPr id="6" name="Text Box 9"/>
          <p:cNvSpPr txBox="1">
            <a:spLocks noChangeArrowheads="1"/>
          </p:cNvSpPr>
          <p:nvPr/>
        </p:nvSpPr>
        <p:spPr bwMode="auto">
          <a:xfrm>
            <a:off x="609600" y="2514600"/>
            <a:ext cx="735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u="sng" dirty="0">
                <a:solidFill>
                  <a:srgbClr val="339933"/>
                </a:solidFill>
                <a:latin typeface="Comic Sans MS" pitchFamily="66" charset="0"/>
                <a:cs typeface="Times New Roman" pitchFamily="18" charset="0"/>
              </a:rPr>
              <a:t>Ex:</a:t>
            </a:r>
            <a:r>
              <a:rPr lang="fr-CH" dirty="0">
                <a:solidFill>
                  <a:srgbClr val="339933"/>
                </a:solidFill>
                <a:latin typeface="Comic Sans MS" pitchFamily="66" charset="0"/>
                <a:cs typeface="Times New Roman" pitchFamily="18" charset="0"/>
              </a:rPr>
              <a:t> </a:t>
            </a:r>
          </a:p>
        </p:txBody>
      </p:sp>
      <p:pic>
        <p:nvPicPr>
          <p:cNvPr id="7" name="Picture 10" descr="C:\DATA\Mémoire\Librairie d'images\c2332n3.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793534" y="3011760"/>
            <a:ext cx="3810000" cy="18954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2" descr="C:\DATA\Mémoire\Librairie d'images\c2332n4.gif"/>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4953000" y="2971800"/>
            <a:ext cx="3962400" cy="1916113"/>
          </a:xfrm>
          <a:prstGeom prst="rect">
            <a:avLst/>
          </a:prstGeom>
          <a:noFill/>
          <a:extLst>
            <a:ext uri="{909E8E84-426E-40DD-AFC4-6F175D3DCCD1}">
              <a14:hiddenFill xmlns:a14="http://schemas.microsoft.com/office/drawing/2010/main">
                <a:solidFill>
                  <a:srgbClr val="FFFFFF"/>
                </a:solidFill>
              </a14:hiddenFill>
            </a:ext>
          </a:extLst>
        </p:spPr>
      </p:pic>
      <p:sp>
        <p:nvSpPr>
          <p:cNvPr id="9" name="Line 16"/>
          <p:cNvSpPr>
            <a:spLocks noChangeShapeType="1"/>
          </p:cNvSpPr>
          <p:nvPr/>
        </p:nvSpPr>
        <p:spPr bwMode="auto">
          <a:xfrm>
            <a:off x="4625165" y="38100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10" name="Rectangle 17"/>
          <p:cNvSpPr>
            <a:spLocks noChangeArrowheads="1"/>
          </p:cNvSpPr>
          <p:nvPr/>
        </p:nvSpPr>
        <p:spPr bwMode="auto">
          <a:xfrm>
            <a:off x="1547664" y="5252484"/>
            <a:ext cx="59436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fr-CH" sz="1600" dirty="0">
                <a:latin typeface="Comic Sans MS" pitchFamily="66" charset="0"/>
                <a:cs typeface="Times New Roman" pitchFamily="18" charset="0"/>
              </a:rPr>
              <a:t>L'attribut </a:t>
            </a:r>
            <a:r>
              <a:rPr lang="fr-CH" sz="1600" i="1" dirty="0" err="1">
                <a:latin typeface="Comic Sans MS" pitchFamily="66" charset="0"/>
                <a:cs typeface="Times New Roman" pitchFamily="18" charset="0"/>
              </a:rPr>
              <a:t>No_Auteur</a:t>
            </a:r>
            <a:r>
              <a:rPr lang="fr-CH" sz="1600" dirty="0">
                <a:latin typeface="Comic Sans MS" pitchFamily="66" charset="0"/>
                <a:cs typeface="Times New Roman" pitchFamily="18" charset="0"/>
              </a:rPr>
              <a:t>  qui est clé primaire de la table </a:t>
            </a:r>
            <a:r>
              <a:rPr lang="fr-CH" sz="1600" i="1" dirty="0">
                <a:latin typeface="Comic Sans MS" pitchFamily="66" charset="0"/>
                <a:cs typeface="Times New Roman" pitchFamily="18" charset="0"/>
              </a:rPr>
              <a:t>Auteur</a:t>
            </a:r>
            <a:r>
              <a:rPr lang="fr-CH" sz="1600" dirty="0">
                <a:latin typeface="Comic Sans MS" pitchFamily="66" charset="0"/>
                <a:cs typeface="Times New Roman" pitchFamily="18" charset="0"/>
              </a:rPr>
              <a:t>, devient clé étrangère dans la table </a:t>
            </a:r>
            <a:r>
              <a:rPr lang="fr-CH" sz="1600" i="1" dirty="0">
                <a:latin typeface="Comic Sans MS" pitchFamily="66" charset="0"/>
                <a:cs typeface="Times New Roman" pitchFamily="18" charset="0"/>
              </a:rPr>
              <a:t>Livre</a:t>
            </a:r>
            <a:r>
              <a:rPr lang="fr-CH" sz="1600" dirty="0">
                <a:latin typeface="Comic Sans MS" pitchFamily="66" charset="0"/>
                <a:cs typeface="Times New Roman" pitchFamily="18" charset="0"/>
              </a:rPr>
              <a:t>.</a:t>
            </a:r>
            <a:r>
              <a:rPr lang="fr-CH" sz="1600" dirty="0">
                <a:cs typeface="Times New Roman" pitchFamily="18" charset="0"/>
              </a:rPr>
              <a:t> </a:t>
            </a:r>
          </a:p>
          <a:p>
            <a:pPr eaLnBrk="0" hangingPunct="0"/>
            <a:endParaRPr lang="fr-CH" sz="1600" dirty="0"/>
          </a:p>
        </p:txBody>
      </p:sp>
    </p:spTree>
    <p:extLst>
      <p:ext uri="{BB962C8B-B14F-4D97-AF65-F5344CB8AC3E}">
        <p14:creationId xmlns:p14="http://schemas.microsoft.com/office/powerpoint/2010/main" val="346110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6</a:t>
            </a:fld>
            <a:endParaRPr lang="fr-FR"/>
          </a:p>
        </p:txBody>
      </p:sp>
      <p:sp>
        <p:nvSpPr>
          <p:cNvPr id="3" name="Rectangle 2"/>
          <p:cNvSpPr txBox="1">
            <a:spLocks noChangeArrowheads="1"/>
          </p:cNvSpPr>
          <p:nvPr/>
        </p:nvSpPr>
        <p:spPr>
          <a:xfrm>
            <a:off x="457200" y="332656"/>
            <a:ext cx="8458200" cy="122413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Transformation du MCD au MLD</a:t>
            </a:r>
          </a:p>
          <a:p>
            <a:r>
              <a:rPr lang="fr-FR" dirty="0"/>
              <a:t>Règle 3 </a:t>
            </a:r>
          </a:p>
        </p:txBody>
      </p:sp>
      <p:sp>
        <p:nvSpPr>
          <p:cNvPr id="4" name="Text Box 3"/>
          <p:cNvSpPr txBox="1">
            <a:spLocks noChangeArrowheads="1"/>
          </p:cNvSpPr>
          <p:nvPr/>
        </p:nvSpPr>
        <p:spPr bwMode="auto">
          <a:xfrm>
            <a:off x="533400" y="2371688"/>
            <a:ext cx="852188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dirty="0">
                <a:solidFill>
                  <a:srgbClr val="339933"/>
                </a:solidFill>
                <a:latin typeface="Comic Sans MS" pitchFamily="66" charset="0"/>
                <a:cs typeface="Times New Roman" pitchFamily="18" charset="0"/>
              </a:rPr>
              <a:t>Transformation des relations binaires du type</a:t>
            </a:r>
            <a:r>
              <a:rPr lang="fr-FR" sz="2400" u="sng" dirty="0">
                <a:solidFill>
                  <a:srgbClr val="800080"/>
                </a:solidFill>
                <a:latin typeface="Comic Sans MS" pitchFamily="66" charset="0"/>
                <a:cs typeface="Times New Roman" pitchFamily="18" charset="0"/>
              </a:rPr>
              <a:t> </a:t>
            </a:r>
            <a:r>
              <a:rPr lang="fr-FR" sz="2400" u="sng" dirty="0">
                <a:solidFill>
                  <a:srgbClr val="339933"/>
                </a:solidFill>
                <a:latin typeface="Comic Sans MS" pitchFamily="66" charset="0"/>
                <a:cs typeface="Times New Roman" pitchFamily="18" charset="0"/>
              </a:rPr>
              <a:t>(x,1) – (x,1)</a:t>
            </a:r>
            <a:r>
              <a:rPr lang="fr-CH" sz="2400" u="sng" dirty="0">
                <a:solidFill>
                  <a:srgbClr val="339933"/>
                </a:solidFill>
                <a:latin typeface="Comic Sans MS" pitchFamily="66" charset="0"/>
                <a:cs typeface="Times New Roman" pitchFamily="18" charset="0"/>
              </a:rPr>
              <a:t> </a:t>
            </a:r>
          </a:p>
        </p:txBody>
      </p:sp>
      <p:sp>
        <p:nvSpPr>
          <p:cNvPr id="5" name="Rectangle 4"/>
          <p:cNvSpPr>
            <a:spLocks noChangeArrowheads="1"/>
          </p:cNvSpPr>
          <p:nvPr/>
        </p:nvSpPr>
        <p:spPr bwMode="auto">
          <a:xfrm>
            <a:off x="1295400" y="3133688"/>
            <a:ext cx="76200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93675" lvl="1" indent="-3175"/>
            <a:r>
              <a:rPr lang="fr-FR" sz="2800" b="1" dirty="0">
                <a:latin typeface="Comic Sans MS" pitchFamily="66" charset="0"/>
                <a:cs typeface="Times New Roman" pitchFamily="18" charset="0"/>
              </a:rPr>
              <a:t>	</a:t>
            </a:r>
            <a:r>
              <a:rPr lang="fr-FR" sz="2400" dirty="0">
                <a:latin typeface="Comic Sans MS" pitchFamily="66" charset="0"/>
              </a:rPr>
              <a:t>Nous devons distinguer plusieurs cas. Sachant qu'une relation binaire du type (1,1)-(1,1) ne doit pas exister il nous reste les 2 cas suivants: </a:t>
            </a:r>
            <a:endParaRPr lang="fr-FR" sz="2800" dirty="0">
              <a:latin typeface="Comic Sans MS" pitchFamily="66" charset="0"/>
              <a:cs typeface="Times New Roman" pitchFamily="18" charset="0"/>
            </a:endParaRPr>
          </a:p>
          <a:p>
            <a:pPr marL="193675" lvl="1" indent="-3175"/>
            <a:endParaRPr lang="fr-FR" sz="2800" dirty="0">
              <a:latin typeface="Comic Sans MS" pitchFamily="66" charset="0"/>
              <a:cs typeface="Times New Roman" pitchFamily="18" charset="0"/>
            </a:endParaRPr>
          </a:p>
          <a:p>
            <a:pPr marL="193675" lvl="1" indent="-3175"/>
            <a:r>
              <a:rPr lang="fr-FR" sz="2400" b="1" dirty="0">
                <a:latin typeface="Comic Sans MS" pitchFamily="66" charset="0"/>
              </a:rPr>
              <a:t>Relation binaire (0,1)-(1,1)</a:t>
            </a:r>
            <a:endParaRPr lang="fr-FR" sz="2800" dirty="0">
              <a:latin typeface="Comic Sans MS" pitchFamily="66" charset="0"/>
              <a:cs typeface="Times New Roman" pitchFamily="18" charset="0"/>
            </a:endParaRPr>
          </a:p>
          <a:p>
            <a:pPr marL="193675" lvl="1" indent="-3175"/>
            <a:endParaRPr lang="fr-FR" sz="2800" dirty="0">
              <a:latin typeface="Comic Sans MS" pitchFamily="66" charset="0"/>
              <a:cs typeface="Times New Roman" pitchFamily="18" charset="0"/>
            </a:endParaRPr>
          </a:p>
          <a:p>
            <a:pPr marL="193675" lvl="1" indent="-3175"/>
            <a:r>
              <a:rPr lang="fr-FR" sz="2400" b="1" dirty="0">
                <a:latin typeface="Comic Sans MS" pitchFamily="66" charset="0"/>
              </a:rPr>
              <a:t>Relation binaire (0,1)-(0,1)</a:t>
            </a:r>
            <a:r>
              <a:rPr lang="fr-FR" sz="2400" dirty="0"/>
              <a:t> </a:t>
            </a:r>
            <a:endParaRPr lang="fr-CH" sz="2400" dirty="0"/>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3501008"/>
            <a:ext cx="685800" cy="568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607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7</a:t>
            </a:fld>
            <a:endParaRPr lang="fr-FR"/>
          </a:p>
        </p:txBody>
      </p:sp>
      <p:pic>
        <p:nvPicPr>
          <p:cNvPr id="3" name="Picture 15" descr="c2332n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85800" y="3536950"/>
            <a:ext cx="3810000" cy="175736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 Box 3"/>
          <p:cNvSpPr txBox="1">
            <a:spLocks noChangeArrowheads="1"/>
          </p:cNvSpPr>
          <p:nvPr/>
        </p:nvSpPr>
        <p:spPr bwMode="auto">
          <a:xfrm>
            <a:off x="609600" y="1412875"/>
            <a:ext cx="43685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b="1" u="sng">
                <a:solidFill>
                  <a:srgbClr val="339933"/>
                </a:solidFill>
                <a:latin typeface="Comic Sans MS" pitchFamily="66" charset="0"/>
              </a:rPr>
              <a:t>Relation binaire (0,1)-(1,1)</a:t>
            </a:r>
            <a:r>
              <a:rPr lang="fr-FR" sz="2400"/>
              <a:t> </a:t>
            </a:r>
            <a:endParaRPr lang="fr-CH" sz="2400"/>
          </a:p>
        </p:txBody>
      </p:sp>
      <p:sp>
        <p:nvSpPr>
          <p:cNvPr id="6" name="Text Box 6"/>
          <p:cNvSpPr txBox="1">
            <a:spLocks noChangeArrowheads="1"/>
          </p:cNvSpPr>
          <p:nvPr/>
        </p:nvSpPr>
        <p:spPr bwMode="auto">
          <a:xfrm>
            <a:off x="609600" y="3043238"/>
            <a:ext cx="7409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a:solidFill>
                  <a:srgbClr val="339933"/>
                </a:solidFill>
                <a:latin typeface="Comic Sans MS" pitchFamily="66" charset="0"/>
                <a:cs typeface="Times New Roman" pitchFamily="18" charset="0"/>
              </a:rPr>
              <a:t>Ex:</a:t>
            </a:r>
            <a:r>
              <a:rPr lang="fr-CH" sz="2400">
                <a:solidFill>
                  <a:srgbClr val="339933"/>
                </a:solidFill>
                <a:latin typeface="Comic Sans MS" pitchFamily="66" charset="0"/>
                <a:cs typeface="Times New Roman" pitchFamily="18" charset="0"/>
              </a:rPr>
              <a:t> </a:t>
            </a:r>
          </a:p>
        </p:txBody>
      </p:sp>
      <p:sp>
        <p:nvSpPr>
          <p:cNvPr id="7" name="Line 11"/>
          <p:cNvSpPr>
            <a:spLocks noChangeShapeType="1"/>
          </p:cNvSpPr>
          <p:nvPr/>
        </p:nvSpPr>
        <p:spPr bwMode="auto">
          <a:xfrm>
            <a:off x="4572000" y="4321175"/>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2400"/>
          </a:p>
        </p:txBody>
      </p:sp>
      <p:sp>
        <p:nvSpPr>
          <p:cNvPr id="8" name="Rectangle 12"/>
          <p:cNvSpPr>
            <a:spLocks noChangeArrowheads="1"/>
          </p:cNvSpPr>
          <p:nvPr/>
        </p:nvSpPr>
        <p:spPr bwMode="auto">
          <a:xfrm>
            <a:off x="827088" y="5516563"/>
            <a:ext cx="806608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fr-FR" dirty="0">
                <a:latin typeface="Comic Sans MS" pitchFamily="66" charset="0"/>
              </a:rPr>
              <a:t>Le </a:t>
            </a:r>
            <a:r>
              <a:rPr lang="fr-FR" i="1" dirty="0" err="1">
                <a:latin typeface="Comic Sans MS" pitchFamily="66" charset="0"/>
              </a:rPr>
              <a:t>No_Client</a:t>
            </a:r>
            <a:r>
              <a:rPr lang="fr-FR" dirty="0">
                <a:latin typeface="Comic Sans MS" pitchFamily="66" charset="0"/>
              </a:rPr>
              <a:t>, qui est clé primaire de la table </a:t>
            </a:r>
            <a:r>
              <a:rPr lang="fr-FR" i="1" dirty="0">
                <a:latin typeface="Comic Sans MS" pitchFamily="66" charset="0"/>
              </a:rPr>
              <a:t>Client</a:t>
            </a:r>
            <a:r>
              <a:rPr lang="fr-FR" dirty="0">
                <a:latin typeface="Comic Sans MS" pitchFamily="66" charset="0"/>
              </a:rPr>
              <a:t>, devient clé étrangère dans la table </a:t>
            </a:r>
            <a:r>
              <a:rPr lang="fr-FR" i="1" dirty="0" err="1">
                <a:latin typeface="Comic Sans MS" pitchFamily="66" charset="0"/>
              </a:rPr>
              <a:t>Carte_Membre</a:t>
            </a:r>
            <a:r>
              <a:rPr lang="fr-FR" dirty="0"/>
              <a:t> </a:t>
            </a:r>
            <a:endParaRPr lang="fr-CH" dirty="0">
              <a:cs typeface="Times New Roman" pitchFamily="18" charset="0"/>
            </a:endParaRPr>
          </a:p>
          <a:p>
            <a:pPr eaLnBrk="0" hangingPunct="0"/>
            <a:endParaRPr lang="fr-CH" dirty="0"/>
          </a:p>
        </p:txBody>
      </p:sp>
      <p:sp>
        <p:nvSpPr>
          <p:cNvPr id="9" name="Rectangle 21"/>
          <p:cNvSpPr>
            <a:spLocks noChangeArrowheads="1"/>
          </p:cNvSpPr>
          <p:nvPr/>
        </p:nvSpPr>
        <p:spPr bwMode="auto">
          <a:xfrm>
            <a:off x="1524000" y="2060575"/>
            <a:ext cx="762000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93675" lvl="1" indent="-3175"/>
            <a:r>
              <a:rPr lang="fr-FR" sz="2800" b="1">
                <a:latin typeface="Comic Sans MS" pitchFamily="66" charset="0"/>
                <a:cs typeface="Times New Roman" pitchFamily="18" charset="0"/>
              </a:rPr>
              <a:t>	</a:t>
            </a:r>
            <a:r>
              <a:rPr lang="fr-FR" sz="2400">
                <a:latin typeface="Comic Sans MS" pitchFamily="66" charset="0"/>
              </a:rPr>
              <a:t>On duplique la clé de la table basée sur l'entité à cardinalité (0,1) dans la table basée sur l'entité à cardinalité (1,1).</a:t>
            </a:r>
            <a:r>
              <a:rPr lang="fr-FR" sz="2400"/>
              <a:t> </a:t>
            </a:r>
            <a:endParaRPr lang="fr-CH" sz="2400"/>
          </a:p>
        </p:txBody>
      </p:sp>
      <p:pic>
        <p:nvPicPr>
          <p:cNvPr id="10" name="Picture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27088" y="2349500"/>
            <a:ext cx="723900" cy="6000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Rectangle 2"/>
          <p:cNvSpPr txBox="1">
            <a:spLocks noChangeArrowheads="1"/>
          </p:cNvSpPr>
          <p:nvPr/>
        </p:nvSpPr>
        <p:spPr>
          <a:xfrm>
            <a:off x="342900" y="0"/>
            <a:ext cx="8458200" cy="122413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Transformation du MCD au MLD</a:t>
            </a:r>
          </a:p>
          <a:p>
            <a:r>
              <a:rPr lang="fr-FR" dirty="0"/>
              <a:t>Règle 3-a </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9118" y="3503211"/>
            <a:ext cx="398145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8927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8</a:t>
            </a:fld>
            <a:endParaRPr lang="fr-FR"/>
          </a:p>
        </p:txBody>
      </p:sp>
      <p:sp>
        <p:nvSpPr>
          <p:cNvPr id="4" name="Text Box 5"/>
          <p:cNvSpPr txBox="1">
            <a:spLocks noChangeArrowheads="1"/>
          </p:cNvSpPr>
          <p:nvPr/>
        </p:nvSpPr>
        <p:spPr bwMode="auto">
          <a:xfrm>
            <a:off x="609600" y="2108200"/>
            <a:ext cx="4327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b="1" u="sng" dirty="0">
                <a:solidFill>
                  <a:srgbClr val="339933"/>
                </a:solidFill>
                <a:latin typeface="Comic Sans MS" pitchFamily="66" charset="0"/>
              </a:rPr>
              <a:t>Relation binaire (0,1)-(0,1)</a:t>
            </a:r>
            <a:r>
              <a:rPr lang="fr-FR" dirty="0"/>
              <a:t> </a:t>
            </a:r>
            <a:endParaRPr lang="fr-CH" dirty="0"/>
          </a:p>
        </p:txBody>
      </p:sp>
      <p:sp>
        <p:nvSpPr>
          <p:cNvPr id="5" name="Rectangle 15"/>
          <p:cNvSpPr>
            <a:spLocks noChangeArrowheads="1"/>
          </p:cNvSpPr>
          <p:nvPr/>
        </p:nvSpPr>
        <p:spPr bwMode="auto">
          <a:xfrm>
            <a:off x="1835150" y="2862263"/>
            <a:ext cx="712946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93675" lvl="1" indent="-3175"/>
            <a:r>
              <a:rPr lang="fr-FR" sz="2800" b="1" dirty="0">
                <a:latin typeface="Comic Sans MS" pitchFamily="66" charset="0"/>
                <a:cs typeface="Times New Roman" pitchFamily="18" charset="0"/>
              </a:rPr>
              <a:t>	</a:t>
            </a:r>
            <a:r>
              <a:rPr lang="fr-FR" sz="2800" b="1" dirty="0">
                <a:latin typeface="Comic Sans MS" pitchFamily="66" charset="0"/>
              </a:rPr>
              <a:t>On duplique la clé d'une des tables dans l'autre. Lorsque la relation contient elle-même des propriétés, celles-ci deviennent également attributs de la table dans laquelle a été ajoutée la clé étrangère.</a:t>
            </a:r>
            <a:r>
              <a:rPr lang="fr-FR" sz="2800" dirty="0">
                <a:latin typeface="Comic Sans MS" pitchFamily="66" charset="0"/>
              </a:rPr>
              <a:t> </a:t>
            </a:r>
            <a:endParaRPr lang="fr-CH" sz="2800" dirty="0">
              <a:latin typeface="Comic Sans MS" pitchFamily="66" charset="0"/>
            </a:endParaRPr>
          </a:p>
        </p:txBody>
      </p:sp>
      <p:pic>
        <p:nvPicPr>
          <p:cNvPr id="6"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00113" y="3141663"/>
            <a:ext cx="723900" cy="6000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Rectangle 2"/>
          <p:cNvSpPr txBox="1">
            <a:spLocks noChangeArrowheads="1"/>
          </p:cNvSpPr>
          <p:nvPr/>
        </p:nvSpPr>
        <p:spPr>
          <a:xfrm>
            <a:off x="179512" y="404664"/>
            <a:ext cx="8458200" cy="122413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Transformation du MCD au MLD</a:t>
            </a:r>
          </a:p>
          <a:p>
            <a:r>
              <a:rPr lang="fr-FR" dirty="0"/>
              <a:t>Règle 3-b</a:t>
            </a:r>
          </a:p>
        </p:txBody>
      </p:sp>
    </p:spTree>
    <p:extLst>
      <p:ext uri="{BB962C8B-B14F-4D97-AF65-F5344CB8AC3E}">
        <p14:creationId xmlns:p14="http://schemas.microsoft.com/office/powerpoint/2010/main" val="959714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9</a:t>
            </a:fld>
            <a:endParaRPr lang="fr-FR"/>
          </a:p>
        </p:txBody>
      </p:sp>
      <p:pic>
        <p:nvPicPr>
          <p:cNvPr id="3" name="Picture 14" descr="c2332n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84213" y="3573463"/>
            <a:ext cx="3810000" cy="144303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16" descr="c2332n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648200" y="2332038"/>
            <a:ext cx="4100513" cy="13747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 Box 3"/>
          <p:cNvSpPr txBox="1">
            <a:spLocks noChangeArrowheads="1"/>
          </p:cNvSpPr>
          <p:nvPr/>
        </p:nvSpPr>
        <p:spPr bwMode="auto">
          <a:xfrm>
            <a:off x="609600" y="1628775"/>
            <a:ext cx="4327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b="1" u="sng">
                <a:solidFill>
                  <a:srgbClr val="339933"/>
                </a:solidFill>
                <a:latin typeface="Comic Sans MS" pitchFamily="66" charset="0"/>
              </a:rPr>
              <a:t>Relation binaire (0,1)-(0,1)</a:t>
            </a:r>
            <a:r>
              <a:rPr lang="fr-FR"/>
              <a:t> </a:t>
            </a:r>
            <a:endParaRPr lang="fr-CH"/>
          </a:p>
        </p:txBody>
      </p:sp>
      <p:sp>
        <p:nvSpPr>
          <p:cNvPr id="6" name="Text Box 13"/>
          <p:cNvSpPr txBox="1">
            <a:spLocks noChangeArrowheads="1"/>
          </p:cNvSpPr>
          <p:nvPr/>
        </p:nvSpPr>
        <p:spPr bwMode="auto">
          <a:xfrm>
            <a:off x="684213" y="2276475"/>
            <a:ext cx="735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u="sng">
                <a:solidFill>
                  <a:srgbClr val="339933"/>
                </a:solidFill>
                <a:latin typeface="Comic Sans MS" pitchFamily="66" charset="0"/>
                <a:cs typeface="Times New Roman" pitchFamily="18" charset="0"/>
              </a:rPr>
              <a:t>Ex:</a:t>
            </a:r>
            <a:r>
              <a:rPr lang="fr-CH">
                <a:solidFill>
                  <a:srgbClr val="339933"/>
                </a:solidFill>
                <a:latin typeface="Comic Sans MS" pitchFamily="66" charset="0"/>
                <a:cs typeface="Times New Roman" pitchFamily="18" charset="0"/>
              </a:rPr>
              <a:t> </a:t>
            </a:r>
          </a:p>
        </p:txBody>
      </p:sp>
      <p:pic>
        <p:nvPicPr>
          <p:cNvPr id="7" name="Picture 18" descr="c2332n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4787900" y="4652963"/>
            <a:ext cx="3810000" cy="15843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Line 20"/>
          <p:cNvSpPr>
            <a:spLocks noChangeShapeType="1"/>
          </p:cNvSpPr>
          <p:nvPr/>
        </p:nvSpPr>
        <p:spPr bwMode="auto">
          <a:xfrm>
            <a:off x="4643438" y="4221163"/>
            <a:ext cx="6492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a:p>
        </p:txBody>
      </p:sp>
      <p:sp>
        <p:nvSpPr>
          <p:cNvPr id="9" name="Text Box 21"/>
          <p:cNvSpPr txBox="1">
            <a:spLocks noChangeArrowheads="1"/>
          </p:cNvSpPr>
          <p:nvPr/>
        </p:nvSpPr>
        <p:spPr bwMode="auto">
          <a:xfrm>
            <a:off x="6372225" y="3946525"/>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CH">
                <a:latin typeface="Comic Sans MS" pitchFamily="66" charset="0"/>
              </a:rPr>
              <a:t>ou</a:t>
            </a:r>
            <a:endParaRPr lang="fr-FR">
              <a:latin typeface="Comic Sans MS" pitchFamily="66" charset="0"/>
            </a:endParaRPr>
          </a:p>
        </p:txBody>
      </p:sp>
      <p:sp>
        <p:nvSpPr>
          <p:cNvPr id="10" name="Rectangle 22"/>
          <p:cNvSpPr>
            <a:spLocks noChangeArrowheads="1"/>
          </p:cNvSpPr>
          <p:nvPr/>
        </p:nvSpPr>
        <p:spPr bwMode="auto">
          <a:xfrm>
            <a:off x="827088" y="5229225"/>
            <a:ext cx="37449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fr-FR" sz="1800">
                <a:latin typeface="Comic Sans MS" pitchFamily="66" charset="0"/>
              </a:rPr>
              <a:t>Soit on migre la clé primaire de la table </a:t>
            </a:r>
            <a:r>
              <a:rPr lang="fr-FR" sz="1800" i="1">
                <a:latin typeface="Comic Sans MS" pitchFamily="66" charset="0"/>
              </a:rPr>
              <a:t>Entreprise</a:t>
            </a:r>
            <a:r>
              <a:rPr lang="fr-FR" sz="1800">
                <a:latin typeface="Comic Sans MS" pitchFamily="66" charset="0"/>
              </a:rPr>
              <a:t> dans la table </a:t>
            </a:r>
            <a:r>
              <a:rPr lang="fr-FR" sz="1800" i="1">
                <a:latin typeface="Comic Sans MS" pitchFamily="66" charset="0"/>
              </a:rPr>
              <a:t>Salarié</a:t>
            </a:r>
            <a:r>
              <a:rPr lang="fr-FR" sz="1800">
                <a:latin typeface="Comic Sans MS" pitchFamily="66" charset="0"/>
              </a:rPr>
              <a:t>, soit on fait l'inverse</a:t>
            </a:r>
            <a:r>
              <a:rPr lang="fr-CH"/>
              <a:t> </a:t>
            </a:r>
          </a:p>
        </p:txBody>
      </p:sp>
      <p:sp>
        <p:nvSpPr>
          <p:cNvPr id="11" name="Rectangle 2"/>
          <p:cNvSpPr txBox="1">
            <a:spLocks noChangeArrowheads="1"/>
          </p:cNvSpPr>
          <p:nvPr/>
        </p:nvSpPr>
        <p:spPr>
          <a:xfrm>
            <a:off x="179512" y="404664"/>
            <a:ext cx="8458200" cy="122413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Transformation du MCD au MLD</a:t>
            </a:r>
          </a:p>
          <a:p>
            <a:r>
              <a:rPr lang="fr-FR" dirty="0"/>
              <a:t>Règle 3-b</a:t>
            </a:r>
          </a:p>
        </p:txBody>
      </p:sp>
    </p:spTree>
    <p:extLst>
      <p:ext uri="{BB962C8B-B14F-4D97-AF65-F5344CB8AC3E}">
        <p14:creationId xmlns:p14="http://schemas.microsoft.com/office/powerpoint/2010/main" val="1581848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10</a:t>
            </a:fld>
            <a:endParaRPr lang="fr-FR"/>
          </a:p>
        </p:txBody>
      </p:sp>
      <p:sp>
        <p:nvSpPr>
          <p:cNvPr id="6" name="Text Box 3"/>
          <p:cNvSpPr txBox="1">
            <a:spLocks noChangeArrowheads="1"/>
          </p:cNvSpPr>
          <p:nvPr/>
        </p:nvSpPr>
        <p:spPr bwMode="auto">
          <a:xfrm>
            <a:off x="179512" y="1676399"/>
            <a:ext cx="912621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b="1" u="sng" dirty="0">
                <a:solidFill>
                  <a:srgbClr val="339933"/>
                </a:solidFill>
                <a:latin typeface="Comic Sans MS" pitchFamily="66" charset="0"/>
                <a:cs typeface="Times New Roman" pitchFamily="18" charset="0"/>
              </a:rPr>
              <a:t>Transformation des relations binaires du type</a:t>
            </a:r>
            <a:r>
              <a:rPr lang="fr-FR" sz="2400" b="1" u="sng" dirty="0">
                <a:solidFill>
                  <a:srgbClr val="800080"/>
                </a:solidFill>
                <a:latin typeface="Comic Sans MS" pitchFamily="66" charset="0"/>
                <a:cs typeface="Times New Roman" pitchFamily="18" charset="0"/>
              </a:rPr>
              <a:t> </a:t>
            </a:r>
            <a:r>
              <a:rPr lang="fr-FR" sz="2400" b="1" u="sng" dirty="0">
                <a:solidFill>
                  <a:srgbClr val="339933"/>
                </a:solidFill>
                <a:latin typeface="Comic Sans MS" pitchFamily="66" charset="0"/>
                <a:cs typeface="Times New Roman" pitchFamily="18" charset="0"/>
              </a:rPr>
              <a:t>(</a:t>
            </a:r>
            <a:r>
              <a:rPr lang="fr-FR" sz="2400" b="1" u="sng" dirty="0" err="1">
                <a:solidFill>
                  <a:srgbClr val="339933"/>
                </a:solidFill>
                <a:latin typeface="Comic Sans MS" pitchFamily="66" charset="0"/>
                <a:cs typeface="Times New Roman" pitchFamily="18" charset="0"/>
              </a:rPr>
              <a:t>x,n</a:t>
            </a:r>
            <a:r>
              <a:rPr lang="fr-FR" sz="2400" b="1" u="sng" dirty="0">
                <a:solidFill>
                  <a:srgbClr val="339933"/>
                </a:solidFill>
                <a:latin typeface="Comic Sans MS" pitchFamily="66" charset="0"/>
                <a:cs typeface="Times New Roman" pitchFamily="18" charset="0"/>
              </a:rPr>
              <a:t>) – (</a:t>
            </a:r>
            <a:r>
              <a:rPr lang="fr-FR" sz="2400" b="1" u="sng" dirty="0" err="1">
                <a:solidFill>
                  <a:srgbClr val="339933"/>
                </a:solidFill>
                <a:latin typeface="Comic Sans MS" pitchFamily="66" charset="0"/>
                <a:cs typeface="Times New Roman" pitchFamily="18" charset="0"/>
              </a:rPr>
              <a:t>x,n</a:t>
            </a:r>
            <a:r>
              <a:rPr lang="fr-FR" sz="2400" b="1" u="sng" dirty="0">
                <a:solidFill>
                  <a:srgbClr val="339933"/>
                </a:solidFill>
                <a:latin typeface="Comic Sans MS" pitchFamily="66" charset="0"/>
                <a:cs typeface="Times New Roman" pitchFamily="18" charset="0"/>
              </a:rPr>
              <a:t>)</a:t>
            </a:r>
            <a:r>
              <a:rPr lang="fr-CH" sz="2400" b="1" u="sng" dirty="0">
                <a:solidFill>
                  <a:srgbClr val="339933"/>
                </a:solidFill>
                <a:latin typeface="Comic Sans MS" pitchFamily="66" charset="0"/>
                <a:cs typeface="Times New Roman" pitchFamily="18" charset="0"/>
              </a:rPr>
              <a:t> </a:t>
            </a:r>
          </a:p>
        </p:txBody>
      </p:sp>
      <p:sp>
        <p:nvSpPr>
          <p:cNvPr id="7" name="Rectangle 4"/>
          <p:cNvSpPr>
            <a:spLocks noChangeArrowheads="1"/>
          </p:cNvSpPr>
          <p:nvPr/>
        </p:nvSpPr>
        <p:spPr bwMode="auto">
          <a:xfrm>
            <a:off x="1295400" y="2438400"/>
            <a:ext cx="7620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93675" lvl="1" indent="-3175"/>
            <a:r>
              <a:rPr lang="fr-FR" sz="2400" b="1" dirty="0">
                <a:latin typeface="Comic Sans MS" pitchFamily="66" charset="0"/>
                <a:cs typeface="Times New Roman" pitchFamily="18" charset="0"/>
              </a:rPr>
              <a:t>	</a:t>
            </a:r>
            <a:r>
              <a:rPr lang="fr-FR" sz="2000" b="1" dirty="0">
                <a:latin typeface="Comic Sans MS" pitchFamily="66" charset="0"/>
              </a:rPr>
              <a:t>On crée une table supplémentaire ayant comme clé primaire une clé composée des clés primaires des 2 tables. Lorsque la relation contient elle-même des propriétés, celles-ci deviennent attributs de la table supplémentaire. Une propriété de la relation qui est soulignée devra appartenir à la clé primaire composée de la table supplémentaire.</a:t>
            </a:r>
            <a:endParaRPr lang="fr-CH" sz="2000" b="1" dirty="0">
              <a:latin typeface="Comic Sans MS" pitchFamily="66" charset="0"/>
            </a:endParaRPr>
          </a:p>
        </p:txBody>
      </p:sp>
      <p:pic>
        <p:nvPicPr>
          <p:cNvPr id="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585" y="3159125"/>
            <a:ext cx="685800" cy="5683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p:cNvSpPr txBox="1">
            <a:spLocks noChangeArrowheads="1"/>
          </p:cNvSpPr>
          <p:nvPr/>
        </p:nvSpPr>
        <p:spPr>
          <a:xfrm>
            <a:off x="179512" y="404664"/>
            <a:ext cx="8458200" cy="122413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Transformation du MCD au MLD</a:t>
            </a:r>
          </a:p>
          <a:p>
            <a:r>
              <a:rPr lang="fr-FR" dirty="0"/>
              <a:t>Règle 4</a:t>
            </a:r>
          </a:p>
        </p:txBody>
      </p:sp>
    </p:spTree>
    <p:extLst>
      <p:ext uri="{BB962C8B-B14F-4D97-AF65-F5344CB8AC3E}">
        <p14:creationId xmlns:p14="http://schemas.microsoft.com/office/powerpoint/2010/main" val="4196333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11</a:t>
            </a:fld>
            <a:endParaRPr lang="fr-FR"/>
          </a:p>
        </p:txBody>
      </p:sp>
      <p:sp>
        <p:nvSpPr>
          <p:cNvPr id="3" name="Rectangle 2"/>
          <p:cNvSpPr txBox="1">
            <a:spLocks noChangeArrowheads="1"/>
          </p:cNvSpPr>
          <p:nvPr/>
        </p:nvSpPr>
        <p:spPr>
          <a:xfrm>
            <a:off x="179512" y="404664"/>
            <a:ext cx="8458200" cy="122413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Transformation du MCD au MLD</a:t>
            </a:r>
          </a:p>
          <a:p>
            <a:r>
              <a:rPr lang="fr-FR" dirty="0"/>
              <a:t>Règle 4</a:t>
            </a:r>
          </a:p>
        </p:txBody>
      </p:sp>
      <p:pic>
        <p:nvPicPr>
          <p:cNvPr id="4" name="Picture 11" descr="c2332n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85800" y="3290888"/>
            <a:ext cx="3810000" cy="149383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 Box 3"/>
          <p:cNvSpPr txBox="1">
            <a:spLocks noChangeArrowheads="1"/>
          </p:cNvSpPr>
          <p:nvPr/>
        </p:nvSpPr>
        <p:spPr bwMode="auto">
          <a:xfrm>
            <a:off x="609600" y="1828800"/>
            <a:ext cx="763382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000" b="1" u="sng" dirty="0">
                <a:solidFill>
                  <a:srgbClr val="339933"/>
                </a:solidFill>
                <a:latin typeface="Comic Sans MS" pitchFamily="66" charset="0"/>
                <a:cs typeface="Times New Roman" pitchFamily="18" charset="0"/>
              </a:rPr>
              <a:t>Transformation des relations binaires du type</a:t>
            </a:r>
            <a:r>
              <a:rPr lang="fr-FR" sz="2000" b="1" u="sng" dirty="0">
                <a:solidFill>
                  <a:srgbClr val="800080"/>
                </a:solidFill>
                <a:latin typeface="Comic Sans MS" pitchFamily="66" charset="0"/>
                <a:cs typeface="Times New Roman" pitchFamily="18" charset="0"/>
              </a:rPr>
              <a:t> </a:t>
            </a:r>
            <a:r>
              <a:rPr lang="fr-FR" sz="2000" b="1" u="sng" dirty="0">
                <a:solidFill>
                  <a:srgbClr val="339933"/>
                </a:solidFill>
                <a:latin typeface="Comic Sans MS" pitchFamily="66" charset="0"/>
                <a:cs typeface="Times New Roman" pitchFamily="18" charset="0"/>
              </a:rPr>
              <a:t>(</a:t>
            </a:r>
            <a:r>
              <a:rPr lang="fr-FR" sz="2000" b="1" u="sng" dirty="0" err="1">
                <a:solidFill>
                  <a:srgbClr val="339933"/>
                </a:solidFill>
                <a:latin typeface="Comic Sans MS" pitchFamily="66" charset="0"/>
                <a:cs typeface="Times New Roman" pitchFamily="18" charset="0"/>
              </a:rPr>
              <a:t>x,n</a:t>
            </a:r>
            <a:r>
              <a:rPr lang="fr-FR" sz="2000" b="1" u="sng" dirty="0">
                <a:solidFill>
                  <a:srgbClr val="339933"/>
                </a:solidFill>
                <a:latin typeface="Comic Sans MS" pitchFamily="66" charset="0"/>
                <a:cs typeface="Times New Roman" pitchFamily="18" charset="0"/>
              </a:rPr>
              <a:t>) – (</a:t>
            </a:r>
            <a:r>
              <a:rPr lang="fr-FR" sz="2000" b="1" u="sng" dirty="0" err="1">
                <a:solidFill>
                  <a:srgbClr val="339933"/>
                </a:solidFill>
                <a:latin typeface="Comic Sans MS" pitchFamily="66" charset="0"/>
                <a:cs typeface="Times New Roman" pitchFamily="18" charset="0"/>
              </a:rPr>
              <a:t>x,n</a:t>
            </a:r>
            <a:r>
              <a:rPr lang="fr-FR" sz="2000" b="1" u="sng" dirty="0">
                <a:solidFill>
                  <a:srgbClr val="339933"/>
                </a:solidFill>
                <a:latin typeface="Comic Sans MS" pitchFamily="66" charset="0"/>
                <a:cs typeface="Times New Roman" pitchFamily="18" charset="0"/>
              </a:rPr>
              <a:t>)</a:t>
            </a:r>
            <a:r>
              <a:rPr lang="fr-CH" sz="2000" b="1" u="sng" dirty="0">
                <a:solidFill>
                  <a:srgbClr val="339933"/>
                </a:solidFill>
                <a:latin typeface="Comic Sans MS" pitchFamily="66" charset="0"/>
                <a:cs typeface="Times New Roman" pitchFamily="18" charset="0"/>
              </a:rPr>
              <a:t> </a:t>
            </a:r>
          </a:p>
        </p:txBody>
      </p:sp>
      <p:sp>
        <p:nvSpPr>
          <p:cNvPr id="6" name="Text Box 10"/>
          <p:cNvSpPr txBox="1">
            <a:spLocks noChangeArrowheads="1"/>
          </p:cNvSpPr>
          <p:nvPr/>
        </p:nvSpPr>
        <p:spPr bwMode="auto">
          <a:xfrm>
            <a:off x="755650" y="2565400"/>
            <a:ext cx="6495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000" b="1" u="sng" dirty="0">
                <a:solidFill>
                  <a:srgbClr val="339933"/>
                </a:solidFill>
                <a:latin typeface="Comic Sans MS" pitchFamily="66" charset="0"/>
                <a:cs typeface="Times New Roman" pitchFamily="18" charset="0"/>
              </a:rPr>
              <a:t>Ex</a:t>
            </a:r>
            <a:r>
              <a:rPr lang="fr-FR" sz="2000" u="sng" dirty="0">
                <a:solidFill>
                  <a:srgbClr val="339933"/>
                </a:solidFill>
                <a:latin typeface="Comic Sans MS" pitchFamily="66" charset="0"/>
                <a:cs typeface="Times New Roman" pitchFamily="18" charset="0"/>
              </a:rPr>
              <a:t>:</a:t>
            </a:r>
            <a:r>
              <a:rPr lang="fr-CH" sz="2000" dirty="0">
                <a:solidFill>
                  <a:srgbClr val="339933"/>
                </a:solidFill>
                <a:latin typeface="Comic Sans MS" pitchFamily="66" charset="0"/>
                <a:cs typeface="Times New Roman" pitchFamily="18" charset="0"/>
              </a:rPr>
              <a:t> </a:t>
            </a:r>
          </a:p>
        </p:txBody>
      </p:sp>
      <p:pic>
        <p:nvPicPr>
          <p:cNvPr id="7" name="Picture 13" descr="c2326mc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787900" y="3357563"/>
            <a:ext cx="4171950" cy="14382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 name="Line 15"/>
          <p:cNvSpPr>
            <a:spLocks noChangeShapeType="1"/>
          </p:cNvSpPr>
          <p:nvPr/>
        </p:nvSpPr>
        <p:spPr bwMode="auto">
          <a:xfrm>
            <a:off x="4532462" y="4005263"/>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2000"/>
          </a:p>
        </p:txBody>
      </p:sp>
      <p:sp>
        <p:nvSpPr>
          <p:cNvPr id="9" name="Rectangle 16"/>
          <p:cNvSpPr>
            <a:spLocks noChangeArrowheads="1"/>
          </p:cNvSpPr>
          <p:nvPr/>
        </p:nvSpPr>
        <p:spPr bwMode="auto">
          <a:xfrm>
            <a:off x="684213" y="4860321"/>
            <a:ext cx="82804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fr-FR" sz="2400" dirty="0">
                <a:latin typeface="Comic Sans MS" pitchFamily="66" charset="0"/>
              </a:rPr>
              <a:t>On crée une table </a:t>
            </a:r>
            <a:r>
              <a:rPr lang="fr-FR" sz="2400" i="1" dirty="0">
                <a:latin typeface="Comic Sans MS" pitchFamily="66" charset="0"/>
              </a:rPr>
              <a:t>Porter</a:t>
            </a:r>
            <a:r>
              <a:rPr lang="fr-FR" sz="2400" dirty="0">
                <a:latin typeface="Comic Sans MS" pitchFamily="66" charset="0"/>
              </a:rPr>
              <a:t>, qui contient comme clé primaire une clé composée </a:t>
            </a:r>
            <a:r>
              <a:rPr lang="fr-FR" sz="2400" i="1" dirty="0">
                <a:latin typeface="Comic Sans MS" pitchFamily="66" charset="0"/>
              </a:rPr>
              <a:t>de No-Commande</a:t>
            </a:r>
            <a:r>
              <a:rPr lang="fr-FR" sz="2400" dirty="0">
                <a:latin typeface="Comic Sans MS" pitchFamily="66" charset="0"/>
              </a:rPr>
              <a:t> et </a:t>
            </a:r>
            <a:r>
              <a:rPr lang="fr-FR" sz="2400" i="1" dirty="0" err="1">
                <a:latin typeface="Comic Sans MS" pitchFamily="66" charset="0"/>
              </a:rPr>
              <a:t>Code_Article</a:t>
            </a:r>
            <a:r>
              <a:rPr lang="fr-FR" sz="2400" dirty="0">
                <a:latin typeface="Comic Sans MS" pitchFamily="66" charset="0"/>
              </a:rPr>
              <a:t>. Elle contient également la propriété </a:t>
            </a:r>
            <a:r>
              <a:rPr lang="fr-FR" sz="2400" i="1" dirty="0">
                <a:latin typeface="Comic Sans MS" pitchFamily="66" charset="0"/>
              </a:rPr>
              <a:t>Quantité</a:t>
            </a:r>
            <a:r>
              <a:rPr lang="fr-FR" sz="2400" dirty="0">
                <a:latin typeface="Comic Sans MS" pitchFamily="66" charset="0"/>
              </a:rPr>
              <a:t> issue de la relation  </a:t>
            </a:r>
            <a:r>
              <a:rPr lang="fr-FR" sz="2400" i="1" dirty="0">
                <a:latin typeface="Comic Sans MS" pitchFamily="66" charset="0"/>
              </a:rPr>
              <a:t>Porter</a:t>
            </a:r>
            <a:r>
              <a:rPr lang="fr-CH" sz="2400" dirty="0">
                <a:latin typeface="Comic Sans MS" pitchFamily="66" charset="0"/>
              </a:rPr>
              <a:t> </a:t>
            </a:r>
          </a:p>
        </p:txBody>
      </p:sp>
    </p:spTree>
    <p:extLst>
      <p:ext uri="{BB962C8B-B14F-4D97-AF65-F5344CB8AC3E}">
        <p14:creationId xmlns:p14="http://schemas.microsoft.com/office/powerpoint/2010/main" val="793452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12</a:t>
            </a:fld>
            <a:endParaRPr lang="fr-FR"/>
          </a:p>
        </p:txBody>
      </p:sp>
      <p:sp>
        <p:nvSpPr>
          <p:cNvPr id="3" name="Text Box 3"/>
          <p:cNvSpPr txBox="1">
            <a:spLocks noChangeArrowheads="1"/>
          </p:cNvSpPr>
          <p:nvPr/>
        </p:nvSpPr>
        <p:spPr bwMode="auto">
          <a:xfrm>
            <a:off x="865312" y="1833265"/>
            <a:ext cx="61253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b="1" u="sng" dirty="0">
                <a:solidFill>
                  <a:srgbClr val="339933"/>
                </a:solidFill>
                <a:latin typeface="Comic Sans MS" pitchFamily="66" charset="0"/>
                <a:cs typeface="Times New Roman" pitchFamily="18" charset="0"/>
              </a:rPr>
              <a:t>Transformation des relations ternaires</a:t>
            </a:r>
            <a:r>
              <a:rPr lang="fr-CH" sz="2400" b="1" u="sng" dirty="0">
                <a:solidFill>
                  <a:srgbClr val="339933"/>
                </a:solidFill>
                <a:latin typeface="Comic Sans MS" pitchFamily="66" charset="0"/>
                <a:cs typeface="Times New Roman" pitchFamily="18" charset="0"/>
              </a:rPr>
              <a:t> </a:t>
            </a:r>
          </a:p>
        </p:txBody>
      </p:sp>
      <p:sp>
        <p:nvSpPr>
          <p:cNvPr id="4" name="Rectangle 4"/>
          <p:cNvSpPr>
            <a:spLocks noChangeArrowheads="1"/>
          </p:cNvSpPr>
          <p:nvPr/>
        </p:nvSpPr>
        <p:spPr bwMode="auto">
          <a:xfrm>
            <a:off x="1036423" y="2510230"/>
            <a:ext cx="8096944"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93675" lvl="1" indent="-3175"/>
            <a:r>
              <a:rPr lang="fr-FR" sz="2800" b="1" dirty="0">
                <a:latin typeface="Comic Sans MS" pitchFamily="66" charset="0"/>
                <a:cs typeface="Times New Roman" pitchFamily="18" charset="0"/>
              </a:rPr>
              <a:t>	</a:t>
            </a:r>
            <a:r>
              <a:rPr lang="fr-FR" sz="2400" b="1" dirty="0">
                <a:latin typeface="Comic Sans MS" pitchFamily="66" charset="0"/>
              </a:rPr>
              <a:t>On crée une table supplémentaire ayant comme clé primaire une clé composée des clés primaires de toutes les tables reliées. Cette règle s'applique de façon indépendante des différentes cardinalités. Lorsque la relation contient elle-même des propriétés, celles-ci deviennent attributs de la table supplémentaire. Une propriété de la relation qui est soulignée devra appartenir à la clé primaire composée de la table supplémentaire.</a:t>
            </a:r>
            <a:r>
              <a:rPr lang="fr-FR" sz="2400" dirty="0">
                <a:latin typeface="Comic Sans MS" pitchFamily="66" charset="0"/>
              </a:rPr>
              <a:t> </a:t>
            </a:r>
            <a:endParaRPr lang="fr-CH" sz="2400" dirty="0">
              <a:latin typeface="Comic Sans MS" pitchFamily="66" charset="0"/>
            </a:endParaRPr>
          </a:p>
        </p:txBody>
      </p:sp>
      <p:pic>
        <p:nvPicPr>
          <p:cNvPr id="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903522"/>
            <a:ext cx="685800" cy="5683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p:cNvSpPr txBox="1">
            <a:spLocks noChangeArrowheads="1"/>
          </p:cNvSpPr>
          <p:nvPr/>
        </p:nvSpPr>
        <p:spPr>
          <a:xfrm>
            <a:off x="179512" y="404664"/>
            <a:ext cx="8458200" cy="122413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smtClean="0"/>
              <a:t>Exemple 1</a:t>
            </a:r>
            <a:endParaRPr lang="fr-FR" dirty="0"/>
          </a:p>
        </p:txBody>
      </p:sp>
    </p:spTree>
    <p:extLst>
      <p:ext uri="{BB962C8B-B14F-4D97-AF65-F5344CB8AC3E}">
        <p14:creationId xmlns:p14="http://schemas.microsoft.com/office/powerpoint/2010/main" val="988301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13</a:t>
            </a:fld>
            <a:endParaRPr lang="fr-FR"/>
          </a:p>
        </p:txBody>
      </p:sp>
      <p:pic>
        <p:nvPicPr>
          <p:cNvPr id="3" name="Picture 14" descr="c2332n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11188" y="2924175"/>
            <a:ext cx="3810000" cy="20034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 name="Text Box 4"/>
          <p:cNvSpPr txBox="1">
            <a:spLocks noChangeArrowheads="1"/>
          </p:cNvSpPr>
          <p:nvPr/>
        </p:nvSpPr>
        <p:spPr bwMode="auto">
          <a:xfrm>
            <a:off x="609600" y="1828800"/>
            <a:ext cx="57919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a:solidFill>
                  <a:srgbClr val="339933"/>
                </a:solidFill>
                <a:latin typeface="Comic Sans MS" pitchFamily="66" charset="0"/>
                <a:cs typeface="Times New Roman" pitchFamily="18" charset="0"/>
              </a:rPr>
              <a:t>Transformation des relations ternaires</a:t>
            </a:r>
            <a:endParaRPr lang="fr-CH" sz="2400" u="sng">
              <a:solidFill>
                <a:srgbClr val="339933"/>
              </a:solidFill>
              <a:latin typeface="Comic Sans MS" pitchFamily="66" charset="0"/>
              <a:cs typeface="Times New Roman" pitchFamily="18" charset="0"/>
            </a:endParaRPr>
          </a:p>
        </p:txBody>
      </p:sp>
      <p:sp>
        <p:nvSpPr>
          <p:cNvPr id="5" name="Text Box 9"/>
          <p:cNvSpPr txBox="1">
            <a:spLocks noChangeArrowheads="1"/>
          </p:cNvSpPr>
          <p:nvPr/>
        </p:nvSpPr>
        <p:spPr bwMode="auto">
          <a:xfrm>
            <a:off x="755650" y="2349500"/>
            <a:ext cx="7409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a:solidFill>
                  <a:srgbClr val="339933"/>
                </a:solidFill>
                <a:latin typeface="Comic Sans MS" pitchFamily="66" charset="0"/>
                <a:cs typeface="Times New Roman" pitchFamily="18" charset="0"/>
              </a:rPr>
              <a:t>Ex:</a:t>
            </a:r>
            <a:r>
              <a:rPr lang="fr-CH" sz="2400">
                <a:solidFill>
                  <a:srgbClr val="339933"/>
                </a:solidFill>
                <a:latin typeface="Comic Sans MS" pitchFamily="66" charset="0"/>
                <a:cs typeface="Times New Roman" pitchFamily="18" charset="0"/>
              </a:rPr>
              <a:t> </a:t>
            </a:r>
          </a:p>
        </p:txBody>
      </p:sp>
      <p:sp>
        <p:nvSpPr>
          <p:cNvPr id="6" name="Line 11"/>
          <p:cNvSpPr>
            <a:spLocks noChangeShapeType="1"/>
          </p:cNvSpPr>
          <p:nvPr/>
        </p:nvSpPr>
        <p:spPr bwMode="auto">
          <a:xfrm>
            <a:off x="4500563" y="4023317"/>
            <a:ext cx="3238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2400" dirty="0"/>
          </a:p>
        </p:txBody>
      </p:sp>
      <p:sp>
        <p:nvSpPr>
          <p:cNvPr id="7" name="Rectangle 12"/>
          <p:cNvSpPr>
            <a:spLocks noChangeArrowheads="1"/>
          </p:cNvSpPr>
          <p:nvPr/>
        </p:nvSpPr>
        <p:spPr bwMode="auto">
          <a:xfrm>
            <a:off x="684213" y="5168097"/>
            <a:ext cx="82804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fr-FR" sz="2800">
                <a:latin typeface="Comic Sans MS" pitchFamily="66" charset="0"/>
              </a:rPr>
              <a:t>La table </a:t>
            </a:r>
            <a:r>
              <a:rPr lang="fr-FR" sz="2800" i="1">
                <a:latin typeface="Comic Sans MS" pitchFamily="66" charset="0"/>
              </a:rPr>
              <a:t>Enseigner</a:t>
            </a:r>
            <a:r>
              <a:rPr lang="fr-FR" sz="2800">
                <a:latin typeface="Comic Sans MS" pitchFamily="66" charset="0"/>
              </a:rPr>
              <a:t> contient une clé composée de </a:t>
            </a:r>
            <a:r>
              <a:rPr lang="fr-FR" sz="2800" i="1">
                <a:latin typeface="Comic Sans MS" pitchFamily="66" charset="0"/>
              </a:rPr>
              <a:t>No_Enseignant</a:t>
            </a:r>
            <a:r>
              <a:rPr lang="fr-FR" sz="2800">
                <a:latin typeface="Comic Sans MS" pitchFamily="66" charset="0"/>
              </a:rPr>
              <a:t>, </a:t>
            </a:r>
            <a:r>
              <a:rPr lang="fr-FR" sz="2800" i="1">
                <a:latin typeface="Comic Sans MS" pitchFamily="66" charset="0"/>
              </a:rPr>
              <a:t>Code_Matière</a:t>
            </a:r>
            <a:r>
              <a:rPr lang="fr-FR" sz="2800">
                <a:latin typeface="Comic Sans MS" pitchFamily="66" charset="0"/>
              </a:rPr>
              <a:t> et </a:t>
            </a:r>
            <a:r>
              <a:rPr lang="fr-FR" sz="2800" i="1">
                <a:latin typeface="Comic Sans MS" pitchFamily="66" charset="0"/>
              </a:rPr>
              <a:t>Nom_Classe</a:t>
            </a:r>
            <a:r>
              <a:rPr lang="fr-FR" sz="2800">
                <a:latin typeface="Comic Sans MS" pitchFamily="66" charset="0"/>
              </a:rPr>
              <a:t>.</a:t>
            </a:r>
            <a:endParaRPr lang="fr-CH" sz="2800">
              <a:latin typeface="Comic Sans MS" pitchFamily="66" charset="0"/>
            </a:endParaRPr>
          </a:p>
        </p:txBody>
      </p:sp>
      <p:pic>
        <p:nvPicPr>
          <p:cNvPr id="8" name="Picture 17" descr="c2332n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859338" y="2852738"/>
            <a:ext cx="4105275" cy="2127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Rectangle 2"/>
          <p:cNvSpPr txBox="1">
            <a:spLocks noChangeArrowheads="1"/>
          </p:cNvSpPr>
          <p:nvPr/>
        </p:nvSpPr>
        <p:spPr>
          <a:xfrm>
            <a:off x="179512" y="404664"/>
            <a:ext cx="8458200" cy="122413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smtClean="0"/>
              <a:t>Exemple 1</a:t>
            </a:r>
            <a:endParaRPr lang="fr-FR" dirty="0"/>
          </a:p>
        </p:txBody>
      </p:sp>
    </p:spTree>
    <p:extLst>
      <p:ext uri="{BB962C8B-B14F-4D97-AF65-F5344CB8AC3E}">
        <p14:creationId xmlns:p14="http://schemas.microsoft.com/office/powerpoint/2010/main" val="3994337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14</a:t>
            </a:fld>
            <a:endParaRPr lang="fr-FR"/>
          </a:p>
        </p:txBody>
      </p:sp>
      <p:pic>
        <p:nvPicPr>
          <p:cNvPr id="3" name="Picture 18" descr="c2332n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12775" y="4127847"/>
            <a:ext cx="3887788" cy="16097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27088" y="2795934"/>
            <a:ext cx="723900" cy="6000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 Box 5"/>
          <p:cNvSpPr txBox="1">
            <a:spLocks noChangeArrowheads="1"/>
          </p:cNvSpPr>
          <p:nvPr/>
        </p:nvSpPr>
        <p:spPr bwMode="auto">
          <a:xfrm>
            <a:off x="624288" y="2018457"/>
            <a:ext cx="825578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b="1" u="sng" dirty="0">
                <a:solidFill>
                  <a:srgbClr val="339933"/>
                </a:solidFill>
                <a:latin typeface="Comic Sans MS" pitchFamily="66" charset="0"/>
              </a:rPr>
              <a:t>Transformation de plusieurs relations entre 2 entités</a:t>
            </a:r>
            <a:r>
              <a:rPr lang="fr-FR" sz="2400" dirty="0"/>
              <a:t> </a:t>
            </a:r>
            <a:endParaRPr lang="fr-CH" sz="2400" dirty="0"/>
          </a:p>
        </p:txBody>
      </p:sp>
      <p:sp>
        <p:nvSpPr>
          <p:cNvPr id="6" name="Text Box 8"/>
          <p:cNvSpPr txBox="1">
            <a:spLocks noChangeArrowheads="1"/>
          </p:cNvSpPr>
          <p:nvPr/>
        </p:nvSpPr>
        <p:spPr bwMode="auto">
          <a:xfrm>
            <a:off x="611188" y="3515072"/>
            <a:ext cx="74090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a:solidFill>
                  <a:srgbClr val="339933"/>
                </a:solidFill>
                <a:latin typeface="Comic Sans MS" pitchFamily="66" charset="0"/>
                <a:cs typeface="Times New Roman" pitchFamily="18" charset="0"/>
              </a:rPr>
              <a:t>Ex:</a:t>
            </a:r>
            <a:r>
              <a:rPr lang="fr-CH" sz="2400">
                <a:solidFill>
                  <a:srgbClr val="339933"/>
                </a:solidFill>
                <a:latin typeface="Comic Sans MS" pitchFamily="66" charset="0"/>
                <a:cs typeface="Times New Roman" pitchFamily="18" charset="0"/>
              </a:rPr>
              <a:t> </a:t>
            </a:r>
          </a:p>
        </p:txBody>
      </p:sp>
      <p:sp>
        <p:nvSpPr>
          <p:cNvPr id="7" name="Line 11"/>
          <p:cNvSpPr>
            <a:spLocks noChangeShapeType="1"/>
          </p:cNvSpPr>
          <p:nvPr/>
        </p:nvSpPr>
        <p:spPr bwMode="auto">
          <a:xfrm>
            <a:off x="4500563" y="4983509"/>
            <a:ext cx="5032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2400"/>
          </a:p>
        </p:txBody>
      </p:sp>
      <p:sp>
        <p:nvSpPr>
          <p:cNvPr id="8" name="Rectangle 15"/>
          <p:cNvSpPr>
            <a:spLocks noChangeArrowheads="1"/>
          </p:cNvSpPr>
          <p:nvPr/>
        </p:nvSpPr>
        <p:spPr bwMode="auto">
          <a:xfrm>
            <a:off x="1524000" y="2867372"/>
            <a:ext cx="7620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93675" lvl="1" indent="-3175"/>
            <a:r>
              <a:rPr lang="fr-FR" sz="2800" b="1">
                <a:latin typeface="Comic Sans MS" pitchFamily="66" charset="0"/>
                <a:cs typeface="Times New Roman" pitchFamily="18" charset="0"/>
              </a:rPr>
              <a:t>	</a:t>
            </a:r>
            <a:r>
              <a:rPr lang="fr-FR" sz="2400">
                <a:latin typeface="Comic Sans MS" pitchFamily="66" charset="0"/>
              </a:rPr>
              <a:t>Les règles générales s’appliquent</a:t>
            </a:r>
            <a:endParaRPr lang="fr-CH" sz="2400"/>
          </a:p>
        </p:txBody>
      </p:sp>
      <p:pic>
        <p:nvPicPr>
          <p:cNvPr id="9" name="Picture 22" descr="c2332n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003800" y="3946872"/>
            <a:ext cx="3810000" cy="19304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2"/>
          <p:cNvSpPr txBox="1">
            <a:spLocks noChangeArrowheads="1"/>
          </p:cNvSpPr>
          <p:nvPr/>
        </p:nvSpPr>
        <p:spPr>
          <a:xfrm>
            <a:off x="179512" y="404664"/>
            <a:ext cx="8458200" cy="1008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smtClean="0"/>
              <a:t>Exemple 2</a:t>
            </a:r>
            <a:endParaRPr lang="fr-FR" dirty="0"/>
          </a:p>
        </p:txBody>
      </p:sp>
    </p:spTree>
    <p:extLst>
      <p:ext uri="{BB962C8B-B14F-4D97-AF65-F5344CB8AC3E}">
        <p14:creationId xmlns:p14="http://schemas.microsoft.com/office/powerpoint/2010/main" val="4168484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15</a:t>
            </a:fld>
            <a:endParaRPr lang="fr-FR"/>
          </a:p>
        </p:txBody>
      </p:sp>
      <p:pic>
        <p:nvPicPr>
          <p:cNvPr id="3" name="Picture 14" descr="c2332n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862013" y="2648281"/>
            <a:ext cx="3457575" cy="2695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17" descr="c2332n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859338" y="3315031"/>
            <a:ext cx="3810000" cy="1541462"/>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 Box 4"/>
          <p:cNvSpPr txBox="1">
            <a:spLocks noChangeArrowheads="1"/>
          </p:cNvSpPr>
          <p:nvPr/>
        </p:nvSpPr>
        <p:spPr bwMode="auto">
          <a:xfrm>
            <a:off x="684213" y="1441781"/>
            <a:ext cx="5921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dirty="0">
                <a:solidFill>
                  <a:srgbClr val="339933"/>
                </a:solidFill>
                <a:latin typeface="Comic Sans MS" pitchFamily="66" charset="0"/>
                <a:cs typeface="Times New Roman" pitchFamily="18" charset="0"/>
              </a:rPr>
              <a:t>Transformation des relations réflexives</a:t>
            </a:r>
            <a:endParaRPr lang="fr-CH" sz="2400" u="sng" dirty="0">
              <a:solidFill>
                <a:srgbClr val="339933"/>
              </a:solidFill>
              <a:latin typeface="Comic Sans MS" pitchFamily="66" charset="0"/>
              <a:cs typeface="Times New Roman" pitchFamily="18" charset="0"/>
            </a:endParaRPr>
          </a:p>
        </p:txBody>
      </p:sp>
      <p:sp>
        <p:nvSpPr>
          <p:cNvPr id="6" name="Text Box 9"/>
          <p:cNvSpPr txBox="1">
            <a:spLocks noChangeArrowheads="1"/>
          </p:cNvSpPr>
          <p:nvPr/>
        </p:nvSpPr>
        <p:spPr bwMode="auto">
          <a:xfrm>
            <a:off x="755650" y="2018043"/>
            <a:ext cx="9701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a:solidFill>
                  <a:srgbClr val="339933"/>
                </a:solidFill>
                <a:latin typeface="Comic Sans MS" pitchFamily="66" charset="0"/>
                <a:cs typeface="Times New Roman" pitchFamily="18" charset="0"/>
              </a:rPr>
              <a:t>Ex 1:</a:t>
            </a:r>
            <a:r>
              <a:rPr lang="fr-CH" sz="2400">
                <a:solidFill>
                  <a:srgbClr val="339933"/>
                </a:solidFill>
                <a:latin typeface="Comic Sans MS" pitchFamily="66" charset="0"/>
                <a:cs typeface="Times New Roman" pitchFamily="18" charset="0"/>
              </a:rPr>
              <a:t> </a:t>
            </a:r>
          </a:p>
        </p:txBody>
      </p:sp>
      <p:sp>
        <p:nvSpPr>
          <p:cNvPr id="7" name="Line 10"/>
          <p:cNvSpPr>
            <a:spLocks noChangeShapeType="1"/>
          </p:cNvSpPr>
          <p:nvPr/>
        </p:nvSpPr>
        <p:spPr bwMode="auto">
          <a:xfrm>
            <a:off x="4319588" y="3979398"/>
            <a:ext cx="539749" cy="1666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2400"/>
          </a:p>
        </p:txBody>
      </p:sp>
      <p:sp>
        <p:nvSpPr>
          <p:cNvPr id="8" name="Rectangle 11"/>
          <p:cNvSpPr>
            <a:spLocks noChangeArrowheads="1"/>
          </p:cNvSpPr>
          <p:nvPr/>
        </p:nvSpPr>
        <p:spPr bwMode="auto">
          <a:xfrm>
            <a:off x="1690688" y="5291866"/>
            <a:ext cx="734536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fr-FR" sz="2800" dirty="0">
                <a:latin typeface="Comic Sans MS" pitchFamily="66" charset="0"/>
              </a:rPr>
              <a:t>Nous appliquons les règles générales avec la seule différence que la relation est 2 fois reliée à la même entité</a:t>
            </a:r>
            <a:endParaRPr lang="fr-CH" sz="2800" dirty="0">
              <a:latin typeface="Comic Sans MS" pitchFamily="66" charset="0"/>
            </a:endParaRPr>
          </a:p>
        </p:txBody>
      </p:sp>
      <p:pic>
        <p:nvPicPr>
          <p:cNvPr id="9"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827088" y="5547056"/>
            <a:ext cx="723900" cy="6000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2"/>
          <p:cNvSpPr txBox="1">
            <a:spLocks noChangeArrowheads="1"/>
          </p:cNvSpPr>
          <p:nvPr/>
        </p:nvSpPr>
        <p:spPr>
          <a:xfrm>
            <a:off x="179512" y="404664"/>
            <a:ext cx="8458200" cy="1008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smtClean="0"/>
              <a:t>Exemple 3-a</a:t>
            </a:r>
            <a:endParaRPr lang="fr-FR" dirty="0"/>
          </a:p>
        </p:txBody>
      </p:sp>
    </p:spTree>
    <p:extLst>
      <p:ext uri="{BB962C8B-B14F-4D97-AF65-F5344CB8AC3E}">
        <p14:creationId xmlns:p14="http://schemas.microsoft.com/office/powerpoint/2010/main" val="3461932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16</a:t>
            </a:fld>
            <a:endParaRPr lang="fr-FR"/>
          </a:p>
        </p:txBody>
      </p:sp>
      <p:pic>
        <p:nvPicPr>
          <p:cNvPr id="3" name="Picture 15" descr="c2332n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985838" y="2819400"/>
            <a:ext cx="3209925" cy="24384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 name="Picture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827088" y="5589588"/>
            <a:ext cx="723900" cy="6000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Text Box 5"/>
          <p:cNvSpPr txBox="1">
            <a:spLocks noChangeArrowheads="1"/>
          </p:cNvSpPr>
          <p:nvPr/>
        </p:nvSpPr>
        <p:spPr bwMode="auto">
          <a:xfrm>
            <a:off x="684213" y="1484313"/>
            <a:ext cx="5921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dirty="0">
                <a:solidFill>
                  <a:srgbClr val="339933"/>
                </a:solidFill>
                <a:latin typeface="Comic Sans MS" pitchFamily="66" charset="0"/>
                <a:cs typeface="Times New Roman" pitchFamily="18" charset="0"/>
              </a:rPr>
              <a:t>Transformation des relations réflexives</a:t>
            </a:r>
            <a:endParaRPr lang="fr-CH" sz="2400" u="sng" dirty="0">
              <a:solidFill>
                <a:srgbClr val="339933"/>
              </a:solidFill>
              <a:latin typeface="Comic Sans MS" pitchFamily="66" charset="0"/>
              <a:cs typeface="Times New Roman" pitchFamily="18" charset="0"/>
            </a:endParaRPr>
          </a:p>
        </p:txBody>
      </p:sp>
      <p:sp>
        <p:nvSpPr>
          <p:cNvPr id="6" name="Text Box 10"/>
          <p:cNvSpPr txBox="1">
            <a:spLocks noChangeArrowheads="1"/>
          </p:cNvSpPr>
          <p:nvPr/>
        </p:nvSpPr>
        <p:spPr bwMode="auto">
          <a:xfrm>
            <a:off x="755650" y="2060575"/>
            <a:ext cx="97013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a:solidFill>
                  <a:srgbClr val="339933"/>
                </a:solidFill>
                <a:latin typeface="Comic Sans MS" pitchFamily="66" charset="0"/>
                <a:cs typeface="Times New Roman" pitchFamily="18" charset="0"/>
              </a:rPr>
              <a:t>Ex 1:</a:t>
            </a:r>
            <a:r>
              <a:rPr lang="fr-CH" sz="2400">
                <a:solidFill>
                  <a:srgbClr val="339933"/>
                </a:solidFill>
                <a:latin typeface="Comic Sans MS" pitchFamily="66" charset="0"/>
                <a:cs typeface="Times New Roman" pitchFamily="18" charset="0"/>
              </a:rPr>
              <a:t> </a:t>
            </a:r>
          </a:p>
        </p:txBody>
      </p:sp>
      <p:sp>
        <p:nvSpPr>
          <p:cNvPr id="7" name="Line 11"/>
          <p:cNvSpPr>
            <a:spLocks noChangeShapeType="1"/>
          </p:cNvSpPr>
          <p:nvPr/>
        </p:nvSpPr>
        <p:spPr bwMode="auto">
          <a:xfrm>
            <a:off x="4500563" y="4005263"/>
            <a:ext cx="2159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fr-FR" sz="2400"/>
          </a:p>
        </p:txBody>
      </p:sp>
      <p:sp>
        <p:nvSpPr>
          <p:cNvPr id="8" name="Rectangle 12"/>
          <p:cNvSpPr>
            <a:spLocks noChangeArrowheads="1"/>
          </p:cNvSpPr>
          <p:nvPr/>
        </p:nvSpPr>
        <p:spPr bwMode="auto">
          <a:xfrm>
            <a:off x="1690688" y="5174903"/>
            <a:ext cx="7345362"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fr-FR" sz="2800">
                <a:latin typeface="Comic Sans MS" pitchFamily="66" charset="0"/>
              </a:rPr>
              <a:t>Nous appliquons les règles générales avec la seule différence que la relation est 2 fois reliée à la même entité</a:t>
            </a:r>
            <a:endParaRPr lang="fr-CH" sz="2800">
              <a:latin typeface="Comic Sans MS" pitchFamily="66" charset="0"/>
            </a:endParaRPr>
          </a:p>
        </p:txBody>
      </p:sp>
      <p:pic>
        <p:nvPicPr>
          <p:cNvPr id="9" name="Picture 18" descr="c2332n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5076825" y="3068638"/>
            <a:ext cx="2641600" cy="1981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2"/>
          <p:cNvSpPr txBox="1">
            <a:spLocks noChangeArrowheads="1"/>
          </p:cNvSpPr>
          <p:nvPr/>
        </p:nvSpPr>
        <p:spPr>
          <a:xfrm>
            <a:off x="175415" y="404664"/>
            <a:ext cx="8458200" cy="1008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smtClean="0"/>
              <a:t>Exemple 3-b</a:t>
            </a:r>
            <a:endParaRPr lang="fr-FR" dirty="0"/>
          </a:p>
        </p:txBody>
      </p:sp>
    </p:spTree>
    <p:extLst>
      <p:ext uri="{BB962C8B-B14F-4D97-AF65-F5344CB8AC3E}">
        <p14:creationId xmlns:p14="http://schemas.microsoft.com/office/powerpoint/2010/main" val="1565275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17</a:t>
            </a:fld>
            <a:endParaRPr lang="fr-FR"/>
          </a:p>
        </p:txBody>
      </p:sp>
      <p:sp>
        <p:nvSpPr>
          <p:cNvPr id="23" name="Rectangle 4"/>
          <p:cNvSpPr>
            <a:spLocks noChangeArrowheads="1"/>
          </p:cNvSpPr>
          <p:nvPr/>
        </p:nvSpPr>
        <p:spPr bwMode="auto">
          <a:xfrm>
            <a:off x="611560" y="2843912"/>
            <a:ext cx="777044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fr-FR" sz="2400" dirty="0">
                <a:latin typeface="Comic Sans MS" pitchFamily="66" charset="0"/>
              </a:rPr>
              <a:t>Le modèle physique des données (MPD) est la traduction du modèle logique des données (MLD) dans une structure de données spécifique au système de gestion de bases de données (SGBD) utilisé.</a:t>
            </a:r>
            <a:endParaRPr lang="fr-CH" sz="2400" dirty="0">
              <a:latin typeface="Comic Sans MS" pitchFamily="66" charset="0"/>
              <a:cs typeface="Times New Roman" pitchFamily="18" charset="0"/>
            </a:endParaRPr>
          </a:p>
          <a:p>
            <a:endParaRPr lang="fr-CH" sz="2400" dirty="0">
              <a:latin typeface="Comic Sans MS" pitchFamily="66" charset="0"/>
              <a:cs typeface="Times New Roman" pitchFamily="18" charset="0"/>
            </a:endParaRPr>
          </a:p>
        </p:txBody>
      </p:sp>
      <p:sp>
        <p:nvSpPr>
          <p:cNvPr id="24" name="Text Box 3"/>
          <p:cNvSpPr txBox="1">
            <a:spLocks noChangeArrowheads="1"/>
          </p:cNvSpPr>
          <p:nvPr/>
        </p:nvSpPr>
        <p:spPr bwMode="auto">
          <a:xfrm>
            <a:off x="683568" y="2288232"/>
            <a:ext cx="17139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sz="2400" u="sng" dirty="0">
                <a:solidFill>
                  <a:srgbClr val="339933"/>
                </a:solidFill>
                <a:latin typeface="Comic Sans MS" pitchFamily="66" charset="0"/>
                <a:cs typeface="Times New Roman" pitchFamily="18" charset="0"/>
              </a:rPr>
              <a:t>Définition</a:t>
            </a:r>
            <a:r>
              <a:rPr lang="fr-CH" sz="2400" dirty="0">
                <a:solidFill>
                  <a:srgbClr val="339933"/>
                </a:solidFill>
                <a:latin typeface="Comic Sans MS" pitchFamily="66" charset="0"/>
                <a:cs typeface="Times New Roman" pitchFamily="18" charset="0"/>
              </a:rPr>
              <a:t> </a:t>
            </a:r>
          </a:p>
        </p:txBody>
      </p:sp>
      <p:sp>
        <p:nvSpPr>
          <p:cNvPr id="25" name="Rectangle 2"/>
          <p:cNvSpPr txBox="1">
            <a:spLocks noChangeArrowheads="1"/>
          </p:cNvSpPr>
          <p:nvPr/>
        </p:nvSpPr>
        <p:spPr>
          <a:xfrm>
            <a:off x="395536" y="764704"/>
            <a:ext cx="8458200" cy="6588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Passage du MLD au MPD</a:t>
            </a:r>
            <a:endParaRPr lang="fr-CH" dirty="0"/>
          </a:p>
        </p:txBody>
      </p:sp>
    </p:spTree>
    <p:extLst>
      <p:ext uri="{BB962C8B-B14F-4D97-AF65-F5344CB8AC3E}">
        <p14:creationId xmlns:p14="http://schemas.microsoft.com/office/powerpoint/2010/main" val="1226307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79512" y="1988840"/>
            <a:ext cx="8569325" cy="1803400"/>
          </a:xfrm>
        </p:spPr>
        <p:txBody>
          <a:bodyPr anchor="ctr">
            <a:normAutofit/>
          </a:bodyPr>
          <a:lstStyle/>
          <a:p>
            <a:r>
              <a:rPr lang="fr-FR" sz="4300" kern="1200" dirty="0">
                <a:solidFill>
                  <a:srgbClr val="572314"/>
                </a:solidFill>
                <a:effectLst>
                  <a:outerShdw blurRad="50000" dist="30000" dir="5400000" algn="tl" rotWithShape="0">
                    <a:srgbClr val="000000">
                      <a:alpha val="30000"/>
                    </a:srgbClr>
                  </a:outerShdw>
                </a:effectLst>
                <a:latin typeface="Gill Sans MT"/>
              </a:rPr>
              <a:t>Modèle </a:t>
            </a:r>
            <a:r>
              <a:rPr lang="fr-FR" sz="4300" kern="1200" dirty="0" smtClean="0">
                <a:solidFill>
                  <a:srgbClr val="572314"/>
                </a:solidFill>
                <a:effectLst>
                  <a:outerShdw blurRad="50000" dist="30000" dir="5400000" algn="tl" rotWithShape="0">
                    <a:srgbClr val="000000">
                      <a:alpha val="30000"/>
                    </a:srgbClr>
                  </a:outerShdw>
                </a:effectLst>
                <a:latin typeface="Gill Sans MT"/>
              </a:rPr>
              <a:t>Physique </a:t>
            </a:r>
            <a:r>
              <a:rPr lang="fr-FR" sz="4300" kern="1200" dirty="0">
                <a:solidFill>
                  <a:srgbClr val="572314"/>
                </a:solidFill>
                <a:effectLst>
                  <a:outerShdw blurRad="50000" dist="30000" dir="5400000" algn="tl" rotWithShape="0">
                    <a:srgbClr val="000000">
                      <a:alpha val="30000"/>
                    </a:srgbClr>
                  </a:outerShdw>
                </a:effectLst>
                <a:latin typeface="Gill Sans MT"/>
              </a:rPr>
              <a:t>de Données (</a:t>
            </a:r>
            <a:r>
              <a:rPr lang="fr-FR" sz="4300" kern="1200" dirty="0" smtClean="0">
                <a:solidFill>
                  <a:srgbClr val="572314"/>
                </a:solidFill>
                <a:effectLst>
                  <a:outerShdw blurRad="50000" dist="30000" dir="5400000" algn="tl" rotWithShape="0">
                    <a:srgbClr val="000000">
                      <a:alpha val="30000"/>
                    </a:srgbClr>
                  </a:outerShdw>
                </a:effectLst>
                <a:latin typeface="Gill Sans MT"/>
              </a:rPr>
              <a:t>MPD</a:t>
            </a:r>
            <a:r>
              <a:rPr lang="fr-FR" sz="4300" kern="1200" dirty="0">
                <a:solidFill>
                  <a:srgbClr val="572314"/>
                </a:solidFill>
                <a:effectLst>
                  <a:outerShdw blurRad="50000" dist="30000" dir="5400000" algn="tl" rotWithShape="0">
                    <a:srgbClr val="000000">
                      <a:alpha val="30000"/>
                    </a:srgbClr>
                  </a:outerShdw>
                </a:effectLst>
                <a:latin typeface="Gill Sans MT"/>
              </a:rPr>
              <a:t>)</a:t>
            </a:r>
          </a:p>
        </p:txBody>
      </p:sp>
      <p:sp>
        <p:nvSpPr>
          <p:cNvPr id="2051" name="Espace réservé du numéro de diapositive 3"/>
          <p:cNvSpPr>
            <a:spLocks noGrp="1"/>
          </p:cNvSpPr>
          <p:nvPr>
            <p:ph type="sldNum" sz="quarter" idx="12"/>
          </p:nvPr>
        </p:nvSpPr>
        <p:spPr>
          <a:noFill/>
        </p:spPr>
        <p:txBody>
          <a:bodyPr/>
          <a:lstStyle/>
          <a:p>
            <a:fld id="{1143C34D-911C-4B97-ACB8-94C24916FD81}" type="slidenum">
              <a:rPr lang="fr-FR" smtClean="0"/>
              <a:pPr/>
              <a:t>18</a:t>
            </a:fld>
            <a:endParaRPr lang="fr-FR" smtClean="0"/>
          </a:p>
        </p:txBody>
      </p:sp>
    </p:spTree>
    <p:extLst>
      <p:ext uri="{BB962C8B-B14F-4D97-AF65-F5344CB8AC3E}">
        <p14:creationId xmlns:p14="http://schemas.microsoft.com/office/powerpoint/2010/main" val="1988931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19</a:t>
            </a:fld>
            <a:endParaRPr lang="fr-FR"/>
          </a:p>
        </p:txBody>
      </p:sp>
      <p:sp>
        <p:nvSpPr>
          <p:cNvPr id="3" name="Rectangle 2"/>
          <p:cNvSpPr txBox="1">
            <a:spLocks noChangeArrowheads="1"/>
          </p:cNvSpPr>
          <p:nvPr/>
        </p:nvSpPr>
        <p:spPr>
          <a:xfrm>
            <a:off x="623156" y="548680"/>
            <a:ext cx="8278688"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a:bodyPr>
          <a:lstStyle>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Méthode de modélisation des données</a:t>
            </a:r>
            <a:r>
              <a:rPr lang="fr-CH" dirty="0"/>
              <a:t> </a:t>
            </a:r>
          </a:p>
        </p:txBody>
      </p:sp>
      <p:sp>
        <p:nvSpPr>
          <p:cNvPr id="4" name="Text Box 4"/>
          <p:cNvSpPr txBox="1">
            <a:spLocks noChangeArrowheads="1"/>
          </p:cNvSpPr>
          <p:nvPr/>
        </p:nvSpPr>
        <p:spPr bwMode="auto">
          <a:xfrm>
            <a:off x="1033072" y="2314545"/>
            <a:ext cx="19050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fr-FR" sz="2000" b="1" dirty="0">
                <a:solidFill>
                  <a:srgbClr val="339933"/>
                </a:solidFill>
                <a:latin typeface="Comic Sans MS" pitchFamily="66" charset="0"/>
                <a:cs typeface="Times New Roman" pitchFamily="18" charset="0"/>
              </a:rPr>
              <a:t>En Résumé</a:t>
            </a:r>
            <a:endParaRPr lang="fr-CH" sz="2000" u="sng" dirty="0">
              <a:solidFill>
                <a:srgbClr val="339933"/>
              </a:solidFill>
              <a:latin typeface="Comic Sans MS" pitchFamily="66" charset="0"/>
            </a:endParaRPr>
          </a:p>
        </p:txBody>
      </p:sp>
      <p:grpSp>
        <p:nvGrpSpPr>
          <p:cNvPr id="5" name="Group 8"/>
          <p:cNvGrpSpPr>
            <a:grpSpLocks/>
          </p:cNvGrpSpPr>
          <p:nvPr/>
        </p:nvGrpSpPr>
        <p:grpSpPr bwMode="auto">
          <a:xfrm>
            <a:off x="3733800" y="2362200"/>
            <a:ext cx="2057400" cy="3657600"/>
            <a:chOff x="4752" y="4752"/>
            <a:chExt cx="2448" cy="5184"/>
          </a:xfrm>
        </p:grpSpPr>
        <p:sp>
          <p:nvSpPr>
            <p:cNvPr id="6" name="Text Box 9"/>
            <p:cNvSpPr txBox="1">
              <a:spLocks noChangeArrowheads="1"/>
            </p:cNvSpPr>
            <p:nvPr/>
          </p:nvSpPr>
          <p:spPr bwMode="auto">
            <a:xfrm>
              <a:off x="4752" y="4752"/>
              <a:ext cx="2448" cy="720"/>
            </a:xfrm>
            <a:prstGeom prst="rect">
              <a:avLst/>
            </a:prstGeom>
            <a:solidFill>
              <a:srgbClr val="FFFFFF"/>
            </a:solidFill>
            <a:ln w="9525">
              <a:solidFill>
                <a:srgbClr val="000000"/>
              </a:solidFill>
              <a:miter lim="800000"/>
              <a:headEnd/>
              <a:tailEnd/>
            </a:ln>
            <a:effectLst>
              <a:outerShdw dist="107763" dir="2700000" algn="ctr" rotWithShape="0">
                <a:srgbClr val="808080"/>
              </a:outerShdw>
            </a:effectLst>
          </p:spPr>
          <p:txBody>
            <a:bodyPr/>
            <a:lstStyle/>
            <a:p>
              <a:pPr algn="ctr" eaLnBrk="0" hangingPunct="0"/>
              <a:r>
                <a:rPr lang="fr-FR" sz="1800" b="1">
                  <a:latin typeface="Arial" pitchFamily="34" charset="0"/>
                </a:rPr>
                <a:t>Analyse</a:t>
              </a:r>
            </a:p>
          </p:txBody>
        </p:sp>
        <p:sp>
          <p:nvSpPr>
            <p:cNvPr id="7" name="Text Box 10"/>
            <p:cNvSpPr txBox="1">
              <a:spLocks noChangeArrowheads="1"/>
            </p:cNvSpPr>
            <p:nvPr/>
          </p:nvSpPr>
          <p:spPr bwMode="auto">
            <a:xfrm>
              <a:off x="4752" y="6231"/>
              <a:ext cx="2448" cy="720"/>
            </a:xfrm>
            <a:prstGeom prst="rect">
              <a:avLst/>
            </a:prstGeom>
            <a:solidFill>
              <a:srgbClr val="FFFFFF"/>
            </a:solidFill>
            <a:ln w="9525">
              <a:solidFill>
                <a:srgbClr val="000000"/>
              </a:solidFill>
              <a:miter lim="800000"/>
              <a:headEnd/>
              <a:tailEnd/>
            </a:ln>
            <a:effectLst>
              <a:outerShdw dist="107763" dir="2700000" algn="ctr" rotWithShape="0">
                <a:srgbClr val="808080"/>
              </a:outerShdw>
            </a:effectLst>
          </p:spPr>
          <p:txBody>
            <a:bodyPr/>
            <a:lstStyle/>
            <a:p>
              <a:pPr algn="ctr" eaLnBrk="0" hangingPunct="0"/>
              <a:r>
                <a:rPr lang="fr-FR" sz="1800" b="1">
                  <a:latin typeface="Arial" pitchFamily="34" charset="0"/>
                </a:rPr>
                <a:t>MCD</a:t>
              </a:r>
            </a:p>
          </p:txBody>
        </p:sp>
        <p:sp>
          <p:nvSpPr>
            <p:cNvPr id="8" name="Text Box 11"/>
            <p:cNvSpPr txBox="1">
              <a:spLocks noChangeArrowheads="1"/>
            </p:cNvSpPr>
            <p:nvPr/>
          </p:nvSpPr>
          <p:spPr bwMode="auto">
            <a:xfrm>
              <a:off x="4752" y="7731"/>
              <a:ext cx="2448" cy="720"/>
            </a:xfrm>
            <a:prstGeom prst="rect">
              <a:avLst/>
            </a:prstGeom>
            <a:solidFill>
              <a:srgbClr val="FFFFFF"/>
            </a:solidFill>
            <a:ln w="9525">
              <a:solidFill>
                <a:srgbClr val="000000"/>
              </a:solidFill>
              <a:miter lim="800000"/>
              <a:headEnd/>
              <a:tailEnd/>
            </a:ln>
            <a:effectLst>
              <a:outerShdw dist="107763" dir="2700000" algn="ctr" rotWithShape="0">
                <a:srgbClr val="808080"/>
              </a:outerShdw>
            </a:effectLst>
          </p:spPr>
          <p:txBody>
            <a:bodyPr/>
            <a:lstStyle/>
            <a:p>
              <a:pPr algn="ctr" eaLnBrk="0" hangingPunct="0"/>
              <a:r>
                <a:rPr lang="fr-FR" sz="1800" b="1">
                  <a:latin typeface="Arial" pitchFamily="34" charset="0"/>
                </a:rPr>
                <a:t>MLD</a:t>
              </a:r>
            </a:p>
          </p:txBody>
        </p:sp>
        <p:sp>
          <p:nvSpPr>
            <p:cNvPr id="9" name="Text Box 12"/>
            <p:cNvSpPr txBox="1">
              <a:spLocks noChangeArrowheads="1"/>
            </p:cNvSpPr>
            <p:nvPr/>
          </p:nvSpPr>
          <p:spPr bwMode="auto">
            <a:xfrm>
              <a:off x="4752" y="9216"/>
              <a:ext cx="2448" cy="720"/>
            </a:xfrm>
            <a:prstGeom prst="rect">
              <a:avLst/>
            </a:prstGeom>
            <a:solidFill>
              <a:srgbClr val="FFFFFF"/>
            </a:solidFill>
            <a:ln w="9525">
              <a:solidFill>
                <a:srgbClr val="000000"/>
              </a:solidFill>
              <a:miter lim="800000"/>
              <a:headEnd/>
              <a:tailEnd/>
            </a:ln>
            <a:effectLst>
              <a:outerShdw dist="107763" dir="2700000" algn="ctr" rotWithShape="0">
                <a:srgbClr val="808080"/>
              </a:outerShdw>
            </a:effectLst>
          </p:spPr>
          <p:txBody>
            <a:bodyPr/>
            <a:lstStyle/>
            <a:p>
              <a:pPr algn="ctr" eaLnBrk="0" hangingPunct="0"/>
              <a:r>
                <a:rPr lang="fr-FR" sz="1800" b="1">
                  <a:latin typeface="Arial" pitchFamily="34" charset="0"/>
                </a:rPr>
                <a:t>MPD</a:t>
              </a:r>
            </a:p>
          </p:txBody>
        </p:sp>
        <p:sp>
          <p:nvSpPr>
            <p:cNvPr id="10" name="AutoShape 13"/>
            <p:cNvSpPr>
              <a:spLocks noChangeArrowheads="1"/>
            </p:cNvSpPr>
            <p:nvPr/>
          </p:nvSpPr>
          <p:spPr bwMode="auto">
            <a:xfrm>
              <a:off x="5799" y="5685"/>
              <a:ext cx="432" cy="432"/>
            </a:xfrm>
            <a:prstGeom prst="downArrow">
              <a:avLst>
                <a:gd name="adj1" fmla="val 50000"/>
                <a:gd name="adj2" fmla="val 25000"/>
              </a:avLst>
            </a:prstGeom>
            <a:solidFill>
              <a:srgbClr val="000000"/>
            </a:solidFill>
            <a:ln w="9525">
              <a:solidFill>
                <a:srgbClr val="000000"/>
              </a:solidFill>
              <a:miter lim="800000"/>
              <a:headEnd/>
              <a:tailEnd/>
            </a:ln>
          </p:spPr>
          <p:txBody>
            <a:bodyPr/>
            <a:lstStyle/>
            <a:p>
              <a:endParaRPr lang="fr-FR"/>
            </a:p>
          </p:txBody>
        </p:sp>
        <p:sp>
          <p:nvSpPr>
            <p:cNvPr id="11" name="AutoShape 14"/>
            <p:cNvSpPr>
              <a:spLocks noChangeArrowheads="1"/>
            </p:cNvSpPr>
            <p:nvPr/>
          </p:nvSpPr>
          <p:spPr bwMode="auto">
            <a:xfrm>
              <a:off x="5814" y="7155"/>
              <a:ext cx="432" cy="432"/>
            </a:xfrm>
            <a:prstGeom prst="downArrow">
              <a:avLst>
                <a:gd name="adj1" fmla="val 50000"/>
                <a:gd name="adj2" fmla="val 25000"/>
              </a:avLst>
            </a:prstGeom>
            <a:solidFill>
              <a:srgbClr val="000000"/>
            </a:solidFill>
            <a:ln w="9525">
              <a:solidFill>
                <a:srgbClr val="000000"/>
              </a:solidFill>
              <a:miter lim="800000"/>
              <a:headEnd/>
              <a:tailEnd/>
            </a:ln>
          </p:spPr>
          <p:txBody>
            <a:bodyPr/>
            <a:lstStyle/>
            <a:p>
              <a:endParaRPr lang="fr-FR"/>
            </a:p>
          </p:txBody>
        </p:sp>
        <p:sp>
          <p:nvSpPr>
            <p:cNvPr id="12" name="AutoShape 15"/>
            <p:cNvSpPr>
              <a:spLocks noChangeArrowheads="1"/>
            </p:cNvSpPr>
            <p:nvPr/>
          </p:nvSpPr>
          <p:spPr bwMode="auto">
            <a:xfrm>
              <a:off x="5790" y="8655"/>
              <a:ext cx="432" cy="432"/>
            </a:xfrm>
            <a:prstGeom prst="downArrow">
              <a:avLst>
                <a:gd name="adj1" fmla="val 50000"/>
                <a:gd name="adj2" fmla="val 25000"/>
              </a:avLst>
            </a:prstGeom>
            <a:solidFill>
              <a:srgbClr val="000000"/>
            </a:solidFill>
            <a:ln w="9525">
              <a:solidFill>
                <a:srgbClr val="000000"/>
              </a:solidFill>
              <a:miter lim="800000"/>
              <a:headEnd/>
              <a:tailEnd/>
            </a:ln>
          </p:spPr>
          <p:txBody>
            <a:bodyPr/>
            <a:lstStyle/>
            <a:p>
              <a:endParaRPr lang="fr-FR"/>
            </a:p>
          </p:txBody>
        </p:sp>
      </p:grpSp>
    </p:spTree>
    <p:extLst>
      <p:ext uri="{BB962C8B-B14F-4D97-AF65-F5344CB8AC3E}">
        <p14:creationId xmlns:p14="http://schemas.microsoft.com/office/powerpoint/2010/main" val="220809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20</a:t>
            </a:fld>
            <a:endParaRPr lang="fr-FR"/>
          </a:p>
        </p:txBody>
      </p:sp>
      <p:sp>
        <p:nvSpPr>
          <p:cNvPr id="8" name="Rectangle 2"/>
          <p:cNvSpPr txBox="1">
            <a:spLocks noChangeArrowheads="1"/>
          </p:cNvSpPr>
          <p:nvPr/>
        </p:nvSpPr>
        <p:spPr>
          <a:xfrm>
            <a:off x="212878" y="692696"/>
            <a:ext cx="8458200" cy="6588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fontScale="92500"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Passage du MLD au MPD</a:t>
            </a:r>
            <a:endParaRPr lang="fr-CH" dirty="0"/>
          </a:p>
        </p:txBody>
      </p:sp>
      <p:sp>
        <p:nvSpPr>
          <p:cNvPr id="9" name="Rectangle 14"/>
          <p:cNvSpPr>
            <a:spLocks noChangeArrowheads="1"/>
          </p:cNvSpPr>
          <p:nvPr/>
        </p:nvSpPr>
        <p:spPr bwMode="auto">
          <a:xfrm>
            <a:off x="179513" y="2204864"/>
            <a:ext cx="8605712"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93675" lvl="1" indent="-3175"/>
            <a:r>
              <a:rPr lang="fr-FR" sz="1800" b="1" dirty="0">
                <a:latin typeface="Comic Sans MS" pitchFamily="66" charset="0"/>
              </a:rPr>
              <a:t>Le passage MLD à MPD se fait par les étapes suivantes:</a:t>
            </a:r>
          </a:p>
          <a:p>
            <a:pPr marL="193675" lvl="1" indent="-3175"/>
            <a:endParaRPr lang="fr-FR" sz="2000" b="1" dirty="0">
              <a:latin typeface="Comic Sans MS" pitchFamily="66" charset="0"/>
            </a:endParaRPr>
          </a:p>
          <a:p>
            <a:pPr marL="193675" lvl="1" indent="-3175"/>
            <a:r>
              <a:rPr lang="fr-FR" sz="1800" b="1" dirty="0">
                <a:latin typeface="Comic Sans MS" pitchFamily="66" charset="0"/>
              </a:rPr>
              <a:t>Implémentation physique de chaque table du MLD dans le SGBD utilisé</a:t>
            </a:r>
            <a:r>
              <a:rPr lang="fr-FR" sz="1800" b="1" dirty="0" smtClean="0">
                <a:latin typeface="Comic Sans MS" pitchFamily="66" charset="0"/>
              </a:rPr>
              <a:t>.</a:t>
            </a:r>
          </a:p>
          <a:p>
            <a:pPr marL="193675" lvl="1" indent="-3175"/>
            <a:r>
              <a:rPr lang="fr-FR" b="1" dirty="0" smtClean="0">
                <a:latin typeface="Comic Sans MS" pitchFamily="66" charset="0"/>
              </a:rPr>
              <a:t>En mode console (</a:t>
            </a:r>
            <a:r>
              <a:rPr lang="fr-FR" b="1" dirty="0" err="1" smtClean="0">
                <a:latin typeface="Comic Sans MS" pitchFamily="66" charset="0"/>
              </a:rPr>
              <a:t>sql</a:t>
            </a:r>
            <a:r>
              <a:rPr lang="fr-FR" b="1" dirty="0" smtClean="0">
                <a:latin typeface="Comic Sans MS" pitchFamily="66" charset="0"/>
              </a:rPr>
              <a:t> </a:t>
            </a:r>
            <a:r>
              <a:rPr lang="fr-FR" b="1" dirty="0" smtClean="0">
                <a:latin typeface="Comic Sans MS" pitchFamily="66" charset="0"/>
                <a:sym typeface="Wingdings" pitchFamily="2" charset="2"/>
              </a:rPr>
              <a:t></a:t>
            </a:r>
            <a:r>
              <a:rPr lang="fr-FR" b="1" dirty="0" smtClean="0">
                <a:latin typeface="Comic Sans MS" pitchFamily="66" charset="0"/>
              </a:rPr>
              <a:t>oracle) ou on mode graphique </a:t>
            </a:r>
            <a:r>
              <a:rPr lang="fr-FR" sz="1800" b="1" dirty="0" smtClean="0">
                <a:latin typeface="Comic Sans MS" pitchFamily="66" charset="0"/>
              </a:rPr>
              <a:t> (Access)</a:t>
            </a:r>
            <a:endParaRPr lang="fr-FR" sz="1800" b="1" dirty="0">
              <a:latin typeface="Comic Sans MS" pitchFamily="66" charset="0"/>
            </a:endParaRPr>
          </a:p>
          <a:p>
            <a:pPr marL="193675" lvl="1" indent="-3175"/>
            <a:endParaRPr lang="fr-FR" sz="1800" b="1" dirty="0">
              <a:latin typeface="Comic Sans MS" pitchFamily="66" charset="0"/>
            </a:endParaRPr>
          </a:p>
          <a:p>
            <a:pPr marL="193675" lvl="1" indent="-3175"/>
            <a:r>
              <a:rPr lang="fr-FR" sz="1800" b="1" dirty="0">
                <a:latin typeface="Comic Sans MS" pitchFamily="66" charset="0"/>
              </a:rPr>
              <a:t>Pour chaque table, indiquer au SGBD quel(s) champ(s) constitue(nt) la clé primaire.</a:t>
            </a:r>
          </a:p>
          <a:p>
            <a:pPr marL="193675" lvl="1" indent="-3175"/>
            <a:endParaRPr lang="fr-FR" sz="1800" b="1" dirty="0">
              <a:latin typeface="Comic Sans MS" pitchFamily="66" charset="0"/>
            </a:endParaRPr>
          </a:p>
          <a:p>
            <a:pPr marL="193675" lvl="1" indent="-3175"/>
            <a:r>
              <a:rPr lang="fr-FR" sz="1800" b="1" dirty="0">
                <a:latin typeface="Comic Sans MS" pitchFamily="66" charset="0"/>
              </a:rPr>
              <a:t>Pour chaque table, indiquer au SGBD la (les) clé(s) étrangère(s), et la (les) clé(s) primaire(s) correspondante(s).</a:t>
            </a:r>
            <a:endParaRPr lang="fr-CH" sz="1800" b="1" dirty="0">
              <a:latin typeface="Comic Sans MS" pitchFamily="66" charset="0"/>
            </a:endParaRPr>
          </a:p>
        </p:txBody>
      </p:sp>
    </p:spTree>
    <p:extLst>
      <p:ext uri="{BB962C8B-B14F-4D97-AF65-F5344CB8AC3E}">
        <p14:creationId xmlns:p14="http://schemas.microsoft.com/office/powerpoint/2010/main" val="2222882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21</a:t>
            </a:fld>
            <a:endParaRPr lang="fr-FR"/>
          </a:p>
        </p:txBody>
      </p:sp>
      <p:sp>
        <p:nvSpPr>
          <p:cNvPr id="3" name="Rectangle 2"/>
          <p:cNvSpPr txBox="1">
            <a:spLocks noChangeArrowheads="1"/>
          </p:cNvSpPr>
          <p:nvPr/>
        </p:nvSpPr>
        <p:spPr>
          <a:xfrm>
            <a:off x="662193"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Passage du MLD au MPD</a:t>
            </a:r>
            <a:endParaRPr lang="fr-CH" dirty="0"/>
          </a:p>
        </p:txBody>
      </p:sp>
      <p:sp>
        <p:nvSpPr>
          <p:cNvPr id="4" name="Text Box 10"/>
          <p:cNvSpPr txBox="1">
            <a:spLocks noChangeArrowheads="1"/>
          </p:cNvSpPr>
          <p:nvPr/>
        </p:nvSpPr>
        <p:spPr bwMode="auto">
          <a:xfrm>
            <a:off x="755650" y="2060575"/>
            <a:ext cx="9044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b="1" u="sng" dirty="0">
                <a:solidFill>
                  <a:srgbClr val="339933"/>
                </a:solidFill>
                <a:latin typeface="Comic Sans MS" pitchFamily="66" charset="0"/>
                <a:cs typeface="Times New Roman" pitchFamily="18" charset="0"/>
              </a:rPr>
              <a:t>Ex 1:</a:t>
            </a:r>
            <a:r>
              <a:rPr lang="fr-CH" b="1" dirty="0">
                <a:solidFill>
                  <a:srgbClr val="339933"/>
                </a:solidFill>
                <a:latin typeface="Comic Sans MS" pitchFamily="66" charset="0"/>
                <a:cs typeface="Times New Roman" pitchFamily="18" charset="0"/>
              </a:rPr>
              <a:t> </a:t>
            </a:r>
          </a:p>
        </p:txBody>
      </p:sp>
      <p:pic>
        <p:nvPicPr>
          <p:cNvPr id="5" name="Picture 11" descr="mldmpd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403350" y="2636838"/>
            <a:ext cx="6624638" cy="35687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13"/>
          <p:cNvSpPr>
            <a:spLocks noChangeArrowheads="1"/>
          </p:cNvSpPr>
          <p:nvPr/>
        </p:nvSpPr>
        <p:spPr bwMode="auto">
          <a:xfrm>
            <a:off x="1835150" y="2027656"/>
            <a:ext cx="542648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fr-FR" sz="2000" b="1" dirty="0">
                <a:latin typeface="Comic Sans MS" pitchFamily="66" charset="0"/>
              </a:rPr>
              <a:t>Implémentation du modèle logique suivant</a:t>
            </a:r>
            <a:r>
              <a:rPr lang="fr-CH" sz="2000" b="1" dirty="0">
                <a:latin typeface="Comic Sans MS" pitchFamily="66" charset="0"/>
              </a:rPr>
              <a:t> </a:t>
            </a:r>
          </a:p>
        </p:txBody>
      </p:sp>
    </p:spTree>
    <p:extLst>
      <p:ext uri="{BB962C8B-B14F-4D97-AF65-F5344CB8AC3E}">
        <p14:creationId xmlns:p14="http://schemas.microsoft.com/office/powerpoint/2010/main" val="3436850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22</a:t>
            </a:fld>
            <a:endParaRPr lang="fr-FR"/>
          </a:p>
        </p:txBody>
      </p:sp>
      <p:sp>
        <p:nvSpPr>
          <p:cNvPr id="3" name="Rectangle 2"/>
          <p:cNvSpPr txBox="1">
            <a:spLocks noChangeArrowheads="1"/>
          </p:cNvSpPr>
          <p:nvPr/>
        </p:nvSpPr>
        <p:spPr>
          <a:xfrm>
            <a:off x="685800" y="548680"/>
            <a:ext cx="7772400" cy="7318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Passage du MLD au MPD</a:t>
            </a:r>
            <a:endParaRPr lang="fr-CH" dirty="0"/>
          </a:p>
        </p:txBody>
      </p:sp>
      <p:sp>
        <p:nvSpPr>
          <p:cNvPr id="4" name="Rectangle 11"/>
          <p:cNvSpPr>
            <a:spLocks noChangeArrowheads="1"/>
          </p:cNvSpPr>
          <p:nvPr/>
        </p:nvSpPr>
        <p:spPr bwMode="auto">
          <a:xfrm>
            <a:off x="684213" y="1557338"/>
            <a:ext cx="8137525"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fr-FR" sz="1800" b="1" dirty="0">
                <a:latin typeface="Comic Sans MS" pitchFamily="66" charset="0"/>
              </a:rPr>
              <a:t>Utilisation d'une ou de plusieurs interfaces graphiques, qui nous aident dans la création des tables physiques, dans la définition des clés primaires et dans la définition des relations. </a:t>
            </a:r>
            <a:endParaRPr lang="fr-CH" sz="1800" b="1" dirty="0">
              <a:latin typeface="Comic Sans MS" pitchFamily="66" charset="0"/>
            </a:endParaRPr>
          </a:p>
        </p:txBody>
      </p:sp>
      <p:sp>
        <p:nvSpPr>
          <p:cNvPr id="5" name="Rectangle 13"/>
          <p:cNvSpPr>
            <a:spLocks noChangeArrowheads="1"/>
          </p:cNvSpPr>
          <p:nvPr/>
        </p:nvSpPr>
        <p:spPr bwMode="auto">
          <a:xfrm>
            <a:off x="1619250" y="2636838"/>
            <a:ext cx="61245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fr-CH" sz="1800" b="1" dirty="0">
                <a:latin typeface="Comic Sans MS" pitchFamily="66" charset="0"/>
              </a:rPr>
              <a:t>Définition de la table des employés avec le champ </a:t>
            </a:r>
            <a:r>
              <a:rPr lang="fr-CH" sz="1800" b="1" i="1" dirty="0" err="1">
                <a:latin typeface="Comic Sans MS" pitchFamily="66" charset="0"/>
              </a:rPr>
              <a:t>idEmployé</a:t>
            </a:r>
            <a:r>
              <a:rPr lang="fr-CH" sz="1800" b="1" dirty="0">
                <a:latin typeface="Comic Sans MS" pitchFamily="66" charset="0"/>
              </a:rPr>
              <a:t> étant défini comme clé primaire.</a:t>
            </a:r>
          </a:p>
        </p:txBody>
      </p:sp>
      <p:sp>
        <p:nvSpPr>
          <p:cNvPr id="6" name="Text Box 14"/>
          <p:cNvSpPr txBox="1">
            <a:spLocks noChangeArrowheads="1"/>
          </p:cNvSpPr>
          <p:nvPr/>
        </p:nvSpPr>
        <p:spPr bwMode="auto">
          <a:xfrm>
            <a:off x="755650" y="2708275"/>
            <a:ext cx="66396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fr-FR" b="1" u="sng" dirty="0">
                <a:solidFill>
                  <a:srgbClr val="339933"/>
                </a:solidFill>
                <a:latin typeface="Comic Sans MS" pitchFamily="66" charset="0"/>
                <a:cs typeface="Times New Roman" pitchFamily="18" charset="0"/>
              </a:rPr>
              <a:t>Ex:</a:t>
            </a:r>
            <a:r>
              <a:rPr lang="fr-CH" b="1" dirty="0">
                <a:solidFill>
                  <a:srgbClr val="339933"/>
                </a:solidFill>
                <a:latin typeface="Comic Sans MS" pitchFamily="66" charset="0"/>
                <a:cs typeface="Times New Roman" pitchFamily="18" charset="0"/>
              </a:rPr>
              <a:t> </a:t>
            </a:r>
          </a:p>
        </p:txBody>
      </p:sp>
      <p:pic>
        <p:nvPicPr>
          <p:cNvPr id="7" name="Picture 15" descr="mldmpd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979712" y="3645024"/>
            <a:ext cx="4824412" cy="28987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7151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23</a:t>
            </a:fld>
            <a:endParaRPr lang="fr-FR"/>
          </a:p>
        </p:txBody>
      </p:sp>
      <p:sp>
        <p:nvSpPr>
          <p:cNvPr id="3" name="Rectangle 2"/>
          <p:cNvSpPr txBox="1">
            <a:spLocks noChangeArrowheads="1"/>
          </p:cNvSpPr>
          <p:nvPr/>
        </p:nvSpPr>
        <p:spPr>
          <a:xfrm>
            <a:off x="702300" y="268490"/>
            <a:ext cx="7772400" cy="7318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lnSpcReduction="10000"/>
          </a:bodyPr>
          <a:lstStyle>
            <a:defPPr>
              <a:defRPr lang="fr-FR"/>
            </a:defPPr>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Passage du MLD au MPD</a:t>
            </a:r>
            <a:endParaRPr lang="fr-CH" dirty="0"/>
          </a:p>
        </p:txBody>
      </p:sp>
      <p:sp>
        <p:nvSpPr>
          <p:cNvPr id="4" name="Rectangle 9"/>
          <p:cNvSpPr>
            <a:spLocks noChangeArrowheads="1"/>
          </p:cNvSpPr>
          <p:nvPr/>
        </p:nvSpPr>
        <p:spPr bwMode="auto">
          <a:xfrm>
            <a:off x="685800" y="1490146"/>
            <a:ext cx="81375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fr-FR" sz="2000" b="1" dirty="0">
                <a:latin typeface="Comic Sans MS" pitchFamily="66" charset="0"/>
              </a:rPr>
              <a:t>Définition de la relation entre les deux tables.</a:t>
            </a:r>
            <a:endParaRPr lang="fr-CH" sz="2000" b="1" dirty="0">
              <a:latin typeface="Comic Sans MS" pitchFamily="66" charset="0"/>
            </a:endParaRPr>
          </a:p>
        </p:txBody>
      </p:sp>
      <p:pic>
        <p:nvPicPr>
          <p:cNvPr id="5" name="Picture 14" descr="mldmpd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268538" y="2205038"/>
            <a:ext cx="4608512" cy="2733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16"/>
          <p:cNvSpPr>
            <a:spLocks noChangeArrowheads="1"/>
          </p:cNvSpPr>
          <p:nvPr/>
        </p:nvSpPr>
        <p:spPr bwMode="auto">
          <a:xfrm>
            <a:off x="450850" y="5085184"/>
            <a:ext cx="860425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fr-FR" sz="2000" b="1" dirty="0">
                <a:latin typeface="Comic Sans MS" pitchFamily="66" charset="0"/>
              </a:rPr>
              <a:t>Remarquez que les noms des différents champs ont été modifiés lors de l'implémentation du modèle logique. Cette mesure dépend uniquement de la convention des noms utilisée et n'affecte pas du tout le fonctionnement correcte de la BD</a:t>
            </a:r>
            <a:r>
              <a:rPr lang="fr-CH" sz="2000" b="1" dirty="0">
                <a:latin typeface="Comic Sans MS" pitchFamily="66" charset="0"/>
              </a:rPr>
              <a:t> </a:t>
            </a:r>
          </a:p>
        </p:txBody>
      </p:sp>
    </p:spTree>
    <p:extLst>
      <p:ext uri="{BB962C8B-B14F-4D97-AF65-F5344CB8AC3E}">
        <p14:creationId xmlns:p14="http://schemas.microsoft.com/office/powerpoint/2010/main" val="3975678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214313" y="428625"/>
            <a:ext cx="8686800" cy="919163"/>
          </a:xfrm>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fr-FR" sz="4300" kern="1200" dirty="0">
                <a:solidFill>
                  <a:srgbClr val="572314"/>
                </a:solidFill>
                <a:effectLst>
                  <a:outerShdw blurRad="50000" dist="30000" dir="5400000" algn="tl" rotWithShape="0">
                    <a:srgbClr val="000000">
                      <a:alpha val="30000"/>
                    </a:srgbClr>
                  </a:outerShdw>
                </a:effectLst>
                <a:latin typeface="Gill Sans MT"/>
              </a:rPr>
              <a:t>Exercice : réalisation de MCD-MLD</a:t>
            </a:r>
          </a:p>
        </p:txBody>
      </p:sp>
      <p:sp>
        <p:nvSpPr>
          <p:cNvPr id="11267" name="Rectangle 4"/>
          <p:cNvSpPr>
            <a:spLocks noGrp="1" noChangeArrowheads="1"/>
          </p:cNvSpPr>
          <p:nvPr>
            <p:ph type="body" idx="1"/>
          </p:nvPr>
        </p:nvSpPr>
        <p:spPr>
          <a:xfrm>
            <a:off x="457200" y="1341438"/>
            <a:ext cx="8229600" cy="5075237"/>
          </a:xfrm>
          <a:noFill/>
        </p:spPr>
        <p:txBody>
          <a:bodyPr/>
          <a:lstStyle/>
          <a:p>
            <a:pPr eaLnBrk="1" hangingPunct="1">
              <a:buFont typeface="Wingdings" pitchFamily="2" charset="2"/>
              <a:buNone/>
            </a:pPr>
            <a:r>
              <a:rPr lang="fr-FR" smtClean="0"/>
              <a:t>	Une banque désire posséder un SGBD pour suivre ses </a:t>
            </a:r>
            <a:r>
              <a:rPr lang="fr-FR" smtClean="0">
                <a:solidFill>
                  <a:srgbClr val="FF3300"/>
                </a:solidFill>
              </a:rPr>
              <a:t>clients</a:t>
            </a:r>
            <a:r>
              <a:rPr lang="fr-FR" smtClean="0"/>
              <a:t>. Elle désire ainsi stocker les coordonnées de chaque client (nom, prénom adresse), et les </a:t>
            </a:r>
            <a:r>
              <a:rPr lang="fr-FR" smtClean="0">
                <a:solidFill>
                  <a:srgbClr val="FF3300"/>
                </a:solidFill>
              </a:rPr>
              <a:t>comptes</a:t>
            </a:r>
            <a:r>
              <a:rPr lang="fr-FR" smtClean="0"/>
              <a:t> dont elle dispose ainsi que leur solde (sachant par ailleurs que certains compte ont plusieurs bénéficiaires). On stockera également les </a:t>
            </a:r>
            <a:r>
              <a:rPr lang="fr-FR" smtClean="0">
                <a:solidFill>
                  <a:srgbClr val="FF3300"/>
                </a:solidFill>
              </a:rPr>
              <a:t>opérations</a:t>
            </a:r>
            <a:r>
              <a:rPr lang="fr-FR" smtClean="0"/>
              <a:t> relatives à ces comptes (retrait et dépôt, avec leur date et le montant).</a:t>
            </a:r>
            <a:endParaRPr lang="fr-FR" sz="240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25</a:t>
            </a:fld>
            <a:endParaRPr lang="fr-FR"/>
          </a:p>
        </p:txBody>
      </p:sp>
      <p:sp>
        <p:nvSpPr>
          <p:cNvPr id="3" name="Rectangle 2"/>
          <p:cNvSpPr txBox="1">
            <a:spLocks noChangeArrowheads="1"/>
          </p:cNvSpPr>
          <p:nvPr/>
        </p:nvSpPr>
        <p:spPr>
          <a:xfrm>
            <a:off x="755576" y="116632"/>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Exemple </a:t>
            </a:r>
            <a:r>
              <a:rPr lang="fr-FR" dirty="0" smtClean="0"/>
              <a:t> société ‘’ITISAL’’</a:t>
            </a:r>
            <a:endParaRPr lang="fr-CH"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413" y="1514475"/>
            <a:ext cx="6353175" cy="382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08842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894B749A-18FA-448E-B884-97B5AC12E1FE}" type="slidenum">
              <a:rPr lang="fr-FR" smtClean="0"/>
              <a:pPr>
                <a:defRPr/>
              </a:pPr>
              <a:t>26</a:t>
            </a:fld>
            <a:endParaRPr lang="fr-FR"/>
          </a:p>
        </p:txBody>
      </p:sp>
      <p:sp>
        <p:nvSpPr>
          <p:cNvPr id="3" name="Rectangle 4"/>
          <p:cNvSpPr>
            <a:spLocks noChangeArrowheads="1"/>
          </p:cNvSpPr>
          <p:nvPr/>
        </p:nvSpPr>
        <p:spPr bwMode="auto">
          <a:xfrm>
            <a:off x="179512" y="4365104"/>
            <a:ext cx="8640960"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spcBef>
                <a:spcPct val="50000"/>
              </a:spcBef>
            </a:pPr>
            <a:r>
              <a:rPr lang="fr-CH" b="1" dirty="0">
                <a:latin typeface="Comic Sans MS" pitchFamily="66" charset="0"/>
                <a:cs typeface="Times New Roman" pitchFamily="18" charset="0"/>
              </a:rPr>
              <a:t>Remarque:</a:t>
            </a:r>
          </a:p>
          <a:p>
            <a:pPr marL="457200" indent="-457200" algn="just">
              <a:spcBef>
                <a:spcPct val="50000"/>
              </a:spcBef>
            </a:pPr>
            <a:r>
              <a:rPr lang="fr-CH" b="1" dirty="0">
                <a:latin typeface="Comic Sans MS" pitchFamily="66" charset="0"/>
                <a:cs typeface="Times New Roman" pitchFamily="18" charset="0"/>
              </a:rPr>
              <a:t>Bien que le numéro du client n'apparaisse pas en tant que tel sur la facture, il est préférable d'ajouter cette propriété artificielle à l'entité </a:t>
            </a:r>
            <a:r>
              <a:rPr lang="fr-CH" b="1" i="1" dirty="0">
                <a:latin typeface="Comic Sans MS" pitchFamily="66" charset="0"/>
                <a:cs typeface="Times New Roman" pitchFamily="18" charset="0"/>
              </a:rPr>
              <a:t>Client</a:t>
            </a:r>
            <a:r>
              <a:rPr lang="fr-CH" b="1" dirty="0">
                <a:latin typeface="Comic Sans MS" pitchFamily="66" charset="0"/>
                <a:cs typeface="Times New Roman" pitchFamily="18" charset="0"/>
              </a:rPr>
              <a:t>, et de la définir comme identifiant de cette entité. Cela nous empêche de devoir définir un identifiant composé de trop de propriétés.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473" y="1458240"/>
            <a:ext cx="5724525"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2"/>
          <p:cNvSpPr txBox="1">
            <a:spLocks noChangeArrowheads="1"/>
          </p:cNvSpPr>
          <p:nvPr/>
        </p:nvSpPr>
        <p:spPr>
          <a:xfrm>
            <a:off x="395536" y="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rmAutofit/>
          </a:bodyPr>
          <a:lstStyle>
            <a:lvl1pPr algn="ctr" eaLnBrk="0" hangingPunct="0">
              <a:defRPr sz="4300">
                <a:solidFill>
                  <a:srgbClr val="572314"/>
                </a:solidFill>
                <a:effectLst>
                  <a:outerShdw blurRad="50000" dist="30000" dir="5400000" algn="tl" rotWithShape="0">
                    <a:srgbClr val="000000">
                      <a:alpha val="30000"/>
                    </a:srgbClr>
                  </a:outerShdw>
                </a:effectLst>
                <a:latin typeface="Gill Sans MT"/>
                <a:ea typeface="+mj-ea"/>
                <a:cs typeface="+mj-cs"/>
              </a:defRPr>
            </a:lvl1pPr>
            <a:lvl2pPr algn="ctr" eaLnBrk="0" hangingPunct="0">
              <a:defRPr sz="4400">
                <a:solidFill>
                  <a:schemeClr val="tx2"/>
                </a:solidFill>
              </a:defRPr>
            </a:lvl2pPr>
            <a:lvl3pPr algn="ctr" eaLnBrk="0" hangingPunct="0">
              <a:defRPr sz="4400">
                <a:solidFill>
                  <a:schemeClr val="tx2"/>
                </a:solidFill>
              </a:defRPr>
            </a:lvl3pPr>
            <a:lvl4pPr algn="ctr" eaLnBrk="0" hangingPunct="0">
              <a:defRPr sz="4400">
                <a:solidFill>
                  <a:schemeClr val="tx2"/>
                </a:solidFill>
              </a:defRPr>
            </a:lvl4pPr>
            <a:lvl5pPr algn="ctr" eaLnBrk="0" hangingPunct="0">
              <a:defRPr sz="4400">
                <a:solidFill>
                  <a:schemeClr val="tx2"/>
                </a:solidFill>
              </a:defRPr>
            </a:lvl5pPr>
            <a:lvl6pPr marL="457200" algn="ctr" fontAlgn="base">
              <a:spcBef>
                <a:spcPct val="0"/>
              </a:spcBef>
              <a:spcAft>
                <a:spcPct val="0"/>
              </a:spcAft>
              <a:defRPr sz="4400">
                <a:solidFill>
                  <a:schemeClr val="tx2"/>
                </a:solidFill>
              </a:defRPr>
            </a:lvl6pPr>
            <a:lvl7pPr marL="914400" algn="ctr" fontAlgn="base">
              <a:spcBef>
                <a:spcPct val="0"/>
              </a:spcBef>
              <a:spcAft>
                <a:spcPct val="0"/>
              </a:spcAft>
              <a:defRPr sz="4400">
                <a:solidFill>
                  <a:schemeClr val="tx2"/>
                </a:solidFill>
              </a:defRPr>
            </a:lvl7pPr>
            <a:lvl8pPr marL="1371600" algn="ctr" fontAlgn="base">
              <a:spcBef>
                <a:spcPct val="0"/>
              </a:spcBef>
              <a:spcAft>
                <a:spcPct val="0"/>
              </a:spcAft>
              <a:defRPr sz="4400">
                <a:solidFill>
                  <a:schemeClr val="tx2"/>
                </a:solidFill>
              </a:defRPr>
            </a:lvl8pPr>
            <a:lvl9pPr marL="1828800" algn="ctr" fontAlgn="base">
              <a:spcBef>
                <a:spcPct val="0"/>
              </a:spcBef>
              <a:spcAft>
                <a:spcPct val="0"/>
              </a:spcAft>
              <a:defRPr sz="4400">
                <a:solidFill>
                  <a:schemeClr val="tx2"/>
                </a:solidFill>
              </a:defRPr>
            </a:lvl9pPr>
          </a:lstStyle>
          <a:p>
            <a:r>
              <a:rPr lang="fr-FR" dirty="0"/>
              <a:t>Exemple </a:t>
            </a:r>
            <a:r>
              <a:rPr lang="fr-FR" dirty="0" smtClean="0"/>
              <a:t> société ‘’ITISAL’’</a:t>
            </a:r>
            <a:endParaRPr lang="fr-CH" dirty="0"/>
          </a:p>
        </p:txBody>
      </p:sp>
    </p:spTree>
    <p:extLst>
      <p:ext uri="{BB962C8B-B14F-4D97-AF65-F5344CB8AC3E}">
        <p14:creationId xmlns:p14="http://schemas.microsoft.com/office/powerpoint/2010/main" val="3598351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normAutofit/>
          </a:bodyPr>
          <a:lstStyle/>
          <a:p>
            <a:r>
              <a:rPr lang="fr-FR" sz="4300" kern="1200">
                <a:solidFill>
                  <a:srgbClr val="572314"/>
                </a:solidFill>
                <a:effectLst>
                  <a:outerShdw blurRad="50000" dist="30000" dir="5400000" algn="tl" rotWithShape="0">
                    <a:srgbClr val="000000">
                      <a:alpha val="30000"/>
                    </a:srgbClr>
                  </a:outerShdw>
                </a:effectLst>
                <a:latin typeface="Gill Sans MT"/>
              </a:rPr>
              <a:t>Exercice</a:t>
            </a:r>
          </a:p>
        </p:txBody>
      </p:sp>
      <p:graphicFrame>
        <p:nvGraphicFramePr>
          <p:cNvPr id="181338" name="Group 90"/>
          <p:cNvGraphicFramePr>
            <a:graphicFrameLocks noGrp="1"/>
          </p:cNvGraphicFramePr>
          <p:nvPr>
            <p:ph sz="half" idx="1"/>
          </p:nvPr>
        </p:nvGraphicFramePr>
        <p:xfrm>
          <a:off x="5580063" y="1881188"/>
          <a:ext cx="1512887" cy="1620838"/>
        </p:xfrm>
        <a:graphic>
          <a:graphicData uri="http://schemas.openxmlformats.org/drawingml/2006/table">
            <a:tbl>
              <a:tblPr/>
              <a:tblGrid>
                <a:gridCol w="1512887"/>
              </a:tblGrid>
              <a:tr h="5397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800" b="0" i="0" u="none" strike="noStrike" cap="none" normalizeH="0" baseline="0" smtClean="0">
                          <a:ln>
                            <a:noFill/>
                          </a:ln>
                          <a:solidFill>
                            <a:schemeClr val="tx1"/>
                          </a:solidFill>
                          <a:effectLst/>
                          <a:latin typeface="Verdana" pitchFamily="34" charset="0"/>
                        </a:rPr>
                        <a:t>Comptes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99FF"/>
                    </a:solidFill>
                  </a:tcPr>
                </a:tc>
              </a:tr>
              <a:tr h="5413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Code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5397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Solde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81315" name="Group 67"/>
          <p:cNvGraphicFramePr>
            <a:graphicFrameLocks noGrp="1"/>
          </p:cNvGraphicFramePr>
          <p:nvPr/>
        </p:nvGraphicFramePr>
        <p:xfrm>
          <a:off x="611188" y="2024063"/>
          <a:ext cx="1657350" cy="2017713"/>
        </p:xfrm>
        <a:graphic>
          <a:graphicData uri="http://schemas.openxmlformats.org/drawingml/2006/table">
            <a:tbl>
              <a:tblPr/>
              <a:tblGrid>
                <a:gridCol w="1657350"/>
              </a:tblGrid>
              <a:tr h="4032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800" b="0" i="0" u="none" strike="noStrike" cap="none" normalizeH="0" baseline="0" smtClean="0">
                          <a:ln>
                            <a:noFill/>
                          </a:ln>
                          <a:solidFill>
                            <a:schemeClr val="tx1"/>
                          </a:solidFill>
                          <a:effectLst/>
                          <a:latin typeface="Verdana" pitchFamily="34" charset="0"/>
                        </a:rPr>
                        <a:t>Clients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99FF"/>
                    </a:solidFill>
                  </a:tcPr>
                </a:tc>
              </a:tr>
              <a:tr h="404813">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NoClient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032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Nom</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032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Prénom</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032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Adresse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81356" name="Group 108"/>
          <p:cNvGraphicFramePr>
            <a:graphicFrameLocks noGrp="1"/>
          </p:cNvGraphicFramePr>
          <p:nvPr>
            <p:ph sz="half" idx="2"/>
          </p:nvPr>
        </p:nvGraphicFramePr>
        <p:xfrm>
          <a:off x="5543550" y="4149725"/>
          <a:ext cx="1606550" cy="2276476"/>
        </p:xfrm>
        <a:graphic>
          <a:graphicData uri="http://schemas.openxmlformats.org/drawingml/2006/table">
            <a:tbl>
              <a:tblPr/>
              <a:tblGrid>
                <a:gridCol w="1606550"/>
              </a:tblGrid>
              <a:tr h="4524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800" b="0" i="0" u="none" strike="noStrike" cap="none" normalizeH="0" baseline="0" smtClean="0">
                          <a:ln>
                            <a:noFill/>
                          </a:ln>
                          <a:solidFill>
                            <a:schemeClr val="tx1"/>
                          </a:solidFill>
                          <a:effectLst/>
                          <a:latin typeface="Verdana" pitchFamily="34" charset="0"/>
                        </a:rPr>
                        <a:t>Opérations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99FF"/>
                    </a:solidFill>
                  </a:tcPr>
                </a:tc>
              </a:tr>
              <a:tr h="4540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Id_op</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454025">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Type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52438">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Date</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r>
              <a:tr h="463550">
                <a:tc>
                  <a:txBody>
                    <a:bodyPr/>
                    <a:lstStyle/>
                    <a:p>
                      <a:pPr marL="0" marR="0" lvl="0" indent="0" algn="l" defTabSz="914400" rtl="0" eaLnBrk="1" fontAlgn="base" latinLnBrk="0" hangingPunct="1">
                        <a:lnSpc>
                          <a:spcPct val="100000"/>
                        </a:lnSpc>
                        <a:spcBef>
                          <a:spcPct val="20000"/>
                        </a:spcBef>
                        <a:spcAft>
                          <a:spcPct val="0"/>
                        </a:spcAft>
                        <a:buClr>
                          <a:schemeClr val="bg2"/>
                        </a:buClr>
                        <a:buSzPct val="75000"/>
                        <a:buFont typeface="Wingdings" pitchFamily="2" charset="2"/>
                        <a:buNone/>
                        <a:tabLst/>
                      </a:pPr>
                      <a:r>
                        <a:rPr kumimoji="0" lang="fr-FR" sz="1600" b="0" i="0" u="none" strike="noStrike" cap="none" normalizeH="0" baseline="0" smtClean="0">
                          <a:ln>
                            <a:noFill/>
                          </a:ln>
                          <a:solidFill>
                            <a:schemeClr val="tx1"/>
                          </a:solidFill>
                          <a:effectLst/>
                          <a:latin typeface="Verdana" pitchFamily="34" charset="0"/>
                        </a:rPr>
                        <a:t>montant</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2" name="Group 101"/>
          <p:cNvGrpSpPr>
            <a:grpSpLocks/>
          </p:cNvGrpSpPr>
          <p:nvPr/>
        </p:nvGrpSpPr>
        <p:grpSpPr bwMode="auto">
          <a:xfrm>
            <a:off x="2268538" y="1773238"/>
            <a:ext cx="3311525" cy="792162"/>
            <a:chOff x="1429" y="1117"/>
            <a:chExt cx="2086" cy="499"/>
          </a:xfrm>
        </p:grpSpPr>
        <p:sp>
          <p:nvSpPr>
            <p:cNvPr id="12332" name="Oval 92"/>
            <p:cNvSpPr>
              <a:spLocks noChangeArrowheads="1"/>
            </p:cNvSpPr>
            <p:nvPr/>
          </p:nvSpPr>
          <p:spPr bwMode="auto">
            <a:xfrm>
              <a:off x="2018" y="1117"/>
              <a:ext cx="1043" cy="499"/>
            </a:xfrm>
            <a:prstGeom prst="ellipse">
              <a:avLst/>
            </a:prstGeom>
            <a:noFill/>
            <a:ln w="9525">
              <a:solidFill>
                <a:schemeClr val="tx1"/>
              </a:solidFill>
              <a:round/>
              <a:headEnd/>
              <a:tailEnd/>
            </a:ln>
          </p:spPr>
          <p:txBody>
            <a:bodyPr wrap="none" anchor="ctr"/>
            <a:lstStyle/>
            <a:p>
              <a:endParaRPr lang="fr-FR"/>
            </a:p>
          </p:txBody>
        </p:sp>
        <p:sp>
          <p:nvSpPr>
            <p:cNvPr id="12333" name="Text Box 93"/>
            <p:cNvSpPr txBox="1">
              <a:spLocks noChangeArrowheads="1"/>
            </p:cNvSpPr>
            <p:nvPr/>
          </p:nvSpPr>
          <p:spPr bwMode="auto">
            <a:xfrm>
              <a:off x="2200" y="1230"/>
              <a:ext cx="692" cy="231"/>
            </a:xfrm>
            <a:prstGeom prst="rect">
              <a:avLst/>
            </a:prstGeom>
            <a:noFill/>
            <a:ln w="9525">
              <a:noFill/>
              <a:miter lim="800000"/>
              <a:headEnd/>
              <a:tailEnd/>
            </a:ln>
          </p:spPr>
          <p:txBody>
            <a:bodyPr wrap="none">
              <a:spAutoFit/>
            </a:bodyPr>
            <a:lstStyle/>
            <a:p>
              <a:r>
                <a:rPr lang="fr-FR">
                  <a:latin typeface="Arial" pitchFamily="34" charset="0"/>
                </a:rPr>
                <a:t>bénéficie</a:t>
              </a:r>
            </a:p>
          </p:txBody>
        </p:sp>
        <p:cxnSp>
          <p:nvCxnSpPr>
            <p:cNvPr id="12334" name="AutoShape 97"/>
            <p:cNvCxnSpPr>
              <a:cxnSpLocks noChangeShapeType="1"/>
              <a:stCxn id="12332" idx="2"/>
            </p:cNvCxnSpPr>
            <p:nvPr/>
          </p:nvCxnSpPr>
          <p:spPr bwMode="auto">
            <a:xfrm flipH="1">
              <a:off x="1429" y="1367"/>
              <a:ext cx="589" cy="35"/>
            </a:xfrm>
            <a:prstGeom prst="straightConnector1">
              <a:avLst/>
            </a:prstGeom>
            <a:noFill/>
            <a:ln w="9525">
              <a:solidFill>
                <a:schemeClr val="tx1"/>
              </a:solidFill>
              <a:round/>
              <a:headEnd/>
              <a:tailEnd/>
            </a:ln>
          </p:spPr>
        </p:cxnSp>
        <p:cxnSp>
          <p:nvCxnSpPr>
            <p:cNvPr id="12335" name="AutoShape 98"/>
            <p:cNvCxnSpPr>
              <a:cxnSpLocks noChangeShapeType="1"/>
              <a:stCxn id="12332" idx="6"/>
            </p:cNvCxnSpPr>
            <p:nvPr/>
          </p:nvCxnSpPr>
          <p:spPr bwMode="auto">
            <a:xfrm flipV="1">
              <a:off x="3061" y="1355"/>
              <a:ext cx="454" cy="12"/>
            </a:xfrm>
            <a:prstGeom prst="straightConnector1">
              <a:avLst/>
            </a:prstGeom>
            <a:noFill/>
            <a:ln w="9525">
              <a:solidFill>
                <a:schemeClr val="tx1"/>
              </a:solidFill>
              <a:round/>
              <a:headEnd/>
              <a:tailEnd/>
            </a:ln>
          </p:spPr>
        </p:cxnSp>
      </p:grpSp>
      <p:grpSp>
        <p:nvGrpSpPr>
          <p:cNvPr id="3" name="Group 102"/>
          <p:cNvGrpSpPr>
            <a:grpSpLocks/>
          </p:cNvGrpSpPr>
          <p:nvPr/>
        </p:nvGrpSpPr>
        <p:grpSpPr bwMode="auto">
          <a:xfrm>
            <a:off x="7092950" y="2151063"/>
            <a:ext cx="1727200" cy="2225675"/>
            <a:chOff x="4468" y="1355"/>
            <a:chExt cx="1088" cy="1402"/>
          </a:xfrm>
        </p:grpSpPr>
        <p:sp>
          <p:nvSpPr>
            <p:cNvPr id="12328" name="Oval 94"/>
            <p:cNvSpPr>
              <a:spLocks noChangeArrowheads="1"/>
            </p:cNvSpPr>
            <p:nvPr/>
          </p:nvSpPr>
          <p:spPr bwMode="auto">
            <a:xfrm>
              <a:off x="4785" y="2183"/>
              <a:ext cx="771" cy="499"/>
            </a:xfrm>
            <a:prstGeom prst="ellipse">
              <a:avLst/>
            </a:prstGeom>
            <a:noFill/>
            <a:ln w="9525">
              <a:solidFill>
                <a:schemeClr val="tx1"/>
              </a:solidFill>
              <a:round/>
              <a:headEnd/>
              <a:tailEnd/>
            </a:ln>
          </p:spPr>
          <p:txBody>
            <a:bodyPr wrap="none" anchor="ctr"/>
            <a:lstStyle/>
            <a:p>
              <a:endParaRPr lang="fr-FR"/>
            </a:p>
          </p:txBody>
        </p:sp>
        <p:sp>
          <p:nvSpPr>
            <p:cNvPr id="12329" name="Text Box 95"/>
            <p:cNvSpPr txBox="1">
              <a:spLocks noChangeArrowheads="1"/>
            </p:cNvSpPr>
            <p:nvPr/>
          </p:nvSpPr>
          <p:spPr bwMode="auto">
            <a:xfrm>
              <a:off x="4808" y="2296"/>
              <a:ext cx="740" cy="231"/>
            </a:xfrm>
            <a:prstGeom prst="rect">
              <a:avLst/>
            </a:prstGeom>
            <a:noFill/>
            <a:ln w="9525">
              <a:noFill/>
              <a:miter lim="800000"/>
              <a:headEnd/>
              <a:tailEnd/>
            </a:ln>
          </p:spPr>
          <p:txBody>
            <a:bodyPr wrap="none">
              <a:spAutoFit/>
            </a:bodyPr>
            <a:lstStyle/>
            <a:p>
              <a:r>
                <a:rPr lang="fr-FR">
                  <a:latin typeface="Arial" pitchFamily="34" charset="0"/>
                </a:rPr>
                <a:t>Concerne</a:t>
              </a:r>
            </a:p>
          </p:txBody>
        </p:sp>
        <p:cxnSp>
          <p:nvCxnSpPr>
            <p:cNvPr id="12330" name="AutoShape 99"/>
            <p:cNvCxnSpPr>
              <a:cxnSpLocks noChangeShapeType="1"/>
              <a:stCxn id="12328" idx="0"/>
            </p:cNvCxnSpPr>
            <p:nvPr/>
          </p:nvCxnSpPr>
          <p:spPr bwMode="auto">
            <a:xfrm rot="5400000" flipH="1">
              <a:off x="4406" y="1417"/>
              <a:ext cx="828" cy="703"/>
            </a:xfrm>
            <a:prstGeom prst="bentConnector2">
              <a:avLst/>
            </a:prstGeom>
            <a:noFill/>
            <a:ln w="9525">
              <a:solidFill>
                <a:schemeClr val="tx1"/>
              </a:solidFill>
              <a:miter lim="800000"/>
              <a:headEnd/>
              <a:tailEnd/>
            </a:ln>
          </p:spPr>
        </p:cxnSp>
        <p:cxnSp>
          <p:nvCxnSpPr>
            <p:cNvPr id="12331" name="AutoShape 100"/>
            <p:cNvCxnSpPr>
              <a:cxnSpLocks noChangeShapeType="1"/>
              <a:stCxn id="12328" idx="4"/>
            </p:cNvCxnSpPr>
            <p:nvPr/>
          </p:nvCxnSpPr>
          <p:spPr bwMode="auto">
            <a:xfrm rot="5400000">
              <a:off x="4800" y="2386"/>
              <a:ext cx="75" cy="667"/>
            </a:xfrm>
            <a:prstGeom prst="bentConnector2">
              <a:avLst/>
            </a:prstGeom>
            <a:noFill/>
            <a:ln w="9525">
              <a:solidFill>
                <a:schemeClr val="tx1"/>
              </a:solidFill>
              <a:miter lim="800000"/>
              <a:headEnd/>
              <a:tailEnd/>
            </a:ln>
          </p:spPr>
        </p:cxnSp>
      </p:grpSp>
      <p:sp>
        <p:nvSpPr>
          <p:cNvPr id="181351" name="Text Box 103"/>
          <p:cNvSpPr txBox="1">
            <a:spLocks noChangeArrowheads="1"/>
          </p:cNvSpPr>
          <p:nvPr/>
        </p:nvSpPr>
        <p:spPr bwMode="auto">
          <a:xfrm>
            <a:off x="2392363" y="1720850"/>
            <a:ext cx="501650" cy="366713"/>
          </a:xfrm>
          <a:prstGeom prst="rect">
            <a:avLst/>
          </a:prstGeom>
          <a:noFill/>
          <a:ln w="9525">
            <a:noFill/>
            <a:miter lim="800000"/>
            <a:headEnd/>
            <a:tailEnd/>
          </a:ln>
        </p:spPr>
        <p:txBody>
          <a:bodyPr wrap="none">
            <a:spAutoFit/>
          </a:bodyPr>
          <a:lstStyle/>
          <a:p>
            <a:r>
              <a:rPr lang="fr-FR">
                <a:latin typeface="Arial" pitchFamily="34" charset="0"/>
              </a:rPr>
              <a:t>1:n</a:t>
            </a:r>
          </a:p>
        </p:txBody>
      </p:sp>
      <p:sp>
        <p:nvSpPr>
          <p:cNvPr id="181352" name="Text Box 104"/>
          <p:cNvSpPr txBox="1">
            <a:spLocks noChangeArrowheads="1"/>
          </p:cNvSpPr>
          <p:nvPr/>
        </p:nvSpPr>
        <p:spPr bwMode="auto">
          <a:xfrm>
            <a:off x="4840288" y="1647825"/>
            <a:ext cx="501650" cy="366713"/>
          </a:xfrm>
          <a:prstGeom prst="rect">
            <a:avLst/>
          </a:prstGeom>
          <a:noFill/>
          <a:ln w="9525">
            <a:noFill/>
            <a:miter lim="800000"/>
            <a:headEnd/>
            <a:tailEnd/>
          </a:ln>
        </p:spPr>
        <p:txBody>
          <a:bodyPr wrap="none">
            <a:spAutoFit/>
          </a:bodyPr>
          <a:lstStyle/>
          <a:p>
            <a:r>
              <a:rPr lang="fr-FR">
                <a:latin typeface="Arial" pitchFamily="34" charset="0"/>
              </a:rPr>
              <a:t>1:n</a:t>
            </a:r>
          </a:p>
        </p:txBody>
      </p:sp>
      <p:sp>
        <p:nvSpPr>
          <p:cNvPr id="181353" name="Text Box 105"/>
          <p:cNvSpPr txBox="1">
            <a:spLocks noChangeArrowheads="1"/>
          </p:cNvSpPr>
          <p:nvPr/>
        </p:nvSpPr>
        <p:spPr bwMode="auto">
          <a:xfrm>
            <a:off x="7432675" y="1647825"/>
            <a:ext cx="501650" cy="366713"/>
          </a:xfrm>
          <a:prstGeom prst="rect">
            <a:avLst/>
          </a:prstGeom>
          <a:noFill/>
          <a:ln w="9525">
            <a:noFill/>
            <a:miter lim="800000"/>
            <a:headEnd/>
            <a:tailEnd/>
          </a:ln>
        </p:spPr>
        <p:txBody>
          <a:bodyPr wrap="none">
            <a:spAutoFit/>
          </a:bodyPr>
          <a:lstStyle/>
          <a:p>
            <a:r>
              <a:rPr lang="fr-FR">
                <a:latin typeface="Arial" pitchFamily="34" charset="0"/>
              </a:rPr>
              <a:t>0:n</a:t>
            </a:r>
          </a:p>
        </p:txBody>
      </p:sp>
      <p:sp>
        <p:nvSpPr>
          <p:cNvPr id="181354" name="Text Box 106"/>
          <p:cNvSpPr txBox="1">
            <a:spLocks noChangeArrowheads="1"/>
          </p:cNvSpPr>
          <p:nvPr/>
        </p:nvSpPr>
        <p:spPr bwMode="auto">
          <a:xfrm>
            <a:off x="7451725" y="4508500"/>
            <a:ext cx="501650" cy="366713"/>
          </a:xfrm>
          <a:prstGeom prst="rect">
            <a:avLst/>
          </a:prstGeom>
          <a:noFill/>
          <a:ln w="9525">
            <a:noFill/>
            <a:miter lim="800000"/>
            <a:headEnd/>
            <a:tailEnd/>
          </a:ln>
        </p:spPr>
        <p:txBody>
          <a:bodyPr wrap="none">
            <a:spAutoFit/>
          </a:bodyPr>
          <a:lstStyle/>
          <a:p>
            <a:r>
              <a:rPr lang="fr-FR">
                <a:latin typeface="Arial" pitchFamily="34" charset="0"/>
              </a:rPr>
              <a:t>1:1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135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135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135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1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351" grpId="0"/>
      <p:bldP spid="181352" grpId="0"/>
      <p:bldP spid="181353" grpId="0"/>
      <p:bldP spid="18135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Espace réservé du numéro de diapositive 1"/>
          <p:cNvSpPr>
            <a:spLocks noGrp="1"/>
          </p:cNvSpPr>
          <p:nvPr>
            <p:ph type="sldNum" sz="quarter" idx="12"/>
          </p:nvPr>
        </p:nvSpPr>
        <p:spPr>
          <a:noFill/>
        </p:spPr>
        <p:txBody>
          <a:bodyPr/>
          <a:lstStyle/>
          <a:p>
            <a:fld id="{44C0BF5A-9CCF-4A52-A672-6B0FF5CA7280}" type="slidenum">
              <a:rPr lang="fr-FR" smtClean="0"/>
              <a:pPr/>
              <a:t>28</a:t>
            </a:fld>
            <a:endParaRPr lang="fr-FR" smtClean="0"/>
          </a:p>
        </p:txBody>
      </p:sp>
      <p:sp>
        <p:nvSpPr>
          <p:cNvPr id="13315" name="ZoneTexte 2"/>
          <p:cNvSpPr txBox="1">
            <a:spLocks noChangeArrowheads="1"/>
          </p:cNvSpPr>
          <p:nvPr/>
        </p:nvSpPr>
        <p:spPr bwMode="auto">
          <a:xfrm>
            <a:off x="3071813" y="2643188"/>
            <a:ext cx="2786062" cy="1108075"/>
          </a:xfrm>
          <a:prstGeom prst="rect">
            <a:avLst/>
          </a:prstGeom>
          <a:noFill/>
          <a:ln w="9525">
            <a:noFill/>
            <a:miter lim="800000"/>
            <a:headEnd/>
            <a:tailEnd/>
          </a:ln>
        </p:spPr>
        <p:txBody>
          <a:bodyPr>
            <a:spAutoFit/>
          </a:bodyPr>
          <a:lstStyle/>
          <a:p>
            <a:pPr algn="ctr"/>
            <a:r>
              <a:rPr lang="fr-FR" sz="6600">
                <a:solidFill>
                  <a:srgbClr val="C00000"/>
                </a:solidFill>
              </a:rPr>
              <a:t>FIN</a:t>
            </a:r>
            <a:endParaRPr lang="fr-FR" sz="4400">
              <a:solidFill>
                <a:srgbClr val="C00000"/>
              </a:solidFill>
            </a:endParaRPr>
          </a:p>
        </p:txBody>
      </p:sp>
    </p:spTree>
  </p:cSld>
  <p:clrMapOvr>
    <a:masterClrMapping/>
  </p:clrMapOvr>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860</TotalTime>
  <Words>821</Words>
  <Application>Microsoft Office PowerPoint</Application>
  <PresentationFormat>Affichage à l'écran (4:3)</PresentationFormat>
  <Paragraphs>162</Paragraphs>
  <Slides>28</Slides>
  <Notes>1</Notes>
  <HiddenSlides>0</HiddenSlides>
  <MMClips>0</MMClips>
  <ScaleCrop>false</ScaleCrop>
  <HeadingPairs>
    <vt:vector size="4" baseType="variant">
      <vt:variant>
        <vt:lpstr>Thème</vt:lpstr>
      </vt:variant>
      <vt:variant>
        <vt:i4>1</vt:i4>
      </vt:variant>
      <vt:variant>
        <vt:lpstr>Titres des diapositives</vt:lpstr>
      </vt:variant>
      <vt:variant>
        <vt:i4>28</vt:i4>
      </vt:variant>
    </vt:vector>
  </HeadingPairs>
  <TitlesOfParts>
    <vt:vector size="29" baseType="lpstr">
      <vt:lpstr>Modèle par défaut</vt:lpstr>
      <vt:lpstr>Chapitre 4 Modèle Logique de Données (MLD)</vt:lpstr>
      <vt:lpstr>Quel formalisme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Modèle Physique de Données (MPD)</vt:lpstr>
      <vt:lpstr>Présentation PowerPoint</vt:lpstr>
      <vt:lpstr>Présentation PowerPoint</vt:lpstr>
      <vt:lpstr>Présentation PowerPoint</vt:lpstr>
      <vt:lpstr>Présentation PowerPoint</vt:lpstr>
      <vt:lpstr>Présentation PowerPoint</vt:lpstr>
      <vt:lpstr>Exercice : réalisation de MCD-MLD</vt:lpstr>
      <vt:lpstr>Présentation PowerPoint</vt:lpstr>
      <vt:lpstr>Présentation PowerPoint</vt:lpstr>
      <vt:lpstr>Exercice</vt:lpstr>
      <vt:lpstr>Présentation PowerPoint</vt:lpstr>
    </vt:vector>
  </TitlesOfParts>
  <Company>Université Paris X-Nanterre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Modèle Organisationnel d’Activité   Cours de Bernard COFFIN – MIAGE Université Paris-10 2001 Reproduction interdite sans l’accord écrit de l’auteur</dc:title>
  <dc:creator>bcoffin</dc:creator>
  <cp:lastModifiedBy>home</cp:lastModifiedBy>
  <cp:revision>71</cp:revision>
  <dcterms:created xsi:type="dcterms:W3CDTF">2002-01-15T14:40:41Z</dcterms:created>
  <dcterms:modified xsi:type="dcterms:W3CDTF">2017-11-25T14:58:54Z</dcterms:modified>
</cp:coreProperties>
</file>