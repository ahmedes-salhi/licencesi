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68" r:id="rId1"/>
  </p:sldMasterIdLst>
  <p:notesMasterIdLst>
    <p:notesMasterId r:id="rId35"/>
  </p:notesMasterIdLst>
  <p:handoutMasterIdLst>
    <p:handoutMasterId r:id="rId36"/>
  </p:handout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6" r:id="rId9"/>
    <p:sldId id="267" r:id="rId10"/>
    <p:sldId id="269" r:id="rId11"/>
    <p:sldId id="268" r:id="rId12"/>
    <p:sldId id="272" r:id="rId13"/>
    <p:sldId id="271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</p:sldIdLst>
  <p:sldSz cx="12192000" cy="6858000"/>
  <p:notesSz cx="6858000" cy="9144000"/>
  <p:defaultTextStyle>
    <a:defPPr rtl="0"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226" autoAdjust="0"/>
  </p:normalViewPr>
  <p:slideViewPr>
    <p:cSldViewPr snapToGrid="0">
      <p:cViewPr>
        <p:scale>
          <a:sx n="95" d="100"/>
          <a:sy n="95" d="100"/>
        </p:scale>
        <p:origin x="-378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288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>
            <a:extLst>
              <a:ext uri="{FF2B5EF4-FFF2-40B4-BE49-F238E27FC236}">
                <a16:creationId xmlns:a16="http://schemas.microsoft.com/office/drawing/2014/main" xmlns="" id="{8B4CB405-BC11-414E-B0F4-9E1C4642FE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xmlns="" id="{C71A09E4-E76E-43B1-9270-846FE19D3E2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A0A57E1-CEB3-4C96-B7C6-36B0FA3064E4}" type="datetimeFigureOut">
              <a:rPr lang="en-US" smtClean="0"/>
              <a:t>10/28/2022</a:t>
            </a:fld>
            <a:endParaRPr lang="en-US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xmlns="" id="{44791962-6490-4685-B760-76A1628AD5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xmlns="" id="{D3697A7F-1461-4B81-83F2-8C494CFB80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D0D51C3-EABD-4553-9DC0-81CFC2A7F30E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461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CF1BBD7-2276-4DDA-BFFE-26CAACEE5E98}" type="datetimeFigureOut">
              <a:rPr lang="en-US" smtClean="0"/>
              <a:t>10/28/2022</a:t>
            </a:fld>
            <a:endParaRPr lang="en-US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"/>
              <a:t>Modifiez les styles du texte du masque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0279F17-7BA4-49BC-BB37-7F646CF8D2F0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740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fr-FR" sz="1800" b="0" i="0" u="none" strike="noStrike" baseline="0" dirty="0">
                <a:solidFill>
                  <a:srgbClr val="564B3C"/>
                </a:solidFill>
                <a:latin typeface="BookAntiqua"/>
              </a:rPr>
              <a:t>Il faut calculer les occurrences pour chaque patte </a:t>
            </a:r>
            <a:r>
              <a:rPr lang="fr-FR" sz="1800" b="0" i="0" u="none" strike="noStrike" baseline="0" dirty="0">
                <a:solidFill>
                  <a:srgbClr val="FF0000"/>
                </a:solidFill>
                <a:latin typeface="BookAntiqua"/>
              </a:rPr>
              <a:t>Pour un enseignant X </a:t>
            </a:r>
            <a:r>
              <a:rPr lang="fr-FR" sz="1800" b="0" i="0" u="none" strike="noStrike" baseline="0" dirty="0">
                <a:solidFill>
                  <a:srgbClr val="564B3C"/>
                </a:solidFill>
                <a:latin typeface="BookAntiqua"/>
              </a:rPr>
              <a:t>combien de couples</a:t>
            </a:r>
          </a:p>
          <a:p>
            <a:pPr algn="l"/>
            <a:r>
              <a:rPr lang="fr-FR" sz="1800" b="0" i="0" u="none" strike="noStrike" baseline="0" dirty="0">
                <a:solidFill>
                  <a:srgbClr val="564B3C"/>
                </a:solidFill>
                <a:latin typeface="BookAntiqua"/>
              </a:rPr>
              <a:t>(matière, classe) pouvons nous créer? </a:t>
            </a:r>
            <a:r>
              <a:rPr lang="fr-FR" sz="1800" b="1" i="0" u="none" strike="noStrike" baseline="0" dirty="0" err="1">
                <a:solidFill>
                  <a:srgbClr val="00B150"/>
                </a:solidFill>
                <a:latin typeface="BookAntiqua-Bold"/>
              </a:rPr>
              <a:t>card</a:t>
            </a:r>
            <a:r>
              <a:rPr lang="fr-FR" sz="1800" b="1" i="0" u="none" strike="noStrike" baseline="0" dirty="0">
                <a:solidFill>
                  <a:srgbClr val="00B150"/>
                </a:solidFill>
                <a:latin typeface="BookAntiqua-Bold"/>
              </a:rPr>
              <a:t> min = 0 </a:t>
            </a:r>
            <a:r>
              <a:rPr lang="fr-FR" sz="1800" b="0" i="0" u="none" strike="noStrike" baseline="0" dirty="0">
                <a:solidFill>
                  <a:srgbClr val="564B3C"/>
                </a:solidFill>
                <a:latin typeface="BookAntiqua"/>
              </a:rPr>
              <a:t>car un enseignant peut ne pas</a:t>
            </a:r>
          </a:p>
          <a:p>
            <a:pPr algn="l"/>
            <a:r>
              <a:rPr lang="fr-FR" sz="1800" b="0" i="0" u="none" strike="noStrike" baseline="0" dirty="0">
                <a:solidFill>
                  <a:srgbClr val="564B3C"/>
                </a:solidFill>
                <a:latin typeface="BookAntiqua"/>
              </a:rPr>
              <a:t>enseigner du tout </a:t>
            </a:r>
            <a:r>
              <a:rPr lang="fr-FR" sz="1800" b="1" i="0" u="none" strike="noStrike" baseline="0" dirty="0" err="1">
                <a:solidFill>
                  <a:srgbClr val="00B150"/>
                </a:solidFill>
                <a:latin typeface="BookAntiqua-Bold"/>
              </a:rPr>
              <a:t>card</a:t>
            </a:r>
            <a:r>
              <a:rPr lang="fr-FR" sz="1800" b="1" i="0" u="none" strike="noStrike" baseline="0" dirty="0">
                <a:solidFill>
                  <a:srgbClr val="00B150"/>
                </a:solidFill>
                <a:latin typeface="BookAntiqua-Bold"/>
              </a:rPr>
              <a:t> max = N </a:t>
            </a:r>
            <a:r>
              <a:rPr lang="fr-FR" sz="1800" b="0" i="0" u="none" strike="noStrike" baseline="0" dirty="0">
                <a:solidFill>
                  <a:srgbClr val="564B3C"/>
                </a:solidFill>
                <a:latin typeface="BookAntiqua"/>
              </a:rPr>
              <a:t>car un enseignant peut enseigner plus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0279F17-7BA4-49BC-BB37-7F646CF8D2F0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356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rtlCol="0"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 rtlCol="0"/>
          <a:lstStyle/>
          <a:p>
            <a:pPr rtl="0"/>
            <a:fld id="{846CE7D5-CF57-46EF-B807-FDD0502418D4}" type="datetimeFigureOut">
              <a:rPr lang="en-US" smtClean="0"/>
              <a:t>10/28/2022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 rtlCol="0"/>
          <a:lstStyle/>
          <a:p>
            <a:pPr rtl="0"/>
            <a:fld id="{330EA680-D336-4FF7-8B7A-9848BB0A1C32}" type="slidenum">
              <a:rPr lang="en-US" smtClean="0"/>
              <a:t>‹N°›</a:t>
            </a:fld>
            <a:endParaRPr lang="en-US" dirty="0"/>
          </a:p>
        </p:txBody>
      </p:sp>
      <p:cxnSp>
        <p:nvCxnSpPr>
          <p:cNvPr id="15" name="Connecteur droit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858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cteur droit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+mj-lt"/>
              </a:defRPr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46CE7D5-CF57-46EF-B807-FDD0502418D4}" type="datetimeFigureOut">
              <a:rPr lang="en-US" smtClean="0"/>
              <a:t>10/28/2022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178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ois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e 6">
            <a:extLst>
              <a:ext uri="{FF2B5EF4-FFF2-40B4-BE49-F238E27FC236}">
                <a16:creationId xmlns:a16="http://schemas.microsoft.com/office/drawing/2014/main" xmlns="" id="{98A5301E-AB93-4945-A0AA-2215B6872DB2}"/>
              </a:ext>
            </a:extLst>
          </p:cNvPr>
          <p:cNvSpPr>
            <a:spLocks noChangeAspect="1"/>
          </p:cNvSpPr>
          <p:nvPr userDrawn="1"/>
        </p:nvSpPr>
        <p:spPr>
          <a:xfrm>
            <a:off x="1871401" y="2602132"/>
            <a:ext cx="1801368" cy="180136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/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xmlns="" id="{D2FF1D57-3E5F-584B-94C2-629CD166831B}"/>
              </a:ext>
            </a:extLst>
          </p:cNvPr>
          <p:cNvSpPr>
            <a:spLocks noChangeAspect="1"/>
          </p:cNvSpPr>
          <p:nvPr userDrawn="1"/>
        </p:nvSpPr>
        <p:spPr>
          <a:xfrm>
            <a:off x="5194632" y="2602132"/>
            <a:ext cx="1801368" cy="180136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/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xmlns="" id="{90A619F7-99B1-EB46-8946-F77C733C4D86}"/>
              </a:ext>
            </a:extLst>
          </p:cNvPr>
          <p:cNvSpPr>
            <a:spLocks noChangeAspect="1"/>
          </p:cNvSpPr>
          <p:nvPr userDrawn="1"/>
        </p:nvSpPr>
        <p:spPr>
          <a:xfrm>
            <a:off x="8519230" y="2602132"/>
            <a:ext cx="1801368" cy="180136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" noProof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95401" y="4804495"/>
            <a:ext cx="2952000" cy="1109133"/>
          </a:xfrm>
        </p:spPr>
        <p:txBody>
          <a:bodyPr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46CE7D5-CF57-46EF-B807-FDD0502418D4}" type="datetimeFigureOut">
              <a:rPr lang="en-US" noProof="0" smtClean="0"/>
              <a:t>10/28/2022</a:t>
            </a:fld>
            <a:endParaRPr lang="en-US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en-US" noProof="0" smtClean="0"/>
              <a:t>‹N°›</a:t>
            </a:fld>
            <a:endParaRPr lang="en-US" noProof="0" dirty="0"/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xmlns="" id="{D2FC6D4A-DA65-4AB4-A214-ABFCCC77CE2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620000" y="4804495"/>
            <a:ext cx="2952000" cy="1109133"/>
          </a:xfrm>
        </p:spPr>
        <p:txBody>
          <a:bodyPr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xmlns="" id="{64EDB116-654D-48D8-BED5-DCA5C06DA37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944598" y="4804495"/>
            <a:ext cx="2952000" cy="1109133"/>
          </a:xfrm>
        </p:spPr>
        <p:txBody>
          <a:bodyPr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</p:txBody>
      </p: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xmlns="" id="{0E6232E7-9350-493B-BFD0-883015EB07CE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191441" y="2922172"/>
            <a:ext cx="1161288" cy="1161288"/>
          </a:xfrm>
          <a:prstGeom prst="ellipse">
            <a:avLst/>
          </a:prstGeom>
          <a:noFill/>
        </p:spPr>
        <p:txBody>
          <a:bodyPr rtlCol="0" anchor="ctr"/>
          <a:lstStyle>
            <a:lvl1pPr marL="0" indent="0" algn="ctr">
              <a:buNone/>
              <a:defRPr sz="1400" i="1">
                <a:solidFill>
                  <a:schemeClr val="bg1"/>
                </a:solidFill>
              </a:defRPr>
            </a:lvl1pPr>
          </a:lstStyle>
          <a:p>
            <a:pPr rtl="0"/>
            <a:r>
              <a:rPr lang="fr" noProof="0"/>
              <a:t>Insérer une icône ou image</a:t>
            </a:r>
          </a:p>
        </p:txBody>
      </p:sp>
      <p:sp>
        <p:nvSpPr>
          <p:cNvPr id="14" name="Espace réservé d’image 13">
            <a:extLst>
              <a:ext uri="{FF2B5EF4-FFF2-40B4-BE49-F238E27FC236}">
                <a16:creationId xmlns:a16="http://schemas.microsoft.com/office/drawing/2014/main" xmlns="" id="{E13A6892-C6C0-404F-96AD-993154ED8C7C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5514672" y="2922172"/>
            <a:ext cx="1161288" cy="1161288"/>
          </a:xfrm>
          <a:prstGeom prst="ellipse">
            <a:avLst/>
          </a:prstGeom>
          <a:solidFill>
            <a:schemeClr val="accent2"/>
          </a:solidFill>
        </p:spPr>
        <p:txBody>
          <a:bodyPr rtlCol="0"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 sz="1400" i="1">
                <a:solidFill>
                  <a:schemeClr val="bg1"/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/>
            </a:pPr>
            <a:r>
              <a:rPr lang="fr" noProof="0"/>
              <a:t>Insérer une icône ou image</a:t>
            </a:r>
          </a:p>
        </p:txBody>
      </p:sp>
      <p:sp>
        <p:nvSpPr>
          <p:cNvPr id="16" name="Espace réservé d’image 15">
            <a:extLst>
              <a:ext uri="{FF2B5EF4-FFF2-40B4-BE49-F238E27FC236}">
                <a16:creationId xmlns:a16="http://schemas.microsoft.com/office/drawing/2014/main" xmlns="" id="{70281C28-F044-4622-B651-CE20C022E72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838000" y="2920902"/>
            <a:ext cx="1163828" cy="1163828"/>
          </a:xfrm>
          <a:prstGeom prst="ellipse">
            <a:avLst/>
          </a:prstGeom>
          <a:noFill/>
        </p:spPr>
        <p:txBody>
          <a:bodyPr rtlCol="0"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 sz="1400" b="0" i="1">
                <a:solidFill>
                  <a:schemeClr val="bg1"/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/>
            </a:pPr>
            <a:r>
              <a:rPr lang="fr" noProof="0"/>
              <a:t>Insérer une icône ou image</a:t>
            </a:r>
          </a:p>
        </p:txBody>
      </p:sp>
    </p:spTree>
    <p:extLst>
      <p:ext uri="{BB962C8B-B14F-4D97-AF65-F5344CB8AC3E}">
        <p14:creationId xmlns:p14="http://schemas.microsoft.com/office/powerpoint/2010/main" val="1467037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lonnes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cteur droit 7"/>
          <p:cNvCxnSpPr>
            <a:cxnSpLocks/>
          </p:cNvCxnSpPr>
          <p:nvPr/>
        </p:nvCxnSpPr>
        <p:spPr>
          <a:xfrm>
            <a:off x="3498694" y="2421466"/>
            <a:ext cx="740731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98694" y="982132"/>
            <a:ext cx="7397903" cy="1303867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" noProof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498694" y="2560320"/>
            <a:ext cx="3580381" cy="3310128"/>
          </a:xfrm>
        </p:spPr>
        <p:txBody>
          <a:bodyPr rtlCol="0">
            <a:normAutofit/>
          </a:bodyPr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" noProof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7316216" y="2560320"/>
            <a:ext cx="3580381" cy="3310128"/>
          </a:xfrm>
        </p:spPr>
        <p:txBody>
          <a:bodyPr rtlCol="0">
            <a:normAutofit/>
          </a:bodyPr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" noProof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46CE7D5-CF57-46EF-B807-FDD0502418D4}" type="datetimeFigureOut">
              <a:rPr lang="en-US" noProof="0" smtClean="0"/>
              <a:t>10/28/2022</a:t>
            </a:fld>
            <a:endParaRPr lang="en-US" noProof="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en-US" noProof="0" smtClean="0"/>
              <a:t>‹N°›</a:t>
            </a:fld>
            <a:endParaRPr lang="en-US" noProof="0" dirty="0"/>
          </a:p>
        </p:txBody>
      </p:sp>
      <p:sp>
        <p:nvSpPr>
          <p:cNvPr id="10" name="Parallélogramme 9">
            <a:extLst>
              <a:ext uri="{FF2B5EF4-FFF2-40B4-BE49-F238E27FC236}">
                <a16:creationId xmlns:a16="http://schemas.microsoft.com/office/drawing/2014/main" xmlns="" id="{9C4F6082-2952-43DC-9B9C-74C88B262CE9}"/>
              </a:ext>
            </a:extLst>
          </p:cNvPr>
          <p:cNvSpPr/>
          <p:nvPr userDrawn="1"/>
        </p:nvSpPr>
        <p:spPr>
          <a:xfrm rot="5400000">
            <a:off x="388783" y="2483417"/>
            <a:ext cx="3220061" cy="3373452"/>
          </a:xfrm>
          <a:prstGeom prst="parallelogram">
            <a:avLst>
              <a:gd name="adj" fmla="val 12608"/>
            </a:avLst>
          </a:prstGeom>
          <a:gradFill>
            <a:gsLst>
              <a:gs pos="1100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  <a:effectLst>
            <a:softEdge rad="317500"/>
          </a:effectLst>
          <a:scene3d>
            <a:camera prst="orthographicFront"/>
            <a:lightRig rig="threePt" dir="t">
              <a:rot lat="0" lon="0" rev="20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/>
          </a:p>
        </p:txBody>
      </p:sp>
      <p:sp>
        <p:nvSpPr>
          <p:cNvPr id="11" name="Rectangle : Coins arrondis 10">
            <a:extLst>
              <a:ext uri="{FF2B5EF4-FFF2-40B4-BE49-F238E27FC236}">
                <a16:creationId xmlns:a16="http://schemas.microsoft.com/office/drawing/2014/main" xmlns="" id="{67618976-780E-4131-85CD-66F013F5ACDE}"/>
              </a:ext>
            </a:extLst>
          </p:cNvPr>
          <p:cNvSpPr/>
          <p:nvPr userDrawn="1"/>
        </p:nvSpPr>
        <p:spPr>
          <a:xfrm rot="-120000">
            <a:off x="211380" y="1442831"/>
            <a:ext cx="3220061" cy="3910358"/>
          </a:xfrm>
          <a:prstGeom prst="roundRect">
            <a:avLst>
              <a:gd name="adj" fmla="val 454"/>
            </a:avLst>
          </a:prstGeom>
          <a:blipFill dpi="0"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4000"/>
                      </a14:imgEffect>
                      <a14:imgEffect>
                        <a14:saturation sat="0"/>
                      </a14:imgEffect>
                      <a14:imgEffect>
                        <a14:brightnessContrast bright="4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20000" sy="20000" flip="xy" algn="tl"/>
          </a:blipFill>
          <a:ln>
            <a:noFill/>
          </a:ln>
          <a:effectLst/>
          <a:scene3d>
            <a:camera prst="orthographicFront"/>
            <a:lightRig rig="threePt" dir="t">
              <a:rot lat="0" lon="0" rev="20400000"/>
            </a:lightRig>
          </a:scene3d>
          <a:sp3d>
            <a:bevelT w="12700" h="63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/>
          </a:p>
        </p:txBody>
      </p:sp>
      <p:sp>
        <p:nvSpPr>
          <p:cNvPr id="12" name="Espace réservé d’image 17">
            <a:extLst>
              <a:ext uri="{FF2B5EF4-FFF2-40B4-BE49-F238E27FC236}">
                <a16:creationId xmlns:a16="http://schemas.microsoft.com/office/drawing/2014/main" xmlns="" id="{01E4A9BC-C863-435A-8A18-508AE86DCBB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-120000" flipH="1">
            <a:off x="422103" y="1691853"/>
            <a:ext cx="2736000" cy="3367314"/>
          </a:xfrm>
          <a:solidFill>
            <a:schemeClr val="tx1">
              <a:lumMod val="75000"/>
              <a:lumOff val="25000"/>
            </a:schemeClr>
          </a:solidFill>
          <a:effectLst>
            <a:innerShdw blurRad="25400" dist="12700" dir="13500000">
              <a:prstClr val="black">
                <a:alpha val="16000"/>
              </a:prstClr>
            </a:innerShdw>
          </a:effectLst>
        </p:spPr>
        <p:txBody>
          <a:bodyPr lIns="180000" rIns="180000" rtlCol="0" anchor="ctr"/>
          <a:lstStyle>
            <a:lvl1pPr marL="0" indent="0" algn="ctr">
              <a:buNone/>
              <a:defRPr sz="1600" i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rtl="0"/>
            <a:r>
              <a:rPr lang="fr" noProof="0"/>
              <a:t>Insérez ou glissez-déplacez votre photo</a:t>
            </a:r>
          </a:p>
        </p:txBody>
      </p:sp>
    </p:spTree>
    <p:extLst>
      <p:ext uri="{BB962C8B-B14F-4D97-AF65-F5344CB8AC3E}">
        <p14:creationId xmlns:p14="http://schemas.microsoft.com/office/powerpoint/2010/main" val="3762657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F4F82F76-1F28-4871-AA44-ADE3B29E465F}"/>
              </a:ext>
            </a:extLst>
          </p:cNvPr>
          <p:cNvSpPr/>
          <p:nvPr userDrawn="1"/>
        </p:nvSpPr>
        <p:spPr>
          <a:xfrm>
            <a:off x="1066800" y="1009665"/>
            <a:ext cx="7056969" cy="4847145"/>
          </a:xfrm>
          <a:prstGeom prst="rect">
            <a:avLst/>
          </a:prstGeom>
          <a:solidFill>
            <a:schemeClr val="bg1"/>
          </a:solidFill>
          <a:ln w="82550" cmpd="thickThin">
            <a:solidFill>
              <a:schemeClr val="bg1">
                <a:lumMod val="6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216900" y="982132"/>
            <a:ext cx="2679698" cy="1412725"/>
          </a:xfrm>
        </p:spPr>
        <p:txBody>
          <a:bodyPr rtlCol="0" anchor="t"/>
          <a:lstStyle>
            <a:lvl1pPr algn="r">
              <a:defRPr/>
            </a:lvl1pPr>
          </a:lstStyle>
          <a:p>
            <a:pPr rtl="0"/>
            <a:r>
              <a:rPr lang="fr" noProof="0"/>
              <a:t>Cliquez sur titre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46CE7D5-CF57-46EF-B807-FDD0502418D4}" type="datetimeFigureOut">
              <a:rPr lang="en-US" noProof="0" smtClean="0"/>
              <a:t>10/28/2022</a:t>
            </a:fld>
            <a:endParaRPr lang="en-US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en-US" noProof="0" smtClean="0"/>
              <a:t>‹N°›</a:t>
            </a:fld>
            <a:endParaRPr lang="en-US" noProof="0" dirty="0"/>
          </a:p>
        </p:txBody>
      </p:sp>
      <p:sp>
        <p:nvSpPr>
          <p:cNvPr id="11" name="Espace réservé d’image 10">
            <a:extLst>
              <a:ext uri="{FF2B5EF4-FFF2-40B4-BE49-F238E27FC236}">
                <a16:creationId xmlns:a16="http://schemas.microsoft.com/office/drawing/2014/main" xmlns="" id="{087D12F9-00B3-48A4-8EFB-78ACCA9F99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82052" y="1318687"/>
            <a:ext cx="2338493" cy="2881988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/>
            </a:lvl1pPr>
          </a:lstStyle>
          <a:p>
            <a:pPr rtl="0"/>
            <a:r>
              <a:rPr lang="fr" noProof="0"/>
              <a:t>Images de construction</a:t>
            </a:r>
          </a:p>
        </p:txBody>
      </p:sp>
      <p:sp>
        <p:nvSpPr>
          <p:cNvPr id="12" name="Espace réservé d’image 10">
            <a:extLst>
              <a:ext uri="{FF2B5EF4-FFF2-40B4-BE49-F238E27FC236}">
                <a16:creationId xmlns:a16="http://schemas.microsoft.com/office/drawing/2014/main" xmlns="" id="{242B44F9-2E79-4910-8D1A-CE37EF05242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4222" y="3128436"/>
            <a:ext cx="3974629" cy="2424639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 sz="1200" i="1"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/>
            </a:pPr>
            <a:r>
              <a:rPr lang="fr" noProof="0"/>
              <a:t> Images de travaux</a:t>
            </a:r>
          </a:p>
        </p:txBody>
      </p:sp>
      <p:sp>
        <p:nvSpPr>
          <p:cNvPr id="13" name="Espace réservé d’image 10">
            <a:extLst>
              <a:ext uri="{FF2B5EF4-FFF2-40B4-BE49-F238E27FC236}">
                <a16:creationId xmlns:a16="http://schemas.microsoft.com/office/drawing/2014/main" xmlns="" id="{68412D06-1A64-446B-8E3E-026437ADFB5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600451" y="1318687"/>
            <a:ext cx="1748400" cy="1680173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 sz="1200" i="1"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/>
            </a:pPr>
            <a:r>
              <a:rPr lang="fr" noProof="0"/>
              <a:t>Moyen de transport</a:t>
            </a:r>
          </a:p>
        </p:txBody>
      </p:sp>
      <p:sp>
        <p:nvSpPr>
          <p:cNvPr id="14" name="Espace réservé d’image 10">
            <a:extLst>
              <a:ext uri="{FF2B5EF4-FFF2-40B4-BE49-F238E27FC236}">
                <a16:creationId xmlns:a16="http://schemas.microsoft.com/office/drawing/2014/main" xmlns="" id="{3152ED43-82C8-44B9-8B8E-2C0C9CEB1F1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374222" y="1318687"/>
            <a:ext cx="2093027" cy="1680173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/>
            </a:lvl1pPr>
          </a:lstStyle>
          <a:p>
            <a:pPr rtl="0"/>
            <a:r>
              <a:rPr lang="fr" noProof="0"/>
              <a:t>Image de vêtements</a:t>
            </a:r>
          </a:p>
        </p:txBody>
      </p:sp>
      <p:sp>
        <p:nvSpPr>
          <p:cNvPr id="19" name="Espace réservé d’image 10">
            <a:extLst>
              <a:ext uri="{FF2B5EF4-FFF2-40B4-BE49-F238E27FC236}">
                <a16:creationId xmlns:a16="http://schemas.microsoft.com/office/drawing/2014/main" xmlns="" id="{0BCC3DC8-BDE4-4B07-A8CA-0321A364356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2052" y="4333875"/>
            <a:ext cx="2338493" cy="1219200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 sz="1200" i="1"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/>
            </a:pPr>
            <a:r>
              <a:rPr lang="fr" noProof="0"/>
              <a:t>Images d’autres éléments que capturer l’ère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xmlns="" id="{2E769B50-B286-4700-AFD4-EFDA8F2FBA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16900" y="2507046"/>
            <a:ext cx="2679698" cy="3349763"/>
          </a:xfrm>
        </p:spPr>
        <p:txBody>
          <a:bodyPr rtlCol="0"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 rtl="0"/>
            <a:r>
              <a:rPr lang="fr" noProof="0"/>
              <a:t>En-tête secondaire</a:t>
            </a:r>
          </a:p>
        </p:txBody>
      </p:sp>
    </p:spTree>
    <p:extLst>
      <p:ext uri="{BB962C8B-B14F-4D97-AF65-F5344CB8AC3E}">
        <p14:creationId xmlns:p14="http://schemas.microsoft.com/office/powerpoint/2010/main" val="4260075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nd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 11">
            <a:extLst>
              <a:ext uri="{FF2B5EF4-FFF2-40B4-BE49-F238E27FC236}">
                <a16:creationId xmlns:a16="http://schemas.microsoft.com/office/drawing/2014/main" xmlns="" id="{13CE66FB-7564-43B1-9A0A-6594394A243B}"/>
              </a:ext>
            </a:extLst>
          </p:cNvPr>
          <p:cNvSpPr/>
          <p:nvPr userDrawn="1"/>
        </p:nvSpPr>
        <p:spPr>
          <a:xfrm>
            <a:off x="476250" y="476250"/>
            <a:ext cx="11239500" cy="59245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/>
          </a:p>
        </p:txBody>
      </p:sp>
      <p:sp>
        <p:nvSpPr>
          <p:cNvPr id="11" name="Espace réservé d’image 10">
            <a:extLst>
              <a:ext uri="{FF2B5EF4-FFF2-40B4-BE49-F238E27FC236}">
                <a16:creationId xmlns:a16="http://schemas.microsoft.com/office/drawing/2014/main" xmlns="" id="{D335E96D-A567-4898-B2BA-3B8C2F40BA6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2000" y="567000"/>
            <a:ext cx="11088000" cy="5724000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6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" noProof="0"/>
              <a:t>Insérez une image à partir de l’ère iconique.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95402" y="692939"/>
            <a:ext cx="9601196" cy="751418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" noProof="0"/>
          </a:p>
        </p:txBody>
      </p:sp>
      <p:pic>
        <p:nvPicPr>
          <p:cNvPr id="7" name="Image 6" descr="HD-PanelContent-GrommetsCombined.png">
            <a:extLst>
              <a:ext uri="{FF2B5EF4-FFF2-40B4-BE49-F238E27FC236}">
                <a16:creationId xmlns:a16="http://schemas.microsoft.com/office/drawing/2014/main" xmlns="" id="{EE5D561D-B993-4D57-A306-77777AD909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8661" y="631069"/>
            <a:ext cx="240481" cy="238041"/>
          </a:xfrm>
          <a:prstGeom prst="ellipse">
            <a:avLst/>
          </a:prstGeom>
          <a:effectLst>
            <a:outerShdw blurRad="12700" dir="2700000" sx="102000" sy="102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Image 7" descr="HD-PanelContent-GrommetsCombined.png">
            <a:extLst>
              <a:ext uri="{FF2B5EF4-FFF2-40B4-BE49-F238E27FC236}">
                <a16:creationId xmlns:a16="http://schemas.microsoft.com/office/drawing/2014/main" xmlns="" id="{56E46F13-579D-42C5-8CB9-411911275F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22858" y="631069"/>
            <a:ext cx="240481" cy="238041"/>
          </a:xfrm>
          <a:prstGeom prst="ellipse">
            <a:avLst/>
          </a:prstGeom>
          <a:effectLst>
            <a:outerShdw blurRad="12700" dir="2700000" sx="102000" sy="102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Image 8" descr="HD-PanelContent-GrommetsCombined.png">
            <a:extLst>
              <a:ext uri="{FF2B5EF4-FFF2-40B4-BE49-F238E27FC236}">
                <a16:creationId xmlns:a16="http://schemas.microsoft.com/office/drawing/2014/main" xmlns="" id="{E055F617-AE0E-412B-BD58-B6C6F1E57E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8661" y="5996029"/>
            <a:ext cx="240481" cy="238041"/>
          </a:xfrm>
          <a:prstGeom prst="ellipse">
            <a:avLst/>
          </a:prstGeom>
          <a:effectLst>
            <a:outerShdw blurRad="12700" dir="2700000" sx="102000" sy="102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Image 9" descr="HD-PanelContent-GrommetsCombined.png">
            <a:extLst>
              <a:ext uri="{FF2B5EF4-FFF2-40B4-BE49-F238E27FC236}">
                <a16:creationId xmlns:a16="http://schemas.microsoft.com/office/drawing/2014/main" xmlns="" id="{E6A3ABD2-1E11-490E-83ED-21CCB18789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22858" y="5996029"/>
            <a:ext cx="240481" cy="238041"/>
          </a:xfrm>
          <a:prstGeom prst="ellipse">
            <a:avLst/>
          </a:prstGeom>
          <a:effectLst>
            <a:outerShdw blurRad="12700" dir="2700000" sx="102000" sy="102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8287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ntenu + 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cteur droit 7"/>
          <p:cNvCxnSpPr>
            <a:cxnSpLocks/>
          </p:cNvCxnSpPr>
          <p:nvPr/>
        </p:nvCxnSpPr>
        <p:spPr>
          <a:xfrm>
            <a:off x="1295401" y="2421466"/>
            <a:ext cx="358038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295403" y="982132"/>
            <a:ext cx="3580380" cy="1303867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r>
              <a:rPr lang="fr" noProof="0"/>
              <a:t>Cliquez pour modifier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295401" y="2560320"/>
            <a:ext cx="3580381" cy="3310128"/>
          </a:xfrm>
        </p:spPr>
        <p:txBody>
          <a:bodyPr rtlCol="0">
            <a:normAutofit/>
          </a:bodyPr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" noProof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46CE7D5-CF57-46EF-B807-FDD0502418D4}" type="datetimeFigureOut">
              <a:rPr lang="en-US" noProof="0" smtClean="0"/>
              <a:t>10/28/2022</a:t>
            </a:fld>
            <a:endParaRPr lang="en-US" noProof="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en-US" noProof="0" smtClean="0"/>
              <a:t>‹N°›</a:t>
            </a:fld>
            <a:endParaRPr lang="en-US" noProof="0" dirty="0"/>
          </a:p>
        </p:txBody>
      </p:sp>
      <p:sp>
        <p:nvSpPr>
          <p:cNvPr id="10" name="Parallélogramme 9">
            <a:extLst>
              <a:ext uri="{FF2B5EF4-FFF2-40B4-BE49-F238E27FC236}">
                <a16:creationId xmlns:a16="http://schemas.microsoft.com/office/drawing/2014/main" xmlns="" id="{9C4F6082-2952-43DC-9B9C-74C88B262CE9}"/>
              </a:ext>
            </a:extLst>
          </p:cNvPr>
          <p:cNvSpPr/>
          <p:nvPr userDrawn="1"/>
        </p:nvSpPr>
        <p:spPr>
          <a:xfrm rot="5400000">
            <a:off x="6801681" y="1316976"/>
            <a:ext cx="4037344" cy="5975391"/>
          </a:xfrm>
          <a:prstGeom prst="parallelogram">
            <a:avLst>
              <a:gd name="adj" fmla="val 12608"/>
            </a:avLst>
          </a:prstGeom>
          <a:gradFill>
            <a:gsLst>
              <a:gs pos="1100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  <a:effectLst>
            <a:softEdge rad="317500"/>
          </a:effectLst>
          <a:scene3d>
            <a:camera prst="orthographicFront"/>
            <a:lightRig rig="threePt" dir="t">
              <a:rot lat="0" lon="0" rev="20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/>
          </a:p>
        </p:txBody>
      </p:sp>
      <p:sp>
        <p:nvSpPr>
          <p:cNvPr id="11" name="Rectangle : Coins arrondis 10">
            <a:extLst>
              <a:ext uri="{FF2B5EF4-FFF2-40B4-BE49-F238E27FC236}">
                <a16:creationId xmlns:a16="http://schemas.microsoft.com/office/drawing/2014/main" xmlns="" id="{67618976-780E-4131-85CD-66F013F5ACDE}"/>
              </a:ext>
            </a:extLst>
          </p:cNvPr>
          <p:cNvSpPr/>
          <p:nvPr userDrawn="1"/>
        </p:nvSpPr>
        <p:spPr>
          <a:xfrm rot="-120000">
            <a:off x="5372113" y="869568"/>
            <a:ext cx="5703690" cy="4902845"/>
          </a:xfrm>
          <a:prstGeom prst="roundRect">
            <a:avLst>
              <a:gd name="adj" fmla="val 454"/>
            </a:avLst>
          </a:prstGeom>
          <a:blipFill dpi="0"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4000"/>
                      </a14:imgEffect>
                      <a14:imgEffect>
                        <a14:saturation sat="0"/>
                      </a14:imgEffect>
                      <a14:imgEffect>
                        <a14:brightnessContrast bright="4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20000" sy="20000" flip="xy" algn="tl"/>
          </a:blipFill>
          <a:ln>
            <a:noFill/>
          </a:ln>
          <a:effectLst/>
          <a:scene3d>
            <a:camera prst="orthographicFront"/>
            <a:lightRig rig="threePt" dir="t">
              <a:rot lat="0" lon="0" rev="20400000"/>
            </a:lightRig>
          </a:scene3d>
          <a:sp3d>
            <a:bevelT w="12700" h="63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/>
          </a:p>
        </p:txBody>
      </p:sp>
      <p:sp>
        <p:nvSpPr>
          <p:cNvPr id="12" name="Espace réservé d’image 17">
            <a:extLst>
              <a:ext uri="{FF2B5EF4-FFF2-40B4-BE49-F238E27FC236}">
                <a16:creationId xmlns:a16="http://schemas.microsoft.com/office/drawing/2014/main" xmlns="" id="{01E4A9BC-C863-435A-8A18-508AE86DCBB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-120000" flipH="1">
            <a:off x="5584031" y="1077708"/>
            <a:ext cx="5279854" cy="4486565"/>
          </a:xfrm>
          <a:solidFill>
            <a:schemeClr val="tx1">
              <a:lumMod val="75000"/>
              <a:lumOff val="25000"/>
            </a:schemeClr>
          </a:solidFill>
          <a:effectLst>
            <a:innerShdw blurRad="25400" dist="12700" dir="13500000">
              <a:prstClr val="black">
                <a:alpha val="16000"/>
              </a:prstClr>
            </a:innerShdw>
          </a:effectLst>
        </p:spPr>
        <p:txBody>
          <a:bodyPr lIns="180000" rIns="180000" rtlCol="0" anchor="ctr"/>
          <a:lstStyle>
            <a:lvl1pPr marL="0" indent="0" algn="ctr">
              <a:buNone/>
              <a:defRPr sz="1600" i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rtl="0"/>
            <a:r>
              <a:rPr lang="fr" noProof="0"/>
              <a:t>Insérez ou glissez-déplacez votre photo</a:t>
            </a:r>
          </a:p>
        </p:txBody>
      </p:sp>
    </p:spTree>
    <p:extLst>
      <p:ext uri="{BB962C8B-B14F-4D97-AF65-F5344CB8AC3E}">
        <p14:creationId xmlns:p14="http://schemas.microsoft.com/office/powerpoint/2010/main" val="168386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+ contenu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 descr="HD-PanelContent-GrommetsCombined.png">
            <a:extLst>
              <a:ext uri="{FF2B5EF4-FFF2-40B4-BE49-F238E27FC236}">
                <a16:creationId xmlns:a16="http://schemas.microsoft.com/office/drawing/2014/main" xmlns="" id="{7BD0150C-9F76-4D95-80BF-675693B48F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cxnSp>
        <p:nvCxnSpPr>
          <p:cNvPr id="7" name="Connecteur droit 6"/>
          <p:cNvCxnSpPr>
            <a:cxnSpLocks/>
          </p:cNvCxnSpPr>
          <p:nvPr/>
        </p:nvCxnSpPr>
        <p:spPr>
          <a:xfrm>
            <a:off x="1295401" y="2421466"/>
            <a:ext cx="466966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295402" y="982132"/>
            <a:ext cx="4669664" cy="1303867"/>
          </a:xfrm>
        </p:spPr>
        <p:txBody>
          <a:bodyPr rtlCol="0"/>
          <a:lstStyle/>
          <a:p>
            <a:pPr rtl="0"/>
            <a:r>
              <a:rPr lang="fr"/>
              <a:t>Cliquez pour modifier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95401" y="2556932"/>
            <a:ext cx="4669666" cy="3318936"/>
          </a:xfrm>
        </p:spPr>
        <p:txBody>
          <a:bodyPr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46CE7D5-CF57-46EF-B807-FDD0502418D4}" type="datetimeFigureOut">
              <a:rPr lang="en-US" smtClean="0"/>
              <a:t>10/28/2022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xmlns="" id="{68FEA8B0-7C15-481C-885B-E54C78BC32E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26935" y="982132"/>
            <a:ext cx="4669666" cy="4126581"/>
          </a:xfrm>
        </p:spPr>
        <p:txBody>
          <a:bodyPr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xmlns="" id="{8DCEB7F9-6056-41AE-93D6-C5D4C94C8F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21043309">
            <a:off x="8122162" y="5338536"/>
            <a:ext cx="2746356" cy="425315"/>
          </a:xfrm>
        </p:spPr>
        <p:txBody>
          <a:bodyPr rtlCol="0"/>
          <a:lstStyle>
            <a:lvl1pPr marL="0" indent="0" algn="r">
              <a:buNone/>
              <a:defRPr i="0">
                <a:latin typeface="Lucida Handwriting" panose="03010101010101010101" pitchFamily="66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fr"/>
              <a:t>Nouvelle génération XYZ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455771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ois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95400" y="979709"/>
            <a:ext cx="9601197" cy="1822514"/>
          </a:xfrm>
        </p:spPr>
        <p:txBody>
          <a:bodyPr rtlCol="0" anchor="b">
            <a:normAutofit/>
          </a:bodyPr>
          <a:lstStyle>
            <a:lvl1pPr algn="ctr">
              <a:defRPr sz="4400" b="0" cap="none"/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295400" y="3073155"/>
            <a:ext cx="9601197" cy="52039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46CE7D5-CF57-46EF-B807-FDD0502418D4}" type="datetimeFigureOut">
              <a:rPr lang="en-US" smtClean="0"/>
              <a:t>10/28/2022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en-US" smtClean="0"/>
              <a:t>‹N°›</a:t>
            </a:fld>
            <a:endParaRPr lang="en-US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2012723" y="2937688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xmlns="" id="{4202A890-9091-4399-80AF-8AF212A1ED4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295401" y="3864479"/>
            <a:ext cx="2952000" cy="1109133"/>
          </a:xfrm>
          <a:ln w="44450" cap="sq" cmpd="thinThick">
            <a:solidFill>
              <a:schemeClr val="accent1"/>
            </a:solidFill>
            <a:miter lim="800000"/>
          </a:ln>
        </p:spPr>
        <p:txBody>
          <a:bodyPr rtlCol="0" anchor="ctr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</a:lstStyle>
          <a:p>
            <a:pPr lvl="0" rtl="0"/>
            <a:r>
              <a:rPr lang="fr"/>
              <a:t>Description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xmlns="" id="{F1661F6C-2BB1-41AF-BF4C-144E940F7B2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620000" y="3864479"/>
            <a:ext cx="2952000" cy="1109133"/>
          </a:xfrm>
          <a:ln w="44450" cap="sq" cmpd="thinThick">
            <a:solidFill>
              <a:schemeClr val="accent3"/>
            </a:solidFill>
            <a:miter lim="800000"/>
          </a:ln>
        </p:spPr>
        <p:txBody>
          <a:bodyPr rtlCol="0" anchor="ctr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</a:lstStyle>
          <a:p>
            <a:pPr lvl="0" rtl="0"/>
            <a:r>
              <a:rPr lang="fr"/>
              <a:t>Description</a:t>
            </a: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xmlns="" id="{3AFB258B-8362-4F6C-94EF-7C1F32CEBF2D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7944598" y="3864479"/>
            <a:ext cx="2952000" cy="1109133"/>
          </a:xfrm>
          <a:ln w="44450" cap="sq" cmpd="thinThick">
            <a:solidFill>
              <a:schemeClr val="accent2"/>
            </a:solidFill>
            <a:miter lim="800000"/>
          </a:ln>
        </p:spPr>
        <p:txBody>
          <a:bodyPr rtlCol="0" anchor="ctr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</a:lstStyle>
          <a:p>
            <a:pPr lvl="0" rtl="0"/>
            <a:r>
              <a:rPr lang="fr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672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rtlCol="0" anchor="b">
            <a:normAutofit/>
          </a:bodyPr>
          <a:lstStyle>
            <a:lvl1pPr algn="ctr">
              <a:defRPr sz="4400" b="0" cap="none"/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46CE7D5-CF57-46EF-B807-FDD0502418D4}" type="datetimeFigureOut">
              <a:rPr lang="en-US" smtClean="0"/>
              <a:t>10/28/2022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en-US" smtClean="0"/>
              <a:t>‹N°›</a:t>
            </a:fld>
            <a:endParaRPr lang="en-US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8369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cteur droit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 rtlCol="0">
            <a:normAutofit/>
          </a:bodyPr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 rtlCol="0">
            <a:normAutofit/>
          </a:bodyPr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46CE7D5-CF57-46EF-B807-FDD0502418D4}" type="datetimeFigureOut">
              <a:rPr lang="en-US" smtClean="0"/>
              <a:t>10/28/2022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3795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295400" y="2530739"/>
            <a:ext cx="4718304" cy="476250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295400" y="3116261"/>
            <a:ext cx="4718304" cy="2632605"/>
          </a:xfrm>
        </p:spPr>
        <p:txBody>
          <a:bodyPr rtlCol="0" anchor="t">
            <a:normAutofit/>
          </a:bodyPr>
          <a:lstStyle>
            <a:lvl1pPr>
              <a:buClr>
                <a:schemeClr val="accent3"/>
              </a:buClr>
              <a:defRPr/>
            </a:lvl1pPr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chemeClr val="accent3"/>
              </a:buClr>
              <a:defRPr/>
            </a:lvl4pPr>
            <a:lvl5pPr>
              <a:buClr>
                <a:schemeClr val="accent3"/>
              </a:buClr>
              <a:defRPr/>
            </a:lvl5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80671" y="2530739"/>
            <a:ext cx="4718304" cy="476250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>
                <a:solidFill>
                  <a:schemeClr val="accent2">
                    <a:lumMod val="7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80671" y="3116261"/>
            <a:ext cx="4718304" cy="2632605"/>
          </a:xfrm>
        </p:spPr>
        <p:txBody>
          <a:bodyPr rtlCol="0" anchor="t">
            <a:normAutofit/>
          </a:bodyPr>
          <a:lstStyle>
            <a:lvl1pPr>
              <a:buClr>
                <a:schemeClr val="accent2"/>
              </a:buClr>
              <a:defRPr/>
            </a:lvl1pPr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46CE7D5-CF57-46EF-B807-FDD0502418D4}" type="datetimeFigureOut">
              <a:rPr lang="en-US" smtClean="0"/>
              <a:t>10/28/2022</a:t>
            </a:fld>
            <a:endParaRPr lang="en-US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en-US" smtClean="0"/>
              <a:t>‹N°›</a:t>
            </a:fld>
            <a:endParaRPr lang="en-US" dirty="0"/>
          </a:p>
        </p:txBody>
      </p:sp>
      <p:cxnSp>
        <p:nvCxnSpPr>
          <p:cNvPr id="18" name="Connecteur droit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9178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contenu + 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cteur droit 7"/>
          <p:cNvCxnSpPr>
            <a:cxnSpLocks/>
          </p:cNvCxnSpPr>
          <p:nvPr/>
        </p:nvCxnSpPr>
        <p:spPr>
          <a:xfrm>
            <a:off x="1295401" y="2421466"/>
            <a:ext cx="358038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295403" y="982132"/>
            <a:ext cx="3580380" cy="1303867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r>
              <a:rPr lang="fr" noProof="0"/>
              <a:t>Cliquez pour modifier le titre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46CE7D5-CF57-46EF-B807-FDD0502418D4}" type="datetimeFigureOut">
              <a:rPr lang="en-US" noProof="0" smtClean="0"/>
              <a:t>10/28/2022</a:t>
            </a:fld>
            <a:endParaRPr lang="en-US" noProof="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en-US" noProof="0" smtClean="0"/>
              <a:t>‹N°›</a:t>
            </a:fld>
            <a:endParaRPr lang="en-US" noProof="0" dirty="0"/>
          </a:p>
        </p:txBody>
      </p:sp>
      <p:sp>
        <p:nvSpPr>
          <p:cNvPr id="10" name="Parallélogramme 9">
            <a:extLst>
              <a:ext uri="{FF2B5EF4-FFF2-40B4-BE49-F238E27FC236}">
                <a16:creationId xmlns:a16="http://schemas.microsoft.com/office/drawing/2014/main" xmlns="" id="{9C4F6082-2952-43DC-9B9C-74C88B262CE9}"/>
              </a:ext>
            </a:extLst>
          </p:cNvPr>
          <p:cNvSpPr/>
          <p:nvPr userDrawn="1"/>
        </p:nvSpPr>
        <p:spPr>
          <a:xfrm rot="5400000">
            <a:off x="6801681" y="1316976"/>
            <a:ext cx="4037344" cy="5975391"/>
          </a:xfrm>
          <a:prstGeom prst="parallelogram">
            <a:avLst>
              <a:gd name="adj" fmla="val 12608"/>
            </a:avLst>
          </a:prstGeom>
          <a:gradFill>
            <a:gsLst>
              <a:gs pos="1100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  <a:effectLst>
            <a:softEdge rad="317500"/>
          </a:effectLst>
          <a:scene3d>
            <a:camera prst="orthographicFront"/>
            <a:lightRig rig="threePt" dir="t">
              <a:rot lat="0" lon="0" rev="204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/>
          </a:p>
        </p:txBody>
      </p:sp>
      <p:sp>
        <p:nvSpPr>
          <p:cNvPr id="11" name="Rectangle : Coins arrondis 10">
            <a:extLst>
              <a:ext uri="{FF2B5EF4-FFF2-40B4-BE49-F238E27FC236}">
                <a16:creationId xmlns:a16="http://schemas.microsoft.com/office/drawing/2014/main" xmlns="" id="{67618976-780E-4131-85CD-66F013F5ACDE}"/>
              </a:ext>
            </a:extLst>
          </p:cNvPr>
          <p:cNvSpPr/>
          <p:nvPr userDrawn="1"/>
        </p:nvSpPr>
        <p:spPr>
          <a:xfrm rot="-120000">
            <a:off x="5372113" y="869568"/>
            <a:ext cx="5703690" cy="4902845"/>
          </a:xfrm>
          <a:prstGeom prst="roundRect">
            <a:avLst>
              <a:gd name="adj" fmla="val 454"/>
            </a:avLst>
          </a:prstGeom>
          <a:blipFill dpi="0"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4000"/>
                      </a14:imgEffect>
                      <a14:imgEffect>
                        <a14:saturation sat="0"/>
                      </a14:imgEffect>
                      <a14:imgEffect>
                        <a14:brightnessContrast bright="4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20000" sy="20000" flip="xy" algn="tl"/>
          </a:blipFill>
          <a:ln>
            <a:noFill/>
          </a:ln>
          <a:effectLst/>
          <a:scene3d>
            <a:camera prst="orthographicFront"/>
            <a:lightRig rig="threePt" dir="t">
              <a:rot lat="0" lon="0" rev="20400000"/>
            </a:lightRig>
          </a:scene3d>
          <a:sp3d>
            <a:bevelT w="12700" h="63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/>
          </a:p>
        </p:txBody>
      </p:sp>
      <p:sp>
        <p:nvSpPr>
          <p:cNvPr id="12" name="Espace réservé d’image 17">
            <a:extLst>
              <a:ext uri="{FF2B5EF4-FFF2-40B4-BE49-F238E27FC236}">
                <a16:creationId xmlns:a16="http://schemas.microsoft.com/office/drawing/2014/main" xmlns="" id="{01E4A9BC-C863-435A-8A18-508AE86DCBB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-120000" flipH="1">
            <a:off x="5584031" y="1077708"/>
            <a:ext cx="5279854" cy="4486565"/>
          </a:xfrm>
          <a:solidFill>
            <a:schemeClr val="tx1">
              <a:lumMod val="75000"/>
              <a:lumOff val="25000"/>
            </a:schemeClr>
          </a:solidFill>
          <a:effectLst>
            <a:innerShdw blurRad="25400" dist="12700" dir="13500000">
              <a:prstClr val="black">
                <a:alpha val="16000"/>
              </a:prstClr>
            </a:innerShdw>
          </a:effectLst>
        </p:spPr>
        <p:txBody>
          <a:bodyPr lIns="180000" rIns="180000" rtlCol="0" anchor="ctr"/>
          <a:lstStyle>
            <a:lvl1pPr marL="0" indent="0" algn="ctr">
              <a:buNone/>
              <a:defRPr sz="1600" i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rtl="0"/>
            <a:r>
              <a:rPr lang="fr" noProof="0"/>
              <a:t>Insérez ou glissez-déplacez votre photo</a:t>
            </a:r>
          </a:p>
        </p:txBody>
      </p: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xmlns="" id="{809CB875-1032-49F8-A74E-BD0BA58F97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5400" y="2556934"/>
            <a:ext cx="3580381" cy="331205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7824540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 contenu + 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cteur droit 7"/>
          <p:cNvCxnSpPr>
            <a:cxnSpLocks/>
          </p:cNvCxnSpPr>
          <p:nvPr/>
        </p:nvCxnSpPr>
        <p:spPr>
          <a:xfrm>
            <a:off x="1295401" y="2421466"/>
            <a:ext cx="358038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295403" y="982132"/>
            <a:ext cx="3580380" cy="1303867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r>
              <a:rPr lang="fr"/>
              <a:t>Cliquez pour modifier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288294" y="895547"/>
            <a:ext cx="5871325" cy="4974901"/>
          </a:xfrm>
        </p:spPr>
        <p:txBody>
          <a:bodyPr rtlCol="0">
            <a:normAutofit/>
          </a:bodyPr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46CE7D5-CF57-46EF-B807-FDD0502418D4}" type="datetimeFigureOut">
              <a:rPr lang="en-US" smtClean="0"/>
              <a:t>10/28/2022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xmlns="" id="{379CAAA9-085A-46C2-A892-DE935E67C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5400" y="2556934"/>
            <a:ext cx="3580381" cy="331205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8871136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46CE7D5-CF57-46EF-B807-FDD0502418D4}" type="datetimeFigureOut">
              <a:rPr lang="en-US" smtClean="0"/>
              <a:t>10/28/2022</a:t>
            </a:fld>
            <a:endParaRPr lang="en-US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en-US" smtClean="0"/>
              <a:t>‹N°›</a:t>
            </a:fld>
            <a:endParaRPr lang="en-US" dirty="0"/>
          </a:p>
        </p:txBody>
      </p:sp>
      <p:cxnSp>
        <p:nvCxnSpPr>
          <p:cNvPr id="14" name="Connecteur droit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84545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46CE7D5-CF57-46EF-B807-FDD0502418D4}" type="datetimeFigureOut">
              <a:rPr lang="en-US" smtClean="0"/>
              <a:t>10/28/2022</a:t>
            </a:fld>
            <a:endParaRPr lang="en-US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en-US" smtClean="0"/>
              <a:t>‹N°›</a:t>
            </a:fld>
            <a:endParaRPr lang="en-US" dirty="0"/>
          </a:p>
        </p:txBody>
      </p:sp>
      <p:cxnSp>
        <p:nvCxnSpPr>
          <p:cNvPr id="14" name="Connecteur droit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xmlns="" id="{BC76C9E3-4E12-46D0-A58B-4B548A8EE6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88805" y="2442732"/>
            <a:ext cx="8814391" cy="3139547"/>
          </a:xfrm>
        </p:spPr>
        <p:txBody>
          <a:bodyPr rtlCol="0" anchor="ctr"/>
          <a:lstStyle>
            <a:lvl1pPr marL="0" indent="0" algn="ctr">
              <a:buNone/>
              <a:defRPr sz="6000"/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7616092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46CE7D5-CF57-46EF-B807-FDD0502418D4}" type="datetimeFigureOut">
              <a:rPr lang="en-US" smtClean="0"/>
              <a:t>10/28/2022</a:t>
            </a:fld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0EA680-D336-4FF7-8B7A-9848BB0A1C32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929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/>
          <a:p>
            <a:pPr rtl="0"/>
            <a:r>
              <a:rPr lang="fr"/>
              <a:t>Modifiez le style du titre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 rtl="0"/>
            <a:r>
              <a:rPr lang="fr"/>
              <a:t>Modifiez les styles du texte du masque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  <a:endParaRPr lang="en-US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846CE7D5-CF57-46EF-B807-FDD0502418D4}" type="datetimeFigureOut">
              <a:rPr lang="en-US" smtClean="0"/>
              <a:t>10/28/2022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330EA680-D336-4FF7-8B7A-9848BB0A1C32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425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9" r:id="rId1"/>
    <p:sldLayoutId id="2147484170" r:id="rId2"/>
    <p:sldLayoutId id="2147484186" r:id="rId3"/>
    <p:sldLayoutId id="2147484187" r:id="rId4"/>
    <p:sldLayoutId id="2147484188" r:id="rId5"/>
    <p:sldLayoutId id="2147484189" r:id="rId6"/>
    <p:sldLayoutId id="2147484190" r:id="rId7"/>
    <p:sldLayoutId id="2147484191" r:id="rId8"/>
    <p:sldLayoutId id="2147484192" r:id="rId9"/>
    <p:sldLayoutId id="2147484171" r:id="rId10"/>
    <p:sldLayoutId id="2147484172" r:id="rId11"/>
    <p:sldLayoutId id="2147484173" r:id="rId12"/>
    <p:sldLayoutId id="2147484193" r:id="rId13"/>
    <p:sldLayoutId id="2147484194" r:id="rId14"/>
    <p:sldLayoutId id="2147484174" r:id="rId15"/>
    <p:sldLayoutId id="2147484195" r:id="rId16"/>
    <p:sldLayoutId id="214748417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2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1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3AD97854-04B3-6035-D3E4-C21CA01903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MCD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xmlns="" id="{511E46B4-53A4-1FF1-1706-C5915EC23A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sz="4000">
                <a:solidFill>
                  <a:srgbClr val="FF0000"/>
                </a:solidFill>
              </a:rPr>
              <a:t>Révision</a:t>
            </a:r>
            <a:endParaRPr lang="fr-FR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324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AD736BEC-EC70-E7EE-822C-7E3FF74AC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76B5C0FD-72D0-BB3C-3FC3-71F4415E1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3200" dirty="0"/>
              <a:t>Association binaire</a:t>
            </a:r>
          </a:p>
          <a:p>
            <a:r>
              <a:rPr lang="fr-FR" sz="3200" dirty="0"/>
              <a:t>Association porteuse</a:t>
            </a:r>
          </a:p>
          <a:p>
            <a:r>
              <a:rPr lang="fr-FR" sz="3200" dirty="0"/>
              <a:t>Association </a:t>
            </a:r>
            <a:r>
              <a:rPr lang="fr-FR" sz="3200" dirty="0" smtClean="0"/>
              <a:t>ternaires</a:t>
            </a:r>
          </a:p>
          <a:p>
            <a:r>
              <a:rPr lang="fr-FR" sz="3200" dirty="0" smtClean="0"/>
              <a:t>Normalisation du MCD</a:t>
            </a:r>
            <a:endParaRPr lang="fr-FR" sz="3200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09193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0A0C6CB4-7F3E-564A-2BD4-4DED4E1C4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Associations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F9ED6AC7-8EFB-558A-85D5-C441BC2DB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2800" dirty="0"/>
              <a:t>On distingue deux d’associations 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3200" dirty="0">
                <a:solidFill>
                  <a:srgbClr val="FF0000"/>
                </a:solidFill>
              </a:rPr>
              <a:t>Association binaire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3200" dirty="0">
                <a:solidFill>
                  <a:srgbClr val="FF0000"/>
                </a:solidFill>
              </a:rPr>
              <a:t>Association ternaire</a:t>
            </a:r>
          </a:p>
        </p:txBody>
      </p:sp>
    </p:spTree>
    <p:extLst>
      <p:ext uri="{BB962C8B-B14F-4D97-AF65-F5344CB8AC3E}">
        <p14:creationId xmlns:p14="http://schemas.microsoft.com/office/powerpoint/2010/main" val="3728410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0A0C6CB4-7F3E-564A-2BD4-4DED4E1C4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Associations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F9ED6AC7-8EFB-558A-85D5-C441BC2DB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2800" dirty="0"/>
              <a:t>On distingue deux d’associations 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3200" dirty="0">
                <a:solidFill>
                  <a:srgbClr val="FF0000"/>
                </a:solidFill>
              </a:rPr>
              <a:t>Association binaire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3200" dirty="0">
                <a:solidFill>
                  <a:schemeClr val="bg1">
                    <a:lumMod val="85000"/>
                  </a:schemeClr>
                </a:solidFill>
              </a:rPr>
              <a:t>Association ternaire</a:t>
            </a:r>
          </a:p>
        </p:txBody>
      </p:sp>
    </p:spTree>
    <p:extLst>
      <p:ext uri="{BB962C8B-B14F-4D97-AF65-F5344CB8AC3E}">
        <p14:creationId xmlns:p14="http://schemas.microsoft.com/office/powerpoint/2010/main" val="4218241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5A0E4624-2FD3-C92B-F14E-AD0C5F2DA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Association binaire1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xmlns="" id="{75044A8C-3310-A6AB-1D0D-458429CE2F07}"/>
              </a:ext>
            </a:extLst>
          </p:cNvPr>
          <p:cNvGrpSpPr/>
          <p:nvPr/>
        </p:nvGrpSpPr>
        <p:grpSpPr>
          <a:xfrm>
            <a:off x="1794076" y="2569577"/>
            <a:ext cx="1747777" cy="2141317"/>
            <a:chOff x="1794076" y="2569577"/>
            <a:chExt cx="1747777" cy="214131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xmlns="" id="{647B25C2-5855-5531-5687-A9F075CA300D}"/>
                </a:ext>
              </a:extLst>
            </p:cNvPr>
            <p:cNvSpPr/>
            <p:nvPr/>
          </p:nvSpPr>
          <p:spPr>
            <a:xfrm>
              <a:off x="1794076" y="2569577"/>
              <a:ext cx="1736202" cy="2141317"/>
            </a:xfrm>
            <a:prstGeom prst="rect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dk1"/>
                </a:solidFill>
              </a:endParaRPr>
            </a:p>
          </p:txBody>
        </p:sp>
        <p:cxnSp>
          <p:nvCxnSpPr>
            <p:cNvPr id="6" name="Connecteur droit 5">
              <a:extLst>
                <a:ext uri="{FF2B5EF4-FFF2-40B4-BE49-F238E27FC236}">
                  <a16:creationId xmlns:a16="http://schemas.microsoft.com/office/drawing/2014/main" xmlns="" id="{8BC69D29-3D8C-23C9-363C-B586FB4F540E}"/>
                </a:ext>
              </a:extLst>
            </p:cNvPr>
            <p:cNvCxnSpPr>
              <a:cxnSpLocks/>
            </p:cNvCxnSpPr>
            <p:nvPr/>
          </p:nvCxnSpPr>
          <p:spPr>
            <a:xfrm>
              <a:off x="1794076" y="3275635"/>
              <a:ext cx="1747777" cy="0"/>
            </a:xfrm>
            <a:prstGeom prst="lin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xmlns="" id="{0F864A51-D3D5-8750-C913-9DAB8F101D32}"/>
              </a:ext>
            </a:extLst>
          </p:cNvPr>
          <p:cNvGrpSpPr/>
          <p:nvPr/>
        </p:nvGrpSpPr>
        <p:grpSpPr>
          <a:xfrm>
            <a:off x="7868860" y="2534856"/>
            <a:ext cx="1747777" cy="2141317"/>
            <a:chOff x="1794076" y="2731625"/>
            <a:chExt cx="1747777" cy="214131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0852F476-7191-ADC4-A0B2-56C51B495222}"/>
                </a:ext>
              </a:extLst>
            </p:cNvPr>
            <p:cNvSpPr/>
            <p:nvPr/>
          </p:nvSpPr>
          <p:spPr>
            <a:xfrm>
              <a:off x="1794076" y="2731625"/>
              <a:ext cx="1736202" cy="2141317"/>
            </a:xfrm>
            <a:prstGeom prst="rect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dk1"/>
                </a:solidFill>
              </a:endParaRPr>
            </a:p>
          </p:txBody>
        </p: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xmlns="" id="{99B70C6D-BD30-70D8-097B-A1C9CCE46C94}"/>
                </a:ext>
              </a:extLst>
            </p:cNvPr>
            <p:cNvCxnSpPr>
              <a:cxnSpLocks/>
            </p:cNvCxnSpPr>
            <p:nvPr/>
          </p:nvCxnSpPr>
          <p:spPr>
            <a:xfrm>
              <a:off x="1794076" y="3275635"/>
              <a:ext cx="1747777" cy="0"/>
            </a:xfrm>
            <a:prstGeom prst="lin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xmlns="" id="{5D44E411-2DA1-7A68-F541-0B2037228057}"/>
              </a:ext>
            </a:extLst>
          </p:cNvPr>
          <p:cNvGrpSpPr/>
          <p:nvPr/>
        </p:nvGrpSpPr>
        <p:grpSpPr>
          <a:xfrm>
            <a:off x="4819892" y="3183038"/>
            <a:ext cx="1736202" cy="902825"/>
            <a:chOff x="4819892" y="3183038"/>
            <a:chExt cx="1736202" cy="902825"/>
          </a:xfrm>
        </p:grpSpPr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xmlns="" id="{A7398ECF-8838-AE42-983C-6829E84F8357}"/>
                </a:ext>
              </a:extLst>
            </p:cNvPr>
            <p:cNvSpPr/>
            <p:nvPr/>
          </p:nvSpPr>
          <p:spPr>
            <a:xfrm>
              <a:off x="4819892" y="3183038"/>
              <a:ext cx="1736202" cy="902825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xmlns="" id="{0F3E8A97-E60A-E362-B4C4-03554C97F174}"/>
                </a:ext>
              </a:extLst>
            </p:cNvPr>
            <p:cNvCxnSpPr>
              <a:stCxn id="13" idx="2"/>
              <a:endCxn id="13" idx="6"/>
            </p:cNvCxnSpPr>
            <p:nvPr/>
          </p:nvCxnSpPr>
          <p:spPr>
            <a:xfrm>
              <a:off x="4819892" y="3634451"/>
              <a:ext cx="1736202" cy="0"/>
            </a:xfrm>
            <a:prstGeom prst="lin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</p:grp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xmlns="" id="{9CE7B6FF-7983-E4B7-0F68-5C27AA850EB0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3530278" y="3634451"/>
            <a:ext cx="1289614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xmlns="" id="{262EE447-4D4D-F52B-9603-8517126916B4}"/>
              </a:ext>
            </a:extLst>
          </p:cNvPr>
          <p:cNvCxnSpPr>
            <a:cxnSpLocks/>
          </p:cNvCxnSpPr>
          <p:nvPr/>
        </p:nvCxnSpPr>
        <p:spPr>
          <a:xfrm>
            <a:off x="6556094" y="3634451"/>
            <a:ext cx="1289614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xmlns="" id="{231FFD4B-92C0-861A-8027-25CC698D806F}"/>
              </a:ext>
            </a:extLst>
          </p:cNvPr>
          <p:cNvSpPr txBox="1"/>
          <p:nvPr/>
        </p:nvSpPr>
        <p:spPr>
          <a:xfrm>
            <a:off x="5236581" y="3223549"/>
            <a:ext cx="9259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Ecrire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xmlns="" id="{DBC3C84F-C0B8-BFA8-541F-F5D08E4636BA}"/>
              </a:ext>
            </a:extLst>
          </p:cNvPr>
          <p:cNvSpPr txBox="1"/>
          <p:nvPr/>
        </p:nvSpPr>
        <p:spPr>
          <a:xfrm>
            <a:off x="2159642" y="2798931"/>
            <a:ext cx="1111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Auteur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xmlns="" id="{78032BD5-F5A0-A95F-0A54-180F2A63667A}"/>
              </a:ext>
            </a:extLst>
          </p:cNvPr>
          <p:cNvSpPr txBox="1"/>
          <p:nvPr/>
        </p:nvSpPr>
        <p:spPr>
          <a:xfrm>
            <a:off x="8233462" y="2645343"/>
            <a:ext cx="9259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Livre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xmlns="" id="{7E5A4179-3193-ACD6-72F8-5DEEEE6DD84E}"/>
              </a:ext>
            </a:extLst>
          </p:cNvPr>
          <p:cNvSpPr txBox="1"/>
          <p:nvPr/>
        </p:nvSpPr>
        <p:spPr>
          <a:xfrm>
            <a:off x="7148331" y="3234340"/>
            <a:ext cx="5806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</a:rPr>
              <a:t>1,1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xmlns="" id="{955A496D-D308-28B5-1D74-EA33668427EF}"/>
              </a:ext>
            </a:extLst>
          </p:cNvPr>
          <p:cNvSpPr txBox="1"/>
          <p:nvPr/>
        </p:nvSpPr>
        <p:spPr>
          <a:xfrm>
            <a:off x="3670149" y="3226050"/>
            <a:ext cx="5806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</a:rPr>
              <a:t>1,n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xmlns="" id="{7D74697F-90C8-3B47-9E42-4BFF6D4D9ABD}"/>
              </a:ext>
            </a:extLst>
          </p:cNvPr>
          <p:cNvSpPr txBox="1"/>
          <p:nvPr/>
        </p:nvSpPr>
        <p:spPr>
          <a:xfrm>
            <a:off x="1932972" y="3393100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 dirty="0" err="1">
                <a:solidFill>
                  <a:srgbClr val="FF0000"/>
                </a:solidFill>
              </a:rPr>
              <a:t>Id_Aut</a:t>
            </a:r>
            <a:endParaRPr lang="fr-FR" sz="2000" b="1" u="sng" dirty="0">
              <a:solidFill>
                <a:srgbClr val="FF0000"/>
              </a:solidFill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xmlns="" id="{A9DBDB48-29F2-E449-0491-4C95D77312F4}"/>
              </a:ext>
            </a:extLst>
          </p:cNvPr>
          <p:cNvSpPr txBox="1"/>
          <p:nvPr/>
        </p:nvSpPr>
        <p:spPr>
          <a:xfrm>
            <a:off x="1958047" y="3788568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Nom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xmlns="" id="{58C0F8D8-8B3F-552A-8416-67C951F01AA7}"/>
              </a:ext>
            </a:extLst>
          </p:cNvPr>
          <p:cNvSpPr txBox="1"/>
          <p:nvPr/>
        </p:nvSpPr>
        <p:spPr>
          <a:xfrm>
            <a:off x="8127361" y="3290853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 dirty="0" err="1">
                <a:solidFill>
                  <a:srgbClr val="FF0000"/>
                </a:solidFill>
              </a:rPr>
              <a:t>Id_Liv</a:t>
            </a:r>
            <a:endParaRPr lang="fr-FR" sz="2000" b="1" u="sng" dirty="0">
              <a:solidFill>
                <a:srgbClr val="FF0000"/>
              </a:solidFill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xmlns="" id="{5D00A7FE-DAE5-0F4D-2E36-E1E95243914A}"/>
              </a:ext>
            </a:extLst>
          </p:cNvPr>
          <p:cNvSpPr txBox="1"/>
          <p:nvPr/>
        </p:nvSpPr>
        <p:spPr>
          <a:xfrm>
            <a:off x="8152436" y="3686321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Titre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xmlns="" id="{D1ABC754-9F28-B823-DC2E-F8881EE18A49}"/>
              </a:ext>
            </a:extLst>
          </p:cNvPr>
          <p:cNvSpPr txBox="1"/>
          <p:nvPr/>
        </p:nvSpPr>
        <p:spPr>
          <a:xfrm>
            <a:off x="1958047" y="4188678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Etc.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xmlns="" id="{19A9CE90-F24E-ED8D-D95E-22B1FFF0E270}"/>
              </a:ext>
            </a:extLst>
          </p:cNvPr>
          <p:cNvSpPr txBox="1"/>
          <p:nvPr/>
        </p:nvSpPr>
        <p:spPr>
          <a:xfrm>
            <a:off x="8170779" y="4106218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3824703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5A0E4624-2FD3-C92B-F14E-AD0C5F2DA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058" y="463836"/>
            <a:ext cx="9601196" cy="899837"/>
          </a:xfrm>
        </p:spPr>
        <p:txBody>
          <a:bodyPr/>
          <a:lstStyle/>
          <a:p>
            <a:r>
              <a:rPr lang="fr-FR" dirty="0"/>
              <a:t>Occurrences MCD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xmlns="" id="{75044A8C-3310-A6AB-1D0D-458429CE2F07}"/>
              </a:ext>
            </a:extLst>
          </p:cNvPr>
          <p:cNvGrpSpPr/>
          <p:nvPr/>
        </p:nvGrpSpPr>
        <p:grpSpPr>
          <a:xfrm>
            <a:off x="1496022" y="1759143"/>
            <a:ext cx="1736202" cy="1319723"/>
            <a:chOff x="1794076" y="2569577"/>
            <a:chExt cx="1747777" cy="214131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xmlns="" id="{647B25C2-5855-5531-5687-A9F075CA300D}"/>
                </a:ext>
              </a:extLst>
            </p:cNvPr>
            <p:cNvSpPr/>
            <p:nvPr/>
          </p:nvSpPr>
          <p:spPr>
            <a:xfrm>
              <a:off x="1794076" y="2569577"/>
              <a:ext cx="1736202" cy="2141317"/>
            </a:xfrm>
            <a:prstGeom prst="rect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dk1"/>
                </a:solidFill>
              </a:endParaRPr>
            </a:p>
          </p:txBody>
        </p:sp>
        <p:cxnSp>
          <p:nvCxnSpPr>
            <p:cNvPr id="6" name="Connecteur droit 5">
              <a:extLst>
                <a:ext uri="{FF2B5EF4-FFF2-40B4-BE49-F238E27FC236}">
                  <a16:creationId xmlns:a16="http://schemas.microsoft.com/office/drawing/2014/main" xmlns="" id="{8BC69D29-3D8C-23C9-363C-B586FB4F540E}"/>
                </a:ext>
              </a:extLst>
            </p:cNvPr>
            <p:cNvCxnSpPr>
              <a:cxnSpLocks/>
            </p:cNvCxnSpPr>
            <p:nvPr/>
          </p:nvCxnSpPr>
          <p:spPr>
            <a:xfrm>
              <a:off x="1794076" y="3275635"/>
              <a:ext cx="1747777" cy="0"/>
            </a:xfrm>
            <a:prstGeom prst="lin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xmlns="" id="{5D44E411-2DA1-7A68-F541-0B2037228057}"/>
              </a:ext>
            </a:extLst>
          </p:cNvPr>
          <p:cNvGrpSpPr/>
          <p:nvPr/>
        </p:nvGrpSpPr>
        <p:grpSpPr>
          <a:xfrm>
            <a:off x="4605285" y="1832120"/>
            <a:ext cx="1736202" cy="902825"/>
            <a:chOff x="4819892" y="3183038"/>
            <a:chExt cx="1736202" cy="902825"/>
          </a:xfrm>
        </p:grpSpPr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xmlns="" id="{A7398ECF-8838-AE42-983C-6829E84F8357}"/>
                </a:ext>
              </a:extLst>
            </p:cNvPr>
            <p:cNvSpPr/>
            <p:nvPr/>
          </p:nvSpPr>
          <p:spPr>
            <a:xfrm>
              <a:off x="4819892" y="3183038"/>
              <a:ext cx="1736202" cy="902825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xmlns="" id="{0F3E8A97-E60A-E362-B4C4-03554C97F174}"/>
                </a:ext>
              </a:extLst>
            </p:cNvPr>
            <p:cNvCxnSpPr>
              <a:stCxn id="13" idx="2"/>
              <a:endCxn id="13" idx="6"/>
            </p:cNvCxnSpPr>
            <p:nvPr/>
          </p:nvCxnSpPr>
          <p:spPr>
            <a:xfrm>
              <a:off x="4819892" y="3634451"/>
              <a:ext cx="1736202" cy="0"/>
            </a:xfrm>
            <a:prstGeom prst="lin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</p:grp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xmlns="" id="{9CE7B6FF-7983-E4B7-0F68-5C27AA850EB0}"/>
              </a:ext>
            </a:extLst>
          </p:cNvPr>
          <p:cNvCxnSpPr>
            <a:cxnSpLocks/>
          </p:cNvCxnSpPr>
          <p:nvPr/>
        </p:nvCxnSpPr>
        <p:spPr>
          <a:xfrm>
            <a:off x="3232224" y="2283532"/>
            <a:ext cx="1373061" cy="21262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xmlns="" id="{231FFD4B-92C0-861A-8027-25CC698D806F}"/>
              </a:ext>
            </a:extLst>
          </p:cNvPr>
          <p:cNvSpPr txBox="1"/>
          <p:nvPr/>
        </p:nvSpPr>
        <p:spPr>
          <a:xfrm>
            <a:off x="5062073" y="1904684"/>
            <a:ext cx="9259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Ecrire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xmlns="" id="{DBC3C84F-C0B8-BFA8-541F-F5D08E4636BA}"/>
              </a:ext>
            </a:extLst>
          </p:cNvPr>
          <p:cNvSpPr txBox="1"/>
          <p:nvPr/>
        </p:nvSpPr>
        <p:spPr>
          <a:xfrm>
            <a:off x="1823654" y="1797370"/>
            <a:ext cx="1111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A1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xmlns="" id="{7D74697F-90C8-3B47-9E42-4BFF6D4D9ABD}"/>
              </a:ext>
            </a:extLst>
          </p:cNvPr>
          <p:cNvSpPr txBox="1"/>
          <p:nvPr/>
        </p:nvSpPr>
        <p:spPr>
          <a:xfrm>
            <a:off x="1598390" y="2208552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 dirty="0">
                <a:solidFill>
                  <a:srgbClr val="FF0000"/>
                </a:solidFill>
              </a:rPr>
              <a:t>A001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xmlns="" id="{A9DBDB48-29F2-E449-0491-4C95D77312F4}"/>
              </a:ext>
            </a:extLst>
          </p:cNvPr>
          <p:cNvSpPr txBox="1"/>
          <p:nvPr/>
        </p:nvSpPr>
        <p:spPr>
          <a:xfrm>
            <a:off x="1564173" y="2643709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Benjelloun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xmlns="" id="{7F7B1004-E6A3-5B3F-82B1-22101B805358}"/>
              </a:ext>
            </a:extLst>
          </p:cNvPr>
          <p:cNvGrpSpPr/>
          <p:nvPr/>
        </p:nvGrpSpPr>
        <p:grpSpPr>
          <a:xfrm>
            <a:off x="7713555" y="1643180"/>
            <a:ext cx="1736202" cy="1319723"/>
            <a:chOff x="1794076" y="2569577"/>
            <a:chExt cx="1747777" cy="214131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0D1D7429-16CF-1343-5ED7-E94F745FC889}"/>
                </a:ext>
              </a:extLst>
            </p:cNvPr>
            <p:cNvSpPr/>
            <p:nvPr/>
          </p:nvSpPr>
          <p:spPr>
            <a:xfrm>
              <a:off x="1794076" y="2569577"/>
              <a:ext cx="1736202" cy="2141317"/>
            </a:xfrm>
            <a:prstGeom prst="rect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dk1"/>
                </a:solidFill>
              </a:endParaRPr>
            </a:p>
          </p:txBody>
        </p:sp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xmlns="" id="{A3DC8846-6B55-1EA4-302E-4E5C5B463466}"/>
                </a:ext>
              </a:extLst>
            </p:cNvPr>
            <p:cNvCxnSpPr>
              <a:cxnSpLocks/>
            </p:cNvCxnSpPr>
            <p:nvPr/>
          </p:nvCxnSpPr>
          <p:spPr>
            <a:xfrm>
              <a:off x="1794076" y="3275635"/>
              <a:ext cx="1747777" cy="0"/>
            </a:xfrm>
            <a:prstGeom prst="lin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</p:grpSp>
      <p:sp>
        <p:nvSpPr>
          <p:cNvPr id="18" name="ZoneTexte 17">
            <a:extLst>
              <a:ext uri="{FF2B5EF4-FFF2-40B4-BE49-F238E27FC236}">
                <a16:creationId xmlns:a16="http://schemas.microsoft.com/office/drawing/2014/main" xmlns="" id="{434296E3-53CD-8798-38B2-E392148F76DC}"/>
              </a:ext>
            </a:extLst>
          </p:cNvPr>
          <p:cNvSpPr txBox="1"/>
          <p:nvPr/>
        </p:nvSpPr>
        <p:spPr>
          <a:xfrm>
            <a:off x="8041187" y="1681407"/>
            <a:ext cx="1111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L1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xmlns="" id="{0853C640-CC26-AC4C-85F1-7112ABDC8DE4}"/>
              </a:ext>
            </a:extLst>
          </p:cNvPr>
          <p:cNvSpPr txBox="1"/>
          <p:nvPr/>
        </p:nvSpPr>
        <p:spPr>
          <a:xfrm>
            <a:off x="8020289" y="2194296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 dirty="0">
                <a:solidFill>
                  <a:srgbClr val="FF0000"/>
                </a:solidFill>
              </a:rPr>
              <a:t>L001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xmlns="" id="{D5461913-DCDB-F157-8571-9BAEAF5991ED}"/>
              </a:ext>
            </a:extLst>
          </p:cNvPr>
          <p:cNvSpPr txBox="1"/>
          <p:nvPr/>
        </p:nvSpPr>
        <p:spPr>
          <a:xfrm>
            <a:off x="7992964" y="2529380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Moha Fou  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xmlns="" id="{D658D1E0-C3E8-FF7E-28FA-241AB68DEF14}"/>
              </a:ext>
            </a:extLst>
          </p:cNvPr>
          <p:cNvGrpSpPr/>
          <p:nvPr/>
        </p:nvGrpSpPr>
        <p:grpSpPr>
          <a:xfrm>
            <a:off x="1544245" y="4715254"/>
            <a:ext cx="1736202" cy="1319723"/>
            <a:chOff x="1794076" y="2569577"/>
            <a:chExt cx="1747777" cy="2141317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xmlns="" id="{C280274A-5833-4467-E99E-05A89B10E349}"/>
                </a:ext>
              </a:extLst>
            </p:cNvPr>
            <p:cNvSpPr/>
            <p:nvPr/>
          </p:nvSpPr>
          <p:spPr>
            <a:xfrm>
              <a:off x="1794076" y="2569577"/>
              <a:ext cx="1736202" cy="2141317"/>
            </a:xfrm>
            <a:prstGeom prst="rect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dk1"/>
                </a:solidFill>
              </a:endParaRPr>
            </a:p>
          </p:txBody>
        </p:sp>
        <p:cxnSp>
          <p:nvCxnSpPr>
            <p:cNvPr id="37" name="Connecteur droit 36">
              <a:extLst>
                <a:ext uri="{FF2B5EF4-FFF2-40B4-BE49-F238E27FC236}">
                  <a16:creationId xmlns:a16="http://schemas.microsoft.com/office/drawing/2014/main" xmlns="" id="{B78930C4-1DDB-0953-7DCE-2900C150F5B0}"/>
                </a:ext>
              </a:extLst>
            </p:cNvPr>
            <p:cNvCxnSpPr>
              <a:cxnSpLocks/>
            </p:cNvCxnSpPr>
            <p:nvPr/>
          </p:nvCxnSpPr>
          <p:spPr>
            <a:xfrm>
              <a:off x="1794076" y="3275635"/>
              <a:ext cx="1747777" cy="0"/>
            </a:xfrm>
            <a:prstGeom prst="lin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</p:grpSp>
      <p:sp>
        <p:nvSpPr>
          <p:cNvPr id="38" name="ZoneTexte 37">
            <a:extLst>
              <a:ext uri="{FF2B5EF4-FFF2-40B4-BE49-F238E27FC236}">
                <a16:creationId xmlns:a16="http://schemas.microsoft.com/office/drawing/2014/main" xmlns="" id="{E0BB7A73-F752-DE4A-D77F-E39D85E63DD2}"/>
              </a:ext>
            </a:extLst>
          </p:cNvPr>
          <p:cNvSpPr txBox="1"/>
          <p:nvPr/>
        </p:nvSpPr>
        <p:spPr>
          <a:xfrm>
            <a:off x="1871877" y="4753481"/>
            <a:ext cx="1111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A2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xmlns="" id="{EFFD9A2C-A465-A9B9-F29E-22922F3F8DB6}"/>
              </a:ext>
            </a:extLst>
          </p:cNvPr>
          <p:cNvSpPr txBox="1"/>
          <p:nvPr/>
        </p:nvSpPr>
        <p:spPr>
          <a:xfrm>
            <a:off x="1639456" y="5222715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 dirty="0">
                <a:solidFill>
                  <a:srgbClr val="FF0000"/>
                </a:solidFill>
              </a:rPr>
              <a:t>A002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xmlns="" id="{23EBBFAE-95CC-CB15-66C4-AB8CBFD8A19F}"/>
              </a:ext>
            </a:extLst>
          </p:cNvPr>
          <p:cNvSpPr txBox="1"/>
          <p:nvPr/>
        </p:nvSpPr>
        <p:spPr>
          <a:xfrm>
            <a:off x="1629656" y="5554956"/>
            <a:ext cx="181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Ibn </a:t>
            </a:r>
            <a:r>
              <a:rPr lang="fr-FR" sz="2000" dirty="0" err="1">
                <a:solidFill>
                  <a:srgbClr val="FF0000"/>
                </a:solidFill>
              </a:rPr>
              <a:t>khaldoun</a:t>
            </a:r>
            <a:endParaRPr lang="fr-FR" sz="2000" dirty="0">
              <a:solidFill>
                <a:srgbClr val="FF0000"/>
              </a:solidFill>
            </a:endParaRPr>
          </a:p>
        </p:txBody>
      </p: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xmlns="" id="{AAFE928E-883F-E8DC-FE05-3CDE0BE392C3}"/>
              </a:ext>
            </a:extLst>
          </p:cNvPr>
          <p:cNvCxnSpPr>
            <a:cxnSpLocks/>
          </p:cNvCxnSpPr>
          <p:nvPr/>
        </p:nvCxnSpPr>
        <p:spPr>
          <a:xfrm>
            <a:off x="6340845" y="2273604"/>
            <a:ext cx="1373061" cy="21262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2" name="Groupe 41">
            <a:extLst>
              <a:ext uri="{FF2B5EF4-FFF2-40B4-BE49-F238E27FC236}">
                <a16:creationId xmlns:a16="http://schemas.microsoft.com/office/drawing/2014/main" xmlns="" id="{FD0D82D4-930C-C986-DDA4-F68C178FA0DF}"/>
              </a:ext>
            </a:extLst>
          </p:cNvPr>
          <p:cNvGrpSpPr/>
          <p:nvPr/>
        </p:nvGrpSpPr>
        <p:grpSpPr>
          <a:xfrm>
            <a:off x="4604643" y="4792584"/>
            <a:ext cx="1736202" cy="902825"/>
            <a:chOff x="4819892" y="3183038"/>
            <a:chExt cx="1736202" cy="902825"/>
          </a:xfrm>
        </p:grpSpPr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xmlns="" id="{CA216C58-6169-EFD5-FF64-E73617912F73}"/>
                </a:ext>
              </a:extLst>
            </p:cNvPr>
            <p:cNvSpPr/>
            <p:nvPr/>
          </p:nvSpPr>
          <p:spPr>
            <a:xfrm>
              <a:off x="4819892" y="3183038"/>
              <a:ext cx="1736202" cy="902825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44" name="Connecteur droit 43">
              <a:extLst>
                <a:ext uri="{FF2B5EF4-FFF2-40B4-BE49-F238E27FC236}">
                  <a16:creationId xmlns:a16="http://schemas.microsoft.com/office/drawing/2014/main" xmlns="" id="{BEDF9E77-7C78-F120-E6EC-F2930090EA89}"/>
                </a:ext>
              </a:extLst>
            </p:cNvPr>
            <p:cNvCxnSpPr>
              <a:stCxn id="43" idx="2"/>
              <a:endCxn id="43" idx="6"/>
            </p:cNvCxnSpPr>
            <p:nvPr/>
          </p:nvCxnSpPr>
          <p:spPr>
            <a:xfrm>
              <a:off x="4819892" y="3634451"/>
              <a:ext cx="1736202" cy="0"/>
            </a:xfrm>
            <a:prstGeom prst="lin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</p:grpSp>
      <p:sp>
        <p:nvSpPr>
          <p:cNvPr id="45" name="ZoneTexte 44">
            <a:extLst>
              <a:ext uri="{FF2B5EF4-FFF2-40B4-BE49-F238E27FC236}">
                <a16:creationId xmlns:a16="http://schemas.microsoft.com/office/drawing/2014/main" xmlns="" id="{E2BED75C-FD64-AC4E-E2F5-753BDBDC30F3}"/>
              </a:ext>
            </a:extLst>
          </p:cNvPr>
          <p:cNvSpPr txBox="1"/>
          <p:nvPr/>
        </p:nvSpPr>
        <p:spPr>
          <a:xfrm>
            <a:off x="4956824" y="4843886"/>
            <a:ext cx="9259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Ecrire</a:t>
            </a:r>
          </a:p>
        </p:txBody>
      </p:sp>
      <p:grpSp>
        <p:nvGrpSpPr>
          <p:cNvPr id="46" name="Groupe 45">
            <a:extLst>
              <a:ext uri="{FF2B5EF4-FFF2-40B4-BE49-F238E27FC236}">
                <a16:creationId xmlns:a16="http://schemas.microsoft.com/office/drawing/2014/main" xmlns="" id="{DD89CAB6-B69C-9515-D30A-738B880921E8}"/>
              </a:ext>
            </a:extLst>
          </p:cNvPr>
          <p:cNvGrpSpPr/>
          <p:nvPr/>
        </p:nvGrpSpPr>
        <p:grpSpPr>
          <a:xfrm>
            <a:off x="7715483" y="4816573"/>
            <a:ext cx="1736202" cy="1319723"/>
            <a:chOff x="1794076" y="2569577"/>
            <a:chExt cx="1747777" cy="2141317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xmlns="" id="{99C6584B-F2C2-35D4-672F-EFA87D7323EE}"/>
                </a:ext>
              </a:extLst>
            </p:cNvPr>
            <p:cNvSpPr/>
            <p:nvPr/>
          </p:nvSpPr>
          <p:spPr>
            <a:xfrm>
              <a:off x="1794076" y="2569577"/>
              <a:ext cx="1736202" cy="2141317"/>
            </a:xfrm>
            <a:prstGeom prst="rect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dk1"/>
                </a:solidFill>
              </a:endParaRPr>
            </a:p>
          </p:txBody>
        </p:sp>
        <p:cxnSp>
          <p:nvCxnSpPr>
            <p:cNvPr id="48" name="Connecteur droit 47">
              <a:extLst>
                <a:ext uri="{FF2B5EF4-FFF2-40B4-BE49-F238E27FC236}">
                  <a16:creationId xmlns:a16="http://schemas.microsoft.com/office/drawing/2014/main" xmlns="" id="{E76C1705-A511-997D-A61D-24FC00C5CECB}"/>
                </a:ext>
              </a:extLst>
            </p:cNvPr>
            <p:cNvCxnSpPr>
              <a:cxnSpLocks/>
            </p:cNvCxnSpPr>
            <p:nvPr/>
          </p:nvCxnSpPr>
          <p:spPr>
            <a:xfrm>
              <a:off x="1794076" y="3275635"/>
              <a:ext cx="1747777" cy="0"/>
            </a:xfrm>
            <a:prstGeom prst="lin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</p:grpSp>
      <p:sp>
        <p:nvSpPr>
          <p:cNvPr id="49" name="ZoneTexte 48">
            <a:extLst>
              <a:ext uri="{FF2B5EF4-FFF2-40B4-BE49-F238E27FC236}">
                <a16:creationId xmlns:a16="http://schemas.microsoft.com/office/drawing/2014/main" xmlns="" id="{FA1BB7E0-5550-5F46-038F-63BE5201F274}"/>
              </a:ext>
            </a:extLst>
          </p:cNvPr>
          <p:cNvSpPr txBox="1"/>
          <p:nvPr/>
        </p:nvSpPr>
        <p:spPr>
          <a:xfrm>
            <a:off x="8043115" y="4854800"/>
            <a:ext cx="1111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L3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xmlns="" id="{6883050F-3D06-8B92-5776-65ADA5D6D132}"/>
              </a:ext>
            </a:extLst>
          </p:cNvPr>
          <p:cNvSpPr txBox="1"/>
          <p:nvPr/>
        </p:nvSpPr>
        <p:spPr>
          <a:xfrm>
            <a:off x="8022217" y="5367689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 dirty="0">
                <a:solidFill>
                  <a:srgbClr val="FF0000"/>
                </a:solidFill>
              </a:rPr>
              <a:t>L002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xmlns="" id="{DAD3805B-38DF-1C1F-4749-5ABC1891174B}"/>
              </a:ext>
            </a:extLst>
          </p:cNvPr>
          <p:cNvSpPr txBox="1"/>
          <p:nvPr/>
        </p:nvSpPr>
        <p:spPr>
          <a:xfrm>
            <a:off x="7994892" y="5702773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Mo9adima </a:t>
            </a:r>
          </a:p>
        </p:txBody>
      </p:sp>
      <p:grpSp>
        <p:nvGrpSpPr>
          <p:cNvPr id="52" name="Groupe 51">
            <a:extLst>
              <a:ext uri="{FF2B5EF4-FFF2-40B4-BE49-F238E27FC236}">
                <a16:creationId xmlns:a16="http://schemas.microsoft.com/office/drawing/2014/main" xmlns="" id="{80DBA755-5005-5DF7-0BDA-75839B8C446A}"/>
              </a:ext>
            </a:extLst>
          </p:cNvPr>
          <p:cNvGrpSpPr/>
          <p:nvPr/>
        </p:nvGrpSpPr>
        <p:grpSpPr>
          <a:xfrm>
            <a:off x="7669185" y="3161391"/>
            <a:ext cx="1736202" cy="1319723"/>
            <a:chOff x="1794076" y="2569577"/>
            <a:chExt cx="1747777" cy="2141317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xmlns="" id="{1CB12438-6774-E856-C75F-7FC9936D6082}"/>
                </a:ext>
              </a:extLst>
            </p:cNvPr>
            <p:cNvSpPr/>
            <p:nvPr/>
          </p:nvSpPr>
          <p:spPr>
            <a:xfrm>
              <a:off x="1794076" y="2569577"/>
              <a:ext cx="1736202" cy="2141317"/>
            </a:xfrm>
            <a:prstGeom prst="rect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dk1"/>
                </a:solidFill>
              </a:endParaRPr>
            </a:p>
          </p:txBody>
        </p:sp>
        <p:cxnSp>
          <p:nvCxnSpPr>
            <p:cNvPr id="54" name="Connecteur droit 53">
              <a:extLst>
                <a:ext uri="{FF2B5EF4-FFF2-40B4-BE49-F238E27FC236}">
                  <a16:creationId xmlns:a16="http://schemas.microsoft.com/office/drawing/2014/main" xmlns="" id="{273BE061-665A-82D7-AD4B-B2F2C4C9BB37}"/>
                </a:ext>
              </a:extLst>
            </p:cNvPr>
            <p:cNvCxnSpPr>
              <a:cxnSpLocks/>
            </p:cNvCxnSpPr>
            <p:nvPr/>
          </p:nvCxnSpPr>
          <p:spPr>
            <a:xfrm>
              <a:off x="1794076" y="3275635"/>
              <a:ext cx="1747777" cy="0"/>
            </a:xfrm>
            <a:prstGeom prst="lin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</p:grpSp>
      <p:sp>
        <p:nvSpPr>
          <p:cNvPr id="55" name="ZoneTexte 54">
            <a:extLst>
              <a:ext uri="{FF2B5EF4-FFF2-40B4-BE49-F238E27FC236}">
                <a16:creationId xmlns:a16="http://schemas.microsoft.com/office/drawing/2014/main" xmlns="" id="{A5AF0D15-DC48-1FCF-5D79-9F38C928FCFA}"/>
              </a:ext>
            </a:extLst>
          </p:cNvPr>
          <p:cNvSpPr txBox="1"/>
          <p:nvPr/>
        </p:nvSpPr>
        <p:spPr>
          <a:xfrm>
            <a:off x="7996817" y="3199618"/>
            <a:ext cx="1111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L2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xmlns="" id="{1A83B5CF-8F08-F9BE-155D-51C37C7DDE31}"/>
              </a:ext>
            </a:extLst>
          </p:cNvPr>
          <p:cNvSpPr txBox="1"/>
          <p:nvPr/>
        </p:nvSpPr>
        <p:spPr>
          <a:xfrm>
            <a:off x="7975919" y="3712507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 dirty="0">
                <a:solidFill>
                  <a:srgbClr val="FF0000"/>
                </a:solidFill>
              </a:rPr>
              <a:t>L003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xmlns="" id="{33A94B8B-2218-C976-696B-75DD79C07FDD}"/>
              </a:ext>
            </a:extLst>
          </p:cNvPr>
          <p:cNvSpPr txBox="1"/>
          <p:nvPr/>
        </p:nvSpPr>
        <p:spPr>
          <a:xfrm>
            <a:off x="7948594" y="4047591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Racisme</a:t>
            </a:r>
          </a:p>
        </p:txBody>
      </p:sp>
      <p:grpSp>
        <p:nvGrpSpPr>
          <p:cNvPr id="58" name="Groupe 57">
            <a:extLst>
              <a:ext uri="{FF2B5EF4-FFF2-40B4-BE49-F238E27FC236}">
                <a16:creationId xmlns:a16="http://schemas.microsoft.com/office/drawing/2014/main" xmlns="" id="{456FA791-A037-53D2-AF84-4D27376712D6}"/>
              </a:ext>
            </a:extLst>
          </p:cNvPr>
          <p:cNvGrpSpPr/>
          <p:nvPr/>
        </p:nvGrpSpPr>
        <p:grpSpPr>
          <a:xfrm>
            <a:off x="4592794" y="2977587"/>
            <a:ext cx="1736202" cy="902825"/>
            <a:chOff x="4819892" y="3183038"/>
            <a:chExt cx="1736202" cy="902825"/>
          </a:xfrm>
        </p:grpSpPr>
        <p:sp>
          <p:nvSpPr>
            <p:cNvPr id="59" name="Ellipse 58">
              <a:extLst>
                <a:ext uri="{FF2B5EF4-FFF2-40B4-BE49-F238E27FC236}">
                  <a16:creationId xmlns:a16="http://schemas.microsoft.com/office/drawing/2014/main" xmlns="" id="{4A7C7BFD-320A-26D3-833B-0EF5CA366CA5}"/>
                </a:ext>
              </a:extLst>
            </p:cNvPr>
            <p:cNvSpPr/>
            <p:nvPr/>
          </p:nvSpPr>
          <p:spPr>
            <a:xfrm>
              <a:off x="4819892" y="3183038"/>
              <a:ext cx="1736202" cy="902825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xmlns="" id="{ED8891FF-2D54-59E1-0FCC-23BBCC5A9322}"/>
                </a:ext>
              </a:extLst>
            </p:cNvPr>
            <p:cNvCxnSpPr>
              <a:stCxn id="59" idx="2"/>
              <a:endCxn id="59" idx="6"/>
            </p:cNvCxnSpPr>
            <p:nvPr/>
          </p:nvCxnSpPr>
          <p:spPr>
            <a:xfrm>
              <a:off x="4819892" y="3634451"/>
              <a:ext cx="1736202" cy="0"/>
            </a:xfrm>
            <a:prstGeom prst="lin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</p:grpSp>
      <p:sp>
        <p:nvSpPr>
          <p:cNvPr id="61" name="ZoneTexte 60">
            <a:extLst>
              <a:ext uri="{FF2B5EF4-FFF2-40B4-BE49-F238E27FC236}">
                <a16:creationId xmlns:a16="http://schemas.microsoft.com/office/drawing/2014/main" xmlns="" id="{EC32E758-67E5-5AEB-8AC6-0C3AA932B90A}"/>
              </a:ext>
            </a:extLst>
          </p:cNvPr>
          <p:cNvSpPr txBox="1"/>
          <p:nvPr/>
        </p:nvSpPr>
        <p:spPr>
          <a:xfrm>
            <a:off x="5121874" y="3017781"/>
            <a:ext cx="9259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Ecrire</a:t>
            </a:r>
          </a:p>
        </p:txBody>
      </p: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xmlns="" id="{37E7B036-E371-D533-7C39-BFB0B2571D6F}"/>
              </a:ext>
            </a:extLst>
          </p:cNvPr>
          <p:cNvCxnSpPr>
            <a:cxnSpLocks/>
            <a:endCxn id="59" idx="2"/>
          </p:cNvCxnSpPr>
          <p:nvPr/>
        </p:nvCxnSpPr>
        <p:spPr>
          <a:xfrm>
            <a:off x="3268949" y="2294163"/>
            <a:ext cx="1323845" cy="1134837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xmlns="" id="{DEC45BBD-28A7-9D90-E8B8-045E2B48762D}"/>
              </a:ext>
            </a:extLst>
          </p:cNvPr>
          <p:cNvCxnSpPr>
            <a:cxnSpLocks/>
            <a:endCxn id="53" idx="1"/>
          </p:cNvCxnSpPr>
          <p:nvPr/>
        </p:nvCxnSpPr>
        <p:spPr>
          <a:xfrm>
            <a:off x="6328996" y="3419962"/>
            <a:ext cx="1340189" cy="401291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Connecteur droit 67">
            <a:extLst>
              <a:ext uri="{FF2B5EF4-FFF2-40B4-BE49-F238E27FC236}">
                <a16:creationId xmlns:a16="http://schemas.microsoft.com/office/drawing/2014/main" xmlns="" id="{3658BDB5-FE81-F4B3-3081-C083DC62EE27}"/>
              </a:ext>
            </a:extLst>
          </p:cNvPr>
          <p:cNvCxnSpPr>
            <a:cxnSpLocks/>
          </p:cNvCxnSpPr>
          <p:nvPr/>
        </p:nvCxnSpPr>
        <p:spPr>
          <a:xfrm>
            <a:off x="3297861" y="5236526"/>
            <a:ext cx="1373061" cy="21262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Connecteur droit 68">
            <a:extLst>
              <a:ext uri="{FF2B5EF4-FFF2-40B4-BE49-F238E27FC236}">
                <a16:creationId xmlns:a16="http://schemas.microsoft.com/office/drawing/2014/main" xmlns="" id="{62AD8C02-812C-1332-616C-99007441592A}"/>
              </a:ext>
            </a:extLst>
          </p:cNvPr>
          <p:cNvCxnSpPr>
            <a:cxnSpLocks/>
          </p:cNvCxnSpPr>
          <p:nvPr/>
        </p:nvCxnSpPr>
        <p:spPr>
          <a:xfrm>
            <a:off x="6381887" y="5225895"/>
            <a:ext cx="1373061" cy="21262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722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7FED046D-3D21-B144-FC56-00D38B41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449698"/>
            <a:ext cx="9601196" cy="858242"/>
          </a:xfrm>
        </p:spPr>
        <p:txBody>
          <a:bodyPr/>
          <a:lstStyle/>
          <a:p>
            <a:r>
              <a:rPr lang="fr-FR" dirty="0"/>
              <a:t>Représentation occurrences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647894CA-B530-054C-2E03-F4E61E0A0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422074"/>
            <a:ext cx="9601196" cy="4098511"/>
          </a:xfrm>
        </p:spPr>
        <p:txBody>
          <a:bodyPr/>
          <a:lstStyle/>
          <a:p>
            <a:pPr marL="0" indent="0">
              <a:buNone/>
            </a:pPr>
            <a:r>
              <a:rPr lang="fr-FR" sz="2400" dirty="0"/>
              <a:t>En représentation simplifié (ou diagramme </a:t>
            </a:r>
            <a:r>
              <a:rPr lang="fr-FR" sz="2400" dirty="0" err="1"/>
              <a:t>sagital</a:t>
            </a:r>
            <a:r>
              <a:rPr lang="fr-FR" sz="2400" dirty="0"/>
              <a:t>) : Ecrire a un identifiant implicite qui le couple (</a:t>
            </a:r>
            <a:r>
              <a:rPr lang="fr-FR" sz="2400" dirty="0" err="1"/>
              <a:t>Id_Aut</a:t>
            </a:r>
            <a:r>
              <a:rPr lang="fr-FR" sz="2400" dirty="0"/>
              <a:t>, </a:t>
            </a:r>
            <a:r>
              <a:rPr lang="fr-FR" sz="2400" dirty="0" err="1"/>
              <a:t>Id_Liv</a:t>
            </a:r>
            <a:r>
              <a:rPr lang="fr-FR" sz="2400" dirty="0"/>
              <a:t>)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xmlns="" id="{808CB744-EBA2-7638-EB50-7CA4B5579F16}"/>
              </a:ext>
            </a:extLst>
          </p:cNvPr>
          <p:cNvSpPr/>
          <p:nvPr/>
        </p:nvSpPr>
        <p:spPr>
          <a:xfrm>
            <a:off x="3078865" y="2390170"/>
            <a:ext cx="1574157" cy="3402957"/>
          </a:xfrm>
          <a:prstGeom prst="ellipse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xmlns="" id="{8054D108-293F-53E1-7837-0698E1B01433}"/>
              </a:ext>
            </a:extLst>
          </p:cNvPr>
          <p:cNvSpPr/>
          <p:nvPr/>
        </p:nvSpPr>
        <p:spPr>
          <a:xfrm>
            <a:off x="7214888" y="2390171"/>
            <a:ext cx="1574157" cy="3402957"/>
          </a:xfrm>
          <a:prstGeom prst="ellipse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xmlns="" id="{2FD7DD52-B8EB-7758-C3CA-4673D899D359}"/>
              </a:ext>
            </a:extLst>
          </p:cNvPr>
          <p:cNvSpPr/>
          <p:nvPr/>
        </p:nvSpPr>
        <p:spPr>
          <a:xfrm>
            <a:off x="3568378" y="3240911"/>
            <a:ext cx="714255" cy="635533"/>
          </a:xfrm>
          <a:prstGeom prst="ellipse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dk1"/>
                </a:solidFill>
              </a:rPr>
              <a:t>A1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xmlns="" id="{DB92A082-48F7-CEB8-3891-3EB701F46D93}"/>
              </a:ext>
            </a:extLst>
          </p:cNvPr>
          <p:cNvSpPr/>
          <p:nvPr/>
        </p:nvSpPr>
        <p:spPr>
          <a:xfrm>
            <a:off x="3568378" y="4467827"/>
            <a:ext cx="714255" cy="635533"/>
          </a:xfrm>
          <a:prstGeom prst="ellipse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dk1"/>
                </a:solidFill>
              </a:rPr>
              <a:t>A2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xmlns="" id="{ECFBA36C-B789-A9F1-06D7-CF05520453AF}"/>
              </a:ext>
            </a:extLst>
          </p:cNvPr>
          <p:cNvSpPr/>
          <p:nvPr/>
        </p:nvSpPr>
        <p:spPr>
          <a:xfrm>
            <a:off x="7704401" y="3009954"/>
            <a:ext cx="595129" cy="635533"/>
          </a:xfrm>
          <a:prstGeom prst="ellipse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dk1"/>
                </a:solidFill>
              </a:rPr>
              <a:t>L1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xmlns="" id="{1E0672AB-1093-9EC6-EF77-58E33D74CCC8}"/>
              </a:ext>
            </a:extLst>
          </p:cNvPr>
          <p:cNvSpPr/>
          <p:nvPr/>
        </p:nvSpPr>
        <p:spPr>
          <a:xfrm>
            <a:off x="7704401" y="3947503"/>
            <a:ext cx="595129" cy="635533"/>
          </a:xfrm>
          <a:prstGeom prst="ellipse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dk1"/>
                </a:solidFill>
              </a:rPr>
              <a:t>L2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xmlns="" id="{0215B707-8306-E2E6-FB33-5AA3EDD79CAE}"/>
              </a:ext>
            </a:extLst>
          </p:cNvPr>
          <p:cNvSpPr/>
          <p:nvPr/>
        </p:nvSpPr>
        <p:spPr>
          <a:xfrm>
            <a:off x="7795066" y="4885052"/>
            <a:ext cx="595129" cy="635533"/>
          </a:xfrm>
          <a:prstGeom prst="ellipse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dk1"/>
                </a:solidFill>
              </a:rPr>
              <a:t>L3</a:t>
            </a:r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xmlns="" id="{52DDAF1F-93C6-4884-1938-78AA51CD81D7}"/>
              </a:ext>
            </a:extLst>
          </p:cNvPr>
          <p:cNvCxnSpPr>
            <a:stCxn id="8" idx="6"/>
            <a:endCxn id="11" idx="2"/>
          </p:cNvCxnSpPr>
          <p:nvPr/>
        </p:nvCxnSpPr>
        <p:spPr>
          <a:xfrm flipV="1">
            <a:off x="4282633" y="3327721"/>
            <a:ext cx="3421768" cy="23095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xmlns="" id="{F1FD9689-335D-1D7F-805C-0F034FE6D90B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4252959" y="3586642"/>
            <a:ext cx="3451442" cy="67862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xmlns="" id="{69CD1A80-D816-6849-6ED0-9BCF15D473D5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4310238" y="4790625"/>
            <a:ext cx="3484828" cy="41219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7088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3711973A-93E8-FEDD-9DAA-133AC05D182D}"/>
              </a:ext>
            </a:extLst>
          </p:cNvPr>
          <p:cNvSpPr txBox="1">
            <a:spLocks/>
          </p:cNvSpPr>
          <p:nvPr/>
        </p:nvSpPr>
        <p:spPr>
          <a:xfrm>
            <a:off x="1295401" y="438122"/>
            <a:ext cx="9601196" cy="927691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dirty="0"/>
              <a:t>Cardinalités d'une Association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08B2B1E4-AEDA-4D9C-4F21-32E0E75137BD}"/>
              </a:ext>
            </a:extLst>
          </p:cNvPr>
          <p:cNvSpPr txBox="1">
            <a:spLocks/>
          </p:cNvSpPr>
          <p:nvPr/>
        </p:nvSpPr>
        <p:spPr>
          <a:xfrm>
            <a:off x="532432" y="1643606"/>
            <a:ext cx="11401063" cy="3809465"/>
          </a:xfrm>
          <a:prstGeom prst="rect">
            <a:avLst/>
          </a:prstGeom>
        </p:spPr>
        <p:txBody>
          <a:bodyPr/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2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1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dirty="0">
                <a:solidFill>
                  <a:srgbClr val="C00000"/>
                </a:solidFill>
              </a:rPr>
              <a:t>Cardinalités N1, N2 précisent la participation de l'entité concernée A à l’association.</a:t>
            </a:r>
          </a:p>
          <a:p>
            <a:pPr lvl="1"/>
            <a:r>
              <a:rPr lang="fr-FR" sz="2200" dirty="0">
                <a:solidFill>
                  <a:srgbClr val="C00000"/>
                </a:solidFill>
              </a:rPr>
              <a:t>N1= 1, Chaque occurrence de l’entité A participe au moins une fois à l’association</a:t>
            </a:r>
          </a:p>
          <a:p>
            <a:pPr lvl="1"/>
            <a:r>
              <a:rPr lang="fr-FR" sz="2200" dirty="0">
                <a:solidFill>
                  <a:srgbClr val="C00000"/>
                </a:solidFill>
              </a:rPr>
              <a:t>N1 = 0, Certaines occurrence de l’entité ne participe pas à l’association</a:t>
            </a:r>
          </a:p>
          <a:p>
            <a:pPr lvl="1"/>
            <a:r>
              <a:rPr lang="fr-FR" sz="2200" dirty="0">
                <a:solidFill>
                  <a:srgbClr val="C00000"/>
                </a:solidFill>
              </a:rPr>
              <a:t>N2 = 1, Chaque occurrence participe au maximum une fois à l’association</a:t>
            </a:r>
          </a:p>
          <a:p>
            <a:pPr lvl="1"/>
            <a:r>
              <a:rPr lang="fr-FR" sz="2200" dirty="0">
                <a:solidFill>
                  <a:srgbClr val="C00000"/>
                </a:solidFill>
              </a:rPr>
              <a:t>N2 = N, Une occurrence peut participer plusieurs fois   à l’association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xmlns="" id="{4A228CE5-604B-5122-1756-D0D09A338A54}"/>
              </a:ext>
            </a:extLst>
          </p:cNvPr>
          <p:cNvGrpSpPr/>
          <p:nvPr/>
        </p:nvGrpSpPr>
        <p:grpSpPr>
          <a:xfrm>
            <a:off x="3928629" y="4715254"/>
            <a:ext cx="1534621" cy="1226697"/>
            <a:chOff x="1794076" y="2569577"/>
            <a:chExt cx="1747777" cy="214131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F9345295-B370-99C0-4368-466813A4D1FA}"/>
                </a:ext>
              </a:extLst>
            </p:cNvPr>
            <p:cNvSpPr/>
            <p:nvPr/>
          </p:nvSpPr>
          <p:spPr>
            <a:xfrm>
              <a:off x="1794076" y="2569577"/>
              <a:ext cx="1736202" cy="2141317"/>
            </a:xfrm>
            <a:prstGeom prst="rect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dk1"/>
                </a:solidFill>
              </a:endParaRPr>
            </a:p>
          </p:txBody>
        </p: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xmlns="" id="{F7C0313A-B61C-8244-C164-40C20024578D}"/>
                </a:ext>
              </a:extLst>
            </p:cNvPr>
            <p:cNvCxnSpPr>
              <a:cxnSpLocks/>
            </p:cNvCxnSpPr>
            <p:nvPr/>
          </p:nvCxnSpPr>
          <p:spPr>
            <a:xfrm>
              <a:off x="1794076" y="3275635"/>
              <a:ext cx="1747777" cy="0"/>
            </a:xfrm>
            <a:prstGeom prst="lin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xmlns="" id="{73717CDB-579E-00A5-0BAE-0D336501C565}"/>
              </a:ext>
            </a:extLst>
          </p:cNvPr>
          <p:cNvSpPr txBox="1"/>
          <p:nvPr/>
        </p:nvSpPr>
        <p:spPr>
          <a:xfrm>
            <a:off x="4150486" y="4732776"/>
            <a:ext cx="1111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E1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xmlns="" id="{AFB189AF-9055-4C03-3411-2631C1756DBE}"/>
              </a:ext>
            </a:extLst>
          </p:cNvPr>
          <p:cNvSpPr txBox="1"/>
          <p:nvPr/>
        </p:nvSpPr>
        <p:spPr>
          <a:xfrm>
            <a:off x="4135777" y="5175278"/>
            <a:ext cx="12901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 dirty="0">
                <a:solidFill>
                  <a:srgbClr val="FF0000"/>
                </a:solidFill>
              </a:rPr>
              <a:t>Id_E1</a:t>
            </a:r>
          </a:p>
          <a:p>
            <a:r>
              <a:rPr lang="fr-FR" sz="2000" dirty="0">
                <a:solidFill>
                  <a:srgbClr val="FF0000"/>
                </a:solidFill>
              </a:rPr>
              <a:t>Etc.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xmlns="" id="{1D17D58A-23D6-0E48-0084-EA6A862CA0D7}"/>
              </a:ext>
            </a:extLst>
          </p:cNvPr>
          <p:cNvGrpSpPr/>
          <p:nvPr/>
        </p:nvGrpSpPr>
        <p:grpSpPr>
          <a:xfrm>
            <a:off x="6790295" y="4862152"/>
            <a:ext cx="1736202" cy="902825"/>
            <a:chOff x="4819892" y="3183038"/>
            <a:chExt cx="1736202" cy="902825"/>
          </a:xfrm>
        </p:grpSpPr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xmlns="" id="{3C447F07-9A81-7DEE-348A-FBB5719B9FAD}"/>
                </a:ext>
              </a:extLst>
            </p:cNvPr>
            <p:cNvSpPr/>
            <p:nvPr/>
          </p:nvSpPr>
          <p:spPr>
            <a:xfrm>
              <a:off x="4819892" y="3183038"/>
              <a:ext cx="1736202" cy="902825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xmlns="" id="{C7E1FCCF-0DA5-4C1B-5A9B-F1AE154AC407}"/>
                </a:ext>
              </a:extLst>
            </p:cNvPr>
            <p:cNvCxnSpPr>
              <a:stCxn id="15" idx="2"/>
              <a:endCxn id="15" idx="6"/>
            </p:cNvCxnSpPr>
            <p:nvPr/>
          </p:nvCxnSpPr>
          <p:spPr>
            <a:xfrm>
              <a:off x="4819892" y="3634451"/>
              <a:ext cx="1736202" cy="0"/>
            </a:xfrm>
            <a:prstGeom prst="lin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</p:grpSp>
      <p:sp>
        <p:nvSpPr>
          <p:cNvPr id="17" name="ZoneTexte 16">
            <a:extLst>
              <a:ext uri="{FF2B5EF4-FFF2-40B4-BE49-F238E27FC236}">
                <a16:creationId xmlns:a16="http://schemas.microsoft.com/office/drawing/2014/main" xmlns="" id="{C840FA86-9E3C-FE18-88D6-541ABF450329}"/>
              </a:ext>
            </a:extLst>
          </p:cNvPr>
          <p:cNvSpPr txBox="1"/>
          <p:nvPr/>
        </p:nvSpPr>
        <p:spPr>
          <a:xfrm>
            <a:off x="7486118" y="4913454"/>
            <a:ext cx="624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A</a:t>
            </a:r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xmlns="" id="{DB65A6FC-8F3D-624D-698D-13C1A81FD1E0}"/>
              </a:ext>
            </a:extLst>
          </p:cNvPr>
          <p:cNvCxnSpPr>
            <a:cxnSpLocks/>
          </p:cNvCxnSpPr>
          <p:nvPr/>
        </p:nvCxnSpPr>
        <p:spPr>
          <a:xfrm>
            <a:off x="5483513" y="5306094"/>
            <a:ext cx="1373061" cy="21262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xmlns="" id="{A9746C71-FEF7-3352-F66B-6A0005DBC7D3}"/>
              </a:ext>
            </a:extLst>
          </p:cNvPr>
          <p:cNvSpPr txBox="1"/>
          <p:nvPr/>
        </p:nvSpPr>
        <p:spPr>
          <a:xfrm>
            <a:off x="5546176" y="4871354"/>
            <a:ext cx="101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dirty="0">
                <a:solidFill>
                  <a:srgbClr val="C00000"/>
                </a:solidFill>
              </a:rPr>
              <a:t>N1, N2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41608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CF075E28-C0DF-5F0C-DF39-10EC5F781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1393" y="357099"/>
            <a:ext cx="9601196" cy="1303867"/>
          </a:xfrm>
        </p:spPr>
        <p:txBody>
          <a:bodyPr/>
          <a:lstStyle/>
          <a:p>
            <a:r>
              <a:rPr lang="fr-FR" dirty="0"/>
              <a:t>Association binaire2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xmlns="" id="{6F2F3C43-FAAE-E6C9-5369-EFD53BC99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098" y="1675434"/>
            <a:ext cx="8899785" cy="2306918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xmlns="" id="{AA5BBF1C-2BBC-BA27-8437-998F7894120C}"/>
              </a:ext>
            </a:extLst>
          </p:cNvPr>
          <p:cNvSpPr txBox="1"/>
          <p:nvPr/>
        </p:nvSpPr>
        <p:spPr>
          <a:xfrm>
            <a:off x="836132" y="4132161"/>
            <a:ext cx="106112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rgbClr val="C00000"/>
                </a:solidFill>
              </a:rPr>
              <a:t>Interprétez l’association binaire et les cardinalités ?</a:t>
            </a:r>
          </a:p>
        </p:txBody>
      </p:sp>
    </p:spTree>
    <p:extLst>
      <p:ext uri="{BB962C8B-B14F-4D97-AF65-F5344CB8AC3E}">
        <p14:creationId xmlns:p14="http://schemas.microsoft.com/office/powerpoint/2010/main" val="2180062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CF075E28-C0DF-5F0C-DF39-10EC5F781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1393" y="357099"/>
            <a:ext cx="9601196" cy="1303867"/>
          </a:xfrm>
        </p:spPr>
        <p:txBody>
          <a:bodyPr/>
          <a:lstStyle/>
          <a:p>
            <a:r>
              <a:rPr lang="fr-FR" dirty="0"/>
              <a:t>Association binaire2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xmlns="" id="{6F2F3C43-FAAE-E6C9-5369-EFD53BC99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098" y="1675434"/>
            <a:ext cx="8899785" cy="2306918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xmlns="" id="{AA5BBF1C-2BBC-BA27-8437-998F7894120C}"/>
              </a:ext>
            </a:extLst>
          </p:cNvPr>
          <p:cNvSpPr txBox="1"/>
          <p:nvPr/>
        </p:nvSpPr>
        <p:spPr>
          <a:xfrm>
            <a:off x="836132" y="4132161"/>
            <a:ext cx="1061123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rgbClr val="C00000"/>
                </a:solidFill>
              </a:rPr>
              <a:t>Réponse :</a:t>
            </a:r>
          </a:p>
          <a:p>
            <a:r>
              <a:rPr lang="fr-FR" sz="2800" dirty="0"/>
              <a:t>Un employé utilise 0 ou plusieurs ordis, donc y a des employés qui n’utilisent pas d’ordinateur</a:t>
            </a:r>
          </a:p>
          <a:p>
            <a:r>
              <a:rPr lang="fr-FR" sz="2800" dirty="0"/>
              <a:t>Un ordinateur est utilisé par 1 ou plusieurs personnes</a:t>
            </a:r>
          </a:p>
        </p:txBody>
      </p:sp>
    </p:spTree>
    <p:extLst>
      <p:ext uri="{BB962C8B-B14F-4D97-AF65-F5344CB8AC3E}">
        <p14:creationId xmlns:p14="http://schemas.microsoft.com/office/powerpoint/2010/main" val="3084876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7FED046D-3D21-B144-FC56-00D38B41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449698"/>
            <a:ext cx="9601196" cy="858242"/>
          </a:xfrm>
        </p:spPr>
        <p:txBody>
          <a:bodyPr/>
          <a:lstStyle/>
          <a:p>
            <a:r>
              <a:rPr lang="fr-FR" dirty="0"/>
              <a:t>Représentation 2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xmlns="" id="{808CB744-EBA2-7638-EB50-7CA4B5579F16}"/>
              </a:ext>
            </a:extLst>
          </p:cNvPr>
          <p:cNvSpPr/>
          <p:nvPr/>
        </p:nvSpPr>
        <p:spPr>
          <a:xfrm>
            <a:off x="3067030" y="1401116"/>
            <a:ext cx="1574157" cy="3633872"/>
          </a:xfrm>
          <a:prstGeom prst="ellipse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xmlns="" id="{8054D108-293F-53E1-7837-0698E1B01433}"/>
              </a:ext>
            </a:extLst>
          </p:cNvPr>
          <p:cNvSpPr/>
          <p:nvPr/>
        </p:nvSpPr>
        <p:spPr>
          <a:xfrm>
            <a:off x="7214888" y="1562583"/>
            <a:ext cx="1742695" cy="4271058"/>
          </a:xfrm>
          <a:prstGeom prst="ellipse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xmlns="" id="{2FD7DD52-B8EB-7758-C3CA-4673D899D359}"/>
              </a:ext>
            </a:extLst>
          </p:cNvPr>
          <p:cNvSpPr/>
          <p:nvPr/>
        </p:nvSpPr>
        <p:spPr>
          <a:xfrm>
            <a:off x="3515292" y="2189783"/>
            <a:ext cx="714255" cy="635533"/>
          </a:xfrm>
          <a:prstGeom prst="ellipse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E</a:t>
            </a:r>
            <a:r>
              <a:rPr lang="fr-FR" dirty="0">
                <a:solidFill>
                  <a:schemeClr val="dk1"/>
                </a:solidFill>
              </a:rPr>
              <a:t>1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xmlns="" id="{ECFBA36C-B789-A9F1-06D7-CF05520453AF}"/>
              </a:ext>
            </a:extLst>
          </p:cNvPr>
          <p:cNvSpPr/>
          <p:nvPr/>
        </p:nvSpPr>
        <p:spPr>
          <a:xfrm>
            <a:off x="7704401" y="3009954"/>
            <a:ext cx="714255" cy="635533"/>
          </a:xfrm>
          <a:prstGeom prst="ellipse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O2</a:t>
            </a:r>
            <a:endParaRPr lang="fr-FR" dirty="0">
              <a:solidFill>
                <a:schemeClr val="dk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xmlns="" id="{1E0672AB-1093-9EC6-EF77-58E33D74CCC8}"/>
              </a:ext>
            </a:extLst>
          </p:cNvPr>
          <p:cNvSpPr/>
          <p:nvPr/>
        </p:nvSpPr>
        <p:spPr>
          <a:xfrm>
            <a:off x="7704401" y="3889588"/>
            <a:ext cx="814566" cy="635533"/>
          </a:xfrm>
          <a:prstGeom prst="ellipse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O3</a:t>
            </a:r>
            <a:endParaRPr lang="fr-FR" dirty="0">
              <a:solidFill>
                <a:schemeClr val="dk1"/>
              </a:solidFill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xmlns="" id="{0215B707-8306-E2E6-FB33-5AA3EDD79CAE}"/>
              </a:ext>
            </a:extLst>
          </p:cNvPr>
          <p:cNvSpPr/>
          <p:nvPr/>
        </p:nvSpPr>
        <p:spPr>
          <a:xfrm>
            <a:off x="7795066" y="4885052"/>
            <a:ext cx="723901" cy="635533"/>
          </a:xfrm>
          <a:prstGeom prst="ellipse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O4</a:t>
            </a:r>
            <a:endParaRPr lang="fr-FR" dirty="0">
              <a:solidFill>
                <a:schemeClr val="dk1"/>
              </a:solidFill>
            </a:endParaRPr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xmlns="" id="{52DDAF1F-93C6-4884-1938-78AA51CD81D7}"/>
              </a:ext>
            </a:extLst>
          </p:cNvPr>
          <p:cNvCxnSpPr>
            <a:cxnSpLocks/>
            <a:stCxn id="8" idx="6"/>
            <a:endCxn id="20" idx="2"/>
          </p:cNvCxnSpPr>
          <p:nvPr/>
        </p:nvCxnSpPr>
        <p:spPr>
          <a:xfrm flipV="1">
            <a:off x="4229547" y="2393416"/>
            <a:ext cx="3463761" cy="11413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xmlns="" id="{F1FD9689-335D-1D7F-805C-0F034FE6D90B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4229547" y="3383940"/>
            <a:ext cx="3474854" cy="8234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xmlns="" id="{69CD1A80-D816-6849-6ED0-9BCF15D473D5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4185624" y="3358606"/>
            <a:ext cx="3609442" cy="184421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lipse 8">
            <a:extLst>
              <a:ext uri="{FF2B5EF4-FFF2-40B4-BE49-F238E27FC236}">
                <a16:creationId xmlns:a16="http://schemas.microsoft.com/office/drawing/2014/main" xmlns="" id="{9B337FED-C618-087E-C75C-C7F7CE659DCB}"/>
              </a:ext>
            </a:extLst>
          </p:cNvPr>
          <p:cNvSpPr/>
          <p:nvPr/>
        </p:nvSpPr>
        <p:spPr>
          <a:xfrm>
            <a:off x="3472510" y="3065283"/>
            <a:ext cx="714255" cy="635533"/>
          </a:xfrm>
          <a:prstGeom prst="ellipse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E</a:t>
            </a:r>
            <a:r>
              <a:rPr lang="fr-FR" dirty="0" smtClean="0">
                <a:solidFill>
                  <a:schemeClr val="dk1"/>
                </a:solidFill>
              </a:rPr>
              <a:t>2</a:t>
            </a:r>
            <a:endParaRPr lang="fr-FR" dirty="0">
              <a:solidFill>
                <a:schemeClr val="dk1"/>
              </a:solidFill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xmlns="" id="{DAB1F4AF-03C0-17C5-516E-5C3FDFF8AE5A}"/>
              </a:ext>
            </a:extLst>
          </p:cNvPr>
          <p:cNvSpPr/>
          <p:nvPr/>
        </p:nvSpPr>
        <p:spPr>
          <a:xfrm>
            <a:off x="3515292" y="3832294"/>
            <a:ext cx="714255" cy="635533"/>
          </a:xfrm>
          <a:prstGeom prst="ellipse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mtClean="0"/>
              <a:t>E</a:t>
            </a:r>
            <a:r>
              <a:rPr lang="fr-FR" dirty="0"/>
              <a:t>3</a:t>
            </a:r>
            <a:endParaRPr lang="fr-FR" dirty="0">
              <a:solidFill>
                <a:schemeClr val="dk1"/>
              </a:solidFill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xmlns="" id="{5E098ECC-0CEC-2C14-A048-FC93350B118A}"/>
              </a:ext>
            </a:extLst>
          </p:cNvPr>
          <p:cNvSpPr/>
          <p:nvPr/>
        </p:nvSpPr>
        <p:spPr>
          <a:xfrm>
            <a:off x="7693308" y="2075649"/>
            <a:ext cx="696887" cy="635533"/>
          </a:xfrm>
          <a:prstGeom prst="ellipse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O</a:t>
            </a:r>
            <a:r>
              <a:rPr lang="fr-FR" dirty="0">
                <a:solidFill>
                  <a:schemeClr val="dk1"/>
                </a:solidFill>
              </a:rPr>
              <a:t>1</a:t>
            </a:r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xmlns="" id="{99EF0D4D-5391-969D-1A46-DBB0D58AF77C}"/>
              </a:ext>
            </a:extLst>
          </p:cNvPr>
          <p:cNvCxnSpPr>
            <a:cxnSpLocks/>
            <a:stCxn id="8" idx="6"/>
            <a:endCxn id="11" idx="2"/>
          </p:cNvCxnSpPr>
          <p:nvPr/>
        </p:nvCxnSpPr>
        <p:spPr>
          <a:xfrm>
            <a:off x="4229547" y="2507550"/>
            <a:ext cx="3474854" cy="82017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xmlns="" id="{2E1F9A73-EDCF-F021-AC3E-C2065030D680}"/>
              </a:ext>
            </a:extLst>
          </p:cNvPr>
          <p:cNvCxnSpPr>
            <a:cxnSpLocks/>
          </p:cNvCxnSpPr>
          <p:nvPr/>
        </p:nvCxnSpPr>
        <p:spPr>
          <a:xfrm>
            <a:off x="4229547" y="2507549"/>
            <a:ext cx="3452906" cy="165100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8661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E7DF7C11-392F-08F2-4F10-1D5F5458141A}"/>
              </a:ext>
            </a:extLst>
          </p:cNvPr>
          <p:cNvSpPr txBox="1">
            <a:spLocks/>
          </p:cNvSpPr>
          <p:nvPr/>
        </p:nvSpPr>
        <p:spPr>
          <a:xfrm>
            <a:off x="1295402" y="299754"/>
            <a:ext cx="9601196" cy="130386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dirty="0"/>
              <a:t>Interpréter le MCD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xmlns="" id="{64DD8A38-301A-7378-0D7B-633772C2A30A}"/>
              </a:ext>
            </a:extLst>
          </p:cNvPr>
          <p:cNvGrpSpPr/>
          <p:nvPr/>
        </p:nvGrpSpPr>
        <p:grpSpPr>
          <a:xfrm>
            <a:off x="2615878" y="1713056"/>
            <a:ext cx="1747777" cy="2141317"/>
            <a:chOff x="1794076" y="2569577"/>
            <a:chExt cx="1747777" cy="214131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xmlns="" id="{3DF82232-B5EE-D25E-4670-C4D02A220EC8}"/>
                </a:ext>
              </a:extLst>
            </p:cNvPr>
            <p:cNvSpPr/>
            <p:nvPr/>
          </p:nvSpPr>
          <p:spPr>
            <a:xfrm>
              <a:off x="1794076" y="2569577"/>
              <a:ext cx="1736202" cy="2141317"/>
            </a:xfrm>
            <a:prstGeom prst="rect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dk1"/>
                </a:solidFill>
              </a:endParaRPr>
            </a:p>
          </p:txBody>
        </p:sp>
        <p:cxnSp>
          <p:nvCxnSpPr>
            <p:cNvPr id="5" name="Connecteur droit 4">
              <a:extLst>
                <a:ext uri="{FF2B5EF4-FFF2-40B4-BE49-F238E27FC236}">
                  <a16:creationId xmlns:a16="http://schemas.microsoft.com/office/drawing/2014/main" xmlns="" id="{BE1FC820-BB53-51A5-DD97-F0924DCCCFCE}"/>
                </a:ext>
              </a:extLst>
            </p:cNvPr>
            <p:cNvCxnSpPr>
              <a:cxnSpLocks/>
            </p:cNvCxnSpPr>
            <p:nvPr/>
          </p:nvCxnSpPr>
          <p:spPr>
            <a:xfrm>
              <a:off x="1794076" y="3275635"/>
              <a:ext cx="1747777" cy="0"/>
            </a:xfrm>
            <a:prstGeom prst="lin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xmlns="" id="{0AC0C80A-1167-6BF9-174F-4A6966280B2E}"/>
              </a:ext>
            </a:extLst>
          </p:cNvPr>
          <p:cNvGrpSpPr/>
          <p:nvPr/>
        </p:nvGrpSpPr>
        <p:grpSpPr>
          <a:xfrm>
            <a:off x="8690662" y="1678335"/>
            <a:ext cx="1747777" cy="2141317"/>
            <a:chOff x="1794076" y="2731625"/>
            <a:chExt cx="1747777" cy="214131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C52172BE-A808-08C2-718F-96D5A34FE09B}"/>
                </a:ext>
              </a:extLst>
            </p:cNvPr>
            <p:cNvSpPr/>
            <p:nvPr/>
          </p:nvSpPr>
          <p:spPr>
            <a:xfrm>
              <a:off x="1794076" y="2731625"/>
              <a:ext cx="1736202" cy="2141317"/>
            </a:xfrm>
            <a:prstGeom prst="rect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dk1"/>
                </a:solidFill>
              </a:endParaRPr>
            </a:p>
          </p:txBody>
        </p:sp>
        <p:cxnSp>
          <p:nvCxnSpPr>
            <p:cNvPr id="8" name="Connecteur droit 7">
              <a:extLst>
                <a:ext uri="{FF2B5EF4-FFF2-40B4-BE49-F238E27FC236}">
                  <a16:creationId xmlns:a16="http://schemas.microsoft.com/office/drawing/2014/main" xmlns="" id="{3BABBCC4-0235-C38A-63F8-307B76C9668F}"/>
                </a:ext>
              </a:extLst>
            </p:cNvPr>
            <p:cNvCxnSpPr>
              <a:cxnSpLocks/>
            </p:cNvCxnSpPr>
            <p:nvPr/>
          </p:nvCxnSpPr>
          <p:spPr>
            <a:xfrm>
              <a:off x="1794076" y="3275635"/>
              <a:ext cx="1747777" cy="0"/>
            </a:xfrm>
            <a:prstGeom prst="lin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xmlns="" id="{422A7C22-8356-FA09-7F75-B64874BE0588}"/>
              </a:ext>
            </a:extLst>
          </p:cNvPr>
          <p:cNvGrpSpPr/>
          <p:nvPr/>
        </p:nvGrpSpPr>
        <p:grpSpPr>
          <a:xfrm>
            <a:off x="5641694" y="2326517"/>
            <a:ext cx="1736202" cy="902825"/>
            <a:chOff x="4819892" y="3183038"/>
            <a:chExt cx="1736202" cy="902825"/>
          </a:xfrm>
        </p:grpSpPr>
        <p:sp>
          <p:nvSpPr>
            <p:cNvPr id="10" name="Ellipse 9">
              <a:extLst>
                <a:ext uri="{FF2B5EF4-FFF2-40B4-BE49-F238E27FC236}">
                  <a16:creationId xmlns:a16="http://schemas.microsoft.com/office/drawing/2014/main" xmlns="" id="{20FD9DEC-C22B-6D6C-8891-1AFF1581B202}"/>
                </a:ext>
              </a:extLst>
            </p:cNvPr>
            <p:cNvSpPr/>
            <p:nvPr/>
          </p:nvSpPr>
          <p:spPr>
            <a:xfrm>
              <a:off x="4819892" y="3183038"/>
              <a:ext cx="1736202" cy="902825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xmlns="" id="{CA2B587F-836A-C450-B7F1-56B8141AFAB2}"/>
                </a:ext>
              </a:extLst>
            </p:cNvPr>
            <p:cNvCxnSpPr>
              <a:stCxn id="10" idx="2"/>
              <a:endCxn id="10" idx="6"/>
            </p:cNvCxnSpPr>
            <p:nvPr/>
          </p:nvCxnSpPr>
          <p:spPr>
            <a:xfrm>
              <a:off x="4819892" y="3634451"/>
              <a:ext cx="1736202" cy="0"/>
            </a:xfrm>
            <a:prstGeom prst="lin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</p:grp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xmlns="" id="{D602C104-73C0-190E-8950-6068379E36AA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4352080" y="2777930"/>
            <a:ext cx="1289614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xmlns="" id="{979F8EF1-E018-A3CF-EC36-C16F0B1B3621}"/>
              </a:ext>
            </a:extLst>
          </p:cNvPr>
          <p:cNvCxnSpPr>
            <a:cxnSpLocks/>
          </p:cNvCxnSpPr>
          <p:nvPr/>
        </p:nvCxnSpPr>
        <p:spPr>
          <a:xfrm>
            <a:off x="7377896" y="2777930"/>
            <a:ext cx="1289614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xmlns="" id="{E5895C8F-6620-E37A-04F3-619844CCABEC}"/>
              </a:ext>
            </a:extLst>
          </p:cNvPr>
          <p:cNvSpPr txBox="1"/>
          <p:nvPr/>
        </p:nvSpPr>
        <p:spPr>
          <a:xfrm>
            <a:off x="5865469" y="2345602"/>
            <a:ext cx="17362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posséder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xmlns="" id="{2701EFCC-9DB0-C925-82C3-77B4DAF85601}"/>
              </a:ext>
            </a:extLst>
          </p:cNvPr>
          <p:cNvSpPr txBox="1"/>
          <p:nvPr/>
        </p:nvSpPr>
        <p:spPr>
          <a:xfrm>
            <a:off x="2981444" y="1942410"/>
            <a:ext cx="1111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Client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xmlns="" id="{2C564C4D-67B5-4542-A555-465EED48A8F3}"/>
              </a:ext>
            </a:extLst>
          </p:cNvPr>
          <p:cNvSpPr txBox="1"/>
          <p:nvPr/>
        </p:nvSpPr>
        <p:spPr>
          <a:xfrm>
            <a:off x="8667510" y="1788078"/>
            <a:ext cx="22069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Carte bancaire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xmlns="" id="{3383FA32-D52C-94DB-EE3F-A57214F2C11D}"/>
              </a:ext>
            </a:extLst>
          </p:cNvPr>
          <p:cNvSpPr txBox="1"/>
          <p:nvPr/>
        </p:nvSpPr>
        <p:spPr>
          <a:xfrm>
            <a:off x="7970133" y="2377819"/>
            <a:ext cx="5806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</a:rPr>
              <a:t>1,1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xmlns="" id="{131908B8-302A-39C2-311D-CD5455B31FA7}"/>
              </a:ext>
            </a:extLst>
          </p:cNvPr>
          <p:cNvSpPr txBox="1"/>
          <p:nvPr/>
        </p:nvSpPr>
        <p:spPr>
          <a:xfrm>
            <a:off x="4491951" y="2369529"/>
            <a:ext cx="5806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</a:rPr>
              <a:t>1,n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xmlns="" id="{DEB04E04-9F1E-FE94-DD79-0B81DB2B0338}"/>
              </a:ext>
            </a:extLst>
          </p:cNvPr>
          <p:cNvSpPr txBox="1"/>
          <p:nvPr/>
        </p:nvSpPr>
        <p:spPr>
          <a:xfrm>
            <a:off x="2754774" y="2536579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 dirty="0" err="1">
                <a:solidFill>
                  <a:srgbClr val="FF0000"/>
                </a:solidFill>
              </a:rPr>
              <a:t>Id_Client</a:t>
            </a:r>
            <a:endParaRPr lang="fr-FR" sz="2000" b="1" u="sng" dirty="0">
              <a:solidFill>
                <a:srgbClr val="FF0000"/>
              </a:solidFill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xmlns="" id="{D58B3C80-CF7C-87DB-1791-B2DB57430DE3}"/>
              </a:ext>
            </a:extLst>
          </p:cNvPr>
          <p:cNvSpPr txBox="1"/>
          <p:nvPr/>
        </p:nvSpPr>
        <p:spPr>
          <a:xfrm>
            <a:off x="2779849" y="2932047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Nom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xmlns="" id="{67AFB10E-C3A0-E134-15C9-9078E4892E3D}"/>
              </a:ext>
            </a:extLst>
          </p:cNvPr>
          <p:cNvSpPr txBox="1"/>
          <p:nvPr/>
        </p:nvSpPr>
        <p:spPr>
          <a:xfrm>
            <a:off x="8949163" y="2434332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 dirty="0" err="1">
                <a:solidFill>
                  <a:srgbClr val="FF0000"/>
                </a:solidFill>
              </a:rPr>
              <a:t>Id_Carte</a:t>
            </a:r>
            <a:endParaRPr lang="fr-FR" sz="2000" b="1" u="sng" dirty="0">
              <a:solidFill>
                <a:srgbClr val="FF0000"/>
              </a:solidFill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xmlns="" id="{7CAF6F33-1BA1-4426-C5DC-3E65412365FC}"/>
              </a:ext>
            </a:extLst>
          </p:cNvPr>
          <p:cNvSpPr txBox="1"/>
          <p:nvPr/>
        </p:nvSpPr>
        <p:spPr>
          <a:xfrm>
            <a:off x="8974238" y="2829800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Type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xmlns="" id="{31BF65A7-BFEB-5C6B-0E1C-9D439C70CF06}"/>
              </a:ext>
            </a:extLst>
          </p:cNvPr>
          <p:cNvSpPr txBox="1"/>
          <p:nvPr/>
        </p:nvSpPr>
        <p:spPr>
          <a:xfrm>
            <a:off x="2779849" y="3332157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Etc.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xmlns="" id="{BACA0287-B58E-4B98-F425-5E4212A42124}"/>
              </a:ext>
            </a:extLst>
          </p:cNvPr>
          <p:cNvSpPr txBox="1"/>
          <p:nvPr/>
        </p:nvSpPr>
        <p:spPr>
          <a:xfrm>
            <a:off x="8992581" y="3249697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Etc.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xmlns="" id="{B0FDF017-6CC6-02F9-6DEA-27C8EF907AFB}"/>
              </a:ext>
            </a:extLst>
          </p:cNvPr>
          <p:cNvSpPr txBox="1"/>
          <p:nvPr/>
        </p:nvSpPr>
        <p:spPr>
          <a:xfrm>
            <a:off x="2291787" y="4352081"/>
            <a:ext cx="73846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rgbClr val="C00000"/>
                </a:solidFill>
              </a:rPr>
              <a:t>Interprétez ou Lire le MCD ?</a:t>
            </a:r>
          </a:p>
        </p:txBody>
      </p:sp>
    </p:spTree>
    <p:extLst>
      <p:ext uri="{BB962C8B-B14F-4D97-AF65-F5344CB8AC3E}">
        <p14:creationId xmlns:p14="http://schemas.microsoft.com/office/powerpoint/2010/main" val="515378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E7DF7C11-392F-08F2-4F10-1D5F5458141A}"/>
              </a:ext>
            </a:extLst>
          </p:cNvPr>
          <p:cNvSpPr txBox="1">
            <a:spLocks/>
          </p:cNvSpPr>
          <p:nvPr/>
        </p:nvSpPr>
        <p:spPr>
          <a:xfrm>
            <a:off x="1295402" y="299754"/>
            <a:ext cx="9601196" cy="130386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dirty="0"/>
              <a:t>Interpréter le MCD - Lire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xmlns="" id="{64DD8A38-301A-7378-0D7B-633772C2A30A}"/>
              </a:ext>
            </a:extLst>
          </p:cNvPr>
          <p:cNvGrpSpPr/>
          <p:nvPr/>
        </p:nvGrpSpPr>
        <p:grpSpPr>
          <a:xfrm>
            <a:off x="2615878" y="1713056"/>
            <a:ext cx="1747777" cy="2141317"/>
            <a:chOff x="1794076" y="2569577"/>
            <a:chExt cx="1747777" cy="214131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xmlns="" id="{3DF82232-B5EE-D25E-4670-C4D02A220EC8}"/>
                </a:ext>
              </a:extLst>
            </p:cNvPr>
            <p:cNvSpPr/>
            <p:nvPr/>
          </p:nvSpPr>
          <p:spPr>
            <a:xfrm>
              <a:off x="1794076" y="2569577"/>
              <a:ext cx="1736202" cy="2141317"/>
            </a:xfrm>
            <a:prstGeom prst="rect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dk1"/>
                </a:solidFill>
              </a:endParaRPr>
            </a:p>
          </p:txBody>
        </p:sp>
        <p:cxnSp>
          <p:nvCxnSpPr>
            <p:cNvPr id="5" name="Connecteur droit 4">
              <a:extLst>
                <a:ext uri="{FF2B5EF4-FFF2-40B4-BE49-F238E27FC236}">
                  <a16:creationId xmlns:a16="http://schemas.microsoft.com/office/drawing/2014/main" xmlns="" id="{BE1FC820-BB53-51A5-DD97-F0924DCCCFCE}"/>
                </a:ext>
              </a:extLst>
            </p:cNvPr>
            <p:cNvCxnSpPr>
              <a:cxnSpLocks/>
            </p:cNvCxnSpPr>
            <p:nvPr/>
          </p:nvCxnSpPr>
          <p:spPr>
            <a:xfrm>
              <a:off x="1794076" y="3275635"/>
              <a:ext cx="1747777" cy="0"/>
            </a:xfrm>
            <a:prstGeom prst="lin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xmlns="" id="{0AC0C80A-1167-6BF9-174F-4A6966280B2E}"/>
              </a:ext>
            </a:extLst>
          </p:cNvPr>
          <p:cNvGrpSpPr/>
          <p:nvPr/>
        </p:nvGrpSpPr>
        <p:grpSpPr>
          <a:xfrm>
            <a:off x="8690662" y="1678335"/>
            <a:ext cx="1747777" cy="2141317"/>
            <a:chOff x="1794076" y="2731625"/>
            <a:chExt cx="1747777" cy="214131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C52172BE-A808-08C2-718F-96D5A34FE09B}"/>
                </a:ext>
              </a:extLst>
            </p:cNvPr>
            <p:cNvSpPr/>
            <p:nvPr/>
          </p:nvSpPr>
          <p:spPr>
            <a:xfrm>
              <a:off x="1794076" y="2731625"/>
              <a:ext cx="1736202" cy="2141317"/>
            </a:xfrm>
            <a:prstGeom prst="rect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dk1"/>
                </a:solidFill>
              </a:endParaRPr>
            </a:p>
          </p:txBody>
        </p:sp>
        <p:cxnSp>
          <p:nvCxnSpPr>
            <p:cNvPr id="8" name="Connecteur droit 7">
              <a:extLst>
                <a:ext uri="{FF2B5EF4-FFF2-40B4-BE49-F238E27FC236}">
                  <a16:creationId xmlns:a16="http://schemas.microsoft.com/office/drawing/2014/main" xmlns="" id="{3BABBCC4-0235-C38A-63F8-307B76C9668F}"/>
                </a:ext>
              </a:extLst>
            </p:cNvPr>
            <p:cNvCxnSpPr>
              <a:cxnSpLocks/>
            </p:cNvCxnSpPr>
            <p:nvPr/>
          </p:nvCxnSpPr>
          <p:spPr>
            <a:xfrm>
              <a:off x="1794076" y="3275635"/>
              <a:ext cx="1747777" cy="0"/>
            </a:xfrm>
            <a:prstGeom prst="lin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xmlns="" id="{422A7C22-8356-FA09-7F75-B64874BE0588}"/>
              </a:ext>
            </a:extLst>
          </p:cNvPr>
          <p:cNvGrpSpPr/>
          <p:nvPr/>
        </p:nvGrpSpPr>
        <p:grpSpPr>
          <a:xfrm>
            <a:off x="5641694" y="2326517"/>
            <a:ext cx="1736202" cy="902825"/>
            <a:chOff x="4819892" y="3183038"/>
            <a:chExt cx="1736202" cy="902825"/>
          </a:xfrm>
        </p:grpSpPr>
        <p:sp>
          <p:nvSpPr>
            <p:cNvPr id="10" name="Ellipse 9">
              <a:extLst>
                <a:ext uri="{FF2B5EF4-FFF2-40B4-BE49-F238E27FC236}">
                  <a16:creationId xmlns:a16="http://schemas.microsoft.com/office/drawing/2014/main" xmlns="" id="{20FD9DEC-C22B-6D6C-8891-1AFF1581B202}"/>
                </a:ext>
              </a:extLst>
            </p:cNvPr>
            <p:cNvSpPr/>
            <p:nvPr/>
          </p:nvSpPr>
          <p:spPr>
            <a:xfrm>
              <a:off x="4819892" y="3183038"/>
              <a:ext cx="1736202" cy="902825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xmlns="" id="{CA2B587F-836A-C450-B7F1-56B8141AFAB2}"/>
                </a:ext>
              </a:extLst>
            </p:cNvPr>
            <p:cNvCxnSpPr>
              <a:stCxn id="10" idx="2"/>
              <a:endCxn id="10" idx="6"/>
            </p:cNvCxnSpPr>
            <p:nvPr/>
          </p:nvCxnSpPr>
          <p:spPr>
            <a:xfrm>
              <a:off x="4819892" y="3634451"/>
              <a:ext cx="1736202" cy="0"/>
            </a:xfrm>
            <a:prstGeom prst="lin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</p:grp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xmlns="" id="{D602C104-73C0-190E-8950-6068379E36AA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4352080" y="2777930"/>
            <a:ext cx="1289614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xmlns="" id="{979F8EF1-E018-A3CF-EC36-C16F0B1B3621}"/>
              </a:ext>
            </a:extLst>
          </p:cNvPr>
          <p:cNvCxnSpPr>
            <a:cxnSpLocks/>
          </p:cNvCxnSpPr>
          <p:nvPr/>
        </p:nvCxnSpPr>
        <p:spPr>
          <a:xfrm>
            <a:off x="7377896" y="2777930"/>
            <a:ext cx="1289614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xmlns="" id="{E5895C8F-6620-E37A-04F3-619844CCABEC}"/>
              </a:ext>
            </a:extLst>
          </p:cNvPr>
          <p:cNvSpPr txBox="1"/>
          <p:nvPr/>
        </p:nvSpPr>
        <p:spPr>
          <a:xfrm>
            <a:off x="5781565" y="2369529"/>
            <a:ext cx="17362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posséder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xmlns="" id="{2701EFCC-9DB0-C925-82C3-77B4DAF85601}"/>
              </a:ext>
            </a:extLst>
          </p:cNvPr>
          <p:cNvSpPr txBox="1"/>
          <p:nvPr/>
        </p:nvSpPr>
        <p:spPr>
          <a:xfrm>
            <a:off x="2981444" y="1942410"/>
            <a:ext cx="1111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Client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xmlns="" id="{2C564C4D-67B5-4542-A555-465EED48A8F3}"/>
              </a:ext>
            </a:extLst>
          </p:cNvPr>
          <p:cNvSpPr txBox="1"/>
          <p:nvPr/>
        </p:nvSpPr>
        <p:spPr>
          <a:xfrm>
            <a:off x="8639517" y="1788078"/>
            <a:ext cx="220690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Carte bancaire</a:t>
            </a:r>
          </a:p>
          <a:p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xmlns="" id="{3383FA32-D52C-94DB-EE3F-A57214F2C11D}"/>
              </a:ext>
            </a:extLst>
          </p:cNvPr>
          <p:cNvSpPr txBox="1"/>
          <p:nvPr/>
        </p:nvSpPr>
        <p:spPr>
          <a:xfrm>
            <a:off x="7970133" y="2377819"/>
            <a:ext cx="5806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</a:rPr>
              <a:t>1,1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xmlns="" id="{131908B8-302A-39C2-311D-CD5455B31FA7}"/>
              </a:ext>
            </a:extLst>
          </p:cNvPr>
          <p:cNvSpPr txBox="1"/>
          <p:nvPr/>
        </p:nvSpPr>
        <p:spPr>
          <a:xfrm>
            <a:off x="4491951" y="2369529"/>
            <a:ext cx="5806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</a:rPr>
              <a:t>1,n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xmlns="" id="{DEB04E04-9F1E-FE94-DD79-0B81DB2B0338}"/>
              </a:ext>
            </a:extLst>
          </p:cNvPr>
          <p:cNvSpPr txBox="1"/>
          <p:nvPr/>
        </p:nvSpPr>
        <p:spPr>
          <a:xfrm>
            <a:off x="2754774" y="2536579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 dirty="0" err="1">
                <a:solidFill>
                  <a:srgbClr val="FF0000"/>
                </a:solidFill>
              </a:rPr>
              <a:t>Id_Client</a:t>
            </a:r>
            <a:endParaRPr lang="fr-FR" sz="2000" b="1" u="sng" dirty="0">
              <a:solidFill>
                <a:srgbClr val="FF0000"/>
              </a:solidFill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xmlns="" id="{D58B3C80-CF7C-87DB-1791-B2DB57430DE3}"/>
              </a:ext>
            </a:extLst>
          </p:cNvPr>
          <p:cNvSpPr txBox="1"/>
          <p:nvPr/>
        </p:nvSpPr>
        <p:spPr>
          <a:xfrm>
            <a:off x="2779849" y="2932047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Nom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xmlns="" id="{67AFB10E-C3A0-E134-15C9-9078E4892E3D}"/>
              </a:ext>
            </a:extLst>
          </p:cNvPr>
          <p:cNvSpPr txBox="1"/>
          <p:nvPr/>
        </p:nvSpPr>
        <p:spPr>
          <a:xfrm>
            <a:off x="8949163" y="2434332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 dirty="0" err="1">
                <a:solidFill>
                  <a:srgbClr val="FF0000"/>
                </a:solidFill>
              </a:rPr>
              <a:t>Id_Carte</a:t>
            </a:r>
            <a:endParaRPr lang="fr-FR" sz="2000" b="1" u="sng" dirty="0">
              <a:solidFill>
                <a:srgbClr val="FF0000"/>
              </a:solidFill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xmlns="" id="{7CAF6F33-1BA1-4426-C5DC-3E65412365FC}"/>
              </a:ext>
            </a:extLst>
          </p:cNvPr>
          <p:cNvSpPr txBox="1"/>
          <p:nvPr/>
        </p:nvSpPr>
        <p:spPr>
          <a:xfrm>
            <a:off x="8974238" y="2829800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Type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xmlns="" id="{31BF65A7-BFEB-5C6B-0E1C-9D439C70CF06}"/>
              </a:ext>
            </a:extLst>
          </p:cNvPr>
          <p:cNvSpPr txBox="1"/>
          <p:nvPr/>
        </p:nvSpPr>
        <p:spPr>
          <a:xfrm>
            <a:off x="2779849" y="3332157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Etc.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xmlns="" id="{BACA0287-B58E-4B98-F425-5E4212A42124}"/>
              </a:ext>
            </a:extLst>
          </p:cNvPr>
          <p:cNvSpPr txBox="1"/>
          <p:nvPr/>
        </p:nvSpPr>
        <p:spPr>
          <a:xfrm>
            <a:off x="8992581" y="3249697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Etc.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xmlns="" id="{B0FDF017-6CC6-02F9-6DEA-27C8EF907AFB}"/>
              </a:ext>
            </a:extLst>
          </p:cNvPr>
          <p:cNvSpPr txBox="1"/>
          <p:nvPr/>
        </p:nvSpPr>
        <p:spPr>
          <a:xfrm>
            <a:off x="914400" y="4352081"/>
            <a:ext cx="1049823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rgbClr val="C00000"/>
                </a:solidFill>
              </a:rPr>
              <a:t>- Réponse</a:t>
            </a:r>
          </a:p>
          <a:p>
            <a:r>
              <a:rPr lang="fr-FR" sz="3200" dirty="0">
                <a:solidFill>
                  <a:srgbClr val="C00000"/>
                </a:solidFill>
              </a:rPr>
              <a:t>Une occurrence d'un client peut donc très bien</a:t>
            </a:r>
          </a:p>
          <a:p>
            <a:r>
              <a:rPr lang="fr-FR" sz="3200" dirty="0">
                <a:solidFill>
                  <a:srgbClr val="C00000"/>
                </a:solidFill>
              </a:rPr>
              <a:t>exister sans carte, mais une carte ne peut jamais exister sans client. Association fonctionnelle</a:t>
            </a:r>
          </a:p>
        </p:txBody>
      </p:sp>
    </p:spTree>
    <p:extLst>
      <p:ext uri="{BB962C8B-B14F-4D97-AF65-F5344CB8AC3E}">
        <p14:creationId xmlns:p14="http://schemas.microsoft.com/office/powerpoint/2010/main" val="488000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AED4D6CC-8E28-B031-CE10-14145489DFB5}"/>
              </a:ext>
            </a:extLst>
          </p:cNvPr>
          <p:cNvSpPr txBox="1">
            <a:spLocks/>
          </p:cNvSpPr>
          <p:nvPr/>
        </p:nvSpPr>
        <p:spPr>
          <a:xfrm>
            <a:off x="1295402" y="739592"/>
            <a:ext cx="9601196" cy="869289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dirty="0"/>
              <a:t>Dépendance Association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09A71D11-0E5F-E747-FE26-777FAADFF41C}"/>
              </a:ext>
            </a:extLst>
          </p:cNvPr>
          <p:cNvSpPr txBox="1"/>
          <p:nvPr/>
        </p:nvSpPr>
        <p:spPr>
          <a:xfrm>
            <a:off x="949124" y="1608881"/>
            <a:ext cx="1049823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rgbClr val="C00000"/>
                </a:solidFill>
              </a:rPr>
              <a:t>On dit qu'une entité est indépendante par rapport à une relation lorsque sa cardinalité minimale vaut 0, et dépendante par rapport à une relation lorsque sa cardinalité minimale vaut 1.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xmlns="" id="{094E2343-183E-CA6C-9617-26963FFB3F22}"/>
              </a:ext>
            </a:extLst>
          </p:cNvPr>
          <p:cNvGrpSpPr/>
          <p:nvPr/>
        </p:nvGrpSpPr>
        <p:grpSpPr>
          <a:xfrm>
            <a:off x="2615878" y="3703905"/>
            <a:ext cx="1747777" cy="2141317"/>
            <a:chOff x="1794076" y="2569577"/>
            <a:chExt cx="1747777" cy="214131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DE966E5A-30F8-0CBD-FF7D-7DA88D4DA429}"/>
                </a:ext>
              </a:extLst>
            </p:cNvPr>
            <p:cNvSpPr/>
            <p:nvPr/>
          </p:nvSpPr>
          <p:spPr>
            <a:xfrm>
              <a:off x="1794076" y="2569577"/>
              <a:ext cx="1736202" cy="2141317"/>
            </a:xfrm>
            <a:prstGeom prst="rect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dk1"/>
                </a:solidFill>
              </a:endParaRPr>
            </a:p>
          </p:txBody>
        </p:sp>
        <p:cxnSp>
          <p:nvCxnSpPr>
            <p:cNvPr id="6" name="Connecteur droit 5">
              <a:extLst>
                <a:ext uri="{FF2B5EF4-FFF2-40B4-BE49-F238E27FC236}">
                  <a16:creationId xmlns:a16="http://schemas.microsoft.com/office/drawing/2014/main" xmlns="" id="{B5217BBF-8454-7344-6B34-C93CDF587B87}"/>
                </a:ext>
              </a:extLst>
            </p:cNvPr>
            <p:cNvCxnSpPr>
              <a:cxnSpLocks/>
            </p:cNvCxnSpPr>
            <p:nvPr/>
          </p:nvCxnSpPr>
          <p:spPr>
            <a:xfrm>
              <a:off x="1794076" y="3275635"/>
              <a:ext cx="1747777" cy="0"/>
            </a:xfrm>
            <a:prstGeom prst="lin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</p:grpSp>
      <p:grpSp>
        <p:nvGrpSpPr>
          <p:cNvPr id="7" name="Groupe 6">
            <a:extLst>
              <a:ext uri="{FF2B5EF4-FFF2-40B4-BE49-F238E27FC236}">
                <a16:creationId xmlns:a16="http://schemas.microsoft.com/office/drawing/2014/main" xmlns="" id="{443C79EB-0E25-4420-63C3-82FEC1B25E62}"/>
              </a:ext>
            </a:extLst>
          </p:cNvPr>
          <p:cNvGrpSpPr/>
          <p:nvPr/>
        </p:nvGrpSpPr>
        <p:grpSpPr>
          <a:xfrm>
            <a:off x="8690662" y="3669184"/>
            <a:ext cx="1747777" cy="2141317"/>
            <a:chOff x="1794076" y="2731625"/>
            <a:chExt cx="1747777" cy="214131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00DA14AA-635F-5756-CA68-D74D3A024D79}"/>
                </a:ext>
              </a:extLst>
            </p:cNvPr>
            <p:cNvSpPr/>
            <p:nvPr/>
          </p:nvSpPr>
          <p:spPr>
            <a:xfrm>
              <a:off x="1794076" y="2731625"/>
              <a:ext cx="1736202" cy="2141317"/>
            </a:xfrm>
            <a:prstGeom prst="rect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dk1"/>
                </a:solidFill>
              </a:endParaRPr>
            </a:p>
          </p:txBody>
        </p:sp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xmlns="" id="{85021CE8-7E22-D80B-1821-782720BE42BB}"/>
                </a:ext>
              </a:extLst>
            </p:cNvPr>
            <p:cNvCxnSpPr>
              <a:cxnSpLocks/>
            </p:cNvCxnSpPr>
            <p:nvPr/>
          </p:nvCxnSpPr>
          <p:spPr>
            <a:xfrm>
              <a:off x="1794076" y="3275635"/>
              <a:ext cx="1747777" cy="0"/>
            </a:xfrm>
            <a:prstGeom prst="lin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xmlns="" id="{5EF522C8-775C-A4C6-29D4-ACEE6BDA2BA2}"/>
              </a:ext>
            </a:extLst>
          </p:cNvPr>
          <p:cNvGrpSpPr/>
          <p:nvPr/>
        </p:nvGrpSpPr>
        <p:grpSpPr>
          <a:xfrm>
            <a:off x="5641694" y="4317366"/>
            <a:ext cx="1736202" cy="902825"/>
            <a:chOff x="4819892" y="3183038"/>
            <a:chExt cx="1736202" cy="902825"/>
          </a:xfrm>
        </p:grpSpPr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xmlns="" id="{8E8E3E63-2478-182A-2DEC-ED4CE488D186}"/>
                </a:ext>
              </a:extLst>
            </p:cNvPr>
            <p:cNvSpPr/>
            <p:nvPr/>
          </p:nvSpPr>
          <p:spPr>
            <a:xfrm>
              <a:off x="4819892" y="3183038"/>
              <a:ext cx="1736202" cy="902825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xmlns="" id="{F12C8967-560D-5559-8AEE-E7980F46EAE6}"/>
                </a:ext>
              </a:extLst>
            </p:cNvPr>
            <p:cNvCxnSpPr>
              <a:stCxn id="11" idx="2"/>
              <a:endCxn id="11" idx="6"/>
            </p:cNvCxnSpPr>
            <p:nvPr/>
          </p:nvCxnSpPr>
          <p:spPr>
            <a:xfrm>
              <a:off x="4819892" y="3634451"/>
              <a:ext cx="1736202" cy="0"/>
            </a:xfrm>
            <a:prstGeom prst="lin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</p:grp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xmlns="" id="{9D9E4CDF-E92E-C54C-271C-B35DADC43B7C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4352080" y="4768779"/>
            <a:ext cx="1289614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xmlns="" id="{14AF66DE-0361-C700-D001-2FF39B9FBB57}"/>
              </a:ext>
            </a:extLst>
          </p:cNvPr>
          <p:cNvCxnSpPr>
            <a:cxnSpLocks/>
          </p:cNvCxnSpPr>
          <p:nvPr/>
        </p:nvCxnSpPr>
        <p:spPr>
          <a:xfrm>
            <a:off x="7377896" y="4768779"/>
            <a:ext cx="1289614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xmlns="" id="{4CBAAE2C-E7B8-3DE5-8349-D4D1E420F87A}"/>
              </a:ext>
            </a:extLst>
          </p:cNvPr>
          <p:cNvSpPr txBox="1"/>
          <p:nvPr/>
        </p:nvSpPr>
        <p:spPr>
          <a:xfrm>
            <a:off x="5781565" y="4360378"/>
            <a:ext cx="17362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posséder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xmlns="" id="{5BC692A0-D88A-7B9F-5F3E-CA72F5F08C97}"/>
              </a:ext>
            </a:extLst>
          </p:cNvPr>
          <p:cNvSpPr txBox="1"/>
          <p:nvPr/>
        </p:nvSpPr>
        <p:spPr>
          <a:xfrm>
            <a:off x="2981444" y="3933259"/>
            <a:ext cx="1111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Client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xmlns="" id="{F7A312BB-78B3-79B0-3A58-DFF1CA62416E}"/>
              </a:ext>
            </a:extLst>
          </p:cNvPr>
          <p:cNvSpPr txBox="1"/>
          <p:nvPr/>
        </p:nvSpPr>
        <p:spPr>
          <a:xfrm>
            <a:off x="8667510" y="3778927"/>
            <a:ext cx="22069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Carte bancaire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xmlns="" id="{4640E3A2-4541-E67F-1E5B-358D2D5041C3}"/>
              </a:ext>
            </a:extLst>
          </p:cNvPr>
          <p:cNvSpPr txBox="1"/>
          <p:nvPr/>
        </p:nvSpPr>
        <p:spPr>
          <a:xfrm>
            <a:off x="7801343" y="4368668"/>
            <a:ext cx="7494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</a:rPr>
              <a:t>1 ,--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xmlns="" id="{9D5E6EEA-20DB-F38D-3BBE-0152E9104EE2}"/>
              </a:ext>
            </a:extLst>
          </p:cNvPr>
          <p:cNvSpPr txBox="1"/>
          <p:nvPr/>
        </p:nvSpPr>
        <p:spPr>
          <a:xfrm>
            <a:off x="4491950" y="4360378"/>
            <a:ext cx="842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</a:rPr>
              <a:t>0 , --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xmlns="" id="{85FA6DC2-475D-3CB7-6446-07AA5AC580D2}"/>
              </a:ext>
            </a:extLst>
          </p:cNvPr>
          <p:cNvSpPr txBox="1"/>
          <p:nvPr/>
        </p:nvSpPr>
        <p:spPr>
          <a:xfrm>
            <a:off x="2754774" y="4527428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 dirty="0" err="1">
                <a:solidFill>
                  <a:srgbClr val="FF0000"/>
                </a:solidFill>
              </a:rPr>
              <a:t>Id_Client</a:t>
            </a:r>
            <a:endParaRPr lang="fr-FR" sz="2000" b="1" u="sng" dirty="0">
              <a:solidFill>
                <a:srgbClr val="FF0000"/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xmlns="" id="{C25FEE5E-D54A-9F99-A88A-4C6CD77767EA}"/>
              </a:ext>
            </a:extLst>
          </p:cNvPr>
          <p:cNvSpPr txBox="1"/>
          <p:nvPr/>
        </p:nvSpPr>
        <p:spPr>
          <a:xfrm>
            <a:off x="2779849" y="4922896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Nom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xmlns="" id="{ECE14C93-759B-6D49-D0EF-231F02EF58C3}"/>
              </a:ext>
            </a:extLst>
          </p:cNvPr>
          <p:cNvSpPr txBox="1"/>
          <p:nvPr/>
        </p:nvSpPr>
        <p:spPr>
          <a:xfrm>
            <a:off x="8949163" y="4425181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 dirty="0" err="1">
                <a:solidFill>
                  <a:srgbClr val="FF0000"/>
                </a:solidFill>
              </a:rPr>
              <a:t>Id_Carte</a:t>
            </a:r>
            <a:endParaRPr lang="fr-FR" sz="2000" b="1" u="sng" dirty="0">
              <a:solidFill>
                <a:srgbClr val="FF0000"/>
              </a:solidFill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xmlns="" id="{D41EF9F0-B1BB-8A79-9CEA-C76F5BB65AFA}"/>
              </a:ext>
            </a:extLst>
          </p:cNvPr>
          <p:cNvSpPr txBox="1"/>
          <p:nvPr/>
        </p:nvSpPr>
        <p:spPr>
          <a:xfrm>
            <a:off x="8974238" y="4820649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Type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xmlns="" id="{4EC70C38-39FB-15E0-16EF-6290CD0AA715}"/>
              </a:ext>
            </a:extLst>
          </p:cNvPr>
          <p:cNvSpPr txBox="1"/>
          <p:nvPr/>
        </p:nvSpPr>
        <p:spPr>
          <a:xfrm>
            <a:off x="2779849" y="5323006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Etc.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xmlns="" id="{75F9B1DD-158B-16BD-8237-5249740DDAE2}"/>
              </a:ext>
            </a:extLst>
          </p:cNvPr>
          <p:cNvSpPr txBox="1"/>
          <p:nvPr/>
        </p:nvSpPr>
        <p:spPr>
          <a:xfrm>
            <a:off x="8992581" y="5240546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2567221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AED4D6CC-8E28-B031-CE10-14145489DFB5}"/>
              </a:ext>
            </a:extLst>
          </p:cNvPr>
          <p:cNvSpPr txBox="1">
            <a:spLocks/>
          </p:cNvSpPr>
          <p:nvPr/>
        </p:nvSpPr>
        <p:spPr>
          <a:xfrm>
            <a:off x="1295402" y="739592"/>
            <a:ext cx="9601196" cy="869289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dirty="0"/>
              <a:t>Dépendance Association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09A71D11-0E5F-E747-FE26-777FAADFF41C}"/>
              </a:ext>
            </a:extLst>
          </p:cNvPr>
          <p:cNvSpPr txBox="1"/>
          <p:nvPr/>
        </p:nvSpPr>
        <p:spPr>
          <a:xfrm>
            <a:off x="949124" y="1608881"/>
            <a:ext cx="104982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rgbClr val="C00000"/>
                </a:solidFill>
              </a:rPr>
              <a:t>Une association ne peut être liée à deux entités dépendantes avec cardinalité max = 1 (FAUX)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xmlns="" id="{094E2343-183E-CA6C-9617-26963FFB3F22}"/>
              </a:ext>
            </a:extLst>
          </p:cNvPr>
          <p:cNvGrpSpPr/>
          <p:nvPr/>
        </p:nvGrpSpPr>
        <p:grpSpPr>
          <a:xfrm>
            <a:off x="1944547" y="2928403"/>
            <a:ext cx="1747777" cy="2141317"/>
            <a:chOff x="1794076" y="2569577"/>
            <a:chExt cx="1747777" cy="214131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DE966E5A-30F8-0CBD-FF7D-7DA88D4DA429}"/>
                </a:ext>
              </a:extLst>
            </p:cNvPr>
            <p:cNvSpPr/>
            <p:nvPr/>
          </p:nvSpPr>
          <p:spPr>
            <a:xfrm>
              <a:off x="1794076" y="2569577"/>
              <a:ext cx="1736202" cy="2141317"/>
            </a:xfrm>
            <a:prstGeom prst="rect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dk1"/>
                </a:solidFill>
              </a:endParaRPr>
            </a:p>
          </p:txBody>
        </p:sp>
        <p:cxnSp>
          <p:nvCxnSpPr>
            <p:cNvPr id="6" name="Connecteur droit 5">
              <a:extLst>
                <a:ext uri="{FF2B5EF4-FFF2-40B4-BE49-F238E27FC236}">
                  <a16:creationId xmlns:a16="http://schemas.microsoft.com/office/drawing/2014/main" xmlns="" id="{B5217BBF-8454-7344-6B34-C93CDF587B87}"/>
                </a:ext>
              </a:extLst>
            </p:cNvPr>
            <p:cNvCxnSpPr>
              <a:cxnSpLocks/>
            </p:cNvCxnSpPr>
            <p:nvPr/>
          </p:nvCxnSpPr>
          <p:spPr>
            <a:xfrm>
              <a:off x="1794076" y="3275635"/>
              <a:ext cx="1747777" cy="0"/>
            </a:xfrm>
            <a:prstGeom prst="lin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</p:grpSp>
      <p:grpSp>
        <p:nvGrpSpPr>
          <p:cNvPr id="7" name="Groupe 6">
            <a:extLst>
              <a:ext uri="{FF2B5EF4-FFF2-40B4-BE49-F238E27FC236}">
                <a16:creationId xmlns:a16="http://schemas.microsoft.com/office/drawing/2014/main" xmlns="" id="{443C79EB-0E25-4420-63C3-82FEC1B25E62}"/>
              </a:ext>
            </a:extLst>
          </p:cNvPr>
          <p:cNvGrpSpPr/>
          <p:nvPr/>
        </p:nvGrpSpPr>
        <p:grpSpPr>
          <a:xfrm>
            <a:off x="8019331" y="2893682"/>
            <a:ext cx="1747777" cy="2141317"/>
            <a:chOff x="1794076" y="2731625"/>
            <a:chExt cx="1747777" cy="214131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00DA14AA-635F-5756-CA68-D74D3A024D79}"/>
                </a:ext>
              </a:extLst>
            </p:cNvPr>
            <p:cNvSpPr/>
            <p:nvPr/>
          </p:nvSpPr>
          <p:spPr>
            <a:xfrm>
              <a:off x="1794076" y="2731625"/>
              <a:ext cx="1736202" cy="2141317"/>
            </a:xfrm>
            <a:prstGeom prst="rect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dk1"/>
                </a:solidFill>
              </a:endParaRPr>
            </a:p>
          </p:txBody>
        </p:sp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xmlns="" id="{85021CE8-7E22-D80B-1821-782720BE42BB}"/>
                </a:ext>
              </a:extLst>
            </p:cNvPr>
            <p:cNvCxnSpPr>
              <a:cxnSpLocks/>
            </p:cNvCxnSpPr>
            <p:nvPr/>
          </p:nvCxnSpPr>
          <p:spPr>
            <a:xfrm>
              <a:off x="1794076" y="3275635"/>
              <a:ext cx="1747777" cy="0"/>
            </a:xfrm>
            <a:prstGeom prst="lin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xmlns="" id="{5EF522C8-775C-A4C6-29D4-ACEE6BDA2BA2}"/>
              </a:ext>
            </a:extLst>
          </p:cNvPr>
          <p:cNvGrpSpPr/>
          <p:nvPr/>
        </p:nvGrpSpPr>
        <p:grpSpPr>
          <a:xfrm>
            <a:off x="4970363" y="3541864"/>
            <a:ext cx="1736202" cy="902825"/>
            <a:chOff x="4819892" y="3183038"/>
            <a:chExt cx="1736202" cy="902825"/>
          </a:xfrm>
        </p:grpSpPr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xmlns="" id="{8E8E3E63-2478-182A-2DEC-ED4CE488D186}"/>
                </a:ext>
              </a:extLst>
            </p:cNvPr>
            <p:cNvSpPr/>
            <p:nvPr/>
          </p:nvSpPr>
          <p:spPr>
            <a:xfrm>
              <a:off x="4819892" y="3183038"/>
              <a:ext cx="1736202" cy="902825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xmlns="" id="{F12C8967-560D-5559-8AEE-E7980F46EAE6}"/>
                </a:ext>
              </a:extLst>
            </p:cNvPr>
            <p:cNvCxnSpPr>
              <a:stCxn id="11" idx="2"/>
              <a:endCxn id="11" idx="6"/>
            </p:cNvCxnSpPr>
            <p:nvPr/>
          </p:nvCxnSpPr>
          <p:spPr>
            <a:xfrm>
              <a:off x="4819892" y="3634451"/>
              <a:ext cx="1736202" cy="0"/>
            </a:xfrm>
            <a:prstGeom prst="lin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</p:grp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xmlns="" id="{9D9E4CDF-E92E-C54C-271C-B35DADC43B7C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3680749" y="3993277"/>
            <a:ext cx="1289614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xmlns="" id="{14AF66DE-0361-C700-D001-2FF39B9FBB57}"/>
              </a:ext>
            </a:extLst>
          </p:cNvPr>
          <p:cNvCxnSpPr>
            <a:cxnSpLocks/>
          </p:cNvCxnSpPr>
          <p:nvPr/>
        </p:nvCxnSpPr>
        <p:spPr>
          <a:xfrm>
            <a:off x="6706565" y="3993277"/>
            <a:ext cx="1289614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xmlns="" id="{4CBAAE2C-E7B8-3DE5-8349-D4D1E420F87A}"/>
              </a:ext>
            </a:extLst>
          </p:cNvPr>
          <p:cNvSpPr txBox="1"/>
          <p:nvPr/>
        </p:nvSpPr>
        <p:spPr>
          <a:xfrm>
            <a:off x="5264560" y="3541864"/>
            <a:ext cx="11941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posséder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xmlns="" id="{5BC692A0-D88A-7B9F-5F3E-CA72F5F08C97}"/>
              </a:ext>
            </a:extLst>
          </p:cNvPr>
          <p:cNvSpPr txBox="1"/>
          <p:nvPr/>
        </p:nvSpPr>
        <p:spPr>
          <a:xfrm>
            <a:off x="2310113" y="3157757"/>
            <a:ext cx="1111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Client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xmlns="" id="{F7A312BB-78B3-79B0-3A58-DFF1CA62416E}"/>
              </a:ext>
            </a:extLst>
          </p:cNvPr>
          <p:cNvSpPr txBox="1"/>
          <p:nvPr/>
        </p:nvSpPr>
        <p:spPr>
          <a:xfrm>
            <a:off x="7996179" y="3003425"/>
            <a:ext cx="22069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Carte bancaire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xmlns="" id="{4640E3A2-4541-E67F-1E5B-358D2D5041C3}"/>
              </a:ext>
            </a:extLst>
          </p:cNvPr>
          <p:cNvSpPr txBox="1"/>
          <p:nvPr/>
        </p:nvSpPr>
        <p:spPr>
          <a:xfrm>
            <a:off x="7130012" y="3593166"/>
            <a:ext cx="7494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</a:rPr>
              <a:t>1 , 1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xmlns="" id="{9D5E6EEA-20DB-F38D-3BBE-0152E9104EE2}"/>
              </a:ext>
            </a:extLst>
          </p:cNvPr>
          <p:cNvSpPr txBox="1"/>
          <p:nvPr/>
        </p:nvSpPr>
        <p:spPr>
          <a:xfrm>
            <a:off x="3820619" y="3584876"/>
            <a:ext cx="842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</a:rPr>
              <a:t>1 , 1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xmlns="" id="{85FA6DC2-475D-3CB7-6446-07AA5AC580D2}"/>
              </a:ext>
            </a:extLst>
          </p:cNvPr>
          <p:cNvSpPr txBox="1"/>
          <p:nvPr/>
        </p:nvSpPr>
        <p:spPr>
          <a:xfrm>
            <a:off x="2083443" y="3751926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 dirty="0" err="1">
                <a:solidFill>
                  <a:srgbClr val="FF0000"/>
                </a:solidFill>
              </a:rPr>
              <a:t>Id_Client</a:t>
            </a:r>
            <a:endParaRPr lang="fr-FR" sz="2000" b="1" u="sng" dirty="0">
              <a:solidFill>
                <a:srgbClr val="FF0000"/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xmlns="" id="{C25FEE5E-D54A-9F99-A88A-4C6CD77767EA}"/>
              </a:ext>
            </a:extLst>
          </p:cNvPr>
          <p:cNvSpPr txBox="1"/>
          <p:nvPr/>
        </p:nvSpPr>
        <p:spPr>
          <a:xfrm>
            <a:off x="2108518" y="4147394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Nom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xmlns="" id="{ECE14C93-759B-6D49-D0EF-231F02EF58C3}"/>
              </a:ext>
            </a:extLst>
          </p:cNvPr>
          <p:cNvSpPr txBox="1"/>
          <p:nvPr/>
        </p:nvSpPr>
        <p:spPr>
          <a:xfrm>
            <a:off x="8277832" y="3649679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 dirty="0" err="1">
                <a:solidFill>
                  <a:srgbClr val="FF0000"/>
                </a:solidFill>
              </a:rPr>
              <a:t>Id_Carte</a:t>
            </a:r>
            <a:endParaRPr lang="fr-FR" sz="2000" b="1" u="sng" dirty="0">
              <a:solidFill>
                <a:srgbClr val="FF0000"/>
              </a:solidFill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xmlns="" id="{D41EF9F0-B1BB-8A79-9CEA-C76F5BB65AFA}"/>
              </a:ext>
            </a:extLst>
          </p:cNvPr>
          <p:cNvSpPr txBox="1"/>
          <p:nvPr/>
        </p:nvSpPr>
        <p:spPr>
          <a:xfrm>
            <a:off x="8302907" y="4045147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Type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xmlns="" id="{4EC70C38-39FB-15E0-16EF-6290CD0AA715}"/>
              </a:ext>
            </a:extLst>
          </p:cNvPr>
          <p:cNvSpPr txBox="1"/>
          <p:nvPr/>
        </p:nvSpPr>
        <p:spPr>
          <a:xfrm>
            <a:off x="2108518" y="4547504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Etc.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xmlns="" id="{75F9B1DD-158B-16BD-8237-5249740DDAE2}"/>
              </a:ext>
            </a:extLst>
          </p:cNvPr>
          <p:cNvSpPr txBox="1"/>
          <p:nvPr/>
        </p:nvSpPr>
        <p:spPr>
          <a:xfrm>
            <a:off x="8321250" y="4465044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10047293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xmlns="" id="{F0B26885-AE5F-9BA0-0F61-7D893182CEC7}"/>
              </a:ext>
            </a:extLst>
          </p:cNvPr>
          <p:cNvSpPr/>
          <p:nvPr/>
        </p:nvSpPr>
        <p:spPr>
          <a:xfrm>
            <a:off x="2777924" y="2711363"/>
            <a:ext cx="1574157" cy="2803966"/>
          </a:xfrm>
          <a:prstGeom prst="ellipse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xmlns="" id="{FA2BC3AB-DF10-1BA1-DA8E-A4EEAE7C0793}"/>
              </a:ext>
            </a:extLst>
          </p:cNvPr>
          <p:cNvSpPr/>
          <p:nvPr/>
        </p:nvSpPr>
        <p:spPr>
          <a:xfrm>
            <a:off x="7004611" y="2615872"/>
            <a:ext cx="1714986" cy="3074266"/>
          </a:xfrm>
          <a:prstGeom prst="ellipse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xmlns="" id="{4EC68C3B-8918-355D-450A-CF0ADF3EF94C}"/>
              </a:ext>
            </a:extLst>
          </p:cNvPr>
          <p:cNvSpPr/>
          <p:nvPr/>
        </p:nvSpPr>
        <p:spPr>
          <a:xfrm>
            <a:off x="3267437" y="3020982"/>
            <a:ext cx="714255" cy="612383"/>
          </a:xfrm>
          <a:prstGeom prst="ellipse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C</a:t>
            </a:r>
            <a:r>
              <a:rPr lang="fr-FR" dirty="0">
                <a:solidFill>
                  <a:schemeClr val="dk1"/>
                </a:solidFill>
              </a:rPr>
              <a:t>1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xmlns="" id="{9646A66F-67A0-D16C-3582-CDBA13851ACB}"/>
              </a:ext>
            </a:extLst>
          </p:cNvPr>
          <p:cNvSpPr/>
          <p:nvPr/>
        </p:nvSpPr>
        <p:spPr>
          <a:xfrm>
            <a:off x="3267437" y="4710887"/>
            <a:ext cx="714255" cy="635533"/>
          </a:xfrm>
          <a:prstGeom prst="ellipse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C</a:t>
            </a:r>
            <a:r>
              <a:rPr lang="fr-FR" dirty="0">
                <a:solidFill>
                  <a:schemeClr val="dk1"/>
                </a:solidFill>
              </a:rPr>
              <a:t>3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xmlns="" id="{CDE96E19-1C1E-DA57-B887-FB040E1EA2C0}"/>
              </a:ext>
            </a:extLst>
          </p:cNvPr>
          <p:cNvSpPr/>
          <p:nvPr/>
        </p:nvSpPr>
        <p:spPr>
          <a:xfrm>
            <a:off x="7403460" y="3021521"/>
            <a:ext cx="814565" cy="536770"/>
          </a:xfrm>
          <a:prstGeom prst="ellipse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CB</a:t>
            </a:r>
            <a:r>
              <a:rPr lang="fr-FR" dirty="0">
                <a:solidFill>
                  <a:schemeClr val="dk1"/>
                </a:solidFill>
              </a:rPr>
              <a:t>1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xmlns="" id="{C3264A9A-1C9D-BA5C-4350-17F1007F9F9F}"/>
              </a:ext>
            </a:extLst>
          </p:cNvPr>
          <p:cNvSpPr/>
          <p:nvPr/>
        </p:nvSpPr>
        <p:spPr>
          <a:xfrm>
            <a:off x="7380310" y="3929911"/>
            <a:ext cx="814565" cy="510780"/>
          </a:xfrm>
          <a:prstGeom prst="ellipse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CB</a:t>
            </a:r>
            <a:r>
              <a:rPr lang="fr-FR" dirty="0">
                <a:solidFill>
                  <a:schemeClr val="dk1"/>
                </a:solidFill>
              </a:rPr>
              <a:t>2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xmlns="" id="{CEF9AE5B-3571-45E8-139B-E5ADFCE8CAA6}"/>
              </a:ext>
            </a:extLst>
          </p:cNvPr>
          <p:cNvSpPr/>
          <p:nvPr/>
        </p:nvSpPr>
        <p:spPr>
          <a:xfrm>
            <a:off x="7494125" y="4896618"/>
            <a:ext cx="814565" cy="635533"/>
          </a:xfrm>
          <a:prstGeom prst="ellipse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CB3</a:t>
            </a:r>
            <a:endParaRPr lang="fr-FR" dirty="0">
              <a:solidFill>
                <a:schemeClr val="dk1"/>
              </a:solidFill>
            </a:endParaRP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xmlns="" id="{4F4B5479-60EB-38C0-A78E-9CC2F8B0251B}"/>
              </a:ext>
            </a:extLst>
          </p:cNvPr>
          <p:cNvCxnSpPr>
            <a:cxnSpLocks/>
            <a:stCxn id="4" idx="6"/>
            <a:endCxn id="6" idx="2"/>
          </p:cNvCxnSpPr>
          <p:nvPr/>
        </p:nvCxnSpPr>
        <p:spPr>
          <a:xfrm flipV="1">
            <a:off x="3981692" y="3289906"/>
            <a:ext cx="3421768" cy="3726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xmlns="" id="{A2988223-D61B-EBBE-0FD6-1A4865B07D4F}"/>
              </a:ext>
            </a:extLst>
          </p:cNvPr>
          <p:cNvCxnSpPr>
            <a:cxnSpLocks/>
          </p:cNvCxnSpPr>
          <p:nvPr/>
        </p:nvCxnSpPr>
        <p:spPr>
          <a:xfrm>
            <a:off x="3981692" y="4993551"/>
            <a:ext cx="3512433" cy="27109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llipse 15">
            <a:extLst>
              <a:ext uri="{FF2B5EF4-FFF2-40B4-BE49-F238E27FC236}">
                <a16:creationId xmlns:a16="http://schemas.microsoft.com/office/drawing/2014/main" xmlns="" id="{A58E93AD-E47B-25E6-6141-75499385C2A4}"/>
              </a:ext>
            </a:extLst>
          </p:cNvPr>
          <p:cNvSpPr/>
          <p:nvPr/>
        </p:nvSpPr>
        <p:spPr>
          <a:xfrm>
            <a:off x="3211492" y="3891013"/>
            <a:ext cx="714255" cy="612383"/>
          </a:xfrm>
          <a:prstGeom prst="ellipse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C</a:t>
            </a:r>
            <a:r>
              <a:rPr lang="fr-FR" dirty="0">
                <a:solidFill>
                  <a:schemeClr val="dk1"/>
                </a:solidFill>
              </a:rPr>
              <a:t>2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xmlns="" id="{7C2751B2-E398-C16B-DCA5-EB0998955434}"/>
              </a:ext>
            </a:extLst>
          </p:cNvPr>
          <p:cNvCxnSpPr>
            <a:cxnSpLocks/>
            <a:stCxn id="16" idx="6"/>
          </p:cNvCxnSpPr>
          <p:nvPr/>
        </p:nvCxnSpPr>
        <p:spPr>
          <a:xfrm>
            <a:off x="3925747" y="4197205"/>
            <a:ext cx="3421768" cy="1211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re 1">
            <a:extLst>
              <a:ext uri="{FF2B5EF4-FFF2-40B4-BE49-F238E27FC236}">
                <a16:creationId xmlns:a16="http://schemas.microsoft.com/office/drawing/2014/main" xmlns="" id="{E1508F30-CD0A-28F8-1283-B0DE97C53226}"/>
              </a:ext>
            </a:extLst>
          </p:cNvPr>
          <p:cNvSpPr txBox="1">
            <a:spLocks/>
          </p:cNvSpPr>
          <p:nvPr/>
        </p:nvSpPr>
        <p:spPr>
          <a:xfrm>
            <a:off x="1295402" y="739592"/>
            <a:ext cx="9601196" cy="869289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dirty="0"/>
              <a:t>Dépendance Association</a:t>
            </a:r>
          </a:p>
        </p:txBody>
      </p:sp>
    </p:spTree>
    <p:extLst>
      <p:ext uri="{BB962C8B-B14F-4D97-AF65-F5344CB8AC3E}">
        <p14:creationId xmlns:p14="http://schemas.microsoft.com/office/powerpoint/2010/main" val="1567885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re 1">
            <a:extLst>
              <a:ext uri="{FF2B5EF4-FFF2-40B4-BE49-F238E27FC236}">
                <a16:creationId xmlns:a16="http://schemas.microsoft.com/office/drawing/2014/main" xmlns="" id="{E1508F30-CD0A-28F8-1283-B0DE97C53226}"/>
              </a:ext>
            </a:extLst>
          </p:cNvPr>
          <p:cNvSpPr txBox="1">
            <a:spLocks/>
          </p:cNvSpPr>
          <p:nvPr/>
        </p:nvSpPr>
        <p:spPr>
          <a:xfrm>
            <a:off x="1295402" y="739592"/>
            <a:ext cx="9601196" cy="869289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dirty="0"/>
              <a:t>Dépendance Association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xmlns="" id="{A272092F-0C5B-E532-0143-08DB92D69EC7}"/>
              </a:ext>
            </a:extLst>
          </p:cNvPr>
          <p:cNvSpPr txBox="1"/>
          <p:nvPr/>
        </p:nvSpPr>
        <p:spPr>
          <a:xfrm>
            <a:off x="1153612" y="1678050"/>
            <a:ext cx="104982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rgbClr val="C00000"/>
                </a:solidFill>
              </a:rPr>
              <a:t>Dans ce cas il faut réunir les propriétés des deux entités dans une seule entité.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xmlns="" id="{754F7456-8B5A-FC02-5539-B4845B8125EA}"/>
              </a:ext>
            </a:extLst>
          </p:cNvPr>
          <p:cNvGrpSpPr/>
          <p:nvPr/>
        </p:nvGrpSpPr>
        <p:grpSpPr>
          <a:xfrm>
            <a:off x="3217763" y="3124337"/>
            <a:ext cx="1683054" cy="2238609"/>
            <a:chOff x="1794076" y="2569577"/>
            <a:chExt cx="1747777" cy="214131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325A546A-030B-6C08-78FF-1442F9B3B871}"/>
                </a:ext>
              </a:extLst>
            </p:cNvPr>
            <p:cNvSpPr/>
            <p:nvPr/>
          </p:nvSpPr>
          <p:spPr>
            <a:xfrm>
              <a:off x="1794076" y="2569577"/>
              <a:ext cx="1736202" cy="2141317"/>
            </a:xfrm>
            <a:prstGeom prst="rect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dk1"/>
                </a:solidFill>
              </a:endParaRPr>
            </a:p>
          </p:txBody>
        </p: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xmlns="" id="{DC2C33BE-22E6-7C82-336E-3FD2A5098AD3}"/>
                </a:ext>
              </a:extLst>
            </p:cNvPr>
            <p:cNvCxnSpPr>
              <a:cxnSpLocks/>
            </p:cNvCxnSpPr>
            <p:nvPr/>
          </p:nvCxnSpPr>
          <p:spPr>
            <a:xfrm>
              <a:off x="1794076" y="3275635"/>
              <a:ext cx="1747777" cy="0"/>
            </a:xfrm>
            <a:prstGeom prst="lin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</p:grpSp>
      <p:sp>
        <p:nvSpPr>
          <p:cNvPr id="15" name="ZoneTexte 14">
            <a:extLst>
              <a:ext uri="{FF2B5EF4-FFF2-40B4-BE49-F238E27FC236}">
                <a16:creationId xmlns:a16="http://schemas.microsoft.com/office/drawing/2014/main" xmlns="" id="{C69BEE5C-DFCA-D620-581E-4EC7708C1953}"/>
              </a:ext>
            </a:extLst>
          </p:cNvPr>
          <p:cNvSpPr txBox="1"/>
          <p:nvPr/>
        </p:nvSpPr>
        <p:spPr>
          <a:xfrm>
            <a:off x="3462735" y="3324676"/>
            <a:ext cx="8681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Client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xmlns="" id="{72EFF731-34DB-2B57-6E66-D98FD079CA29}"/>
              </a:ext>
            </a:extLst>
          </p:cNvPr>
          <p:cNvSpPr txBox="1"/>
          <p:nvPr/>
        </p:nvSpPr>
        <p:spPr>
          <a:xfrm>
            <a:off x="3324999" y="3854840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 dirty="0" err="1">
                <a:solidFill>
                  <a:srgbClr val="FF0000"/>
                </a:solidFill>
              </a:rPr>
              <a:t>Id_Client</a:t>
            </a:r>
            <a:endParaRPr lang="fr-FR" sz="2000" b="1" u="sng" dirty="0">
              <a:solidFill>
                <a:srgbClr val="FF0000"/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xmlns="" id="{9AC0CF08-DAB4-43D2-65E4-55A3BBC9E256}"/>
              </a:ext>
            </a:extLst>
          </p:cNvPr>
          <p:cNvSpPr txBox="1"/>
          <p:nvPr/>
        </p:nvSpPr>
        <p:spPr>
          <a:xfrm>
            <a:off x="3326903" y="4195174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Nom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xmlns="" id="{F388286F-55DA-15A7-F4A5-FE4F02AF8E65}"/>
              </a:ext>
            </a:extLst>
          </p:cNvPr>
          <p:cNvSpPr txBox="1"/>
          <p:nvPr/>
        </p:nvSpPr>
        <p:spPr>
          <a:xfrm>
            <a:off x="3324999" y="4536211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Type</a:t>
            </a:r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xmlns="" id="{EFF67901-AC2D-6610-C49A-B2B4B055B1F5}"/>
              </a:ext>
            </a:extLst>
          </p:cNvPr>
          <p:cNvGrpSpPr/>
          <p:nvPr/>
        </p:nvGrpSpPr>
        <p:grpSpPr>
          <a:xfrm>
            <a:off x="6900443" y="3055717"/>
            <a:ext cx="1768995" cy="2141317"/>
            <a:chOff x="1794076" y="2569577"/>
            <a:chExt cx="1747777" cy="2141317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xmlns="" id="{956BB933-9FFE-C89B-CD47-B0DB79E03B94}"/>
                </a:ext>
              </a:extLst>
            </p:cNvPr>
            <p:cNvSpPr/>
            <p:nvPr/>
          </p:nvSpPr>
          <p:spPr>
            <a:xfrm>
              <a:off x="1794076" y="2569577"/>
              <a:ext cx="1736202" cy="2141317"/>
            </a:xfrm>
            <a:prstGeom prst="rect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dk1"/>
                </a:solidFill>
              </a:endParaRPr>
            </a:p>
          </p:txBody>
        </p:sp>
        <p:cxnSp>
          <p:nvCxnSpPr>
            <p:cNvPr id="25" name="Connecteur droit 24">
              <a:extLst>
                <a:ext uri="{FF2B5EF4-FFF2-40B4-BE49-F238E27FC236}">
                  <a16:creationId xmlns:a16="http://schemas.microsoft.com/office/drawing/2014/main" xmlns="" id="{2F3DEB30-EF9F-E114-A378-D0831A9E3ED7}"/>
                </a:ext>
              </a:extLst>
            </p:cNvPr>
            <p:cNvCxnSpPr>
              <a:cxnSpLocks/>
            </p:cNvCxnSpPr>
            <p:nvPr/>
          </p:nvCxnSpPr>
          <p:spPr>
            <a:xfrm>
              <a:off x="1794076" y="3275635"/>
              <a:ext cx="1747777" cy="0"/>
            </a:xfrm>
            <a:prstGeom prst="lin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</p:grpSp>
      <p:sp>
        <p:nvSpPr>
          <p:cNvPr id="26" name="ZoneTexte 25">
            <a:extLst>
              <a:ext uri="{FF2B5EF4-FFF2-40B4-BE49-F238E27FC236}">
                <a16:creationId xmlns:a16="http://schemas.microsoft.com/office/drawing/2014/main" xmlns="" id="{45E93AA8-D68E-9EB9-F7B5-184C243F0460}"/>
              </a:ext>
            </a:extLst>
          </p:cNvPr>
          <p:cNvSpPr txBox="1"/>
          <p:nvPr/>
        </p:nvSpPr>
        <p:spPr>
          <a:xfrm>
            <a:off x="6838468" y="3255223"/>
            <a:ext cx="22030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Carte bancaire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xmlns="" id="{67B74B00-75AE-0E0C-9725-7C69ACDEAE56}"/>
              </a:ext>
            </a:extLst>
          </p:cNvPr>
          <p:cNvSpPr txBox="1"/>
          <p:nvPr/>
        </p:nvSpPr>
        <p:spPr>
          <a:xfrm>
            <a:off x="7039339" y="3761859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 dirty="0" err="1">
                <a:solidFill>
                  <a:srgbClr val="FF0000"/>
                </a:solidFill>
              </a:rPr>
              <a:t>Id_Carte</a:t>
            </a:r>
            <a:endParaRPr lang="fr-FR" sz="2000" b="1" u="sng" dirty="0">
              <a:solidFill>
                <a:srgbClr val="FF0000"/>
              </a:solidFill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xmlns="" id="{C519DC0E-5904-D11D-5F6E-760553093732}"/>
              </a:ext>
            </a:extLst>
          </p:cNvPr>
          <p:cNvSpPr txBox="1"/>
          <p:nvPr/>
        </p:nvSpPr>
        <p:spPr>
          <a:xfrm>
            <a:off x="7064414" y="4111033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Nom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xmlns="" id="{9882B98E-93D8-A0DF-513E-864C0775B645}"/>
              </a:ext>
            </a:extLst>
          </p:cNvPr>
          <p:cNvSpPr txBox="1"/>
          <p:nvPr/>
        </p:nvSpPr>
        <p:spPr>
          <a:xfrm>
            <a:off x="7019559" y="4460407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Type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xmlns="" id="{94215FAE-CB26-AA60-EC88-1870166F7CFE}"/>
              </a:ext>
            </a:extLst>
          </p:cNvPr>
          <p:cNvSpPr txBox="1"/>
          <p:nvPr/>
        </p:nvSpPr>
        <p:spPr>
          <a:xfrm>
            <a:off x="7019559" y="4816831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Etc.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xmlns="" id="{AEF796CF-1FDB-1EC2-B345-4579B6907F20}"/>
              </a:ext>
            </a:extLst>
          </p:cNvPr>
          <p:cNvSpPr txBox="1"/>
          <p:nvPr/>
        </p:nvSpPr>
        <p:spPr>
          <a:xfrm>
            <a:off x="3378617" y="4898306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Etc.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xmlns="" id="{6F427468-E727-C5F9-2964-594DC0D90DBA}"/>
              </a:ext>
            </a:extLst>
          </p:cNvPr>
          <p:cNvSpPr txBox="1"/>
          <p:nvPr/>
        </p:nvSpPr>
        <p:spPr>
          <a:xfrm>
            <a:off x="5288175" y="2820579"/>
            <a:ext cx="1332879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C00000"/>
                </a:solidFill>
              </a:rPr>
              <a:t>Ou bien</a:t>
            </a:r>
          </a:p>
        </p:txBody>
      </p:sp>
    </p:spTree>
    <p:extLst>
      <p:ext uri="{BB962C8B-B14F-4D97-AF65-F5344CB8AC3E}">
        <p14:creationId xmlns:p14="http://schemas.microsoft.com/office/powerpoint/2010/main" val="12470213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re 1">
            <a:extLst>
              <a:ext uri="{FF2B5EF4-FFF2-40B4-BE49-F238E27FC236}">
                <a16:creationId xmlns:a16="http://schemas.microsoft.com/office/drawing/2014/main" xmlns="" id="{E1508F30-CD0A-28F8-1283-B0DE97C53226}"/>
              </a:ext>
            </a:extLst>
          </p:cNvPr>
          <p:cNvSpPr txBox="1">
            <a:spLocks/>
          </p:cNvSpPr>
          <p:nvPr/>
        </p:nvSpPr>
        <p:spPr>
          <a:xfrm>
            <a:off x="1295402" y="583054"/>
            <a:ext cx="9601196" cy="869289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dirty="0"/>
              <a:t>Propriété d’une Association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xmlns="" id="{A272092F-0C5B-E532-0143-08DB92D69EC7}"/>
              </a:ext>
            </a:extLst>
          </p:cNvPr>
          <p:cNvSpPr txBox="1"/>
          <p:nvPr/>
        </p:nvSpPr>
        <p:spPr>
          <a:xfrm>
            <a:off x="846881" y="1263847"/>
            <a:ext cx="104982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C00000"/>
                </a:solidFill>
              </a:rPr>
              <a:t>Une association peut posséder une propriété (porteuse).</a:t>
            </a:r>
          </a:p>
          <a:p>
            <a:r>
              <a:rPr lang="fr-FR" sz="2400" dirty="0">
                <a:solidFill>
                  <a:srgbClr val="C00000"/>
                </a:solidFill>
              </a:rPr>
              <a:t>Par exemple ici on peut pas mettre Année dans l’entité Etudiant. L’étudiant ne pourra pas avoir plus d’un diplôme la même année. Et si on le met dans Diplôme  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xmlns="" id="{754F7456-8B5A-FC02-5539-B4845B8125EA}"/>
              </a:ext>
            </a:extLst>
          </p:cNvPr>
          <p:cNvGrpSpPr/>
          <p:nvPr/>
        </p:nvGrpSpPr>
        <p:grpSpPr>
          <a:xfrm>
            <a:off x="2862009" y="3202004"/>
            <a:ext cx="1511053" cy="1910651"/>
            <a:chOff x="1794076" y="2569577"/>
            <a:chExt cx="1747777" cy="214131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325A546A-030B-6C08-78FF-1442F9B3B871}"/>
                </a:ext>
              </a:extLst>
            </p:cNvPr>
            <p:cNvSpPr/>
            <p:nvPr/>
          </p:nvSpPr>
          <p:spPr>
            <a:xfrm>
              <a:off x="1794076" y="2569577"/>
              <a:ext cx="1736202" cy="2141317"/>
            </a:xfrm>
            <a:prstGeom prst="rect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dk1"/>
                </a:solidFill>
              </a:endParaRPr>
            </a:p>
          </p:txBody>
        </p: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xmlns="" id="{DC2C33BE-22E6-7C82-336E-3FD2A5098AD3}"/>
                </a:ext>
              </a:extLst>
            </p:cNvPr>
            <p:cNvCxnSpPr>
              <a:cxnSpLocks/>
            </p:cNvCxnSpPr>
            <p:nvPr/>
          </p:nvCxnSpPr>
          <p:spPr>
            <a:xfrm>
              <a:off x="1794076" y="3275635"/>
              <a:ext cx="1747777" cy="0"/>
            </a:xfrm>
            <a:prstGeom prst="lin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</p:grpSp>
      <p:sp>
        <p:nvSpPr>
          <p:cNvPr id="15" name="ZoneTexte 14">
            <a:extLst>
              <a:ext uri="{FF2B5EF4-FFF2-40B4-BE49-F238E27FC236}">
                <a16:creationId xmlns:a16="http://schemas.microsoft.com/office/drawing/2014/main" xmlns="" id="{C69BEE5C-DFCA-D620-581E-4EC7708C1953}"/>
              </a:ext>
            </a:extLst>
          </p:cNvPr>
          <p:cNvSpPr txBox="1"/>
          <p:nvPr/>
        </p:nvSpPr>
        <p:spPr>
          <a:xfrm>
            <a:off x="2999746" y="3347823"/>
            <a:ext cx="13733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Etudiant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xmlns="" id="{72EFF731-34DB-2B57-6E66-D98FD079CA29}"/>
              </a:ext>
            </a:extLst>
          </p:cNvPr>
          <p:cNvSpPr txBox="1"/>
          <p:nvPr/>
        </p:nvSpPr>
        <p:spPr>
          <a:xfrm>
            <a:off x="3000228" y="3829724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 dirty="0" err="1">
                <a:solidFill>
                  <a:srgbClr val="FF0000"/>
                </a:solidFill>
              </a:rPr>
              <a:t>Id_Etud</a:t>
            </a:r>
            <a:endParaRPr lang="fr-FR" sz="2000" b="1" u="sng" dirty="0">
              <a:solidFill>
                <a:srgbClr val="FF0000"/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xmlns="" id="{9AC0CF08-DAB4-43D2-65E4-55A3BBC9E256}"/>
              </a:ext>
            </a:extLst>
          </p:cNvPr>
          <p:cNvSpPr txBox="1"/>
          <p:nvPr/>
        </p:nvSpPr>
        <p:spPr>
          <a:xfrm>
            <a:off x="3064490" y="4227813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Nom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xmlns="" id="{F388286F-55DA-15A7-F4A5-FE4F02AF8E65}"/>
              </a:ext>
            </a:extLst>
          </p:cNvPr>
          <p:cNvSpPr txBox="1"/>
          <p:nvPr/>
        </p:nvSpPr>
        <p:spPr>
          <a:xfrm>
            <a:off x="3033205" y="4524959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Prénom</a:t>
            </a:r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xmlns="" id="{EFF67901-AC2D-6610-C49A-B2B4B055B1F5}"/>
              </a:ext>
            </a:extLst>
          </p:cNvPr>
          <p:cNvGrpSpPr/>
          <p:nvPr/>
        </p:nvGrpSpPr>
        <p:grpSpPr>
          <a:xfrm>
            <a:off x="8687280" y="3329327"/>
            <a:ext cx="1457436" cy="1520471"/>
            <a:chOff x="1794076" y="2569577"/>
            <a:chExt cx="1747777" cy="2141317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xmlns="" id="{956BB933-9FFE-C89B-CD47-B0DB79E03B94}"/>
                </a:ext>
              </a:extLst>
            </p:cNvPr>
            <p:cNvSpPr/>
            <p:nvPr/>
          </p:nvSpPr>
          <p:spPr>
            <a:xfrm>
              <a:off x="1794076" y="2569577"/>
              <a:ext cx="1736202" cy="2141317"/>
            </a:xfrm>
            <a:prstGeom prst="rect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dk1"/>
                </a:solidFill>
              </a:endParaRPr>
            </a:p>
          </p:txBody>
        </p:sp>
        <p:cxnSp>
          <p:nvCxnSpPr>
            <p:cNvPr id="25" name="Connecteur droit 24">
              <a:extLst>
                <a:ext uri="{FF2B5EF4-FFF2-40B4-BE49-F238E27FC236}">
                  <a16:creationId xmlns:a16="http://schemas.microsoft.com/office/drawing/2014/main" xmlns="" id="{2F3DEB30-EF9F-E114-A378-D0831A9E3ED7}"/>
                </a:ext>
              </a:extLst>
            </p:cNvPr>
            <p:cNvCxnSpPr>
              <a:cxnSpLocks/>
            </p:cNvCxnSpPr>
            <p:nvPr/>
          </p:nvCxnSpPr>
          <p:spPr>
            <a:xfrm>
              <a:off x="1794076" y="3275635"/>
              <a:ext cx="1747777" cy="0"/>
            </a:xfrm>
            <a:prstGeom prst="lin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</p:grpSp>
      <p:sp>
        <p:nvSpPr>
          <p:cNvPr id="26" name="ZoneTexte 25">
            <a:extLst>
              <a:ext uri="{FF2B5EF4-FFF2-40B4-BE49-F238E27FC236}">
                <a16:creationId xmlns:a16="http://schemas.microsoft.com/office/drawing/2014/main" xmlns="" id="{45E93AA8-D68E-9EB9-F7B5-184C243F0460}"/>
              </a:ext>
            </a:extLst>
          </p:cNvPr>
          <p:cNvSpPr txBox="1"/>
          <p:nvPr/>
        </p:nvSpPr>
        <p:spPr>
          <a:xfrm>
            <a:off x="8835340" y="3429077"/>
            <a:ext cx="15300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 err="1">
                <a:solidFill>
                  <a:srgbClr val="FF0000"/>
                </a:solidFill>
              </a:rPr>
              <a:t>Diplome</a:t>
            </a:r>
            <a:endParaRPr lang="fr-FR" sz="2000" dirty="0">
              <a:solidFill>
                <a:srgbClr val="FF0000"/>
              </a:solidFill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xmlns="" id="{67B74B00-75AE-0E0C-9725-7C69ACDEAE56}"/>
              </a:ext>
            </a:extLst>
          </p:cNvPr>
          <p:cNvSpPr txBox="1"/>
          <p:nvPr/>
        </p:nvSpPr>
        <p:spPr>
          <a:xfrm>
            <a:off x="8844991" y="3879061"/>
            <a:ext cx="145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 dirty="0">
                <a:solidFill>
                  <a:srgbClr val="FF0000"/>
                </a:solidFill>
              </a:rPr>
              <a:t>Titre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xmlns="" id="{C519DC0E-5904-D11D-5F6E-760553093732}"/>
              </a:ext>
            </a:extLst>
          </p:cNvPr>
          <p:cNvSpPr txBox="1"/>
          <p:nvPr/>
        </p:nvSpPr>
        <p:spPr>
          <a:xfrm>
            <a:off x="8843532" y="4273827"/>
            <a:ext cx="1414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Niveau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xmlns="" id="{96342CBA-C77F-A204-DD01-47368DE14F05}"/>
              </a:ext>
            </a:extLst>
          </p:cNvPr>
          <p:cNvGrpSpPr/>
          <p:nvPr/>
        </p:nvGrpSpPr>
        <p:grpSpPr>
          <a:xfrm>
            <a:off x="5641694" y="3692328"/>
            <a:ext cx="1736202" cy="902825"/>
            <a:chOff x="4819892" y="3183038"/>
            <a:chExt cx="1736202" cy="902825"/>
          </a:xfrm>
        </p:grpSpPr>
        <p:sp>
          <p:nvSpPr>
            <p:cNvPr id="3" name="Ellipse 2">
              <a:extLst>
                <a:ext uri="{FF2B5EF4-FFF2-40B4-BE49-F238E27FC236}">
                  <a16:creationId xmlns:a16="http://schemas.microsoft.com/office/drawing/2014/main" xmlns="" id="{53F541F8-9882-5A55-F803-A5EE8D2E268C}"/>
                </a:ext>
              </a:extLst>
            </p:cNvPr>
            <p:cNvSpPr/>
            <p:nvPr/>
          </p:nvSpPr>
          <p:spPr>
            <a:xfrm>
              <a:off x="4819892" y="3183038"/>
              <a:ext cx="1736202" cy="902825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4" name="Connecteur droit 3">
              <a:extLst>
                <a:ext uri="{FF2B5EF4-FFF2-40B4-BE49-F238E27FC236}">
                  <a16:creationId xmlns:a16="http://schemas.microsoft.com/office/drawing/2014/main" xmlns="" id="{46FCDD47-6214-4E4B-3C15-E0E66C5360D5}"/>
                </a:ext>
              </a:extLst>
            </p:cNvPr>
            <p:cNvCxnSpPr>
              <a:stCxn id="3" idx="2"/>
              <a:endCxn id="3" idx="6"/>
            </p:cNvCxnSpPr>
            <p:nvPr/>
          </p:nvCxnSpPr>
          <p:spPr>
            <a:xfrm>
              <a:off x="4819892" y="3634451"/>
              <a:ext cx="1736202" cy="0"/>
            </a:xfrm>
            <a:prstGeom prst="lin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</p:grp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xmlns="" id="{AA846E4B-4F71-46BA-0665-1CB763BF3FA8}"/>
              </a:ext>
            </a:extLst>
          </p:cNvPr>
          <p:cNvCxnSpPr>
            <a:cxnSpLocks/>
            <a:endCxn id="3" idx="2"/>
          </p:cNvCxnSpPr>
          <p:nvPr/>
        </p:nvCxnSpPr>
        <p:spPr>
          <a:xfrm>
            <a:off x="4352080" y="4143741"/>
            <a:ext cx="1289614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xmlns="" id="{B08B38C5-B788-3ACD-2925-E13A9B71AC05}"/>
              </a:ext>
            </a:extLst>
          </p:cNvPr>
          <p:cNvCxnSpPr>
            <a:cxnSpLocks/>
          </p:cNvCxnSpPr>
          <p:nvPr/>
        </p:nvCxnSpPr>
        <p:spPr>
          <a:xfrm>
            <a:off x="7377896" y="4143741"/>
            <a:ext cx="1289614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xmlns="" id="{D33E3E15-9268-AA19-6B98-038E420F851A}"/>
              </a:ext>
            </a:extLst>
          </p:cNvPr>
          <p:cNvSpPr txBox="1"/>
          <p:nvPr/>
        </p:nvSpPr>
        <p:spPr>
          <a:xfrm>
            <a:off x="5781565" y="3735340"/>
            <a:ext cx="17362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posséder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EEE20EBD-62B6-045B-3DFC-9120BAE729EB}"/>
              </a:ext>
            </a:extLst>
          </p:cNvPr>
          <p:cNvSpPr txBox="1"/>
          <p:nvPr/>
        </p:nvSpPr>
        <p:spPr>
          <a:xfrm>
            <a:off x="8061889" y="3751133"/>
            <a:ext cx="5806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</a:rPr>
              <a:t>0,n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xmlns="" id="{AAD9AF17-9514-8115-6000-30FA42E2AA99}"/>
              </a:ext>
            </a:extLst>
          </p:cNvPr>
          <p:cNvSpPr txBox="1"/>
          <p:nvPr/>
        </p:nvSpPr>
        <p:spPr>
          <a:xfrm>
            <a:off x="4315869" y="3747933"/>
            <a:ext cx="5806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</a:rPr>
              <a:t>0,n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xmlns="" id="{299D6A21-6AA4-1816-1251-2FBE4FA7A51F}"/>
              </a:ext>
            </a:extLst>
          </p:cNvPr>
          <p:cNvSpPr txBox="1"/>
          <p:nvPr/>
        </p:nvSpPr>
        <p:spPr>
          <a:xfrm>
            <a:off x="6042368" y="4134183"/>
            <a:ext cx="1382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Année</a:t>
            </a:r>
          </a:p>
        </p:txBody>
      </p:sp>
    </p:spTree>
    <p:extLst>
      <p:ext uri="{BB962C8B-B14F-4D97-AF65-F5344CB8AC3E}">
        <p14:creationId xmlns:p14="http://schemas.microsoft.com/office/powerpoint/2010/main" val="31976733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CF4576DF-1B9E-F5D8-52ED-D995196D6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22030"/>
            <a:ext cx="9601196" cy="525634"/>
          </a:xfrm>
        </p:spPr>
        <p:txBody>
          <a:bodyPr/>
          <a:lstStyle/>
          <a:p>
            <a:r>
              <a:rPr lang="fr-FR" sz="3200" dirty="0"/>
              <a:t>Plusieurs associations  entre deux entités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xmlns="" id="{3F51DF32-FD7F-4F83-2F8B-F4613589FD3D}"/>
              </a:ext>
            </a:extLst>
          </p:cNvPr>
          <p:cNvSpPr txBox="1"/>
          <p:nvPr/>
        </p:nvSpPr>
        <p:spPr>
          <a:xfrm>
            <a:off x="1065242" y="4954849"/>
            <a:ext cx="104207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2000" b="0" i="0" u="none" strike="noStrike" baseline="0" dirty="0">
                <a:latin typeface="CenturyGothic"/>
              </a:rPr>
              <a:t>Une personne possède ou pas de maisons. Toute personne habite une et une maison</a:t>
            </a:r>
          </a:p>
          <a:p>
            <a:pPr algn="l"/>
            <a:r>
              <a:rPr lang="fr-FR" sz="2000" b="0" i="0" u="none" strike="noStrike" baseline="0" dirty="0">
                <a:latin typeface="CenturyGothic"/>
              </a:rPr>
              <a:t>Une maison est possédée par au moins une personne. </a:t>
            </a:r>
          </a:p>
          <a:p>
            <a:pPr algn="l"/>
            <a:r>
              <a:rPr lang="fr-FR" sz="2000" b="0" i="0" u="none" strike="noStrike" baseline="0" dirty="0">
                <a:latin typeface="CenturyGothic"/>
              </a:rPr>
              <a:t>Une maison est habitée par au moins une personne</a:t>
            </a:r>
            <a:endParaRPr lang="fr-FR" sz="2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xmlns="" id="{846CBCCD-300C-FEB0-3D67-66BFE4BCD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752" y="1923660"/>
            <a:ext cx="9668846" cy="2578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3251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D70782B9-11AF-9FF4-5CB8-8E1FE40CFBB5}"/>
              </a:ext>
            </a:extLst>
          </p:cNvPr>
          <p:cNvSpPr txBox="1"/>
          <p:nvPr/>
        </p:nvSpPr>
        <p:spPr>
          <a:xfrm>
            <a:off x="2834173" y="809044"/>
            <a:ext cx="77840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ASSOCIATION RÉFLEXIVE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092AA48F-DE59-850A-86D5-5E65EBB44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364" y="1775558"/>
            <a:ext cx="5153170" cy="344745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xmlns="" id="{DFAA017A-2CDE-A059-C9F5-EBF394BFF10B}"/>
              </a:ext>
            </a:extLst>
          </p:cNvPr>
          <p:cNvSpPr txBox="1"/>
          <p:nvPr/>
        </p:nvSpPr>
        <p:spPr>
          <a:xfrm>
            <a:off x="1287624" y="5449078"/>
            <a:ext cx="94519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2400" b="0" i="0" u="none" strike="noStrike" baseline="0" dirty="0">
                <a:latin typeface="CenturyGothic"/>
              </a:rPr>
              <a:t>Une personne est mariée ou pas à une autre personne</a:t>
            </a:r>
          </a:p>
          <a:p>
            <a:pPr algn="l"/>
            <a:r>
              <a:rPr lang="fr-FR" sz="2400" b="0" i="0" u="none" strike="noStrike" baseline="0" dirty="0">
                <a:latin typeface="CenturyGothic"/>
              </a:rPr>
              <a:t>Une personne mariée est mariée à une seule personne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5007054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11">
            <a:extLst>
              <a:ext uri="{FF2B5EF4-FFF2-40B4-BE49-F238E27FC236}">
                <a16:creationId xmlns:a16="http://schemas.microsoft.com/office/drawing/2014/main" xmlns="" id="{A6171110-4BE0-C67F-5F7B-87120C7503A0}"/>
              </a:ext>
            </a:extLst>
          </p:cNvPr>
          <p:cNvSpPr/>
          <p:nvPr/>
        </p:nvSpPr>
        <p:spPr>
          <a:xfrm>
            <a:off x="9198427" y="1894872"/>
            <a:ext cx="2043405" cy="297372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xmlns="" id="{BC3C003B-AC83-A816-FF27-F5E36BE26590}"/>
              </a:ext>
            </a:extLst>
          </p:cNvPr>
          <p:cNvSpPr/>
          <p:nvPr/>
        </p:nvSpPr>
        <p:spPr>
          <a:xfrm>
            <a:off x="6727371" y="2017261"/>
            <a:ext cx="2043405" cy="297372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D70782B9-11AF-9FF4-5CB8-8E1FE40CFBB5}"/>
              </a:ext>
            </a:extLst>
          </p:cNvPr>
          <p:cNvSpPr txBox="1"/>
          <p:nvPr/>
        </p:nvSpPr>
        <p:spPr>
          <a:xfrm>
            <a:off x="2834173" y="809044"/>
            <a:ext cx="77840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ASSOCIATION RÉFLEXIVE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092AA48F-DE59-850A-86D5-5E65EBB44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481" y="1870001"/>
            <a:ext cx="5153170" cy="344745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xmlns="" id="{DFAA017A-2CDE-A059-C9F5-EBF394BFF10B}"/>
              </a:ext>
            </a:extLst>
          </p:cNvPr>
          <p:cNvSpPr txBox="1"/>
          <p:nvPr/>
        </p:nvSpPr>
        <p:spPr>
          <a:xfrm>
            <a:off x="1287624" y="5449078"/>
            <a:ext cx="94519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2400" b="0" i="0" u="none" strike="noStrike" baseline="0" dirty="0">
                <a:latin typeface="CenturyGothic"/>
              </a:rPr>
              <a:t>Une personne est mariée ou pas à une autre personne</a:t>
            </a:r>
          </a:p>
          <a:p>
            <a:pPr algn="l"/>
            <a:r>
              <a:rPr lang="fr-FR" sz="2400" b="0" i="0" u="none" strike="noStrike" baseline="0" dirty="0">
                <a:latin typeface="CenturyGothic"/>
              </a:rPr>
              <a:t>Une personne mariée est mariée à une seule personne</a:t>
            </a:r>
            <a:endParaRPr lang="fr-FR" sz="2400" dirty="0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xmlns="" id="{BE7E85F7-3B6E-1506-64C4-C1EB7E4A4B84}"/>
              </a:ext>
            </a:extLst>
          </p:cNvPr>
          <p:cNvSpPr/>
          <p:nvPr/>
        </p:nvSpPr>
        <p:spPr>
          <a:xfrm>
            <a:off x="6951305" y="2537926"/>
            <a:ext cx="1296955" cy="58477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P1 Ahmed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xmlns="" id="{DB95A1AD-A5AB-8FDA-069E-73D836046A51}"/>
              </a:ext>
            </a:extLst>
          </p:cNvPr>
          <p:cNvSpPr/>
          <p:nvPr/>
        </p:nvSpPr>
        <p:spPr>
          <a:xfrm>
            <a:off x="9380374" y="2701173"/>
            <a:ext cx="1741715" cy="58477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P2</a:t>
            </a:r>
          </a:p>
          <a:p>
            <a:pPr algn="ctr"/>
            <a:r>
              <a:rPr lang="fr-FR" dirty="0"/>
              <a:t>Samia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xmlns="" id="{AAC4E128-2611-87E1-7105-3B9111457D00}"/>
              </a:ext>
            </a:extLst>
          </p:cNvPr>
          <p:cNvCxnSpPr>
            <a:cxnSpLocks/>
            <a:stCxn id="2" idx="6"/>
            <a:endCxn id="4" idx="2"/>
          </p:cNvCxnSpPr>
          <p:nvPr/>
        </p:nvCxnSpPr>
        <p:spPr>
          <a:xfrm>
            <a:off x="8248260" y="2830313"/>
            <a:ext cx="1132114" cy="1632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Ellipse 8">
            <a:extLst>
              <a:ext uri="{FF2B5EF4-FFF2-40B4-BE49-F238E27FC236}">
                <a16:creationId xmlns:a16="http://schemas.microsoft.com/office/drawing/2014/main" xmlns="" id="{BF9508D3-0F20-CDF9-A26C-2DD948D37DDC}"/>
              </a:ext>
            </a:extLst>
          </p:cNvPr>
          <p:cNvSpPr/>
          <p:nvPr/>
        </p:nvSpPr>
        <p:spPr>
          <a:xfrm>
            <a:off x="6973854" y="3382821"/>
            <a:ext cx="1296955" cy="58477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P3</a:t>
            </a:r>
          </a:p>
          <a:p>
            <a:pPr algn="ctr"/>
            <a:r>
              <a:rPr lang="fr-FR" dirty="0"/>
              <a:t>Kamal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xmlns="" id="{762DB3B1-6280-2102-B0B8-736798DEBDE7}"/>
              </a:ext>
            </a:extLst>
          </p:cNvPr>
          <p:cNvSpPr/>
          <p:nvPr/>
        </p:nvSpPr>
        <p:spPr>
          <a:xfrm>
            <a:off x="9455019" y="3644144"/>
            <a:ext cx="1530219" cy="58477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P5 </a:t>
            </a:r>
            <a:r>
              <a:rPr lang="fr-FR" dirty="0" err="1"/>
              <a:t>Kamila</a:t>
            </a:r>
            <a:endParaRPr lang="fr-FR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xmlns="" id="{CD880EAB-CBB5-0A6D-632B-ECE04A469A69}"/>
              </a:ext>
            </a:extLst>
          </p:cNvPr>
          <p:cNvSpPr/>
          <p:nvPr/>
        </p:nvSpPr>
        <p:spPr>
          <a:xfrm>
            <a:off x="7100595" y="4075692"/>
            <a:ext cx="1296955" cy="58477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P6</a:t>
            </a:r>
          </a:p>
          <a:p>
            <a:pPr algn="ctr"/>
            <a:r>
              <a:rPr lang="fr-FR" dirty="0"/>
              <a:t>Farid</a:t>
            </a:r>
          </a:p>
        </p:txBody>
      </p:sp>
      <p:cxnSp>
        <p:nvCxnSpPr>
          <p:cNvPr id="14" name="Connecteur droit 13"/>
          <p:cNvCxnSpPr>
            <a:endCxn id="10" idx="2"/>
          </p:cNvCxnSpPr>
          <p:nvPr/>
        </p:nvCxnSpPr>
        <p:spPr>
          <a:xfrm>
            <a:off x="8270809" y="3675208"/>
            <a:ext cx="1184210" cy="261323"/>
          </a:xfrm>
          <a:prstGeom prst="line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79396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11">
            <a:extLst>
              <a:ext uri="{FF2B5EF4-FFF2-40B4-BE49-F238E27FC236}">
                <a16:creationId xmlns:a16="http://schemas.microsoft.com/office/drawing/2014/main" xmlns="" id="{A6171110-4BE0-C67F-5F7B-87120C7503A0}"/>
              </a:ext>
            </a:extLst>
          </p:cNvPr>
          <p:cNvSpPr/>
          <p:nvPr/>
        </p:nvSpPr>
        <p:spPr>
          <a:xfrm>
            <a:off x="9198427" y="1894872"/>
            <a:ext cx="2043405" cy="297372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xmlns="" id="{BC3C003B-AC83-A816-FF27-F5E36BE26590}"/>
              </a:ext>
            </a:extLst>
          </p:cNvPr>
          <p:cNvSpPr/>
          <p:nvPr/>
        </p:nvSpPr>
        <p:spPr>
          <a:xfrm>
            <a:off x="6727371" y="2017261"/>
            <a:ext cx="2043405" cy="297372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D70782B9-11AF-9FF4-5CB8-8E1FE40CFBB5}"/>
              </a:ext>
            </a:extLst>
          </p:cNvPr>
          <p:cNvSpPr txBox="1"/>
          <p:nvPr/>
        </p:nvSpPr>
        <p:spPr>
          <a:xfrm>
            <a:off x="2834173" y="809044"/>
            <a:ext cx="77840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ASSOCIATION RÉFLEXIVE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092AA48F-DE59-850A-86D5-5E65EBB44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481" y="1870001"/>
            <a:ext cx="5153170" cy="344745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xmlns="" id="{DFAA017A-2CDE-A059-C9F5-EBF394BFF10B}"/>
              </a:ext>
            </a:extLst>
          </p:cNvPr>
          <p:cNvSpPr txBox="1"/>
          <p:nvPr/>
        </p:nvSpPr>
        <p:spPr>
          <a:xfrm>
            <a:off x="1287624" y="5449078"/>
            <a:ext cx="94519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2400" b="0" i="0" u="none" strike="noStrike" baseline="0" dirty="0">
                <a:latin typeface="CenturyGothic"/>
              </a:rPr>
              <a:t>Une personne est mariée ou pas à une autre personne</a:t>
            </a:r>
          </a:p>
          <a:p>
            <a:pPr algn="l"/>
            <a:r>
              <a:rPr lang="fr-FR" sz="2400" b="0" i="0" u="none" strike="noStrike" baseline="0" dirty="0">
                <a:latin typeface="CenturyGothic"/>
              </a:rPr>
              <a:t>Une personne mariée est mariée à une seule personne</a:t>
            </a:r>
            <a:endParaRPr lang="fr-FR" sz="2400" dirty="0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xmlns="" id="{BE7E85F7-3B6E-1506-64C4-C1EB7E4A4B84}"/>
              </a:ext>
            </a:extLst>
          </p:cNvPr>
          <p:cNvSpPr/>
          <p:nvPr/>
        </p:nvSpPr>
        <p:spPr>
          <a:xfrm>
            <a:off x="6951305" y="2537926"/>
            <a:ext cx="1296955" cy="58477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P1 Ahmed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xmlns="" id="{DB95A1AD-A5AB-8FDA-069E-73D836046A51}"/>
              </a:ext>
            </a:extLst>
          </p:cNvPr>
          <p:cNvSpPr/>
          <p:nvPr/>
        </p:nvSpPr>
        <p:spPr>
          <a:xfrm>
            <a:off x="9380374" y="2701173"/>
            <a:ext cx="1741715" cy="58477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P2</a:t>
            </a:r>
          </a:p>
          <a:p>
            <a:pPr algn="ctr"/>
            <a:r>
              <a:rPr lang="fr-FR" dirty="0"/>
              <a:t>Samia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xmlns="" id="{AAC4E128-2611-87E1-7105-3B9111457D00}"/>
              </a:ext>
            </a:extLst>
          </p:cNvPr>
          <p:cNvCxnSpPr>
            <a:cxnSpLocks/>
            <a:stCxn id="2" idx="6"/>
            <a:endCxn id="4" idx="2"/>
          </p:cNvCxnSpPr>
          <p:nvPr/>
        </p:nvCxnSpPr>
        <p:spPr>
          <a:xfrm>
            <a:off x="8248260" y="2830313"/>
            <a:ext cx="1132114" cy="1632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Ellipse 8">
            <a:extLst>
              <a:ext uri="{FF2B5EF4-FFF2-40B4-BE49-F238E27FC236}">
                <a16:creationId xmlns:a16="http://schemas.microsoft.com/office/drawing/2014/main" xmlns="" id="{BF9508D3-0F20-CDF9-A26C-2DD948D37DDC}"/>
              </a:ext>
            </a:extLst>
          </p:cNvPr>
          <p:cNvSpPr/>
          <p:nvPr/>
        </p:nvSpPr>
        <p:spPr>
          <a:xfrm>
            <a:off x="6973854" y="3382821"/>
            <a:ext cx="1296955" cy="58477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P3</a:t>
            </a:r>
          </a:p>
          <a:p>
            <a:pPr algn="ctr"/>
            <a:r>
              <a:rPr lang="fr-FR" dirty="0"/>
              <a:t>Kamal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xmlns="" id="{762DB3B1-6280-2102-B0B8-736798DEBDE7}"/>
              </a:ext>
            </a:extLst>
          </p:cNvPr>
          <p:cNvSpPr/>
          <p:nvPr/>
        </p:nvSpPr>
        <p:spPr>
          <a:xfrm>
            <a:off x="9455019" y="3644144"/>
            <a:ext cx="1530219" cy="58477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P5 </a:t>
            </a:r>
            <a:r>
              <a:rPr lang="fr-FR" dirty="0" err="1"/>
              <a:t>Kamila</a:t>
            </a:r>
            <a:endParaRPr lang="fr-FR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xmlns="" id="{CD880EAB-CBB5-0A6D-632B-ECE04A469A69}"/>
              </a:ext>
            </a:extLst>
          </p:cNvPr>
          <p:cNvSpPr/>
          <p:nvPr/>
        </p:nvSpPr>
        <p:spPr>
          <a:xfrm>
            <a:off x="7100595" y="4075692"/>
            <a:ext cx="1296955" cy="58477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P6</a:t>
            </a:r>
          </a:p>
          <a:p>
            <a:pPr algn="ctr"/>
            <a:r>
              <a:rPr lang="fr-FR" dirty="0"/>
              <a:t>Farid</a:t>
            </a:r>
          </a:p>
        </p:txBody>
      </p:sp>
    </p:spTree>
    <p:extLst>
      <p:ext uri="{BB962C8B-B14F-4D97-AF65-F5344CB8AC3E}">
        <p14:creationId xmlns:p14="http://schemas.microsoft.com/office/powerpoint/2010/main" val="29693582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D70782B9-11AF-9FF4-5CB8-8E1FE40CFBB5}"/>
              </a:ext>
            </a:extLst>
          </p:cNvPr>
          <p:cNvSpPr txBox="1"/>
          <p:nvPr/>
        </p:nvSpPr>
        <p:spPr>
          <a:xfrm>
            <a:off x="1230863" y="577925"/>
            <a:ext cx="9730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ASSOCIATION TERNAIRE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xmlns="" id="{DFAA017A-2CDE-A059-C9F5-EBF394BFF10B}"/>
              </a:ext>
            </a:extLst>
          </p:cNvPr>
          <p:cNvSpPr txBox="1"/>
          <p:nvPr/>
        </p:nvSpPr>
        <p:spPr>
          <a:xfrm>
            <a:off x="1230863" y="5082079"/>
            <a:ext cx="94519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1800" b="0" i="0" u="none" strike="noStrike" baseline="0" dirty="0">
                <a:latin typeface="CenturyGothic"/>
              </a:rPr>
              <a:t>Un même film peut être projeter dans plusieurs créneaux horaires et dans plusieurs salles avec un tarif. Mais il peut ne pas être projeté.</a:t>
            </a:r>
          </a:p>
          <a:p>
            <a:pPr algn="l"/>
            <a:endParaRPr lang="fr-FR" sz="2400" b="0" i="0" u="none" strike="noStrike" baseline="0" dirty="0">
              <a:latin typeface="CenturyGothic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xmlns="" id="{25FD5E53-1796-6240-D0B9-29F9BA395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610" y="1162700"/>
            <a:ext cx="6858778" cy="391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6860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e 59">
            <a:extLst>
              <a:ext uri="{FF2B5EF4-FFF2-40B4-BE49-F238E27FC236}">
                <a16:creationId xmlns:a16="http://schemas.microsoft.com/office/drawing/2014/main" xmlns="" id="{F7338A3A-571D-0DC6-7EFE-2B8C6F187215}"/>
              </a:ext>
            </a:extLst>
          </p:cNvPr>
          <p:cNvGrpSpPr/>
          <p:nvPr/>
        </p:nvGrpSpPr>
        <p:grpSpPr>
          <a:xfrm>
            <a:off x="945773" y="1547850"/>
            <a:ext cx="8198457" cy="4079540"/>
            <a:chOff x="2312684" y="1050910"/>
            <a:chExt cx="8267954" cy="5124569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xmlns="" id="{5BAC44F6-B006-2A62-F63B-243CA35850CB}"/>
                </a:ext>
              </a:extLst>
            </p:cNvPr>
            <p:cNvSpPr/>
            <p:nvPr/>
          </p:nvSpPr>
          <p:spPr>
            <a:xfrm>
              <a:off x="5915610" y="4054320"/>
              <a:ext cx="2118049" cy="2121159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6" name="Groupe 15">
              <a:extLst>
                <a:ext uri="{FF2B5EF4-FFF2-40B4-BE49-F238E27FC236}">
                  <a16:creationId xmlns:a16="http://schemas.microsoft.com/office/drawing/2014/main" xmlns="" id="{6C28009A-97EB-2DF1-9324-58016C26C8BB}"/>
                </a:ext>
              </a:extLst>
            </p:cNvPr>
            <p:cNvGrpSpPr/>
            <p:nvPr/>
          </p:nvGrpSpPr>
          <p:grpSpPr>
            <a:xfrm>
              <a:off x="8444206" y="1050910"/>
              <a:ext cx="2136432" cy="2746650"/>
              <a:chOff x="7035282" y="1032248"/>
              <a:chExt cx="2136432" cy="2746650"/>
            </a:xfrm>
          </p:grpSpPr>
          <p:sp>
            <p:nvSpPr>
              <p:cNvPr id="3" name="Ellipse 2">
                <a:extLst>
                  <a:ext uri="{FF2B5EF4-FFF2-40B4-BE49-F238E27FC236}">
                    <a16:creationId xmlns:a16="http://schemas.microsoft.com/office/drawing/2014/main" xmlns="" id="{F525120C-BB33-5256-9096-B1652F6CB4A5}"/>
                  </a:ext>
                </a:extLst>
              </p:cNvPr>
              <p:cNvSpPr/>
              <p:nvPr/>
            </p:nvSpPr>
            <p:spPr>
              <a:xfrm>
                <a:off x="7035282" y="1420777"/>
                <a:ext cx="2009192" cy="235812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" name="Ellipse 4">
                <a:extLst>
                  <a:ext uri="{FF2B5EF4-FFF2-40B4-BE49-F238E27FC236}">
                    <a16:creationId xmlns:a16="http://schemas.microsoft.com/office/drawing/2014/main" xmlns="" id="{22C99E8B-145F-76E6-1C35-A62FD3931C0B}"/>
                  </a:ext>
                </a:extLst>
              </p:cNvPr>
              <p:cNvSpPr/>
              <p:nvPr/>
            </p:nvSpPr>
            <p:spPr>
              <a:xfrm>
                <a:off x="7427170" y="2024743"/>
                <a:ext cx="139960" cy="158620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6" name="Ellipse 5">
                <a:extLst>
                  <a:ext uri="{FF2B5EF4-FFF2-40B4-BE49-F238E27FC236}">
                    <a16:creationId xmlns:a16="http://schemas.microsoft.com/office/drawing/2014/main" xmlns="" id="{EACC5976-00AD-1EAB-3F98-BE2DCA5732FE}"/>
                  </a:ext>
                </a:extLst>
              </p:cNvPr>
              <p:cNvSpPr/>
              <p:nvPr/>
            </p:nvSpPr>
            <p:spPr>
              <a:xfrm>
                <a:off x="7422502" y="2913284"/>
                <a:ext cx="139960" cy="158620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7" name="Ellipse 6">
                <a:extLst>
                  <a:ext uri="{FF2B5EF4-FFF2-40B4-BE49-F238E27FC236}">
                    <a16:creationId xmlns:a16="http://schemas.microsoft.com/office/drawing/2014/main" xmlns="" id="{95E01DF8-52C1-7C60-D12F-B8AF0C0972CC}"/>
                  </a:ext>
                </a:extLst>
              </p:cNvPr>
              <p:cNvSpPr/>
              <p:nvPr/>
            </p:nvSpPr>
            <p:spPr>
              <a:xfrm>
                <a:off x="7413173" y="2447730"/>
                <a:ext cx="139960" cy="158620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xmlns="" id="{B780580C-F8C1-8994-D8F6-312C3E466FD7}"/>
                  </a:ext>
                </a:extLst>
              </p:cNvPr>
              <p:cNvSpPr txBox="1"/>
              <p:nvPr/>
            </p:nvSpPr>
            <p:spPr>
              <a:xfrm>
                <a:off x="7595119" y="1032248"/>
                <a:ext cx="10419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Film</a:t>
                </a:r>
              </a:p>
            </p:txBody>
          </p:sp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xmlns="" id="{4950E4A1-C690-D083-DEDE-1BB4AF16087B}"/>
                  </a:ext>
                </a:extLst>
              </p:cNvPr>
              <p:cNvSpPr txBox="1"/>
              <p:nvPr/>
            </p:nvSpPr>
            <p:spPr>
              <a:xfrm>
                <a:off x="7635553" y="2400202"/>
                <a:ext cx="14089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err="1"/>
                  <a:t>Casanegra</a:t>
                </a:r>
                <a:endParaRPr lang="fr-FR" dirty="0"/>
              </a:p>
            </p:txBody>
          </p:sp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xmlns="" id="{78A8F57E-90D4-F55F-42A9-98A11FDB9E10}"/>
                  </a:ext>
                </a:extLst>
              </p:cNvPr>
              <p:cNvSpPr txBox="1"/>
              <p:nvPr/>
            </p:nvSpPr>
            <p:spPr>
              <a:xfrm>
                <a:off x="7595119" y="2833991"/>
                <a:ext cx="1576595" cy="463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Taxi driver</a:t>
                </a:r>
              </a:p>
            </p:txBody>
          </p:sp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xmlns="" id="{EA7F7BE1-59A0-0A86-8333-CB9191997BDF}"/>
                  </a:ext>
                </a:extLst>
              </p:cNvPr>
              <p:cNvSpPr txBox="1"/>
              <p:nvPr/>
            </p:nvSpPr>
            <p:spPr>
              <a:xfrm>
                <a:off x="7644882" y="1992477"/>
                <a:ext cx="10419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Titanic</a:t>
                </a:r>
              </a:p>
            </p:txBody>
          </p:sp>
        </p:grpSp>
        <p:grpSp>
          <p:nvGrpSpPr>
            <p:cNvPr id="17" name="Groupe 16">
              <a:extLst>
                <a:ext uri="{FF2B5EF4-FFF2-40B4-BE49-F238E27FC236}">
                  <a16:creationId xmlns:a16="http://schemas.microsoft.com/office/drawing/2014/main" xmlns="" id="{54642FD3-EEBA-61C3-EDA7-EBFCAF0EBDEB}"/>
                </a:ext>
              </a:extLst>
            </p:cNvPr>
            <p:cNvGrpSpPr/>
            <p:nvPr/>
          </p:nvGrpSpPr>
          <p:grpSpPr>
            <a:xfrm>
              <a:off x="4991107" y="1093067"/>
              <a:ext cx="3042552" cy="2746650"/>
              <a:chOff x="6340934" y="1032248"/>
              <a:chExt cx="3042552" cy="2746650"/>
            </a:xfrm>
          </p:grpSpPr>
          <p:sp>
            <p:nvSpPr>
              <p:cNvPr id="18" name="Ellipse 17">
                <a:extLst>
                  <a:ext uri="{FF2B5EF4-FFF2-40B4-BE49-F238E27FC236}">
                    <a16:creationId xmlns:a16="http://schemas.microsoft.com/office/drawing/2014/main" xmlns="" id="{BD781AF3-F014-D38B-CCAE-97DED5B54C0B}"/>
                  </a:ext>
                </a:extLst>
              </p:cNvPr>
              <p:cNvSpPr/>
              <p:nvPr/>
            </p:nvSpPr>
            <p:spPr>
              <a:xfrm>
                <a:off x="7035282" y="1420777"/>
                <a:ext cx="2009192" cy="235812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9" name="Ellipse 18">
                <a:extLst>
                  <a:ext uri="{FF2B5EF4-FFF2-40B4-BE49-F238E27FC236}">
                    <a16:creationId xmlns:a16="http://schemas.microsoft.com/office/drawing/2014/main" xmlns="" id="{23DC6751-9498-1962-21DA-BBB08D343604}"/>
                  </a:ext>
                </a:extLst>
              </p:cNvPr>
              <p:cNvSpPr/>
              <p:nvPr/>
            </p:nvSpPr>
            <p:spPr>
              <a:xfrm>
                <a:off x="7427170" y="2024743"/>
                <a:ext cx="139960" cy="158620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0" name="Ellipse 19">
                <a:extLst>
                  <a:ext uri="{FF2B5EF4-FFF2-40B4-BE49-F238E27FC236}">
                    <a16:creationId xmlns:a16="http://schemas.microsoft.com/office/drawing/2014/main" xmlns="" id="{44B0B3D7-2476-568B-58DF-675B373E0210}"/>
                  </a:ext>
                </a:extLst>
              </p:cNvPr>
              <p:cNvSpPr/>
              <p:nvPr/>
            </p:nvSpPr>
            <p:spPr>
              <a:xfrm>
                <a:off x="7422502" y="2913284"/>
                <a:ext cx="139960" cy="158620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1" name="Ellipse 20">
                <a:extLst>
                  <a:ext uri="{FF2B5EF4-FFF2-40B4-BE49-F238E27FC236}">
                    <a16:creationId xmlns:a16="http://schemas.microsoft.com/office/drawing/2014/main" xmlns="" id="{48870C0B-DA13-B6FF-CEA5-96CF201FAB44}"/>
                  </a:ext>
                </a:extLst>
              </p:cNvPr>
              <p:cNvSpPr/>
              <p:nvPr/>
            </p:nvSpPr>
            <p:spPr>
              <a:xfrm>
                <a:off x="7413173" y="2447730"/>
                <a:ext cx="139960" cy="158620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xmlns="" id="{554DE490-F56F-A7F4-F2A8-D379FF51EE33}"/>
                  </a:ext>
                </a:extLst>
              </p:cNvPr>
              <p:cNvSpPr txBox="1"/>
              <p:nvPr/>
            </p:nvSpPr>
            <p:spPr>
              <a:xfrm>
                <a:off x="7200124" y="1032248"/>
                <a:ext cx="21833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Créneau horaire</a:t>
                </a:r>
              </a:p>
            </p:txBody>
          </p:sp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xmlns="" id="{A68C8763-37AC-3140-F5FA-2403ABFABB21}"/>
                  </a:ext>
                </a:extLst>
              </p:cNvPr>
              <p:cNvSpPr txBox="1"/>
              <p:nvPr/>
            </p:nvSpPr>
            <p:spPr>
              <a:xfrm>
                <a:off x="6385993" y="2381277"/>
                <a:ext cx="14089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04-04-22</a:t>
                </a:r>
              </a:p>
            </p:txBody>
          </p:sp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xmlns="" id="{5DAC65D3-BADF-1F8E-3538-C5714CBA3B7B}"/>
                  </a:ext>
                </a:extLst>
              </p:cNvPr>
              <p:cNvSpPr txBox="1"/>
              <p:nvPr/>
            </p:nvSpPr>
            <p:spPr>
              <a:xfrm>
                <a:off x="6340934" y="2869506"/>
                <a:ext cx="12689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10-01-23</a:t>
                </a:r>
              </a:p>
            </p:txBody>
          </p:sp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xmlns="" id="{BFAAA536-C426-BE95-FB4D-9882F3975228}"/>
                  </a:ext>
                </a:extLst>
              </p:cNvPr>
              <p:cNvSpPr txBox="1"/>
              <p:nvPr/>
            </p:nvSpPr>
            <p:spPr>
              <a:xfrm>
                <a:off x="7652944" y="1852100"/>
                <a:ext cx="12191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18-04-20</a:t>
                </a:r>
              </a:p>
            </p:txBody>
          </p:sp>
        </p:grpSp>
        <p:grpSp>
          <p:nvGrpSpPr>
            <p:cNvPr id="26" name="Groupe 25">
              <a:extLst>
                <a:ext uri="{FF2B5EF4-FFF2-40B4-BE49-F238E27FC236}">
                  <a16:creationId xmlns:a16="http://schemas.microsoft.com/office/drawing/2014/main" xmlns="" id="{5FE9D61C-75AE-3069-896A-03AD0C0DE4DB}"/>
                </a:ext>
              </a:extLst>
            </p:cNvPr>
            <p:cNvGrpSpPr/>
            <p:nvPr/>
          </p:nvGrpSpPr>
          <p:grpSpPr>
            <a:xfrm>
              <a:off x="2312684" y="1848184"/>
              <a:ext cx="2250763" cy="2779790"/>
              <a:chOff x="6793711" y="1032248"/>
              <a:chExt cx="2250763" cy="2746650"/>
            </a:xfrm>
          </p:grpSpPr>
          <p:sp>
            <p:nvSpPr>
              <p:cNvPr id="27" name="Ellipse 26">
                <a:extLst>
                  <a:ext uri="{FF2B5EF4-FFF2-40B4-BE49-F238E27FC236}">
                    <a16:creationId xmlns:a16="http://schemas.microsoft.com/office/drawing/2014/main" xmlns="" id="{B184DA05-0C52-D6AA-097F-41000447B43F}"/>
                  </a:ext>
                </a:extLst>
              </p:cNvPr>
              <p:cNvSpPr/>
              <p:nvPr/>
            </p:nvSpPr>
            <p:spPr>
              <a:xfrm>
                <a:off x="7035282" y="1420777"/>
                <a:ext cx="2009192" cy="235812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8" name="Ellipse 27">
                <a:extLst>
                  <a:ext uri="{FF2B5EF4-FFF2-40B4-BE49-F238E27FC236}">
                    <a16:creationId xmlns:a16="http://schemas.microsoft.com/office/drawing/2014/main" xmlns="" id="{8F5729CC-E087-C04B-A584-36EEB54CC09D}"/>
                  </a:ext>
                </a:extLst>
              </p:cNvPr>
              <p:cNvSpPr/>
              <p:nvPr/>
            </p:nvSpPr>
            <p:spPr>
              <a:xfrm>
                <a:off x="7427170" y="2024743"/>
                <a:ext cx="139960" cy="158620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9" name="Ellipse 28">
                <a:extLst>
                  <a:ext uri="{FF2B5EF4-FFF2-40B4-BE49-F238E27FC236}">
                    <a16:creationId xmlns:a16="http://schemas.microsoft.com/office/drawing/2014/main" xmlns="" id="{AD5E00A8-D5EA-DB70-72C0-B19D764681E7}"/>
                  </a:ext>
                </a:extLst>
              </p:cNvPr>
              <p:cNvSpPr/>
              <p:nvPr/>
            </p:nvSpPr>
            <p:spPr>
              <a:xfrm>
                <a:off x="7422502" y="2913284"/>
                <a:ext cx="139960" cy="158620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0" name="Ellipse 29">
                <a:extLst>
                  <a:ext uri="{FF2B5EF4-FFF2-40B4-BE49-F238E27FC236}">
                    <a16:creationId xmlns:a16="http://schemas.microsoft.com/office/drawing/2014/main" xmlns="" id="{757F762B-DE9D-BFE8-67F3-B602C444BBEE}"/>
                  </a:ext>
                </a:extLst>
              </p:cNvPr>
              <p:cNvSpPr/>
              <p:nvPr/>
            </p:nvSpPr>
            <p:spPr>
              <a:xfrm>
                <a:off x="7413173" y="2447730"/>
                <a:ext cx="139960" cy="158620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xmlns="" id="{CDBBA41E-58F5-C25A-8FC0-4AFAB38798A0}"/>
                  </a:ext>
                </a:extLst>
              </p:cNvPr>
              <p:cNvSpPr txBox="1"/>
              <p:nvPr/>
            </p:nvSpPr>
            <p:spPr>
              <a:xfrm>
                <a:off x="7595119" y="1032248"/>
                <a:ext cx="10419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Salle</a:t>
                </a:r>
              </a:p>
            </p:txBody>
          </p:sp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xmlns="" id="{8219FDAB-7346-6612-FD5C-6F3CEFB82317}"/>
                  </a:ext>
                </a:extLst>
              </p:cNvPr>
              <p:cNvSpPr txBox="1"/>
              <p:nvPr/>
            </p:nvSpPr>
            <p:spPr>
              <a:xfrm>
                <a:off x="6818347" y="2370279"/>
                <a:ext cx="14089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err="1"/>
                  <a:t>Inf</a:t>
                </a:r>
                <a:r>
                  <a:rPr lang="fr-FR" dirty="0"/>
                  <a:t> 2</a:t>
                </a:r>
              </a:p>
            </p:txBody>
          </p:sp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xmlns="" id="{BA4A125E-5400-23CA-7666-031E2850AC72}"/>
                  </a:ext>
                </a:extLst>
              </p:cNvPr>
              <p:cNvSpPr txBox="1"/>
              <p:nvPr/>
            </p:nvSpPr>
            <p:spPr>
              <a:xfrm>
                <a:off x="6793711" y="2817196"/>
                <a:ext cx="12689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err="1"/>
                  <a:t>Inf</a:t>
                </a:r>
                <a:r>
                  <a:rPr lang="fr-FR" dirty="0"/>
                  <a:t> 3</a:t>
                </a:r>
              </a:p>
            </p:txBody>
          </p:sp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xmlns="" id="{59BB923D-0B30-04B3-EC79-CC7A93546681}"/>
                  </a:ext>
                </a:extLst>
              </p:cNvPr>
              <p:cNvSpPr txBox="1"/>
              <p:nvPr/>
            </p:nvSpPr>
            <p:spPr>
              <a:xfrm>
                <a:off x="6927205" y="1937955"/>
                <a:ext cx="10419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Inf1</a:t>
                </a:r>
              </a:p>
            </p:txBody>
          </p:sp>
        </p:grpSp>
        <p:cxnSp>
          <p:nvCxnSpPr>
            <p:cNvPr id="36" name="Connecteur droit 35">
              <a:extLst>
                <a:ext uri="{FF2B5EF4-FFF2-40B4-BE49-F238E27FC236}">
                  <a16:creationId xmlns:a16="http://schemas.microsoft.com/office/drawing/2014/main" xmlns="" id="{4680C51F-6E12-E4B5-7F91-A49890345A3B}"/>
                </a:ext>
              </a:extLst>
            </p:cNvPr>
            <p:cNvCxnSpPr>
              <a:stCxn id="5" idx="3"/>
            </p:cNvCxnSpPr>
            <p:nvPr/>
          </p:nvCxnSpPr>
          <p:spPr>
            <a:xfrm flipH="1">
              <a:off x="6979300" y="2178796"/>
              <a:ext cx="1877291" cy="2738437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Connecteur droit 37">
              <a:extLst>
                <a:ext uri="{FF2B5EF4-FFF2-40B4-BE49-F238E27FC236}">
                  <a16:creationId xmlns:a16="http://schemas.microsoft.com/office/drawing/2014/main" xmlns="" id="{B5EE6A5D-CEAB-7651-3C72-FBB10C95F52C}"/>
                </a:ext>
              </a:extLst>
            </p:cNvPr>
            <p:cNvCxnSpPr>
              <a:cxnSpLocks/>
            </p:cNvCxnSpPr>
            <p:nvPr/>
          </p:nvCxnSpPr>
          <p:spPr>
            <a:xfrm>
              <a:off x="6190867" y="2192928"/>
              <a:ext cx="775995" cy="2724305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Connecteur droit 42">
              <a:extLst>
                <a:ext uri="{FF2B5EF4-FFF2-40B4-BE49-F238E27FC236}">
                  <a16:creationId xmlns:a16="http://schemas.microsoft.com/office/drawing/2014/main" xmlns="" id="{567DC8F9-091F-760A-2F00-E5489D7503F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74876" y="2910492"/>
              <a:ext cx="4019161" cy="206406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Connecteur droit 45">
              <a:extLst>
                <a:ext uri="{FF2B5EF4-FFF2-40B4-BE49-F238E27FC236}">
                  <a16:creationId xmlns:a16="http://schemas.microsoft.com/office/drawing/2014/main" xmlns="" id="{16DE4F91-3B4F-BD53-88FF-C0A541234BB1}"/>
                </a:ext>
              </a:extLst>
            </p:cNvPr>
            <p:cNvCxnSpPr>
              <a:stCxn id="5" idx="2"/>
            </p:cNvCxnSpPr>
            <p:nvPr/>
          </p:nvCxnSpPr>
          <p:spPr>
            <a:xfrm flipH="1">
              <a:off x="7137426" y="2122715"/>
              <a:ext cx="1698668" cy="3202459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Connecteur droit 47">
              <a:extLst>
                <a:ext uri="{FF2B5EF4-FFF2-40B4-BE49-F238E27FC236}">
                  <a16:creationId xmlns:a16="http://schemas.microsoft.com/office/drawing/2014/main" xmlns="" id="{5AC23753-28DA-9678-495D-F39D0CB745B5}"/>
                </a:ext>
              </a:extLst>
            </p:cNvPr>
            <p:cNvCxnSpPr>
              <a:endCxn id="21" idx="1"/>
            </p:cNvCxnSpPr>
            <p:nvPr/>
          </p:nvCxnSpPr>
          <p:spPr>
            <a:xfrm flipH="1" flipV="1">
              <a:off x="6063346" y="2587859"/>
              <a:ext cx="1060299" cy="2711929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xmlns="" id="{0E7B444E-E33E-CFA9-9689-D29F1E8F797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97707" y="3383550"/>
              <a:ext cx="4119221" cy="192770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Connecteur droit 53">
              <a:extLst>
                <a:ext uri="{FF2B5EF4-FFF2-40B4-BE49-F238E27FC236}">
                  <a16:creationId xmlns:a16="http://schemas.microsoft.com/office/drawing/2014/main" xmlns="" id="{5904784F-877E-9739-867B-7DFDEECE9DBB}"/>
                </a:ext>
              </a:extLst>
            </p:cNvPr>
            <p:cNvCxnSpPr>
              <a:stCxn id="7" idx="7"/>
            </p:cNvCxnSpPr>
            <p:nvPr/>
          </p:nvCxnSpPr>
          <p:spPr>
            <a:xfrm flipH="1">
              <a:off x="7364965" y="2489621"/>
              <a:ext cx="1576595" cy="325205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Connecteur droit 55">
              <a:extLst>
                <a:ext uri="{FF2B5EF4-FFF2-40B4-BE49-F238E27FC236}">
                  <a16:creationId xmlns:a16="http://schemas.microsoft.com/office/drawing/2014/main" xmlns="" id="{DF61F29E-B4EE-1BC2-E75F-F7F2DCD66676}"/>
                </a:ext>
              </a:extLst>
            </p:cNvPr>
            <p:cNvCxnSpPr>
              <a:endCxn id="19" idx="6"/>
            </p:cNvCxnSpPr>
            <p:nvPr/>
          </p:nvCxnSpPr>
          <p:spPr>
            <a:xfrm flipH="1" flipV="1">
              <a:off x="6217303" y="2164872"/>
              <a:ext cx="1154625" cy="3550369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xmlns="" id="{6BCE172E-D43F-337E-2B15-84A431DED7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56000" y="3361012"/>
              <a:ext cx="4415927" cy="228263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61" name="Image 60">
            <a:extLst>
              <a:ext uri="{FF2B5EF4-FFF2-40B4-BE49-F238E27FC236}">
                <a16:creationId xmlns:a16="http://schemas.microsoft.com/office/drawing/2014/main" xmlns="" id="{B914CEF4-E6F9-F25C-0952-5820D76B6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5336" y="3983367"/>
            <a:ext cx="3916488" cy="2238037"/>
          </a:xfrm>
          <a:prstGeom prst="rect">
            <a:avLst/>
          </a:prstGeom>
        </p:spPr>
      </p:pic>
      <p:sp>
        <p:nvSpPr>
          <p:cNvPr id="67" name="ZoneTexte 66">
            <a:extLst>
              <a:ext uri="{FF2B5EF4-FFF2-40B4-BE49-F238E27FC236}">
                <a16:creationId xmlns:a16="http://schemas.microsoft.com/office/drawing/2014/main" xmlns="" id="{2CF9A0D8-4288-FDE5-01B5-7DA3B1D98A36}"/>
              </a:ext>
            </a:extLst>
          </p:cNvPr>
          <p:cNvSpPr txBox="1"/>
          <p:nvPr/>
        </p:nvSpPr>
        <p:spPr>
          <a:xfrm>
            <a:off x="1230863" y="577925"/>
            <a:ext cx="9730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ASSOCIATION TERNAIRE</a:t>
            </a:r>
          </a:p>
        </p:txBody>
      </p:sp>
    </p:spTree>
    <p:extLst>
      <p:ext uri="{BB962C8B-B14F-4D97-AF65-F5344CB8AC3E}">
        <p14:creationId xmlns:p14="http://schemas.microsoft.com/office/powerpoint/2010/main" val="2015334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e 59">
            <a:extLst>
              <a:ext uri="{FF2B5EF4-FFF2-40B4-BE49-F238E27FC236}">
                <a16:creationId xmlns:a16="http://schemas.microsoft.com/office/drawing/2014/main" xmlns="" id="{F7338A3A-571D-0DC6-7EFE-2B8C6F187215}"/>
              </a:ext>
            </a:extLst>
          </p:cNvPr>
          <p:cNvGrpSpPr/>
          <p:nvPr/>
        </p:nvGrpSpPr>
        <p:grpSpPr>
          <a:xfrm>
            <a:off x="945773" y="1547850"/>
            <a:ext cx="8198457" cy="4079540"/>
            <a:chOff x="2312684" y="1050910"/>
            <a:chExt cx="8267954" cy="5124569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xmlns="" id="{5BAC44F6-B006-2A62-F63B-243CA35850CB}"/>
                </a:ext>
              </a:extLst>
            </p:cNvPr>
            <p:cNvSpPr/>
            <p:nvPr/>
          </p:nvSpPr>
          <p:spPr>
            <a:xfrm>
              <a:off x="5915610" y="4054320"/>
              <a:ext cx="2118049" cy="2121159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6" name="Groupe 15">
              <a:extLst>
                <a:ext uri="{FF2B5EF4-FFF2-40B4-BE49-F238E27FC236}">
                  <a16:creationId xmlns:a16="http://schemas.microsoft.com/office/drawing/2014/main" xmlns="" id="{6C28009A-97EB-2DF1-9324-58016C26C8BB}"/>
                </a:ext>
              </a:extLst>
            </p:cNvPr>
            <p:cNvGrpSpPr/>
            <p:nvPr/>
          </p:nvGrpSpPr>
          <p:grpSpPr>
            <a:xfrm>
              <a:off x="8444206" y="1050910"/>
              <a:ext cx="2136432" cy="2746650"/>
              <a:chOff x="7035282" y="1032248"/>
              <a:chExt cx="2136432" cy="2746650"/>
            </a:xfrm>
          </p:grpSpPr>
          <p:sp>
            <p:nvSpPr>
              <p:cNvPr id="3" name="Ellipse 2">
                <a:extLst>
                  <a:ext uri="{FF2B5EF4-FFF2-40B4-BE49-F238E27FC236}">
                    <a16:creationId xmlns:a16="http://schemas.microsoft.com/office/drawing/2014/main" xmlns="" id="{F525120C-BB33-5256-9096-B1652F6CB4A5}"/>
                  </a:ext>
                </a:extLst>
              </p:cNvPr>
              <p:cNvSpPr/>
              <p:nvPr/>
            </p:nvSpPr>
            <p:spPr>
              <a:xfrm>
                <a:off x="7035282" y="1420777"/>
                <a:ext cx="2009192" cy="235812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" name="Ellipse 4">
                <a:extLst>
                  <a:ext uri="{FF2B5EF4-FFF2-40B4-BE49-F238E27FC236}">
                    <a16:creationId xmlns:a16="http://schemas.microsoft.com/office/drawing/2014/main" xmlns="" id="{22C99E8B-145F-76E6-1C35-A62FD3931C0B}"/>
                  </a:ext>
                </a:extLst>
              </p:cNvPr>
              <p:cNvSpPr/>
              <p:nvPr/>
            </p:nvSpPr>
            <p:spPr>
              <a:xfrm>
                <a:off x="7427170" y="2024743"/>
                <a:ext cx="139960" cy="158620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6" name="Ellipse 5">
                <a:extLst>
                  <a:ext uri="{FF2B5EF4-FFF2-40B4-BE49-F238E27FC236}">
                    <a16:creationId xmlns:a16="http://schemas.microsoft.com/office/drawing/2014/main" xmlns="" id="{EACC5976-00AD-1EAB-3F98-BE2DCA5732FE}"/>
                  </a:ext>
                </a:extLst>
              </p:cNvPr>
              <p:cNvSpPr/>
              <p:nvPr/>
            </p:nvSpPr>
            <p:spPr>
              <a:xfrm>
                <a:off x="7422502" y="2913284"/>
                <a:ext cx="139960" cy="158620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7" name="Ellipse 6">
                <a:extLst>
                  <a:ext uri="{FF2B5EF4-FFF2-40B4-BE49-F238E27FC236}">
                    <a16:creationId xmlns:a16="http://schemas.microsoft.com/office/drawing/2014/main" xmlns="" id="{95E01DF8-52C1-7C60-D12F-B8AF0C0972CC}"/>
                  </a:ext>
                </a:extLst>
              </p:cNvPr>
              <p:cNvSpPr/>
              <p:nvPr/>
            </p:nvSpPr>
            <p:spPr>
              <a:xfrm>
                <a:off x="7413173" y="2447730"/>
                <a:ext cx="139960" cy="158620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xmlns="" id="{B780580C-F8C1-8994-D8F6-312C3E466FD7}"/>
                  </a:ext>
                </a:extLst>
              </p:cNvPr>
              <p:cNvSpPr txBox="1"/>
              <p:nvPr/>
            </p:nvSpPr>
            <p:spPr>
              <a:xfrm>
                <a:off x="7595119" y="1032248"/>
                <a:ext cx="10419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Film</a:t>
                </a:r>
              </a:p>
            </p:txBody>
          </p:sp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xmlns="" id="{4950E4A1-C690-D083-DEDE-1BB4AF16087B}"/>
                  </a:ext>
                </a:extLst>
              </p:cNvPr>
              <p:cNvSpPr txBox="1"/>
              <p:nvPr/>
            </p:nvSpPr>
            <p:spPr>
              <a:xfrm>
                <a:off x="7635553" y="2400202"/>
                <a:ext cx="14089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err="1"/>
                  <a:t>Casanegra</a:t>
                </a:r>
                <a:endParaRPr lang="fr-FR" dirty="0"/>
              </a:p>
            </p:txBody>
          </p:sp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xmlns="" id="{78A8F57E-90D4-F55F-42A9-98A11FDB9E10}"/>
                  </a:ext>
                </a:extLst>
              </p:cNvPr>
              <p:cNvSpPr txBox="1"/>
              <p:nvPr/>
            </p:nvSpPr>
            <p:spPr>
              <a:xfrm>
                <a:off x="7595119" y="2833991"/>
                <a:ext cx="1576595" cy="463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Taxi driver</a:t>
                </a:r>
              </a:p>
            </p:txBody>
          </p:sp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xmlns="" id="{EA7F7BE1-59A0-0A86-8333-CB9191997BDF}"/>
                  </a:ext>
                </a:extLst>
              </p:cNvPr>
              <p:cNvSpPr txBox="1"/>
              <p:nvPr/>
            </p:nvSpPr>
            <p:spPr>
              <a:xfrm>
                <a:off x="7644882" y="1992477"/>
                <a:ext cx="10419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Titanic</a:t>
                </a:r>
              </a:p>
            </p:txBody>
          </p:sp>
        </p:grpSp>
        <p:grpSp>
          <p:nvGrpSpPr>
            <p:cNvPr id="17" name="Groupe 16">
              <a:extLst>
                <a:ext uri="{FF2B5EF4-FFF2-40B4-BE49-F238E27FC236}">
                  <a16:creationId xmlns:a16="http://schemas.microsoft.com/office/drawing/2014/main" xmlns="" id="{54642FD3-EEBA-61C3-EDA7-EBFCAF0EBDEB}"/>
                </a:ext>
              </a:extLst>
            </p:cNvPr>
            <p:cNvGrpSpPr/>
            <p:nvPr/>
          </p:nvGrpSpPr>
          <p:grpSpPr>
            <a:xfrm>
              <a:off x="4991107" y="1093067"/>
              <a:ext cx="3042552" cy="2746650"/>
              <a:chOff x="6340934" y="1032248"/>
              <a:chExt cx="3042552" cy="2746650"/>
            </a:xfrm>
          </p:grpSpPr>
          <p:sp>
            <p:nvSpPr>
              <p:cNvPr id="18" name="Ellipse 17">
                <a:extLst>
                  <a:ext uri="{FF2B5EF4-FFF2-40B4-BE49-F238E27FC236}">
                    <a16:creationId xmlns:a16="http://schemas.microsoft.com/office/drawing/2014/main" xmlns="" id="{BD781AF3-F014-D38B-CCAE-97DED5B54C0B}"/>
                  </a:ext>
                </a:extLst>
              </p:cNvPr>
              <p:cNvSpPr/>
              <p:nvPr/>
            </p:nvSpPr>
            <p:spPr>
              <a:xfrm>
                <a:off x="7035282" y="1420777"/>
                <a:ext cx="2009192" cy="235812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9" name="Ellipse 18">
                <a:extLst>
                  <a:ext uri="{FF2B5EF4-FFF2-40B4-BE49-F238E27FC236}">
                    <a16:creationId xmlns:a16="http://schemas.microsoft.com/office/drawing/2014/main" xmlns="" id="{23DC6751-9498-1962-21DA-BBB08D343604}"/>
                  </a:ext>
                </a:extLst>
              </p:cNvPr>
              <p:cNvSpPr/>
              <p:nvPr/>
            </p:nvSpPr>
            <p:spPr>
              <a:xfrm>
                <a:off x="7427170" y="2024743"/>
                <a:ext cx="139960" cy="158620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0" name="Ellipse 19">
                <a:extLst>
                  <a:ext uri="{FF2B5EF4-FFF2-40B4-BE49-F238E27FC236}">
                    <a16:creationId xmlns:a16="http://schemas.microsoft.com/office/drawing/2014/main" xmlns="" id="{44B0B3D7-2476-568B-58DF-675B373E0210}"/>
                  </a:ext>
                </a:extLst>
              </p:cNvPr>
              <p:cNvSpPr/>
              <p:nvPr/>
            </p:nvSpPr>
            <p:spPr>
              <a:xfrm>
                <a:off x="7422502" y="2913284"/>
                <a:ext cx="139960" cy="158620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1" name="Ellipse 20">
                <a:extLst>
                  <a:ext uri="{FF2B5EF4-FFF2-40B4-BE49-F238E27FC236}">
                    <a16:creationId xmlns:a16="http://schemas.microsoft.com/office/drawing/2014/main" xmlns="" id="{48870C0B-DA13-B6FF-CEA5-96CF201FAB44}"/>
                  </a:ext>
                </a:extLst>
              </p:cNvPr>
              <p:cNvSpPr/>
              <p:nvPr/>
            </p:nvSpPr>
            <p:spPr>
              <a:xfrm>
                <a:off x="7413173" y="2447730"/>
                <a:ext cx="139960" cy="158620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xmlns="" id="{554DE490-F56F-A7F4-F2A8-D379FF51EE33}"/>
                  </a:ext>
                </a:extLst>
              </p:cNvPr>
              <p:cNvSpPr txBox="1"/>
              <p:nvPr/>
            </p:nvSpPr>
            <p:spPr>
              <a:xfrm>
                <a:off x="7200124" y="1032248"/>
                <a:ext cx="21833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Créneau horaire</a:t>
                </a:r>
              </a:p>
            </p:txBody>
          </p:sp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xmlns="" id="{A68C8763-37AC-3140-F5FA-2403ABFABB21}"/>
                  </a:ext>
                </a:extLst>
              </p:cNvPr>
              <p:cNvSpPr txBox="1"/>
              <p:nvPr/>
            </p:nvSpPr>
            <p:spPr>
              <a:xfrm>
                <a:off x="6385993" y="2381277"/>
                <a:ext cx="14089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04-04-22</a:t>
                </a:r>
              </a:p>
            </p:txBody>
          </p:sp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xmlns="" id="{5DAC65D3-BADF-1F8E-3538-C5714CBA3B7B}"/>
                  </a:ext>
                </a:extLst>
              </p:cNvPr>
              <p:cNvSpPr txBox="1"/>
              <p:nvPr/>
            </p:nvSpPr>
            <p:spPr>
              <a:xfrm>
                <a:off x="6340934" y="2869506"/>
                <a:ext cx="12689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10-01-23</a:t>
                </a:r>
              </a:p>
            </p:txBody>
          </p:sp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xmlns="" id="{BFAAA536-C426-BE95-FB4D-9882F3975228}"/>
                  </a:ext>
                </a:extLst>
              </p:cNvPr>
              <p:cNvSpPr txBox="1"/>
              <p:nvPr/>
            </p:nvSpPr>
            <p:spPr>
              <a:xfrm>
                <a:off x="7652944" y="1852100"/>
                <a:ext cx="12191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18-04-20</a:t>
                </a:r>
              </a:p>
            </p:txBody>
          </p:sp>
        </p:grpSp>
        <p:grpSp>
          <p:nvGrpSpPr>
            <p:cNvPr id="26" name="Groupe 25">
              <a:extLst>
                <a:ext uri="{FF2B5EF4-FFF2-40B4-BE49-F238E27FC236}">
                  <a16:creationId xmlns:a16="http://schemas.microsoft.com/office/drawing/2014/main" xmlns="" id="{5FE9D61C-75AE-3069-896A-03AD0C0DE4DB}"/>
                </a:ext>
              </a:extLst>
            </p:cNvPr>
            <p:cNvGrpSpPr/>
            <p:nvPr/>
          </p:nvGrpSpPr>
          <p:grpSpPr>
            <a:xfrm>
              <a:off x="2312684" y="1848184"/>
              <a:ext cx="2250763" cy="2779790"/>
              <a:chOff x="6793711" y="1032248"/>
              <a:chExt cx="2250763" cy="2746650"/>
            </a:xfrm>
          </p:grpSpPr>
          <p:sp>
            <p:nvSpPr>
              <p:cNvPr id="27" name="Ellipse 26">
                <a:extLst>
                  <a:ext uri="{FF2B5EF4-FFF2-40B4-BE49-F238E27FC236}">
                    <a16:creationId xmlns:a16="http://schemas.microsoft.com/office/drawing/2014/main" xmlns="" id="{B184DA05-0C52-D6AA-097F-41000447B43F}"/>
                  </a:ext>
                </a:extLst>
              </p:cNvPr>
              <p:cNvSpPr/>
              <p:nvPr/>
            </p:nvSpPr>
            <p:spPr>
              <a:xfrm>
                <a:off x="7035282" y="1420777"/>
                <a:ext cx="2009192" cy="235812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8" name="Ellipse 27">
                <a:extLst>
                  <a:ext uri="{FF2B5EF4-FFF2-40B4-BE49-F238E27FC236}">
                    <a16:creationId xmlns:a16="http://schemas.microsoft.com/office/drawing/2014/main" xmlns="" id="{8F5729CC-E087-C04B-A584-36EEB54CC09D}"/>
                  </a:ext>
                </a:extLst>
              </p:cNvPr>
              <p:cNvSpPr/>
              <p:nvPr/>
            </p:nvSpPr>
            <p:spPr>
              <a:xfrm>
                <a:off x="7427170" y="2024743"/>
                <a:ext cx="139960" cy="158620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9" name="Ellipse 28">
                <a:extLst>
                  <a:ext uri="{FF2B5EF4-FFF2-40B4-BE49-F238E27FC236}">
                    <a16:creationId xmlns:a16="http://schemas.microsoft.com/office/drawing/2014/main" xmlns="" id="{AD5E00A8-D5EA-DB70-72C0-B19D764681E7}"/>
                  </a:ext>
                </a:extLst>
              </p:cNvPr>
              <p:cNvSpPr/>
              <p:nvPr/>
            </p:nvSpPr>
            <p:spPr>
              <a:xfrm>
                <a:off x="7422502" y="2913284"/>
                <a:ext cx="139960" cy="158620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0" name="Ellipse 29">
                <a:extLst>
                  <a:ext uri="{FF2B5EF4-FFF2-40B4-BE49-F238E27FC236}">
                    <a16:creationId xmlns:a16="http://schemas.microsoft.com/office/drawing/2014/main" xmlns="" id="{757F762B-DE9D-BFE8-67F3-B602C444BBEE}"/>
                  </a:ext>
                </a:extLst>
              </p:cNvPr>
              <p:cNvSpPr/>
              <p:nvPr/>
            </p:nvSpPr>
            <p:spPr>
              <a:xfrm>
                <a:off x="7413173" y="2447730"/>
                <a:ext cx="139960" cy="158620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xmlns="" id="{CDBBA41E-58F5-C25A-8FC0-4AFAB38798A0}"/>
                  </a:ext>
                </a:extLst>
              </p:cNvPr>
              <p:cNvSpPr txBox="1"/>
              <p:nvPr/>
            </p:nvSpPr>
            <p:spPr>
              <a:xfrm>
                <a:off x="7595119" y="1032248"/>
                <a:ext cx="10419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Salle</a:t>
                </a:r>
              </a:p>
            </p:txBody>
          </p:sp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xmlns="" id="{8219FDAB-7346-6612-FD5C-6F3CEFB82317}"/>
                  </a:ext>
                </a:extLst>
              </p:cNvPr>
              <p:cNvSpPr txBox="1"/>
              <p:nvPr/>
            </p:nvSpPr>
            <p:spPr>
              <a:xfrm>
                <a:off x="6818347" y="2370279"/>
                <a:ext cx="14089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err="1"/>
                  <a:t>Inf</a:t>
                </a:r>
                <a:r>
                  <a:rPr lang="fr-FR" dirty="0"/>
                  <a:t> 2</a:t>
                </a:r>
              </a:p>
            </p:txBody>
          </p:sp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xmlns="" id="{BA4A125E-5400-23CA-7666-031E2850AC72}"/>
                  </a:ext>
                </a:extLst>
              </p:cNvPr>
              <p:cNvSpPr txBox="1"/>
              <p:nvPr/>
            </p:nvSpPr>
            <p:spPr>
              <a:xfrm>
                <a:off x="6793711" y="2817196"/>
                <a:ext cx="12689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err="1"/>
                  <a:t>Inf</a:t>
                </a:r>
                <a:r>
                  <a:rPr lang="fr-FR" dirty="0"/>
                  <a:t> 3</a:t>
                </a:r>
              </a:p>
            </p:txBody>
          </p:sp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xmlns="" id="{59BB923D-0B30-04B3-EC79-CC7A93546681}"/>
                  </a:ext>
                </a:extLst>
              </p:cNvPr>
              <p:cNvSpPr txBox="1"/>
              <p:nvPr/>
            </p:nvSpPr>
            <p:spPr>
              <a:xfrm>
                <a:off x="6927205" y="1937955"/>
                <a:ext cx="10419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Inf1</a:t>
                </a:r>
              </a:p>
            </p:txBody>
          </p:sp>
        </p:grpSp>
        <p:cxnSp>
          <p:nvCxnSpPr>
            <p:cNvPr id="36" name="Connecteur droit 35">
              <a:extLst>
                <a:ext uri="{FF2B5EF4-FFF2-40B4-BE49-F238E27FC236}">
                  <a16:creationId xmlns:a16="http://schemas.microsoft.com/office/drawing/2014/main" xmlns="" id="{4680C51F-6E12-E4B5-7F91-A49890345A3B}"/>
                </a:ext>
              </a:extLst>
            </p:cNvPr>
            <p:cNvCxnSpPr>
              <a:stCxn id="5" idx="3"/>
            </p:cNvCxnSpPr>
            <p:nvPr/>
          </p:nvCxnSpPr>
          <p:spPr>
            <a:xfrm flipH="1">
              <a:off x="6979300" y="2178796"/>
              <a:ext cx="1877291" cy="2738437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Connecteur droit 37">
              <a:extLst>
                <a:ext uri="{FF2B5EF4-FFF2-40B4-BE49-F238E27FC236}">
                  <a16:creationId xmlns:a16="http://schemas.microsoft.com/office/drawing/2014/main" xmlns="" id="{B5EE6A5D-CEAB-7651-3C72-FBB10C95F52C}"/>
                </a:ext>
              </a:extLst>
            </p:cNvPr>
            <p:cNvCxnSpPr>
              <a:cxnSpLocks/>
            </p:cNvCxnSpPr>
            <p:nvPr/>
          </p:nvCxnSpPr>
          <p:spPr>
            <a:xfrm>
              <a:off x="6190867" y="2192928"/>
              <a:ext cx="775995" cy="2724305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Connecteur droit 42">
              <a:extLst>
                <a:ext uri="{FF2B5EF4-FFF2-40B4-BE49-F238E27FC236}">
                  <a16:creationId xmlns:a16="http://schemas.microsoft.com/office/drawing/2014/main" xmlns="" id="{567DC8F9-091F-760A-2F00-E5489D7503F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74876" y="2910492"/>
              <a:ext cx="4019161" cy="206406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Connecteur droit 45">
              <a:extLst>
                <a:ext uri="{FF2B5EF4-FFF2-40B4-BE49-F238E27FC236}">
                  <a16:creationId xmlns:a16="http://schemas.microsoft.com/office/drawing/2014/main" xmlns="" id="{16DE4F91-3B4F-BD53-88FF-C0A541234BB1}"/>
                </a:ext>
              </a:extLst>
            </p:cNvPr>
            <p:cNvCxnSpPr>
              <a:stCxn id="5" idx="2"/>
            </p:cNvCxnSpPr>
            <p:nvPr/>
          </p:nvCxnSpPr>
          <p:spPr>
            <a:xfrm flipH="1">
              <a:off x="7137426" y="2122715"/>
              <a:ext cx="1698668" cy="3202459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Connecteur droit 47">
              <a:extLst>
                <a:ext uri="{FF2B5EF4-FFF2-40B4-BE49-F238E27FC236}">
                  <a16:creationId xmlns:a16="http://schemas.microsoft.com/office/drawing/2014/main" xmlns="" id="{5AC23753-28DA-9678-495D-F39D0CB745B5}"/>
                </a:ext>
              </a:extLst>
            </p:cNvPr>
            <p:cNvCxnSpPr>
              <a:endCxn id="21" idx="1"/>
            </p:cNvCxnSpPr>
            <p:nvPr/>
          </p:nvCxnSpPr>
          <p:spPr>
            <a:xfrm flipH="1" flipV="1">
              <a:off x="6063346" y="2587859"/>
              <a:ext cx="1060299" cy="2711929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xmlns="" id="{0E7B444E-E33E-CFA9-9689-D29F1E8F797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97707" y="3383550"/>
              <a:ext cx="4119221" cy="192770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Connecteur droit 53">
              <a:extLst>
                <a:ext uri="{FF2B5EF4-FFF2-40B4-BE49-F238E27FC236}">
                  <a16:creationId xmlns:a16="http://schemas.microsoft.com/office/drawing/2014/main" xmlns="" id="{5904784F-877E-9739-867B-7DFDEECE9DBB}"/>
                </a:ext>
              </a:extLst>
            </p:cNvPr>
            <p:cNvCxnSpPr>
              <a:stCxn id="7" idx="7"/>
            </p:cNvCxnSpPr>
            <p:nvPr/>
          </p:nvCxnSpPr>
          <p:spPr>
            <a:xfrm flipH="1">
              <a:off x="7364965" y="2489621"/>
              <a:ext cx="1576595" cy="325205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Connecteur droit 55">
              <a:extLst>
                <a:ext uri="{FF2B5EF4-FFF2-40B4-BE49-F238E27FC236}">
                  <a16:creationId xmlns:a16="http://schemas.microsoft.com/office/drawing/2014/main" xmlns="" id="{DF61F29E-B4EE-1BC2-E75F-F7F2DCD66676}"/>
                </a:ext>
              </a:extLst>
            </p:cNvPr>
            <p:cNvCxnSpPr>
              <a:endCxn id="19" idx="6"/>
            </p:cNvCxnSpPr>
            <p:nvPr/>
          </p:nvCxnSpPr>
          <p:spPr>
            <a:xfrm flipH="1" flipV="1">
              <a:off x="6217303" y="2164872"/>
              <a:ext cx="1154625" cy="3550369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xmlns="" id="{6BCE172E-D43F-337E-2B15-84A431DED7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56000" y="3361012"/>
              <a:ext cx="4415927" cy="228263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61" name="Image 60">
            <a:extLst>
              <a:ext uri="{FF2B5EF4-FFF2-40B4-BE49-F238E27FC236}">
                <a16:creationId xmlns:a16="http://schemas.microsoft.com/office/drawing/2014/main" xmlns="" id="{B914CEF4-E6F9-F25C-0952-5820D76B6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336" y="3983367"/>
            <a:ext cx="3916488" cy="2238037"/>
          </a:xfrm>
          <a:prstGeom prst="rect">
            <a:avLst/>
          </a:prstGeom>
        </p:spPr>
      </p:pic>
      <p:sp>
        <p:nvSpPr>
          <p:cNvPr id="64" name="ZoneTexte 63">
            <a:extLst>
              <a:ext uri="{FF2B5EF4-FFF2-40B4-BE49-F238E27FC236}">
                <a16:creationId xmlns:a16="http://schemas.microsoft.com/office/drawing/2014/main" xmlns="" id="{E1DA2CBC-E542-170A-237D-2D400B341198}"/>
              </a:ext>
            </a:extLst>
          </p:cNvPr>
          <p:cNvSpPr txBox="1"/>
          <p:nvPr/>
        </p:nvSpPr>
        <p:spPr>
          <a:xfrm>
            <a:off x="3687920" y="4126181"/>
            <a:ext cx="914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40 DH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xmlns="" id="{5CAD4A31-599E-332E-B049-C1055A297442}"/>
              </a:ext>
            </a:extLst>
          </p:cNvPr>
          <p:cNvSpPr txBox="1"/>
          <p:nvPr/>
        </p:nvSpPr>
        <p:spPr>
          <a:xfrm>
            <a:off x="6198314" y="4743528"/>
            <a:ext cx="914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B050"/>
                </a:solidFill>
              </a:rPr>
              <a:t>30 DH</a:t>
            </a: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xmlns="" id="{13A70B11-5689-E714-A6E1-DE3625470A06}"/>
              </a:ext>
            </a:extLst>
          </p:cNvPr>
          <p:cNvSpPr txBox="1"/>
          <p:nvPr/>
        </p:nvSpPr>
        <p:spPr>
          <a:xfrm>
            <a:off x="5549621" y="3733534"/>
            <a:ext cx="914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50 DH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xmlns="" id="{2CF9A0D8-4288-FDE5-01B5-7DA3B1D98A36}"/>
              </a:ext>
            </a:extLst>
          </p:cNvPr>
          <p:cNvSpPr txBox="1"/>
          <p:nvPr/>
        </p:nvSpPr>
        <p:spPr>
          <a:xfrm>
            <a:off x="1230863" y="577925"/>
            <a:ext cx="9730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ASSOCIATION TERNAIRE</a:t>
            </a:r>
          </a:p>
        </p:txBody>
      </p:sp>
    </p:spTree>
    <p:extLst>
      <p:ext uri="{BB962C8B-B14F-4D97-AF65-F5344CB8AC3E}">
        <p14:creationId xmlns:p14="http://schemas.microsoft.com/office/powerpoint/2010/main" val="20935774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xmlns="" id="{9EDA3CD0-186F-CDAA-2590-18D7CA08DAE3}"/>
              </a:ext>
            </a:extLst>
          </p:cNvPr>
          <p:cNvSpPr txBox="1"/>
          <p:nvPr/>
        </p:nvSpPr>
        <p:spPr>
          <a:xfrm>
            <a:off x="1514167" y="570270"/>
            <a:ext cx="94094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rtl="0">
              <a:defRPr lang="fr-FR"/>
            </a:defPPr>
            <a:lvl1pPr algn="ctr">
              <a:defRPr sz="320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Ternaire ou Binaire?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2F4345C0-073C-43EB-1AA0-8EE2045004F0}"/>
              </a:ext>
            </a:extLst>
          </p:cNvPr>
          <p:cNvSpPr txBox="1"/>
          <p:nvPr/>
        </p:nvSpPr>
        <p:spPr>
          <a:xfrm>
            <a:off x="1482663" y="1086009"/>
            <a:ext cx="96749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2400" b="0" i="0" u="none" strike="noStrike" baseline="0" dirty="0">
                <a:latin typeface="CenturyGothic"/>
              </a:rPr>
              <a:t>Il est fortement conseillé de n’avoir que des relations/associations</a:t>
            </a:r>
          </a:p>
          <a:p>
            <a:pPr algn="l"/>
            <a:r>
              <a:rPr lang="fr-FR" sz="2400" b="0" i="0" u="none" strike="noStrike" baseline="0" dirty="0">
                <a:latin typeface="CenturyGothic"/>
              </a:rPr>
              <a:t>binaires. Le MCD Films avec des associations ternaires peut être transformé en MCD avec des associations binaires :</a:t>
            </a:r>
            <a:endParaRPr lang="fr-FR" sz="24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417C145C-6442-099D-7227-3C179DF3C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900" y="2493317"/>
            <a:ext cx="8066468" cy="3278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4930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6C198A07-1BD2-301D-B5DA-5112118F3907}"/>
              </a:ext>
            </a:extLst>
          </p:cNvPr>
          <p:cNvSpPr txBox="1"/>
          <p:nvPr/>
        </p:nvSpPr>
        <p:spPr>
          <a:xfrm>
            <a:off x="3048000" y="342900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NORMALISATION DES MCD</a:t>
            </a:r>
          </a:p>
        </p:txBody>
      </p:sp>
    </p:spTree>
    <p:extLst>
      <p:ext uri="{BB962C8B-B14F-4D97-AF65-F5344CB8AC3E}">
        <p14:creationId xmlns:p14="http://schemas.microsoft.com/office/powerpoint/2010/main" val="32123850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xmlns="" id="{E0DA7B99-94A6-5367-9BD3-87E258969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2" y="509082"/>
            <a:ext cx="11375923" cy="612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7061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xmlns="" id="{72219817-BF51-7542-996E-6E1EE4795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16" y="481781"/>
            <a:ext cx="11208774" cy="583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0093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xmlns="" id="{59BD5BE6-9454-8C46-EE5A-881FF7688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17" y="346587"/>
            <a:ext cx="11228438" cy="6044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3267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xmlns="" id="{93985CDF-9CF6-0F41-7703-7B2584FD1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61" y="489154"/>
            <a:ext cx="11179277" cy="5879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9543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xmlns="" id="{A85C2A2F-08A4-0D56-97CA-C6F2B5A93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14" y="452284"/>
            <a:ext cx="11346425" cy="596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8577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xmlns="" id="{58D53CA7-8F29-89E3-C9B3-2391DEE7B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2" y="511277"/>
            <a:ext cx="11080955" cy="575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7412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que">
  <a:themeElements>
    <a:clrScheme name="Custom 162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CBAF62"/>
      </a:accent1>
      <a:accent2>
        <a:srgbClr val="4096B0"/>
      </a:accent2>
      <a:accent3>
        <a:srgbClr val="803348"/>
      </a:accent3>
      <a:accent4>
        <a:srgbClr val="8E684C"/>
      </a:accent4>
      <a:accent5>
        <a:srgbClr val="AB946B"/>
      </a:accent5>
      <a:accent6>
        <a:srgbClr val="803348"/>
      </a:accent6>
      <a:hlink>
        <a:srgbClr val="86724D"/>
      </a:hlink>
      <a:folHlink>
        <a:srgbClr val="CBAF62"/>
      </a:folHlink>
    </a:clrScheme>
    <a:fontScheme name="Custom 169">
      <a:majorFont>
        <a:latin typeface="Rockwell"/>
        <a:ea typeface=""/>
        <a:cs typeface=""/>
      </a:majorFont>
      <a:minorFont>
        <a:latin typeface="Trebuchet MS"/>
        <a:ea typeface=""/>
        <a:cs typeface="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resentation1" id="{B7A7D626-CABC-4857-8E57-CB9D92DF4622}" vid="{56F4E317-BEF3-48D5-ABEF-8BFF0CADF37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Capsule temps numérique</Template>
  <TotalTime>1501</TotalTime>
  <Words>752</Words>
  <Application>Microsoft Office PowerPoint</Application>
  <PresentationFormat>Personnalisé</PresentationFormat>
  <Paragraphs>234</Paragraphs>
  <Slides>33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34" baseType="lpstr">
      <vt:lpstr>Organique</vt:lpstr>
      <vt:lpstr>MCD </vt:lpstr>
      <vt:lpstr>Outline</vt:lpstr>
      <vt:lpstr>Associations</vt:lpstr>
      <vt:lpstr>Associations</vt:lpstr>
      <vt:lpstr>Association binaire1</vt:lpstr>
      <vt:lpstr>Occurrences MCD</vt:lpstr>
      <vt:lpstr>Représentation occurrences</vt:lpstr>
      <vt:lpstr>Présentation PowerPoint</vt:lpstr>
      <vt:lpstr>Association binaire2</vt:lpstr>
      <vt:lpstr>Association binaire2</vt:lpstr>
      <vt:lpstr>Représentation 2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Plusieurs associations  entre deux entités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projetcsc</dc:creator>
  <cp:lastModifiedBy>um6u</cp:lastModifiedBy>
  <cp:revision>37</cp:revision>
  <dcterms:created xsi:type="dcterms:W3CDTF">2022-10-23T10:09:38Z</dcterms:created>
  <dcterms:modified xsi:type="dcterms:W3CDTF">2022-10-28T11:02:59Z</dcterms:modified>
</cp:coreProperties>
</file>