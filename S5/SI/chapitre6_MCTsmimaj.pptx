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75" r:id="rId3"/>
    <p:sldId id="284" r:id="rId4"/>
    <p:sldId id="291" r:id="rId5"/>
    <p:sldId id="272" r:id="rId6"/>
    <p:sldId id="257" r:id="rId7"/>
    <p:sldId id="260" r:id="rId8"/>
    <p:sldId id="261" r:id="rId9"/>
    <p:sldId id="264" r:id="rId10"/>
    <p:sldId id="267" r:id="rId11"/>
    <p:sldId id="274" r:id="rId12"/>
    <p:sldId id="292" r:id="rId13"/>
    <p:sldId id="269" r:id="rId14"/>
    <p:sldId id="277" r:id="rId15"/>
    <p:sldId id="278" r:id="rId16"/>
    <p:sldId id="279" r:id="rId17"/>
    <p:sldId id="276" r:id="rId18"/>
    <p:sldId id="293" r:id="rId19"/>
    <p:sldId id="294" r:id="rId20"/>
    <p:sldId id="283" r:id="rId21"/>
    <p:sldId id="280" r:id="rId22"/>
    <p:sldId id="289" r:id="rId23"/>
    <p:sldId id="290" r:id="rId24"/>
    <p:sldId id="295" r:id="rId25"/>
    <p:sldId id="296" r:id="rId26"/>
    <p:sldId id="297" r:id="rId27"/>
    <p:sldId id="298" r:id="rId28"/>
    <p:sldId id="273" r:id="rId29"/>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5620"/>
    <p:restoredTop sz="96449" autoAdjust="0"/>
  </p:normalViewPr>
  <p:slideViewPr>
    <p:cSldViewPr>
      <p:cViewPr>
        <p:scale>
          <a:sx n="66" d="100"/>
          <a:sy n="66" d="100"/>
        </p:scale>
        <p:origin x="-1018" y="-139"/>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804F555-35FE-4C98-8932-167765280A13}" type="datetimeFigureOut">
              <a:rPr lang="fr-FR"/>
              <a:pPr>
                <a:defRPr/>
              </a:pPr>
              <a:t>29/11/2017</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endParaRPr lang="fr-FR" noProof="0"/>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A234F34C-3860-447E-9B6E-BCA5EF98A6EE}" type="slidenum">
              <a:rPr lang="fr-FR"/>
              <a:pPr>
                <a:defRPr/>
              </a:pPr>
              <a:t>‹N°›</a:t>
            </a:fld>
            <a:endParaRPr lang="fr-FR"/>
          </a:p>
        </p:txBody>
      </p:sp>
    </p:spTree>
    <p:extLst>
      <p:ext uri="{BB962C8B-B14F-4D97-AF65-F5344CB8AC3E}">
        <p14:creationId xmlns:p14="http://schemas.microsoft.com/office/powerpoint/2010/main" val="11964408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sz="1200" kern="1200" dirty="0" smtClean="0">
                <a:solidFill>
                  <a:schemeClr val="tx1"/>
                </a:solidFill>
                <a:latin typeface="+mn-lt"/>
                <a:ea typeface="+mn-ea"/>
                <a:cs typeface="+mn-cs"/>
              </a:rPr>
              <a:t>Dans le Modèle Conceptuel de Traitements, seuls les acteurs externes sont modélisés ; d‘une part parce</a:t>
            </a:r>
          </a:p>
          <a:p>
            <a:r>
              <a:rPr lang="fr-FR" sz="1200" kern="1200" dirty="0" smtClean="0">
                <a:solidFill>
                  <a:schemeClr val="tx1"/>
                </a:solidFill>
                <a:latin typeface="+mn-lt"/>
                <a:ea typeface="+mn-ea"/>
                <a:cs typeface="+mn-cs"/>
              </a:rPr>
              <a:t>qu‘on ne cherche qu‘à formaliser les traitements découlant d‘interactions avec l‘environnement </a:t>
            </a:r>
            <a:endParaRPr lang="fr-FR" dirty="0"/>
          </a:p>
        </p:txBody>
      </p:sp>
      <p:sp>
        <p:nvSpPr>
          <p:cNvPr id="4" name="Espace réservé du numéro de diapositive 3"/>
          <p:cNvSpPr>
            <a:spLocks noGrp="1"/>
          </p:cNvSpPr>
          <p:nvPr>
            <p:ph type="sldNum" sz="quarter" idx="10"/>
          </p:nvPr>
        </p:nvSpPr>
        <p:spPr/>
        <p:txBody>
          <a:bodyPr/>
          <a:lstStyle/>
          <a:p>
            <a:pPr>
              <a:defRPr/>
            </a:pPr>
            <a:fld id="{A234F34C-3860-447E-9B6E-BCA5EF98A6EE}" type="slidenum">
              <a:rPr lang="fr-FR" smtClean="0"/>
              <a:pPr>
                <a:defRPr/>
              </a:pPr>
              <a:t>8</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A234F34C-3860-447E-9B6E-BCA5EF98A6EE}" type="slidenum">
              <a:rPr lang="fr-FR" smtClean="0"/>
              <a:pPr>
                <a:defRPr/>
              </a:pPr>
              <a:t>21</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Le MOT intègre, dans la description des traitements, les notions de :</a:t>
            </a:r>
          </a:p>
          <a:p>
            <a:r>
              <a:rPr lang="fr-FR" dirty="0" smtClean="0"/>
              <a:t>Lieu: </a:t>
            </a:r>
            <a:r>
              <a:rPr lang="fr-FR" b="1" dirty="0" smtClean="0"/>
              <a:t>Qui</a:t>
            </a:r>
            <a:r>
              <a:rPr lang="fr-FR" dirty="0" smtClean="0"/>
              <a:t> et </a:t>
            </a:r>
            <a:r>
              <a:rPr lang="fr-FR" b="1" dirty="0" smtClean="0"/>
              <a:t>Où</a:t>
            </a:r>
            <a:r>
              <a:rPr lang="fr-FR" dirty="0" smtClean="0"/>
              <a:t>? Ressources et responsabilité (poste de travail)</a:t>
            </a:r>
          </a:p>
          <a:p>
            <a:r>
              <a:rPr lang="fr-FR" dirty="0" smtClean="0"/>
              <a:t>Moment: </a:t>
            </a:r>
            <a:r>
              <a:rPr lang="fr-FR" b="1" dirty="0" smtClean="0"/>
              <a:t>Quand</a:t>
            </a:r>
            <a:r>
              <a:rPr lang="fr-FR" dirty="0" smtClean="0"/>
              <a:t>? Temps et durée (déroulement)</a:t>
            </a:r>
          </a:p>
          <a:p>
            <a:r>
              <a:rPr lang="fr-FR" dirty="0" smtClean="0"/>
              <a:t>Nature des traitements: </a:t>
            </a:r>
            <a:r>
              <a:rPr lang="fr-FR" b="1" dirty="0" smtClean="0"/>
              <a:t>manuels</a:t>
            </a:r>
            <a:r>
              <a:rPr lang="fr-FR" dirty="0" smtClean="0"/>
              <a:t> ou </a:t>
            </a:r>
            <a:r>
              <a:rPr lang="fr-FR" b="1" dirty="0" smtClean="0"/>
              <a:t>automatiques</a:t>
            </a:r>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pPr>
              <a:defRPr/>
            </a:pPr>
            <a:fld id="{A234F34C-3860-447E-9B6E-BCA5EF98A6EE}" type="slidenum">
              <a:rPr lang="fr-FR" smtClean="0"/>
              <a:pPr>
                <a:defRPr/>
              </a:pPr>
              <a:t>23</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A234F34C-3860-447E-9B6E-BCA5EF98A6EE}" type="slidenum">
              <a:rPr lang="fr-FR" smtClean="0"/>
              <a:pPr>
                <a:defRPr/>
              </a:pPr>
              <a:t>25</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Ellipse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5" name="Ellipse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14" name="Titre 13"/>
          <p:cNvSpPr>
            <a:spLocks noGrp="1"/>
          </p:cNvSpPr>
          <p:nvPr>
            <p:ph type="ctrTitle"/>
          </p:nvPr>
        </p:nvSpPr>
        <p:spPr>
          <a:xfrm>
            <a:off x="1432560" y="359898"/>
            <a:ext cx="7406640" cy="1472184"/>
          </a:xfrm>
        </p:spPr>
        <p:txBody>
          <a:bodyPr anchor="b"/>
          <a:lstStyle>
            <a:lvl1pPr algn="l">
              <a:defRPr/>
            </a:lvl1pPr>
            <a:extLst/>
          </a:lstStyle>
          <a:p>
            <a:r>
              <a:rPr lang="fr-FR" smtClean="0"/>
              <a:t>Cliquez pour modifier le style du titre</a:t>
            </a:r>
            <a:endParaRPr lang="en-US"/>
          </a:p>
        </p:txBody>
      </p:sp>
      <p:sp>
        <p:nvSpPr>
          <p:cNvPr id="22" name="Sous-titr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fr-FR" smtClean="0"/>
              <a:t>Cliquez pour modifier le style des sous-titres du masque</a:t>
            </a:r>
            <a:endParaRPr lang="en-US"/>
          </a:p>
        </p:txBody>
      </p:sp>
      <p:sp>
        <p:nvSpPr>
          <p:cNvPr id="6" name="Espace réservé de la date 6"/>
          <p:cNvSpPr>
            <a:spLocks noGrp="1"/>
          </p:cNvSpPr>
          <p:nvPr>
            <p:ph type="dt" sz="half" idx="10"/>
          </p:nvPr>
        </p:nvSpPr>
        <p:spPr/>
        <p:txBody>
          <a:bodyPr/>
          <a:lstStyle>
            <a:lvl1pPr>
              <a:defRPr/>
            </a:lvl1pPr>
          </a:lstStyle>
          <a:p>
            <a:pPr>
              <a:defRPr/>
            </a:pPr>
            <a:fld id="{D665CE75-3D46-4237-93B7-9A595605E9C3}" type="datetime1">
              <a:rPr lang="fr-FR"/>
              <a:pPr>
                <a:defRPr/>
              </a:pPr>
              <a:t>29/11/2017</a:t>
            </a:fld>
            <a:r>
              <a:rPr lang="fr-FR"/>
              <a:t>2007-2008</a:t>
            </a:r>
          </a:p>
        </p:txBody>
      </p:sp>
      <p:sp>
        <p:nvSpPr>
          <p:cNvPr id="7" name="Espace réservé du pied de page 19"/>
          <p:cNvSpPr>
            <a:spLocks noGrp="1"/>
          </p:cNvSpPr>
          <p:nvPr>
            <p:ph type="ftr" sz="quarter" idx="11"/>
          </p:nvPr>
        </p:nvSpPr>
        <p:spPr/>
        <p:txBody>
          <a:bodyPr/>
          <a:lstStyle>
            <a:lvl1pPr>
              <a:defRPr/>
            </a:lvl1pPr>
          </a:lstStyle>
          <a:p>
            <a:pPr>
              <a:defRPr/>
            </a:pPr>
            <a:r>
              <a:rPr lang="fr-FR"/>
              <a:t>Y. Ouzrout</a:t>
            </a:r>
          </a:p>
        </p:txBody>
      </p:sp>
      <p:sp>
        <p:nvSpPr>
          <p:cNvPr id="8" name="Espace réservé du numéro de diapositive 9"/>
          <p:cNvSpPr>
            <a:spLocks noGrp="1"/>
          </p:cNvSpPr>
          <p:nvPr>
            <p:ph type="sldNum" sz="quarter" idx="12"/>
          </p:nvPr>
        </p:nvSpPr>
        <p:spPr/>
        <p:txBody>
          <a:bodyPr/>
          <a:lstStyle>
            <a:lvl1pPr>
              <a:defRPr/>
            </a:lvl1pPr>
            <a:extLst/>
          </a:lstStyle>
          <a:p>
            <a:pPr>
              <a:defRPr/>
            </a:pPr>
            <a:fld id="{66277A8B-A1A4-434C-B4FF-AC702CDC9027}" type="slidenum">
              <a:rPr lang="fr-FR"/>
              <a:pPr>
                <a:defRPr/>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lang="fr-FR" smtClean="0"/>
              <a:t>Cliquez pour modifier le style du titre</a:t>
            </a:r>
            <a:endParaRPr lang="en-US"/>
          </a:p>
        </p:txBody>
      </p:sp>
      <p:sp>
        <p:nvSpPr>
          <p:cNvPr id="3" name="Espace réservé du contenu 2"/>
          <p:cNvSpPr>
            <a:spLocks noGrp="1"/>
          </p:cNvSpPr>
          <p:nvPr>
            <p:ph idx="1"/>
          </p:nvPr>
        </p:nvSpPr>
        <p:spPr/>
        <p:txBody>
          <a:bodyPr/>
          <a:lstStyle>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23"/>
          <p:cNvSpPr>
            <a:spLocks noGrp="1"/>
          </p:cNvSpPr>
          <p:nvPr>
            <p:ph type="dt" sz="half" idx="10"/>
          </p:nvPr>
        </p:nvSpPr>
        <p:spPr/>
        <p:txBody>
          <a:bodyPr/>
          <a:lstStyle>
            <a:lvl1pPr>
              <a:defRPr/>
            </a:lvl1pPr>
          </a:lstStyle>
          <a:p>
            <a:pPr>
              <a:defRPr/>
            </a:pPr>
            <a:fld id="{C75A8C22-BC98-4961-94A8-9255A240153F}" type="datetime1">
              <a:rPr lang="fr-FR"/>
              <a:pPr>
                <a:defRPr/>
              </a:pPr>
              <a:t>29/11/2017</a:t>
            </a:fld>
            <a:r>
              <a:rPr lang="fr-FR"/>
              <a:t>2007-2008</a:t>
            </a:r>
          </a:p>
        </p:txBody>
      </p:sp>
      <p:sp>
        <p:nvSpPr>
          <p:cNvPr id="5"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6" name="Espace réservé du numéro de diapositive 21"/>
          <p:cNvSpPr>
            <a:spLocks noGrp="1"/>
          </p:cNvSpPr>
          <p:nvPr>
            <p:ph type="sldNum" sz="quarter" idx="12"/>
          </p:nvPr>
        </p:nvSpPr>
        <p:spPr/>
        <p:txBody>
          <a:bodyPr/>
          <a:lstStyle>
            <a:lvl1pPr>
              <a:defRPr/>
            </a:lvl1pPr>
          </a:lstStyle>
          <a:p>
            <a:pPr>
              <a:defRPr/>
            </a:pPr>
            <a:fld id="{E20FA2B6-427A-4E56-A7DF-A5BA83386620}" type="slidenum">
              <a:rPr lang="fr-FR"/>
              <a:pPr>
                <a:defRPr/>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Ellipse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7" name="Ellipse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2" name="Titr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fr-FR" smtClean="0"/>
              <a:t>Cliquez pour modifier le style du titre</a:t>
            </a:r>
            <a:endParaRPr lang="en-US"/>
          </a:p>
        </p:txBody>
      </p:sp>
      <p:sp>
        <p:nvSpPr>
          <p:cNvPr id="3" name="Espace réservé du texte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fr-FR" smtClean="0"/>
              <a:t>Cliquez pour modifier les styles du texte du masque</a:t>
            </a:r>
          </a:p>
        </p:txBody>
      </p:sp>
      <p:sp>
        <p:nvSpPr>
          <p:cNvPr id="8" name="Espace réservé de la date 3"/>
          <p:cNvSpPr>
            <a:spLocks noGrp="1"/>
          </p:cNvSpPr>
          <p:nvPr>
            <p:ph type="dt" sz="half" idx="10"/>
          </p:nvPr>
        </p:nvSpPr>
        <p:spPr/>
        <p:txBody>
          <a:bodyPr/>
          <a:lstStyle>
            <a:lvl1pPr>
              <a:defRPr/>
            </a:lvl1pPr>
          </a:lstStyle>
          <a:p>
            <a:pPr>
              <a:defRPr/>
            </a:pPr>
            <a:fld id="{B76F8E5F-84D1-4640-BA7A-043FC84C1391}" type="datetime1">
              <a:rPr lang="fr-FR"/>
              <a:pPr>
                <a:defRPr/>
              </a:pPr>
              <a:t>29/11/2017</a:t>
            </a:fld>
            <a:r>
              <a:rPr lang="fr-FR"/>
              <a:t>2007-2008</a:t>
            </a:r>
          </a:p>
        </p:txBody>
      </p:sp>
      <p:sp>
        <p:nvSpPr>
          <p:cNvPr id="9" name="Espace réservé du pied de page 4"/>
          <p:cNvSpPr>
            <a:spLocks noGrp="1"/>
          </p:cNvSpPr>
          <p:nvPr>
            <p:ph type="ftr" sz="quarter" idx="11"/>
          </p:nvPr>
        </p:nvSpPr>
        <p:spPr/>
        <p:txBody>
          <a:bodyPr/>
          <a:lstStyle>
            <a:lvl1pPr>
              <a:defRPr/>
            </a:lvl1pPr>
          </a:lstStyle>
          <a:p>
            <a:pPr>
              <a:defRPr/>
            </a:pPr>
            <a:r>
              <a:rPr lang="fr-FR"/>
              <a:t>Y. Ouzrout</a:t>
            </a:r>
          </a:p>
        </p:txBody>
      </p:sp>
      <p:sp>
        <p:nvSpPr>
          <p:cNvPr id="10" name="Espace réservé du numéro de diapositive 5"/>
          <p:cNvSpPr>
            <a:spLocks noGrp="1"/>
          </p:cNvSpPr>
          <p:nvPr>
            <p:ph type="sldNum" sz="quarter" idx="12"/>
          </p:nvPr>
        </p:nvSpPr>
        <p:spPr/>
        <p:txBody>
          <a:bodyPr/>
          <a:lstStyle>
            <a:lvl1pPr>
              <a:defRPr/>
            </a:lvl1pPr>
            <a:extLst/>
          </a:lstStyle>
          <a:p>
            <a:pPr>
              <a:defRPr/>
            </a:pPr>
            <a:fld id="{39FBEA01-C229-459E-971F-AB274205E77F}" type="slidenum">
              <a:rPr lang="fr-FR"/>
              <a:pPr>
                <a:defRPr/>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lstStyle>
            <a:extLst/>
          </a:lstStyle>
          <a:p>
            <a:r>
              <a:rPr lang="fr-FR" smtClean="0"/>
              <a:t>Cliquez pour modifier le style du titre</a:t>
            </a:r>
            <a:endParaRPr lang="en-US"/>
          </a:p>
        </p:txBody>
      </p:sp>
      <p:sp>
        <p:nvSpPr>
          <p:cNvPr id="3" name="Espace réservé du contenu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23"/>
          <p:cNvSpPr>
            <a:spLocks noGrp="1"/>
          </p:cNvSpPr>
          <p:nvPr>
            <p:ph type="dt" sz="half" idx="10"/>
          </p:nvPr>
        </p:nvSpPr>
        <p:spPr/>
        <p:txBody>
          <a:bodyPr/>
          <a:lstStyle>
            <a:lvl1pPr>
              <a:defRPr/>
            </a:lvl1pPr>
          </a:lstStyle>
          <a:p>
            <a:pPr>
              <a:defRPr/>
            </a:pPr>
            <a:fld id="{25C9C1C7-2120-49D3-A7E1-F1B223BB4A6E}" type="datetime1">
              <a:rPr lang="fr-FR"/>
              <a:pPr>
                <a:defRPr/>
              </a:pPr>
              <a:t>29/11/2017</a:t>
            </a:fld>
            <a:r>
              <a:rPr lang="fr-FR"/>
              <a:t>2007-2008</a:t>
            </a:r>
          </a:p>
        </p:txBody>
      </p:sp>
      <p:sp>
        <p:nvSpPr>
          <p:cNvPr id="6"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7" name="Espace réservé du numéro de diapositive 21"/>
          <p:cNvSpPr>
            <a:spLocks noGrp="1"/>
          </p:cNvSpPr>
          <p:nvPr>
            <p:ph type="sldNum" sz="quarter" idx="12"/>
          </p:nvPr>
        </p:nvSpPr>
        <p:spPr/>
        <p:txBody>
          <a:bodyPr/>
          <a:lstStyle>
            <a:lvl1pPr>
              <a:defRPr/>
            </a:lvl1pPr>
          </a:lstStyle>
          <a:p>
            <a:pPr>
              <a:defRPr/>
            </a:pPr>
            <a:fld id="{DD949837-F444-4EBF-BAE3-01B22DC61AC4}" type="slidenum">
              <a:rPr lang="fr-FR"/>
              <a:pPr>
                <a:defRPr/>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5160336"/>
            <a:ext cx="8229600" cy="1143000"/>
          </a:xfrm>
        </p:spPr>
        <p:txBody>
          <a:bodyPr/>
          <a:lstStyle>
            <a:lvl1pPr algn="ctr">
              <a:defRPr sz="4500" b="1" cap="none" baseline="0"/>
            </a:lvl1pPr>
            <a:extLst/>
          </a:lstStyle>
          <a:p>
            <a:r>
              <a:rPr lang="fr-FR" smtClean="0"/>
              <a:t>Cliquez pour modifier le style du titre</a:t>
            </a:r>
            <a:endParaRPr lang="en-US"/>
          </a:p>
        </p:txBody>
      </p:sp>
      <p:sp>
        <p:nvSpPr>
          <p:cNvPr id="3" name="Espace réservé du texte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fr-FR" smtClean="0"/>
              <a:t>Cliquez pour modifier les styles du texte du masque</a:t>
            </a:r>
          </a:p>
        </p:txBody>
      </p:sp>
      <p:sp>
        <p:nvSpPr>
          <p:cNvPr id="4" name="Espace réservé du texte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fr-FR" smtClean="0"/>
              <a:t>Cliquez pour modifier les styles du texte du masque</a:t>
            </a:r>
          </a:p>
        </p:txBody>
      </p:sp>
      <p:sp>
        <p:nvSpPr>
          <p:cNvPr id="5" name="Espace réservé du contenu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contenu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6"/>
          <p:cNvSpPr>
            <a:spLocks noGrp="1"/>
          </p:cNvSpPr>
          <p:nvPr>
            <p:ph type="dt" sz="half" idx="10"/>
          </p:nvPr>
        </p:nvSpPr>
        <p:spPr/>
        <p:txBody>
          <a:bodyPr/>
          <a:lstStyle>
            <a:lvl1pPr>
              <a:defRPr/>
            </a:lvl1pPr>
          </a:lstStyle>
          <a:p>
            <a:pPr>
              <a:defRPr/>
            </a:pPr>
            <a:fld id="{64459402-18C1-4634-A802-8FD1FCFCAE04}" type="datetime1">
              <a:rPr lang="fr-FR"/>
              <a:pPr>
                <a:defRPr/>
              </a:pPr>
              <a:t>29/11/2017</a:t>
            </a:fld>
            <a:r>
              <a:rPr lang="fr-FR"/>
              <a:t>2007-2008</a:t>
            </a:r>
          </a:p>
        </p:txBody>
      </p:sp>
      <p:sp>
        <p:nvSpPr>
          <p:cNvPr id="8" name="Espace réservé du pied de page 7"/>
          <p:cNvSpPr>
            <a:spLocks noGrp="1"/>
          </p:cNvSpPr>
          <p:nvPr>
            <p:ph type="ftr" sz="quarter" idx="11"/>
          </p:nvPr>
        </p:nvSpPr>
        <p:spPr/>
        <p:txBody>
          <a:bodyPr/>
          <a:lstStyle>
            <a:lvl1pPr>
              <a:defRPr/>
            </a:lvl1pPr>
          </a:lstStyle>
          <a:p>
            <a:pPr>
              <a:defRPr/>
            </a:pPr>
            <a:r>
              <a:rPr lang="fr-FR"/>
              <a:t>Y. Ouzrout</a:t>
            </a:r>
          </a:p>
        </p:txBody>
      </p:sp>
      <p:sp>
        <p:nvSpPr>
          <p:cNvPr id="9" name="Espace réservé du numéro de diapositive 8"/>
          <p:cNvSpPr>
            <a:spLocks noGrp="1"/>
          </p:cNvSpPr>
          <p:nvPr>
            <p:ph type="sldNum" sz="quarter" idx="12"/>
          </p:nvPr>
        </p:nvSpPr>
        <p:spPr/>
        <p:txBody>
          <a:bodyPr/>
          <a:lstStyle>
            <a:lvl1pPr>
              <a:defRPr/>
            </a:lvl1pPr>
            <a:extLst/>
          </a:lstStyle>
          <a:p>
            <a:pPr>
              <a:defRPr/>
            </a:pPr>
            <a:fld id="{91B9A510-B6D4-4253-960D-9046ADDC378C}" type="slidenum">
              <a:rPr lang="fr-FR"/>
              <a:pPr>
                <a:defRPr/>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lstStyle>
            <a:extLst/>
          </a:lstStyle>
          <a:p>
            <a:r>
              <a:rPr lang="fr-FR" smtClean="0"/>
              <a:t>Cliquez pour modifier le style du titre</a:t>
            </a:r>
            <a:endParaRPr lang="en-US"/>
          </a:p>
        </p:txBody>
      </p:sp>
      <p:sp>
        <p:nvSpPr>
          <p:cNvPr id="3" name="Espace réservé de la date 23"/>
          <p:cNvSpPr>
            <a:spLocks noGrp="1"/>
          </p:cNvSpPr>
          <p:nvPr>
            <p:ph type="dt" sz="half" idx="10"/>
          </p:nvPr>
        </p:nvSpPr>
        <p:spPr/>
        <p:txBody>
          <a:bodyPr/>
          <a:lstStyle>
            <a:lvl1pPr>
              <a:defRPr/>
            </a:lvl1pPr>
          </a:lstStyle>
          <a:p>
            <a:pPr>
              <a:defRPr/>
            </a:pPr>
            <a:fld id="{7151FAB2-6628-4358-8C72-88B5D453AE91}" type="datetime1">
              <a:rPr lang="fr-FR"/>
              <a:pPr>
                <a:defRPr/>
              </a:pPr>
              <a:t>29/11/2017</a:t>
            </a:fld>
            <a:r>
              <a:rPr lang="fr-FR"/>
              <a:t>2007-2008</a:t>
            </a:r>
          </a:p>
        </p:txBody>
      </p:sp>
      <p:sp>
        <p:nvSpPr>
          <p:cNvPr id="4"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5" name="Espace réservé du numéro de diapositive 21"/>
          <p:cNvSpPr>
            <a:spLocks noGrp="1"/>
          </p:cNvSpPr>
          <p:nvPr>
            <p:ph type="sldNum" sz="quarter" idx="12"/>
          </p:nvPr>
        </p:nvSpPr>
        <p:spPr/>
        <p:txBody>
          <a:bodyPr/>
          <a:lstStyle>
            <a:lvl1pPr>
              <a:defRPr/>
            </a:lvl1pPr>
          </a:lstStyle>
          <a:p>
            <a:pPr>
              <a:defRPr/>
            </a:pPr>
            <a:fld id="{D1307E15-F71D-47B7-B3BA-4439E7AB8D0D}" type="slidenum">
              <a:rPr lang="fr-FR"/>
              <a:pPr>
                <a:defRPr/>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fr-FR" smtClean="0"/>
              <a:t>Cliquez pour modifier le style du titre</a:t>
            </a:r>
            <a:endParaRPr lang="en-US"/>
          </a:p>
        </p:txBody>
      </p:sp>
      <p:sp>
        <p:nvSpPr>
          <p:cNvPr id="3" name="Espace réservé du texte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fr-FR" smtClean="0"/>
              <a:t>Cliquez pour modifier les styles du texte du masque</a:t>
            </a:r>
          </a:p>
        </p:txBody>
      </p:sp>
      <p:sp>
        <p:nvSpPr>
          <p:cNvPr id="4" name="Espace réservé du contenu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lvl1pPr>
              <a:defRPr/>
            </a:lvl1pPr>
          </a:lstStyle>
          <a:p>
            <a:pPr>
              <a:defRPr/>
            </a:pPr>
            <a:fld id="{544B2C8E-04B5-4D05-925F-FED940651B21}" type="datetime1">
              <a:rPr lang="fr-FR"/>
              <a:pPr>
                <a:defRPr/>
              </a:pPr>
              <a:t>29/11/2017</a:t>
            </a:fld>
            <a:r>
              <a:rPr lang="fr-FR"/>
              <a:t>2007-2008</a:t>
            </a:r>
          </a:p>
        </p:txBody>
      </p:sp>
      <p:sp>
        <p:nvSpPr>
          <p:cNvPr id="6" name="Espace réservé du pied de page 5"/>
          <p:cNvSpPr>
            <a:spLocks noGrp="1"/>
          </p:cNvSpPr>
          <p:nvPr>
            <p:ph type="ftr" sz="quarter" idx="11"/>
          </p:nvPr>
        </p:nvSpPr>
        <p:spPr/>
        <p:txBody>
          <a:bodyPr/>
          <a:lstStyle>
            <a:lvl1pPr>
              <a:defRPr/>
            </a:lvl1pPr>
          </a:lstStyle>
          <a:p>
            <a:pPr>
              <a:defRPr/>
            </a:pPr>
            <a:r>
              <a:rPr lang="fr-FR"/>
              <a:t>Y. Ouzrout</a:t>
            </a:r>
          </a:p>
        </p:txBody>
      </p:sp>
      <p:sp>
        <p:nvSpPr>
          <p:cNvPr id="7" name="Espace réservé du numéro de diapositive 6"/>
          <p:cNvSpPr>
            <a:spLocks noGrp="1"/>
          </p:cNvSpPr>
          <p:nvPr>
            <p:ph type="sldNum" sz="quarter" idx="12"/>
          </p:nvPr>
        </p:nvSpPr>
        <p:spPr/>
        <p:txBody>
          <a:bodyPr/>
          <a:lstStyle>
            <a:lvl1pPr>
              <a:defRPr/>
            </a:lvl1pPr>
            <a:extLst/>
          </a:lstStyle>
          <a:p>
            <a:pPr>
              <a:defRPr/>
            </a:pPr>
            <a:fld id="{69F0F73F-24D4-4587-9078-1BEC651B669C}" type="slidenum">
              <a:rPr lang="fr-FR"/>
              <a:pPr>
                <a:defRPr/>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extLst/>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endParaRPr>
          </a:p>
        </p:txBody>
      </p:sp>
      <p:sp>
        <p:nvSpPr>
          <p:cNvPr id="6" name="Organigramme : Processu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7" name="Organigramme : Processu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2" name="Titr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fr-FR" smtClean="0"/>
              <a:t>Cliquez pour modifier le style du titre</a:t>
            </a:r>
            <a:endParaRPr lang="en-US"/>
          </a:p>
        </p:txBody>
      </p:sp>
      <p:sp>
        <p:nvSpPr>
          <p:cNvPr id="3" name="Espace réservé pour une image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fr-FR" noProof="0" smtClean="0"/>
              <a:t>Cliquez sur l'icône pour ajouter une image</a:t>
            </a:r>
            <a:endParaRPr lang="en-US" noProof="0" dirty="0"/>
          </a:p>
        </p:txBody>
      </p:sp>
      <p:sp>
        <p:nvSpPr>
          <p:cNvPr id="4" name="Espace réservé du texte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fr-FR" smtClean="0"/>
              <a:t>Cliquez pour modifier les styles du texte du masque</a:t>
            </a:r>
          </a:p>
        </p:txBody>
      </p:sp>
      <p:sp>
        <p:nvSpPr>
          <p:cNvPr id="8" name="Espace réservé de la date 4"/>
          <p:cNvSpPr>
            <a:spLocks noGrp="1"/>
          </p:cNvSpPr>
          <p:nvPr>
            <p:ph type="dt" sz="half" idx="10"/>
          </p:nvPr>
        </p:nvSpPr>
        <p:spPr/>
        <p:txBody>
          <a:bodyPr/>
          <a:lstStyle>
            <a:lvl1pPr>
              <a:defRPr/>
            </a:lvl1pPr>
          </a:lstStyle>
          <a:p>
            <a:pPr>
              <a:defRPr/>
            </a:pPr>
            <a:fld id="{A47A08AD-8A75-479E-A23C-0AD531D80A32}" type="datetime1">
              <a:rPr lang="fr-FR"/>
              <a:pPr>
                <a:defRPr/>
              </a:pPr>
              <a:t>29/11/2017</a:t>
            </a:fld>
            <a:r>
              <a:rPr lang="fr-FR"/>
              <a:t>2007-2008</a:t>
            </a:r>
          </a:p>
        </p:txBody>
      </p:sp>
      <p:sp>
        <p:nvSpPr>
          <p:cNvPr id="9" name="Espace réservé du pied de page 5"/>
          <p:cNvSpPr>
            <a:spLocks noGrp="1"/>
          </p:cNvSpPr>
          <p:nvPr>
            <p:ph type="ftr" sz="quarter" idx="11"/>
          </p:nvPr>
        </p:nvSpPr>
        <p:spPr/>
        <p:txBody>
          <a:bodyPr/>
          <a:lstStyle>
            <a:lvl1pPr>
              <a:defRPr/>
            </a:lvl1pPr>
          </a:lstStyle>
          <a:p>
            <a:pPr>
              <a:defRPr/>
            </a:pPr>
            <a:r>
              <a:rPr lang="fr-FR"/>
              <a:t>Y. Ouzrout</a:t>
            </a:r>
          </a:p>
        </p:txBody>
      </p:sp>
      <p:sp>
        <p:nvSpPr>
          <p:cNvPr id="10" name="Espace réservé du numéro de diapositive 6"/>
          <p:cNvSpPr>
            <a:spLocks noGrp="1"/>
          </p:cNvSpPr>
          <p:nvPr>
            <p:ph type="sldNum" sz="quarter" idx="12"/>
          </p:nvPr>
        </p:nvSpPr>
        <p:spPr/>
        <p:txBody>
          <a:bodyPr/>
          <a:lstStyle>
            <a:lvl1pPr>
              <a:defRPr/>
            </a:lvl1pPr>
            <a:extLst/>
          </a:lstStyle>
          <a:p>
            <a:pPr>
              <a:defRPr/>
            </a:pPr>
            <a:fld id="{00527E79-1F0F-4B7C-A2C8-03138575BB12}" type="slidenum">
              <a:rPr lang="fr-FR"/>
              <a:pPr>
                <a:defRPr/>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lang="fr-FR" smtClean="0"/>
              <a:t>Cliquez pour modifier le style du titre</a:t>
            </a:r>
            <a:endParaRPr lang="en-US"/>
          </a:p>
        </p:txBody>
      </p:sp>
      <p:sp>
        <p:nvSpPr>
          <p:cNvPr id="3" name="Espace réservé du texte vertical 2"/>
          <p:cNvSpPr>
            <a:spLocks noGrp="1"/>
          </p:cNvSpPr>
          <p:nvPr>
            <p:ph type="body" orient="vert" idx="1"/>
          </p:nvPr>
        </p:nvSpPr>
        <p:spPr/>
        <p:txBody>
          <a:bodyPr vert="eaVert"/>
          <a:lstStyle>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23"/>
          <p:cNvSpPr>
            <a:spLocks noGrp="1"/>
          </p:cNvSpPr>
          <p:nvPr>
            <p:ph type="dt" sz="half" idx="10"/>
          </p:nvPr>
        </p:nvSpPr>
        <p:spPr/>
        <p:txBody>
          <a:bodyPr/>
          <a:lstStyle>
            <a:lvl1pPr>
              <a:defRPr/>
            </a:lvl1pPr>
          </a:lstStyle>
          <a:p>
            <a:pPr>
              <a:defRPr/>
            </a:pPr>
            <a:fld id="{A7DC3AB7-A2D2-48BB-95AF-85DC46FB68F0}" type="datetime1">
              <a:rPr lang="fr-FR"/>
              <a:pPr>
                <a:defRPr/>
              </a:pPr>
              <a:t>29/11/2017</a:t>
            </a:fld>
            <a:r>
              <a:rPr lang="fr-FR"/>
              <a:t>2007-2008</a:t>
            </a:r>
          </a:p>
        </p:txBody>
      </p:sp>
      <p:sp>
        <p:nvSpPr>
          <p:cNvPr id="5"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6" name="Espace réservé du numéro de diapositive 21"/>
          <p:cNvSpPr>
            <a:spLocks noGrp="1"/>
          </p:cNvSpPr>
          <p:nvPr>
            <p:ph type="sldNum" sz="quarter" idx="12"/>
          </p:nvPr>
        </p:nvSpPr>
        <p:spPr/>
        <p:txBody>
          <a:bodyPr/>
          <a:lstStyle>
            <a:lvl1pPr>
              <a:defRPr/>
            </a:lvl1pPr>
          </a:lstStyle>
          <a:p>
            <a:pPr>
              <a:defRPr/>
            </a:pPr>
            <a:fld id="{95A32B68-6284-4B25-868B-FBC69DCBD13C}" type="slidenum">
              <a:rPr lang="fr-FR"/>
              <a:pPr>
                <a:defRPr/>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58000" y="274639"/>
            <a:ext cx="1828800" cy="5851525"/>
          </a:xfrm>
        </p:spPr>
        <p:txBody>
          <a:bodyPr vert="eaVert"/>
          <a:lstStyle>
            <a:extLst/>
          </a:lstStyle>
          <a:p>
            <a:r>
              <a:rPr lang="fr-FR" smtClean="0"/>
              <a:t>Cliquez pour modifier le style du titre</a:t>
            </a:r>
            <a:endParaRPr lang="en-US"/>
          </a:p>
        </p:txBody>
      </p:sp>
      <p:sp>
        <p:nvSpPr>
          <p:cNvPr id="3" name="Espace réservé du texte vertical 2"/>
          <p:cNvSpPr>
            <a:spLocks noGrp="1"/>
          </p:cNvSpPr>
          <p:nvPr>
            <p:ph type="body" orient="vert" idx="1"/>
          </p:nvPr>
        </p:nvSpPr>
        <p:spPr>
          <a:xfrm>
            <a:off x="1143000" y="274640"/>
            <a:ext cx="5562600" cy="5851525"/>
          </a:xfrm>
        </p:spPr>
        <p:txBody>
          <a:bodyPr vert="eaVert"/>
          <a:lstStyle>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23"/>
          <p:cNvSpPr>
            <a:spLocks noGrp="1"/>
          </p:cNvSpPr>
          <p:nvPr>
            <p:ph type="dt" sz="half" idx="10"/>
          </p:nvPr>
        </p:nvSpPr>
        <p:spPr/>
        <p:txBody>
          <a:bodyPr/>
          <a:lstStyle>
            <a:lvl1pPr>
              <a:defRPr/>
            </a:lvl1pPr>
          </a:lstStyle>
          <a:p>
            <a:pPr>
              <a:defRPr/>
            </a:pPr>
            <a:fld id="{151005B5-AC6C-4870-82C5-D383A5FE5D2D}" type="datetime1">
              <a:rPr lang="fr-FR"/>
              <a:pPr>
                <a:defRPr/>
              </a:pPr>
              <a:t>29/11/2017</a:t>
            </a:fld>
            <a:r>
              <a:rPr lang="fr-FR"/>
              <a:t>2007-2008</a:t>
            </a:r>
          </a:p>
        </p:txBody>
      </p:sp>
      <p:sp>
        <p:nvSpPr>
          <p:cNvPr id="5"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6" name="Espace réservé du numéro de diapositive 21"/>
          <p:cNvSpPr>
            <a:spLocks noGrp="1"/>
          </p:cNvSpPr>
          <p:nvPr>
            <p:ph type="sldNum" sz="quarter" idx="12"/>
          </p:nvPr>
        </p:nvSpPr>
        <p:spPr/>
        <p:txBody>
          <a:bodyPr/>
          <a:lstStyle>
            <a:lvl1pPr>
              <a:defRPr/>
            </a:lvl1pPr>
          </a:lstStyle>
          <a:p>
            <a:pPr>
              <a:defRPr/>
            </a:pPr>
            <a:fld id="{15BEE334-5D8B-4C5D-9B97-36D4BF4B062E}" type="slidenum">
              <a:rPr lang="fr-FR"/>
              <a:pPr>
                <a:defRPr/>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457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8200" y="1600200"/>
            <a:ext cx="4038600" cy="21859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4648200" y="3938588"/>
            <a:ext cx="4038600" cy="21875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e la date 23"/>
          <p:cNvSpPr>
            <a:spLocks noGrp="1"/>
          </p:cNvSpPr>
          <p:nvPr>
            <p:ph type="dt" sz="half" idx="10"/>
          </p:nvPr>
        </p:nvSpPr>
        <p:spPr/>
        <p:txBody>
          <a:bodyPr/>
          <a:lstStyle>
            <a:lvl1pPr>
              <a:defRPr/>
            </a:lvl1pPr>
          </a:lstStyle>
          <a:p>
            <a:pPr>
              <a:defRPr/>
            </a:pPr>
            <a:fld id="{F8EAB6A0-082E-4A52-83A1-E1EFCFCEA35E}" type="datetime1">
              <a:rPr lang="fr-FR"/>
              <a:pPr>
                <a:defRPr/>
              </a:pPr>
              <a:t>29/11/2017</a:t>
            </a:fld>
            <a:r>
              <a:rPr lang="fr-FR"/>
              <a:t>2007-2008</a:t>
            </a:r>
          </a:p>
        </p:txBody>
      </p:sp>
      <p:sp>
        <p:nvSpPr>
          <p:cNvPr id="7"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8" name="Espace réservé du numéro de diapositive 21"/>
          <p:cNvSpPr>
            <a:spLocks noGrp="1"/>
          </p:cNvSpPr>
          <p:nvPr>
            <p:ph type="sldNum" sz="quarter" idx="12"/>
          </p:nvPr>
        </p:nvSpPr>
        <p:spPr/>
        <p:txBody>
          <a:bodyPr/>
          <a:lstStyle>
            <a:lvl1pPr>
              <a:defRPr/>
            </a:lvl1pPr>
          </a:lstStyle>
          <a:p>
            <a:pPr>
              <a:defRPr/>
            </a:pPr>
            <a:fld id="{E8DDA3A2-A965-4FA1-BD0B-67BBD64E0AB9}" type="slidenum">
              <a:rPr lang="fr-FR"/>
              <a:pPr>
                <a:defRPr/>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457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23"/>
          <p:cNvSpPr>
            <a:spLocks noGrp="1"/>
          </p:cNvSpPr>
          <p:nvPr>
            <p:ph type="dt" sz="half" idx="10"/>
          </p:nvPr>
        </p:nvSpPr>
        <p:spPr/>
        <p:txBody>
          <a:bodyPr/>
          <a:lstStyle>
            <a:lvl1pPr>
              <a:defRPr/>
            </a:lvl1pPr>
          </a:lstStyle>
          <a:p>
            <a:pPr>
              <a:defRPr/>
            </a:pPr>
            <a:fld id="{07D3B045-87FE-4C98-9C05-4BC4F264396A}" type="datetime1">
              <a:rPr lang="fr-FR"/>
              <a:pPr>
                <a:defRPr/>
              </a:pPr>
              <a:t>29/11/2017</a:t>
            </a:fld>
            <a:r>
              <a:rPr lang="fr-FR"/>
              <a:t>2007-2008</a:t>
            </a:r>
          </a:p>
        </p:txBody>
      </p:sp>
      <p:sp>
        <p:nvSpPr>
          <p:cNvPr id="6"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7" name="Espace réservé du numéro de diapositive 21"/>
          <p:cNvSpPr>
            <a:spLocks noGrp="1"/>
          </p:cNvSpPr>
          <p:nvPr>
            <p:ph type="sldNum" sz="quarter" idx="12"/>
          </p:nvPr>
        </p:nvSpPr>
        <p:spPr/>
        <p:txBody>
          <a:bodyPr/>
          <a:lstStyle>
            <a:lvl1pPr>
              <a:defRPr/>
            </a:lvl1pPr>
          </a:lstStyle>
          <a:p>
            <a:pPr>
              <a:defRPr/>
            </a:pPr>
            <a:fld id="{2E7490FC-DDF4-4241-A3B1-F073428B156C}" type="slidenum">
              <a:rPr lang="fr-FR"/>
              <a:pPr>
                <a:defRPr/>
              </a:pPr>
              <a:t>‹N°›</a:t>
            </a:fld>
            <a:endParaRPr 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re et texte sur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457200" y="1600200"/>
            <a:ext cx="8229600" cy="21859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57200" y="3938588"/>
            <a:ext cx="8229600" cy="21875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23"/>
          <p:cNvSpPr>
            <a:spLocks noGrp="1"/>
          </p:cNvSpPr>
          <p:nvPr>
            <p:ph type="dt" sz="half" idx="10"/>
          </p:nvPr>
        </p:nvSpPr>
        <p:spPr/>
        <p:txBody>
          <a:bodyPr/>
          <a:lstStyle>
            <a:lvl1pPr>
              <a:defRPr/>
            </a:lvl1pPr>
          </a:lstStyle>
          <a:p>
            <a:pPr>
              <a:defRPr/>
            </a:pPr>
            <a:fld id="{23FA36C8-2B20-448E-A72C-B0066352DC57}" type="datetime1">
              <a:rPr lang="fr-FR"/>
              <a:pPr>
                <a:defRPr/>
              </a:pPr>
              <a:t>29/11/2017</a:t>
            </a:fld>
            <a:r>
              <a:rPr lang="fr-FR"/>
              <a:t>2007-2008</a:t>
            </a:r>
          </a:p>
        </p:txBody>
      </p:sp>
      <p:sp>
        <p:nvSpPr>
          <p:cNvPr id="6"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7" name="Espace réservé du numéro de diapositive 21"/>
          <p:cNvSpPr>
            <a:spLocks noGrp="1"/>
          </p:cNvSpPr>
          <p:nvPr>
            <p:ph type="sldNum" sz="quarter" idx="12"/>
          </p:nvPr>
        </p:nvSpPr>
        <p:spPr/>
        <p:txBody>
          <a:bodyPr/>
          <a:lstStyle>
            <a:lvl1pPr>
              <a:defRPr/>
            </a:lvl1pPr>
          </a:lstStyle>
          <a:p>
            <a:pPr>
              <a:defRPr/>
            </a:pPr>
            <a:fld id="{A1C5DBFF-7BFB-47CA-ADE7-3E2586C85772}" type="slidenum">
              <a:rPr lang="fr-FR"/>
              <a:pPr>
                <a:defRPr/>
              </a:pPr>
              <a:t>‹N°›</a:t>
            </a:fld>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23"/>
          <p:cNvSpPr>
            <a:spLocks noGrp="1"/>
          </p:cNvSpPr>
          <p:nvPr>
            <p:ph type="dt" sz="half" idx="10"/>
          </p:nvPr>
        </p:nvSpPr>
        <p:spPr/>
        <p:txBody>
          <a:bodyPr/>
          <a:lstStyle>
            <a:lvl1pPr>
              <a:defRPr/>
            </a:lvl1pPr>
          </a:lstStyle>
          <a:p>
            <a:pPr>
              <a:defRPr/>
            </a:pPr>
            <a:fld id="{D257D09A-1477-489F-8972-93EEF8370007}" type="datetime1">
              <a:rPr lang="fr-FR"/>
              <a:pPr>
                <a:defRPr/>
              </a:pPr>
              <a:t>29/11/2017</a:t>
            </a:fld>
            <a:r>
              <a:rPr lang="fr-FR"/>
              <a:t>2007-2008</a:t>
            </a:r>
          </a:p>
        </p:txBody>
      </p:sp>
      <p:sp>
        <p:nvSpPr>
          <p:cNvPr id="3"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4" name="Espace réservé du numéro de diapositive 21"/>
          <p:cNvSpPr>
            <a:spLocks noGrp="1"/>
          </p:cNvSpPr>
          <p:nvPr>
            <p:ph type="sldNum" sz="quarter" idx="12"/>
          </p:nvPr>
        </p:nvSpPr>
        <p:spPr/>
        <p:txBody>
          <a:bodyPr/>
          <a:lstStyle>
            <a:lvl1pPr>
              <a:defRPr/>
            </a:lvl1pPr>
          </a:lstStyle>
          <a:p>
            <a:pPr>
              <a:defRPr/>
            </a:pPr>
            <a:fld id="{741F5267-AF3C-48D0-B2DB-4C918B0BAE5A}" type="slidenum">
              <a:rPr lang="fr-FR"/>
              <a:pPr>
                <a:defRPr/>
              </a:pPr>
              <a:t>‹N°›</a:t>
            </a:fld>
            <a:endParaRPr lang="fr-F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1435100" y="274638"/>
            <a:ext cx="7499350" cy="1143000"/>
          </a:xfrm>
        </p:spPr>
        <p:txBody>
          <a:bodyPr/>
          <a:lstStyle/>
          <a:p>
            <a:r>
              <a:rPr lang="fr-FR" smtClean="0"/>
              <a:t>Cliquez pour modifier le style du titre</a:t>
            </a:r>
            <a:endParaRPr lang="fr-FR"/>
          </a:p>
        </p:txBody>
      </p:sp>
      <p:sp>
        <p:nvSpPr>
          <p:cNvPr id="3" name="Espace réservé du tableau 2"/>
          <p:cNvSpPr>
            <a:spLocks noGrp="1"/>
          </p:cNvSpPr>
          <p:nvPr>
            <p:ph type="tbl" idx="1"/>
          </p:nvPr>
        </p:nvSpPr>
        <p:spPr>
          <a:xfrm>
            <a:off x="1435100" y="1447800"/>
            <a:ext cx="7499350" cy="4800600"/>
          </a:xfrm>
        </p:spPr>
        <p:txBody>
          <a:bodyPr/>
          <a:lstStyle/>
          <a:p>
            <a:pPr lvl="0"/>
            <a:endParaRPr lang="fr-FR" noProof="0"/>
          </a:p>
        </p:txBody>
      </p:sp>
      <p:sp>
        <p:nvSpPr>
          <p:cNvPr id="4" name="Espace réservé de la date 23"/>
          <p:cNvSpPr>
            <a:spLocks noGrp="1"/>
          </p:cNvSpPr>
          <p:nvPr>
            <p:ph type="dt" sz="half" idx="10"/>
          </p:nvPr>
        </p:nvSpPr>
        <p:spPr/>
        <p:txBody>
          <a:bodyPr/>
          <a:lstStyle>
            <a:lvl1pPr>
              <a:defRPr/>
            </a:lvl1pPr>
          </a:lstStyle>
          <a:p>
            <a:pPr>
              <a:defRPr/>
            </a:pPr>
            <a:fld id="{5FEA5332-0C33-4338-B40E-8DC8E9C9F315}" type="datetime1">
              <a:rPr lang="fr-FR"/>
              <a:pPr>
                <a:defRPr/>
              </a:pPr>
              <a:t>29/11/2017</a:t>
            </a:fld>
            <a:r>
              <a:rPr lang="fr-FR"/>
              <a:t>2007-2008</a:t>
            </a:r>
          </a:p>
        </p:txBody>
      </p:sp>
      <p:sp>
        <p:nvSpPr>
          <p:cNvPr id="5"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6" name="Espace réservé du numéro de diapositive 21"/>
          <p:cNvSpPr>
            <a:spLocks noGrp="1"/>
          </p:cNvSpPr>
          <p:nvPr>
            <p:ph type="sldNum" sz="quarter" idx="12"/>
          </p:nvPr>
        </p:nvSpPr>
        <p:spPr/>
        <p:txBody>
          <a:bodyPr/>
          <a:lstStyle>
            <a:lvl1pPr>
              <a:defRPr/>
            </a:lvl1pPr>
          </a:lstStyle>
          <a:p>
            <a:pPr>
              <a:defRPr/>
            </a:pPr>
            <a:fld id="{D3BE68B2-E04B-45E1-B9EB-2A4357D0499A}" type="slidenum">
              <a:rPr lang="fr-FR"/>
              <a:pPr>
                <a:defRPr/>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ecteurs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8" name="Ellipse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11" name="Bouée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Espace réservé du titre 4"/>
          <p:cNvSpPr>
            <a:spLocks noGrp="1"/>
          </p:cNvSpPr>
          <p:nvPr>
            <p:ph type="title"/>
          </p:nvPr>
        </p:nvSpPr>
        <p:spPr>
          <a:xfrm>
            <a:off x="1435100" y="274638"/>
            <a:ext cx="7499350" cy="1143000"/>
          </a:xfrm>
          <a:prstGeom prst="rect">
            <a:avLst/>
          </a:prstGeom>
        </p:spPr>
        <p:txBody>
          <a:bodyPr anchor="ctr">
            <a:normAutofit/>
          </a:bodyPr>
          <a:lstStyle>
            <a:extLst/>
          </a:lstStyle>
          <a:p>
            <a:r>
              <a:rPr lang="fr-FR" smtClean="0"/>
              <a:t>Cliquez pour modifier le style du titre</a:t>
            </a:r>
            <a:endParaRPr lang="en-US"/>
          </a:p>
        </p:txBody>
      </p:sp>
      <p:sp>
        <p:nvSpPr>
          <p:cNvPr id="1033" name="Espace réservé du texte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smtClean="0"/>
          </a:p>
        </p:txBody>
      </p:sp>
      <p:sp>
        <p:nvSpPr>
          <p:cNvPr id="24" name="Espace réservé de la date 23"/>
          <p:cNvSpPr>
            <a:spLocks noGrp="1"/>
          </p:cNvSpPr>
          <p:nvPr>
            <p:ph type="dt" sz="half" idx="2"/>
          </p:nvPr>
        </p:nvSpPr>
        <p:spPr>
          <a:xfrm>
            <a:off x="3581400" y="6305550"/>
            <a:ext cx="2133600" cy="476250"/>
          </a:xfrm>
          <a:prstGeom prst="rect">
            <a:avLst/>
          </a:prstGeom>
        </p:spPr>
        <p:txBody>
          <a:bodyPr vert="horz" wrap="square" lIns="91440" tIns="45720" rIns="91440" bIns="45720" numCol="1" anchor="b" anchorCtr="0" compatLnSpc="1">
            <a:prstTxWarp prst="textNoShape">
              <a:avLst/>
            </a:prstTxWarp>
          </a:bodyPr>
          <a:lstStyle>
            <a:lvl1pPr algn="r">
              <a:defRPr sz="1200">
                <a:solidFill>
                  <a:srgbClr val="B5A788"/>
                </a:solidFill>
                <a:latin typeface="Gill Sans MT" pitchFamily="34" charset="0"/>
              </a:defRPr>
            </a:lvl1pPr>
          </a:lstStyle>
          <a:p>
            <a:pPr>
              <a:defRPr/>
            </a:pPr>
            <a:fld id="{8B3079D6-9B39-414F-9B5D-0E276C2D008C}" type="datetime1">
              <a:rPr lang="fr-FR"/>
              <a:pPr>
                <a:defRPr/>
              </a:pPr>
              <a:t>29/11/2017</a:t>
            </a:fld>
            <a:r>
              <a:rPr lang="fr-FR"/>
              <a:t>2007-2008</a:t>
            </a:r>
          </a:p>
        </p:txBody>
      </p:sp>
      <p:sp>
        <p:nvSpPr>
          <p:cNvPr id="10" name="Espace réservé du pied de page 9"/>
          <p:cNvSpPr>
            <a:spLocks noGrp="1"/>
          </p:cNvSpPr>
          <p:nvPr>
            <p:ph type="ftr" sz="quarter" idx="3"/>
          </p:nvPr>
        </p:nvSpPr>
        <p:spPr>
          <a:xfrm>
            <a:off x="5715000" y="6305550"/>
            <a:ext cx="2895600" cy="476250"/>
          </a:xfrm>
          <a:prstGeom prst="rect">
            <a:avLst/>
          </a:prstGeom>
        </p:spPr>
        <p:txBody>
          <a:bodyPr vert="horz" wrap="square" lIns="91440" tIns="45720" rIns="91440" bIns="45720" numCol="1" anchor="b" anchorCtr="0" compatLnSpc="1">
            <a:prstTxWarp prst="textNoShape">
              <a:avLst/>
            </a:prstTxWarp>
          </a:bodyPr>
          <a:lstStyle>
            <a:lvl1pPr>
              <a:defRPr sz="1200">
                <a:solidFill>
                  <a:srgbClr val="B5A788"/>
                </a:solidFill>
                <a:latin typeface="Gill Sans MT" pitchFamily="34" charset="0"/>
              </a:defRPr>
            </a:lvl1pPr>
          </a:lstStyle>
          <a:p>
            <a:pPr>
              <a:defRPr/>
            </a:pPr>
            <a:r>
              <a:rPr lang="fr-FR"/>
              <a:t>Y. Ouzrout</a:t>
            </a:r>
          </a:p>
        </p:txBody>
      </p:sp>
      <p:sp>
        <p:nvSpPr>
          <p:cNvPr id="22" name="Espace réservé du numéro de diapositive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fld id="{2949DA9E-F75E-423A-85A7-4E229648123D}" type="slidenum">
              <a:rPr lang="fr-FR"/>
              <a:pPr>
                <a:defRPr/>
              </a:pPr>
              <a:t>‹N°›</a:t>
            </a:fld>
            <a:endParaRPr lang="fr-FR"/>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56" r:id="rId1"/>
    <p:sldLayoutId id="2147483746" r:id="rId2"/>
    <p:sldLayoutId id="2147483757" r:id="rId3"/>
    <p:sldLayoutId id="2147483747" r:id="rId4"/>
    <p:sldLayoutId id="2147483758" r:id="rId5"/>
    <p:sldLayoutId id="2147483748" r:id="rId6"/>
    <p:sldLayoutId id="2147483759" r:id="rId7"/>
    <p:sldLayoutId id="2147483760" r:id="rId8"/>
    <p:sldLayoutId id="2147483749" r:id="rId9"/>
    <p:sldLayoutId id="2147483750" r:id="rId10"/>
    <p:sldLayoutId id="2147483751" r:id="rId11"/>
    <p:sldLayoutId id="2147483752" r:id="rId12"/>
    <p:sldLayoutId id="2147483753" r:id="rId13"/>
    <p:sldLayoutId id="2147483754" r:id="rId14"/>
    <p:sldLayoutId id="2147483755" r:id="rId15"/>
  </p:sldLayoutIdLst>
  <p:hf hdr="0" ftr="0" dt="0"/>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9"/>
          <p:cNvSpPr>
            <a:spLocks noGrp="1"/>
          </p:cNvSpPr>
          <p:nvPr>
            <p:ph type="sldNum" sz="quarter" idx="12"/>
          </p:nvPr>
        </p:nvSpPr>
        <p:spPr/>
        <p:txBody>
          <a:bodyPr/>
          <a:lstStyle/>
          <a:p>
            <a:pPr>
              <a:defRPr/>
            </a:pPr>
            <a:fld id="{33E0B1D4-256E-45ED-831F-6C442408BDCF}" type="slidenum">
              <a:rPr lang="fr-FR"/>
              <a:pPr>
                <a:defRPr/>
              </a:pPr>
              <a:t>1</a:t>
            </a:fld>
            <a:endParaRPr lang="fr-FR"/>
          </a:p>
        </p:txBody>
      </p:sp>
      <p:sp>
        <p:nvSpPr>
          <p:cNvPr id="2" name="Titre 1"/>
          <p:cNvSpPr>
            <a:spLocks noGrp="1"/>
          </p:cNvSpPr>
          <p:nvPr>
            <p:ph type="ctrTitle"/>
          </p:nvPr>
        </p:nvSpPr>
        <p:spPr>
          <a:xfrm>
            <a:off x="1071563" y="857231"/>
            <a:ext cx="7715250" cy="3414731"/>
          </a:xfrm>
        </p:spPr>
        <p:txBody>
          <a:bodyPr vert="horz" wrap="square" lIns="91440" tIns="45720" rIns="91440" bIns="45720" numCol="1" anchorCtr="0" compatLnSpc="1">
            <a:prstTxWarp prst="textNoShape">
              <a:avLst/>
            </a:prstTxWarp>
            <a:normAutofit/>
          </a:bodyPr>
          <a:lstStyle/>
          <a:p>
            <a:pPr algn="ctr" eaLnBrk="1" hangingPunct="1">
              <a:defRPr/>
            </a:pPr>
            <a:r>
              <a:rPr lang="fr-FR" sz="4400" b="1" dirty="0" smtClean="0">
                <a:solidFill>
                  <a:srgbClr val="002060"/>
                </a:solidFill>
                <a:effectLst>
                  <a:outerShdw blurRad="38100" dist="38100" dir="2700000" algn="tl">
                    <a:srgbClr val="C0C0C0"/>
                  </a:outerShdw>
                </a:effectLst>
              </a:rPr>
              <a:t>Cours  N°6 : </a:t>
            </a:r>
            <a:br>
              <a:rPr lang="fr-FR" sz="4400" b="1" dirty="0" smtClean="0">
                <a:solidFill>
                  <a:srgbClr val="002060"/>
                </a:solidFill>
                <a:effectLst>
                  <a:outerShdw blurRad="38100" dist="38100" dir="2700000" algn="tl">
                    <a:srgbClr val="C0C0C0"/>
                  </a:outerShdw>
                </a:effectLst>
              </a:rPr>
            </a:br>
            <a:r>
              <a:rPr lang="fr-FR" sz="2800" b="1" dirty="0" smtClean="0">
                <a:solidFill>
                  <a:srgbClr val="002060"/>
                </a:solidFill>
                <a:effectLst>
                  <a:outerShdw blurRad="38100" dist="38100" dir="2700000" algn="tl">
                    <a:srgbClr val="C0C0C0"/>
                  </a:outerShdw>
                </a:effectLst>
              </a:rPr>
              <a:t>Le Modèle Conceptuel des Traitements</a:t>
            </a:r>
            <a:br>
              <a:rPr lang="fr-FR" sz="2800" b="1" dirty="0" smtClean="0">
                <a:solidFill>
                  <a:srgbClr val="002060"/>
                </a:solidFill>
                <a:effectLst>
                  <a:outerShdw blurRad="38100" dist="38100" dir="2700000" algn="tl">
                    <a:srgbClr val="C0C0C0"/>
                  </a:outerShdw>
                </a:effectLst>
              </a:rPr>
            </a:br>
            <a:r>
              <a:rPr lang="fr-FR" sz="3600" b="1" dirty="0" smtClean="0">
                <a:solidFill>
                  <a:srgbClr val="002060"/>
                </a:solidFill>
                <a:effectLst>
                  <a:outerShdw blurRad="38100" dist="38100" dir="2700000" algn="tl">
                    <a:srgbClr val="C0C0C0"/>
                  </a:outerShdw>
                </a:effectLst>
              </a:rPr>
              <a:t>MCT</a:t>
            </a:r>
            <a:endParaRPr lang="fr-FR" sz="4400" dirty="0" smtClean="0">
              <a:solidFill>
                <a:srgbClr val="002060"/>
              </a:solidFill>
              <a:effectLst>
                <a:outerShdw blurRad="38100" dist="38100" dir="2700000" algn="tl">
                  <a:srgbClr val="C0C0C0"/>
                </a:outerShdw>
              </a:effectLst>
            </a:endParaRPr>
          </a:p>
        </p:txBody>
      </p:sp>
      <p:sp>
        <p:nvSpPr>
          <p:cNvPr id="4" name="Espace réservé du numéro de diapositive 3"/>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743298C1-FBE6-41BF-9F38-A4B61DC9E098}" type="slidenum">
              <a:rPr lang="fr-FR" sz="1200">
                <a:solidFill>
                  <a:schemeClr val="bg2">
                    <a:shade val="50000"/>
                    <a:satMod val="200000"/>
                  </a:schemeClr>
                </a:solidFill>
                <a:latin typeface="+mn-lt"/>
              </a:rPr>
              <a:pPr algn="ctr" fontAlgn="auto">
                <a:spcBef>
                  <a:spcPts val="0"/>
                </a:spcBef>
                <a:spcAft>
                  <a:spcPts val="0"/>
                </a:spcAft>
                <a:defRPr/>
              </a:pPr>
              <a:t>1</a:t>
            </a:fld>
            <a:endParaRPr lang="fr-FR" sz="1200">
              <a:solidFill>
                <a:schemeClr val="bg2">
                  <a:shade val="50000"/>
                  <a:satMod val="200000"/>
                </a:schemeClr>
              </a:solidFill>
              <a:latin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741F5267-AF3C-48D0-B2DB-4C918B0BAE5A}" type="slidenum">
              <a:rPr lang="fr-FR" smtClean="0"/>
              <a:pPr>
                <a:defRPr/>
              </a:pPr>
              <a:t>2</a:t>
            </a:fld>
            <a:endParaRPr lang="fr-FR"/>
          </a:p>
        </p:txBody>
      </p:sp>
      <p:pic>
        <p:nvPicPr>
          <p:cNvPr id="33796" name="Picture 4" descr="Résultat de recherche d'images pour &quot;évenement mct merise&quot;"/>
          <p:cNvPicPr>
            <a:picLocks noChangeAspect="1" noChangeArrowheads="1"/>
          </p:cNvPicPr>
          <p:nvPr/>
        </p:nvPicPr>
        <p:blipFill>
          <a:blip r:embed="rId2"/>
          <a:srcRect/>
          <a:stretch>
            <a:fillRect/>
          </a:stretch>
        </p:blipFill>
        <p:spPr bwMode="auto">
          <a:xfrm>
            <a:off x="1214414" y="1428736"/>
            <a:ext cx="7929586" cy="4218697"/>
          </a:xfrm>
          <a:prstGeom prst="rect">
            <a:avLst/>
          </a:prstGeom>
          <a:noFill/>
        </p:spPr>
      </p:pic>
      <p:sp>
        <p:nvSpPr>
          <p:cNvPr id="4" name="Titre 4"/>
          <p:cNvSpPr txBox="1">
            <a:spLocks/>
          </p:cNvSpPr>
          <p:nvPr/>
        </p:nvSpPr>
        <p:spPr>
          <a:xfrm>
            <a:off x="1357290" y="0"/>
            <a:ext cx="7497762" cy="928671"/>
          </a:xfrm>
          <a:prstGeom prst="rect">
            <a:avLst/>
          </a:prstGeom>
        </p:spPr>
        <p:txBody>
          <a:bodyPr vert="horz" wrap="square" lIns="91440" tIns="45720" rIns="91440" bIns="45720" numCol="1" anchor="ctr" anchorCtr="0" compatLnSpc="1">
            <a:prstTxWarp prst="textNoShape">
              <a:avLst/>
            </a:prstTxWarp>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4300" b="0" i="0" u="none" strike="noStrike" kern="1200" cap="none" spc="0" normalizeH="0" baseline="0" noProof="0" smtClean="0">
                <a:ln>
                  <a:noFill/>
                </a:ln>
                <a:solidFill>
                  <a:srgbClr val="572314"/>
                </a:solidFill>
                <a:effectLst>
                  <a:outerShdw blurRad="38100" dist="38100" dir="2700000" algn="tl">
                    <a:srgbClr val="C0C0C0"/>
                  </a:outerShdw>
                </a:effectLst>
                <a:uLnTx/>
                <a:uFillTx/>
                <a:latin typeface="+mj-lt"/>
                <a:ea typeface="+mj-ea"/>
                <a:cs typeface="+mj-cs"/>
              </a:rPr>
              <a:t>Introduction…. </a:t>
            </a:r>
            <a:endParaRPr kumimoji="0" lang="fr-FR" sz="4300" b="0" i="0" u="none" strike="noStrike" kern="1200" cap="none" spc="0" normalizeH="0" baseline="0" noProof="0" dirty="0" smtClean="0">
              <a:ln>
                <a:noFill/>
              </a:ln>
              <a:solidFill>
                <a:srgbClr val="572314"/>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741F5267-AF3C-48D0-B2DB-4C918B0BAE5A}" type="slidenum">
              <a:rPr lang="fr-FR" smtClean="0"/>
              <a:pPr>
                <a:defRPr/>
              </a:pPr>
              <a:t>3</a:t>
            </a:fld>
            <a:endParaRPr lang="fr-FR"/>
          </a:p>
        </p:txBody>
      </p:sp>
      <p:pic>
        <p:nvPicPr>
          <p:cNvPr id="47108" name="Picture 4" descr="Résultat de recherche d'images pour &quot;mot = mct + qui+quand&quot;"/>
          <p:cNvPicPr>
            <a:picLocks noChangeAspect="1" noChangeArrowheads="1"/>
          </p:cNvPicPr>
          <p:nvPr/>
        </p:nvPicPr>
        <p:blipFill>
          <a:blip r:embed="rId2"/>
          <a:srcRect/>
          <a:stretch>
            <a:fillRect/>
          </a:stretch>
        </p:blipFill>
        <p:spPr bwMode="auto">
          <a:xfrm>
            <a:off x="1428728" y="1142984"/>
            <a:ext cx="7373180" cy="5143536"/>
          </a:xfrm>
          <a:prstGeom prst="rect">
            <a:avLst/>
          </a:prstGeom>
          <a:noFill/>
        </p:spPr>
      </p:pic>
      <p:sp>
        <p:nvSpPr>
          <p:cNvPr id="5" name="ZoneTexte 4"/>
          <p:cNvSpPr txBox="1"/>
          <p:nvPr/>
        </p:nvSpPr>
        <p:spPr>
          <a:xfrm>
            <a:off x="1785918" y="6143644"/>
            <a:ext cx="6715172" cy="369332"/>
          </a:xfrm>
          <a:prstGeom prst="rect">
            <a:avLst/>
          </a:prstGeom>
          <a:noFill/>
        </p:spPr>
        <p:txBody>
          <a:bodyPr wrap="square" rtlCol="0">
            <a:spAutoFit/>
          </a:bodyPr>
          <a:lstStyle/>
          <a:p>
            <a:r>
              <a:rPr lang="fr-FR" b="1" dirty="0" smtClean="0"/>
              <a:t>CIMS</a:t>
            </a:r>
            <a:r>
              <a:rPr lang="fr-FR" dirty="0" smtClean="0"/>
              <a:t> - Création Interrogation Modification Suppression</a:t>
            </a:r>
            <a:endParaRPr lang="fr-FR" dirty="0"/>
          </a:p>
        </p:txBody>
      </p:sp>
      <p:sp>
        <p:nvSpPr>
          <p:cNvPr id="6" name="Titre 4"/>
          <p:cNvSpPr txBox="1">
            <a:spLocks/>
          </p:cNvSpPr>
          <p:nvPr/>
        </p:nvSpPr>
        <p:spPr>
          <a:xfrm>
            <a:off x="1357290" y="0"/>
            <a:ext cx="7497762" cy="928671"/>
          </a:xfrm>
          <a:prstGeom prst="rect">
            <a:avLst/>
          </a:prstGeom>
        </p:spPr>
        <p:txBody>
          <a:bodyPr vert="horz" wrap="square" lIns="91440" tIns="45720" rIns="91440" bIns="45720" numCol="1" anchor="ctr" anchorCtr="0" compatLnSpc="1">
            <a:prstTxWarp prst="textNoShape">
              <a:avLst/>
            </a:prstTxWarp>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4300" b="0" i="0" u="none" strike="noStrike" kern="1200" cap="none" spc="0" normalizeH="0" baseline="0" noProof="0" smtClean="0">
                <a:ln>
                  <a:noFill/>
                </a:ln>
                <a:solidFill>
                  <a:srgbClr val="572314"/>
                </a:solidFill>
                <a:effectLst>
                  <a:outerShdw blurRad="38100" dist="38100" dir="2700000" algn="tl">
                    <a:srgbClr val="C0C0C0"/>
                  </a:outerShdw>
                </a:effectLst>
                <a:uLnTx/>
                <a:uFillTx/>
                <a:latin typeface="+mj-lt"/>
                <a:ea typeface="+mj-ea"/>
                <a:cs typeface="+mj-cs"/>
              </a:rPr>
              <a:t>Introduction…. </a:t>
            </a:r>
            <a:endParaRPr kumimoji="0" lang="fr-FR" sz="4300" b="0" i="0" u="none" strike="noStrike" kern="1200" cap="none" spc="0" normalizeH="0" baseline="0" noProof="0" dirty="0" smtClean="0">
              <a:ln>
                <a:noFill/>
              </a:ln>
              <a:solidFill>
                <a:srgbClr val="572314"/>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741F5267-AF3C-48D0-B2DB-4C918B0BAE5A}" type="slidenum">
              <a:rPr lang="fr-FR" smtClean="0"/>
              <a:pPr>
                <a:defRPr/>
              </a:pPr>
              <a:t>4</a:t>
            </a:fld>
            <a:endParaRPr lang="fr-FR"/>
          </a:p>
        </p:txBody>
      </p:sp>
      <p:pic>
        <p:nvPicPr>
          <p:cNvPr id="56322" name="Picture 2" descr="Résultat de recherche d'images pour &quot;mot modele organisationnel traitement&quot;"/>
          <p:cNvPicPr>
            <a:picLocks noChangeAspect="1" noChangeArrowheads="1"/>
          </p:cNvPicPr>
          <p:nvPr/>
        </p:nvPicPr>
        <p:blipFill>
          <a:blip r:embed="rId2"/>
          <a:srcRect/>
          <a:stretch>
            <a:fillRect/>
          </a:stretch>
        </p:blipFill>
        <p:spPr bwMode="auto">
          <a:xfrm>
            <a:off x="1214414" y="785794"/>
            <a:ext cx="7620052" cy="5715040"/>
          </a:xfrm>
          <a:prstGeom prst="rect">
            <a:avLst/>
          </a:prstGeom>
          <a:noFill/>
        </p:spPr>
      </p:pic>
      <p:sp>
        <p:nvSpPr>
          <p:cNvPr id="4" name="Titre 4"/>
          <p:cNvSpPr txBox="1">
            <a:spLocks/>
          </p:cNvSpPr>
          <p:nvPr/>
        </p:nvSpPr>
        <p:spPr>
          <a:xfrm>
            <a:off x="1357290" y="0"/>
            <a:ext cx="7497762" cy="928671"/>
          </a:xfrm>
          <a:prstGeom prst="rect">
            <a:avLst/>
          </a:prstGeom>
        </p:spPr>
        <p:txBody>
          <a:bodyPr vert="horz" wrap="square" lIns="91440" tIns="45720" rIns="91440" bIns="45720" numCol="1" anchor="ctr" anchorCtr="0" compatLnSpc="1">
            <a:prstTxWarp prst="textNoShape">
              <a:avLst/>
            </a:prstTxWarp>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4300" b="0" i="0" u="none" strike="noStrike" kern="1200" cap="none" spc="0" normalizeH="0" baseline="0" noProof="0" smtClean="0">
                <a:ln>
                  <a:noFill/>
                </a:ln>
                <a:solidFill>
                  <a:srgbClr val="572314"/>
                </a:solidFill>
                <a:effectLst>
                  <a:outerShdw blurRad="38100" dist="38100" dir="2700000" algn="tl">
                    <a:srgbClr val="C0C0C0"/>
                  </a:outerShdw>
                </a:effectLst>
                <a:uLnTx/>
                <a:uFillTx/>
                <a:latin typeface="+mj-lt"/>
                <a:ea typeface="+mj-ea"/>
                <a:cs typeface="+mj-cs"/>
              </a:rPr>
              <a:t>Introduction…. </a:t>
            </a:r>
            <a:endParaRPr kumimoji="0" lang="fr-FR" sz="4300" b="0" i="0" u="none" strike="noStrike" kern="1200" cap="none" spc="0" normalizeH="0" baseline="0" noProof="0" dirty="0" smtClean="0">
              <a:ln>
                <a:noFill/>
              </a:ln>
              <a:solidFill>
                <a:srgbClr val="572314"/>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3"/>
          <p:cNvSpPr>
            <a:spLocks noGrp="1"/>
          </p:cNvSpPr>
          <p:nvPr>
            <p:ph type="sldNum" sz="quarter" idx="12"/>
          </p:nvPr>
        </p:nvSpPr>
        <p:spPr/>
        <p:txBody>
          <a:bodyPr/>
          <a:lstStyle/>
          <a:p>
            <a:pPr>
              <a:defRPr/>
            </a:pPr>
            <a:fld id="{95F5288E-59FF-4E6B-B11C-6DD7DB920430}" type="slidenum">
              <a:rPr lang="fr-FR"/>
              <a:pPr>
                <a:defRPr/>
              </a:pPr>
              <a:t>5</a:t>
            </a:fld>
            <a:endParaRPr lang="fr-FR"/>
          </a:p>
        </p:txBody>
      </p:sp>
      <p:sp>
        <p:nvSpPr>
          <p:cNvPr id="3074" name="Espace réservé du numéro de diapositive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2E62AA51-DF5F-4585-A598-A97D94FE6CE8}" type="slidenum">
              <a:rPr lang="fr-FR" sz="1200">
                <a:solidFill>
                  <a:schemeClr val="bg2">
                    <a:shade val="50000"/>
                    <a:satMod val="200000"/>
                  </a:schemeClr>
                </a:solidFill>
                <a:latin typeface="+mn-lt"/>
              </a:rPr>
              <a:pPr algn="ctr" fontAlgn="auto">
                <a:spcBef>
                  <a:spcPts val="0"/>
                </a:spcBef>
                <a:spcAft>
                  <a:spcPts val="0"/>
                </a:spcAft>
                <a:defRPr/>
              </a:pPr>
              <a:t>5</a:t>
            </a:fld>
            <a:endParaRPr lang="fr-FR" sz="1200">
              <a:solidFill>
                <a:schemeClr val="bg2">
                  <a:shade val="50000"/>
                  <a:satMod val="200000"/>
                </a:schemeClr>
              </a:solidFill>
              <a:latin typeface="+mn-lt"/>
            </a:endParaRPr>
          </a:p>
        </p:txBody>
      </p:sp>
      <p:sp>
        <p:nvSpPr>
          <p:cNvPr id="5" name="Titre 4"/>
          <p:cNvSpPr>
            <a:spLocks noGrp="1"/>
          </p:cNvSpPr>
          <p:nvPr>
            <p:ph type="title" idx="4294967295"/>
          </p:nvPr>
        </p:nvSpPr>
        <p:spPr>
          <a:xfrm>
            <a:off x="1357290" y="0"/>
            <a:ext cx="7497762" cy="928671"/>
          </a:xfrm>
        </p:spPr>
        <p:txBody>
          <a:bodyPr vert="horz" wrap="square" lIns="91440" tIns="45720" rIns="91440" bIns="45720" numCol="1" anchorCtr="0" compatLnSpc="1">
            <a:prstTxWarp prst="textNoShape">
              <a:avLst/>
            </a:prstTxWarp>
          </a:bodyPr>
          <a:lstStyle/>
          <a:p>
            <a:pPr eaLnBrk="1" hangingPunct="1">
              <a:defRPr/>
            </a:pPr>
            <a:r>
              <a:rPr lang="fr-FR" dirty="0" smtClean="0">
                <a:effectLst>
                  <a:outerShdw blurRad="38100" dist="38100" dir="2700000" algn="tl">
                    <a:srgbClr val="C0C0C0"/>
                  </a:outerShdw>
                </a:effectLst>
              </a:rPr>
              <a:t>Introduction…. </a:t>
            </a:r>
          </a:p>
        </p:txBody>
      </p:sp>
      <p:sp>
        <p:nvSpPr>
          <p:cNvPr id="8197" name="Rectangle 6"/>
          <p:cNvSpPr>
            <a:spLocks noChangeArrowheads="1"/>
          </p:cNvSpPr>
          <p:nvPr/>
        </p:nvSpPr>
        <p:spPr bwMode="auto">
          <a:xfrm>
            <a:off x="827082" y="785794"/>
            <a:ext cx="8429653" cy="4293483"/>
          </a:xfrm>
          <a:prstGeom prst="rect">
            <a:avLst/>
          </a:prstGeom>
          <a:noFill/>
          <a:ln w="9525">
            <a:noFill/>
            <a:miter lim="800000"/>
            <a:headEnd/>
            <a:tailEnd/>
          </a:ln>
        </p:spPr>
        <p:txBody>
          <a:bodyPr wrap="square">
            <a:spAutoFit/>
          </a:bodyPr>
          <a:lstStyle/>
          <a:p>
            <a:pPr>
              <a:buFont typeface="Wingdings" pitchFamily="2" charset="2"/>
              <a:buChar char="q"/>
            </a:pPr>
            <a:r>
              <a:rPr lang="fr-FR" sz="2400" dirty="0"/>
              <a:t> </a:t>
            </a:r>
            <a:r>
              <a:rPr lang="fr-FR" sz="2400" dirty="0" smtClean="0"/>
              <a:t>Traiter </a:t>
            </a:r>
            <a:r>
              <a:rPr lang="fr-FR" sz="2400" b="1" dirty="0"/>
              <a:t>la dynamique</a:t>
            </a:r>
            <a:r>
              <a:rPr lang="fr-FR" sz="2400" dirty="0"/>
              <a:t> du SI :  </a:t>
            </a:r>
          </a:p>
          <a:p>
            <a:pPr lvl="1">
              <a:buFontTx/>
              <a:buChar char="•"/>
            </a:pPr>
            <a:r>
              <a:rPr lang="fr-FR" sz="2100" dirty="0"/>
              <a:t> les opérations qui sont réalisées en fonction </a:t>
            </a:r>
            <a:r>
              <a:rPr lang="fr-FR" sz="2100" dirty="0" smtClean="0"/>
              <a:t>d'événements</a:t>
            </a:r>
            <a:r>
              <a:rPr lang="fr-FR" sz="2400" dirty="0" smtClean="0"/>
              <a:t>.</a:t>
            </a:r>
          </a:p>
          <a:p>
            <a:pPr lvl="1"/>
            <a:r>
              <a:rPr lang="fr-FR" sz="2400" dirty="0" smtClean="0"/>
              <a:t> </a:t>
            </a:r>
          </a:p>
          <a:p>
            <a:pPr>
              <a:buFont typeface="Wingdings" pitchFamily="2" charset="2"/>
              <a:buChar char="q"/>
            </a:pPr>
            <a:r>
              <a:rPr lang="fr-FR" sz="2400" dirty="0" smtClean="0"/>
              <a:t> MCT représente un </a:t>
            </a:r>
            <a:r>
              <a:rPr lang="fr-FR" sz="2400" b="1" dirty="0" smtClean="0"/>
              <a:t>zoom</a:t>
            </a:r>
            <a:r>
              <a:rPr lang="fr-FR" sz="2400" dirty="0" smtClean="0"/>
              <a:t> sur le MCC. </a:t>
            </a:r>
          </a:p>
          <a:p>
            <a:pPr lvl="1">
              <a:buFontTx/>
              <a:buChar char="•"/>
            </a:pPr>
            <a:r>
              <a:rPr lang="fr-FR" sz="2100" dirty="0" smtClean="0"/>
              <a:t> il "ouvrir" chaque domaine ou sous domaine identifié par le MCC de façon à définir les Operations faites dans ce domaine. </a:t>
            </a:r>
          </a:p>
          <a:p>
            <a:endParaRPr lang="fr-FR" sz="2400" dirty="0"/>
          </a:p>
          <a:p>
            <a:pPr>
              <a:buFont typeface="Wingdings" pitchFamily="2" charset="2"/>
              <a:buChar char="q"/>
            </a:pPr>
            <a:r>
              <a:rPr lang="fr-FR" sz="2400" dirty="0" smtClean="0"/>
              <a:t> </a:t>
            </a:r>
            <a:r>
              <a:rPr lang="fr-FR" sz="2400" dirty="0"/>
              <a:t>Représenter de </a:t>
            </a:r>
            <a:r>
              <a:rPr lang="fr-FR" sz="2400" b="1" dirty="0"/>
              <a:t>façon schématique</a:t>
            </a:r>
            <a:r>
              <a:rPr lang="fr-FR" sz="2400" dirty="0"/>
              <a:t> l'activité du SI : </a:t>
            </a:r>
          </a:p>
          <a:p>
            <a:pPr lvl="1">
              <a:buFontTx/>
              <a:buChar char="•"/>
            </a:pPr>
            <a:r>
              <a:rPr lang="fr-FR" sz="2100" dirty="0"/>
              <a:t> sans faire référence à des choix organisationnels ou des  </a:t>
            </a:r>
          </a:p>
          <a:p>
            <a:pPr lvl="1"/>
            <a:r>
              <a:rPr lang="fr-FR" sz="2100" dirty="0"/>
              <a:t>  moyens d'exécution</a:t>
            </a:r>
            <a:r>
              <a:rPr lang="fr-FR" sz="2400" dirty="0"/>
              <a:t>, </a:t>
            </a:r>
          </a:p>
          <a:p>
            <a:pPr lvl="1">
              <a:buFontTx/>
              <a:buChar char="•"/>
            </a:pPr>
            <a:r>
              <a:rPr lang="fr-FR" sz="2100" dirty="0"/>
              <a:t> définir simplement ce qui doit être fait</a:t>
            </a:r>
            <a:r>
              <a:rPr lang="fr-FR" sz="2100" dirty="0" smtClean="0">
                <a:solidFill>
                  <a:srgbClr val="002060"/>
                </a:solidFill>
                <a:latin typeface="Comic Sans MS" pitchFamily="66" charset="0"/>
              </a:rPr>
              <a:t>.</a:t>
            </a:r>
          </a:p>
          <a:p>
            <a:endParaRPr lang="fr-FR" sz="2100" dirty="0">
              <a:solidFill>
                <a:srgbClr val="002060"/>
              </a:solidFill>
              <a:latin typeface="Comic Sans MS" pitchFamily="66" charset="0"/>
            </a:endParaRPr>
          </a:p>
        </p:txBody>
      </p:sp>
      <p:sp>
        <p:nvSpPr>
          <p:cNvPr id="8198" name="Text Box 5"/>
          <p:cNvSpPr txBox="1">
            <a:spLocks noChangeArrowheads="1"/>
          </p:cNvSpPr>
          <p:nvPr/>
        </p:nvSpPr>
        <p:spPr bwMode="auto">
          <a:xfrm>
            <a:off x="1187450" y="4929198"/>
            <a:ext cx="7956550" cy="1200150"/>
          </a:xfrm>
          <a:prstGeom prst="rect">
            <a:avLst/>
          </a:prstGeom>
          <a:noFill/>
          <a:ln w="9525">
            <a:noFill/>
            <a:miter lim="800000"/>
            <a:headEnd/>
            <a:tailEnd/>
          </a:ln>
        </p:spPr>
        <p:txBody>
          <a:bodyPr>
            <a:spAutoFit/>
          </a:bodyPr>
          <a:lstStyle/>
          <a:p>
            <a:pPr algn="ctr">
              <a:buFont typeface="Wingdings" pitchFamily="2" charset="2"/>
              <a:buNone/>
            </a:pPr>
            <a:r>
              <a:rPr lang="fr-FR" sz="2400" b="1" dirty="0">
                <a:solidFill>
                  <a:srgbClr val="000099"/>
                </a:solidFill>
              </a:rPr>
              <a:t>Modèle Conceptuel de Traitement : </a:t>
            </a:r>
            <a:r>
              <a:rPr lang="fr-FR" sz="2400" dirty="0">
                <a:solidFill>
                  <a:srgbClr val="000099"/>
                </a:solidFill>
              </a:rPr>
              <a:t>décrit les activités découlant des échanges entre </a:t>
            </a:r>
          </a:p>
          <a:p>
            <a:pPr algn="ctr">
              <a:buFont typeface="Wingdings" pitchFamily="2" charset="2"/>
              <a:buNone/>
            </a:pPr>
            <a:r>
              <a:rPr lang="fr-FR" sz="2400" i="1" dirty="0">
                <a:solidFill>
                  <a:srgbClr val="000099"/>
                </a:solidFill>
              </a:rPr>
              <a:t>le système étudié </a:t>
            </a:r>
            <a:r>
              <a:rPr lang="fr-FR" sz="2400" dirty="0">
                <a:solidFill>
                  <a:srgbClr val="000099"/>
                </a:solidFill>
              </a:rPr>
              <a:t>et </a:t>
            </a:r>
            <a:r>
              <a:rPr lang="fr-FR" sz="2400" i="1" dirty="0">
                <a:solidFill>
                  <a:srgbClr val="000099"/>
                </a:solidFill>
              </a:rPr>
              <a:t>le monde extérieur</a:t>
            </a:r>
            <a:r>
              <a:rPr lang="fr-FR" sz="2400" i="1" dirty="0"/>
              <a:t>.</a:t>
            </a:r>
            <a:r>
              <a:rPr lang="fr-FR" sz="2400" b="1" i="1" dirty="0">
                <a:solidFill>
                  <a:srgbClr val="000099"/>
                </a:solidFill>
              </a:rPr>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21"/>
          <p:cNvSpPr>
            <a:spLocks noGrp="1"/>
          </p:cNvSpPr>
          <p:nvPr>
            <p:ph type="sldNum" sz="quarter" idx="12"/>
          </p:nvPr>
        </p:nvSpPr>
        <p:spPr/>
        <p:txBody>
          <a:bodyPr/>
          <a:lstStyle/>
          <a:p>
            <a:pPr>
              <a:defRPr/>
            </a:pPr>
            <a:fld id="{B092A6B5-C525-40D2-B618-29D21A5E47D3}" type="slidenum">
              <a:rPr lang="fr-FR"/>
              <a:pPr>
                <a:defRPr/>
              </a:pPr>
              <a:t>6</a:t>
            </a:fld>
            <a:endParaRPr lang="fr-FR"/>
          </a:p>
        </p:txBody>
      </p:sp>
      <p:sp>
        <p:nvSpPr>
          <p:cNvPr id="3074" name="Espace réservé du numéro de diapositive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6F04C388-9B68-4597-80C0-97E28F40CF7E}" type="slidenum">
              <a:rPr lang="fr-FR" sz="1200">
                <a:solidFill>
                  <a:schemeClr val="bg2">
                    <a:shade val="50000"/>
                    <a:satMod val="200000"/>
                  </a:schemeClr>
                </a:solidFill>
                <a:latin typeface="+mn-lt"/>
              </a:rPr>
              <a:pPr algn="ctr" fontAlgn="auto">
                <a:spcBef>
                  <a:spcPts val="0"/>
                </a:spcBef>
                <a:spcAft>
                  <a:spcPts val="0"/>
                </a:spcAft>
                <a:defRPr/>
              </a:pPr>
              <a:t>6</a:t>
            </a:fld>
            <a:endParaRPr lang="fr-FR" sz="1200">
              <a:solidFill>
                <a:schemeClr val="bg2">
                  <a:shade val="50000"/>
                  <a:satMod val="200000"/>
                </a:schemeClr>
              </a:solidFill>
              <a:latin typeface="+mn-lt"/>
            </a:endParaRPr>
          </a:p>
        </p:txBody>
      </p:sp>
      <p:sp>
        <p:nvSpPr>
          <p:cNvPr id="5" name="Titre 4"/>
          <p:cNvSpPr>
            <a:spLocks noGrp="1"/>
          </p:cNvSpPr>
          <p:nvPr>
            <p:ph type="title"/>
          </p:nvPr>
        </p:nvSpPr>
        <p:spPr>
          <a:xfrm>
            <a:off x="1357313" y="214313"/>
            <a:ext cx="7497762" cy="1143000"/>
          </a:xfrm>
        </p:spPr>
        <p:txBody>
          <a:bodyPr vert="horz" wrap="square" lIns="91440" tIns="45720" rIns="91440" bIns="45720" numCol="1" anchorCtr="0" compatLnSpc="1">
            <a:prstTxWarp prst="textNoShape">
              <a:avLst/>
            </a:prstTxWarp>
          </a:bodyPr>
          <a:lstStyle/>
          <a:p>
            <a:pPr eaLnBrk="1" hangingPunct="1">
              <a:defRPr/>
            </a:pPr>
            <a:r>
              <a:rPr lang="fr-FR" smtClean="0">
                <a:effectLst>
                  <a:outerShdw blurRad="38100" dist="38100" dir="2700000" algn="tl">
                    <a:srgbClr val="C0C0C0"/>
                  </a:outerShdw>
                </a:effectLst>
              </a:rPr>
              <a:t>Les concepts de base </a:t>
            </a:r>
          </a:p>
        </p:txBody>
      </p:sp>
      <p:sp>
        <p:nvSpPr>
          <p:cNvPr id="9221" name="Rectangle 6"/>
          <p:cNvSpPr>
            <a:spLocks noChangeArrowheads="1"/>
          </p:cNvSpPr>
          <p:nvPr/>
        </p:nvSpPr>
        <p:spPr bwMode="auto">
          <a:xfrm>
            <a:off x="1214414" y="1214422"/>
            <a:ext cx="7572404" cy="3816429"/>
          </a:xfrm>
          <a:prstGeom prst="rect">
            <a:avLst/>
          </a:prstGeom>
          <a:noFill/>
          <a:ln w="9525">
            <a:noFill/>
            <a:miter lim="800000"/>
            <a:headEnd/>
            <a:tailEnd/>
          </a:ln>
        </p:spPr>
        <p:txBody>
          <a:bodyPr wrap="square">
            <a:spAutoFit/>
          </a:bodyPr>
          <a:lstStyle/>
          <a:p>
            <a:pPr marL="342900" indent="-342900"/>
            <a:r>
              <a:rPr lang="fr-FR" sz="2400" dirty="0" smtClean="0">
                <a:solidFill>
                  <a:srgbClr val="C00000"/>
                </a:solidFill>
              </a:rPr>
              <a:t>Le </a:t>
            </a:r>
            <a:r>
              <a:rPr lang="fr-FR" sz="2400" b="1" dirty="0" smtClean="0">
                <a:solidFill>
                  <a:srgbClr val="C00000"/>
                </a:solidFill>
              </a:rPr>
              <a:t>MCT</a:t>
            </a:r>
            <a:r>
              <a:rPr lang="fr-FR" sz="2400" dirty="0" smtClean="0">
                <a:solidFill>
                  <a:srgbClr val="C00000"/>
                </a:solidFill>
              </a:rPr>
              <a:t> est basé sur cinq concepts :</a:t>
            </a:r>
          </a:p>
          <a:p>
            <a:pPr marL="342900" indent="-342900"/>
            <a:endParaRPr lang="fr-FR" sz="2400" b="1" dirty="0"/>
          </a:p>
          <a:p>
            <a:pPr marL="342900" indent="-342900">
              <a:spcBef>
                <a:spcPts val="600"/>
              </a:spcBef>
              <a:spcAft>
                <a:spcPts val="600"/>
              </a:spcAft>
              <a:buFont typeface="Wingdings" pitchFamily="2" charset="2"/>
              <a:buAutoNum type="arabicPeriod"/>
            </a:pPr>
            <a:r>
              <a:rPr lang="fr-FR" sz="2400" b="1" dirty="0" smtClean="0"/>
              <a:t>Evènement</a:t>
            </a:r>
            <a:endParaRPr lang="fr-FR" sz="2400" b="1" dirty="0"/>
          </a:p>
          <a:p>
            <a:pPr marL="342900" indent="-342900">
              <a:spcBef>
                <a:spcPts val="600"/>
              </a:spcBef>
              <a:spcAft>
                <a:spcPts val="600"/>
              </a:spcAft>
              <a:buFont typeface="Wingdings" pitchFamily="2" charset="2"/>
              <a:buAutoNum type="arabicPeriod"/>
            </a:pPr>
            <a:r>
              <a:rPr lang="fr-FR" sz="2400" b="1" dirty="0" smtClean="0"/>
              <a:t>Opération</a:t>
            </a:r>
          </a:p>
          <a:p>
            <a:pPr marL="342900" indent="-342900">
              <a:spcBef>
                <a:spcPts val="600"/>
              </a:spcBef>
              <a:spcAft>
                <a:spcPts val="600"/>
              </a:spcAft>
              <a:buFont typeface="Wingdings" pitchFamily="2" charset="2"/>
              <a:buAutoNum type="arabicPeriod"/>
            </a:pPr>
            <a:r>
              <a:rPr lang="fr-FR" sz="2400" b="1" dirty="0" smtClean="0"/>
              <a:t>Synchronisation </a:t>
            </a:r>
          </a:p>
          <a:p>
            <a:pPr marL="342900" indent="-342900">
              <a:spcBef>
                <a:spcPts val="600"/>
              </a:spcBef>
              <a:spcAft>
                <a:spcPts val="600"/>
              </a:spcAft>
              <a:buFont typeface="Wingdings" pitchFamily="2" charset="2"/>
              <a:buAutoNum type="arabicPeriod"/>
            </a:pPr>
            <a:r>
              <a:rPr lang="fr-FR" sz="2400" b="1" dirty="0" smtClean="0"/>
              <a:t>Règle d’émission</a:t>
            </a:r>
          </a:p>
          <a:p>
            <a:pPr marL="342900" indent="-342900">
              <a:spcBef>
                <a:spcPts val="600"/>
              </a:spcBef>
              <a:spcAft>
                <a:spcPts val="600"/>
              </a:spcAft>
              <a:buFont typeface="Wingdings" pitchFamily="2" charset="2"/>
              <a:buAutoNum type="arabicPeriod"/>
            </a:pPr>
            <a:r>
              <a:rPr lang="fr-FR" sz="2400" b="1" dirty="0" smtClean="0"/>
              <a:t>Processus </a:t>
            </a:r>
          </a:p>
          <a:p>
            <a:pPr marL="342900" indent="-342900">
              <a:buFont typeface="Wingdings" pitchFamily="2" charset="2"/>
              <a:buAutoNum type="arabicPeriod"/>
            </a:pPr>
            <a:endParaRPr lang="fr-FR" sz="2400"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3"/>
          <p:cNvSpPr>
            <a:spLocks noGrp="1"/>
          </p:cNvSpPr>
          <p:nvPr>
            <p:ph type="sldNum" sz="quarter" idx="12"/>
          </p:nvPr>
        </p:nvSpPr>
        <p:spPr/>
        <p:txBody>
          <a:bodyPr/>
          <a:lstStyle/>
          <a:p>
            <a:pPr>
              <a:defRPr/>
            </a:pPr>
            <a:fld id="{70279DB6-D91A-4DF6-B0E9-14BDD3D9D832}" type="slidenum">
              <a:rPr lang="fr-FR"/>
              <a:pPr>
                <a:defRPr/>
              </a:pPr>
              <a:t>7</a:t>
            </a:fld>
            <a:endParaRPr lang="fr-FR"/>
          </a:p>
        </p:txBody>
      </p:sp>
      <p:sp>
        <p:nvSpPr>
          <p:cNvPr id="3074" name="Espace réservé du numéro de diapositive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FB0AA7F9-2308-44AF-AEFF-B12C0EE70E28}" type="slidenum">
              <a:rPr lang="fr-FR" sz="1200">
                <a:solidFill>
                  <a:schemeClr val="bg2">
                    <a:shade val="50000"/>
                    <a:satMod val="200000"/>
                  </a:schemeClr>
                </a:solidFill>
                <a:latin typeface="+mn-lt"/>
              </a:rPr>
              <a:pPr algn="ctr" fontAlgn="auto">
                <a:spcBef>
                  <a:spcPts val="0"/>
                </a:spcBef>
                <a:spcAft>
                  <a:spcPts val="0"/>
                </a:spcAft>
                <a:defRPr/>
              </a:pPr>
              <a:t>7</a:t>
            </a:fld>
            <a:endParaRPr lang="fr-FR" sz="1200">
              <a:solidFill>
                <a:schemeClr val="bg2">
                  <a:shade val="50000"/>
                  <a:satMod val="200000"/>
                </a:schemeClr>
              </a:solidFill>
              <a:latin typeface="+mn-lt"/>
            </a:endParaRPr>
          </a:p>
        </p:txBody>
      </p:sp>
      <p:sp>
        <p:nvSpPr>
          <p:cNvPr id="5" name="Titre 4"/>
          <p:cNvSpPr>
            <a:spLocks noGrp="1"/>
          </p:cNvSpPr>
          <p:nvPr>
            <p:ph type="title" idx="4294967295"/>
          </p:nvPr>
        </p:nvSpPr>
        <p:spPr>
          <a:xfrm>
            <a:off x="1250950" y="115888"/>
            <a:ext cx="7497763" cy="1143000"/>
          </a:xfrm>
        </p:spPr>
        <p:txBody>
          <a:bodyPr vert="horz" wrap="square" lIns="91440" tIns="45720" rIns="91440" bIns="45720" numCol="1" anchorCtr="0" compatLnSpc="1">
            <a:prstTxWarp prst="textNoShape">
              <a:avLst/>
            </a:prstTxWarp>
          </a:bodyPr>
          <a:lstStyle/>
          <a:p>
            <a:pPr eaLnBrk="1" hangingPunct="1">
              <a:defRPr/>
            </a:pPr>
            <a:r>
              <a:rPr lang="fr-FR" smtClean="0">
                <a:effectLst>
                  <a:outerShdw blurRad="38100" dist="38100" dir="2700000" algn="tl">
                    <a:srgbClr val="C0C0C0"/>
                  </a:outerShdw>
                </a:effectLst>
              </a:rPr>
              <a:t>Evènement : définition </a:t>
            </a:r>
          </a:p>
        </p:txBody>
      </p:sp>
      <p:sp>
        <p:nvSpPr>
          <p:cNvPr id="11269" name="Rectangle 6"/>
          <p:cNvSpPr>
            <a:spLocks noChangeArrowheads="1"/>
          </p:cNvSpPr>
          <p:nvPr/>
        </p:nvSpPr>
        <p:spPr bwMode="auto">
          <a:xfrm>
            <a:off x="1143000" y="1655762"/>
            <a:ext cx="8001000" cy="3416320"/>
          </a:xfrm>
          <a:prstGeom prst="rect">
            <a:avLst/>
          </a:prstGeom>
          <a:noFill/>
          <a:ln w="9525">
            <a:noFill/>
            <a:miter lim="800000"/>
            <a:headEnd/>
            <a:tailEnd/>
          </a:ln>
        </p:spPr>
        <p:txBody>
          <a:bodyPr wrap="square">
            <a:spAutoFit/>
          </a:bodyPr>
          <a:lstStyle/>
          <a:p>
            <a:pPr marL="342900" indent="-342900">
              <a:buFontTx/>
              <a:buChar char="•"/>
            </a:pPr>
            <a:r>
              <a:rPr lang="fr-FR" sz="2400" dirty="0"/>
              <a:t>Matérialise </a:t>
            </a:r>
            <a:r>
              <a:rPr lang="fr-FR" sz="2400" b="1" i="1" dirty="0"/>
              <a:t>un </a:t>
            </a:r>
            <a:r>
              <a:rPr lang="fr-FR" sz="2400" b="1" i="1" dirty="0" smtClean="0"/>
              <a:t>fait actif </a:t>
            </a:r>
            <a:r>
              <a:rPr lang="fr-FR" sz="2400" i="1" dirty="0" smtClean="0"/>
              <a:t>provoquant (seul ou avec d’autres événements) une réaction du S.I.</a:t>
            </a:r>
          </a:p>
          <a:p>
            <a:pPr marL="342900" indent="-342900"/>
            <a:endParaRPr lang="fr-FR" sz="2400" dirty="0" smtClean="0">
              <a:solidFill>
                <a:srgbClr val="C00000"/>
              </a:solidFill>
            </a:endParaRPr>
          </a:p>
          <a:p>
            <a:pPr marL="342900" indent="-342900">
              <a:buFontTx/>
              <a:buChar char="•"/>
            </a:pPr>
            <a:r>
              <a:rPr lang="fr-FR" sz="2400" dirty="0" smtClean="0"/>
              <a:t>MCT = Modèle événement-résultat</a:t>
            </a:r>
          </a:p>
          <a:p>
            <a:pPr marL="342900" indent="-342900">
              <a:buFont typeface="Arial" pitchFamily="34" charset="0"/>
              <a:buChar char="•"/>
            </a:pPr>
            <a:endParaRPr lang="fr-FR" sz="2400" dirty="0" smtClean="0"/>
          </a:p>
          <a:p>
            <a:pPr marL="342900" indent="-342900"/>
            <a:endParaRPr lang="fr-FR" sz="2400" dirty="0" smtClean="0"/>
          </a:p>
          <a:p>
            <a:pPr marL="342900" indent="-342900"/>
            <a:endParaRPr lang="fr-FR" sz="2400" dirty="0" smtClean="0"/>
          </a:p>
          <a:p>
            <a:pPr marL="342900" indent="-342900"/>
            <a:endParaRPr lang="fr-FR" sz="2400" dirty="0" smtClean="0"/>
          </a:p>
          <a:p>
            <a:pPr marL="342900" indent="-342900"/>
            <a:endParaRPr lang="fr-FR" sz="2400" dirty="0" smtClean="0"/>
          </a:p>
        </p:txBody>
      </p:sp>
      <p:sp>
        <p:nvSpPr>
          <p:cNvPr id="11270" name="Rectangle 5"/>
          <p:cNvSpPr>
            <a:spLocks noChangeArrowheads="1"/>
          </p:cNvSpPr>
          <p:nvPr/>
        </p:nvSpPr>
        <p:spPr bwMode="auto">
          <a:xfrm>
            <a:off x="1071538" y="4606925"/>
            <a:ext cx="8072461" cy="1261884"/>
          </a:xfrm>
          <a:prstGeom prst="rect">
            <a:avLst/>
          </a:prstGeom>
          <a:solidFill>
            <a:srgbClr val="CCFFFF"/>
          </a:solidFill>
          <a:ln w="15875">
            <a:noFill/>
            <a:miter lim="800000"/>
            <a:headEnd/>
            <a:tailEnd/>
          </a:ln>
        </p:spPr>
        <p:txBody>
          <a:bodyPr wrap="square">
            <a:spAutoFit/>
          </a:bodyPr>
          <a:lstStyle/>
          <a:p>
            <a:r>
              <a:rPr lang="fr-FR" sz="2000" i="1" dirty="0"/>
              <a:t>Exemple : </a:t>
            </a:r>
          </a:p>
          <a:p>
            <a:endParaRPr lang="fr-FR" sz="2000" i="1" dirty="0"/>
          </a:p>
          <a:p>
            <a:pPr>
              <a:buFontTx/>
              <a:buChar char="•"/>
            </a:pPr>
            <a:r>
              <a:rPr lang="fr-FR" i="1" dirty="0"/>
              <a:t> </a:t>
            </a:r>
            <a:r>
              <a:rPr lang="fr-FR" b="1" i="1" dirty="0"/>
              <a:t>Le Fait</a:t>
            </a:r>
            <a:r>
              <a:rPr lang="fr-FR" i="1" dirty="0"/>
              <a:t> :  la décision d’un </a:t>
            </a:r>
            <a:r>
              <a:rPr lang="fr-FR" i="1" dirty="0" smtClean="0"/>
              <a:t>étudiant </a:t>
            </a:r>
            <a:r>
              <a:rPr lang="fr-FR" i="1" dirty="0"/>
              <a:t>de </a:t>
            </a:r>
            <a:r>
              <a:rPr lang="fr-FR" i="1" dirty="0" smtClean="0"/>
              <a:t>LSMIS6 de </a:t>
            </a:r>
            <a:r>
              <a:rPr lang="fr-FR" i="1" dirty="0"/>
              <a:t>s’inscrire à la faculté.</a:t>
            </a:r>
          </a:p>
          <a:p>
            <a:pPr>
              <a:buFontTx/>
              <a:buChar char="•"/>
            </a:pPr>
            <a:r>
              <a:rPr lang="fr-FR" i="1" dirty="0"/>
              <a:t> </a:t>
            </a:r>
            <a:r>
              <a:rPr lang="fr-FR" b="1" i="1" dirty="0"/>
              <a:t>Le compte rendu</a:t>
            </a:r>
            <a:r>
              <a:rPr lang="fr-FR" i="1" dirty="0"/>
              <a:t> : remplissage du dossier d’inscription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3"/>
          <p:cNvSpPr>
            <a:spLocks noGrp="1"/>
          </p:cNvSpPr>
          <p:nvPr>
            <p:ph type="sldNum" sz="quarter" idx="12"/>
          </p:nvPr>
        </p:nvSpPr>
        <p:spPr/>
        <p:txBody>
          <a:bodyPr/>
          <a:lstStyle/>
          <a:p>
            <a:pPr>
              <a:defRPr/>
            </a:pPr>
            <a:fld id="{7F7243B2-31A0-47C6-825C-BF988ED0319C}" type="slidenum">
              <a:rPr lang="fr-FR"/>
              <a:pPr>
                <a:defRPr/>
              </a:pPr>
              <a:t>8</a:t>
            </a:fld>
            <a:endParaRPr lang="fr-FR"/>
          </a:p>
        </p:txBody>
      </p:sp>
      <p:sp>
        <p:nvSpPr>
          <p:cNvPr id="12291" name="Rectangle 8"/>
          <p:cNvSpPr>
            <a:spLocks noChangeArrowheads="1"/>
          </p:cNvSpPr>
          <p:nvPr/>
        </p:nvSpPr>
        <p:spPr bwMode="auto">
          <a:xfrm>
            <a:off x="1285852" y="4071942"/>
            <a:ext cx="7858148" cy="714380"/>
          </a:xfrm>
          <a:prstGeom prst="rect">
            <a:avLst/>
          </a:prstGeom>
          <a:solidFill>
            <a:srgbClr val="CCFFFF"/>
          </a:solidFill>
          <a:ln w="9525">
            <a:noFill/>
            <a:miter lim="800000"/>
            <a:headEnd/>
            <a:tailEnd/>
          </a:ln>
        </p:spPr>
        <p:txBody>
          <a:bodyPr wrap="none" anchor="ctr"/>
          <a:lstStyle/>
          <a:p>
            <a:endParaRPr lang="fr-FR"/>
          </a:p>
        </p:txBody>
      </p:sp>
      <p:sp>
        <p:nvSpPr>
          <p:cNvPr id="12292" name="Rectangle 7"/>
          <p:cNvSpPr>
            <a:spLocks noChangeArrowheads="1"/>
          </p:cNvSpPr>
          <p:nvPr/>
        </p:nvSpPr>
        <p:spPr bwMode="auto">
          <a:xfrm>
            <a:off x="1428728" y="2071678"/>
            <a:ext cx="6697663" cy="647700"/>
          </a:xfrm>
          <a:prstGeom prst="rect">
            <a:avLst/>
          </a:prstGeom>
          <a:solidFill>
            <a:srgbClr val="CCFFFF"/>
          </a:solidFill>
          <a:ln w="9525">
            <a:noFill/>
            <a:miter lim="800000"/>
            <a:headEnd/>
            <a:tailEnd/>
          </a:ln>
        </p:spPr>
        <p:txBody>
          <a:bodyPr wrap="none" anchor="ctr"/>
          <a:lstStyle/>
          <a:p>
            <a:endParaRPr lang="fr-FR"/>
          </a:p>
        </p:txBody>
      </p:sp>
      <p:sp>
        <p:nvSpPr>
          <p:cNvPr id="3074" name="Espace réservé du numéro de diapositive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4F044389-F6F5-4814-9D28-2D2795AD14C7}" type="slidenum">
              <a:rPr lang="fr-FR" sz="1200">
                <a:solidFill>
                  <a:schemeClr val="bg2">
                    <a:shade val="50000"/>
                    <a:satMod val="200000"/>
                  </a:schemeClr>
                </a:solidFill>
                <a:latin typeface="+mn-lt"/>
              </a:rPr>
              <a:pPr algn="ctr" fontAlgn="auto">
                <a:spcBef>
                  <a:spcPts val="0"/>
                </a:spcBef>
                <a:spcAft>
                  <a:spcPts val="0"/>
                </a:spcAft>
                <a:defRPr/>
              </a:pPr>
              <a:t>8</a:t>
            </a:fld>
            <a:endParaRPr lang="fr-FR" sz="1200">
              <a:solidFill>
                <a:schemeClr val="bg2">
                  <a:shade val="50000"/>
                  <a:satMod val="200000"/>
                </a:schemeClr>
              </a:solidFill>
              <a:latin typeface="+mn-lt"/>
            </a:endParaRPr>
          </a:p>
        </p:txBody>
      </p:sp>
      <p:sp>
        <p:nvSpPr>
          <p:cNvPr id="5" name="Titre 4"/>
          <p:cNvSpPr>
            <a:spLocks noGrp="1"/>
          </p:cNvSpPr>
          <p:nvPr>
            <p:ph type="title" idx="4294967295"/>
          </p:nvPr>
        </p:nvSpPr>
        <p:spPr>
          <a:xfrm>
            <a:off x="1250950" y="-285768"/>
            <a:ext cx="7497763" cy="1143000"/>
          </a:xfrm>
        </p:spPr>
        <p:txBody>
          <a:bodyPr vert="horz" wrap="square" lIns="91440" tIns="45720" rIns="91440" bIns="45720" numCol="1" anchorCtr="0" compatLnSpc="1">
            <a:prstTxWarp prst="textNoShape">
              <a:avLst/>
            </a:prstTxWarp>
          </a:bodyPr>
          <a:lstStyle/>
          <a:p>
            <a:pPr eaLnBrk="1" hangingPunct="1">
              <a:defRPr/>
            </a:pPr>
            <a:r>
              <a:rPr lang="fr-FR" dirty="0" smtClean="0">
                <a:effectLst>
                  <a:outerShdw blurRad="38100" dist="38100" dir="2700000" algn="tl">
                    <a:srgbClr val="C0C0C0"/>
                  </a:outerShdw>
                </a:effectLst>
              </a:rPr>
              <a:t>Evènement : types </a:t>
            </a:r>
          </a:p>
        </p:txBody>
      </p:sp>
      <p:sp>
        <p:nvSpPr>
          <p:cNvPr id="12295" name="Rectangle 6"/>
          <p:cNvSpPr>
            <a:spLocks noChangeArrowheads="1"/>
          </p:cNvSpPr>
          <p:nvPr/>
        </p:nvSpPr>
        <p:spPr bwMode="auto">
          <a:xfrm>
            <a:off x="1143000" y="714356"/>
            <a:ext cx="8001000" cy="4524315"/>
          </a:xfrm>
          <a:prstGeom prst="rect">
            <a:avLst/>
          </a:prstGeom>
          <a:noFill/>
          <a:ln w="9525">
            <a:noFill/>
            <a:miter lim="800000"/>
            <a:headEnd/>
            <a:tailEnd/>
          </a:ln>
        </p:spPr>
        <p:txBody>
          <a:bodyPr>
            <a:spAutoFit/>
          </a:bodyPr>
          <a:lstStyle/>
          <a:p>
            <a:pPr marL="342900" indent="-342900">
              <a:buFontTx/>
              <a:buAutoNum type="arabicPeriod"/>
            </a:pPr>
            <a:r>
              <a:rPr lang="fr-FR" sz="2400" dirty="0"/>
              <a:t> </a:t>
            </a:r>
            <a:r>
              <a:rPr lang="fr-FR" sz="2400" b="1" i="1" dirty="0"/>
              <a:t>Les événements déclencheurs externes</a:t>
            </a:r>
            <a:r>
              <a:rPr lang="fr-FR" sz="2400" dirty="0"/>
              <a:t> : sont des </a:t>
            </a:r>
          </a:p>
          <a:p>
            <a:pPr marL="342900" indent="-342900"/>
            <a:r>
              <a:rPr lang="fr-FR" sz="2400" dirty="0"/>
              <a:t>    événements émis par un </a:t>
            </a:r>
            <a:r>
              <a:rPr lang="fr-FR" sz="2400" dirty="0" smtClean="0"/>
              <a:t>acteur externe. Provoque une réaction du SI. Sous la forme d’une  opération.</a:t>
            </a:r>
          </a:p>
          <a:p>
            <a:pPr marL="342900" indent="-342900"/>
            <a:endParaRPr lang="fr-FR" sz="2400" dirty="0"/>
          </a:p>
          <a:p>
            <a:pPr marL="800100" lvl="1" indent="-342900"/>
            <a:r>
              <a:rPr lang="fr-FR" sz="2400" i="1" dirty="0" smtClean="0"/>
              <a:t>Exemple : l’étudiant déposant son dossier.</a:t>
            </a:r>
          </a:p>
          <a:p>
            <a:pPr marL="800100" lvl="1" indent="-342900"/>
            <a:endParaRPr lang="fr-FR" sz="2400" dirty="0"/>
          </a:p>
          <a:p>
            <a:pPr marL="342900" indent="-342900">
              <a:buFontTx/>
              <a:buAutoNum type="arabicPeriod" startAt="2"/>
            </a:pPr>
            <a:r>
              <a:rPr lang="fr-FR" sz="2400" dirty="0" smtClean="0"/>
              <a:t> </a:t>
            </a:r>
            <a:r>
              <a:rPr lang="fr-FR" sz="2400" b="1" i="1" dirty="0" smtClean="0"/>
              <a:t>Les événements internes </a:t>
            </a:r>
            <a:r>
              <a:rPr lang="fr-FR" sz="2400" dirty="0" smtClean="0"/>
              <a:t>:</a:t>
            </a:r>
            <a:r>
              <a:rPr lang="fr-FR" sz="2400" b="1" i="1" dirty="0" smtClean="0"/>
              <a:t> </a:t>
            </a:r>
            <a:r>
              <a:rPr lang="fr-FR" sz="2400" dirty="0" smtClean="0"/>
              <a:t>Provoque une nouvelle réaction du SI ou constitue un résultat pour l'univers extérieur.</a:t>
            </a:r>
          </a:p>
          <a:p>
            <a:pPr marL="800100" lvl="1" indent="-342900"/>
            <a:r>
              <a:rPr lang="fr-FR" sz="2400" i="1" dirty="0" smtClean="0"/>
              <a:t>Exemple : l’acceptation d’inscription après vérification 		 du dossier. </a:t>
            </a:r>
          </a:p>
          <a:p>
            <a:pPr marL="342900" indent="-342900"/>
            <a:endParaRPr lang="fr-FR" sz="2400" dirty="0"/>
          </a:p>
        </p:txBody>
      </p:sp>
      <p:sp>
        <p:nvSpPr>
          <p:cNvPr id="9" name="Ellipse 8"/>
          <p:cNvSpPr/>
          <p:nvPr/>
        </p:nvSpPr>
        <p:spPr>
          <a:xfrm>
            <a:off x="2857488" y="5000636"/>
            <a:ext cx="1857388" cy="15716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1600" b="1" dirty="0" smtClean="0">
                <a:solidFill>
                  <a:srgbClr val="C00000"/>
                </a:solidFill>
              </a:rPr>
              <a:t>Evénement Interne </a:t>
            </a:r>
            <a:endParaRPr lang="fr-FR" sz="1600" b="1" dirty="0">
              <a:solidFill>
                <a:srgbClr val="C00000"/>
              </a:solidFill>
            </a:endParaRPr>
          </a:p>
        </p:txBody>
      </p:sp>
      <p:sp>
        <p:nvSpPr>
          <p:cNvPr id="11" name="Ellipse 10"/>
          <p:cNvSpPr/>
          <p:nvPr/>
        </p:nvSpPr>
        <p:spPr>
          <a:xfrm>
            <a:off x="5286380" y="5000636"/>
            <a:ext cx="1857388" cy="1571612"/>
          </a:xfrm>
          <a:prstGeom prst="ellipse">
            <a:avLst/>
          </a:prstGeom>
          <a:ln>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fr-FR" sz="1600" b="1" dirty="0" smtClean="0">
                <a:solidFill>
                  <a:srgbClr val="C00000"/>
                </a:solidFill>
              </a:rPr>
              <a:t>Evénement Externe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3"/>
          <p:cNvSpPr>
            <a:spLocks noGrp="1"/>
          </p:cNvSpPr>
          <p:nvPr>
            <p:ph type="sldNum" sz="quarter" idx="12"/>
          </p:nvPr>
        </p:nvSpPr>
        <p:spPr/>
        <p:txBody>
          <a:bodyPr/>
          <a:lstStyle/>
          <a:p>
            <a:pPr>
              <a:defRPr/>
            </a:pPr>
            <a:fld id="{AA04F0E8-79FD-419F-A7DA-A952D8392E19}" type="slidenum">
              <a:rPr lang="fr-FR"/>
              <a:pPr>
                <a:defRPr/>
              </a:pPr>
              <a:t>9</a:t>
            </a:fld>
            <a:endParaRPr lang="fr-FR"/>
          </a:p>
        </p:txBody>
      </p:sp>
      <p:sp>
        <p:nvSpPr>
          <p:cNvPr id="3074" name="Espace réservé du numéro de diapositive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F5DB2E88-704E-4B61-925D-2FC11C98297B}" type="slidenum">
              <a:rPr lang="fr-FR" sz="1200">
                <a:solidFill>
                  <a:schemeClr val="bg2">
                    <a:shade val="50000"/>
                    <a:satMod val="200000"/>
                  </a:schemeClr>
                </a:solidFill>
                <a:latin typeface="+mn-lt"/>
              </a:rPr>
              <a:pPr algn="ctr" fontAlgn="auto">
                <a:spcBef>
                  <a:spcPts val="0"/>
                </a:spcBef>
                <a:spcAft>
                  <a:spcPts val="0"/>
                </a:spcAft>
                <a:defRPr/>
              </a:pPr>
              <a:t>9</a:t>
            </a:fld>
            <a:endParaRPr lang="fr-FR" sz="1200">
              <a:solidFill>
                <a:schemeClr val="bg2">
                  <a:shade val="50000"/>
                  <a:satMod val="200000"/>
                </a:schemeClr>
              </a:solidFill>
              <a:latin typeface="+mn-lt"/>
            </a:endParaRPr>
          </a:p>
        </p:txBody>
      </p:sp>
      <p:sp>
        <p:nvSpPr>
          <p:cNvPr id="5" name="Titre 4"/>
          <p:cNvSpPr>
            <a:spLocks noGrp="1"/>
          </p:cNvSpPr>
          <p:nvPr>
            <p:ph type="title" idx="4294967295"/>
          </p:nvPr>
        </p:nvSpPr>
        <p:spPr>
          <a:xfrm>
            <a:off x="1250950" y="115888"/>
            <a:ext cx="7497763" cy="1143000"/>
          </a:xfrm>
        </p:spPr>
        <p:txBody>
          <a:bodyPr vert="horz" wrap="square" lIns="91440" tIns="45720" rIns="91440" bIns="45720" numCol="1" anchorCtr="0" compatLnSpc="1">
            <a:prstTxWarp prst="textNoShape">
              <a:avLst/>
            </a:prstTxWarp>
          </a:bodyPr>
          <a:lstStyle/>
          <a:p>
            <a:pPr eaLnBrk="1" hangingPunct="1">
              <a:defRPr/>
            </a:pPr>
            <a:r>
              <a:rPr lang="fr-FR" dirty="0" smtClean="0">
                <a:effectLst>
                  <a:outerShdw blurRad="38100" dist="38100" dir="2700000" algn="tl">
                    <a:srgbClr val="C0C0C0"/>
                  </a:outerShdw>
                </a:effectLst>
              </a:rPr>
              <a:t>Opération </a:t>
            </a:r>
          </a:p>
        </p:txBody>
      </p:sp>
      <p:sp>
        <p:nvSpPr>
          <p:cNvPr id="15365" name="Rectangle 7"/>
          <p:cNvSpPr>
            <a:spLocks noChangeArrowheads="1"/>
          </p:cNvSpPr>
          <p:nvPr/>
        </p:nvSpPr>
        <p:spPr bwMode="auto">
          <a:xfrm>
            <a:off x="1071537" y="1714488"/>
            <a:ext cx="8072463" cy="1200329"/>
          </a:xfrm>
          <a:prstGeom prst="rect">
            <a:avLst/>
          </a:prstGeom>
          <a:noFill/>
          <a:ln w="9525">
            <a:noFill/>
            <a:miter lim="800000"/>
            <a:headEnd/>
            <a:tailEnd/>
          </a:ln>
        </p:spPr>
        <p:txBody>
          <a:bodyPr wrap="square">
            <a:spAutoFit/>
          </a:bodyPr>
          <a:lstStyle/>
          <a:p>
            <a:pPr>
              <a:buFontTx/>
              <a:buChar char="•"/>
            </a:pPr>
            <a:r>
              <a:rPr lang="fr-FR" sz="2400" dirty="0"/>
              <a:t> La réponse à l’arrivée d’un événement est le </a:t>
            </a:r>
            <a:r>
              <a:rPr lang="fr-FR" sz="2400" dirty="0" smtClean="0"/>
              <a:t> déclenchement </a:t>
            </a:r>
            <a:r>
              <a:rPr lang="fr-FR" sz="2400" dirty="0"/>
              <a:t>d’un ensemble de </a:t>
            </a:r>
            <a:r>
              <a:rPr lang="fr-FR" sz="2400" dirty="0" smtClean="0"/>
              <a:t>traitements (actions) </a:t>
            </a:r>
            <a:r>
              <a:rPr lang="fr-FR" sz="2400" b="1" dirty="0" smtClean="0"/>
              <a:t>appelé </a:t>
            </a:r>
            <a:r>
              <a:rPr lang="fr-FR" sz="2400" b="1" dirty="0"/>
              <a:t>opération</a:t>
            </a:r>
            <a:r>
              <a:rPr lang="fr-FR" sz="2400" dirty="0"/>
              <a:t>. </a:t>
            </a:r>
            <a:endParaRPr lang="fr-FR" sz="2400" i="1" dirty="0"/>
          </a:p>
        </p:txBody>
      </p:sp>
      <p:sp>
        <p:nvSpPr>
          <p:cNvPr id="15366" name="Rectangle 8"/>
          <p:cNvSpPr>
            <a:spLocks noChangeArrowheads="1"/>
          </p:cNvSpPr>
          <p:nvPr/>
        </p:nvSpPr>
        <p:spPr bwMode="auto">
          <a:xfrm>
            <a:off x="1285852" y="4714884"/>
            <a:ext cx="7129463" cy="1200329"/>
          </a:xfrm>
          <a:prstGeom prst="rect">
            <a:avLst/>
          </a:prstGeom>
          <a:solidFill>
            <a:srgbClr val="CCFFFF"/>
          </a:solidFill>
          <a:ln w="9525">
            <a:noFill/>
            <a:miter lim="800000"/>
            <a:headEnd/>
            <a:tailEnd/>
          </a:ln>
        </p:spPr>
        <p:txBody>
          <a:bodyPr>
            <a:spAutoFit/>
          </a:bodyPr>
          <a:lstStyle/>
          <a:p>
            <a:r>
              <a:rPr lang="fr-FR" sz="2400" b="1" i="1" dirty="0">
                <a:solidFill>
                  <a:srgbClr val="C00000"/>
                </a:solidFill>
              </a:rPr>
              <a:t>Exemple</a:t>
            </a:r>
            <a:r>
              <a:rPr lang="fr-FR" sz="2400" i="1" dirty="0"/>
              <a:t> : </a:t>
            </a:r>
            <a:r>
              <a:rPr lang="fr-FR" sz="2400" b="1" i="1" dirty="0">
                <a:solidFill>
                  <a:srgbClr val="C00000"/>
                </a:solidFill>
              </a:rPr>
              <a:t>le traitement d’enregistrement </a:t>
            </a:r>
            <a:r>
              <a:rPr lang="fr-FR" sz="2400" i="1" dirty="0" smtClean="0"/>
              <a:t>d’une inscription </a:t>
            </a:r>
            <a:r>
              <a:rPr lang="fr-FR" sz="2400" i="1" dirty="0"/>
              <a:t>est une opération déclenchée 	      lors du dépôt de dossier d’inscription</a:t>
            </a:r>
          </a:p>
        </p:txBody>
      </p:sp>
      <p:sp>
        <p:nvSpPr>
          <p:cNvPr id="15367" name="Rectangle 9"/>
          <p:cNvSpPr>
            <a:spLocks noChangeArrowheads="1"/>
          </p:cNvSpPr>
          <p:nvPr/>
        </p:nvSpPr>
        <p:spPr bwMode="auto">
          <a:xfrm>
            <a:off x="1214414" y="3143248"/>
            <a:ext cx="7748613" cy="830997"/>
          </a:xfrm>
          <a:prstGeom prst="rect">
            <a:avLst/>
          </a:prstGeom>
          <a:noFill/>
          <a:ln w="9525">
            <a:noFill/>
            <a:miter lim="800000"/>
            <a:headEnd/>
            <a:tailEnd/>
          </a:ln>
        </p:spPr>
        <p:txBody>
          <a:bodyPr wrap="square">
            <a:spAutoFit/>
          </a:bodyPr>
          <a:lstStyle/>
          <a:p>
            <a:pPr>
              <a:buFontTx/>
              <a:buChar char="•"/>
            </a:pPr>
            <a:r>
              <a:rPr lang="fr-FR" sz="2400" dirty="0" smtClean="0"/>
              <a:t> Elle décrit aussi bien </a:t>
            </a:r>
            <a:r>
              <a:rPr lang="fr-FR" sz="2400" b="1" dirty="0" smtClean="0">
                <a:solidFill>
                  <a:srgbClr val="C00000"/>
                </a:solidFill>
              </a:rPr>
              <a:t>la gestion manuelle</a:t>
            </a:r>
            <a:r>
              <a:rPr lang="fr-FR" sz="2400" dirty="0" smtClean="0"/>
              <a:t>, que la </a:t>
            </a:r>
          </a:p>
          <a:p>
            <a:r>
              <a:rPr lang="fr-FR" sz="2400" b="1" dirty="0" smtClean="0">
                <a:solidFill>
                  <a:srgbClr val="C00000"/>
                </a:solidFill>
              </a:rPr>
              <a:t>gestion automatisée</a:t>
            </a:r>
            <a:r>
              <a:rPr lang="fr-FR" sz="2400" dirty="0" smtClean="0"/>
              <a:t>.</a:t>
            </a:r>
            <a:endParaRPr lang="fr-FR"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3"/>
          <p:cNvSpPr>
            <a:spLocks noGrp="1"/>
          </p:cNvSpPr>
          <p:nvPr>
            <p:ph type="sldNum" sz="quarter" idx="12"/>
          </p:nvPr>
        </p:nvSpPr>
        <p:spPr/>
        <p:txBody>
          <a:bodyPr/>
          <a:lstStyle/>
          <a:p>
            <a:pPr>
              <a:defRPr/>
            </a:pPr>
            <a:fld id="{6B46EB3C-4F53-4C25-9037-13DBD0A85A1D}" type="slidenum">
              <a:rPr lang="fr-FR"/>
              <a:pPr>
                <a:defRPr/>
              </a:pPr>
              <a:t>10</a:t>
            </a:fld>
            <a:endParaRPr lang="fr-FR"/>
          </a:p>
        </p:txBody>
      </p:sp>
      <p:sp>
        <p:nvSpPr>
          <p:cNvPr id="3074" name="Espace réservé du numéro de diapositive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5BBC2D35-EAE3-4292-B2FF-EC06ECF0FBB2}" type="slidenum">
              <a:rPr lang="fr-FR" sz="1200">
                <a:solidFill>
                  <a:schemeClr val="bg2">
                    <a:shade val="50000"/>
                    <a:satMod val="200000"/>
                  </a:schemeClr>
                </a:solidFill>
                <a:latin typeface="+mn-lt"/>
              </a:rPr>
              <a:pPr algn="ctr" fontAlgn="auto">
                <a:spcBef>
                  <a:spcPts val="0"/>
                </a:spcBef>
                <a:spcAft>
                  <a:spcPts val="0"/>
                </a:spcAft>
                <a:defRPr/>
              </a:pPr>
              <a:t>10</a:t>
            </a:fld>
            <a:endParaRPr lang="fr-FR" sz="1200">
              <a:solidFill>
                <a:schemeClr val="bg2">
                  <a:shade val="50000"/>
                  <a:satMod val="200000"/>
                </a:schemeClr>
              </a:solidFill>
              <a:latin typeface="+mn-lt"/>
            </a:endParaRPr>
          </a:p>
        </p:txBody>
      </p:sp>
      <p:sp>
        <p:nvSpPr>
          <p:cNvPr id="5" name="Titre 4"/>
          <p:cNvSpPr>
            <a:spLocks noGrp="1"/>
          </p:cNvSpPr>
          <p:nvPr>
            <p:ph type="title" idx="4294967295"/>
          </p:nvPr>
        </p:nvSpPr>
        <p:spPr>
          <a:xfrm>
            <a:off x="1250950" y="115888"/>
            <a:ext cx="7497763" cy="1143000"/>
          </a:xfrm>
        </p:spPr>
        <p:txBody>
          <a:bodyPr vert="horz" wrap="square" lIns="91440" tIns="45720" rIns="91440" bIns="45720" numCol="1" anchorCtr="0" compatLnSpc="1">
            <a:prstTxWarp prst="textNoShape">
              <a:avLst/>
            </a:prstTxWarp>
          </a:bodyPr>
          <a:lstStyle/>
          <a:p>
            <a:pPr eaLnBrk="1" hangingPunct="1">
              <a:defRPr/>
            </a:pPr>
            <a:r>
              <a:rPr lang="fr-FR" smtClean="0">
                <a:effectLst>
                  <a:outerShdw blurRad="38100" dist="38100" dir="2700000" algn="tl">
                    <a:srgbClr val="C0C0C0"/>
                  </a:outerShdw>
                </a:effectLst>
              </a:rPr>
              <a:t>Synchronisation </a:t>
            </a:r>
          </a:p>
        </p:txBody>
      </p:sp>
      <p:sp>
        <p:nvSpPr>
          <p:cNvPr id="18437" name="Rectangle 4"/>
          <p:cNvSpPr>
            <a:spLocks noChangeArrowheads="1"/>
          </p:cNvSpPr>
          <p:nvPr/>
        </p:nvSpPr>
        <p:spPr bwMode="auto">
          <a:xfrm>
            <a:off x="785787" y="1428736"/>
            <a:ext cx="8358214" cy="3970318"/>
          </a:xfrm>
          <a:prstGeom prst="rect">
            <a:avLst/>
          </a:prstGeom>
          <a:noFill/>
          <a:ln w="9525">
            <a:noFill/>
            <a:miter lim="800000"/>
            <a:headEnd/>
            <a:tailEnd/>
          </a:ln>
        </p:spPr>
        <p:txBody>
          <a:bodyPr wrap="square">
            <a:spAutoFit/>
          </a:bodyPr>
          <a:lstStyle/>
          <a:p>
            <a:pPr>
              <a:lnSpc>
                <a:spcPct val="150000"/>
              </a:lnSpc>
              <a:buFont typeface="Courier New" pitchFamily="49" charset="0"/>
              <a:buChar char="o"/>
            </a:pPr>
            <a:r>
              <a:rPr lang="fr-FR" sz="2400" dirty="0" smtClean="0"/>
              <a:t> Une condition de </a:t>
            </a:r>
            <a:r>
              <a:rPr lang="fr-FR" sz="2400" b="1" dirty="0" smtClean="0">
                <a:solidFill>
                  <a:srgbClr val="C00000"/>
                </a:solidFill>
              </a:rPr>
              <a:t>synchronisation</a:t>
            </a:r>
            <a:r>
              <a:rPr lang="fr-FR" sz="2400" dirty="0" smtClean="0"/>
              <a:t> est représentée par une condition booléenne liant les événements déclencheurs grâce aux opérateurs logiques " Et ", " Ou " et " Non ". </a:t>
            </a:r>
          </a:p>
          <a:p>
            <a:pPr>
              <a:lnSpc>
                <a:spcPct val="150000"/>
              </a:lnSpc>
            </a:pPr>
            <a:endParaRPr lang="fr-FR" sz="2400" dirty="0" smtClean="0"/>
          </a:p>
          <a:p>
            <a:pPr>
              <a:lnSpc>
                <a:spcPct val="150000"/>
              </a:lnSpc>
              <a:buFont typeface="Courier New" pitchFamily="49" charset="0"/>
              <a:buChar char="o"/>
            </a:pPr>
            <a:r>
              <a:rPr lang="fr-FR" sz="2400" dirty="0" smtClean="0"/>
              <a:t> L’opération </a:t>
            </a:r>
            <a:r>
              <a:rPr lang="fr-FR" sz="2400" b="1" dirty="0" smtClean="0">
                <a:solidFill>
                  <a:srgbClr val="C00000"/>
                </a:solidFill>
              </a:rPr>
              <a:t>n’est pas </a:t>
            </a:r>
            <a:r>
              <a:rPr lang="fr-FR" sz="2400" dirty="0" smtClean="0"/>
              <a:t>déclenchée si la condition n’est pas réalisée</a:t>
            </a:r>
            <a:r>
              <a:rPr lang="fr-FR" dirty="0" smtClean="0"/>
              <a:t>. </a:t>
            </a:r>
          </a:p>
          <a:p>
            <a:pPr>
              <a:buFontTx/>
              <a:buChar char="•"/>
            </a:pPr>
            <a:endParaRPr lang="fr-FR" dirty="0" smtClean="0"/>
          </a:p>
          <a:p>
            <a:pPr>
              <a:buFontTx/>
              <a:buChar char="•"/>
            </a:pPr>
            <a:endParaRPr lang="fr-FR"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3"/>
          <p:cNvSpPr>
            <a:spLocks noGrp="1"/>
          </p:cNvSpPr>
          <p:nvPr>
            <p:ph type="sldNum" sz="quarter" idx="12"/>
          </p:nvPr>
        </p:nvSpPr>
        <p:spPr/>
        <p:txBody>
          <a:bodyPr/>
          <a:lstStyle/>
          <a:p>
            <a:pPr>
              <a:defRPr/>
            </a:pPr>
            <a:fld id="{EE2665A0-F9B6-45C0-8720-8548E0CA304B}" type="slidenum">
              <a:rPr lang="fr-FR"/>
              <a:pPr>
                <a:defRPr/>
              </a:pPr>
              <a:t>11</a:t>
            </a:fld>
            <a:endParaRPr lang="fr-FR"/>
          </a:p>
        </p:txBody>
      </p:sp>
      <p:sp>
        <p:nvSpPr>
          <p:cNvPr id="3074" name="Espace réservé du numéro de diapositive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3BC4FFE6-EA4D-4AE0-88BE-7972B73C42E4}" type="slidenum">
              <a:rPr lang="fr-FR" sz="1200">
                <a:solidFill>
                  <a:schemeClr val="bg2">
                    <a:shade val="50000"/>
                    <a:satMod val="200000"/>
                  </a:schemeClr>
                </a:solidFill>
                <a:latin typeface="+mn-lt"/>
              </a:rPr>
              <a:pPr algn="ctr" fontAlgn="auto">
                <a:spcBef>
                  <a:spcPts val="0"/>
                </a:spcBef>
                <a:spcAft>
                  <a:spcPts val="0"/>
                </a:spcAft>
                <a:defRPr/>
              </a:pPr>
              <a:t>11</a:t>
            </a:fld>
            <a:endParaRPr lang="fr-FR" sz="1200">
              <a:solidFill>
                <a:schemeClr val="bg2">
                  <a:shade val="50000"/>
                  <a:satMod val="200000"/>
                </a:schemeClr>
              </a:solidFill>
              <a:latin typeface="+mn-lt"/>
            </a:endParaRPr>
          </a:p>
        </p:txBody>
      </p:sp>
      <p:sp>
        <p:nvSpPr>
          <p:cNvPr id="5" name="Titre 4"/>
          <p:cNvSpPr>
            <a:spLocks noGrp="1"/>
          </p:cNvSpPr>
          <p:nvPr>
            <p:ph type="title" idx="4294967295"/>
          </p:nvPr>
        </p:nvSpPr>
        <p:spPr>
          <a:xfrm>
            <a:off x="1250950" y="115888"/>
            <a:ext cx="7497763" cy="1143000"/>
          </a:xfrm>
        </p:spPr>
        <p:txBody>
          <a:bodyPr vert="horz" wrap="square" lIns="91440" tIns="45720" rIns="91440" bIns="45720" numCol="1" anchorCtr="0" compatLnSpc="1">
            <a:prstTxWarp prst="textNoShape">
              <a:avLst/>
            </a:prstTxWarp>
          </a:bodyPr>
          <a:lstStyle/>
          <a:p>
            <a:pPr eaLnBrk="1" hangingPunct="1">
              <a:defRPr/>
            </a:pPr>
            <a:r>
              <a:rPr lang="fr-FR" smtClean="0">
                <a:effectLst>
                  <a:outerShdw blurRad="38100" dist="38100" dir="2700000" algn="tl">
                    <a:srgbClr val="C0C0C0"/>
                  </a:outerShdw>
                </a:effectLst>
              </a:rPr>
              <a:t>Règle d’émission</a:t>
            </a:r>
          </a:p>
        </p:txBody>
      </p:sp>
      <p:sp>
        <p:nvSpPr>
          <p:cNvPr id="17413" name="Rectangle 6"/>
          <p:cNvSpPr>
            <a:spLocks noChangeArrowheads="1"/>
          </p:cNvSpPr>
          <p:nvPr/>
        </p:nvSpPr>
        <p:spPr bwMode="auto">
          <a:xfrm>
            <a:off x="1187450" y="1268413"/>
            <a:ext cx="7416800" cy="3416320"/>
          </a:xfrm>
          <a:prstGeom prst="rect">
            <a:avLst/>
          </a:prstGeom>
          <a:noFill/>
          <a:ln w="9525">
            <a:noFill/>
            <a:miter lim="800000"/>
            <a:headEnd/>
            <a:tailEnd/>
          </a:ln>
        </p:spPr>
        <p:txBody>
          <a:bodyPr>
            <a:spAutoFit/>
          </a:bodyPr>
          <a:lstStyle/>
          <a:p>
            <a:pPr>
              <a:buFontTx/>
              <a:buChar char="•"/>
            </a:pPr>
            <a:r>
              <a:rPr lang="fr-FR" sz="2400" dirty="0" smtClean="0"/>
              <a:t> Une règle d’émission définit la condition sous laquelle des événement résultats seront produits par une opération.</a:t>
            </a:r>
          </a:p>
          <a:p>
            <a:pPr>
              <a:buFontTx/>
              <a:buChar char="•"/>
            </a:pPr>
            <a:r>
              <a:rPr lang="fr-FR" sz="2400" dirty="0" smtClean="0"/>
              <a:t> Une opération peut avoir une ou plusieurs règles d’émission, une règle gérant l’émission de un ou plusieurs événements résultats.</a:t>
            </a:r>
          </a:p>
          <a:p>
            <a:pPr>
              <a:buFontTx/>
              <a:buChar char="•"/>
            </a:pPr>
            <a:r>
              <a:rPr lang="fr-FR" sz="2400" dirty="0" smtClean="0"/>
              <a:t> Une opération peut ne pas avoir de règle d’émission. Dans ce cas, l’émission des événements est inconditionnelle.</a:t>
            </a:r>
            <a:endParaRPr lang="fr-FR"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3"/>
          <p:cNvSpPr>
            <a:spLocks noGrp="1"/>
          </p:cNvSpPr>
          <p:nvPr>
            <p:ph type="sldNum" sz="quarter" idx="12"/>
          </p:nvPr>
        </p:nvSpPr>
        <p:spPr/>
        <p:txBody>
          <a:bodyPr/>
          <a:lstStyle/>
          <a:p>
            <a:pPr>
              <a:defRPr/>
            </a:pPr>
            <a:fld id="{EE2665A0-F9B6-45C0-8720-8548E0CA304B}" type="slidenum">
              <a:rPr lang="fr-FR"/>
              <a:pPr>
                <a:defRPr/>
              </a:pPr>
              <a:t>12</a:t>
            </a:fld>
            <a:endParaRPr lang="fr-FR"/>
          </a:p>
        </p:txBody>
      </p:sp>
      <p:sp>
        <p:nvSpPr>
          <p:cNvPr id="3074" name="Espace réservé du numéro de diapositive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3BC4FFE6-EA4D-4AE0-88BE-7972B73C42E4}" type="slidenum">
              <a:rPr lang="fr-FR" sz="1200">
                <a:solidFill>
                  <a:schemeClr val="bg2">
                    <a:shade val="50000"/>
                    <a:satMod val="200000"/>
                  </a:schemeClr>
                </a:solidFill>
                <a:latin typeface="+mn-lt"/>
              </a:rPr>
              <a:pPr algn="ctr" fontAlgn="auto">
                <a:spcBef>
                  <a:spcPts val="0"/>
                </a:spcBef>
                <a:spcAft>
                  <a:spcPts val="0"/>
                </a:spcAft>
                <a:defRPr/>
              </a:pPr>
              <a:t>12</a:t>
            </a:fld>
            <a:endParaRPr lang="fr-FR" sz="1200">
              <a:solidFill>
                <a:schemeClr val="bg2">
                  <a:shade val="50000"/>
                  <a:satMod val="200000"/>
                </a:schemeClr>
              </a:solidFill>
              <a:latin typeface="+mn-lt"/>
            </a:endParaRPr>
          </a:p>
        </p:txBody>
      </p:sp>
      <p:sp>
        <p:nvSpPr>
          <p:cNvPr id="5" name="Titre 4"/>
          <p:cNvSpPr>
            <a:spLocks noGrp="1"/>
          </p:cNvSpPr>
          <p:nvPr>
            <p:ph type="title" idx="4294967295"/>
          </p:nvPr>
        </p:nvSpPr>
        <p:spPr>
          <a:xfrm>
            <a:off x="1250950" y="115888"/>
            <a:ext cx="7497763" cy="1143000"/>
          </a:xfrm>
        </p:spPr>
        <p:txBody>
          <a:bodyPr vert="horz" wrap="square" lIns="91440" tIns="45720" rIns="91440" bIns="45720" numCol="1" anchorCtr="0" compatLnSpc="1">
            <a:prstTxWarp prst="textNoShape">
              <a:avLst/>
            </a:prstTxWarp>
          </a:bodyPr>
          <a:lstStyle/>
          <a:p>
            <a:pPr eaLnBrk="1" hangingPunct="1">
              <a:defRPr/>
            </a:pPr>
            <a:r>
              <a:rPr lang="fr-FR" dirty="0" smtClean="0">
                <a:effectLst>
                  <a:outerShdw blurRad="38100" dist="38100" dir="2700000" algn="tl">
                    <a:srgbClr val="C0C0C0"/>
                  </a:outerShdw>
                </a:effectLst>
              </a:rPr>
              <a:t>Processus</a:t>
            </a:r>
          </a:p>
        </p:txBody>
      </p:sp>
      <p:sp>
        <p:nvSpPr>
          <p:cNvPr id="17413" name="Rectangle 6"/>
          <p:cNvSpPr>
            <a:spLocks noChangeArrowheads="1"/>
          </p:cNvSpPr>
          <p:nvPr/>
        </p:nvSpPr>
        <p:spPr bwMode="auto">
          <a:xfrm>
            <a:off x="1142976" y="1500174"/>
            <a:ext cx="7416800" cy="1200329"/>
          </a:xfrm>
          <a:prstGeom prst="rect">
            <a:avLst/>
          </a:prstGeom>
          <a:noFill/>
          <a:ln w="9525">
            <a:noFill/>
            <a:miter lim="800000"/>
            <a:headEnd/>
            <a:tailEnd/>
          </a:ln>
        </p:spPr>
        <p:txBody>
          <a:bodyPr>
            <a:spAutoFit/>
          </a:bodyPr>
          <a:lstStyle/>
          <a:p>
            <a:r>
              <a:rPr lang="fr-FR" sz="2400" dirty="0" smtClean="0"/>
              <a:t>Le MCT est décomposé généralement en processus.</a:t>
            </a:r>
          </a:p>
          <a:p>
            <a:r>
              <a:rPr lang="fr-FR" sz="2400" dirty="0" smtClean="0"/>
              <a:t>Un processus est un enchaînement d'opérations incluses dans un même domaine d'activité.</a:t>
            </a:r>
            <a:endParaRPr lang="fr-FR"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ce réservé du numéro de diapositive 5"/>
          <p:cNvSpPr>
            <a:spLocks noGrp="1"/>
          </p:cNvSpPr>
          <p:nvPr>
            <p:ph type="sldNum" sz="quarter" idx="12"/>
          </p:nvPr>
        </p:nvSpPr>
        <p:spPr/>
        <p:txBody>
          <a:bodyPr/>
          <a:lstStyle/>
          <a:p>
            <a:pPr>
              <a:defRPr/>
            </a:pPr>
            <a:fld id="{326A3D6A-01C2-45B2-B20D-69ADD6F69ECD}" type="slidenum">
              <a:rPr lang="fr-FR"/>
              <a:pPr>
                <a:defRPr/>
              </a:pPr>
              <a:t>13</a:t>
            </a:fld>
            <a:endParaRPr lang="fr-FR"/>
          </a:p>
        </p:txBody>
      </p:sp>
      <p:sp>
        <p:nvSpPr>
          <p:cNvPr id="20483" name="Rectangle 2"/>
          <p:cNvSpPr>
            <a:spLocks noGrp="1"/>
          </p:cNvSpPr>
          <p:nvPr>
            <p:ph type="title"/>
          </p:nvPr>
        </p:nvSpPr>
        <p:spPr bwMode="auto">
          <a:xfrm>
            <a:off x="1403350" y="44450"/>
            <a:ext cx="7499350" cy="1143000"/>
          </a:xfrm>
          <a:noFill/>
        </p:spPr>
        <p:txBody>
          <a:bodyPr vert="horz" wrap="square" lIns="91440" tIns="45720" rIns="91440" bIns="45720" numCol="1" anchorCtr="0" compatLnSpc="1">
            <a:prstTxWarp prst="textNoShape">
              <a:avLst/>
            </a:prstTxWarp>
          </a:bodyPr>
          <a:lstStyle/>
          <a:p>
            <a:r>
              <a:rPr lang="fr-FR" smtClean="0">
                <a:effectLst/>
              </a:rPr>
              <a:t>Représentation graphique</a:t>
            </a:r>
          </a:p>
        </p:txBody>
      </p:sp>
      <p:sp>
        <p:nvSpPr>
          <p:cNvPr id="20484" name="Oval 4"/>
          <p:cNvSpPr>
            <a:spLocks noChangeArrowheads="1"/>
          </p:cNvSpPr>
          <p:nvPr/>
        </p:nvSpPr>
        <p:spPr bwMode="auto">
          <a:xfrm>
            <a:off x="1928794" y="1142984"/>
            <a:ext cx="1439863" cy="1231893"/>
          </a:xfrm>
          <a:prstGeom prst="ellipse">
            <a:avLst/>
          </a:prstGeom>
          <a:noFill/>
          <a:ln w="9525">
            <a:solidFill>
              <a:schemeClr val="tx1"/>
            </a:solidFill>
            <a:round/>
            <a:headEnd/>
            <a:tailEnd/>
          </a:ln>
        </p:spPr>
        <p:txBody>
          <a:bodyPr wrap="none" anchor="ctr"/>
          <a:lstStyle/>
          <a:p>
            <a:pPr algn="ctr"/>
            <a:r>
              <a:rPr lang="fr-FR" sz="1600" b="1" dirty="0" smtClean="0">
                <a:solidFill>
                  <a:srgbClr val="C00000"/>
                </a:solidFill>
              </a:rPr>
              <a:t>Évènement A</a:t>
            </a:r>
            <a:endParaRPr lang="fr-FR" sz="1600" b="1" dirty="0">
              <a:solidFill>
                <a:srgbClr val="C00000"/>
              </a:solidFill>
            </a:endParaRPr>
          </a:p>
        </p:txBody>
      </p:sp>
      <p:sp>
        <p:nvSpPr>
          <p:cNvPr id="20485" name="Rectangle 11"/>
          <p:cNvSpPr>
            <a:spLocks noChangeArrowheads="1"/>
          </p:cNvSpPr>
          <p:nvPr/>
        </p:nvSpPr>
        <p:spPr bwMode="auto">
          <a:xfrm>
            <a:off x="3357554" y="4357694"/>
            <a:ext cx="2376487" cy="407987"/>
          </a:xfrm>
          <a:prstGeom prst="rect">
            <a:avLst/>
          </a:prstGeom>
          <a:noFill/>
          <a:ln w="9525">
            <a:noFill/>
            <a:miter lim="800000"/>
            <a:headEnd/>
            <a:tailEnd/>
          </a:ln>
        </p:spPr>
        <p:txBody>
          <a:bodyPr/>
          <a:lstStyle/>
          <a:p>
            <a:pPr marL="82550" algn="ctr" eaLnBrk="0" hangingPunct="0">
              <a:spcBef>
                <a:spcPts val="600"/>
              </a:spcBef>
              <a:buClr>
                <a:schemeClr val="accent1"/>
              </a:buClr>
              <a:buSzPct val="80000"/>
              <a:buFont typeface="Wingdings 2" pitchFamily="18" charset="2"/>
              <a:buNone/>
            </a:pPr>
            <a:r>
              <a:rPr lang="fr-FR" sz="1700" dirty="0" smtClean="0">
                <a:latin typeface="Gill Sans MT" pitchFamily="34" charset="0"/>
              </a:rPr>
              <a:t>C1        </a:t>
            </a:r>
            <a:r>
              <a:rPr lang="fr-FR" sz="1700" b="1" dirty="0">
                <a:latin typeface="Gill Sans MT" pitchFamily="34" charset="0"/>
              </a:rPr>
              <a:t>…</a:t>
            </a:r>
            <a:r>
              <a:rPr lang="fr-FR" sz="1700" dirty="0">
                <a:latin typeface="Gill Sans MT" pitchFamily="34" charset="0"/>
              </a:rPr>
              <a:t>           CN</a:t>
            </a:r>
          </a:p>
        </p:txBody>
      </p:sp>
      <p:sp>
        <p:nvSpPr>
          <p:cNvPr id="20486" name="Rectangle 10"/>
          <p:cNvSpPr>
            <a:spLocks noChangeArrowheads="1"/>
          </p:cNvSpPr>
          <p:nvPr/>
        </p:nvSpPr>
        <p:spPr bwMode="auto">
          <a:xfrm>
            <a:off x="3357554" y="3643314"/>
            <a:ext cx="2376487" cy="733425"/>
          </a:xfrm>
          <a:prstGeom prst="rect">
            <a:avLst/>
          </a:prstGeom>
          <a:noFill/>
          <a:ln w="9525">
            <a:noFill/>
            <a:miter lim="800000"/>
            <a:headEnd/>
            <a:tailEnd/>
          </a:ln>
        </p:spPr>
        <p:txBody>
          <a:bodyPr/>
          <a:lstStyle/>
          <a:p>
            <a:pPr marL="82550" algn="ctr" eaLnBrk="0" hangingPunct="0">
              <a:spcBef>
                <a:spcPts val="600"/>
              </a:spcBef>
              <a:buClr>
                <a:schemeClr val="accent1"/>
              </a:buClr>
              <a:buSzPct val="80000"/>
              <a:buFont typeface="Wingdings 2" pitchFamily="18" charset="2"/>
              <a:buNone/>
            </a:pPr>
            <a:r>
              <a:rPr lang="fr-FR" sz="1900" b="1" dirty="0">
                <a:latin typeface="Gill Sans MT" pitchFamily="34" charset="0"/>
              </a:rPr>
              <a:t>Listes Actions</a:t>
            </a:r>
          </a:p>
        </p:txBody>
      </p:sp>
      <p:sp>
        <p:nvSpPr>
          <p:cNvPr id="20487" name="Rectangle 9"/>
          <p:cNvSpPr>
            <a:spLocks noChangeArrowheads="1"/>
          </p:cNvSpPr>
          <p:nvPr/>
        </p:nvSpPr>
        <p:spPr bwMode="auto">
          <a:xfrm>
            <a:off x="3348038" y="3068638"/>
            <a:ext cx="2376487" cy="730250"/>
          </a:xfrm>
          <a:prstGeom prst="rect">
            <a:avLst/>
          </a:prstGeom>
          <a:noFill/>
          <a:ln w="9525">
            <a:noFill/>
            <a:miter lim="800000"/>
            <a:headEnd/>
            <a:tailEnd/>
          </a:ln>
        </p:spPr>
        <p:txBody>
          <a:bodyPr/>
          <a:lstStyle/>
          <a:p>
            <a:pPr marL="82550" algn="ctr" eaLnBrk="0" hangingPunct="0">
              <a:spcBef>
                <a:spcPts val="600"/>
              </a:spcBef>
              <a:buClr>
                <a:schemeClr val="accent1"/>
              </a:buClr>
              <a:buSzPct val="80000"/>
              <a:buFont typeface="Wingdings 2" pitchFamily="18" charset="2"/>
              <a:buNone/>
            </a:pPr>
            <a:r>
              <a:rPr lang="fr-FR" sz="1900" b="1" dirty="0">
                <a:latin typeface="Gill Sans MT" pitchFamily="34" charset="0"/>
              </a:rPr>
              <a:t>Nom Opération</a:t>
            </a:r>
          </a:p>
        </p:txBody>
      </p:sp>
      <p:sp>
        <p:nvSpPr>
          <p:cNvPr id="20488" name="Line 12"/>
          <p:cNvSpPr>
            <a:spLocks noChangeShapeType="1"/>
          </p:cNvSpPr>
          <p:nvPr/>
        </p:nvSpPr>
        <p:spPr bwMode="auto">
          <a:xfrm>
            <a:off x="3348038" y="3068638"/>
            <a:ext cx="2376487" cy="0"/>
          </a:xfrm>
          <a:prstGeom prst="line">
            <a:avLst/>
          </a:prstGeom>
          <a:noFill/>
          <a:ln w="28575" cap="sq">
            <a:solidFill>
              <a:schemeClr val="tx1"/>
            </a:solidFill>
            <a:round/>
            <a:headEnd/>
            <a:tailEnd/>
          </a:ln>
        </p:spPr>
        <p:txBody>
          <a:bodyPr/>
          <a:lstStyle/>
          <a:p>
            <a:endParaRPr lang="fr-FR"/>
          </a:p>
        </p:txBody>
      </p:sp>
      <p:sp>
        <p:nvSpPr>
          <p:cNvPr id="20489" name="Line 13"/>
          <p:cNvSpPr>
            <a:spLocks noChangeShapeType="1"/>
          </p:cNvSpPr>
          <p:nvPr/>
        </p:nvSpPr>
        <p:spPr bwMode="auto">
          <a:xfrm>
            <a:off x="3428992" y="3429000"/>
            <a:ext cx="2376487" cy="0"/>
          </a:xfrm>
          <a:prstGeom prst="line">
            <a:avLst/>
          </a:prstGeom>
          <a:noFill/>
          <a:ln w="12700">
            <a:solidFill>
              <a:schemeClr val="tx1"/>
            </a:solidFill>
            <a:round/>
            <a:headEnd/>
            <a:tailEnd/>
          </a:ln>
        </p:spPr>
        <p:txBody>
          <a:bodyPr/>
          <a:lstStyle/>
          <a:p>
            <a:endParaRPr lang="fr-FR"/>
          </a:p>
        </p:txBody>
      </p:sp>
      <p:sp>
        <p:nvSpPr>
          <p:cNvPr id="20490" name="Line 14"/>
          <p:cNvSpPr>
            <a:spLocks noChangeShapeType="1"/>
          </p:cNvSpPr>
          <p:nvPr/>
        </p:nvSpPr>
        <p:spPr bwMode="auto">
          <a:xfrm>
            <a:off x="3357554" y="4357694"/>
            <a:ext cx="2376487" cy="0"/>
          </a:xfrm>
          <a:prstGeom prst="line">
            <a:avLst/>
          </a:prstGeom>
          <a:noFill/>
          <a:ln w="12700">
            <a:solidFill>
              <a:schemeClr val="tx1"/>
            </a:solidFill>
            <a:round/>
            <a:headEnd/>
            <a:tailEnd/>
          </a:ln>
        </p:spPr>
        <p:txBody>
          <a:bodyPr/>
          <a:lstStyle/>
          <a:p>
            <a:endParaRPr lang="fr-FR"/>
          </a:p>
        </p:txBody>
      </p:sp>
      <p:sp>
        <p:nvSpPr>
          <p:cNvPr id="20491" name="Line 15"/>
          <p:cNvSpPr>
            <a:spLocks noChangeShapeType="1"/>
          </p:cNvSpPr>
          <p:nvPr/>
        </p:nvSpPr>
        <p:spPr bwMode="auto">
          <a:xfrm>
            <a:off x="3357554" y="4786322"/>
            <a:ext cx="2376487" cy="0"/>
          </a:xfrm>
          <a:prstGeom prst="line">
            <a:avLst/>
          </a:prstGeom>
          <a:noFill/>
          <a:ln w="28575" cap="sq">
            <a:solidFill>
              <a:schemeClr val="tx1"/>
            </a:solidFill>
            <a:round/>
            <a:headEnd/>
            <a:tailEnd/>
          </a:ln>
        </p:spPr>
        <p:txBody>
          <a:bodyPr/>
          <a:lstStyle/>
          <a:p>
            <a:endParaRPr lang="fr-FR"/>
          </a:p>
        </p:txBody>
      </p:sp>
      <p:sp>
        <p:nvSpPr>
          <p:cNvPr id="20493" name="Line 17"/>
          <p:cNvSpPr>
            <a:spLocks noChangeShapeType="1"/>
          </p:cNvSpPr>
          <p:nvPr/>
        </p:nvSpPr>
        <p:spPr bwMode="auto">
          <a:xfrm>
            <a:off x="5724525" y="3056112"/>
            <a:ext cx="0" cy="1728000"/>
          </a:xfrm>
          <a:prstGeom prst="line">
            <a:avLst/>
          </a:prstGeom>
          <a:noFill/>
          <a:ln w="28575" cap="sq">
            <a:solidFill>
              <a:schemeClr val="tx1"/>
            </a:solidFill>
            <a:round/>
            <a:headEnd/>
            <a:tailEnd/>
          </a:ln>
        </p:spPr>
        <p:txBody>
          <a:bodyPr/>
          <a:lstStyle/>
          <a:p>
            <a:endParaRPr lang="fr-FR"/>
          </a:p>
        </p:txBody>
      </p:sp>
      <p:sp>
        <p:nvSpPr>
          <p:cNvPr id="20494" name="Line 23"/>
          <p:cNvSpPr>
            <a:spLocks noChangeShapeType="1"/>
          </p:cNvSpPr>
          <p:nvPr/>
        </p:nvSpPr>
        <p:spPr bwMode="auto">
          <a:xfrm>
            <a:off x="3929058" y="4357694"/>
            <a:ext cx="0" cy="406400"/>
          </a:xfrm>
          <a:prstGeom prst="line">
            <a:avLst/>
          </a:prstGeom>
          <a:noFill/>
          <a:ln w="9525">
            <a:solidFill>
              <a:schemeClr val="tx1"/>
            </a:solidFill>
            <a:round/>
            <a:headEnd/>
            <a:tailEnd/>
          </a:ln>
        </p:spPr>
        <p:txBody>
          <a:bodyPr/>
          <a:lstStyle/>
          <a:p>
            <a:endParaRPr lang="fr-FR"/>
          </a:p>
        </p:txBody>
      </p:sp>
      <p:sp>
        <p:nvSpPr>
          <p:cNvPr id="20495" name="Line 34"/>
          <p:cNvSpPr>
            <a:spLocks noChangeShapeType="1"/>
          </p:cNvSpPr>
          <p:nvPr/>
        </p:nvSpPr>
        <p:spPr bwMode="auto">
          <a:xfrm>
            <a:off x="5214942" y="4357694"/>
            <a:ext cx="0" cy="373062"/>
          </a:xfrm>
          <a:prstGeom prst="line">
            <a:avLst/>
          </a:prstGeom>
          <a:noFill/>
          <a:ln w="9525">
            <a:solidFill>
              <a:schemeClr val="tx1"/>
            </a:solidFill>
            <a:round/>
            <a:headEnd/>
            <a:tailEnd/>
          </a:ln>
        </p:spPr>
        <p:txBody>
          <a:bodyPr/>
          <a:lstStyle/>
          <a:p>
            <a:endParaRPr lang="fr-FR"/>
          </a:p>
        </p:txBody>
      </p:sp>
      <p:sp>
        <p:nvSpPr>
          <p:cNvPr id="20496" name="Oval 36"/>
          <p:cNvSpPr>
            <a:spLocks noChangeArrowheads="1"/>
          </p:cNvSpPr>
          <p:nvPr/>
        </p:nvSpPr>
        <p:spPr bwMode="auto">
          <a:xfrm>
            <a:off x="1928794" y="5572140"/>
            <a:ext cx="1643074" cy="1125560"/>
          </a:xfrm>
          <a:prstGeom prst="ellipse">
            <a:avLst/>
          </a:prstGeom>
          <a:noFill/>
          <a:ln w="9525">
            <a:solidFill>
              <a:schemeClr val="tx1"/>
            </a:solidFill>
            <a:round/>
            <a:headEnd/>
            <a:tailEnd/>
          </a:ln>
        </p:spPr>
        <p:txBody>
          <a:bodyPr wrap="none" anchor="ctr"/>
          <a:lstStyle/>
          <a:p>
            <a:pPr algn="ctr"/>
            <a:r>
              <a:rPr lang="fr-FR" b="1" dirty="0" smtClean="0">
                <a:solidFill>
                  <a:srgbClr val="C00000"/>
                </a:solidFill>
              </a:rPr>
              <a:t>Évènement</a:t>
            </a:r>
          </a:p>
          <a:p>
            <a:pPr algn="ctr"/>
            <a:r>
              <a:rPr lang="fr-FR" b="1" dirty="0" smtClean="0">
                <a:solidFill>
                  <a:srgbClr val="C00000"/>
                </a:solidFill>
              </a:rPr>
              <a:t>Résultat</a:t>
            </a:r>
          </a:p>
        </p:txBody>
      </p:sp>
      <p:sp>
        <p:nvSpPr>
          <p:cNvPr id="20497" name="Oval 37"/>
          <p:cNvSpPr>
            <a:spLocks noChangeArrowheads="1"/>
          </p:cNvSpPr>
          <p:nvPr/>
        </p:nvSpPr>
        <p:spPr bwMode="auto">
          <a:xfrm>
            <a:off x="5722938" y="5445124"/>
            <a:ext cx="1420830" cy="1198585"/>
          </a:xfrm>
          <a:prstGeom prst="ellipse">
            <a:avLst/>
          </a:prstGeom>
          <a:noFill/>
          <a:ln w="9525">
            <a:solidFill>
              <a:schemeClr val="tx1"/>
            </a:solidFill>
            <a:round/>
            <a:headEnd/>
            <a:tailEnd/>
          </a:ln>
        </p:spPr>
        <p:txBody>
          <a:bodyPr wrap="none" anchor="ctr"/>
          <a:lstStyle/>
          <a:p>
            <a:pPr algn="ctr"/>
            <a:r>
              <a:rPr lang="fr-FR" b="1" dirty="0" smtClean="0">
                <a:solidFill>
                  <a:srgbClr val="C00000"/>
                </a:solidFill>
              </a:rPr>
              <a:t>Évènement</a:t>
            </a:r>
          </a:p>
          <a:p>
            <a:pPr algn="ctr"/>
            <a:r>
              <a:rPr lang="fr-FR" b="1" dirty="0" smtClean="0">
                <a:solidFill>
                  <a:srgbClr val="C00000"/>
                </a:solidFill>
              </a:rPr>
              <a:t>Résultat</a:t>
            </a:r>
          </a:p>
        </p:txBody>
      </p:sp>
      <p:sp>
        <p:nvSpPr>
          <p:cNvPr id="20498" name="AutoShape 38"/>
          <p:cNvSpPr>
            <a:spLocks noChangeArrowheads="1"/>
          </p:cNvSpPr>
          <p:nvPr/>
        </p:nvSpPr>
        <p:spPr bwMode="auto">
          <a:xfrm>
            <a:off x="3911600" y="2459038"/>
            <a:ext cx="1152525" cy="609600"/>
          </a:xfrm>
          <a:prstGeom prst="flowChartOffpageConnector">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endParaRPr lang="fr-FR" b="1" dirty="0">
              <a:ln w="57150">
                <a:solidFill>
                  <a:schemeClr val="tx1"/>
                </a:solidFill>
              </a:ln>
              <a:solidFill>
                <a:schemeClr val="tx2">
                  <a:lumMod val="60000"/>
                  <a:lumOff val="40000"/>
                </a:schemeClr>
              </a:solidFill>
            </a:endParaRPr>
          </a:p>
        </p:txBody>
      </p:sp>
      <p:sp>
        <p:nvSpPr>
          <p:cNvPr id="20499" name="Oval 39"/>
          <p:cNvSpPr>
            <a:spLocks noChangeArrowheads="1"/>
          </p:cNvSpPr>
          <p:nvPr/>
        </p:nvSpPr>
        <p:spPr bwMode="auto">
          <a:xfrm>
            <a:off x="5643570" y="1071546"/>
            <a:ext cx="1439863" cy="1160456"/>
          </a:xfrm>
          <a:prstGeom prst="ellipse">
            <a:avLst/>
          </a:prstGeom>
          <a:noFill/>
          <a:ln w="9525">
            <a:solidFill>
              <a:schemeClr val="tx1"/>
            </a:solidFill>
            <a:round/>
            <a:headEnd/>
            <a:tailEnd/>
          </a:ln>
        </p:spPr>
        <p:txBody>
          <a:bodyPr wrap="none" anchor="ctr"/>
          <a:lstStyle/>
          <a:p>
            <a:pPr algn="ctr"/>
            <a:r>
              <a:rPr lang="fr-FR" sz="1600" b="1" dirty="0" smtClean="0">
                <a:solidFill>
                  <a:srgbClr val="C00000"/>
                </a:solidFill>
              </a:rPr>
              <a:t> Évènement B</a:t>
            </a:r>
            <a:endParaRPr lang="fr-FR" sz="1600" b="1" dirty="0">
              <a:solidFill>
                <a:srgbClr val="C00000"/>
              </a:solidFill>
            </a:endParaRPr>
          </a:p>
        </p:txBody>
      </p:sp>
      <p:cxnSp>
        <p:nvCxnSpPr>
          <p:cNvPr id="20500" name="AutoShape 40"/>
          <p:cNvCxnSpPr>
            <a:cxnSpLocks noChangeShapeType="1"/>
          </p:cNvCxnSpPr>
          <p:nvPr/>
        </p:nvCxnSpPr>
        <p:spPr bwMode="auto">
          <a:xfrm>
            <a:off x="3357554" y="1785926"/>
            <a:ext cx="1139825" cy="685800"/>
          </a:xfrm>
          <a:prstGeom prst="straightConnector1">
            <a:avLst/>
          </a:prstGeom>
          <a:noFill/>
          <a:ln w="9525">
            <a:solidFill>
              <a:schemeClr val="tx1"/>
            </a:solidFill>
            <a:round/>
            <a:headEnd/>
            <a:tailEnd type="triangle" w="med" len="med"/>
          </a:ln>
        </p:spPr>
      </p:cxnSp>
      <p:cxnSp>
        <p:nvCxnSpPr>
          <p:cNvPr id="20501" name="AutoShape 41"/>
          <p:cNvCxnSpPr>
            <a:cxnSpLocks noChangeShapeType="1"/>
            <a:stCxn id="20499" idx="2"/>
            <a:endCxn id="20498" idx="0"/>
          </p:cNvCxnSpPr>
          <p:nvPr/>
        </p:nvCxnSpPr>
        <p:spPr bwMode="auto">
          <a:xfrm rot="10800000" flipV="1">
            <a:off x="4487864" y="1651774"/>
            <a:ext cx="1155707" cy="807264"/>
          </a:xfrm>
          <a:prstGeom prst="straightConnector1">
            <a:avLst/>
          </a:prstGeom>
          <a:noFill/>
          <a:ln w="9525">
            <a:solidFill>
              <a:schemeClr val="tx1"/>
            </a:solidFill>
            <a:round/>
            <a:headEnd/>
            <a:tailEnd type="triangle" w="med" len="med"/>
          </a:ln>
        </p:spPr>
      </p:cxnSp>
      <p:cxnSp>
        <p:nvCxnSpPr>
          <p:cNvPr id="20502" name="AutoShape 42"/>
          <p:cNvCxnSpPr>
            <a:cxnSpLocks noChangeShapeType="1"/>
            <a:endCxn id="20496" idx="0"/>
          </p:cNvCxnSpPr>
          <p:nvPr/>
        </p:nvCxnSpPr>
        <p:spPr bwMode="auto">
          <a:xfrm rot="10800000" flipV="1">
            <a:off x="2750332" y="4786322"/>
            <a:ext cx="892975" cy="785818"/>
          </a:xfrm>
          <a:prstGeom prst="straightConnector1">
            <a:avLst/>
          </a:prstGeom>
          <a:noFill/>
          <a:ln w="9525">
            <a:solidFill>
              <a:schemeClr val="tx1"/>
            </a:solidFill>
            <a:round/>
            <a:headEnd/>
            <a:tailEnd type="triangle" w="med" len="med"/>
          </a:ln>
        </p:spPr>
      </p:cxnSp>
      <p:cxnSp>
        <p:nvCxnSpPr>
          <p:cNvPr id="20503" name="AutoShape 43"/>
          <p:cNvCxnSpPr>
            <a:cxnSpLocks noChangeShapeType="1"/>
            <a:endCxn id="20497" idx="0"/>
          </p:cNvCxnSpPr>
          <p:nvPr/>
        </p:nvCxnSpPr>
        <p:spPr bwMode="auto">
          <a:xfrm>
            <a:off x="5429256" y="4786322"/>
            <a:ext cx="1004097" cy="658802"/>
          </a:xfrm>
          <a:prstGeom prst="straightConnector1">
            <a:avLst/>
          </a:prstGeom>
          <a:noFill/>
          <a:ln w="9525">
            <a:solidFill>
              <a:schemeClr val="tx1"/>
            </a:solidFill>
            <a:round/>
            <a:headEnd/>
            <a:tailEnd type="triangle" w="med" len="med"/>
          </a:ln>
        </p:spPr>
      </p:cxnSp>
      <p:sp>
        <p:nvSpPr>
          <p:cNvPr id="20507" name="Text Box 49"/>
          <p:cNvSpPr txBox="1">
            <a:spLocks noChangeArrowheads="1"/>
          </p:cNvSpPr>
          <p:nvPr/>
        </p:nvSpPr>
        <p:spPr bwMode="auto">
          <a:xfrm>
            <a:off x="6237288" y="2492375"/>
            <a:ext cx="2655887" cy="58102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lgn="ctr"/>
            <a:r>
              <a:rPr lang="fr-FR" sz="1600" b="1" dirty="0">
                <a:solidFill>
                  <a:srgbClr val="00B050"/>
                </a:solidFill>
              </a:rPr>
              <a:t>Expression logique de la </a:t>
            </a:r>
            <a:r>
              <a:rPr lang="fr-FR" sz="1600" b="1" dirty="0" smtClean="0">
                <a:solidFill>
                  <a:srgbClr val="00B050"/>
                </a:solidFill>
              </a:rPr>
              <a:t>synchronisation</a:t>
            </a:r>
            <a:endParaRPr lang="fr-FR" sz="1600" b="1" dirty="0">
              <a:solidFill>
                <a:srgbClr val="00B050"/>
              </a:solidFill>
            </a:endParaRPr>
          </a:p>
        </p:txBody>
      </p:sp>
      <p:sp>
        <p:nvSpPr>
          <p:cNvPr id="20508" name="Line 50"/>
          <p:cNvSpPr>
            <a:spLocks noChangeShapeType="1"/>
          </p:cNvSpPr>
          <p:nvPr/>
        </p:nvSpPr>
        <p:spPr bwMode="auto">
          <a:xfrm flipH="1">
            <a:off x="4572000" y="2781300"/>
            <a:ext cx="1655763" cy="0"/>
          </a:xfrm>
          <a:prstGeom prst="line">
            <a:avLst/>
          </a:prstGeom>
          <a:noFill/>
          <a:ln w="9525">
            <a:solidFill>
              <a:schemeClr val="tx1"/>
            </a:solidFill>
            <a:round/>
            <a:headEnd/>
            <a:tailEnd type="triangle" w="med" len="med"/>
          </a:ln>
        </p:spPr>
        <p:txBody>
          <a:bodyPr/>
          <a:lstStyle/>
          <a:p>
            <a:endParaRPr lang="fr-FR"/>
          </a:p>
        </p:txBody>
      </p:sp>
      <p:sp>
        <p:nvSpPr>
          <p:cNvPr id="20509" name="Text Box 51"/>
          <p:cNvSpPr txBox="1">
            <a:spLocks noChangeArrowheads="1"/>
          </p:cNvSpPr>
          <p:nvPr/>
        </p:nvSpPr>
        <p:spPr bwMode="auto">
          <a:xfrm>
            <a:off x="6488113" y="3643314"/>
            <a:ext cx="2441605" cy="58477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fr-FR" sz="1600" b="1" dirty="0" smtClean="0">
                <a:solidFill>
                  <a:srgbClr val="00B050"/>
                </a:solidFill>
              </a:rPr>
              <a:t>Conditions (règles) d’émission</a:t>
            </a:r>
            <a:endParaRPr lang="fr-FR" sz="1600" b="1" dirty="0">
              <a:solidFill>
                <a:srgbClr val="00B050"/>
              </a:solidFill>
            </a:endParaRPr>
          </a:p>
        </p:txBody>
      </p:sp>
      <p:sp>
        <p:nvSpPr>
          <p:cNvPr id="20510" name="Line 54"/>
          <p:cNvSpPr>
            <a:spLocks noChangeShapeType="1"/>
          </p:cNvSpPr>
          <p:nvPr/>
        </p:nvSpPr>
        <p:spPr bwMode="auto">
          <a:xfrm flipH="1">
            <a:off x="5580063" y="3860800"/>
            <a:ext cx="936625" cy="792163"/>
          </a:xfrm>
          <a:prstGeom prst="line">
            <a:avLst/>
          </a:prstGeom>
          <a:noFill/>
          <a:ln w="9525">
            <a:solidFill>
              <a:schemeClr val="tx1"/>
            </a:solidFill>
            <a:round/>
            <a:headEnd/>
            <a:tailEnd type="triangle" w="med" len="med"/>
          </a:ln>
        </p:spPr>
        <p:txBody>
          <a:bodyPr/>
          <a:lstStyle/>
          <a:p>
            <a:endParaRPr lang="fr-FR"/>
          </a:p>
        </p:txBody>
      </p:sp>
      <p:sp>
        <p:nvSpPr>
          <p:cNvPr id="43" name="Accolade fermante 42"/>
          <p:cNvSpPr/>
          <p:nvPr/>
        </p:nvSpPr>
        <p:spPr>
          <a:xfrm>
            <a:off x="7143768" y="1071546"/>
            <a:ext cx="214314" cy="12858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44" name="Text Box 51"/>
          <p:cNvSpPr txBox="1">
            <a:spLocks noChangeArrowheads="1"/>
          </p:cNvSpPr>
          <p:nvPr/>
        </p:nvSpPr>
        <p:spPr bwMode="auto">
          <a:xfrm>
            <a:off x="7358049" y="1363362"/>
            <a:ext cx="1785951" cy="58477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fr-FR" sz="1600" b="1" dirty="0" smtClean="0">
                <a:solidFill>
                  <a:srgbClr val="00B050"/>
                </a:solidFill>
              </a:rPr>
              <a:t>Evénement déclencheurs</a:t>
            </a:r>
            <a:endParaRPr lang="fr-FR" sz="1600" b="1" dirty="0">
              <a:solidFill>
                <a:srgbClr val="00B050"/>
              </a:solidFill>
            </a:endParaRPr>
          </a:p>
        </p:txBody>
      </p:sp>
      <p:sp>
        <p:nvSpPr>
          <p:cNvPr id="49" name="Accolade fermante 48"/>
          <p:cNvSpPr/>
          <p:nvPr/>
        </p:nvSpPr>
        <p:spPr>
          <a:xfrm>
            <a:off x="7070700" y="5507838"/>
            <a:ext cx="214314" cy="12858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50" name="Text Box 51"/>
          <p:cNvSpPr txBox="1">
            <a:spLocks noChangeArrowheads="1"/>
          </p:cNvSpPr>
          <p:nvPr/>
        </p:nvSpPr>
        <p:spPr bwMode="auto">
          <a:xfrm>
            <a:off x="7284981" y="5799654"/>
            <a:ext cx="1785951" cy="33855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fr-FR" sz="1600" b="1" dirty="0" smtClean="0">
                <a:solidFill>
                  <a:srgbClr val="00B050"/>
                </a:solidFill>
              </a:rPr>
              <a:t>Résultats</a:t>
            </a:r>
            <a:endParaRPr lang="fr-FR" sz="1600" b="1" dirty="0">
              <a:solidFill>
                <a:srgbClr val="00B050"/>
              </a:solidFill>
            </a:endParaRPr>
          </a:p>
        </p:txBody>
      </p:sp>
      <p:sp>
        <p:nvSpPr>
          <p:cNvPr id="52" name="Line 17"/>
          <p:cNvSpPr>
            <a:spLocks noChangeShapeType="1"/>
          </p:cNvSpPr>
          <p:nvPr/>
        </p:nvSpPr>
        <p:spPr bwMode="auto">
          <a:xfrm>
            <a:off x="3357554" y="3059284"/>
            <a:ext cx="0" cy="1728000"/>
          </a:xfrm>
          <a:prstGeom prst="line">
            <a:avLst/>
          </a:prstGeom>
          <a:noFill/>
          <a:ln w="28575" cap="sq">
            <a:solidFill>
              <a:schemeClr val="tx1"/>
            </a:solidFill>
            <a:round/>
            <a:headEnd/>
            <a:tailEnd/>
          </a:ln>
        </p:spPr>
        <p:txBody>
          <a:bodyPr/>
          <a:lstStyle/>
          <a:p>
            <a:endParaRPr lang="fr-F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57290" y="-142900"/>
            <a:ext cx="7499350" cy="857256"/>
          </a:xfrm>
        </p:spPr>
        <p:txBody>
          <a:bodyPr/>
          <a:lstStyle/>
          <a:p>
            <a:r>
              <a:rPr lang="fr-FR" dirty="0" smtClean="0"/>
              <a:t>Exemple : Gestion de l’avoir</a:t>
            </a:r>
            <a:endParaRPr lang="fr-FR" dirty="0"/>
          </a:p>
        </p:txBody>
      </p:sp>
      <p:sp>
        <p:nvSpPr>
          <p:cNvPr id="3" name="Espace réservé du contenu 2"/>
          <p:cNvSpPr>
            <a:spLocks noGrp="1"/>
          </p:cNvSpPr>
          <p:nvPr>
            <p:ph idx="1"/>
          </p:nvPr>
        </p:nvSpPr>
        <p:spPr>
          <a:xfrm>
            <a:off x="714316" y="614148"/>
            <a:ext cx="8429684" cy="2000264"/>
          </a:xfrm>
        </p:spPr>
        <p:txBody>
          <a:bodyPr/>
          <a:lstStyle/>
          <a:p>
            <a:pPr>
              <a:buNone/>
            </a:pPr>
            <a:r>
              <a:rPr lang="fr-FR" sz="2800" dirty="0" smtClean="0"/>
              <a:t>  Un client non satisfait peut retourner un article. On lui </a:t>
            </a:r>
            <a:r>
              <a:rPr lang="fr-FR" sz="2800" dirty="0" smtClean="0"/>
              <a:t>fait </a:t>
            </a:r>
            <a:r>
              <a:rPr lang="fr-FR" sz="2800" dirty="0" smtClean="0"/>
              <a:t>un avoir. Il peut alors le présenter en caisse pour être remboursé de son achat. Il peut encore remplacer l’article défectueux par un autre, </a:t>
            </a:r>
            <a:r>
              <a:rPr lang="fr-FR" sz="2800" dirty="0" smtClean="0"/>
              <a:t>dans ce </a:t>
            </a:r>
            <a:r>
              <a:rPr lang="fr-FR" sz="2800" dirty="0" smtClean="0"/>
              <a:t>cas on annule l’avoir.</a:t>
            </a:r>
            <a:endParaRPr lang="fr-FR" sz="2800" dirty="0"/>
          </a:p>
        </p:txBody>
      </p:sp>
      <p:sp>
        <p:nvSpPr>
          <p:cNvPr id="4" name="Espace réservé du numéro de diapositive 3"/>
          <p:cNvSpPr>
            <a:spLocks noGrp="1"/>
          </p:cNvSpPr>
          <p:nvPr>
            <p:ph type="sldNum" sz="quarter" idx="12"/>
          </p:nvPr>
        </p:nvSpPr>
        <p:spPr/>
        <p:txBody>
          <a:bodyPr/>
          <a:lstStyle/>
          <a:p>
            <a:pPr>
              <a:defRPr/>
            </a:pPr>
            <a:fld id="{E20FA2B6-427A-4E56-A7DF-A5BA83386620}" type="slidenum">
              <a:rPr lang="fr-FR" smtClean="0"/>
              <a:pPr>
                <a:defRPr/>
              </a:pPr>
              <a:t>14</a:t>
            </a:fld>
            <a:endParaRPr lang="fr-FR"/>
          </a:p>
        </p:txBody>
      </p:sp>
      <p:pic>
        <p:nvPicPr>
          <p:cNvPr id="36866" name="Picture 2"/>
          <p:cNvPicPr>
            <a:picLocks noChangeAspect="1" noChangeArrowheads="1"/>
          </p:cNvPicPr>
          <p:nvPr/>
        </p:nvPicPr>
        <p:blipFill>
          <a:blip r:embed="rId2"/>
          <a:srcRect/>
          <a:stretch>
            <a:fillRect/>
          </a:stretch>
        </p:blipFill>
        <p:spPr bwMode="auto">
          <a:xfrm>
            <a:off x="2214546" y="2743200"/>
            <a:ext cx="4924425" cy="41148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Méthode d’élaboration du MCT </a:t>
            </a:r>
            <a:endParaRPr lang="fr-FR" dirty="0"/>
          </a:p>
        </p:txBody>
      </p:sp>
      <p:sp>
        <p:nvSpPr>
          <p:cNvPr id="4" name="Espace réservé du numéro de diapositive 3"/>
          <p:cNvSpPr>
            <a:spLocks noGrp="1"/>
          </p:cNvSpPr>
          <p:nvPr>
            <p:ph type="sldNum" sz="quarter" idx="12"/>
          </p:nvPr>
        </p:nvSpPr>
        <p:spPr/>
        <p:txBody>
          <a:bodyPr/>
          <a:lstStyle/>
          <a:p>
            <a:pPr>
              <a:defRPr/>
            </a:pPr>
            <a:fld id="{E20FA2B6-427A-4E56-A7DF-A5BA83386620}" type="slidenum">
              <a:rPr lang="fr-FR" smtClean="0"/>
              <a:pPr>
                <a:defRPr/>
              </a:pPr>
              <a:t>15</a:t>
            </a:fld>
            <a:endParaRPr lang="fr-FR"/>
          </a:p>
        </p:txBody>
      </p:sp>
      <p:sp>
        <p:nvSpPr>
          <p:cNvPr id="5" name="ZoneTexte 4"/>
          <p:cNvSpPr txBox="1"/>
          <p:nvPr/>
        </p:nvSpPr>
        <p:spPr>
          <a:xfrm>
            <a:off x="1214414" y="1428736"/>
            <a:ext cx="7715272" cy="5088573"/>
          </a:xfrm>
          <a:prstGeom prst="rect">
            <a:avLst/>
          </a:prstGeom>
          <a:noFill/>
        </p:spPr>
        <p:txBody>
          <a:bodyPr wrap="square" rtlCol="0">
            <a:spAutoFit/>
          </a:bodyPr>
          <a:lstStyle/>
          <a:p>
            <a:pPr>
              <a:spcBef>
                <a:spcPts val="200"/>
              </a:spcBef>
              <a:spcAft>
                <a:spcPts val="200"/>
              </a:spcAft>
              <a:buFont typeface="Courier New" pitchFamily="49" charset="0"/>
              <a:buChar char="o"/>
            </a:pPr>
            <a:r>
              <a:rPr lang="fr-FR" sz="2400" dirty="0" smtClean="0">
                <a:latin typeface="Century Schoolbook" pitchFamily="18" charset="0"/>
              </a:rPr>
              <a:t> </a:t>
            </a:r>
            <a:r>
              <a:rPr lang="fr-FR" sz="2400" dirty="0" smtClean="0">
                <a:solidFill>
                  <a:srgbClr val="C00000"/>
                </a:solidFill>
                <a:latin typeface="Century Schoolbook" pitchFamily="18" charset="0"/>
              </a:rPr>
              <a:t>Définition</a:t>
            </a:r>
            <a:r>
              <a:rPr lang="fr-FR" sz="2400" dirty="0" smtClean="0">
                <a:latin typeface="Century Schoolbook" pitchFamily="18" charset="0"/>
              </a:rPr>
              <a:t> du domaine d’étude, </a:t>
            </a:r>
          </a:p>
          <a:p>
            <a:pPr>
              <a:spcBef>
                <a:spcPts val="200"/>
              </a:spcBef>
              <a:spcAft>
                <a:spcPts val="200"/>
              </a:spcAft>
              <a:buFont typeface="Courier New" pitchFamily="49" charset="0"/>
              <a:buChar char="o"/>
            </a:pPr>
            <a:r>
              <a:rPr lang="fr-FR" sz="2400" dirty="0" smtClean="0">
                <a:latin typeface="Century Schoolbook" pitchFamily="18" charset="0"/>
              </a:rPr>
              <a:t> </a:t>
            </a:r>
            <a:r>
              <a:rPr lang="fr-FR" sz="2400" dirty="0" smtClean="0">
                <a:solidFill>
                  <a:srgbClr val="C00000"/>
                </a:solidFill>
                <a:latin typeface="Century Schoolbook" pitchFamily="18" charset="0"/>
              </a:rPr>
              <a:t>Définition</a:t>
            </a:r>
            <a:r>
              <a:rPr lang="fr-FR" sz="2400" dirty="0" smtClean="0">
                <a:latin typeface="Century Schoolbook" pitchFamily="18" charset="0"/>
              </a:rPr>
              <a:t> des flux, </a:t>
            </a:r>
          </a:p>
          <a:p>
            <a:pPr>
              <a:spcBef>
                <a:spcPts val="200"/>
              </a:spcBef>
              <a:spcAft>
                <a:spcPts val="200"/>
              </a:spcAft>
              <a:buFont typeface="Courier New" pitchFamily="49" charset="0"/>
              <a:buChar char="o"/>
            </a:pPr>
            <a:r>
              <a:rPr lang="fr-FR" sz="2400" dirty="0" smtClean="0">
                <a:latin typeface="Century Schoolbook" pitchFamily="18" charset="0"/>
              </a:rPr>
              <a:t> </a:t>
            </a:r>
            <a:r>
              <a:rPr lang="fr-FR" sz="2400" dirty="0" smtClean="0">
                <a:solidFill>
                  <a:srgbClr val="C00000"/>
                </a:solidFill>
                <a:latin typeface="Century Schoolbook" pitchFamily="18" charset="0"/>
              </a:rPr>
              <a:t>Identification</a:t>
            </a:r>
            <a:r>
              <a:rPr lang="fr-FR" sz="2400" dirty="0" smtClean="0">
                <a:latin typeface="Century Schoolbook" pitchFamily="18" charset="0"/>
              </a:rPr>
              <a:t> des acteurs (internes et </a:t>
            </a:r>
          </a:p>
          <a:p>
            <a:pPr>
              <a:spcBef>
                <a:spcPts val="200"/>
              </a:spcBef>
              <a:spcAft>
                <a:spcPts val="200"/>
              </a:spcAft>
            </a:pPr>
            <a:r>
              <a:rPr lang="fr-FR" sz="2400" dirty="0" smtClean="0">
                <a:latin typeface="Century Schoolbook" pitchFamily="18" charset="0"/>
              </a:rPr>
              <a:t>     externe relatifs au domaine) </a:t>
            </a:r>
          </a:p>
          <a:p>
            <a:pPr>
              <a:spcBef>
                <a:spcPts val="200"/>
              </a:spcBef>
              <a:spcAft>
                <a:spcPts val="200"/>
              </a:spcAft>
              <a:buFont typeface="Courier New" pitchFamily="49" charset="0"/>
              <a:buChar char="o"/>
            </a:pPr>
            <a:r>
              <a:rPr lang="fr-FR" sz="2400" dirty="0" smtClean="0">
                <a:latin typeface="Century Schoolbook" pitchFamily="18" charset="0"/>
              </a:rPr>
              <a:t> </a:t>
            </a:r>
            <a:r>
              <a:rPr lang="fr-FR" sz="2400" dirty="0" smtClean="0">
                <a:solidFill>
                  <a:srgbClr val="C00000"/>
                </a:solidFill>
                <a:latin typeface="Century Schoolbook" pitchFamily="18" charset="0"/>
              </a:rPr>
              <a:t>Identification</a:t>
            </a:r>
            <a:r>
              <a:rPr lang="fr-FR" sz="2400" dirty="0" smtClean="0">
                <a:latin typeface="Century Schoolbook" pitchFamily="18" charset="0"/>
              </a:rPr>
              <a:t> des échanges d’informations   </a:t>
            </a:r>
          </a:p>
          <a:p>
            <a:pPr>
              <a:spcBef>
                <a:spcPts val="200"/>
              </a:spcBef>
              <a:spcAft>
                <a:spcPts val="200"/>
              </a:spcAft>
            </a:pPr>
            <a:r>
              <a:rPr lang="fr-FR" sz="2400" dirty="0" smtClean="0">
                <a:latin typeface="Century Schoolbook" pitchFamily="18" charset="0"/>
              </a:rPr>
              <a:t>     entre les acteurs</a:t>
            </a:r>
          </a:p>
          <a:p>
            <a:pPr>
              <a:spcBef>
                <a:spcPts val="200"/>
              </a:spcBef>
              <a:spcAft>
                <a:spcPts val="200"/>
              </a:spcAft>
              <a:buFont typeface="Courier New" pitchFamily="49" charset="0"/>
              <a:buChar char="o"/>
            </a:pPr>
            <a:r>
              <a:rPr lang="fr-FR" sz="2400" dirty="0" smtClean="0">
                <a:latin typeface="Century Schoolbook" pitchFamily="18" charset="0"/>
              </a:rPr>
              <a:t> </a:t>
            </a:r>
            <a:r>
              <a:rPr lang="fr-FR" sz="2400" dirty="0" smtClean="0">
                <a:solidFill>
                  <a:srgbClr val="C00000"/>
                </a:solidFill>
                <a:latin typeface="Century Schoolbook" pitchFamily="18" charset="0"/>
              </a:rPr>
              <a:t>Regroupement</a:t>
            </a:r>
            <a:r>
              <a:rPr lang="fr-FR" sz="2400" dirty="0" smtClean="0">
                <a:latin typeface="Century Schoolbook" pitchFamily="18" charset="0"/>
              </a:rPr>
              <a:t> des flux (événements et </a:t>
            </a:r>
          </a:p>
          <a:p>
            <a:pPr>
              <a:spcBef>
                <a:spcPts val="200"/>
              </a:spcBef>
              <a:spcAft>
                <a:spcPts val="200"/>
              </a:spcAft>
            </a:pPr>
            <a:r>
              <a:rPr lang="fr-FR" sz="2400" dirty="0" smtClean="0">
                <a:latin typeface="Century Schoolbook" pitchFamily="18" charset="0"/>
              </a:rPr>
              <a:t>     résultats) </a:t>
            </a:r>
          </a:p>
          <a:p>
            <a:pPr>
              <a:spcBef>
                <a:spcPts val="200"/>
              </a:spcBef>
              <a:spcAft>
                <a:spcPts val="200"/>
              </a:spcAft>
              <a:buFont typeface="Courier New" pitchFamily="49" charset="0"/>
              <a:buChar char="o"/>
            </a:pPr>
            <a:r>
              <a:rPr lang="fr-FR" sz="2400" dirty="0" smtClean="0">
                <a:latin typeface="Century Schoolbook" pitchFamily="18" charset="0"/>
              </a:rPr>
              <a:t> </a:t>
            </a:r>
            <a:r>
              <a:rPr lang="fr-FR" sz="2400" dirty="0" smtClean="0">
                <a:solidFill>
                  <a:srgbClr val="C00000"/>
                </a:solidFill>
                <a:latin typeface="Century Schoolbook" pitchFamily="18" charset="0"/>
              </a:rPr>
              <a:t>Définition</a:t>
            </a:r>
            <a:r>
              <a:rPr lang="fr-FR" sz="2400" dirty="0" smtClean="0">
                <a:latin typeface="Century Schoolbook" pitchFamily="18" charset="0"/>
              </a:rPr>
              <a:t> des opérations (sans acteurs)</a:t>
            </a:r>
          </a:p>
          <a:p>
            <a:pPr>
              <a:spcBef>
                <a:spcPts val="200"/>
              </a:spcBef>
              <a:spcAft>
                <a:spcPts val="200"/>
              </a:spcAft>
              <a:buFont typeface="Courier New" pitchFamily="49" charset="0"/>
              <a:buChar char="o"/>
            </a:pPr>
            <a:r>
              <a:rPr lang="fr-FR" sz="2400" dirty="0" smtClean="0">
                <a:latin typeface="Century Schoolbook" pitchFamily="18" charset="0"/>
              </a:rPr>
              <a:t> </a:t>
            </a:r>
            <a:r>
              <a:rPr lang="fr-FR" sz="2400" dirty="0" smtClean="0">
                <a:solidFill>
                  <a:srgbClr val="C00000"/>
                </a:solidFill>
                <a:latin typeface="Century Schoolbook" pitchFamily="18" charset="0"/>
              </a:rPr>
              <a:t>Construction </a:t>
            </a:r>
            <a:r>
              <a:rPr lang="fr-FR" sz="2400" dirty="0" smtClean="0">
                <a:latin typeface="Century Schoolbook" pitchFamily="18" charset="0"/>
              </a:rPr>
              <a:t>du </a:t>
            </a:r>
            <a:r>
              <a:rPr lang="fr-FR" sz="2400" b="1" dirty="0" smtClean="0">
                <a:solidFill>
                  <a:srgbClr val="C00000"/>
                </a:solidFill>
                <a:latin typeface="Century Schoolbook" pitchFamily="18" charset="0"/>
              </a:rPr>
              <a:t>MCT</a:t>
            </a:r>
            <a:r>
              <a:rPr lang="fr-FR" sz="2400" dirty="0" smtClean="0">
                <a:latin typeface="Century Schoolbook" pitchFamily="18" charset="0"/>
              </a:rPr>
              <a:t> </a:t>
            </a:r>
          </a:p>
          <a:p>
            <a:pPr>
              <a:spcBef>
                <a:spcPts val="200"/>
              </a:spcBef>
              <a:spcAft>
                <a:spcPts val="200"/>
              </a:spcAft>
              <a:buFont typeface="Courier New" pitchFamily="49" charset="0"/>
              <a:buChar char="o"/>
            </a:pPr>
            <a:r>
              <a:rPr lang="fr-FR" sz="2400" dirty="0" smtClean="0">
                <a:latin typeface="Century Schoolbook" pitchFamily="18" charset="0"/>
              </a:rPr>
              <a:t> </a:t>
            </a:r>
            <a:r>
              <a:rPr lang="fr-FR" sz="2400" dirty="0" smtClean="0">
                <a:solidFill>
                  <a:srgbClr val="C00000"/>
                </a:solidFill>
                <a:latin typeface="Century Schoolbook" pitchFamily="18" charset="0"/>
              </a:rPr>
              <a:t>Contrôle</a:t>
            </a:r>
            <a:r>
              <a:rPr lang="fr-FR" sz="2400" dirty="0" smtClean="0">
                <a:latin typeface="Century Schoolbook" pitchFamily="18" charset="0"/>
              </a:rPr>
              <a:t> de chaque opération à partir des </a:t>
            </a:r>
          </a:p>
          <a:p>
            <a:pPr>
              <a:spcBef>
                <a:spcPts val="200"/>
              </a:spcBef>
              <a:spcAft>
                <a:spcPts val="200"/>
              </a:spcAft>
            </a:pPr>
            <a:r>
              <a:rPr lang="fr-FR" sz="2400" dirty="0" smtClean="0">
                <a:latin typeface="Century Schoolbook" pitchFamily="18" charset="0"/>
              </a:rPr>
              <a:t>     règles de gestion.</a:t>
            </a:r>
          </a:p>
        </p:txBody>
      </p:sp>
      <p:sp>
        <p:nvSpPr>
          <p:cNvPr id="6" name="Accolade fermante 5"/>
          <p:cNvSpPr/>
          <p:nvPr/>
        </p:nvSpPr>
        <p:spPr>
          <a:xfrm>
            <a:off x="7286644" y="1571612"/>
            <a:ext cx="857256" cy="25054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7" name="ZoneTexte 6"/>
          <p:cNvSpPr txBox="1"/>
          <p:nvPr/>
        </p:nvSpPr>
        <p:spPr>
          <a:xfrm>
            <a:off x="8215338" y="2928934"/>
            <a:ext cx="714380" cy="369332"/>
          </a:xfrm>
          <a:prstGeom prst="rect">
            <a:avLst/>
          </a:prstGeom>
          <a:noFill/>
        </p:spPr>
        <p:txBody>
          <a:bodyPr wrap="square" rtlCol="0">
            <a:spAutoFit/>
          </a:bodyPr>
          <a:lstStyle/>
          <a:p>
            <a:r>
              <a:rPr lang="fr-FR" b="1" dirty="0" smtClean="0">
                <a:solidFill>
                  <a:srgbClr val="00B050"/>
                </a:solidFill>
              </a:rPr>
              <a:t>MCC</a:t>
            </a:r>
            <a:endParaRPr lang="fr-FR" b="1" dirty="0">
              <a:solidFill>
                <a:srgbClr val="00B05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00034" y="0"/>
            <a:ext cx="8643966" cy="1143000"/>
          </a:xfrm>
        </p:spPr>
        <p:txBody>
          <a:bodyPr>
            <a:normAutofit fontScale="90000"/>
          </a:bodyPr>
          <a:lstStyle/>
          <a:p>
            <a:r>
              <a:rPr lang="fr-FR" dirty="0" smtClean="0"/>
              <a:t>Exemple1:  demande de promotion (1/2) </a:t>
            </a:r>
            <a:endParaRPr lang="fr-FR" dirty="0"/>
          </a:p>
        </p:txBody>
      </p:sp>
      <p:sp>
        <p:nvSpPr>
          <p:cNvPr id="4" name="Espace réservé du numéro de diapositive 3"/>
          <p:cNvSpPr>
            <a:spLocks noGrp="1"/>
          </p:cNvSpPr>
          <p:nvPr>
            <p:ph type="sldNum" sz="quarter" idx="12"/>
          </p:nvPr>
        </p:nvSpPr>
        <p:spPr/>
        <p:txBody>
          <a:bodyPr/>
          <a:lstStyle/>
          <a:p>
            <a:pPr>
              <a:defRPr/>
            </a:pPr>
            <a:fld id="{E20FA2B6-427A-4E56-A7DF-A5BA83386620}" type="slidenum">
              <a:rPr lang="fr-FR" smtClean="0"/>
              <a:pPr>
                <a:defRPr/>
              </a:pPr>
              <a:t>16</a:t>
            </a:fld>
            <a:endParaRPr lang="fr-FR"/>
          </a:p>
        </p:txBody>
      </p:sp>
      <p:sp>
        <p:nvSpPr>
          <p:cNvPr id="5" name="ZoneTexte 4"/>
          <p:cNvSpPr txBox="1"/>
          <p:nvPr/>
        </p:nvSpPr>
        <p:spPr>
          <a:xfrm>
            <a:off x="1214414" y="928670"/>
            <a:ext cx="7715272" cy="5078313"/>
          </a:xfrm>
          <a:prstGeom prst="rect">
            <a:avLst/>
          </a:prstGeom>
          <a:noFill/>
        </p:spPr>
        <p:txBody>
          <a:bodyPr wrap="square" rtlCol="0">
            <a:spAutoFit/>
          </a:bodyPr>
          <a:lstStyle/>
          <a:p>
            <a:r>
              <a:rPr lang="fr-FR" sz="2000" b="1" dirty="0" smtClean="0">
                <a:latin typeface="Century Schoolbook" pitchFamily="18" charset="0"/>
              </a:rPr>
              <a:t>A l’</a:t>
            </a:r>
            <a:r>
              <a:rPr lang="fr-FR" sz="2000" b="1" dirty="0" smtClean="0">
                <a:solidFill>
                  <a:srgbClr val="00B050"/>
                </a:solidFill>
                <a:latin typeface="Century Schoolbook" pitchFamily="18" charset="0"/>
              </a:rPr>
              <a:t>UCA</a:t>
            </a:r>
            <a:r>
              <a:rPr lang="fr-FR" sz="2000" b="1" dirty="0" smtClean="0">
                <a:latin typeface="Century Schoolbook" pitchFamily="18" charset="0"/>
              </a:rPr>
              <a:t>, les demandes de promotion des enseignants et administratifs sont traitées selon les règles de gestion suivantes : </a:t>
            </a:r>
          </a:p>
          <a:p>
            <a:endParaRPr lang="fr-FR" sz="2000" b="1" dirty="0" smtClean="0">
              <a:solidFill>
                <a:srgbClr val="C00000"/>
              </a:solidFill>
              <a:latin typeface="Century Schoolbook" pitchFamily="18" charset="0"/>
            </a:endParaRPr>
          </a:p>
          <a:p>
            <a:r>
              <a:rPr lang="fr-FR" sz="2000" b="1" dirty="0" smtClean="0">
                <a:solidFill>
                  <a:srgbClr val="C00000"/>
                </a:solidFill>
                <a:latin typeface="Century Schoolbook" pitchFamily="18" charset="0"/>
              </a:rPr>
              <a:t>Règle 1</a:t>
            </a:r>
            <a:r>
              <a:rPr lang="fr-FR" sz="2000" b="1" dirty="0" smtClean="0">
                <a:latin typeface="Century Schoolbook" pitchFamily="18" charset="0"/>
              </a:rPr>
              <a:t>: Toute demande de promotion doit subir un examen préalable permettant de déterminer si elle est recevable ou non. </a:t>
            </a:r>
          </a:p>
          <a:p>
            <a:endParaRPr lang="fr-FR" sz="2000" b="1" dirty="0" smtClean="0">
              <a:solidFill>
                <a:srgbClr val="C00000"/>
              </a:solidFill>
              <a:latin typeface="Century Schoolbook" pitchFamily="18" charset="0"/>
            </a:endParaRPr>
          </a:p>
          <a:p>
            <a:r>
              <a:rPr lang="fr-FR" sz="2000" b="1" dirty="0" smtClean="0">
                <a:solidFill>
                  <a:srgbClr val="C00000"/>
                </a:solidFill>
                <a:latin typeface="Century Schoolbook" pitchFamily="18" charset="0"/>
              </a:rPr>
              <a:t>Règle 2</a:t>
            </a:r>
            <a:r>
              <a:rPr lang="fr-FR" sz="2000" b="1" dirty="0" smtClean="0">
                <a:latin typeface="Century Schoolbook" pitchFamily="18" charset="0"/>
              </a:rPr>
              <a:t>: L’examen du dossier d’une demande recevable ne peut se faire sans un rapport du supérieur hiérarchique. </a:t>
            </a:r>
          </a:p>
          <a:p>
            <a:endParaRPr lang="fr-FR" sz="2000" b="1" dirty="0" smtClean="0">
              <a:solidFill>
                <a:srgbClr val="C00000"/>
              </a:solidFill>
              <a:latin typeface="Century Schoolbook" pitchFamily="18" charset="0"/>
            </a:endParaRPr>
          </a:p>
          <a:p>
            <a:r>
              <a:rPr lang="fr-FR" sz="2000" b="1" dirty="0" smtClean="0">
                <a:solidFill>
                  <a:srgbClr val="C00000"/>
                </a:solidFill>
                <a:latin typeface="Century Schoolbook" pitchFamily="18" charset="0"/>
              </a:rPr>
              <a:t>Règle 3</a:t>
            </a:r>
            <a:r>
              <a:rPr lang="fr-FR" sz="2000" b="1" dirty="0" smtClean="0">
                <a:latin typeface="Century Schoolbook" pitchFamily="18" charset="0"/>
              </a:rPr>
              <a:t>: Après examen du dossier par l’autorité compétente, la promotion sera accordée ou refusée.</a:t>
            </a:r>
          </a:p>
          <a:p>
            <a:endParaRPr lang="fr-FR" sz="2000" b="1" dirty="0" smtClean="0">
              <a:latin typeface="Century Schoolbook" pitchFamily="18" charset="0"/>
            </a:endParaRPr>
          </a:p>
          <a:p>
            <a:r>
              <a:rPr lang="fr-FR" sz="2400" b="1" dirty="0" smtClean="0">
                <a:solidFill>
                  <a:srgbClr val="C00000"/>
                </a:solidFill>
              </a:rPr>
              <a:t>Etablir le MCT correspondant</a:t>
            </a:r>
            <a:endParaRPr lang="fr-FR" sz="2400" b="1" dirty="0" smtClean="0">
              <a:solidFill>
                <a:srgbClr val="C00000"/>
              </a:solidFill>
              <a:latin typeface="Century Schoolbook"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741F5267-AF3C-48D0-B2DB-4C918B0BAE5A}" type="slidenum">
              <a:rPr lang="fr-FR" smtClean="0"/>
              <a:pPr>
                <a:defRPr/>
              </a:pPr>
              <a:t>17</a:t>
            </a:fld>
            <a:endParaRPr lang="fr-FR"/>
          </a:p>
        </p:txBody>
      </p:sp>
      <p:sp>
        <p:nvSpPr>
          <p:cNvPr id="4" name="Titre 1"/>
          <p:cNvSpPr txBox="1">
            <a:spLocks/>
          </p:cNvSpPr>
          <p:nvPr/>
        </p:nvSpPr>
        <p:spPr>
          <a:xfrm>
            <a:off x="857224" y="0"/>
            <a:ext cx="8286776" cy="1143000"/>
          </a:xfrm>
          <a:prstGeom prst="rect">
            <a:avLst/>
          </a:prstGeom>
        </p:spPr>
        <p:txBody>
          <a:bodyPr>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4300" b="0" i="0" u="none" strike="noStrike" kern="1200" cap="none" spc="0" normalizeH="0" baseline="0" noProof="0" dirty="0" smtClean="0">
                <a:ln>
                  <a:noFill/>
                </a:ln>
                <a:solidFill>
                  <a:srgbClr val="572314"/>
                </a:solidFill>
                <a:effectLst>
                  <a:outerShdw blurRad="50000" dist="30000" dir="5400000" algn="tl" rotWithShape="0">
                    <a:srgbClr val="000000">
                      <a:alpha val="30000"/>
                    </a:srgbClr>
                  </a:outerShdw>
                </a:effectLst>
                <a:uLnTx/>
                <a:uFillTx/>
                <a:latin typeface="+mj-lt"/>
                <a:ea typeface="+mj-ea"/>
                <a:cs typeface="+mj-cs"/>
              </a:rPr>
              <a:t>Exemple:1 demande de promotion (2/2) </a:t>
            </a:r>
            <a:endParaRPr kumimoji="0" lang="fr-FR" sz="4300" b="0"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endParaRPr>
          </a:p>
        </p:txBody>
      </p:sp>
      <p:pic>
        <p:nvPicPr>
          <p:cNvPr id="14338" name="Picture 2" descr="http://www.univ-constantine2.dz/CoursOnLine/Benelhadj-Mohamed/res/MCT-Exemple.jpg"/>
          <p:cNvPicPr>
            <a:picLocks noChangeAspect="1" noChangeArrowheads="1"/>
          </p:cNvPicPr>
          <p:nvPr/>
        </p:nvPicPr>
        <p:blipFill>
          <a:blip r:embed="rId2"/>
          <a:srcRect/>
          <a:stretch>
            <a:fillRect/>
          </a:stretch>
        </p:blipFill>
        <p:spPr bwMode="auto">
          <a:xfrm>
            <a:off x="1003818" y="764460"/>
            <a:ext cx="8171534" cy="5786478"/>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smtClean="0"/>
              <a:t> Exemple2.  Assistance commerciale</a:t>
            </a:r>
            <a:br>
              <a:rPr lang="fr-FR" dirty="0" smtClean="0"/>
            </a:b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18</a:t>
            </a:fld>
            <a:endParaRPr lang="fr-FR"/>
          </a:p>
        </p:txBody>
      </p:sp>
      <p:sp>
        <p:nvSpPr>
          <p:cNvPr id="6" name="ZoneTexte 5"/>
          <p:cNvSpPr txBox="1"/>
          <p:nvPr/>
        </p:nvSpPr>
        <p:spPr>
          <a:xfrm>
            <a:off x="1027293" y="1556792"/>
            <a:ext cx="8215370" cy="4401205"/>
          </a:xfrm>
          <a:prstGeom prst="rect">
            <a:avLst/>
          </a:prstGeom>
          <a:noFill/>
        </p:spPr>
        <p:txBody>
          <a:bodyPr wrap="square" rtlCol="0">
            <a:spAutoFit/>
          </a:bodyPr>
          <a:lstStyle/>
          <a:p>
            <a:r>
              <a:rPr lang="fr-FR" sz="2000" b="1" i="1" dirty="0" err="1">
                <a:solidFill>
                  <a:srgbClr val="C00000"/>
                </a:solidFill>
              </a:rPr>
              <a:t>M</a:t>
            </a:r>
            <a:r>
              <a:rPr lang="fr-FR" sz="2000" b="1" i="1" dirty="0" err="1" smtClean="0">
                <a:solidFill>
                  <a:srgbClr val="C00000"/>
                </a:solidFill>
              </a:rPr>
              <a:t>aroccall</a:t>
            </a:r>
            <a:r>
              <a:rPr lang="fr-FR" sz="2000" b="1" dirty="0" smtClean="0">
                <a:solidFill>
                  <a:srgbClr val="C00000"/>
                </a:solidFill>
              </a:rPr>
              <a:t> est </a:t>
            </a:r>
            <a:r>
              <a:rPr lang="fr-FR" sz="2000" b="1" dirty="0" smtClean="0"/>
              <a:t>une entreprise qui</a:t>
            </a:r>
            <a:r>
              <a:rPr lang="fr-FR" sz="2000" dirty="0" smtClean="0"/>
              <a:t> met à la disposition de ses clients un service d'assistance téléphonique. </a:t>
            </a:r>
            <a:br>
              <a:rPr lang="fr-FR" sz="2000" dirty="0" smtClean="0"/>
            </a:br>
            <a:r>
              <a:rPr lang="fr-FR" sz="2000" dirty="0" smtClean="0"/>
              <a:t>Un client appelle le numéro d'assistance, le standard demande au client de fournir son code client. </a:t>
            </a:r>
            <a:r>
              <a:rPr lang="fr-FR" sz="2000" dirty="0"/>
              <a:t>L</a:t>
            </a:r>
            <a:r>
              <a:rPr lang="fr-FR" sz="2000" dirty="0" smtClean="0"/>
              <a:t>'appel est ensuite transmis à l'accueil téléphonique du service commercial. </a:t>
            </a:r>
            <a:r>
              <a:rPr lang="fr-FR" sz="2000" dirty="0">
                <a:solidFill>
                  <a:srgbClr val="7030A0"/>
                </a:solidFill>
                <a:effectLst>
                  <a:outerShdw blurRad="38100" dist="38100" dir="2700000" algn="tl">
                    <a:srgbClr val="000000">
                      <a:alpha val="43137"/>
                    </a:srgbClr>
                  </a:outerShdw>
                </a:effectLst>
              </a:rPr>
              <a:t> (Domaine d’étude)</a:t>
            </a:r>
            <a:r>
              <a:rPr lang="fr-FR" sz="2000" dirty="0" smtClean="0"/>
              <a:t/>
            </a:r>
            <a:br>
              <a:rPr lang="fr-FR" sz="2000" dirty="0" smtClean="0"/>
            </a:br>
            <a:r>
              <a:rPr lang="fr-FR" sz="2000" dirty="0" smtClean="0"/>
              <a:t>Le client pose sa question. L’accueil peut répondre à la plupart des questions courantes et assure une assistance de premier niveau. Dans le cas ou la question est difficile, elle est transféré à un commercial spécialiste de la question posée par le client. Ce spécialiste prend connaissance de la question du client et lui fournit une réponse. </a:t>
            </a:r>
          </a:p>
          <a:p>
            <a:endParaRPr lang="fr-FR" sz="2000" b="1" i="1" dirty="0" smtClean="0">
              <a:solidFill>
                <a:srgbClr val="7030A0"/>
              </a:solidFill>
            </a:endParaRPr>
          </a:p>
          <a:p>
            <a:r>
              <a:rPr lang="fr-FR" sz="2000" b="1" i="1" dirty="0" smtClean="0">
                <a:solidFill>
                  <a:srgbClr val="7030A0"/>
                </a:solidFill>
              </a:rPr>
              <a:t>T.A.F.   </a:t>
            </a:r>
            <a:r>
              <a:rPr lang="fr-FR" sz="2000" b="1" dirty="0" smtClean="0">
                <a:solidFill>
                  <a:srgbClr val="7030A0"/>
                </a:solidFill>
              </a:rPr>
              <a:t>a) Donner le diagramme de flux (MCC)</a:t>
            </a:r>
          </a:p>
          <a:p>
            <a:r>
              <a:rPr lang="fr-FR" sz="2000" b="1" dirty="0" smtClean="0">
                <a:solidFill>
                  <a:srgbClr val="7030A0"/>
                </a:solidFill>
              </a:rPr>
              <a:t>	b) Donner le MCT</a:t>
            </a:r>
          </a:p>
          <a:p>
            <a:endParaRPr lang="fr-FR" sz="2000" b="1" dirty="0">
              <a:solidFill>
                <a:srgbClr val="7030A0"/>
              </a:solidFill>
            </a:endParaRPr>
          </a:p>
        </p:txBody>
      </p:sp>
    </p:spTree>
    <p:extLst>
      <p:ext uri="{BB962C8B-B14F-4D97-AF65-F5344CB8AC3E}">
        <p14:creationId xmlns:p14="http://schemas.microsoft.com/office/powerpoint/2010/main" val="2352110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ableau 4"/>
          <p:cNvSpPr>
            <a:spLocks noGrp="1"/>
          </p:cNvSpPr>
          <p:nvPr>
            <p:ph type="tbl" idx="1"/>
          </p:nvPr>
        </p:nvSpPr>
        <p:spPr/>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19</a:t>
            </a:fld>
            <a:endParaRPr lang="fr-FR"/>
          </a:p>
        </p:txBody>
      </p:sp>
      <p:pic>
        <p:nvPicPr>
          <p:cNvPr id="4098" name="Picture 2" descr="http://2igc.cours.free.fr/CGO/cgo20/cgo24/segami/cgo24104.gif"/>
          <p:cNvPicPr>
            <a:picLocks noChangeAspect="1" noChangeArrowheads="1"/>
          </p:cNvPicPr>
          <p:nvPr/>
        </p:nvPicPr>
        <p:blipFill>
          <a:blip r:embed="rId2"/>
          <a:srcRect/>
          <a:stretch>
            <a:fillRect/>
          </a:stretch>
        </p:blipFill>
        <p:spPr bwMode="auto">
          <a:xfrm>
            <a:off x="1428728" y="1928802"/>
            <a:ext cx="7286676" cy="4611821"/>
          </a:xfrm>
          <a:prstGeom prst="rect">
            <a:avLst/>
          </a:prstGeom>
          <a:noFill/>
        </p:spPr>
      </p:pic>
      <p:sp>
        <p:nvSpPr>
          <p:cNvPr id="7" name="Titre 1"/>
          <p:cNvSpPr>
            <a:spLocks noGrp="1"/>
          </p:cNvSpPr>
          <p:nvPr>
            <p:ph type="title"/>
          </p:nvPr>
        </p:nvSpPr>
        <p:spPr>
          <a:xfrm>
            <a:off x="1435100" y="274638"/>
            <a:ext cx="7499350" cy="1143000"/>
          </a:xfrm>
        </p:spPr>
        <p:txBody>
          <a:bodyPr>
            <a:normAutofit fontScale="90000"/>
          </a:bodyPr>
          <a:lstStyle/>
          <a:p>
            <a:pPr algn="ctr"/>
            <a:r>
              <a:rPr lang="fr-FR" dirty="0" smtClean="0"/>
              <a:t> Exemple2.  Assistance commerciale</a:t>
            </a:r>
            <a:br>
              <a:rPr lang="fr-FR" dirty="0" smtClean="0"/>
            </a:br>
            <a:endParaRPr lang="fr-F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741F5267-AF3C-48D0-B2DB-4C918B0BAE5A}" type="slidenum">
              <a:rPr lang="fr-FR" smtClean="0"/>
              <a:pPr>
                <a:defRPr/>
              </a:pPr>
              <a:t>20</a:t>
            </a:fld>
            <a:endParaRPr lang="fr-FR"/>
          </a:p>
        </p:txBody>
      </p:sp>
      <p:pic>
        <p:nvPicPr>
          <p:cNvPr id="38914" name="Picture 2" descr="Résultat de recherche d'images pour &quot;mot = mct + qui+quand&quot;"/>
          <p:cNvPicPr>
            <a:picLocks noChangeAspect="1" noChangeArrowheads="1"/>
          </p:cNvPicPr>
          <p:nvPr/>
        </p:nvPicPr>
        <p:blipFill>
          <a:blip r:embed="rId2"/>
          <a:srcRect/>
          <a:stretch>
            <a:fillRect/>
          </a:stretch>
        </p:blipFill>
        <p:spPr bwMode="auto">
          <a:xfrm>
            <a:off x="1062730" y="928670"/>
            <a:ext cx="7929586" cy="5429288"/>
          </a:xfrm>
          <a:prstGeom prst="rect">
            <a:avLst/>
          </a:prstGeom>
          <a:noFill/>
        </p:spPr>
      </p:pic>
      <p:sp>
        <p:nvSpPr>
          <p:cNvPr id="6" name="Titre 1"/>
          <p:cNvSpPr txBox="1">
            <a:spLocks/>
          </p:cNvSpPr>
          <p:nvPr/>
        </p:nvSpPr>
        <p:spPr>
          <a:xfrm>
            <a:off x="1435100" y="274638"/>
            <a:ext cx="7499350" cy="1143000"/>
          </a:xfrm>
          <a:prstGeom prst="rect">
            <a:avLst/>
          </a:prstGeom>
        </p:spPr>
        <p:txBody>
          <a:bodyPr>
            <a:normAutofit fontScale="90000" lnSpcReduction="20000"/>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4300" b="0" i="0" u="none" strike="noStrike" kern="1200" cap="none" spc="0" normalizeH="0" baseline="0" noProof="0" smtClean="0">
                <a:ln>
                  <a:noFill/>
                </a:ln>
                <a:solidFill>
                  <a:srgbClr val="572314"/>
                </a:solidFill>
                <a:effectLst>
                  <a:outerShdw blurRad="50000" dist="30000" dir="5400000" algn="tl" rotWithShape="0">
                    <a:srgbClr val="000000">
                      <a:alpha val="30000"/>
                    </a:srgbClr>
                  </a:outerShdw>
                </a:effectLst>
                <a:uLnTx/>
                <a:uFillTx/>
                <a:latin typeface="+mj-lt"/>
                <a:ea typeface="+mj-ea"/>
                <a:cs typeface="+mj-cs"/>
              </a:rPr>
              <a:t> Exemple2.  Assistance commerciale</a:t>
            </a:r>
            <a:br>
              <a:rPr kumimoji="0" lang="fr-FR" sz="4300" b="0" i="0" u="none" strike="noStrike" kern="1200" cap="none" spc="0" normalizeH="0" baseline="0" noProof="0" smtClean="0">
                <a:ln>
                  <a:noFill/>
                </a:ln>
                <a:solidFill>
                  <a:srgbClr val="572314"/>
                </a:solidFill>
                <a:effectLst>
                  <a:outerShdw blurRad="50000" dist="30000" dir="5400000" algn="tl" rotWithShape="0">
                    <a:srgbClr val="000000">
                      <a:alpha val="30000"/>
                    </a:srgbClr>
                  </a:outerShdw>
                </a:effectLst>
                <a:uLnTx/>
                <a:uFillTx/>
                <a:latin typeface="+mj-lt"/>
                <a:ea typeface="+mj-ea"/>
                <a:cs typeface="+mj-cs"/>
              </a:rPr>
            </a:br>
            <a:endParaRPr kumimoji="0" lang="fr-FR" sz="4300" b="0"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9"/>
          <p:cNvSpPr>
            <a:spLocks noGrp="1"/>
          </p:cNvSpPr>
          <p:nvPr>
            <p:ph type="sldNum" sz="quarter" idx="12"/>
          </p:nvPr>
        </p:nvSpPr>
        <p:spPr/>
        <p:txBody>
          <a:bodyPr/>
          <a:lstStyle/>
          <a:p>
            <a:pPr>
              <a:defRPr/>
            </a:pPr>
            <a:fld id="{33E0B1D4-256E-45ED-831F-6C442408BDCF}" type="slidenum">
              <a:rPr lang="fr-FR"/>
              <a:pPr>
                <a:defRPr/>
              </a:pPr>
              <a:t>21</a:t>
            </a:fld>
            <a:endParaRPr lang="fr-FR"/>
          </a:p>
        </p:txBody>
      </p:sp>
      <p:sp>
        <p:nvSpPr>
          <p:cNvPr id="2" name="Titre 1"/>
          <p:cNvSpPr>
            <a:spLocks noGrp="1"/>
          </p:cNvSpPr>
          <p:nvPr>
            <p:ph type="ctrTitle"/>
          </p:nvPr>
        </p:nvSpPr>
        <p:spPr>
          <a:xfrm>
            <a:off x="1071563" y="857231"/>
            <a:ext cx="7715250" cy="3414731"/>
          </a:xfrm>
        </p:spPr>
        <p:txBody>
          <a:bodyPr vert="horz" wrap="square" lIns="91440" tIns="45720" rIns="91440" bIns="45720" numCol="1" anchorCtr="0" compatLnSpc="1">
            <a:prstTxWarp prst="textNoShape">
              <a:avLst/>
            </a:prstTxWarp>
            <a:normAutofit/>
          </a:bodyPr>
          <a:lstStyle/>
          <a:p>
            <a:pPr algn="ctr" eaLnBrk="1" hangingPunct="1">
              <a:defRPr/>
            </a:pPr>
            <a:r>
              <a:rPr lang="fr-FR" sz="4400" b="1" dirty="0" smtClean="0">
                <a:solidFill>
                  <a:srgbClr val="002060"/>
                </a:solidFill>
                <a:effectLst>
                  <a:outerShdw blurRad="38100" dist="38100" dir="2700000" algn="tl">
                    <a:srgbClr val="C0C0C0"/>
                  </a:outerShdw>
                </a:effectLst>
              </a:rPr>
              <a:t>Cours  N°7 : </a:t>
            </a:r>
            <a:br>
              <a:rPr lang="fr-FR" sz="4400" b="1" dirty="0" smtClean="0">
                <a:solidFill>
                  <a:srgbClr val="002060"/>
                </a:solidFill>
                <a:effectLst>
                  <a:outerShdw blurRad="38100" dist="38100" dir="2700000" algn="tl">
                    <a:srgbClr val="C0C0C0"/>
                  </a:outerShdw>
                </a:effectLst>
              </a:rPr>
            </a:br>
            <a:r>
              <a:rPr lang="fr-FR" sz="2800" b="1" dirty="0" smtClean="0">
                <a:solidFill>
                  <a:srgbClr val="002060"/>
                </a:solidFill>
                <a:effectLst>
                  <a:outerShdw blurRad="38100" dist="38100" dir="2700000" algn="tl">
                    <a:srgbClr val="C0C0C0"/>
                  </a:outerShdw>
                </a:effectLst>
              </a:rPr>
              <a:t>Le Modèle Organisationnel des Traitements</a:t>
            </a:r>
            <a:br>
              <a:rPr lang="fr-FR" sz="2800" b="1" dirty="0" smtClean="0">
                <a:solidFill>
                  <a:srgbClr val="002060"/>
                </a:solidFill>
                <a:effectLst>
                  <a:outerShdw blurRad="38100" dist="38100" dir="2700000" algn="tl">
                    <a:srgbClr val="C0C0C0"/>
                  </a:outerShdw>
                </a:effectLst>
              </a:rPr>
            </a:br>
            <a:r>
              <a:rPr lang="fr-FR" sz="3600" b="1" dirty="0" smtClean="0">
                <a:solidFill>
                  <a:srgbClr val="002060"/>
                </a:solidFill>
                <a:effectLst>
                  <a:outerShdw blurRad="38100" dist="38100" dir="2700000" algn="tl">
                    <a:srgbClr val="C0C0C0"/>
                  </a:outerShdw>
                </a:effectLst>
              </a:rPr>
              <a:t>MOT</a:t>
            </a:r>
            <a:endParaRPr lang="fr-FR" sz="4400" dirty="0" smtClean="0">
              <a:solidFill>
                <a:srgbClr val="002060"/>
              </a:solidFill>
              <a:effectLst>
                <a:outerShdw blurRad="38100" dist="38100" dir="2700000" algn="tl">
                  <a:srgbClr val="C0C0C0"/>
                </a:outerShdw>
              </a:effectLst>
            </a:endParaRPr>
          </a:p>
        </p:txBody>
      </p:sp>
      <p:sp>
        <p:nvSpPr>
          <p:cNvPr id="4" name="Espace réservé du numéro de diapositive 3"/>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743298C1-FBE6-41BF-9F38-A4B61DC9E098}" type="slidenum">
              <a:rPr lang="fr-FR" sz="1200">
                <a:solidFill>
                  <a:schemeClr val="bg2">
                    <a:shade val="50000"/>
                    <a:satMod val="200000"/>
                  </a:schemeClr>
                </a:solidFill>
                <a:latin typeface="+mn-lt"/>
              </a:rPr>
              <a:pPr algn="ctr" fontAlgn="auto">
                <a:spcBef>
                  <a:spcPts val="0"/>
                </a:spcBef>
                <a:spcAft>
                  <a:spcPts val="0"/>
                </a:spcAft>
                <a:defRPr/>
              </a:pPr>
              <a:t>21</a:t>
            </a:fld>
            <a:endParaRPr lang="fr-FR" sz="1200">
              <a:solidFill>
                <a:schemeClr val="bg2">
                  <a:shade val="50000"/>
                  <a:satMod val="200000"/>
                </a:schemeClr>
              </a:solidFill>
              <a:latin typeface="+mn-l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smtClean="0"/>
              <a:t>Le Modèle Organisationnel des Traitements (MOT)</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22</a:t>
            </a:fld>
            <a:endParaRPr lang="fr-FR"/>
          </a:p>
        </p:txBody>
      </p:sp>
      <p:sp>
        <p:nvSpPr>
          <p:cNvPr id="5" name="ZoneTexte 4"/>
          <p:cNvSpPr txBox="1"/>
          <p:nvPr/>
        </p:nvSpPr>
        <p:spPr>
          <a:xfrm>
            <a:off x="1500166" y="2000240"/>
            <a:ext cx="7143800" cy="369332"/>
          </a:xfrm>
          <a:prstGeom prst="rect">
            <a:avLst/>
          </a:prstGeom>
          <a:noFill/>
        </p:spPr>
        <p:txBody>
          <a:bodyPr wrap="square" rtlCol="0">
            <a:spAutoFit/>
          </a:bodyPr>
          <a:lstStyle/>
          <a:p>
            <a:endParaRPr lang="fr-FR" dirty="0"/>
          </a:p>
        </p:txBody>
      </p:sp>
      <p:sp>
        <p:nvSpPr>
          <p:cNvPr id="6" name="ZoneTexte 5"/>
          <p:cNvSpPr txBox="1"/>
          <p:nvPr/>
        </p:nvSpPr>
        <p:spPr>
          <a:xfrm>
            <a:off x="1000100" y="1857364"/>
            <a:ext cx="7858180" cy="3046988"/>
          </a:xfrm>
          <a:prstGeom prst="rect">
            <a:avLst/>
          </a:prstGeom>
          <a:noFill/>
        </p:spPr>
        <p:txBody>
          <a:bodyPr wrap="square" rtlCol="0">
            <a:spAutoFit/>
          </a:bodyPr>
          <a:lstStyle/>
          <a:p>
            <a:r>
              <a:rPr lang="fr-FR" sz="2400" dirty="0" smtClean="0">
                <a:latin typeface="+mj-lt"/>
              </a:rPr>
              <a:t>Deux nouveaux concepts sont utilisés : </a:t>
            </a:r>
            <a:r>
              <a:rPr lang="fr-FR" sz="2400" b="1" dirty="0" smtClean="0">
                <a:solidFill>
                  <a:srgbClr val="C00000"/>
                </a:solidFill>
                <a:latin typeface="+mj-lt"/>
              </a:rPr>
              <a:t>la procédure </a:t>
            </a:r>
            <a:r>
              <a:rPr lang="fr-FR" sz="2400" dirty="0" smtClean="0">
                <a:latin typeface="+mj-lt"/>
              </a:rPr>
              <a:t>et le </a:t>
            </a:r>
            <a:r>
              <a:rPr lang="fr-FR" sz="2400" b="1" dirty="0" smtClean="0">
                <a:solidFill>
                  <a:srgbClr val="C00000"/>
                </a:solidFill>
                <a:latin typeface="+mj-lt"/>
              </a:rPr>
              <a:t>poste de travail</a:t>
            </a:r>
            <a:r>
              <a:rPr lang="fr-FR" sz="2400" dirty="0" smtClean="0">
                <a:latin typeface="+mj-lt"/>
              </a:rPr>
              <a:t>. </a:t>
            </a:r>
          </a:p>
          <a:p>
            <a:endParaRPr lang="fr-FR" sz="2400" dirty="0" smtClean="0">
              <a:latin typeface="+mj-lt"/>
            </a:endParaRPr>
          </a:p>
          <a:p>
            <a:pPr>
              <a:buFont typeface="Courier New" pitchFamily="49" charset="0"/>
              <a:buChar char="o"/>
            </a:pPr>
            <a:r>
              <a:rPr lang="fr-FR" sz="2400" b="1" dirty="0" smtClean="0">
                <a:solidFill>
                  <a:srgbClr val="C00000"/>
                </a:solidFill>
                <a:latin typeface="+mj-lt"/>
              </a:rPr>
              <a:t> Une procédure </a:t>
            </a:r>
            <a:r>
              <a:rPr lang="fr-FR" sz="2400" dirty="0" smtClean="0">
                <a:latin typeface="+mj-lt"/>
              </a:rPr>
              <a:t>est un ensemble de tâches exécutées à une même période, sur un même poste de travail, correspondant à une action définie. </a:t>
            </a:r>
          </a:p>
          <a:p>
            <a:pPr>
              <a:buFont typeface="Courier New" pitchFamily="49" charset="0"/>
              <a:buChar char="o"/>
            </a:pPr>
            <a:r>
              <a:rPr lang="fr-FR" sz="2400" dirty="0" smtClean="0">
                <a:latin typeface="+mj-lt"/>
              </a:rPr>
              <a:t> </a:t>
            </a:r>
            <a:r>
              <a:rPr lang="fr-FR" sz="2400" b="1" dirty="0" smtClean="0">
                <a:solidFill>
                  <a:srgbClr val="C00000"/>
                </a:solidFill>
                <a:latin typeface="+mj-lt"/>
              </a:rPr>
              <a:t>Un poste de travail </a:t>
            </a:r>
            <a:r>
              <a:rPr lang="fr-FR" sz="2400" dirty="0" smtClean="0">
                <a:latin typeface="+mj-lt"/>
              </a:rPr>
              <a:t>est un lieu d'exécution (avec les outils nécessaires) d'un ensemble de tâches.</a:t>
            </a:r>
            <a:endParaRPr lang="fr-FR" sz="2400" dirty="0">
              <a:latin typeface="+mj-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smtClean="0"/>
              <a:t>Le Modèle Organisationnel des Traitements (MOT)</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23</a:t>
            </a:fld>
            <a:endParaRPr lang="fr-FR"/>
          </a:p>
        </p:txBody>
      </p:sp>
      <p:pic>
        <p:nvPicPr>
          <p:cNvPr id="39938" name="Picture 2"/>
          <p:cNvPicPr>
            <a:picLocks noChangeAspect="1" noChangeArrowheads="1"/>
          </p:cNvPicPr>
          <p:nvPr/>
        </p:nvPicPr>
        <p:blipFill>
          <a:blip r:embed="rId3"/>
          <a:srcRect/>
          <a:stretch>
            <a:fillRect/>
          </a:stretch>
        </p:blipFill>
        <p:spPr bwMode="auto">
          <a:xfrm>
            <a:off x="1214414" y="1500174"/>
            <a:ext cx="7519789" cy="4000528"/>
          </a:xfrm>
          <a:prstGeom prst="rect">
            <a:avLst/>
          </a:prstGeom>
          <a:noFill/>
          <a:ln w="9525">
            <a:noFill/>
            <a:miter lim="800000"/>
            <a:headEnd/>
            <a:tailEnd/>
          </a:ln>
          <a:effectLst/>
        </p:spPr>
      </p:pic>
      <p:sp>
        <p:nvSpPr>
          <p:cNvPr id="6" name="ZoneTexte 5"/>
          <p:cNvSpPr txBox="1"/>
          <p:nvPr/>
        </p:nvSpPr>
        <p:spPr>
          <a:xfrm>
            <a:off x="1357290" y="4071942"/>
            <a:ext cx="2214578" cy="73866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fr-FR" sz="1400" b="1" dirty="0" smtClean="0"/>
              <a:t>Lieu ou sont exécuté les traitements (poste de travail, serveur…)</a:t>
            </a:r>
            <a:endParaRPr lang="fr-FR" sz="14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741F5267-AF3C-48D0-B2DB-4C918B0BAE5A}" type="slidenum">
              <a:rPr lang="fr-FR" smtClean="0"/>
              <a:pPr>
                <a:defRPr/>
              </a:pPr>
              <a:t>24</a:t>
            </a:fld>
            <a:endParaRPr lang="fr-FR"/>
          </a:p>
        </p:txBody>
      </p:sp>
      <p:pic>
        <p:nvPicPr>
          <p:cNvPr id="50178" name="Picture 2" descr="Résultat de recherche d'images pour &quot;mot schema merise&quot;"/>
          <p:cNvPicPr>
            <a:picLocks noChangeAspect="1" noChangeArrowheads="1"/>
          </p:cNvPicPr>
          <p:nvPr/>
        </p:nvPicPr>
        <p:blipFill>
          <a:blip r:embed="rId2"/>
          <a:srcRect/>
          <a:stretch>
            <a:fillRect/>
          </a:stretch>
        </p:blipFill>
        <p:spPr bwMode="auto">
          <a:xfrm>
            <a:off x="1714480" y="1412816"/>
            <a:ext cx="6643734" cy="4802266"/>
          </a:xfrm>
          <a:prstGeom prst="rect">
            <a:avLst/>
          </a:prstGeom>
          <a:noFill/>
        </p:spPr>
      </p:pic>
      <p:sp>
        <p:nvSpPr>
          <p:cNvPr id="4" name="Titre 1"/>
          <p:cNvSpPr txBox="1">
            <a:spLocks/>
          </p:cNvSpPr>
          <p:nvPr/>
        </p:nvSpPr>
        <p:spPr>
          <a:xfrm>
            <a:off x="1435608" y="274320"/>
            <a:ext cx="7498080" cy="1143000"/>
          </a:xfrm>
          <a:prstGeom prst="rect">
            <a:avLst/>
          </a:prstGeom>
        </p:spPr>
        <p:txBody>
          <a:bodyPr>
            <a:normAutofit fontScale="90000" lnSpcReduction="20000"/>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4300" b="0" i="0" u="none" strike="noStrike" kern="1200" cap="none" spc="0" normalizeH="0" baseline="0" noProof="0" dirty="0" smtClean="0">
                <a:ln>
                  <a:noFill/>
                </a:ln>
                <a:solidFill>
                  <a:srgbClr val="572314"/>
                </a:solidFill>
                <a:effectLst>
                  <a:outerShdw blurRad="50000" dist="30000" dir="5400000" algn="tl" rotWithShape="0">
                    <a:srgbClr val="000000">
                      <a:alpha val="30000"/>
                    </a:srgbClr>
                  </a:outerShdw>
                </a:effectLst>
                <a:uLnTx/>
                <a:uFillTx/>
                <a:latin typeface="+mj-lt"/>
                <a:ea typeface="+mj-ea"/>
                <a:cs typeface="+mj-cs"/>
              </a:rPr>
              <a:t>Le Modèle Organisationnel des Traitements-Formalisme</a:t>
            </a:r>
            <a:endParaRPr kumimoji="0" lang="fr-FR" sz="4300" b="0"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1. MOT</a:t>
            </a:r>
            <a:endParaRPr lang="fr-FR" dirty="0"/>
          </a:p>
        </p:txBody>
      </p:sp>
      <p:sp>
        <p:nvSpPr>
          <p:cNvPr id="3" name="Espace réservé du contenu 2"/>
          <p:cNvSpPr>
            <a:spLocks noGrp="1"/>
          </p:cNvSpPr>
          <p:nvPr>
            <p:ph idx="1"/>
          </p:nvPr>
        </p:nvSpPr>
        <p:spPr>
          <a:xfrm>
            <a:off x="-181858" y="1230666"/>
            <a:ext cx="9501222" cy="5105416"/>
          </a:xfrm>
        </p:spPr>
        <p:txBody>
          <a:bodyPr/>
          <a:lstStyle/>
          <a:p>
            <a:pPr>
              <a:buNone/>
            </a:pPr>
            <a:r>
              <a:rPr lang="fr-FR" sz="2800" dirty="0" smtClean="0"/>
              <a:t>   Dans l’entreprise </a:t>
            </a:r>
            <a:r>
              <a:rPr lang="fr-FR" sz="2800" dirty="0" smtClean="0">
                <a:solidFill>
                  <a:srgbClr val="C00000"/>
                </a:solidFill>
              </a:rPr>
              <a:t>ALEF</a:t>
            </a:r>
            <a:r>
              <a:rPr lang="fr-FR" sz="2800" dirty="0" smtClean="0"/>
              <a:t> spécialisée dans la publication de petites annonces, les clients envoient de façon manuscrite le contenu de leur petite annonce.  A l’arrivé de la petite annonce au service secrétariat, un employé vérifie que </a:t>
            </a:r>
            <a:r>
              <a:rPr lang="fr-FR" sz="2800" dirty="0" smtClean="0">
                <a:solidFill>
                  <a:srgbClr val="C00000"/>
                </a:solidFill>
              </a:rPr>
              <a:t>l’annonce est lisible </a:t>
            </a:r>
            <a:r>
              <a:rPr lang="fr-FR" sz="2800" dirty="0" smtClean="0"/>
              <a:t>et </a:t>
            </a:r>
            <a:r>
              <a:rPr lang="fr-FR" sz="2800" dirty="0" smtClean="0">
                <a:solidFill>
                  <a:srgbClr val="C00000"/>
                </a:solidFill>
              </a:rPr>
              <a:t>correctement exploitable</a:t>
            </a:r>
            <a:r>
              <a:rPr lang="fr-FR" sz="2800" dirty="0" smtClean="0"/>
              <a:t>. Dans le cas contraire, elle est retournée au client avec une lettre type annonçant que l’annonce est illisible.  Dans le cas ou l’annonce est bonne, elle est passée au 4eme jour au service commercial qui vérifie la validité du montant dû et ensuite saisit et enregistre l’annonce.  Une confirmation de parution est ensuite envoyé au client.</a:t>
            </a:r>
          </a:p>
          <a:p>
            <a:pPr lvl="2">
              <a:buNone/>
            </a:pPr>
            <a:r>
              <a:rPr lang="fr-FR" sz="2800" b="1" i="1" dirty="0" smtClean="0">
                <a:solidFill>
                  <a:srgbClr val="C00000"/>
                </a:solidFill>
              </a:rPr>
              <a:t>TAF. Donner le MCT et MOT </a:t>
            </a:r>
            <a:endParaRPr lang="fr-FR" sz="2800" b="1" i="1" dirty="0">
              <a:solidFill>
                <a:srgbClr val="C00000"/>
              </a:solidFill>
            </a:endParaRPr>
          </a:p>
        </p:txBody>
      </p:sp>
      <p:sp>
        <p:nvSpPr>
          <p:cNvPr id="4" name="Espace réservé du numéro de diapositive 3"/>
          <p:cNvSpPr>
            <a:spLocks noGrp="1"/>
          </p:cNvSpPr>
          <p:nvPr>
            <p:ph type="sldNum" sz="quarter" idx="12"/>
          </p:nvPr>
        </p:nvSpPr>
        <p:spPr/>
        <p:txBody>
          <a:bodyPr/>
          <a:lstStyle/>
          <a:p>
            <a:pPr>
              <a:defRPr/>
            </a:pPr>
            <a:fld id="{E20FA2B6-427A-4E56-A7DF-A5BA83386620}" type="slidenum">
              <a:rPr lang="fr-FR" smtClean="0"/>
              <a:pPr>
                <a:defRPr/>
              </a:pPr>
              <a:t>25</a:t>
            </a:fld>
            <a:endParaRPr lang="fr-F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85852" y="0"/>
            <a:ext cx="7498080" cy="785818"/>
          </a:xfrm>
        </p:spPr>
        <p:txBody>
          <a:bodyPr/>
          <a:lstStyle/>
          <a:p>
            <a:pPr algn="ctr"/>
            <a:r>
              <a:rPr lang="fr-FR" dirty="0" smtClean="0"/>
              <a:t>Le MCT</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26</a:t>
            </a:fld>
            <a:endParaRPr lang="fr-FR"/>
          </a:p>
        </p:txBody>
      </p:sp>
      <p:sp>
        <p:nvSpPr>
          <p:cNvPr id="4" name="Organigramme : Connecteur page suivante 3"/>
          <p:cNvSpPr/>
          <p:nvPr/>
        </p:nvSpPr>
        <p:spPr>
          <a:xfrm>
            <a:off x="3071802" y="2412631"/>
            <a:ext cx="363503" cy="235457"/>
          </a:xfrm>
          <a:prstGeom prst="flowChartOffpageConnector">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dirty="0">
              <a:solidFill>
                <a:schemeClr val="bg1"/>
              </a:solidFill>
            </a:endParaRPr>
          </a:p>
        </p:txBody>
      </p:sp>
      <p:sp>
        <p:nvSpPr>
          <p:cNvPr id="5" name="Ellipse 4"/>
          <p:cNvSpPr/>
          <p:nvPr/>
        </p:nvSpPr>
        <p:spPr>
          <a:xfrm>
            <a:off x="2668048" y="893899"/>
            <a:ext cx="1143008" cy="107157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100" b="1" dirty="0" smtClean="0"/>
              <a:t>Annonce</a:t>
            </a:r>
          </a:p>
          <a:p>
            <a:pPr algn="ctr"/>
            <a:r>
              <a:rPr lang="fr-FR" sz="1100" b="1" dirty="0" smtClean="0"/>
              <a:t>Client</a:t>
            </a:r>
            <a:endParaRPr lang="fr-FR" sz="1100" b="1" dirty="0"/>
          </a:p>
        </p:txBody>
      </p:sp>
      <p:sp>
        <p:nvSpPr>
          <p:cNvPr id="22" name="Rectangle 21"/>
          <p:cNvSpPr/>
          <p:nvPr/>
        </p:nvSpPr>
        <p:spPr>
          <a:xfrm>
            <a:off x="1503706" y="2660798"/>
            <a:ext cx="3714776" cy="150019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dirty="0"/>
          </a:p>
        </p:txBody>
      </p:sp>
      <p:cxnSp>
        <p:nvCxnSpPr>
          <p:cNvPr id="24" name="Connecteur droit 23"/>
          <p:cNvCxnSpPr/>
          <p:nvPr/>
        </p:nvCxnSpPr>
        <p:spPr>
          <a:xfrm rot="10800000">
            <a:off x="1503706" y="3017988"/>
            <a:ext cx="37147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necteur droit 24"/>
          <p:cNvCxnSpPr/>
          <p:nvPr/>
        </p:nvCxnSpPr>
        <p:spPr>
          <a:xfrm rot="10800000">
            <a:off x="1503706" y="3875244"/>
            <a:ext cx="37147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necteur droit 26"/>
          <p:cNvCxnSpPr>
            <a:endCxn id="22" idx="2"/>
          </p:cNvCxnSpPr>
          <p:nvPr/>
        </p:nvCxnSpPr>
        <p:spPr>
          <a:xfrm rot="5400000">
            <a:off x="3218218" y="4018120"/>
            <a:ext cx="285752" cy="1588"/>
          </a:xfrm>
          <a:prstGeom prst="line">
            <a:avLst/>
          </a:prstGeom>
        </p:spPr>
        <p:style>
          <a:lnRef idx="1">
            <a:schemeClr val="accent1"/>
          </a:lnRef>
          <a:fillRef idx="0">
            <a:schemeClr val="accent1"/>
          </a:fillRef>
          <a:effectRef idx="0">
            <a:schemeClr val="accent1"/>
          </a:effectRef>
          <a:fontRef idx="minor">
            <a:schemeClr val="tx1"/>
          </a:fontRef>
        </p:style>
      </p:cxnSp>
      <p:sp>
        <p:nvSpPr>
          <p:cNvPr id="29" name="ZoneTexte 28"/>
          <p:cNvSpPr txBox="1"/>
          <p:nvPr/>
        </p:nvSpPr>
        <p:spPr>
          <a:xfrm>
            <a:off x="1932334" y="2682132"/>
            <a:ext cx="2857520" cy="369332"/>
          </a:xfrm>
          <a:prstGeom prst="rect">
            <a:avLst/>
          </a:prstGeom>
          <a:noFill/>
        </p:spPr>
        <p:txBody>
          <a:bodyPr wrap="square" rtlCol="0">
            <a:spAutoFit/>
          </a:bodyPr>
          <a:lstStyle/>
          <a:p>
            <a:r>
              <a:rPr lang="fr-FR" dirty="0" smtClean="0"/>
              <a:t>Traitement de l’annonce</a:t>
            </a:r>
            <a:endParaRPr lang="fr-FR" dirty="0"/>
          </a:p>
        </p:txBody>
      </p:sp>
      <p:sp>
        <p:nvSpPr>
          <p:cNvPr id="30" name="ZoneTexte 29"/>
          <p:cNvSpPr txBox="1"/>
          <p:nvPr/>
        </p:nvSpPr>
        <p:spPr>
          <a:xfrm>
            <a:off x="1643042" y="3180826"/>
            <a:ext cx="3429024" cy="523220"/>
          </a:xfrm>
          <a:prstGeom prst="rect">
            <a:avLst/>
          </a:prstGeom>
          <a:noFill/>
        </p:spPr>
        <p:txBody>
          <a:bodyPr wrap="square" rtlCol="0">
            <a:spAutoFit/>
          </a:bodyPr>
          <a:lstStyle/>
          <a:p>
            <a:r>
              <a:rPr lang="fr-FR" sz="1400" b="1" dirty="0" smtClean="0"/>
              <a:t>Vérification de la lisibilité l’annonce</a:t>
            </a:r>
          </a:p>
          <a:p>
            <a:r>
              <a:rPr lang="fr-FR" sz="1400" b="1" dirty="0" smtClean="0"/>
              <a:t>Vérification commerciale de l’annonce</a:t>
            </a:r>
          </a:p>
        </p:txBody>
      </p:sp>
      <p:sp>
        <p:nvSpPr>
          <p:cNvPr id="40" name="ZoneTexte 39"/>
          <p:cNvSpPr txBox="1"/>
          <p:nvPr/>
        </p:nvSpPr>
        <p:spPr>
          <a:xfrm>
            <a:off x="2000232" y="3857628"/>
            <a:ext cx="1071570" cy="369332"/>
          </a:xfrm>
          <a:prstGeom prst="rect">
            <a:avLst/>
          </a:prstGeom>
          <a:noFill/>
        </p:spPr>
        <p:txBody>
          <a:bodyPr wrap="square" rtlCol="0">
            <a:spAutoFit/>
          </a:bodyPr>
          <a:lstStyle/>
          <a:p>
            <a:r>
              <a:rPr lang="fr-FR" dirty="0" smtClean="0"/>
              <a:t>Illisible</a:t>
            </a:r>
            <a:endParaRPr lang="fr-FR" dirty="0"/>
          </a:p>
        </p:txBody>
      </p:sp>
      <p:sp>
        <p:nvSpPr>
          <p:cNvPr id="41" name="ZoneTexte 40"/>
          <p:cNvSpPr txBox="1"/>
          <p:nvPr/>
        </p:nvSpPr>
        <p:spPr>
          <a:xfrm>
            <a:off x="3786182" y="3857628"/>
            <a:ext cx="857256" cy="369332"/>
          </a:xfrm>
          <a:prstGeom prst="rect">
            <a:avLst/>
          </a:prstGeom>
          <a:noFill/>
        </p:spPr>
        <p:txBody>
          <a:bodyPr wrap="square" rtlCol="0">
            <a:spAutoFit/>
          </a:bodyPr>
          <a:lstStyle/>
          <a:p>
            <a:r>
              <a:rPr lang="fr-FR" dirty="0" smtClean="0"/>
              <a:t>Lisible</a:t>
            </a:r>
            <a:endParaRPr lang="fr-FR" dirty="0"/>
          </a:p>
        </p:txBody>
      </p:sp>
      <p:sp>
        <p:nvSpPr>
          <p:cNvPr id="43" name="Ellipse 42"/>
          <p:cNvSpPr/>
          <p:nvPr/>
        </p:nvSpPr>
        <p:spPr>
          <a:xfrm>
            <a:off x="1643042" y="4572008"/>
            <a:ext cx="1214446" cy="92869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b="1" dirty="0" smtClean="0"/>
              <a:t>Annonce</a:t>
            </a:r>
          </a:p>
          <a:p>
            <a:pPr algn="ctr"/>
            <a:r>
              <a:rPr lang="fr-FR" sz="1050" b="1" dirty="0" smtClean="0"/>
              <a:t>Retourné</a:t>
            </a:r>
            <a:endParaRPr lang="fr-FR" sz="1050" b="1" dirty="0"/>
          </a:p>
        </p:txBody>
      </p:sp>
      <p:cxnSp>
        <p:nvCxnSpPr>
          <p:cNvPr id="47" name="Connecteur droit avec flèche 46"/>
          <p:cNvCxnSpPr>
            <a:stCxn id="5" idx="4"/>
            <a:endCxn id="4" idx="0"/>
          </p:cNvCxnSpPr>
          <p:nvPr/>
        </p:nvCxnSpPr>
        <p:spPr>
          <a:xfrm rot="16200000" flipH="1">
            <a:off x="3022972" y="2182049"/>
            <a:ext cx="447162" cy="140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8" name="Ellipse 47"/>
          <p:cNvSpPr/>
          <p:nvPr/>
        </p:nvSpPr>
        <p:spPr>
          <a:xfrm>
            <a:off x="3677166" y="4429132"/>
            <a:ext cx="1252024" cy="107157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b="1" dirty="0" smtClean="0"/>
              <a:t>Annonce</a:t>
            </a:r>
          </a:p>
          <a:p>
            <a:pPr algn="ctr"/>
            <a:r>
              <a:rPr lang="fr-FR" sz="1050" b="1" dirty="0" smtClean="0"/>
              <a:t>Exploitable</a:t>
            </a:r>
            <a:endParaRPr lang="fr-FR" sz="1050" b="1" dirty="0"/>
          </a:p>
        </p:txBody>
      </p:sp>
      <p:cxnSp>
        <p:nvCxnSpPr>
          <p:cNvPr id="62" name="Connecteur droit avec flèche 61"/>
          <p:cNvCxnSpPr>
            <a:endCxn id="43" idx="0"/>
          </p:cNvCxnSpPr>
          <p:nvPr/>
        </p:nvCxnSpPr>
        <p:spPr>
          <a:xfrm rot="5400000">
            <a:off x="2125251" y="4268397"/>
            <a:ext cx="428626" cy="17859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Connecteur droit avec flèche 65"/>
          <p:cNvCxnSpPr>
            <a:endCxn id="48" idx="0"/>
          </p:cNvCxnSpPr>
          <p:nvPr/>
        </p:nvCxnSpPr>
        <p:spPr>
          <a:xfrm>
            <a:off x="3929056" y="4143380"/>
            <a:ext cx="37412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9" name="Organigramme : Connecteur page suivante 68"/>
          <p:cNvSpPr/>
          <p:nvPr/>
        </p:nvSpPr>
        <p:spPr>
          <a:xfrm>
            <a:off x="6906864" y="4386462"/>
            <a:ext cx="363503" cy="235457"/>
          </a:xfrm>
          <a:prstGeom prst="flowChartOffpageConnector">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dirty="0">
              <a:solidFill>
                <a:schemeClr val="bg1"/>
              </a:solidFill>
            </a:endParaRPr>
          </a:p>
        </p:txBody>
      </p:sp>
      <p:sp>
        <p:nvSpPr>
          <p:cNvPr id="70" name="Rectangle 69"/>
          <p:cNvSpPr/>
          <p:nvPr/>
        </p:nvSpPr>
        <p:spPr>
          <a:xfrm>
            <a:off x="5338768" y="4634629"/>
            <a:ext cx="3714776" cy="150019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dirty="0"/>
          </a:p>
        </p:txBody>
      </p:sp>
      <p:cxnSp>
        <p:nvCxnSpPr>
          <p:cNvPr id="71" name="Connecteur droit 70"/>
          <p:cNvCxnSpPr/>
          <p:nvPr/>
        </p:nvCxnSpPr>
        <p:spPr>
          <a:xfrm rot="10800000">
            <a:off x="5338768" y="4991819"/>
            <a:ext cx="37147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Connecteur droit 71"/>
          <p:cNvCxnSpPr/>
          <p:nvPr/>
        </p:nvCxnSpPr>
        <p:spPr>
          <a:xfrm rot="10800000">
            <a:off x="5338768" y="5849075"/>
            <a:ext cx="3714776" cy="1588"/>
          </a:xfrm>
          <a:prstGeom prst="line">
            <a:avLst/>
          </a:prstGeom>
        </p:spPr>
        <p:style>
          <a:lnRef idx="1">
            <a:schemeClr val="accent1"/>
          </a:lnRef>
          <a:fillRef idx="0">
            <a:schemeClr val="accent1"/>
          </a:fillRef>
          <a:effectRef idx="0">
            <a:schemeClr val="accent1"/>
          </a:effectRef>
          <a:fontRef idx="minor">
            <a:schemeClr val="tx1"/>
          </a:fontRef>
        </p:style>
      </p:cxnSp>
      <p:sp>
        <p:nvSpPr>
          <p:cNvPr id="74" name="ZoneTexte 73"/>
          <p:cNvSpPr txBox="1"/>
          <p:nvPr/>
        </p:nvSpPr>
        <p:spPr>
          <a:xfrm>
            <a:off x="5767396" y="4655963"/>
            <a:ext cx="2857520" cy="369332"/>
          </a:xfrm>
          <a:prstGeom prst="rect">
            <a:avLst/>
          </a:prstGeom>
          <a:noFill/>
        </p:spPr>
        <p:txBody>
          <a:bodyPr wrap="square" rtlCol="0">
            <a:spAutoFit/>
          </a:bodyPr>
          <a:lstStyle/>
          <a:p>
            <a:r>
              <a:rPr lang="fr-FR" dirty="0" smtClean="0"/>
              <a:t>Vérification commercial</a:t>
            </a:r>
            <a:endParaRPr lang="fr-FR" dirty="0"/>
          </a:p>
        </p:txBody>
      </p:sp>
      <p:sp>
        <p:nvSpPr>
          <p:cNvPr id="75" name="ZoneTexte 74"/>
          <p:cNvSpPr txBox="1"/>
          <p:nvPr/>
        </p:nvSpPr>
        <p:spPr>
          <a:xfrm>
            <a:off x="5478104" y="5154657"/>
            <a:ext cx="3429024" cy="523220"/>
          </a:xfrm>
          <a:prstGeom prst="rect">
            <a:avLst/>
          </a:prstGeom>
          <a:noFill/>
        </p:spPr>
        <p:txBody>
          <a:bodyPr wrap="square" rtlCol="0">
            <a:spAutoFit/>
          </a:bodyPr>
          <a:lstStyle/>
          <a:p>
            <a:r>
              <a:rPr lang="fr-FR" sz="1400" b="1" dirty="0" smtClean="0"/>
              <a:t>Vérification du montant</a:t>
            </a:r>
          </a:p>
          <a:p>
            <a:r>
              <a:rPr lang="fr-FR" sz="1400" b="1" dirty="0" smtClean="0"/>
              <a:t>Saisie et enregistrement de l’annonce</a:t>
            </a:r>
          </a:p>
        </p:txBody>
      </p:sp>
      <p:sp>
        <p:nvSpPr>
          <p:cNvPr id="76" name="ZoneTexte 75"/>
          <p:cNvSpPr txBox="1"/>
          <p:nvPr/>
        </p:nvSpPr>
        <p:spPr>
          <a:xfrm>
            <a:off x="6572264" y="5786454"/>
            <a:ext cx="1071570" cy="369332"/>
          </a:xfrm>
          <a:prstGeom prst="rect">
            <a:avLst/>
          </a:prstGeom>
          <a:noFill/>
        </p:spPr>
        <p:txBody>
          <a:bodyPr wrap="square" rtlCol="0">
            <a:spAutoFit/>
          </a:bodyPr>
          <a:lstStyle/>
          <a:p>
            <a:r>
              <a:rPr lang="fr-FR" dirty="0" smtClean="0"/>
              <a:t>Toujours</a:t>
            </a:r>
            <a:endParaRPr lang="fr-FR" dirty="0"/>
          </a:p>
        </p:txBody>
      </p:sp>
      <p:cxnSp>
        <p:nvCxnSpPr>
          <p:cNvPr id="80" name="Connecteur droit avec flèche 79"/>
          <p:cNvCxnSpPr>
            <a:endCxn id="69" idx="1"/>
          </p:cNvCxnSpPr>
          <p:nvPr/>
        </p:nvCxnSpPr>
        <p:spPr>
          <a:xfrm>
            <a:off x="4643438" y="4500570"/>
            <a:ext cx="2263426" cy="36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1" name="Ellipse 80"/>
          <p:cNvSpPr/>
          <p:nvPr/>
        </p:nvSpPr>
        <p:spPr>
          <a:xfrm>
            <a:off x="2928926" y="5643578"/>
            <a:ext cx="1466338" cy="121442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b="1" dirty="0" smtClean="0"/>
              <a:t>Confirmation de parution</a:t>
            </a:r>
          </a:p>
        </p:txBody>
      </p:sp>
      <p:cxnSp>
        <p:nvCxnSpPr>
          <p:cNvPr id="83" name="Connecteur droit avec flèche 82"/>
          <p:cNvCxnSpPr/>
          <p:nvPr/>
        </p:nvCxnSpPr>
        <p:spPr>
          <a:xfrm rot="10800000" flipV="1">
            <a:off x="4357686" y="6072206"/>
            <a:ext cx="1000132"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85852" y="0"/>
            <a:ext cx="7498080" cy="785818"/>
          </a:xfrm>
        </p:spPr>
        <p:txBody>
          <a:bodyPr/>
          <a:lstStyle/>
          <a:p>
            <a:pPr algn="ctr"/>
            <a:r>
              <a:rPr lang="fr-FR" dirty="0" smtClean="0"/>
              <a:t>MOT</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27</a:t>
            </a:fld>
            <a:endParaRPr lang="fr-FR"/>
          </a:p>
        </p:txBody>
      </p:sp>
      <p:graphicFrame>
        <p:nvGraphicFramePr>
          <p:cNvPr id="32" name="Tableau 31"/>
          <p:cNvGraphicFramePr>
            <a:graphicFrameLocks noGrp="1"/>
          </p:cNvGraphicFramePr>
          <p:nvPr/>
        </p:nvGraphicFramePr>
        <p:xfrm>
          <a:off x="458398" y="1214398"/>
          <a:ext cx="8685602" cy="5643602"/>
        </p:xfrm>
        <a:graphic>
          <a:graphicData uri="http://schemas.openxmlformats.org/drawingml/2006/table">
            <a:tbl>
              <a:tblPr firstRow="1" bandRow="1">
                <a:tableStyleId>{C4B1156A-380E-4F78-BDF5-A606A8083BF9}</a:tableStyleId>
              </a:tblPr>
              <a:tblGrid>
                <a:gridCol w="1143008"/>
                <a:gridCol w="3429024"/>
                <a:gridCol w="2857520"/>
                <a:gridCol w="1256050"/>
              </a:tblGrid>
              <a:tr h="500066">
                <a:tc>
                  <a:txBody>
                    <a:bodyPr/>
                    <a:lstStyle/>
                    <a:p>
                      <a:r>
                        <a:rPr lang="fr-FR" dirty="0" smtClean="0"/>
                        <a:t>Période</a:t>
                      </a:r>
                      <a:endParaRPr lang="fr-FR" dirty="0"/>
                    </a:p>
                  </a:txBody>
                  <a:tcPr>
                    <a:noFill/>
                  </a:tcPr>
                </a:tc>
                <a:tc>
                  <a:txBody>
                    <a:bodyPr/>
                    <a:lstStyle/>
                    <a:p>
                      <a:r>
                        <a:rPr lang="fr-FR" dirty="0" smtClean="0"/>
                        <a:t>Secrétariat</a:t>
                      </a:r>
                      <a:endParaRPr lang="fr-FR" dirty="0"/>
                    </a:p>
                  </a:txBody>
                  <a:tcPr>
                    <a:noFill/>
                  </a:tcPr>
                </a:tc>
                <a:tc>
                  <a:txBody>
                    <a:bodyPr/>
                    <a:lstStyle/>
                    <a:p>
                      <a:r>
                        <a:rPr lang="fr-FR" dirty="0" smtClean="0"/>
                        <a:t> Service commercial</a:t>
                      </a:r>
                      <a:endParaRPr lang="fr-FR" dirty="0"/>
                    </a:p>
                  </a:txBody>
                  <a:tcPr>
                    <a:noFill/>
                  </a:tcPr>
                </a:tc>
                <a:tc>
                  <a:txBody>
                    <a:bodyPr/>
                    <a:lstStyle/>
                    <a:p>
                      <a:r>
                        <a:rPr lang="fr-FR" dirty="0" smtClean="0"/>
                        <a:t> Type</a:t>
                      </a:r>
                      <a:endParaRPr lang="fr-FR" dirty="0"/>
                    </a:p>
                  </a:txBody>
                  <a:tcPr>
                    <a:noFill/>
                  </a:tcPr>
                </a:tc>
              </a:tr>
              <a:tr h="5143536">
                <a:tc>
                  <a:txBody>
                    <a:bodyPr/>
                    <a:lstStyle/>
                    <a:p>
                      <a:endParaRPr lang="fr-FR" dirty="0"/>
                    </a:p>
                  </a:txBody>
                  <a:tcPr>
                    <a:noFill/>
                  </a:tcPr>
                </a:tc>
                <a:tc>
                  <a:txBody>
                    <a:bodyPr/>
                    <a:lstStyle/>
                    <a:p>
                      <a:endParaRPr lang="fr-FR" dirty="0"/>
                    </a:p>
                  </a:txBody>
                  <a:tcPr>
                    <a:noFill/>
                  </a:tcPr>
                </a:tc>
                <a:tc>
                  <a:txBody>
                    <a:bodyPr/>
                    <a:lstStyle/>
                    <a:p>
                      <a:endParaRPr lang="fr-FR" dirty="0"/>
                    </a:p>
                  </a:txBody>
                  <a:tcPr>
                    <a:noFill/>
                  </a:tcPr>
                </a:tc>
                <a:tc>
                  <a:txBody>
                    <a:bodyPr/>
                    <a:lstStyle/>
                    <a:p>
                      <a:endParaRPr lang="fr-FR" dirty="0"/>
                    </a:p>
                  </a:txBody>
                  <a:tcPr>
                    <a:noFill/>
                  </a:tcPr>
                </a:tc>
              </a:tr>
            </a:tbl>
          </a:graphicData>
        </a:graphic>
      </p:graphicFrame>
      <p:pic>
        <p:nvPicPr>
          <p:cNvPr id="55298" name="Picture 2"/>
          <p:cNvPicPr>
            <a:picLocks noChangeAspect="1" noChangeArrowheads="1"/>
          </p:cNvPicPr>
          <p:nvPr/>
        </p:nvPicPr>
        <p:blipFill>
          <a:blip r:embed="rId2"/>
          <a:srcRect/>
          <a:stretch>
            <a:fillRect/>
          </a:stretch>
        </p:blipFill>
        <p:spPr bwMode="auto">
          <a:xfrm>
            <a:off x="1744640" y="1762558"/>
            <a:ext cx="2571768" cy="3874376"/>
          </a:xfrm>
          <a:prstGeom prst="rect">
            <a:avLst/>
          </a:prstGeom>
          <a:noFill/>
          <a:ln w="9525">
            <a:noFill/>
            <a:miter lim="800000"/>
            <a:headEnd/>
            <a:tailEnd/>
          </a:ln>
          <a:effectLst/>
        </p:spPr>
      </p:pic>
      <p:pic>
        <p:nvPicPr>
          <p:cNvPr id="55299" name="Picture 3"/>
          <p:cNvPicPr>
            <a:picLocks noChangeAspect="1" noChangeArrowheads="1"/>
          </p:cNvPicPr>
          <p:nvPr/>
        </p:nvPicPr>
        <p:blipFill>
          <a:blip r:embed="rId3"/>
          <a:srcRect/>
          <a:stretch>
            <a:fillRect/>
          </a:stretch>
        </p:blipFill>
        <p:spPr bwMode="auto">
          <a:xfrm>
            <a:off x="5076594" y="4413688"/>
            <a:ext cx="2533650" cy="1285875"/>
          </a:xfrm>
          <a:prstGeom prst="rect">
            <a:avLst/>
          </a:prstGeom>
          <a:noFill/>
          <a:ln w="9525">
            <a:noFill/>
            <a:miter lim="800000"/>
            <a:headEnd/>
            <a:tailEnd/>
          </a:ln>
          <a:effectLst/>
        </p:spPr>
      </p:pic>
      <p:cxnSp>
        <p:nvCxnSpPr>
          <p:cNvPr id="35" name="Connecteur droit avec flèche 34"/>
          <p:cNvCxnSpPr/>
          <p:nvPr/>
        </p:nvCxnSpPr>
        <p:spPr>
          <a:xfrm flipV="1">
            <a:off x="4286248" y="4559082"/>
            <a:ext cx="1928826" cy="227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Connecteur droit avec flèche 36"/>
          <p:cNvCxnSpPr>
            <a:endCxn id="55300" idx="0"/>
          </p:cNvCxnSpPr>
          <p:nvPr/>
        </p:nvCxnSpPr>
        <p:spPr>
          <a:xfrm rot="16200000" flipH="1">
            <a:off x="6090458" y="5738034"/>
            <a:ext cx="332690" cy="857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55300" name="Picture 4"/>
          <p:cNvPicPr>
            <a:picLocks noChangeAspect="1" noChangeArrowheads="1"/>
          </p:cNvPicPr>
          <p:nvPr/>
        </p:nvPicPr>
        <p:blipFill>
          <a:blip r:embed="rId4"/>
          <a:srcRect/>
          <a:stretch>
            <a:fillRect/>
          </a:stretch>
        </p:blipFill>
        <p:spPr bwMode="auto">
          <a:xfrm>
            <a:off x="5785314" y="5947240"/>
            <a:ext cx="1028700" cy="895350"/>
          </a:xfrm>
          <a:prstGeom prst="rect">
            <a:avLst/>
          </a:prstGeom>
          <a:noFill/>
          <a:ln w="9525">
            <a:noFill/>
            <a:miter lim="800000"/>
            <a:headEnd/>
            <a:tailEnd/>
          </a:ln>
          <a:effectLst/>
        </p:spPr>
      </p:pic>
      <p:sp>
        <p:nvSpPr>
          <p:cNvPr id="50" name="ZoneTexte 49"/>
          <p:cNvSpPr txBox="1"/>
          <p:nvPr/>
        </p:nvSpPr>
        <p:spPr>
          <a:xfrm>
            <a:off x="571472" y="3500438"/>
            <a:ext cx="928694" cy="369332"/>
          </a:xfrm>
          <a:prstGeom prst="rect">
            <a:avLst/>
          </a:prstGeom>
          <a:noFill/>
        </p:spPr>
        <p:txBody>
          <a:bodyPr wrap="square" rtlCol="0">
            <a:spAutoFit/>
          </a:bodyPr>
          <a:lstStyle/>
          <a:p>
            <a:r>
              <a:rPr lang="fr-FR" dirty="0" smtClean="0"/>
              <a:t>1 J</a:t>
            </a:r>
            <a:endParaRPr lang="fr-FR" dirty="0"/>
          </a:p>
        </p:txBody>
      </p:sp>
      <p:sp>
        <p:nvSpPr>
          <p:cNvPr id="51" name="ZoneTexte 50"/>
          <p:cNvSpPr txBox="1"/>
          <p:nvPr/>
        </p:nvSpPr>
        <p:spPr>
          <a:xfrm>
            <a:off x="571472" y="4786322"/>
            <a:ext cx="928694" cy="369332"/>
          </a:xfrm>
          <a:prstGeom prst="rect">
            <a:avLst/>
          </a:prstGeom>
          <a:noFill/>
        </p:spPr>
        <p:txBody>
          <a:bodyPr wrap="square" rtlCol="0">
            <a:spAutoFit/>
          </a:bodyPr>
          <a:lstStyle/>
          <a:p>
            <a:r>
              <a:rPr lang="fr-FR" dirty="0" smtClean="0"/>
              <a:t>4 J</a:t>
            </a:r>
            <a:endParaRPr lang="fr-FR" dirty="0"/>
          </a:p>
        </p:txBody>
      </p:sp>
      <p:sp>
        <p:nvSpPr>
          <p:cNvPr id="52" name="ZoneTexte 51"/>
          <p:cNvSpPr txBox="1"/>
          <p:nvPr/>
        </p:nvSpPr>
        <p:spPr>
          <a:xfrm>
            <a:off x="8001024" y="3071810"/>
            <a:ext cx="928694" cy="338554"/>
          </a:xfrm>
          <a:prstGeom prst="rect">
            <a:avLst/>
          </a:prstGeom>
          <a:noFill/>
        </p:spPr>
        <p:txBody>
          <a:bodyPr wrap="square" rtlCol="0">
            <a:spAutoFit/>
          </a:bodyPr>
          <a:lstStyle/>
          <a:p>
            <a:r>
              <a:rPr lang="fr-FR" sz="1600" b="1" dirty="0" smtClean="0"/>
              <a:t>Manuel</a:t>
            </a:r>
            <a:endParaRPr lang="fr-FR" sz="1600" b="1" dirty="0"/>
          </a:p>
        </p:txBody>
      </p:sp>
      <p:sp>
        <p:nvSpPr>
          <p:cNvPr id="53" name="ZoneTexte 52"/>
          <p:cNvSpPr txBox="1"/>
          <p:nvPr/>
        </p:nvSpPr>
        <p:spPr>
          <a:xfrm>
            <a:off x="7802356" y="4714884"/>
            <a:ext cx="1428728" cy="338554"/>
          </a:xfrm>
          <a:prstGeom prst="rect">
            <a:avLst/>
          </a:prstGeom>
          <a:noFill/>
        </p:spPr>
        <p:txBody>
          <a:bodyPr wrap="square" rtlCol="0">
            <a:spAutoFit/>
          </a:bodyPr>
          <a:lstStyle/>
          <a:p>
            <a:r>
              <a:rPr lang="fr-FR" sz="1600" b="1" dirty="0" smtClean="0"/>
              <a:t>Automatique</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75656" y="1844824"/>
            <a:ext cx="7498080" cy="1143000"/>
          </a:xfrm>
        </p:spPr>
        <p:txBody>
          <a:bodyPr/>
          <a:lstStyle/>
          <a:p>
            <a:pPr algn="ctr"/>
            <a:r>
              <a:rPr lang="fr-FR" dirty="0" smtClean="0"/>
              <a:t>FIN</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28</a:t>
            </a:fld>
            <a:endParaRPr lang="fr-FR"/>
          </a:p>
        </p:txBody>
      </p:sp>
    </p:spTree>
    <p:extLst>
      <p:ext uri="{BB962C8B-B14F-4D97-AF65-F5344CB8AC3E}">
        <p14:creationId xmlns:p14="http://schemas.microsoft.com/office/powerpoint/2010/main" val="412576322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2010</TotalTime>
  <Words>1050</Words>
  <Application>Microsoft Office PowerPoint</Application>
  <PresentationFormat>Affichage à l'écran (4:3)</PresentationFormat>
  <Paragraphs>198</Paragraphs>
  <Slides>28</Slides>
  <Notes>4</Notes>
  <HiddenSlides>0</HiddenSlides>
  <MMClips>0</MMClips>
  <ScaleCrop>false</ScaleCrop>
  <HeadingPairs>
    <vt:vector size="4" baseType="variant">
      <vt:variant>
        <vt:lpstr>Thème</vt:lpstr>
      </vt:variant>
      <vt:variant>
        <vt:i4>1</vt:i4>
      </vt:variant>
      <vt:variant>
        <vt:lpstr>Titres des diapositives</vt:lpstr>
      </vt:variant>
      <vt:variant>
        <vt:i4>28</vt:i4>
      </vt:variant>
    </vt:vector>
  </HeadingPairs>
  <TitlesOfParts>
    <vt:vector size="29" baseType="lpstr">
      <vt:lpstr>Solstice</vt:lpstr>
      <vt:lpstr>Cours  N°6 :  Le Modèle Conceptuel des Traitements MCT</vt:lpstr>
      <vt:lpstr>Présentation PowerPoint</vt:lpstr>
      <vt:lpstr>Présentation PowerPoint</vt:lpstr>
      <vt:lpstr>Présentation PowerPoint</vt:lpstr>
      <vt:lpstr>Introduction…. </vt:lpstr>
      <vt:lpstr>Les concepts de base </vt:lpstr>
      <vt:lpstr>Evènement : définition </vt:lpstr>
      <vt:lpstr>Evènement : types </vt:lpstr>
      <vt:lpstr>Opération </vt:lpstr>
      <vt:lpstr>Synchronisation </vt:lpstr>
      <vt:lpstr>Règle d’émission</vt:lpstr>
      <vt:lpstr>Processus</vt:lpstr>
      <vt:lpstr>Représentation graphique</vt:lpstr>
      <vt:lpstr>Exemple : Gestion de l’avoir</vt:lpstr>
      <vt:lpstr>Méthode d’élaboration du MCT </vt:lpstr>
      <vt:lpstr>Exemple1:  demande de promotion (1/2) </vt:lpstr>
      <vt:lpstr>Présentation PowerPoint</vt:lpstr>
      <vt:lpstr> Exemple2.  Assistance commerciale </vt:lpstr>
      <vt:lpstr> Exemple2.  Assistance commerciale </vt:lpstr>
      <vt:lpstr>Présentation PowerPoint</vt:lpstr>
      <vt:lpstr>Cours  N°7 :  Le Modèle Organisationnel des Traitements MOT</vt:lpstr>
      <vt:lpstr>Le Modèle Organisationnel des Traitements (MOT)</vt:lpstr>
      <vt:lpstr>Le Modèle Organisationnel des Traitements (MOT)</vt:lpstr>
      <vt:lpstr>Présentation PowerPoint</vt:lpstr>
      <vt:lpstr>Exemple 1. MOT</vt:lpstr>
      <vt:lpstr>Le MCT</vt:lpstr>
      <vt:lpstr>MOT</vt:lpstr>
      <vt:lpstr>FIN</vt:lpstr>
    </vt:vector>
  </TitlesOfParts>
  <Company>ufr-segmi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Initiation à la conception des systèmes d'informations.  Cours  N°3 :  Modèle Conceptuel de Données</dc:title>
  <dc:creator>Soheib baarir</dc:creator>
  <cp:lastModifiedBy>home</cp:lastModifiedBy>
  <cp:revision>175</cp:revision>
  <dcterms:created xsi:type="dcterms:W3CDTF">2010-01-29T09:48:40Z</dcterms:created>
  <dcterms:modified xsi:type="dcterms:W3CDTF">2017-11-29T18:38:13Z</dcterms:modified>
</cp:coreProperties>
</file>